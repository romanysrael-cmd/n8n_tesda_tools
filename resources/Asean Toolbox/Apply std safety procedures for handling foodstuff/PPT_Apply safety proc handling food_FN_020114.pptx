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64"/>
  </p:notesMasterIdLst>
  <p:handoutMasterIdLst>
    <p:handoutMasterId r:id="rId165"/>
  </p:handoutMasterIdLst>
  <p:sldIdLst>
    <p:sldId id="256" r:id="rId2"/>
    <p:sldId id="257" r:id="rId3"/>
    <p:sldId id="261" r:id="rId4"/>
    <p:sldId id="259" r:id="rId5"/>
    <p:sldId id="262" r:id="rId6"/>
    <p:sldId id="267" r:id="rId7"/>
    <p:sldId id="268" r:id="rId8"/>
    <p:sldId id="269" r:id="rId9"/>
    <p:sldId id="270" r:id="rId10"/>
    <p:sldId id="271" r:id="rId11"/>
    <p:sldId id="272" r:id="rId12"/>
    <p:sldId id="273" r:id="rId13"/>
    <p:sldId id="274" r:id="rId14"/>
    <p:sldId id="263" r:id="rId15"/>
    <p:sldId id="289" r:id="rId16"/>
    <p:sldId id="290" r:id="rId17"/>
    <p:sldId id="291" r:id="rId18"/>
    <p:sldId id="292" r:id="rId19"/>
    <p:sldId id="285" r:id="rId20"/>
    <p:sldId id="307" r:id="rId21"/>
    <p:sldId id="308" r:id="rId22"/>
    <p:sldId id="311" r:id="rId23"/>
    <p:sldId id="286" r:id="rId24"/>
    <p:sldId id="287" r:id="rId25"/>
    <p:sldId id="312" r:id="rId26"/>
    <p:sldId id="450" r:id="rId27"/>
    <p:sldId id="451" r:id="rId28"/>
    <p:sldId id="313" r:id="rId29"/>
    <p:sldId id="314" r:id="rId30"/>
    <p:sldId id="315" r:id="rId31"/>
    <p:sldId id="316" r:id="rId32"/>
    <p:sldId id="317" r:id="rId33"/>
    <p:sldId id="318" r:id="rId34"/>
    <p:sldId id="319" r:id="rId35"/>
    <p:sldId id="288" r:id="rId36"/>
    <p:sldId id="329" r:id="rId37"/>
    <p:sldId id="452" r:id="rId38"/>
    <p:sldId id="453" r:id="rId39"/>
    <p:sldId id="264" r:id="rId40"/>
    <p:sldId id="348" r:id="rId41"/>
    <p:sldId id="514" r:id="rId42"/>
    <p:sldId id="513" r:id="rId43"/>
    <p:sldId id="454" r:id="rId44"/>
    <p:sldId id="455" r:id="rId45"/>
    <p:sldId id="456" r:id="rId46"/>
    <p:sldId id="457" r:id="rId47"/>
    <p:sldId id="458" r:id="rId48"/>
    <p:sldId id="459" r:id="rId49"/>
    <p:sldId id="460" r:id="rId50"/>
    <p:sldId id="461" r:id="rId51"/>
    <p:sldId id="349" r:id="rId52"/>
    <p:sldId id="350" r:id="rId53"/>
    <p:sldId id="351" r:id="rId54"/>
    <p:sldId id="352" r:id="rId55"/>
    <p:sldId id="353" r:id="rId56"/>
    <p:sldId id="354" r:id="rId57"/>
    <p:sldId id="265" r:id="rId58"/>
    <p:sldId id="368" r:id="rId59"/>
    <p:sldId id="266" r:id="rId60"/>
    <p:sldId id="260" r:id="rId61"/>
    <p:sldId id="369" r:id="rId62"/>
    <p:sldId id="370" r:id="rId63"/>
    <p:sldId id="371" r:id="rId64"/>
    <p:sldId id="372" r:id="rId65"/>
    <p:sldId id="373" r:id="rId66"/>
    <p:sldId id="374" r:id="rId67"/>
    <p:sldId id="375" r:id="rId68"/>
    <p:sldId id="376" r:id="rId69"/>
    <p:sldId id="377" r:id="rId70"/>
    <p:sldId id="343" r:id="rId71"/>
    <p:sldId id="462" r:id="rId72"/>
    <p:sldId id="463" r:id="rId73"/>
    <p:sldId id="464" r:id="rId74"/>
    <p:sldId id="465" r:id="rId75"/>
    <p:sldId id="466" r:id="rId76"/>
    <p:sldId id="467" r:id="rId77"/>
    <p:sldId id="468" r:id="rId78"/>
    <p:sldId id="479" r:id="rId79"/>
    <p:sldId id="480" r:id="rId80"/>
    <p:sldId id="481" r:id="rId81"/>
    <p:sldId id="485" r:id="rId82"/>
    <p:sldId id="482" r:id="rId83"/>
    <p:sldId id="483" r:id="rId84"/>
    <p:sldId id="378" r:id="rId85"/>
    <p:sldId id="379" r:id="rId86"/>
    <p:sldId id="380" r:id="rId87"/>
    <p:sldId id="381" r:id="rId88"/>
    <p:sldId id="382" r:id="rId89"/>
    <p:sldId id="383" r:id="rId90"/>
    <p:sldId id="384" r:id="rId91"/>
    <p:sldId id="385" r:id="rId92"/>
    <p:sldId id="386" r:id="rId93"/>
    <p:sldId id="387" r:id="rId94"/>
    <p:sldId id="388" r:id="rId95"/>
    <p:sldId id="389" r:id="rId96"/>
    <p:sldId id="390" r:id="rId97"/>
    <p:sldId id="391" r:id="rId98"/>
    <p:sldId id="487" r:id="rId99"/>
    <p:sldId id="392" r:id="rId100"/>
    <p:sldId id="344" r:id="rId101"/>
    <p:sldId id="395" r:id="rId102"/>
    <p:sldId id="396" r:id="rId103"/>
    <p:sldId id="397" r:id="rId104"/>
    <p:sldId id="398" r:id="rId105"/>
    <p:sldId id="399" r:id="rId106"/>
    <p:sldId id="512" r:id="rId107"/>
    <p:sldId id="345" r:id="rId108"/>
    <p:sldId id="400" r:id="rId109"/>
    <p:sldId id="401" r:id="rId110"/>
    <p:sldId id="404" r:id="rId111"/>
    <p:sldId id="346" r:id="rId112"/>
    <p:sldId id="405" r:id="rId113"/>
    <p:sldId id="408" r:id="rId114"/>
    <p:sldId id="409" r:id="rId115"/>
    <p:sldId id="410" r:id="rId116"/>
    <p:sldId id="411" r:id="rId117"/>
    <p:sldId id="412" r:id="rId118"/>
    <p:sldId id="413" r:id="rId119"/>
    <p:sldId id="414" r:id="rId120"/>
    <p:sldId id="415" r:id="rId121"/>
    <p:sldId id="416" r:id="rId122"/>
    <p:sldId id="406" r:id="rId123"/>
    <p:sldId id="419" r:id="rId124"/>
    <p:sldId id="420" r:id="rId125"/>
    <p:sldId id="421" r:id="rId126"/>
    <p:sldId id="422" r:id="rId127"/>
    <p:sldId id="423" r:id="rId128"/>
    <p:sldId id="417" r:id="rId129"/>
    <p:sldId id="428" r:id="rId130"/>
    <p:sldId id="429" r:id="rId131"/>
    <p:sldId id="430" r:id="rId132"/>
    <p:sldId id="431" r:id="rId133"/>
    <p:sldId id="432" r:id="rId134"/>
    <p:sldId id="433" r:id="rId135"/>
    <p:sldId id="494" r:id="rId136"/>
    <p:sldId id="493" r:id="rId137"/>
    <p:sldId id="488" r:id="rId138"/>
    <p:sldId id="489" r:id="rId139"/>
    <p:sldId id="490" r:id="rId140"/>
    <p:sldId id="491" r:id="rId141"/>
    <p:sldId id="492" r:id="rId142"/>
    <p:sldId id="434" r:id="rId143"/>
    <p:sldId id="435" r:id="rId144"/>
    <p:sldId id="436" r:id="rId145"/>
    <p:sldId id="495" r:id="rId146"/>
    <p:sldId id="496" r:id="rId147"/>
    <p:sldId id="506" r:id="rId148"/>
    <p:sldId id="507" r:id="rId149"/>
    <p:sldId id="500" r:id="rId150"/>
    <p:sldId id="508" r:id="rId151"/>
    <p:sldId id="509" r:id="rId152"/>
    <p:sldId id="510" r:id="rId153"/>
    <p:sldId id="511" r:id="rId154"/>
    <p:sldId id="501" r:id="rId155"/>
    <p:sldId id="418" r:id="rId156"/>
    <p:sldId id="437" r:id="rId157"/>
    <p:sldId id="438" r:id="rId158"/>
    <p:sldId id="407" r:id="rId159"/>
    <p:sldId id="443" r:id="rId160"/>
    <p:sldId id="445" r:id="rId161"/>
    <p:sldId id="446" r:id="rId162"/>
    <p:sldId id="449" r:id="rId163"/>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70330" autoAdjust="0"/>
  </p:normalViewPr>
  <p:slideViewPr>
    <p:cSldViewPr>
      <p:cViewPr varScale="1">
        <p:scale>
          <a:sx n="65" d="100"/>
          <a:sy n="65" d="100"/>
        </p:scale>
        <p:origin x="195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notesMaster" Target="notesMasters/notesMaster1.xml"/><Relationship Id="rId16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3/11/2015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24980434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3/11/2015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646145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trainees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197039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four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983771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890667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on identifying workplace food safety hazards and risks by asking questions such as:</a:t>
            </a:r>
          </a:p>
          <a:p>
            <a:pPr>
              <a:buFont typeface="Arial" pitchFamily="34" charset="0"/>
              <a:buChar char="•"/>
            </a:pPr>
            <a:r>
              <a:rPr lang="en-US" dirty="0" smtClean="0"/>
              <a:t> Why is it important o maintain food safety in the workplace?</a:t>
            </a:r>
          </a:p>
          <a:p>
            <a:pPr>
              <a:buFont typeface="Arial" pitchFamily="34" charset="0"/>
              <a:buChar char="•"/>
            </a:pPr>
            <a:r>
              <a:rPr lang="en-US" dirty="0" smtClean="0"/>
              <a:t> What issues might </a:t>
            </a:r>
            <a:r>
              <a:rPr lang="en-US" baseline="0" dirty="0" smtClean="0"/>
              <a:t> or </a:t>
            </a:r>
            <a:r>
              <a:rPr lang="en-US" dirty="0" smtClean="0"/>
              <a:t>food safety?</a:t>
            </a:r>
          </a:p>
          <a:p>
            <a:pPr>
              <a:buFont typeface="Arial" pitchFamily="34" charset="0"/>
              <a:buChar char="•"/>
            </a:pPr>
            <a:r>
              <a:rPr lang="en-US" dirty="0" smtClean="0"/>
              <a:t> What are examples of things which could contaminate food?</a:t>
            </a:r>
          </a:p>
          <a:p>
            <a:pPr>
              <a:buFont typeface="Arial" pitchFamily="34" charset="0"/>
              <a:buChar char="•"/>
            </a:pPr>
            <a:r>
              <a:rPr lang="en-US" dirty="0" smtClean="0"/>
              <a:t> How might food become contaminated?</a:t>
            </a:r>
          </a:p>
          <a:p>
            <a:pPr>
              <a:buFont typeface="Arial" pitchFamily="34" charset="0"/>
              <a:buChar char="•"/>
            </a:pPr>
            <a:r>
              <a:rPr lang="en-US" dirty="0" smtClean="0"/>
              <a:t> What are the possible results of people being poisoned by food?</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632427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states </a:t>
            </a:r>
            <a:r>
              <a:rPr lang="en-AU" sz="1200" kern="1200" dirty="0" smtClean="0">
                <a:solidFill>
                  <a:schemeClr val="tx1"/>
                </a:solidFill>
                <a:latin typeface="+mn-lt"/>
                <a:ea typeface="+mn-ea"/>
                <a:cs typeface="+mn-cs"/>
              </a:rPr>
              <a:t>identifying workplace food safety hazards and risks is a critical element in applying safe food handling practices as identification of the problem is necessary to allow problems to be addressed advising the standard ways to identify key food safety hazards and risks in the workplace are:</a:t>
            </a:r>
          </a:p>
          <a:p>
            <a:pPr>
              <a:buFont typeface="Arial" pitchFamily="34" charset="0"/>
              <a:buChar char="•"/>
            </a:pPr>
            <a:r>
              <a:rPr lang="en-AU" sz="1200" kern="1200" dirty="0" smtClean="0">
                <a:solidFill>
                  <a:schemeClr val="tx1"/>
                </a:solidFill>
                <a:latin typeface="+mn-lt"/>
                <a:ea typeface="+mn-ea"/>
                <a:cs typeface="+mn-cs"/>
              </a:rPr>
              <a:t> Personal observation – of:</a:t>
            </a:r>
          </a:p>
          <a:p>
            <a:pPr lvl="1">
              <a:buFont typeface="Arial" pitchFamily="34" charset="0"/>
              <a:buChar char="•"/>
            </a:pPr>
            <a:r>
              <a:rPr lang="en-AU" sz="1200" kern="1200" dirty="0" smtClean="0">
                <a:solidFill>
                  <a:schemeClr val="tx1"/>
                </a:solidFill>
                <a:latin typeface="+mn-lt"/>
                <a:ea typeface="+mn-ea"/>
                <a:cs typeface="+mn-cs"/>
              </a:rPr>
              <a:t> Workplace practice</a:t>
            </a:r>
          </a:p>
          <a:p>
            <a:pPr lvl="1">
              <a:buFont typeface="Arial" pitchFamily="34" charset="0"/>
              <a:buChar char="•"/>
            </a:pPr>
            <a:r>
              <a:rPr lang="en-AU" sz="1200" kern="1200" dirty="0" smtClean="0">
                <a:solidFill>
                  <a:schemeClr val="tx1"/>
                </a:solidFill>
                <a:latin typeface="+mn-lt"/>
                <a:ea typeface="+mn-ea"/>
                <a:cs typeface="+mn-cs"/>
              </a:rPr>
              <a:t> Foodstuff</a:t>
            </a:r>
          </a:p>
          <a:p>
            <a:pPr lvl="1">
              <a:buFont typeface="Arial" pitchFamily="34" charset="0"/>
              <a:buChar char="•"/>
            </a:pPr>
            <a:r>
              <a:rPr lang="en-AU" sz="1200" kern="1200" dirty="0" smtClean="0">
                <a:solidFill>
                  <a:schemeClr val="tx1"/>
                </a:solidFill>
                <a:latin typeface="+mn-lt"/>
                <a:ea typeface="+mn-ea"/>
                <a:cs typeface="+mn-cs"/>
              </a:rPr>
              <a:t> Equipment</a:t>
            </a:r>
          </a:p>
          <a:p>
            <a:pPr lvl="1">
              <a:buFont typeface="Arial" pitchFamily="34" charset="0"/>
              <a:buChar char="•"/>
            </a:pPr>
            <a:r>
              <a:rPr lang="en-AU" sz="1200" kern="1200" dirty="0" smtClean="0">
                <a:solidFill>
                  <a:schemeClr val="tx1"/>
                </a:solidFill>
                <a:latin typeface="+mn-lt"/>
                <a:ea typeface="+mn-ea"/>
                <a:cs typeface="+mn-cs"/>
              </a:rPr>
              <a:t> Compliance with safe food handling practices and established, internal requirements</a:t>
            </a:r>
          </a:p>
          <a:p>
            <a:pPr>
              <a:buFont typeface="Arial" pitchFamily="34" charset="0"/>
              <a:buChar char="•"/>
            </a:pPr>
            <a:r>
              <a:rPr lang="en-AU" sz="1200" kern="1200" dirty="0" smtClean="0">
                <a:solidFill>
                  <a:schemeClr val="tx1"/>
                </a:solidFill>
                <a:latin typeface="+mn-lt"/>
                <a:ea typeface="+mn-ea"/>
                <a:cs typeface="+mn-cs"/>
              </a:rPr>
              <a:t> As a result of personal experience with items and situations – you will gain increasing knowledge as you work with food which will help you identify issues and analyse situations</a:t>
            </a:r>
          </a:p>
          <a:p>
            <a:pPr>
              <a:buFont typeface="Arial" pitchFamily="34" charset="0"/>
              <a:buChar char="•"/>
            </a:pPr>
            <a:r>
              <a:rPr lang="en-AU" sz="1200" kern="1200" dirty="0" smtClean="0">
                <a:solidFill>
                  <a:schemeClr val="tx1"/>
                </a:solidFill>
                <a:latin typeface="+mn-lt"/>
                <a:ea typeface="+mn-ea"/>
                <a:cs typeface="+mn-cs"/>
              </a:rPr>
              <a:t> Analysis of food safety records, documents and logs – which can reveal issues such as:</a:t>
            </a:r>
          </a:p>
          <a:p>
            <a:pPr lvl="1">
              <a:buFont typeface="Arial" pitchFamily="34" charset="0"/>
              <a:buChar char="•"/>
            </a:pPr>
            <a:r>
              <a:rPr lang="en-AU" sz="1200" kern="1200" dirty="0" smtClean="0">
                <a:solidFill>
                  <a:schemeClr val="tx1"/>
                </a:solidFill>
                <a:latin typeface="+mn-lt"/>
                <a:ea typeface="+mn-ea"/>
                <a:cs typeface="+mn-cs"/>
              </a:rPr>
              <a:t> Refrigeration and freezers operating at incorrect temperatures</a:t>
            </a:r>
          </a:p>
          <a:p>
            <a:pPr lvl="1">
              <a:buFont typeface="Arial" pitchFamily="34" charset="0"/>
              <a:buChar char="•"/>
            </a:pPr>
            <a:r>
              <a:rPr lang="en-AU" sz="1200" kern="1200" dirty="0" smtClean="0">
                <a:solidFill>
                  <a:schemeClr val="tx1"/>
                </a:solidFill>
                <a:latin typeface="+mn-lt"/>
                <a:ea typeface="+mn-ea"/>
                <a:cs typeface="+mn-cs"/>
              </a:rPr>
              <a:t> Food holding and display equipment operating at incorrect temperatures</a:t>
            </a:r>
          </a:p>
          <a:p>
            <a:pPr lvl="1">
              <a:buFont typeface="Arial" pitchFamily="34" charset="0"/>
              <a:buChar char="•"/>
            </a:pPr>
            <a:r>
              <a:rPr lang="en-AU" sz="1200" kern="1200" dirty="0" smtClean="0">
                <a:solidFill>
                  <a:schemeClr val="tx1"/>
                </a:solidFill>
                <a:latin typeface="+mn-lt"/>
                <a:ea typeface="+mn-ea"/>
                <a:cs typeface="+mn-cs"/>
              </a:rPr>
              <a:t> Equipment and areas requiring attention or repair</a:t>
            </a:r>
          </a:p>
          <a:p>
            <a:pPr lvl="1">
              <a:buFont typeface="Arial" pitchFamily="34" charset="0"/>
              <a:buChar char="•"/>
            </a:pPr>
            <a:r>
              <a:rPr lang="en-AU" sz="1200" kern="1200" dirty="0" smtClean="0">
                <a:solidFill>
                  <a:schemeClr val="tx1"/>
                </a:solidFill>
                <a:latin typeface="+mn-lt"/>
                <a:ea typeface="+mn-ea"/>
                <a:cs typeface="+mn-cs"/>
              </a:rPr>
              <a:t> Staff who are ill and who should be excluded from food handling duties</a:t>
            </a:r>
          </a:p>
          <a:p>
            <a:pPr>
              <a:buFont typeface="Arial" pitchFamily="34" charset="0"/>
              <a:buChar char="•"/>
            </a:pPr>
            <a:r>
              <a:rPr lang="en-AU" sz="1200" kern="1200" dirty="0" smtClean="0">
                <a:solidFill>
                  <a:schemeClr val="tx1"/>
                </a:solidFill>
                <a:latin typeface="+mn-lt"/>
                <a:ea typeface="+mn-ea"/>
                <a:cs typeface="+mn-cs"/>
              </a:rPr>
              <a:t> Conducting regular and scheduled workplace inspections and checks (audits) – to identify problem situations.</a:t>
            </a:r>
          </a:p>
          <a:p>
            <a:pPr>
              <a:buFont typeface="Arial" pitchFamily="34" charset="0"/>
              <a:buNone/>
            </a:pPr>
            <a:endParaRPr lang="en-AU" noProof="0" dirty="0" smtClean="0"/>
          </a:p>
          <a:p>
            <a:pPr>
              <a:buFont typeface="Arial" pitchFamily="34" charset="0"/>
              <a:buNone/>
            </a:pPr>
            <a:r>
              <a:rPr lang="en-AU" b="1" noProof="0" dirty="0" smtClean="0"/>
              <a:t>Class Activity – Handouts</a:t>
            </a:r>
          </a:p>
          <a:p>
            <a:pPr>
              <a:buFont typeface="Arial" pitchFamily="34" charset="0"/>
              <a:buNone/>
            </a:pPr>
            <a:r>
              <a:rPr lang="en-AU" b="0" noProof="0" dirty="0" smtClean="0"/>
              <a:t>Trainer distributes and discusses sample workplace food safety inspection checklists/audits.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2629396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trainees in relation to hazards and risks explaining:</a:t>
            </a:r>
          </a:p>
          <a:p>
            <a:pPr>
              <a:buFont typeface="Arial" pitchFamily="34" charset="0"/>
              <a:buChar char="•"/>
            </a:pPr>
            <a:r>
              <a:rPr lang="en-AU" sz="1200" kern="1200" dirty="0" smtClean="0">
                <a:solidFill>
                  <a:schemeClr val="tx1"/>
                </a:solidFill>
                <a:latin typeface="+mn-lt"/>
                <a:ea typeface="+mn-ea"/>
                <a:cs typeface="+mn-cs"/>
              </a:rPr>
              <a:t> Hazards and risks can occur at any stage in the food handling process.</a:t>
            </a:r>
          </a:p>
          <a:p>
            <a:pPr>
              <a:buFont typeface="Arial" pitchFamily="34" charset="0"/>
              <a:buChar char="•"/>
            </a:pPr>
            <a:r>
              <a:rPr lang="en-AU" sz="1200" kern="1200" dirty="0" smtClean="0">
                <a:solidFill>
                  <a:schemeClr val="tx1"/>
                </a:solidFill>
                <a:latin typeface="+mn-lt"/>
                <a:ea typeface="+mn-ea"/>
                <a:cs typeface="+mn-cs"/>
              </a:rPr>
              <a:t> A hazard may be seen as something which actually exists and is likely to cause/result in harm.</a:t>
            </a:r>
          </a:p>
          <a:p>
            <a:pPr>
              <a:buFont typeface="Arial" pitchFamily="34" charset="0"/>
              <a:buChar char="•"/>
            </a:pPr>
            <a:r>
              <a:rPr lang="en-AU" sz="1200" kern="1200" dirty="0" smtClean="0">
                <a:solidFill>
                  <a:schemeClr val="tx1"/>
                </a:solidFill>
                <a:latin typeface="+mn-lt"/>
                <a:ea typeface="+mn-ea"/>
                <a:cs typeface="+mn-cs"/>
              </a:rPr>
              <a:t> A risk may be seen as:</a:t>
            </a:r>
          </a:p>
          <a:p>
            <a:pPr lvl="1">
              <a:buFont typeface="Arial" pitchFamily="34" charset="0"/>
              <a:buChar char="•"/>
            </a:pPr>
            <a:r>
              <a:rPr lang="en-AU" sz="1200" kern="1200" dirty="0" smtClean="0">
                <a:solidFill>
                  <a:schemeClr val="tx1"/>
                </a:solidFill>
                <a:latin typeface="+mn-lt"/>
                <a:ea typeface="+mn-ea"/>
                <a:cs typeface="+mn-cs"/>
              </a:rPr>
              <a:t> Something likely to occur which would cause harm</a:t>
            </a:r>
          </a:p>
          <a:p>
            <a:pPr lvl="1">
              <a:buFont typeface="Arial" pitchFamily="34" charset="0"/>
              <a:buChar char="•"/>
            </a:pPr>
            <a:r>
              <a:rPr lang="en-AU" sz="1200" kern="1200" dirty="0" smtClean="0">
                <a:solidFill>
                  <a:schemeClr val="tx1"/>
                </a:solidFill>
                <a:latin typeface="+mn-lt"/>
                <a:ea typeface="+mn-ea"/>
                <a:cs typeface="+mn-cs"/>
              </a:rPr>
              <a:t> The potential for harm</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injury to occur when a hazard occurs.</a:t>
            </a:r>
          </a:p>
          <a:p>
            <a:pPr>
              <a:buFont typeface="Arial" pitchFamily="34" charset="0"/>
              <a:buChar char="•"/>
            </a:pPr>
            <a:r>
              <a:rPr lang="en-AU" sz="1200" kern="1200" dirty="0" smtClean="0">
                <a:solidFill>
                  <a:schemeClr val="tx1"/>
                </a:solidFill>
                <a:latin typeface="+mn-lt"/>
                <a:ea typeface="+mn-ea"/>
                <a:cs typeface="+mn-cs"/>
              </a:rPr>
              <a:t> For practical purposes the two terms can be used interchangeably.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538921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advises microbiological contamination is caused by bacteria, moulds, yeasts and viruses via intoxication or infection informing students problem bacteria include:</a:t>
            </a:r>
          </a:p>
          <a:p>
            <a:pPr>
              <a:buFont typeface="Arial" pitchFamily="34" charset="0"/>
              <a:buChar char="•"/>
            </a:pPr>
            <a:r>
              <a:rPr lang="en-AU" sz="1200" kern="1200" dirty="0" smtClean="0">
                <a:solidFill>
                  <a:schemeClr val="tx1"/>
                </a:solidFill>
                <a:latin typeface="+mn-lt"/>
                <a:ea typeface="+mn-ea"/>
                <a:cs typeface="+mn-cs"/>
              </a:rPr>
              <a:t> Clostridium perfringens – usually caused when food is cooked, chilled overnight and re-heated, or found in foods that are cooked 'rare'. The initial source of the contamination is faeces (man, birds, animal or insects) which is introduced somewhere along the food chain/production line (failure of staff to wash their hands after the toilet; flies carrying it onto food; contamination at the abattoir)</a:t>
            </a:r>
          </a:p>
          <a:p>
            <a:pPr>
              <a:buFont typeface="Arial" pitchFamily="34" charset="0"/>
              <a:buChar char="•"/>
            </a:pPr>
            <a:r>
              <a:rPr lang="en-AU" sz="1200" kern="1200" dirty="0" smtClean="0">
                <a:solidFill>
                  <a:schemeClr val="tx1"/>
                </a:solidFill>
                <a:latin typeface="+mn-lt"/>
                <a:ea typeface="+mn-ea"/>
                <a:cs typeface="+mn-cs"/>
              </a:rPr>
              <a:t> Salmonella – a very common contaminant. Faecal contamination is a prime source (failure to wash hands after the toilet; flies carrying it onto foods; leaky plumbing; fish harvested from waters polluted by sewage).  </a:t>
            </a:r>
          </a:p>
          <a:p>
            <a:pPr>
              <a:buFont typeface="Arial" pitchFamily="34" charset="0"/>
              <a:buChar char="•"/>
            </a:pPr>
            <a:r>
              <a:rPr lang="en-AU" sz="1200" kern="1200" dirty="0" smtClean="0">
                <a:solidFill>
                  <a:schemeClr val="tx1"/>
                </a:solidFill>
                <a:latin typeface="+mn-lt"/>
                <a:ea typeface="+mn-ea"/>
                <a:cs typeface="+mn-cs"/>
              </a:rPr>
              <a:t> Streptococci – caused by nasal or oral discharges into food (coughing, sneezing), either directly or via hands that have been so contaminated.</a:t>
            </a:r>
          </a:p>
          <a:p>
            <a:pPr>
              <a:buFont typeface="Arial" pitchFamily="34" charset="0"/>
              <a:buChar char="•"/>
            </a:pPr>
            <a:r>
              <a:rPr lang="en-AU" sz="1200" kern="1200" dirty="0" smtClean="0">
                <a:solidFill>
                  <a:schemeClr val="tx1"/>
                </a:solidFill>
                <a:latin typeface="+mn-lt"/>
                <a:ea typeface="+mn-ea"/>
                <a:cs typeface="+mn-cs"/>
              </a:rPr>
              <a:t> Staphylococcus aureus – rapidly-acting bacteria where the main source is the food handler: nose, throat, mouth, skin, pimples and cuts.</a:t>
            </a:r>
          </a:p>
          <a:p>
            <a:pPr>
              <a:buFont typeface="Arial" pitchFamily="34" charset="0"/>
              <a:buChar char="•"/>
            </a:pPr>
            <a:r>
              <a:rPr lang="en-AU" sz="1200" kern="1200" dirty="0" smtClean="0">
                <a:solidFill>
                  <a:schemeClr val="tx1"/>
                </a:solidFill>
                <a:latin typeface="+mn-lt"/>
                <a:ea typeface="+mn-ea"/>
                <a:cs typeface="+mn-cs"/>
              </a:rPr>
              <a:t> Contamination may occur directly (coughing or sneezing onto food) or indirectly (coughing/sneezing into hands and then using the hands to handle food).</a:t>
            </a:r>
          </a:p>
          <a:p>
            <a:pPr>
              <a:buFont typeface="Arial" pitchFamily="34" charset="0"/>
              <a:buChar char="•"/>
            </a:pPr>
            <a:r>
              <a:rPr lang="en-AU" sz="1200" kern="1200" dirty="0" smtClean="0">
                <a:solidFill>
                  <a:schemeClr val="tx1"/>
                </a:solidFill>
                <a:latin typeface="+mn-lt"/>
                <a:ea typeface="+mn-ea"/>
                <a:cs typeface="+mn-cs"/>
              </a:rPr>
              <a:t> Clostridium botulinum – a rare bacteria but a very lethal contaminant (65% mortality rate). Can occur when heat processing of tins and jars is incomplete allowing spores (see below) to survive and cause the problem. Any tin that 'spurts' when opened, is leaky or is 'blown', or jars with broken seals must be discarded as this is a sign of botulism contamination: there is no adverse smell and food must not be tasted to test it as the small amount ingested during tasting can kill.</a:t>
            </a:r>
          </a:p>
          <a:p>
            <a:pPr>
              <a:buFont typeface="Arial" pitchFamily="34" charset="0"/>
              <a:buNone/>
            </a:pPr>
            <a:r>
              <a:rPr lang="en-AU" sz="1200" kern="1200" dirty="0" smtClean="0">
                <a:solidFill>
                  <a:schemeClr val="tx1"/>
                </a:solidFill>
                <a:latin typeface="+mn-lt"/>
                <a:ea typeface="+mn-ea"/>
                <a:cs typeface="+mn-cs"/>
              </a:rPr>
              <a:t>Note there is usually no sign food has been infected by bacteria.</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344880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high </a:t>
            </a:r>
            <a:r>
              <a:rPr lang="en-AU" sz="1200" kern="1200" dirty="0" smtClean="0">
                <a:solidFill>
                  <a:schemeClr val="tx1"/>
                </a:solidFill>
                <a:latin typeface="+mn-lt"/>
                <a:ea typeface="+mn-ea"/>
                <a:cs typeface="+mn-cs"/>
              </a:rPr>
              <a:t>risk food handling situations that may involve microbiological contamination include:</a:t>
            </a:r>
          </a:p>
          <a:p>
            <a:pPr>
              <a:buFont typeface="Arial" pitchFamily="34" charset="0"/>
              <a:buChar char="•"/>
            </a:pPr>
            <a:r>
              <a:rPr lang="en-AU" sz="1200" kern="1200" dirty="0" smtClean="0">
                <a:solidFill>
                  <a:schemeClr val="tx1"/>
                </a:solidFill>
                <a:latin typeface="+mn-lt"/>
                <a:ea typeface="+mn-ea"/>
                <a:cs typeface="+mn-cs"/>
              </a:rPr>
              <a:t> Working with any high risk/potentially hazardous foods</a:t>
            </a:r>
          </a:p>
          <a:p>
            <a:pPr>
              <a:buFont typeface="Arial" pitchFamily="34" charset="0"/>
              <a:buChar char="•"/>
            </a:pPr>
            <a:r>
              <a:rPr lang="en-AU" sz="1200" kern="1200" dirty="0" smtClean="0">
                <a:solidFill>
                  <a:schemeClr val="tx1"/>
                </a:solidFill>
                <a:latin typeface="+mn-lt"/>
                <a:ea typeface="+mn-ea"/>
                <a:cs typeface="+mn-cs"/>
              </a:rPr>
              <a:t> Working in temperatures that promote rapid bacterial growth </a:t>
            </a:r>
          </a:p>
          <a:p>
            <a:pPr>
              <a:buFont typeface="Arial" pitchFamily="34" charset="0"/>
              <a:buChar char="•"/>
            </a:pPr>
            <a:r>
              <a:rPr lang="en-AU" sz="1200" kern="1200" dirty="0" smtClean="0">
                <a:solidFill>
                  <a:schemeClr val="tx1"/>
                </a:solidFill>
                <a:latin typeface="+mn-lt"/>
                <a:ea typeface="+mn-ea"/>
                <a:cs typeface="+mn-cs"/>
              </a:rPr>
              <a:t> Displays of food and buffets – where the temperature may be compromised (hot food may fall below 60°C, cold food may rise above 5°C), plus there is always the danger members of the public – untrained in correct food handling procedures – may contaminate the food</a:t>
            </a:r>
          </a:p>
          <a:p>
            <a:pPr>
              <a:buFont typeface="Arial" pitchFamily="34" charset="0"/>
              <a:buChar char="•"/>
            </a:pPr>
            <a:r>
              <a:rPr lang="en-AU" sz="1200" kern="1200" dirty="0" smtClean="0">
                <a:solidFill>
                  <a:schemeClr val="tx1"/>
                </a:solidFill>
                <a:latin typeface="+mn-lt"/>
                <a:ea typeface="+mn-ea"/>
                <a:cs typeface="+mn-cs"/>
              </a:rPr>
              <a:t> Processing the food where it is touched by the bare hand and not subsequently cooked</a:t>
            </a:r>
          </a:p>
          <a:p>
            <a:pPr>
              <a:buFont typeface="Arial" pitchFamily="34" charset="0"/>
              <a:buChar char="•"/>
            </a:pPr>
            <a:r>
              <a:rPr lang="en-AU" sz="1200" kern="1200" dirty="0" smtClean="0">
                <a:solidFill>
                  <a:schemeClr val="tx1"/>
                </a:solidFill>
                <a:latin typeface="+mn-lt"/>
                <a:ea typeface="+mn-ea"/>
                <a:cs typeface="+mn-cs"/>
              </a:rPr>
              <a:t> Any situation requiring thawing and re-heating of high risk food always poses a risk the food may stay in the Temperature Danger Zone too long.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781325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informs students </a:t>
            </a:r>
            <a:r>
              <a:rPr lang="en-AU" sz="1200" kern="1200" dirty="0" smtClean="0">
                <a:solidFill>
                  <a:schemeClr val="tx1"/>
                </a:solidFill>
                <a:latin typeface="+mn-lt"/>
                <a:ea typeface="+mn-ea"/>
                <a:cs typeface="+mn-cs"/>
              </a:rPr>
              <a:t>chemical contamination can include contamination caused by chemicals:</a:t>
            </a:r>
          </a:p>
          <a:p>
            <a:pPr>
              <a:buFont typeface="Arial" pitchFamily="34" charset="0"/>
              <a:buChar char="•"/>
            </a:pPr>
            <a:r>
              <a:rPr lang="en-AU" sz="1200" kern="1200" dirty="0" smtClean="0">
                <a:solidFill>
                  <a:schemeClr val="tx1"/>
                </a:solidFill>
                <a:latin typeface="+mn-lt"/>
                <a:ea typeface="+mn-ea"/>
                <a:cs typeface="+mn-cs"/>
              </a:rPr>
              <a:t> Used on the food to produce and/or process it </a:t>
            </a:r>
          </a:p>
          <a:p>
            <a:pPr>
              <a:buFont typeface="Arial" pitchFamily="34" charset="0"/>
              <a:buChar char="•"/>
            </a:pPr>
            <a:r>
              <a:rPr lang="en-AU" sz="1200" kern="1200" dirty="0" smtClean="0">
                <a:solidFill>
                  <a:schemeClr val="tx1"/>
                </a:solidFill>
                <a:latin typeface="+mn-lt"/>
                <a:ea typeface="+mn-ea"/>
                <a:cs typeface="+mn-cs"/>
              </a:rPr>
              <a:t> Which find their way inadvertently into the food due to careless handling – for example:</a:t>
            </a:r>
          </a:p>
          <a:p>
            <a:pPr lvl="1">
              <a:buFont typeface="Arial" pitchFamily="34" charset="0"/>
              <a:buChar char="•"/>
            </a:pPr>
            <a:r>
              <a:rPr lang="en-AU" sz="1200" kern="1200" dirty="0" smtClean="0">
                <a:solidFill>
                  <a:schemeClr val="tx1"/>
                </a:solidFill>
                <a:latin typeface="+mn-lt"/>
                <a:ea typeface="+mn-ea"/>
                <a:cs typeface="+mn-cs"/>
              </a:rPr>
              <a:t> Fly spray sprayed into the air and landing on food</a:t>
            </a:r>
          </a:p>
          <a:p>
            <a:pPr lvl="1">
              <a:buFont typeface="Arial" pitchFamily="34" charset="0"/>
              <a:buChar char="•"/>
            </a:pPr>
            <a:r>
              <a:rPr lang="en-AU" sz="1200" kern="1200" dirty="0" smtClean="0">
                <a:solidFill>
                  <a:schemeClr val="tx1"/>
                </a:solidFill>
                <a:latin typeface="+mn-lt"/>
                <a:ea typeface="+mn-ea"/>
                <a:cs typeface="+mn-cs"/>
              </a:rPr>
              <a:t> Using a jug/container to measure chemicals and then using the same jug (without washing and sanitizing) to mix a sauce which is poured over food.</a:t>
            </a:r>
          </a:p>
          <a:p>
            <a:pPr lvl="1">
              <a:buFont typeface="Arial" pitchFamily="34" charset="0"/>
              <a:buNone/>
            </a:pPr>
            <a:r>
              <a:rPr lang="en-AU" sz="1200" kern="1200" dirty="0" smtClean="0">
                <a:solidFill>
                  <a:schemeClr val="tx1"/>
                </a:solidFill>
                <a:latin typeface="+mn-lt"/>
                <a:ea typeface="+mn-ea"/>
                <a:cs typeface="+mn-cs"/>
              </a:rPr>
              <a:t>Specific and identified measuring vessels should always be allocated for chemicals – staff must not be allowed to use food service items to obtain, measure or pour any chemical. All chemicals must be stored away from food areas at all times. </a:t>
            </a:r>
          </a:p>
          <a:p>
            <a:pPr>
              <a:buFont typeface="Arial" pitchFamily="34" charset="0"/>
              <a:buChar char="•"/>
            </a:pPr>
            <a:r>
              <a:rPr lang="en-AU" sz="1200" kern="1200" dirty="0" smtClean="0">
                <a:solidFill>
                  <a:schemeClr val="tx1"/>
                </a:solidFill>
                <a:latin typeface="+mn-lt"/>
                <a:ea typeface="+mn-ea"/>
                <a:cs typeface="+mn-cs"/>
              </a:rPr>
              <a:t> Naturally occurring poisonous food are also classified as part of the ‘chemical contamination’ threat. Be aware of the following:</a:t>
            </a:r>
          </a:p>
          <a:p>
            <a:pPr lvl="1">
              <a:buFont typeface="Arial" pitchFamily="34" charset="0"/>
              <a:buChar char="•"/>
            </a:pPr>
            <a:r>
              <a:rPr lang="en-AU" sz="1200" kern="1200" dirty="0" smtClean="0">
                <a:solidFill>
                  <a:schemeClr val="tx1"/>
                </a:solidFill>
                <a:latin typeface="+mn-lt"/>
                <a:ea typeface="+mn-ea"/>
                <a:cs typeface="+mn-cs"/>
              </a:rPr>
              <a:t> Mushrooms – certain fungi can be poisonous but those purchased from reputable suppliers should be safe: do not buy mushrooms from people calling door-to-door, and do not use in a commercial setting, mushrooms picked by private individuals</a:t>
            </a:r>
          </a:p>
          <a:p>
            <a:pPr lvl="1">
              <a:buFont typeface="Arial" pitchFamily="34" charset="0"/>
              <a:buChar char="•"/>
            </a:pPr>
            <a:r>
              <a:rPr lang="en-AU" sz="1200" kern="1200" dirty="0" smtClean="0">
                <a:solidFill>
                  <a:schemeClr val="tx1"/>
                </a:solidFill>
                <a:latin typeface="+mn-lt"/>
                <a:ea typeface="+mn-ea"/>
                <a:cs typeface="+mn-cs"/>
              </a:rPr>
              <a:t> Rhubarb leaves are poisonous so great care should be given when stemming them</a:t>
            </a:r>
          </a:p>
          <a:p>
            <a:pPr lvl="1">
              <a:buFont typeface="Arial" pitchFamily="34" charset="0"/>
              <a:buChar char="•"/>
            </a:pPr>
            <a:r>
              <a:rPr lang="en-AU" sz="1200" kern="1200" dirty="0" smtClean="0">
                <a:solidFill>
                  <a:schemeClr val="tx1"/>
                </a:solidFill>
                <a:latin typeface="+mn-lt"/>
                <a:ea typeface="+mn-ea"/>
                <a:cs typeface="+mn-cs"/>
              </a:rPr>
              <a:t> Green and sprouting potatoes contain a substance called 'solanine' which has been linked with food poisoning outbreaks so green potatoes should be discarded, returned to the supplier or rejected on delivery.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836066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tells students </a:t>
            </a:r>
            <a:r>
              <a:rPr lang="en-AU" sz="1200" kern="1200" dirty="0" smtClean="0">
                <a:solidFill>
                  <a:schemeClr val="tx1"/>
                </a:solidFill>
                <a:latin typeface="+mn-lt"/>
                <a:ea typeface="+mn-ea"/>
                <a:cs typeface="+mn-cs"/>
              </a:rPr>
              <a:t>all food handlers must be on their guard to ensure foreign objects do not find their way into food for human consumption, remembering the foreign object may have found its way into the food </a:t>
            </a:r>
            <a:r>
              <a:rPr lang="en-AU" sz="1200" b="1" kern="1200" dirty="0" smtClean="0">
                <a:solidFill>
                  <a:schemeClr val="tx1"/>
                </a:solidFill>
                <a:latin typeface="+mn-lt"/>
                <a:ea typeface="+mn-ea"/>
                <a:cs typeface="+mn-cs"/>
              </a:rPr>
              <a:t>before</a:t>
            </a:r>
            <a:r>
              <a:rPr lang="en-AU" sz="1200" kern="1200" dirty="0" smtClean="0">
                <a:solidFill>
                  <a:schemeClr val="tx1"/>
                </a:solidFill>
                <a:latin typeface="+mn-lt"/>
                <a:ea typeface="+mn-ea"/>
                <a:cs typeface="+mn-cs"/>
              </a:rPr>
              <a:t> the product/item arrived at the premises.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Students must be constantly on the lookout for physical contaminants.</a:t>
            </a:r>
          </a:p>
          <a:p>
            <a:pPr>
              <a:buFont typeface="Arial" pitchFamily="34" charset="0"/>
              <a:buNone/>
            </a:pPr>
            <a:endParaRPr lang="en-AU" noProof="0" dirty="0" smtClean="0"/>
          </a:p>
          <a:p>
            <a:pPr>
              <a:buFont typeface="Arial" pitchFamily="34" charset="0"/>
              <a:buNone/>
            </a:pPr>
            <a:r>
              <a:rPr lang="en-AU" b="1" noProof="0" dirty="0" smtClean="0"/>
              <a:t>Class Activity – Question/Discussion</a:t>
            </a:r>
            <a:endParaRPr lang="en-AU" b="0" noProof="0" dirty="0" smtClean="0"/>
          </a:p>
          <a:p>
            <a:pPr>
              <a:buFont typeface="Arial" pitchFamily="34" charset="0"/>
              <a:buNone/>
            </a:pPr>
            <a:r>
              <a:rPr lang="en-AU" b="0" noProof="0" dirty="0" smtClean="0"/>
              <a:t>Trainer asks students to identify possible physical contaminants.</a:t>
            </a:r>
          </a:p>
          <a:p>
            <a:pPr>
              <a:buFont typeface="Arial" pitchFamily="34" charset="0"/>
              <a:buNone/>
            </a:pPr>
            <a:r>
              <a:rPr lang="en-AU" b="0" noProof="0" dirty="0" smtClean="0"/>
              <a:t>Possible answers include:</a:t>
            </a:r>
          </a:p>
          <a:p>
            <a:pPr>
              <a:buFont typeface="Arial" pitchFamily="34" charset="0"/>
              <a:buChar char="•"/>
            </a:pPr>
            <a:r>
              <a:rPr lang="en-AU" sz="1200" kern="1200" dirty="0" smtClean="0">
                <a:solidFill>
                  <a:schemeClr val="tx1"/>
                </a:solidFill>
                <a:latin typeface="+mn-lt"/>
                <a:ea typeface="+mn-ea"/>
                <a:cs typeface="+mn-cs"/>
              </a:rPr>
              <a:t> Hair from the head or beard</a:t>
            </a:r>
          </a:p>
          <a:p>
            <a:pPr>
              <a:buFont typeface="Arial" pitchFamily="34" charset="0"/>
              <a:buChar char="•"/>
            </a:pPr>
            <a:r>
              <a:rPr lang="en-AU" sz="1200" kern="1200" dirty="0" smtClean="0">
                <a:solidFill>
                  <a:schemeClr val="tx1"/>
                </a:solidFill>
                <a:latin typeface="+mn-lt"/>
                <a:ea typeface="+mn-ea"/>
                <a:cs typeface="+mn-cs"/>
              </a:rPr>
              <a:t> Metal filings left by can openers</a:t>
            </a:r>
          </a:p>
          <a:p>
            <a:pPr>
              <a:buFont typeface="Arial" pitchFamily="34" charset="0"/>
              <a:buChar char="•"/>
            </a:pPr>
            <a:r>
              <a:rPr lang="en-AU" sz="1200" kern="1200" dirty="0" smtClean="0">
                <a:solidFill>
                  <a:schemeClr val="tx1"/>
                </a:solidFill>
                <a:latin typeface="+mn-lt"/>
                <a:ea typeface="+mn-ea"/>
                <a:cs typeface="+mn-cs"/>
              </a:rPr>
              <a:t> Flies and insects – and their droppings</a:t>
            </a:r>
          </a:p>
          <a:p>
            <a:pPr>
              <a:buFont typeface="Arial" pitchFamily="34" charset="0"/>
              <a:buChar char="•"/>
            </a:pPr>
            <a:r>
              <a:rPr lang="en-AU" sz="1200" kern="1200" dirty="0" smtClean="0">
                <a:solidFill>
                  <a:schemeClr val="tx1"/>
                </a:solidFill>
                <a:latin typeface="+mn-lt"/>
                <a:ea typeface="+mn-ea"/>
                <a:cs typeface="+mn-cs"/>
              </a:rPr>
              <a:t> Bits of equipment and utensils which break off during the food preparation process and become incorporated into the food</a:t>
            </a:r>
          </a:p>
          <a:p>
            <a:pPr>
              <a:buFont typeface="Arial" pitchFamily="34" charset="0"/>
              <a:buChar char="•"/>
            </a:pPr>
            <a:r>
              <a:rPr lang="en-AU" sz="1200" kern="1200" dirty="0" smtClean="0">
                <a:solidFill>
                  <a:schemeClr val="tx1"/>
                </a:solidFill>
                <a:latin typeface="+mn-lt"/>
                <a:ea typeface="+mn-ea"/>
                <a:cs typeface="+mn-cs"/>
              </a:rPr>
              <a:t> Bits of glass.</a:t>
            </a:r>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4246687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informs trainees </a:t>
            </a:r>
            <a:r>
              <a:rPr lang="en-AU" sz="1200" kern="1200" dirty="0" smtClean="0">
                <a:solidFill>
                  <a:schemeClr val="tx1"/>
                </a:solidFill>
                <a:latin typeface="+mn-lt"/>
                <a:ea typeface="+mn-ea"/>
                <a:cs typeface="+mn-cs"/>
              </a:rPr>
              <a:t>in practice they will have direct responsibility for the position/work role they are employed in and these specific responsibilities will be explained to them as part of their Induction and Orientation, and as part of the formal on-the-job training provided by the employer.</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Examples may include responsibilities for:</a:t>
            </a:r>
          </a:p>
          <a:p>
            <a:pPr>
              <a:buFont typeface="Arial" pitchFamily="34" charset="0"/>
              <a:buChar char="•"/>
            </a:pPr>
            <a:r>
              <a:rPr lang="en-AU" sz="1200" kern="1200" dirty="0" smtClean="0">
                <a:solidFill>
                  <a:schemeClr val="tx1"/>
                </a:solidFill>
                <a:latin typeface="+mn-lt"/>
                <a:ea typeface="+mn-ea"/>
                <a:cs typeface="+mn-cs"/>
              </a:rPr>
              <a:t> Purchasing and receiving goods delivered into the premises by suppliers </a:t>
            </a:r>
          </a:p>
          <a:p>
            <a:pPr>
              <a:buFont typeface="Arial" pitchFamily="34" charset="0"/>
              <a:buChar char="•"/>
            </a:pPr>
            <a:r>
              <a:rPr lang="en-AU" sz="1200" kern="1200" dirty="0" smtClean="0">
                <a:solidFill>
                  <a:schemeClr val="tx1"/>
                </a:solidFill>
                <a:latin typeface="+mn-lt"/>
                <a:ea typeface="+mn-ea"/>
                <a:cs typeface="+mn-cs"/>
              </a:rPr>
              <a:t> Dry, cold and frozen storage of food which has been delivered</a:t>
            </a:r>
          </a:p>
          <a:p>
            <a:pPr>
              <a:buFont typeface="Arial" pitchFamily="34" charset="0"/>
              <a:buChar char="•"/>
            </a:pPr>
            <a:r>
              <a:rPr lang="en-AU" sz="1200" kern="1200" dirty="0" smtClean="0">
                <a:solidFill>
                  <a:schemeClr val="tx1"/>
                </a:solidFill>
                <a:latin typeface="+mn-lt"/>
                <a:ea typeface="+mn-ea"/>
                <a:cs typeface="+mn-cs"/>
              </a:rPr>
              <a:t> Thawing of frozen food </a:t>
            </a:r>
          </a:p>
          <a:p>
            <a:pPr>
              <a:buFont typeface="Arial" pitchFamily="34" charset="0"/>
              <a:buChar char="•"/>
            </a:pPr>
            <a:r>
              <a:rPr lang="en-AU" sz="1200" kern="1200" dirty="0" smtClean="0">
                <a:solidFill>
                  <a:schemeClr val="tx1"/>
                </a:solidFill>
                <a:latin typeface="+mn-lt"/>
                <a:ea typeface="+mn-ea"/>
                <a:cs typeface="+mn-cs"/>
              </a:rPr>
              <a:t> Food preparation activities (washing, peeling, chopping, mixing, weighing) food</a:t>
            </a:r>
          </a:p>
          <a:p>
            <a:pPr>
              <a:buFont typeface="Arial" pitchFamily="34" charset="0"/>
              <a:buChar char="•"/>
            </a:pPr>
            <a:r>
              <a:rPr lang="en-AU" sz="1200" kern="1200" dirty="0" smtClean="0">
                <a:solidFill>
                  <a:schemeClr val="tx1"/>
                </a:solidFill>
                <a:latin typeface="+mn-lt"/>
                <a:ea typeface="+mn-ea"/>
                <a:cs typeface="+mn-cs"/>
              </a:rPr>
              <a:t> Cooking food ready for immediate consumption and cooling food which has been cooked so it can be refrigerated or frozen for later use.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1276642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examples of the food handling work students may have direct responsibilities for:</a:t>
            </a:r>
          </a:p>
          <a:p>
            <a:pPr>
              <a:buFont typeface="Arial" pitchFamily="34" charset="0"/>
              <a:buChar char="•"/>
            </a:pPr>
            <a:r>
              <a:rPr lang="en-AU" sz="1200" kern="1200" dirty="0" smtClean="0">
                <a:solidFill>
                  <a:schemeClr val="tx1"/>
                </a:solidFill>
                <a:latin typeface="+mn-lt"/>
                <a:ea typeface="+mn-ea"/>
                <a:cs typeface="+mn-cs"/>
              </a:rPr>
              <a:t> Cold holding and hot holding of prepared food so it can be kept ready for sale or service</a:t>
            </a:r>
          </a:p>
          <a:p>
            <a:pPr>
              <a:buFont typeface="Arial" pitchFamily="34" charset="0"/>
              <a:buChar char="•"/>
            </a:pPr>
            <a:r>
              <a:rPr lang="en-AU" sz="1200" kern="1200" dirty="0" smtClean="0">
                <a:solidFill>
                  <a:schemeClr val="tx1"/>
                </a:solidFill>
                <a:latin typeface="+mn-lt"/>
                <a:ea typeface="+mn-ea"/>
                <a:cs typeface="+mn-cs"/>
              </a:rPr>
              <a:t> Re-heating of prepared food where previously prepared food (or left-over food) is safely heated up for service</a:t>
            </a:r>
          </a:p>
          <a:p>
            <a:pPr>
              <a:buFont typeface="Arial" pitchFamily="34" charset="0"/>
              <a:buChar char="•"/>
            </a:pPr>
            <a:r>
              <a:rPr lang="en-AU" sz="1200" kern="1200" dirty="0" smtClean="0">
                <a:solidFill>
                  <a:schemeClr val="tx1"/>
                </a:solidFill>
                <a:latin typeface="+mn-lt"/>
                <a:ea typeface="+mn-ea"/>
                <a:cs typeface="+mn-cs"/>
              </a:rPr>
              <a:t> Displaying hot and cold food for service to customers</a:t>
            </a:r>
          </a:p>
          <a:p>
            <a:pPr>
              <a:buFont typeface="Arial" pitchFamily="34" charset="0"/>
              <a:buChar char="•"/>
            </a:pPr>
            <a:r>
              <a:rPr lang="en-AU" sz="1200" kern="1200" dirty="0" smtClean="0">
                <a:solidFill>
                  <a:schemeClr val="tx1"/>
                </a:solidFill>
                <a:latin typeface="+mn-lt"/>
                <a:ea typeface="+mn-ea"/>
                <a:cs typeface="+mn-cs"/>
              </a:rPr>
              <a:t> Supervising the self-service of food by customers to themselves</a:t>
            </a:r>
          </a:p>
          <a:p>
            <a:pPr>
              <a:buFont typeface="Arial" pitchFamily="34" charset="0"/>
              <a:buChar char="•"/>
            </a:pPr>
            <a:r>
              <a:rPr lang="en-AU" sz="1200" kern="1200" dirty="0" smtClean="0">
                <a:solidFill>
                  <a:schemeClr val="tx1"/>
                </a:solidFill>
                <a:latin typeface="+mn-lt"/>
                <a:ea typeface="+mn-ea"/>
                <a:cs typeface="+mn-cs"/>
              </a:rPr>
              <a:t> Serving food which may packaging food for take-away consumption or plating food for eat-in consumption</a:t>
            </a:r>
          </a:p>
          <a:p>
            <a:pPr>
              <a:buFont typeface="Arial" pitchFamily="34" charset="0"/>
              <a:buChar char="•"/>
            </a:pPr>
            <a:r>
              <a:rPr lang="en-AU" sz="1200" kern="1200" dirty="0" smtClean="0">
                <a:solidFill>
                  <a:schemeClr val="tx1"/>
                </a:solidFill>
                <a:latin typeface="+mn-lt"/>
                <a:ea typeface="+mn-ea"/>
                <a:cs typeface="+mn-cs"/>
              </a:rPr>
              <a:t> Cleaning food equipment, utensils, work areas and food contact surfaces.</a:t>
            </a:r>
          </a:p>
          <a:p>
            <a:pPr>
              <a:buFont typeface="Arial" pitchFamily="34" charset="0"/>
              <a:buNone/>
            </a:pPr>
            <a:r>
              <a:rPr lang="en-AU" noProof="0" dirty="0" smtClean="0"/>
              <a:t> </a:t>
            </a:r>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local health authority to visit and talk to students about:</a:t>
            </a:r>
          </a:p>
          <a:p>
            <a:pPr>
              <a:buFont typeface="Arial" pitchFamily="34" charset="0"/>
              <a:buChar char="•"/>
            </a:pPr>
            <a:r>
              <a:rPr lang="en-AU" b="0" noProof="0" dirty="0" smtClean="0"/>
              <a:t> Obligations/requirements imposed on food handlers by legislation</a:t>
            </a:r>
          </a:p>
          <a:p>
            <a:pPr>
              <a:buFont typeface="Arial" pitchFamily="34" charset="0"/>
              <a:buChar char="•"/>
            </a:pPr>
            <a:r>
              <a:rPr lang="en-AU" b="0" noProof="0" dirty="0" smtClean="0"/>
              <a:t> Safe food handling techniques</a:t>
            </a:r>
          </a:p>
          <a:p>
            <a:pPr>
              <a:buFont typeface="Arial" pitchFamily="34" charset="0"/>
              <a:buChar char="•"/>
            </a:pPr>
            <a:r>
              <a:rPr lang="en-AU" b="0" noProof="0" dirty="0" smtClean="0"/>
              <a:t> Support available to assist with maintaining a safe and hygienic workplace.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1931684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students are also </a:t>
            </a:r>
            <a:r>
              <a:rPr lang="en-AU" sz="1200" kern="1200" dirty="0" smtClean="0">
                <a:solidFill>
                  <a:schemeClr val="tx1"/>
                </a:solidFill>
                <a:latin typeface="+mn-lt"/>
                <a:ea typeface="+mn-ea"/>
                <a:cs typeface="+mn-cs"/>
              </a:rPr>
              <a:t>expected to:</a:t>
            </a:r>
          </a:p>
          <a:p>
            <a:pPr>
              <a:buFont typeface="Arial" pitchFamily="34" charset="0"/>
              <a:buChar char="•"/>
            </a:pPr>
            <a:r>
              <a:rPr lang="en-US" sz="1200" dirty="0" smtClean="0">
                <a:latin typeface="Helvetica" pitchFamily="34" charset="0"/>
              </a:rPr>
              <a:t>Participate in establishment-wide food safety</a:t>
            </a:r>
            <a:r>
              <a:rPr lang="en-US" sz="1200" baseline="0" dirty="0" smtClean="0">
                <a:latin typeface="Helvetica" pitchFamily="34" charset="0"/>
              </a:rPr>
              <a:t> </a:t>
            </a:r>
            <a:r>
              <a:rPr lang="en-US" sz="1200" dirty="0" smtClean="0">
                <a:solidFill>
                  <a:schemeClr val="bg2">
                    <a:lumMod val="50000"/>
                  </a:schemeClr>
                </a:solidFill>
                <a:latin typeface="Helvetica" pitchFamily="34" charset="0"/>
              </a:rPr>
              <a:t>training activities</a:t>
            </a:r>
          </a:p>
          <a:p>
            <a:pPr>
              <a:buFont typeface="Arial" pitchFamily="34" charset="0"/>
              <a:buChar char="•"/>
            </a:pPr>
            <a:r>
              <a:rPr lang="en-US" sz="1200" dirty="0" smtClean="0">
                <a:solidFill>
                  <a:schemeClr val="bg2">
                    <a:lumMod val="50000"/>
                  </a:schemeClr>
                </a:solidFill>
                <a:latin typeface="Helvetica" pitchFamily="34" charset="0"/>
              </a:rPr>
              <a:t>Increased awareness for identifying hazards</a:t>
            </a:r>
          </a:p>
          <a:p>
            <a:pPr>
              <a:buFont typeface="Arial" pitchFamily="34" charset="0"/>
              <a:buChar char="•"/>
            </a:pPr>
            <a:r>
              <a:rPr lang="en-US" sz="1200" dirty="0" smtClean="0">
                <a:solidFill>
                  <a:schemeClr val="bg2">
                    <a:lumMod val="50000"/>
                  </a:schemeClr>
                </a:solidFill>
                <a:latin typeface="Helvetica" pitchFamily="34" charset="0"/>
              </a:rPr>
              <a:t>Constant vigilance</a:t>
            </a:r>
          </a:p>
          <a:p>
            <a:pPr>
              <a:buFont typeface="Arial" pitchFamily="34" charset="0"/>
              <a:buChar char="•"/>
            </a:pPr>
            <a:r>
              <a:rPr lang="en-US" sz="1200" dirty="0" smtClean="0">
                <a:solidFill>
                  <a:schemeClr val="bg2">
                    <a:lumMod val="50000"/>
                  </a:schemeClr>
                </a:solidFill>
                <a:latin typeface="Helvetica" pitchFamily="34" charset="0"/>
              </a:rPr>
              <a:t>Due diligence</a:t>
            </a:r>
          </a:p>
          <a:p>
            <a:pPr>
              <a:buFont typeface="Arial" pitchFamily="34" charset="0"/>
              <a:buChar char="•"/>
            </a:pPr>
            <a:r>
              <a:rPr lang="en-US" sz="1200" dirty="0" smtClean="0">
                <a:latin typeface="Helvetica" pitchFamily="34" charset="0"/>
              </a:rPr>
              <a:t>Assist other staff in their food handling and food safety activities</a:t>
            </a:r>
          </a:p>
          <a:p>
            <a:pPr>
              <a:buFont typeface="Arial" pitchFamily="34" charset="0"/>
              <a:buChar char="•"/>
            </a:pPr>
            <a:r>
              <a:rPr lang="en-US" sz="1200" dirty="0" smtClean="0">
                <a:latin typeface="Helvetica" pitchFamily="34" charset="0"/>
              </a:rPr>
              <a:t>Seek advice when unsure about what to do</a:t>
            </a:r>
          </a:p>
          <a:p>
            <a:pPr>
              <a:buFont typeface="Arial" pitchFamily="34" charset="0"/>
              <a:buChar char="•"/>
            </a:pPr>
            <a:r>
              <a:rPr lang="en-US" sz="1200" dirty="0" smtClean="0">
                <a:solidFill>
                  <a:schemeClr val="bg2">
                    <a:lumMod val="50000"/>
                  </a:schemeClr>
                </a:solidFill>
                <a:latin typeface="Helvetica" pitchFamily="34" charset="0"/>
              </a:rPr>
              <a:t>Effective responses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904001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stresses need for students to check their own work area to identify hazards and risks indicating this can involve:</a:t>
            </a:r>
          </a:p>
          <a:p>
            <a:pPr>
              <a:buFont typeface="Arial" pitchFamily="34" charset="0"/>
              <a:buChar char="•"/>
            </a:pPr>
            <a:r>
              <a:rPr lang="en-AU" sz="1200" kern="1200" dirty="0" smtClean="0">
                <a:solidFill>
                  <a:schemeClr val="tx1"/>
                </a:solidFill>
                <a:latin typeface="+mn-lt"/>
                <a:ea typeface="+mn-ea"/>
                <a:cs typeface="+mn-cs"/>
              </a:rPr>
              <a:t> Inspecting the work area prior to commencing work:</a:t>
            </a:r>
          </a:p>
          <a:p>
            <a:pPr lvl="1">
              <a:buFont typeface="Arial" pitchFamily="34" charset="0"/>
              <a:buChar char="•"/>
            </a:pPr>
            <a:r>
              <a:rPr lang="en-US" sz="1200" kern="1200" dirty="0" smtClean="0">
                <a:solidFill>
                  <a:schemeClr val="tx1"/>
                </a:solidFill>
                <a:latin typeface="+mn-lt"/>
                <a:ea typeface="+mn-ea"/>
                <a:cs typeface="+mn-cs"/>
              </a:rPr>
              <a:t> Food areas, equipment and utensils are clean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No evidence of pests/vermin</a:t>
            </a:r>
          </a:p>
          <a:p>
            <a:pPr lvl="1">
              <a:buFont typeface="Arial" pitchFamily="34" charset="0"/>
              <a:buChar char="•"/>
            </a:pPr>
            <a:r>
              <a:rPr lang="en-US" sz="1200" kern="1200" dirty="0" smtClean="0">
                <a:solidFill>
                  <a:schemeClr val="tx1"/>
                </a:solidFill>
                <a:latin typeface="+mn-lt"/>
                <a:ea typeface="+mn-ea"/>
                <a:cs typeface="+mn-cs"/>
              </a:rPr>
              <a:t> Temperatures of refrigerators, cool rooms and freezers are correct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Deliveries have been inspected  and stored appropriately and promptly</a:t>
            </a:r>
            <a:endParaRPr lang="en-AU" sz="1200" kern="1200" dirty="0" smtClean="0">
              <a:solidFill>
                <a:schemeClr val="tx1"/>
              </a:solidFill>
              <a:latin typeface="+mn-lt"/>
              <a:ea typeface="+mn-ea"/>
              <a:cs typeface="+mn-cs"/>
            </a:endParaRPr>
          </a:p>
          <a:p>
            <a:pPr lvl="0">
              <a:buFont typeface="Arial" pitchFamily="34" charset="0"/>
              <a:buChar char="•"/>
            </a:pPr>
            <a:r>
              <a:rPr lang="en-AU" sz="1200" kern="1200" dirty="0" smtClean="0">
                <a:solidFill>
                  <a:schemeClr val="tx1"/>
                </a:solidFill>
                <a:latin typeface="+mn-lt"/>
                <a:ea typeface="+mn-ea"/>
                <a:cs typeface="+mn-cs"/>
              </a:rPr>
              <a:t> Following the requirements of any workplace-specific checklists which may be provided to guide inspections and checking procedures</a:t>
            </a:r>
          </a:p>
          <a:p>
            <a:pPr>
              <a:buFont typeface="Arial" pitchFamily="34" charset="0"/>
              <a:buChar char="•"/>
            </a:pPr>
            <a:r>
              <a:rPr lang="en-AU" sz="1200" kern="1200" dirty="0" smtClean="0">
                <a:solidFill>
                  <a:schemeClr val="tx1"/>
                </a:solidFill>
                <a:latin typeface="+mn-lt"/>
                <a:ea typeface="+mn-ea"/>
                <a:cs typeface="+mn-cs"/>
              </a:rPr>
              <a:t> Monitoring work on an ongoing basis – to ensure:</a:t>
            </a:r>
          </a:p>
          <a:p>
            <a:pPr lvl="1">
              <a:buFont typeface="Arial" pitchFamily="34" charset="0"/>
              <a:buChar char="•"/>
            </a:pPr>
            <a:r>
              <a:rPr lang="en-US" sz="1200" kern="1200" dirty="0" smtClean="0">
                <a:solidFill>
                  <a:schemeClr val="tx1"/>
                </a:solidFill>
                <a:latin typeface="+mn-lt"/>
                <a:ea typeface="+mn-ea"/>
                <a:cs typeface="+mn-cs"/>
              </a:rPr>
              <a:t> Required SOPs and work practices and protocols are being implemented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Food safety is being maintained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Equipment is operating correctly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Required temperatures (for processing and holding and display) are being maintained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Required cooking times for food is being achieved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Cleaning and sanitizing of food equipment is occurring in between uses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Cleaning of food areas and food contact surfaces is occurring at least every four hours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Spills are cleaned up as they occur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Rubbish is being removed regularly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Personal hygiene requirements are being consistently implemented.</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1232877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advice as to how students may check their work areas:</a:t>
            </a:r>
          </a:p>
          <a:p>
            <a:pPr>
              <a:buFont typeface="Arial" pitchFamily="34" charset="0"/>
              <a:buChar char="•"/>
            </a:pPr>
            <a:r>
              <a:rPr lang="en-AU" sz="1200" kern="1200" dirty="0" smtClean="0">
                <a:solidFill>
                  <a:schemeClr val="tx1"/>
                </a:solidFill>
                <a:latin typeface="+mn-lt"/>
                <a:ea typeface="+mn-ea"/>
                <a:cs typeface="+mn-cs"/>
              </a:rPr>
              <a:t> Verifying safety of food to be used:</a:t>
            </a:r>
          </a:p>
          <a:p>
            <a:pPr lvl="1">
              <a:buFont typeface="Arial" pitchFamily="34" charset="0"/>
              <a:buChar char="•"/>
            </a:pPr>
            <a:r>
              <a:rPr lang="en-US" sz="1200" kern="1200" dirty="0" smtClean="0">
                <a:solidFill>
                  <a:schemeClr val="tx1"/>
                </a:solidFill>
                <a:latin typeface="+mn-lt"/>
                <a:ea typeface="+mn-ea"/>
                <a:cs typeface="+mn-cs"/>
              </a:rPr>
              <a:t> Inspecting for signs/evidence of contamination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Checking use-by date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Ensuring packaging has not been compromised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Observing food handling practices of colleagues – to ensure they also handle food safely and hygienically</a:t>
            </a:r>
          </a:p>
          <a:p>
            <a:pPr>
              <a:buFont typeface="Arial" pitchFamily="34" charset="0"/>
              <a:buChar char="•"/>
            </a:pPr>
            <a:r>
              <a:rPr lang="en-AU" sz="1200" kern="1200" dirty="0" smtClean="0">
                <a:solidFill>
                  <a:schemeClr val="tx1"/>
                </a:solidFill>
                <a:latin typeface="+mn-lt"/>
                <a:ea typeface="+mn-ea"/>
                <a:cs typeface="+mn-cs"/>
              </a:rPr>
              <a:t> Testing equipment – to make sure it is operating correctly.</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management-level person in a local food handling venue to attend and talk to students about:</a:t>
            </a:r>
          </a:p>
          <a:p>
            <a:pPr>
              <a:buFont typeface="Arial" pitchFamily="34" charset="0"/>
              <a:buChar char="•"/>
            </a:pPr>
            <a:r>
              <a:rPr lang="en-AU" b="0" noProof="0" dirty="0" smtClean="0"/>
              <a:t> Their expectations and requirements regarding activities of food handling</a:t>
            </a:r>
          </a:p>
          <a:p>
            <a:pPr>
              <a:buFont typeface="Arial" pitchFamily="34" charset="0"/>
              <a:buChar char="•"/>
            </a:pPr>
            <a:r>
              <a:rPr lang="en-AU" b="0" noProof="0" dirty="0" smtClean="0"/>
              <a:t> Examples of in-house food safety training</a:t>
            </a:r>
          </a:p>
          <a:p>
            <a:pPr>
              <a:buFont typeface="Arial" pitchFamily="34" charset="0"/>
              <a:buChar char="•"/>
            </a:pPr>
            <a:r>
              <a:rPr lang="en-AU" b="0" noProof="0" dirty="0" smtClean="0"/>
              <a:t> Examples of SOPs to enable/support safe food handling</a:t>
            </a:r>
          </a:p>
          <a:p>
            <a:pPr>
              <a:buFont typeface="Arial" pitchFamily="34" charset="0"/>
              <a:buChar char="•"/>
            </a:pPr>
            <a:r>
              <a:rPr lang="en-AU" b="0" noProof="0" dirty="0" smtClean="0"/>
              <a:t> Requirements of Food safety Plan.</a:t>
            </a:r>
          </a:p>
          <a:p>
            <a:pPr>
              <a:buFont typeface="Arial" pitchFamily="34" charset="0"/>
              <a:buChar char="•"/>
            </a:pPr>
            <a:r>
              <a:rPr lang="en-AU" b="0" noProof="0" dirty="0" smtClean="0"/>
              <a:t> Documents used to monitor and record safe food handling practices.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15721079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stresses the need for constant vigilance by all food handlers and presents additional hazards/situations they need to be aware of:</a:t>
            </a:r>
          </a:p>
          <a:p>
            <a:pPr>
              <a:buFont typeface="Arial" pitchFamily="34" charset="0"/>
              <a:buChar char="•"/>
            </a:pPr>
            <a:r>
              <a:rPr lang="en-AU" sz="1200" kern="1200" dirty="0" smtClean="0">
                <a:solidFill>
                  <a:schemeClr val="tx1"/>
                </a:solidFill>
                <a:latin typeface="+mn-lt"/>
                <a:ea typeface="+mn-ea"/>
                <a:cs typeface="+mn-cs"/>
              </a:rPr>
              <a:t> Food contaminated by vermin – through urine, faeces, gnawing, their presence in it</a:t>
            </a:r>
          </a:p>
          <a:p>
            <a:pPr>
              <a:buFont typeface="Arial" pitchFamily="34" charset="0"/>
              <a:buChar char="•"/>
            </a:pPr>
            <a:r>
              <a:rPr lang="en-AU" sz="1200" kern="1200" dirty="0" smtClean="0">
                <a:solidFill>
                  <a:schemeClr val="tx1"/>
                </a:solidFill>
                <a:latin typeface="+mn-lt"/>
                <a:ea typeface="+mn-ea"/>
                <a:cs typeface="+mn-cs"/>
              </a:rPr>
              <a:t> Airborne dust – either due to natural causes (dust storms, weather) or due to internal causes (renovations)</a:t>
            </a:r>
          </a:p>
          <a:p>
            <a:pPr>
              <a:buFont typeface="Arial" pitchFamily="34" charset="0"/>
              <a:buChar char="•"/>
            </a:pPr>
            <a:r>
              <a:rPr lang="en-AU" sz="1200" kern="1200" dirty="0" smtClean="0">
                <a:solidFill>
                  <a:schemeClr val="tx1"/>
                </a:solidFill>
                <a:latin typeface="+mn-lt"/>
                <a:ea typeface="+mn-ea"/>
                <a:cs typeface="+mn-cs"/>
              </a:rPr>
              <a:t> Contaminated items – such as linen, tea towels contaminated with human waste such as blood, secretions (sweat) or food </a:t>
            </a:r>
          </a:p>
          <a:p>
            <a:pPr>
              <a:buFont typeface="Arial" pitchFamily="34" charset="0"/>
              <a:buChar char="•"/>
            </a:pPr>
            <a:r>
              <a:rPr lang="en-AU" sz="1200" kern="1200" dirty="0" smtClean="0">
                <a:solidFill>
                  <a:schemeClr val="tx1"/>
                </a:solidFill>
                <a:latin typeface="+mn-lt"/>
                <a:ea typeface="+mn-ea"/>
                <a:cs typeface="+mn-cs"/>
              </a:rPr>
              <a:t> Dirty equipment and utensils – which can include:</a:t>
            </a:r>
          </a:p>
          <a:p>
            <a:pPr lvl="1">
              <a:buFont typeface="Arial" pitchFamily="34" charset="0"/>
              <a:buChar char="•"/>
            </a:pPr>
            <a:r>
              <a:rPr lang="en-AU" sz="1200" kern="1200" dirty="0" smtClean="0">
                <a:solidFill>
                  <a:schemeClr val="tx1"/>
                </a:solidFill>
                <a:latin typeface="+mn-lt"/>
                <a:ea typeface="+mn-ea"/>
                <a:cs typeface="+mn-cs"/>
              </a:rPr>
              <a:t> Items not properly cleaned and sanitized after use </a:t>
            </a:r>
          </a:p>
          <a:p>
            <a:pPr lvl="1">
              <a:buFont typeface="Arial" pitchFamily="34" charset="0"/>
              <a:buChar char="•"/>
            </a:pPr>
            <a:r>
              <a:rPr lang="en-AU" sz="1200" kern="1200" dirty="0" smtClean="0">
                <a:solidFill>
                  <a:schemeClr val="tx1"/>
                </a:solidFill>
                <a:latin typeface="+mn-lt"/>
                <a:ea typeface="+mn-ea"/>
                <a:cs typeface="+mn-cs"/>
              </a:rPr>
              <a:t> Items dropped on the floor </a:t>
            </a:r>
          </a:p>
          <a:p>
            <a:pPr lvl="1">
              <a:buFont typeface="Arial" pitchFamily="34" charset="0"/>
              <a:buChar char="•"/>
            </a:pPr>
            <a:r>
              <a:rPr lang="en-AU" sz="1200" kern="1200" dirty="0" smtClean="0">
                <a:solidFill>
                  <a:schemeClr val="tx1"/>
                </a:solidFill>
                <a:latin typeface="+mn-lt"/>
                <a:ea typeface="+mn-ea"/>
                <a:cs typeface="+mn-cs"/>
              </a:rPr>
              <a:t> Items contaminated by clothing, coughing/sneezing, or cross contamination of any sort </a:t>
            </a:r>
          </a:p>
          <a:p>
            <a:pPr>
              <a:buFont typeface="Arial" pitchFamily="34" charset="0"/>
              <a:buChar char="•"/>
            </a:pPr>
            <a:r>
              <a:rPr lang="en-AU" sz="1200" kern="1200" dirty="0" smtClean="0">
                <a:solidFill>
                  <a:schemeClr val="tx1"/>
                </a:solidFill>
                <a:latin typeface="+mn-lt"/>
                <a:ea typeface="+mn-ea"/>
                <a:cs typeface="+mn-cs"/>
              </a:rPr>
              <a:t> Garbage – all garbage presents a potential hazard whether it is stored in bins inside the premises or in containers outside the premises: remember hands must be washed after handing garbage and all garbage containers must be kept clean when not in use.</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1279189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additional hazards/situations they need to be aware of:</a:t>
            </a:r>
          </a:p>
          <a:p>
            <a:pPr>
              <a:buFont typeface="Arial" pitchFamily="34" charset="0"/>
              <a:buChar char="•"/>
            </a:pPr>
            <a:r>
              <a:rPr lang="en-AU" sz="1200" kern="1200" dirty="0" smtClean="0">
                <a:solidFill>
                  <a:schemeClr val="tx1"/>
                </a:solidFill>
                <a:latin typeface="+mn-lt"/>
                <a:ea typeface="+mn-ea"/>
                <a:cs typeface="+mn-cs"/>
              </a:rPr>
              <a:t>  Out-of-date food handling practices – hazards can occur where:</a:t>
            </a:r>
          </a:p>
          <a:p>
            <a:pPr lvl="1">
              <a:buFont typeface="Arial" pitchFamily="34" charset="0"/>
              <a:buChar char="•"/>
            </a:pPr>
            <a:r>
              <a:rPr lang="en-AU" sz="1200" kern="1200" dirty="0" smtClean="0">
                <a:solidFill>
                  <a:schemeClr val="tx1"/>
                </a:solidFill>
                <a:latin typeface="+mn-lt"/>
                <a:ea typeface="+mn-ea"/>
                <a:cs typeface="+mn-cs"/>
              </a:rPr>
              <a:t> The nature of the food operations being undertaken have changed</a:t>
            </a:r>
          </a:p>
          <a:p>
            <a:pPr lvl="1">
              <a:buFont typeface="Arial" pitchFamily="34" charset="0"/>
              <a:buChar char="•"/>
            </a:pPr>
            <a:r>
              <a:rPr lang="en-AU" sz="1200" kern="1200" dirty="0" smtClean="0">
                <a:solidFill>
                  <a:schemeClr val="tx1"/>
                </a:solidFill>
                <a:latin typeface="+mn-lt"/>
                <a:ea typeface="+mn-ea"/>
                <a:cs typeface="+mn-cs"/>
              </a:rPr>
              <a:t> The food equipment being used has altered</a:t>
            </a:r>
          </a:p>
          <a:p>
            <a:pPr lvl="1">
              <a:buFont typeface="Arial" pitchFamily="34" charset="0"/>
              <a:buChar char="•"/>
            </a:pPr>
            <a:r>
              <a:rPr lang="en-AU" sz="1200" kern="1200" dirty="0" smtClean="0">
                <a:solidFill>
                  <a:schemeClr val="tx1"/>
                </a:solidFill>
                <a:latin typeface="+mn-lt"/>
                <a:ea typeface="+mn-ea"/>
                <a:cs typeface="+mn-cs"/>
              </a:rPr>
              <a:t> The food items being processed have changed and there is no subsequent and appropriate alteration to the previously existing food handling protocols</a:t>
            </a:r>
          </a:p>
          <a:p>
            <a:pPr>
              <a:buFont typeface="Arial" pitchFamily="34" charset="0"/>
              <a:buChar char="•"/>
            </a:pPr>
            <a:r>
              <a:rPr lang="en-AU" sz="1200" kern="1200" dirty="0" smtClean="0">
                <a:solidFill>
                  <a:schemeClr val="tx1"/>
                </a:solidFill>
                <a:latin typeface="+mn-lt"/>
                <a:ea typeface="+mn-ea"/>
                <a:cs typeface="+mn-cs"/>
              </a:rPr>
              <a:t> Colleagues who require training – even where staff have undertaken an approved food safety course there is no guarantee they will apply, in the workplace, the lessons they have learned: where workers are using incorrect food service practices and/or failing to observe other safe food handling principles (especially in relation to personal hygiene, hand washing) there is a need for re-training</a:t>
            </a:r>
          </a:p>
          <a:p>
            <a:pPr>
              <a:buFont typeface="Arial" pitchFamily="34" charset="0"/>
              <a:buChar char="•"/>
            </a:pPr>
            <a:r>
              <a:rPr lang="en-AU" sz="1200" kern="1200" dirty="0" smtClean="0">
                <a:solidFill>
                  <a:schemeClr val="tx1"/>
                </a:solidFill>
                <a:latin typeface="+mn-lt"/>
                <a:ea typeface="+mn-ea"/>
                <a:cs typeface="+mn-cs"/>
              </a:rPr>
              <a:t> Equipment not operating as intended – this typically includes all food processing and holding equipment (especially refrigerators/cool rooms, freezers, food warmers and bain maries) as well as food thermometers.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22531178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appropriate action to take in response to situations will depend on the hazard identified and more detailed responses are provided on</a:t>
            </a:r>
            <a:r>
              <a:rPr lang="en-AU" sz="1200" kern="1200" baseline="0" dirty="0" smtClean="0">
                <a:solidFill>
                  <a:schemeClr val="tx1"/>
                </a:solidFill>
                <a:latin typeface="+mn-lt"/>
                <a:ea typeface="+mn-ea"/>
                <a:cs typeface="+mn-cs"/>
              </a:rPr>
              <a:t> later slides but at this stage it is important to realise </a:t>
            </a:r>
            <a:r>
              <a:rPr lang="en-AU" sz="1200" kern="1200" dirty="0" smtClean="0">
                <a:solidFill>
                  <a:schemeClr val="tx1"/>
                </a:solidFill>
                <a:latin typeface="+mn-lt"/>
                <a:ea typeface="+mn-ea"/>
                <a:cs typeface="+mn-cs"/>
              </a:rPr>
              <a:t>keys in responding to these threats are:</a:t>
            </a:r>
          </a:p>
          <a:p>
            <a:pPr>
              <a:buFont typeface="Arial" pitchFamily="34" charset="0"/>
              <a:buChar char="•"/>
            </a:pPr>
            <a:r>
              <a:rPr lang="en-AU" sz="1200" kern="1200" dirty="0" smtClean="0">
                <a:solidFill>
                  <a:schemeClr val="tx1"/>
                </a:solidFill>
                <a:latin typeface="+mn-lt"/>
                <a:ea typeface="+mn-ea"/>
                <a:cs typeface="+mn-cs"/>
              </a:rPr>
              <a:t> Awareness – of what causes problems and poses hazards and risk: which is why safe food handling training is important</a:t>
            </a:r>
          </a:p>
          <a:p>
            <a:pPr>
              <a:buFont typeface="Arial" pitchFamily="34" charset="0"/>
              <a:buChar char="•"/>
            </a:pPr>
            <a:r>
              <a:rPr lang="en-AU" sz="1200" kern="1200" dirty="0" smtClean="0">
                <a:solidFill>
                  <a:schemeClr val="tx1"/>
                </a:solidFill>
                <a:latin typeface="+mn-lt"/>
                <a:ea typeface="+mn-ea"/>
                <a:cs typeface="+mn-cs"/>
              </a:rPr>
              <a:t> Constant vigilance – of what is happening (or not happening) in the workplace</a:t>
            </a:r>
          </a:p>
          <a:p>
            <a:pPr>
              <a:buFont typeface="Arial" pitchFamily="34" charset="0"/>
              <a:buChar char="•"/>
            </a:pPr>
            <a:r>
              <a:rPr lang="en-AU" sz="1200" kern="1200" dirty="0" smtClean="0">
                <a:solidFill>
                  <a:schemeClr val="tx1"/>
                </a:solidFill>
                <a:latin typeface="+mn-lt"/>
                <a:ea typeface="+mn-ea"/>
                <a:cs typeface="+mn-cs"/>
              </a:rPr>
              <a:t> Quick and effective responses – where you are able to act effectively in accordance with the scope of authority for your job</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solidFill>
                  <a:schemeClr val="bg2">
                    <a:lumMod val="50000"/>
                  </a:schemeClr>
                </a:solidFill>
                <a:latin typeface="Helvetica" pitchFamily="34" charset="0"/>
              </a:rPr>
              <a:t>Record in log book</a:t>
            </a:r>
            <a:r>
              <a:rPr lang="en-US" sz="1200" baseline="0" dirty="0" smtClean="0">
                <a:solidFill>
                  <a:schemeClr val="bg2">
                    <a:lumMod val="50000"/>
                  </a:schemeClr>
                </a:solidFill>
                <a:latin typeface="Helvetica" pitchFamily="34" charset="0"/>
              </a:rPr>
              <a:t> – follow </a:t>
            </a:r>
            <a:r>
              <a:rPr lang="en-US" sz="1200" baseline="0" dirty="0" err="1" smtClean="0">
                <a:solidFill>
                  <a:schemeClr val="bg2">
                    <a:lumMod val="50000"/>
                  </a:schemeClr>
                </a:solidFill>
                <a:latin typeface="Helvetica" pitchFamily="34" charset="0"/>
              </a:rPr>
              <a:t>organisational</a:t>
            </a:r>
            <a:r>
              <a:rPr lang="en-US" sz="1200" baseline="0" dirty="0" smtClean="0">
                <a:solidFill>
                  <a:schemeClr val="bg2">
                    <a:lumMod val="50000"/>
                  </a:schemeClr>
                </a:solidFill>
                <a:latin typeface="Helvetica" pitchFamily="34" charset="0"/>
              </a:rPr>
              <a:t> procedures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Immediate reporting – to (for example) supervisor, chef, manager or owner where you identify non-compliance with safe food handling requirements and any out-of-control situations.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0700613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2207033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1503945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34849742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9235530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following enterprise food hygiene standards, procedures &amp; practices by asking questions such as:</a:t>
            </a:r>
          </a:p>
          <a:p>
            <a:pPr>
              <a:buFont typeface="Arial" pitchFamily="34" charset="0"/>
              <a:buChar char="•"/>
            </a:pPr>
            <a:r>
              <a:rPr lang="en-US" b="0" dirty="0" smtClean="0"/>
              <a:t> What do you might be workplace food safety standards, procedures and practices?</a:t>
            </a:r>
          </a:p>
          <a:p>
            <a:pPr>
              <a:buFont typeface="Arial" pitchFamily="34" charset="0"/>
              <a:buChar char="•"/>
            </a:pPr>
            <a:r>
              <a:rPr lang="en-US" b="0" dirty="0" smtClean="0"/>
              <a:t> Why have they been developed?</a:t>
            </a:r>
          </a:p>
          <a:p>
            <a:pPr>
              <a:buFont typeface="Arial" pitchFamily="34" charset="0"/>
              <a:buChar char="•"/>
            </a:pPr>
            <a:r>
              <a:rPr lang="en-US" b="0" dirty="0" smtClean="0"/>
              <a:t> What are examples of standard/required personal hygiene practices for food handlers?</a:t>
            </a:r>
          </a:p>
          <a:p>
            <a:pPr>
              <a:buFont typeface="Arial" pitchFamily="34" charset="0"/>
              <a:buChar char="•"/>
            </a:pPr>
            <a:r>
              <a:rPr lang="en-US" b="0" dirty="0" smtClean="0"/>
              <a:t> Why is it important to adhere to them?</a:t>
            </a:r>
          </a:p>
          <a:p>
            <a:pPr>
              <a:buFont typeface="Arial" pitchFamily="34" charset="0"/>
              <a:buChar char="•"/>
            </a:pPr>
            <a:r>
              <a:rPr lang="en-US" b="0" dirty="0" smtClean="0"/>
              <a:t> How do you learn what they are?</a:t>
            </a:r>
          </a:p>
          <a:p>
            <a:pPr>
              <a:buFont typeface="Arial" pitchFamily="34" charset="0"/>
              <a:buChar char="•"/>
            </a:pPr>
            <a:r>
              <a:rPr lang="en-US" b="0" dirty="0" smtClean="0"/>
              <a:t> What happens if you do not follow them?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9738525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and explains the importance of personal hygiene presenting </a:t>
            </a:r>
            <a:r>
              <a:rPr lang="en-AU" sz="1200" kern="1200" dirty="0" smtClean="0">
                <a:solidFill>
                  <a:schemeClr val="tx1"/>
                </a:solidFill>
                <a:latin typeface="+mn-lt"/>
                <a:ea typeface="+mn-ea"/>
                <a:cs typeface="+mn-cs"/>
              </a:rPr>
              <a:t>personal hygiene practices which minimise the possibility of food contamination:</a:t>
            </a:r>
          </a:p>
          <a:p>
            <a:pPr>
              <a:spcBef>
                <a:spcPts val="600"/>
              </a:spcBef>
              <a:spcAft>
                <a:spcPts val="1200"/>
              </a:spcAft>
              <a:buFont typeface="Arial" pitchFamily="34" charset="0"/>
              <a:buChar char="•"/>
            </a:pPr>
            <a:r>
              <a:rPr lang="en-AU" sz="1200" dirty="0" smtClean="0">
                <a:solidFill>
                  <a:schemeClr val="bg2">
                    <a:lumMod val="50000"/>
                  </a:schemeClr>
                </a:solidFill>
                <a:latin typeface="Helvetica" pitchFamily="34" charset="0"/>
              </a:rPr>
              <a:t>Have a shower before work</a:t>
            </a:r>
          </a:p>
          <a:p>
            <a:pPr>
              <a:spcBef>
                <a:spcPts val="600"/>
              </a:spcBef>
              <a:spcAft>
                <a:spcPts val="1200"/>
              </a:spcAft>
              <a:buFont typeface="Arial" pitchFamily="34" charset="0"/>
              <a:buChar char="•"/>
            </a:pPr>
            <a:r>
              <a:rPr lang="en-AU" sz="1200" dirty="0" smtClean="0">
                <a:solidFill>
                  <a:schemeClr val="bg2">
                    <a:lumMod val="50000"/>
                  </a:schemeClr>
                </a:solidFill>
                <a:latin typeface="Helvetica" pitchFamily="34" charset="0"/>
              </a:rPr>
              <a:t>Wash hands using the standard procedure</a:t>
            </a:r>
            <a:endParaRPr lang="en-US" sz="1200" dirty="0" smtClean="0">
              <a:solidFill>
                <a:schemeClr val="bg2">
                  <a:lumMod val="50000"/>
                </a:schemeClr>
              </a:solidFill>
              <a:latin typeface="Helvetica" pitchFamily="34" charset="0"/>
            </a:endParaRPr>
          </a:p>
          <a:p>
            <a:pPr>
              <a:buFont typeface="Arial" pitchFamily="34" charset="0"/>
              <a:buChar char="•"/>
            </a:pPr>
            <a:r>
              <a:rPr lang="en-AU" sz="1200" kern="1200" dirty="0" smtClean="0">
                <a:solidFill>
                  <a:schemeClr val="tx1"/>
                </a:solidFill>
                <a:latin typeface="+mn-lt"/>
                <a:ea typeface="+mn-ea"/>
                <a:cs typeface="+mn-cs"/>
              </a:rPr>
              <a:t> Avoid touching cooked and/or ready-to-eat food with the bare hands – use tongs, a spatula, fork, serving spoon or gloves</a:t>
            </a:r>
          </a:p>
          <a:p>
            <a:pPr>
              <a:buFont typeface="Arial" pitchFamily="34" charset="0"/>
              <a:buChar char="•"/>
            </a:pPr>
            <a:r>
              <a:rPr lang="en-AU" sz="1200" kern="1200" dirty="0" smtClean="0">
                <a:solidFill>
                  <a:schemeClr val="tx1"/>
                </a:solidFill>
                <a:latin typeface="+mn-lt"/>
                <a:ea typeface="+mn-ea"/>
                <a:cs typeface="+mn-cs"/>
              </a:rPr>
              <a:t> Avoid touching food </a:t>
            </a:r>
            <a:r>
              <a:rPr lang="en-AU" sz="1200" i="1" kern="1200" dirty="0" smtClean="0">
                <a:solidFill>
                  <a:schemeClr val="tx1"/>
                </a:solidFill>
                <a:latin typeface="+mn-lt"/>
                <a:ea typeface="+mn-ea"/>
                <a:cs typeface="+mn-cs"/>
              </a:rPr>
              <a:t>surfaces</a:t>
            </a:r>
            <a:r>
              <a:rPr lang="en-AU" sz="1200" kern="1200" dirty="0" smtClean="0">
                <a:solidFill>
                  <a:schemeClr val="tx1"/>
                </a:solidFill>
                <a:latin typeface="+mn-lt"/>
                <a:ea typeface="+mn-ea"/>
                <a:cs typeface="+mn-cs"/>
              </a:rPr>
              <a:t> with the bare hands – this means avoiding touching preparation benches, preparation equipment and the food contact surfaces of serving items (plates, cutlery, glasses, cups)</a:t>
            </a:r>
          </a:p>
          <a:p>
            <a:pPr>
              <a:buFont typeface="Arial" pitchFamily="34" charset="0"/>
              <a:buChar char="•"/>
            </a:pPr>
            <a:r>
              <a:rPr lang="en-AU" sz="1200" kern="1200" dirty="0" smtClean="0">
                <a:solidFill>
                  <a:schemeClr val="tx1"/>
                </a:solidFill>
                <a:latin typeface="+mn-lt"/>
                <a:ea typeface="+mn-ea"/>
                <a:cs typeface="+mn-cs"/>
              </a:rPr>
              <a:t> No jewellery to be worn on hands and wrists – food can lodge in the jewellery, deteriorate and then fall back into food. </a:t>
            </a:r>
          </a:p>
          <a:p>
            <a:pPr lvl="1">
              <a:buFont typeface="Arial" pitchFamily="34" charset="0"/>
              <a:buChar char="•"/>
            </a:pPr>
            <a:r>
              <a:rPr lang="en-AU" sz="1200" kern="1200" dirty="0" smtClean="0">
                <a:solidFill>
                  <a:schemeClr val="tx1"/>
                </a:solidFill>
                <a:latin typeface="+mn-lt"/>
                <a:ea typeface="+mn-ea"/>
                <a:cs typeface="+mn-cs"/>
              </a:rPr>
              <a:t> There is also a chance stones/gems may fall out into the food providing a physical food contaminant.  </a:t>
            </a:r>
          </a:p>
          <a:p>
            <a:pPr lvl="1">
              <a:buFont typeface="Arial" pitchFamily="34" charset="0"/>
              <a:buChar char="•"/>
            </a:pPr>
            <a:r>
              <a:rPr lang="en-AU" sz="1200" kern="1200" dirty="0" smtClean="0">
                <a:solidFill>
                  <a:schemeClr val="tx1"/>
                </a:solidFill>
                <a:latin typeface="+mn-lt"/>
                <a:ea typeface="+mn-ea"/>
                <a:cs typeface="+mn-cs"/>
              </a:rPr>
              <a:t> If you must wear a ring then cover it using a coloured band-aid and glove</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solidFill>
                  <a:schemeClr val="bg2">
                    <a:lumMod val="50000"/>
                  </a:schemeClr>
                </a:solidFill>
                <a:latin typeface="Helvetica" pitchFamily="34" charset="0"/>
              </a:rPr>
              <a:t>No wearing of wrist watch on duty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Facial hair must be kept neat and controlled – hair should either be covered or sprayed to keep it controlled in such a way that hairs do not fall into food. </a:t>
            </a:r>
          </a:p>
          <a:p>
            <a:pPr lvl="1">
              <a:buFont typeface="Arial" pitchFamily="34" charset="0"/>
              <a:buChar char="•"/>
            </a:pPr>
            <a:r>
              <a:rPr lang="en-AU" sz="1200" kern="1200" dirty="0" smtClean="0">
                <a:solidFill>
                  <a:schemeClr val="tx1"/>
                </a:solidFill>
                <a:latin typeface="+mn-lt"/>
                <a:ea typeface="+mn-ea"/>
                <a:cs typeface="+mn-cs"/>
              </a:rPr>
              <a:t> Long hair must be tied back (this is applicable to waiting staff as well as food preparation and food service staff), and beards should also be covered with a snood. In kitchens, hair nets or hats should be worn. </a:t>
            </a:r>
          </a:p>
          <a:p>
            <a:pPr>
              <a:buFont typeface="Arial" pitchFamily="34" charset="0"/>
              <a:buNone/>
            </a:pPr>
            <a:endParaRPr lang="en-AU" noProof="0" dirty="0" smtClean="0"/>
          </a:p>
          <a:p>
            <a:pPr>
              <a:buFont typeface="Arial" pitchFamily="34" charset="0"/>
              <a:buNone/>
            </a:pPr>
            <a:r>
              <a:rPr lang="en-AU" b="1" noProof="0" dirty="0" smtClean="0"/>
              <a:t>Class Activity – Presentation and Demonstration</a:t>
            </a:r>
          </a:p>
          <a:p>
            <a:pPr>
              <a:buFont typeface="Arial" pitchFamily="34" charset="0"/>
              <a:buNone/>
            </a:pPr>
            <a:r>
              <a:rPr lang="en-AU" b="0" noProof="0" dirty="0" smtClean="0"/>
              <a:t>Trainer shows students examples of:</a:t>
            </a:r>
          </a:p>
          <a:p>
            <a:pPr>
              <a:buFont typeface="Arial" pitchFamily="34" charset="0"/>
              <a:buChar char="•"/>
            </a:pPr>
            <a:r>
              <a:rPr lang="en-AU" b="0" noProof="0" dirty="0" smtClean="0"/>
              <a:t> Tongs</a:t>
            </a:r>
          </a:p>
          <a:p>
            <a:pPr>
              <a:buFont typeface="Arial" pitchFamily="34" charset="0"/>
              <a:buChar char="•"/>
            </a:pPr>
            <a:r>
              <a:rPr lang="en-AU" b="0" noProof="0" dirty="0" smtClean="0"/>
              <a:t> Spatula</a:t>
            </a:r>
          </a:p>
          <a:p>
            <a:pPr>
              <a:buFont typeface="Arial" pitchFamily="34" charset="0"/>
              <a:buChar char="•"/>
            </a:pPr>
            <a:r>
              <a:rPr lang="en-AU" b="0" noProof="0" dirty="0" smtClean="0"/>
              <a:t> Service fork</a:t>
            </a:r>
          </a:p>
          <a:p>
            <a:pPr>
              <a:buFont typeface="Arial" pitchFamily="34" charset="0"/>
              <a:buChar char="•"/>
            </a:pPr>
            <a:r>
              <a:rPr lang="en-AU" b="0" noProof="0" dirty="0" smtClean="0"/>
              <a:t> Serving spoon</a:t>
            </a:r>
          </a:p>
          <a:p>
            <a:pPr>
              <a:buFont typeface="Arial" pitchFamily="34" charset="0"/>
              <a:buChar char="•"/>
            </a:pPr>
            <a:r>
              <a:rPr lang="en-AU" b="0" noProof="0" dirty="0" smtClean="0"/>
              <a:t> Disposable gloves</a:t>
            </a:r>
          </a:p>
          <a:p>
            <a:pPr>
              <a:buFont typeface="Arial" pitchFamily="34" charset="0"/>
              <a:buChar char="•"/>
            </a:pPr>
            <a:r>
              <a:rPr lang="en-AU" b="0" noProof="0" dirty="0" smtClean="0"/>
              <a:t> Hair net/cap</a:t>
            </a:r>
          </a:p>
          <a:p>
            <a:pPr>
              <a:buFont typeface="Arial" pitchFamily="34" charset="0"/>
              <a:buChar char="•"/>
            </a:pPr>
            <a:r>
              <a:rPr lang="en-AU" b="0" noProof="0" dirty="0" smtClean="0"/>
              <a:t> Beard snood</a:t>
            </a:r>
          </a:p>
          <a:p>
            <a:pPr>
              <a:buFont typeface="Arial" pitchFamily="34" charset="0"/>
              <a:buNone/>
            </a:pPr>
            <a:r>
              <a:rPr lang="en-AU" b="0" noProof="0" dirty="0" smtClean="0"/>
              <a:t>Trainer demonstrates correct procedure for:</a:t>
            </a:r>
          </a:p>
          <a:p>
            <a:pPr>
              <a:buFont typeface="Arial" pitchFamily="34" charset="0"/>
              <a:buChar char="•"/>
            </a:pPr>
            <a:r>
              <a:rPr lang="en-AU" b="0" noProof="0" dirty="0" smtClean="0"/>
              <a:t> Controlling hair</a:t>
            </a:r>
          </a:p>
          <a:p>
            <a:pPr>
              <a:buFont typeface="Arial" pitchFamily="34" charset="0"/>
              <a:buChar char="•"/>
            </a:pPr>
            <a:r>
              <a:rPr lang="en-AU" b="0" noProof="0" dirty="0" smtClean="0"/>
              <a:t> Wearing hair net/cap and beard snood.</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5750452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personal hygiene requirements for food handlers:</a:t>
            </a:r>
          </a:p>
          <a:p>
            <a:pPr>
              <a:buFont typeface="Arial" pitchFamily="34" charset="0"/>
              <a:buChar char="•"/>
            </a:pPr>
            <a:r>
              <a:rPr lang="en-AU" sz="1200" kern="1200" dirty="0" smtClean="0">
                <a:solidFill>
                  <a:schemeClr val="tx1"/>
                </a:solidFill>
                <a:latin typeface="+mn-lt"/>
                <a:ea typeface="+mn-ea"/>
                <a:cs typeface="+mn-cs"/>
              </a:rPr>
              <a:t> Fingernails must be short, clean and free of polish (including clear nail polish) – cracked fingernails and chipped nail polish can harbour bacteria and may also flake off into food. </a:t>
            </a:r>
          </a:p>
          <a:p>
            <a:pPr lvl="1">
              <a:buFont typeface="Arial" pitchFamily="34" charset="0"/>
              <a:buChar char="•"/>
            </a:pPr>
            <a:r>
              <a:rPr lang="en-AU" sz="1200" kern="1200" dirty="0" smtClean="0">
                <a:solidFill>
                  <a:schemeClr val="tx1"/>
                </a:solidFill>
                <a:latin typeface="+mn-lt"/>
                <a:ea typeface="+mn-ea"/>
                <a:cs typeface="+mn-cs"/>
              </a:rPr>
              <a:t> Fingernail decorations and artificial nails are also prohibited</a:t>
            </a:r>
          </a:p>
          <a:p>
            <a:pPr>
              <a:buFont typeface="Arial" pitchFamily="34" charset="0"/>
              <a:buChar char="•"/>
            </a:pPr>
            <a:r>
              <a:rPr lang="en-AU" sz="1200" kern="1200" dirty="0" smtClean="0">
                <a:solidFill>
                  <a:schemeClr val="tx1"/>
                </a:solidFill>
                <a:latin typeface="+mn-lt"/>
                <a:ea typeface="+mn-ea"/>
                <a:cs typeface="+mn-cs"/>
              </a:rPr>
              <a:t> Clothing must be clean – a minimum requirement is for clean clothes for each shift with further changes as spillages and 'working dirt' dictate. </a:t>
            </a:r>
          </a:p>
          <a:p>
            <a:pPr lvl="1">
              <a:buFont typeface="Arial" pitchFamily="34" charset="0"/>
              <a:buChar char="•"/>
            </a:pPr>
            <a:r>
              <a:rPr lang="en-AU" sz="1200" kern="1200" dirty="0" smtClean="0">
                <a:solidFill>
                  <a:schemeClr val="tx1"/>
                </a:solidFill>
                <a:latin typeface="+mn-lt"/>
                <a:ea typeface="+mn-ea"/>
                <a:cs typeface="+mn-cs"/>
              </a:rPr>
              <a:t> It is not permitted to wear ‘food handling’ clothes to and from work.</a:t>
            </a:r>
          </a:p>
          <a:p>
            <a:pPr>
              <a:buFont typeface="Arial" pitchFamily="34" charset="0"/>
              <a:buChar char="•"/>
            </a:pPr>
            <a:r>
              <a:rPr lang="en-AU" sz="1200" kern="1200" dirty="0" smtClean="0">
                <a:solidFill>
                  <a:schemeClr val="tx1"/>
                </a:solidFill>
                <a:latin typeface="+mn-lt"/>
                <a:ea typeface="+mn-ea"/>
                <a:cs typeface="+mn-cs"/>
              </a:rPr>
              <a:t> Refraining from smoking or chewing tobacco or betel in any food area – it is also a good idea to put up ‘No Smoking’ posters and to remove ash trays from these areas</a:t>
            </a:r>
          </a:p>
          <a:p>
            <a:pPr>
              <a:buFont typeface="Arial" pitchFamily="34" charset="0"/>
              <a:buChar char="•"/>
            </a:pPr>
            <a:r>
              <a:rPr lang="en-AU" sz="1200" kern="1200" dirty="0" smtClean="0">
                <a:solidFill>
                  <a:schemeClr val="tx1"/>
                </a:solidFill>
                <a:latin typeface="+mn-lt"/>
                <a:ea typeface="+mn-ea"/>
                <a:cs typeface="+mn-cs"/>
              </a:rPr>
              <a:t> Staying away from work when suffering cold or flu symptoms – and obtaining a doctor’s certificate stating that as a food handler it is safe to return to work.</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1558936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personal hygiene requirements for food handlers:</a:t>
            </a:r>
          </a:p>
          <a:p>
            <a:pPr>
              <a:buFont typeface="Arial" pitchFamily="34" charset="0"/>
              <a:buChar char="•"/>
            </a:pPr>
            <a:r>
              <a:rPr lang="en-AU" sz="1200" kern="1200" dirty="0" smtClean="0">
                <a:solidFill>
                  <a:schemeClr val="tx1"/>
                </a:solidFill>
                <a:latin typeface="+mn-lt"/>
                <a:ea typeface="+mn-ea"/>
                <a:cs typeface="+mn-cs"/>
              </a:rPr>
              <a:t> Food handlers with any communicable disease must not deal with food until they receive a certificate from a doctor stating as a food handler they are cleared to work with food</a:t>
            </a:r>
          </a:p>
          <a:p>
            <a:pPr>
              <a:buFont typeface="Arial" pitchFamily="34" charset="0"/>
              <a:buChar char="•"/>
            </a:pPr>
            <a:r>
              <a:rPr lang="en-AU" sz="1200" kern="1200" dirty="0" smtClean="0">
                <a:solidFill>
                  <a:schemeClr val="tx1"/>
                </a:solidFill>
                <a:latin typeface="+mn-lt"/>
                <a:ea typeface="+mn-ea"/>
                <a:cs typeface="+mn-cs"/>
              </a:rPr>
              <a:t> Refraining from spitting in any food area</a:t>
            </a:r>
          </a:p>
          <a:p>
            <a:pPr>
              <a:buFont typeface="Arial" pitchFamily="34" charset="0"/>
              <a:buChar char="•"/>
            </a:pPr>
            <a:r>
              <a:rPr lang="en-AU" sz="1200" kern="1200" dirty="0" smtClean="0">
                <a:solidFill>
                  <a:schemeClr val="tx1"/>
                </a:solidFill>
                <a:latin typeface="+mn-lt"/>
                <a:ea typeface="+mn-ea"/>
                <a:cs typeface="+mn-cs"/>
              </a:rPr>
              <a:t> Avoiding tasting of food with a spoon and then returning the utensil to the food</a:t>
            </a:r>
          </a:p>
          <a:p>
            <a:pPr>
              <a:buFont typeface="Arial" pitchFamily="34" charset="0"/>
              <a:buChar char="•"/>
            </a:pPr>
            <a:r>
              <a:rPr lang="en-AU" sz="1200" kern="1200" dirty="0" smtClean="0">
                <a:solidFill>
                  <a:schemeClr val="tx1"/>
                </a:solidFill>
                <a:latin typeface="+mn-lt"/>
                <a:ea typeface="+mn-ea"/>
                <a:cs typeface="+mn-cs"/>
              </a:rPr>
              <a:t> Wearing a sweat band – or mopping areas that sweat and then thoroughly washing hands (to prevent sweat falling into food).</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4677123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personal hygiene requirements for food handlers:</a:t>
            </a:r>
          </a:p>
          <a:p>
            <a:pPr>
              <a:buFont typeface="Arial" pitchFamily="34" charset="0"/>
              <a:buChar char="•"/>
            </a:pPr>
            <a:r>
              <a:rPr lang="en-AU" sz="1200" kern="1200" dirty="0" smtClean="0">
                <a:solidFill>
                  <a:schemeClr val="tx1"/>
                </a:solidFill>
                <a:latin typeface="+mn-lt"/>
                <a:ea typeface="+mn-ea"/>
                <a:cs typeface="+mn-cs"/>
              </a:rPr>
              <a:t> Covering all cuts and sores on hands and fingers with approved (coloured) waterproof dressings and bandages – and adding a finger stall and/or disposable glove, as appropriate</a:t>
            </a:r>
          </a:p>
          <a:p>
            <a:pPr>
              <a:buFont typeface="Arial" pitchFamily="34" charset="0"/>
              <a:buChar char="•"/>
            </a:pPr>
            <a:r>
              <a:rPr lang="en-AU" sz="1200" kern="1200" dirty="0" smtClean="0">
                <a:solidFill>
                  <a:schemeClr val="tx1"/>
                </a:solidFill>
                <a:latin typeface="+mn-lt"/>
                <a:ea typeface="+mn-ea"/>
                <a:cs typeface="+mn-cs"/>
              </a:rPr>
              <a:t> Not blowing with the breath into a bag to be used to wrap food </a:t>
            </a:r>
          </a:p>
          <a:p>
            <a:pPr>
              <a:buFont typeface="Arial" pitchFamily="34" charset="0"/>
              <a:buChar char="•"/>
            </a:pPr>
            <a:r>
              <a:rPr lang="en-AU" sz="1200" kern="1200" dirty="0" smtClean="0">
                <a:solidFill>
                  <a:schemeClr val="tx1"/>
                </a:solidFill>
                <a:latin typeface="+mn-lt"/>
                <a:ea typeface="+mn-ea"/>
                <a:cs typeface="+mn-cs"/>
              </a:rPr>
              <a:t> Not wetting fingers to assist with separating sheets of wrapping paper when packaging take away foods</a:t>
            </a:r>
          </a:p>
          <a:p>
            <a:pPr>
              <a:buFont typeface="Arial" pitchFamily="34" charset="0"/>
              <a:buChar char="•"/>
            </a:pPr>
            <a:r>
              <a:rPr lang="en-AU" sz="1200" kern="1200" dirty="0" smtClean="0">
                <a:solidFill>
                  <a:schemeClr val="tx1"/>
                </a:solidFill>
                <a:latin typeface="+mn-lt"/>
                <a:ea typeface="+mn-ea"/>
                <a:cs typeface="+mn-cs"/>
              </a:rPr>
              <a:t> Not touching any body opening – such as ears, eyes, nose: thorough hand washing must occur if this happens</a:t>
            </a:r>
          </a:p>
          <a:p>
            <a:pPr>
              <a:buFont typeface="Arial" pitchFamily="34" charset="0"/>
              <a:buChar char="•"/>
            </a:pPr>
            <a:r>
              <a:rPr lang="en-AU" sz="1200" kern="1200" dirty="0" smtClean="0">
                <a:solidFill>
                  <a:schemeClr val="tx1"/>
                </a:solidFill>
                <a:latin typeface="+mn-lt"/>
                <a:ea typeface="+mn-ea"/>
                <a:cs typeface="+mn-cs"/>
              </a:rPr>
              <a:t> Hands must be washed properly – and washed when required (more</a:t>
            </a:r>
            <a:r>
              <a:rPr lang="en-AU" sz="1200" kern="1200" baseline="0" dirty="0" smtClean="0">
                <a:solidFill>
                  <a:schemeClr val="tx1"/>
                </a:solidFill>
                <a:latin typeface="+mn-lt"/>
                <a:ea typeface="+mn-ea"/>
                <a:cs typeface="+mn-cs"/>
              </a:rPr>
              <a:t> information and demonstration on later slides)</a:t>
            </a:r>
            <a:r>
              <a:rPr lang="en-AU" sz="1200" kern="1200" dirty="0" smtClean="0">
                <a:solidFill>
                  <a:schemeClr val="tx1"/>
                </a:solidFill>
                <a:latin typeface="+mn-lt"/>
                <a:ea typeface="+mn-ea"/>
                <a:cs typeface="+mn-cs"/>
              </a:rPr>
              <a:t>.</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9380529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talks about food handlers eating food in food preparation areas stating </a:t>
            </a:r>
            <a:r>
              <a:rPr lang="en-AU" sz="1200" kern="1200" dirty="0" smtClean="0">
                <a:solidFill>
                  <a:schemeClr val="tx1"/>
                </a:solidFill>
                <a:latin typeface="+mn-lt"/>
                <a:ea typeface="+mn-ea"/>
                <a:cs typeface="+mn-cs"/>
              </a:rPr>
              <a:t>there is no law forbidding staff from eating in food areas but they must:</a:t>
            </a:r>
          </a:p>
          <a:p>
            <a:pPr>
              <a:buFont typeface="Arial" pitchFamily="34" charset="0"/>
              <a:buChar char="•"/>
            </a:pPr>
            <a:r>
              <a:rPr lang="en-AU" sz="1200" kern="1200" dirty="0" smtClean="0">
                <a:solidFill>
                  <a:schemeClr val="tx1"/>
                </a:solidFill>
                <a:latin typeface="+mn-lt"/>
                <a:ea typeface="+mn-ea"/>
                <a:cs typeface="+mn-cs"/>
              </a:rPr>
              <a:t> Not eat any food over an unprotected food surface – such as food preparation equipment, preparation benches, serving equipment or crockery, cutlery or glassware</a:t>
            </a:r>
          </a:p>
          <a:p>
            <a:pPr>
              <a:buFont typeface="Arial" pitchFamily="34" charset="0"/>
              <a:buChar char="•"/>
            </a:pPr>
            <a:r>
              <a:rPr lang="en-AU" sz="1200" kern="1200" dirty="0" smtClean="0">
                <a:solidFill>
                  <a:schemeClr val="tx1"/>
                </a:solidFill>
                <a:latin typeface="+mn-lt"/>
                <a:ea typeface="+mn-ea"/>
                <a:cs typeface="+mn-cs"/>
              </a:rPr>
              <a:t> Not eat any food over any unprotected food – this applies to raw food, ready-to-eat food or any food that is not covered, wrapped or packaged so that it cannot become contaminated through food falling onto it </a:t>
            </a:r>
          </a:p>
          <a:p>
            <a:pPr>
              <a:buFont typeface="Arial" pitchFamily="34" charset="0"/>
              <a:buChar char="•"/>
            </a:pPr>
            <a:r>
              <a:rPr lang="en-AU" sz="1200" kern="1200" dirty="0" smtClean="0">
                <a:solidFill>
                  <a:schemeClr val="tx1"/>
                </a:solidFill>
                <a:latin typeface="+mn-lt"/>
                <a:ea typeface="+mn-ea"/>
                <a:cs typeface="+mn-cs"/>
              </a:rPr>
              <a:t> Note individual premises may have house policies forbidding the consumption of food while working.</a:t>
            </a:r>
          </a:p>
          <a:p>
            <a:pPr>
              <a:buFont typeface="Arial" pitchFamily="34" charset="0"/>
              <a:buChar char="•"/>
            </a:pPr>
            <a:r>
              <a:rPr lang="en-AU" sz="1200" kern="1200" dirty="0" smtClean="0">
                <a:solidFill>
                  <a:schemeClr val="tx1"/>
                </a:solidFill>
                <a:latin typeface="+mn-lt"/>
                <a:ea typeface="+mn-ea"/>
                <a:cs typeface="+mn-cs"/>
              </a:rPr>
              <a:t> Note also the above requirements in relation to eating over unprotected food and unprotected food surfaces applies to anyone on the premises – including members of the public, customers and visitors.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41279124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action to take such as:</a:t>
            </a:r>
          </a:p>
          <a:p>
            <a:pPr>
              <a:buFont typeface="Arial" pitchFamily="34" charset="0"/>
              <a:buChar char="•"/>
            </a:pPr>
            <a:r>
              <a:rPr lang="en-AU" sz="1200" kern="1200" dirty="0" smtClean="0">
                <a:solidFill>
                  <a:schemeClr val="tx1"/>
                </a:solidFill>
                <a:latin typeface="+mn-lt"/>
                <a:ea typeface="+mn-ea"/>
                <a:cs typeface="+mn-cs"/>
              </a:rPr>
              <a:t> Where it is </a:t>
            </a:r>
            <a:r>
              <a:rPr lang="en-AU" sz="1200" i="1" kern="1200" dirty="0" smtClean="0">
                <a:solidFill>
                  <a:schemeClr val="tx1"/>
                </a:solidFill>
                <a:latin typeface="+mn-lt"/>
                <a:ea typeface="+mn-ea"/>
                <a:cs typeface="+mn-cs"/>
              </a:rPr>
              <a:t>known or suspected</a:t>
            </a:r>
            <a:r>
              <a:rPr lang="en-AU" sz="1200" kern="1200" dirty="0" smtClean="0">
                <a:solidFill>
                  <a:schemeClr val="tx1"/>
                </a:solidFill>
                <a:latin typeface="+mn-lt"/>
                <a:ea typeface="+mn-ea"/>
                <a:cs typeface="+mn-cs"/>
              </a:rPr>
              <a:t> a food surface has been contaminated by coughing, sneezing or any other unsafe practice (such as anything giving rise to cross contamination) the surface must be cleaned and sanitized before being used/re-used.</a:t>
            </a:r>
          </a:p>
          <a:p>
            <a:pPr>
              <a:buFont typeface="Arial" pitchFamily="34" charset="0"/>
              <a:buChar char="•"/>
            </a:pPr>
            <a:r>
              <a:rPr lang="en-AU" sz="1200" kern="1200" dirty="0" smtClean="0">
                <a:solidFill>
                  <a:schemeClr val="tx1"/>
                </a:solidFill>
                <a:latin typeface="+mn-lt"/>
                <a:ea typeface="+mn-ea"/>
                <a:cs typeface="+mn-cs"/>
              </a:rPr>
              <a:t> Where it is </a:t>
            </a:r>
            <a:r>
              <a:rPr lang="en-AU" sz="1200" i="1" kern="1200" dirty="0" smtClean="0">
                <a:solidFill>
                  <a:schemeClr val="tx1"/>
                </a:solidFill>
                <a:latin typeface="+mn-lt"/>
                <a:ea typeface="+mn-ea"/>
                <a:cs typeface="+mn-cs"/>
              </a:rPr>
              <a:t>known or suspected</a:t>
            </a:r>
            <a:r>
              <a:rPr lang="en-AU" sz="1200" kern="1200" dirty="0" smtClean="0">
                <a:solidFill>
                  <a:schemeClr val="tx1"/>
                </a:solidFill>
                <a:latin typeface="+mn-lt"/>
                <a:ea typeface="+mn-ea"/>
                <a:cs typeface="+mn-cs"/>
              </a:rPr>
              <a:t> unprotected food has been contaminated by coughing, sneezing or any other unsafe practice (such as anything giving rise to cross contamination) it must be discarded.</a:t>
            </a:r>
          </a:p>
          <a:p>
            <a:pPr>
              <a:buFont typeface="Arial" pitchFamily="34" charset="0"/>
              <a:buChar char="•"/>
            </a:pPr>
            <a:r>
              <a:rPr lang="en-AU" sz="1200" kern="1200" dirty="0" smtClean="0">
                <a:solidFill>
                  <a:schemeClr val="tx1"/>
                </a:solidFill>
                <a:latin typeface="+mn-lt"/>
                <a:ea typeface="+mn-ea"/>
                <a:cs typeface="+mn-cs"/>
              </a:rPr>
              <a:t> Any food that is known to be contaminated, or suspected of being contaminated, must be disposed of as garbage – it must not be given away to customers, staff or any organization.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34177916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highlights the importance of food handlers washing their hands properly stating they must wash their hands:</a:t>
            </a:r>
          </a:p>
          <a:p>
            <a:pPr>
              <a:buFont typeface="Arial" pitchFamily="34" charset="0"/>
              <a:buChar char="•"/>
            </a:pPr>
            <a:r>
              <a:rPr lang="en-AU" sz="1200" kern="1200" dirty="0" smtClean="0">
                <a:solidFill>
                  <a:schemeClr val="tx1"/>
                </a:solidFill>
                <a:latin typeface="+mn-lt"/>
                <a:ea typeface="+mn-ea"/>
                <a:cs typeface="+mn-cs"/>
              </a:rPr>
              <a:t> Any time the hands are likely to be a source of contamination – this can cover a wide range of possible circumstances and it is impossible to identify them all but the following is a representative list:</a:t>
            </a:r>
          </a:p>
          <a:p>
            <a:pPr lvl="1">
              <a:buFont typeface="Arial" pitchFamily="34" charset="0"/>
              <a:buChar char="•"/>
            </a:pPr>
            <a:r>
              <a:rPr lang="en-AU" sz="1200" kern="1200" dirty="0" smtClean="0">
                <a:solidFill>
                  <a:schemeClr val="tx1"/>
                </a:solidFill>
                <a:latin typeface="+mn-lt"/>
                <a:ea typeface="+mn-ea"/>
                <a:cs typeface="+mn-cs"/>
              </a:rPr>
              <a:t> After handling rubbish/garbage and before handling food or food contact surfaces</a:t>
            </a:r>
          </a:p>
          <a:p>
            <a:pPr lvl="1">
              <a:buFont typeface="Arial" pitchFamily="34" charset="0"/>
              <a:buChar char="•"/>
            </a:pPr>
            <a:r>
              <a:rPr lang="en-AU" sz="1200" kern="1200" dirty="0" smtClean="0">
                <a:solidFill>
                  <a:schemeClr val="tx1"/>
                </a:solidFill>
                <a:latin typeface="+mn-lt"/>
                <a:ea typeface="+mn-ea"/>
                <a:cs typeface="+mn-cs"/>
              </a:rPr>
              <a:t> After undertaking cleaning duties and before handling food or food contact surfaces</a:t>
            </a:r>
          </a:p>
          <a:p>
            <a:pPr lvl="1">
              <a:buFont typeface="Arial" pitchFamily="34" charset="0"/>
              <a:buChar char="•"/>
            </a:pPr>
            <a:r>
              <a:rPr lang="en-AU" sz="1200" kern="1200" dirty="0" smtClean="0">
                <a:solidFill>
                  <a:schemeClr val="tx1"/>
                </a:solidFill>
                <a:latin typeface="+mn-lt"/>
                <a:ea typeface="+mn-ea"/>
                <a:cs typeface="+mn-cs"/>
              </a:rPr>
              <a:t> After handling animals and before handling food or food contact surfaces</a:t>
            </a:r>
          </a:p>
          <a:p>
            <a:pPr lvl="1">
              <a:buFont typeface="Arial" pitchFamily="34" charset="0"/>
              <a:buChar char="•"/>
            </a:pPr>
            <a:r>
              <a:rPr lang="en-AU" sz="1200" kern="1200" dirty="0" smtClean="0">
                <a:solidFill>
                  <a:schemeClr val="tx1"/>
                </a:solidFill>
                <a:latin typeface="+mn-lt"/>
                <a:ea typeface="+mn-ea"/>
                <a:cs typeface="+mn-cs"/>
              </a:rPr>
              <a:t> After changing a baby’s nappy and before handling food or food contact surfaces</a:t>
            </a:r>
          </a:p>
          <a:p>
            <a:pPr lvl="1">
              <a:buFont typeface="Arial" pitchFamily="34" charset="0"/>
              <a:buChar char="•"/>
            </a:pPr>
            <a:r>
              <a:rPr lang="en-AU" sz="1200" kern="1200" dirty="0" smtClean="0">
                <a:solidFill>
                  <a:schemeClr val="tx1"/>
                </a:solidFill>
                <a:latin typeface="+mn-lt"/>
                <a:ea typeface="+mn-ea"/>
                <a:cs typeface="+mn-cs"/>
              </a:rPr>
              <a:t> After accepting a delivery of food into the premises and before handling food or food contact surfaces</a:t>
            </a:r>
          </a:p>
          <a:p>
            <a:pPr lvl="1">
              <a:buFont typeface="Arial" pitchFamily="34" charset="0"/>
              <a:buChar char="•"/>
            </a:pPr>
            <a:r>
              <a:rPr lang="en-AU" sz="1200" kern="1200" dirty="0" smtClean="0">
                <a:solidFill>
                  <a:schemeClr val="tx1"/>
                </a:solidFill>
                <a:latin typeface="+mn-lt"/>
                <a:ea typeface="+mn-ea"/>
                <a:cs typeface="+mn-cs"/>
              </a:rPr>
              <a:t> After handling money and before handling food or food contact surfaces</a:t>
            </a:r>
          </a:p>
          <a:p>
            <a:pPr lvl="1">
              <a:buFont typeface="Arial" pitchFamily="34" charset="0"/>
              <a:buChar char="•"/>
            </a:pPr>
            <a:r>
              <a:rPr lang="en-AU" sz="1200" kern="1200" dirty="0" smtClean="0">
                <a:solidFill>
                  <a:schemeClr val="tx1"/>
                </a:solidFill>
                <a:latin typeface="+mn-lt"/>
                <a:ea typeface="+mn-ea"/>
                <a:cs typeface="+mn-cs"/>
              </a:rPr>
              <a:t> In between handling raw high risk food (meat, fish or chicken) and handling other foods such as cooked and/or ready-to-eat food.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7685028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when food handlers need to wash their hands:</a:t>
            </a:r>
          </a:p>
          <a:p>
            <a:pPr>
              <a:buFont typeface="Arial" pitchFamily="34" charset="0"/>
              <a:buChar char="•"/>
            </a:pPr>
            <a:r>
              <a:rPr lang="en-AU" sz="1200" kern="1200" dirty="0" smtClean="0">
                <a:solidFill>
                  <a:schemeClr val="tx1"/>
                </a:solidFill>
                <a:latin typeface="+mn-lt"/>
                <a:ea typeface="+mn-ea"/>
                <a:cs typeface="+mn-cs"/>
              </a:rPr>
              <a:t> Before they start their food handling duties – this means food handling staff must wash their hands when they arrive at work even though they may have showered, bathed or washed their hands at home before coming to work</a:t>
            </a:r>
          </a:p>
          <a:p>
            <a:pPr>
              <a:buFont typeface="Arial" pitchFamily="34" charset="0"/>
              <a:buChar char="•"/>
            </a:pPr>
            <a:r>
              <a:rPr lang="en-AU" sz="1200" kern="1200" dirty="0" smtClean="0">
                <a:solidFill>
                  <a:schemeClr val="tx1"/>
                </a:solidFill>
                <a:latin typeface="+mn-lt"/>
                <a:ea typeface="+mn-ea"/>
                <a:cs typeface="+mn-cs"/>
              </a:rPr>
              <a:t> Immediately after engaging in nominated activities which have proved to be associated with bacterial transfer/cross contamination. The nominated activities include:</a:t>
            </a:r>
          </a:p>
          <a:p>
            <a:pPr lvl="1">
              <a:buFont typeface="Arial" pitchFamily="34" charset="0"/>
              <a:buChar char="•"/>
            </a:pPr>
            <a:r>
              <a:rPr lang="en-AU" sz="1200" kern="1200" dirty="0" smtClean="0">
                <a:solidFill>
                  <a:schemeClr val="tx1"/>
                </a:solidFill>
                <a:latin typeface="+mn-lt"/>
                <a:ea typeface="+mn-ea"/>
                <a:cs typeface="+mn-cs"/>
              </a:rPr>
              <a:t> Smoking – including using tobacco products</a:t>
            </a:r>
          </a:p>
          <a:p>
            <a:pPr lvl="1">
              <a:buFont typeface="Arial" pitchFamily="34" charset="0"/>
              <a:buChar char="•"/>
            </a:pPr>
            <a:r>
              <a:rPr lang="en-AU" sz="1200" kern="1200" dirty="0" smtClean="0">
                <a:solidFill>
                  <a:schemeClr val="tx1"/>
                </a:solidFill>
                <a:latin typeface="+mn-lt"/>
                <a:ea typeface="+mn-ea"/>
                <a:cs typeface="+mn-cs"/>
              </a:rPr>
              <a:t> Coughing or sneezing</a:t>
            </a:r>
          </a:p>
          <a:p>
            <a:pPr lvl="1">
              <a:buFont typeface="Arial" pitchFamily="34" charset="0"/>
              <a:buChar char="•"/>
            </a:pPr>
            <a:r>
              <a:rPr lang="en-AU" sz="1200" kern="1200" dirty="0" smtClean="0">
                <a:solidFill>
                  <a:schemeClr val="tx1"/>
                </a:solidFill>
                <a:latin typeface="+mn-lt"/>
                <a:ea typeface="+mn-ea"/>
                <a:cs typeface="+mn-cs"/>
              </a:rPr>
              <a:t> Using a handkerchief or nasal tissue – which includes blowing the nose</a:t>
            </a:r>
          </a:p>
          <a:p>
            <a:pPr lvl="1">
              <a:buFont typeface="Arial" pitchFamily="34" charset="0"/>
              <a:buChar char="•"/>
            </a:pPr>
            <a:r>
              <a:rPr lang="en-AU" sz="1200" kern="1200" dirty="0" smtClean="0">
                <a:solidFill>
                  <a:schemeClr val="tx1"/>
                </a:solidFill>
                <a:latin typeface="+mn-lt"/>
                <a:ea typeface="+mn-ea"/>
                <a:cs typeface="+mn-cs"/>
              </a:rPr>
              <a:t> Eating or drinking</a:t>
            </a:r>
          </a:p>
          <a:p>
            <a:pPr lvl="1">
              <a:buFont typeface="Arial" pitchFamily="34" charset="0"/>
              <a:buChar char="•"/>
            </a:pPr>
            <a:r>
              <a:rPr lang="en-AU" sz="1200" kern="1200" dirty="0" smtClean="0">
                <a:solidFill>
                  <a:schemeClr val="tx1"/>
                </a:solidFill>
                <a:latin typeface="+mn-lt"/>
                <a:ea typeface="+mn-ea"/>
                <a:cs typeface="+mn-cs"/>
              </a:rPr>
              <a:t> Touching hair, scalp, mouth, nose, ears, any body opening or any wound.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0003042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when food handlers need to wash their hands:</a:t>
            </a:r>
          </a:p>
          <a:p>
            <a:pPr>
              <a:buFont typeface="Arial" pitchFamily="34" charset="0"/>
              <a:buChar char="•"/>
            </a:pPr>
            <a:r>
              <a:rPr lang="en-AU" sz="1200" kern="1200" dirty="0" smtClean="0">
                <a:solidFill>
                  <a:schemeClr val="tx1"/>
                </a:solidFill>
                <a:latin typeface="+mn-lt"/>
                <a:ea typeface="+mn-ea"/>
                <a:cs typeface="+mn-cs"/>
              </a:rPr>
              <a:t> After any absence from the work station – this means every time a food handler leaves the kitchen (or other place where they are handling food) they must wash their hands on their return to work and before they handle food. These absences from the work station may involve or be caused by:</a:t>
            </a:r>
          </a:p>
          <a:p>
            <a:pPr lvl="1">
              <a:buFont typeface="Arial" pitchFamily="34" charset="0"/>
              <a:buChar char="•"/>
            </a:pPr>
            <a:r>
              <a:rPr lang="en-AU" sz="1200" kern="1200" dirty="0" smtClean="0">
                <a:solidFill>
                  <a:schemeClr val="tx1"/>
                </a:solidFill>
                <a:latin typeface="+mn-lt"/>
                <a:ea typeface="+mn-ea"/>
                <a:cs typeface="+mn-cs"/>
              </a:rPr>
              <a:t> Leaving the kitchen to accept a delivery of food</a:t>
            </a:r>
          </a:p>
          <a:p>
            <a:pPr lvl="1">
              <a:buFont typeface="Arial" pitchFamily="34" charset="0"/>
              <a:buChar char="•"/>
            </a:pPr>
            <a:r>
              <a:rPr lang="en-AU" sz="1200" kern="1200" dirty="0" smtClean="0">
                <a:solidFill>
                  <a:schemeClr val="tx1"/>
                </a:solidFill>
                <a:latin typeface="+mn-lt"/>
                <a:ea typeface="+mn-ea"/>
                <a:cs typeface="+mn-cs"/>
              </a:rPr>
              <a:t> Taking a phone call</a:t>
            </a:r>
          </a:p>
          <a:p>
            <a:pPr lvl="1">
              <a:buFont typeface="Arial" pitchFamily="34" charset="0"/>
              <a:buChar char="•"/>
            </a:pPr>
            <a:r>
              <a:rPr lang="en-AU" sz="1200" kern="1200" dirty="0" smtClean="0">
                <a:solidFill>
                  <a:schemeClr val="tx1"/>
                </a:solidFill>
                <a:latin typeface="+mn-lt"/>
                <a:ea typeface="+mn-ea"/>
                <a:cs typeface="+mn-cs"/>
              </a:rPr>
              <a:t> Undertaking any work which is not related to food handling</a:t>
            </a:r>
          </a:p>
          <a:p>
            <a:pPr>
              <a:buFont typeface="Arial" pitchFamily="34" charset="0"/>
              <a:buChar char="•"/>
            </a:pPr>
            <a:r>
              <a:rPr lang="en-AU" sz="1200" kern="1200" dirty="0" smtClean="0">
                <a:solidFill>
                  <a:schemeClr val="tx1"/>
                </a:solidFill>
                <a:latin typeface="+mn-lt"/>
                <a:ea typeface="+mn-ea"/>
                <a:cs typeface="+mn-cs"/>
              </a:rPr>
              <a:t> Immediately after using the toilet and before handling food or food contact surfaces – this applies to all instances where the toilet was used and includes a requirement to wash hands after urination as well as after defecation.</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17944669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requirements regarding provision of hand washing facilities:</a:t>
            </a:r>
          </a:p>
          <a:p>
            <a:pPr lvl="0">
              <a:buFont typeface="Arial" pitchFamily="34" charset="0"/>
              <a:buChar char="•"/>
            </a:pPr>
            <a:r>
              <a:rPr lang="en-AU" sz="1200" kern="1200" dirty="0" smtClean="0">
                <a:solidFill>
                  <a:schemeClr val="tx1"/>
                </a:solidFill>
                <a:latin typeface="+mn-lt"/>
                <a:ea typeface="+mn-ea"/>
                <a:cs typeface="+mn-cs"/>
              </a:rPr>
              <a:t> Be supplied with a continuous supply of warm running, potable water – the accepted temperature of this water is 40ºC</a:t>
            </a:r>
          </a:p>
          <a:p>
            <a:pPr lvl="0">
              <a:buFont typeface="Arial" pitchFamily="34" charset="0"/>
              <a:buChar char="•"/>
            </a:pPr>
            <a:r>
              <a:rPr lang="en-AU" sz="1200" kern="1200" dirty="0" smtClean="0">
                <a:solidFill>
                  <a:schemeClr val="tx1"/>
                </a:solidFill>
                <a:latin typeface="+mn-lt"/>
                <a:ea typeface="+mn-ea"/>
                <a:cs typeface="+mn-cs"/>
              </a:rPr>
              <a:t> Be supplied with soap – most premises use bulk soap dispensers dispensing liquid anti-bacterial soap. </a:t>
            </a:r>
          </a:p>
          <a:p>
            <a:pPr lvl="1">
              <a:buFont typeface="Arial" pitchFamily="34" charset="0"/>
              <a:buChar char="•"/>
            </a:pPr>
            <a:r>
              <a:rPr lang="en-AU" sz="1200" kern="1200" dirty="0" smtClean="0">
                <a:solidFill>
                  <a:schemeClr val="tx1"/>
                </a:solidFill>
                <a:latin typeface="+mn-lt"/>
                <a:ea typeface="+mn-ea"/>
                <a:cs typeface="+mn-cs"/>
              </a:rPr>
              <a:t> The use of bars of soap is to be avoided as the soap can transfer bacteria</a:t>
            </a:r>
          </a:p>
          <a:p>
            <a:pPr lvl="0">
              <a:buFont typeface="Arial" pitchFamily="34" charset="0"/>
              <a:buChar char="•"/>
            </a:pPr>
            <a:r>
              <a:rPr lang="en-AU" sz="1200" kern="1200" dirty="0" smtClean="0">
                <a:solidFill>
                  <a:schemeClr val="tx1"/>
                </a:solidFill>
                <a:latin typeface="+mn-lt"/>
                <a:ea typeface="+mn-ea"/>
                <a:cs typeface="+mn-cs"/>
              </a:rPr>
              <a:t> Only be used for washing hands, arms and face – the wash hand basins must not be used for other purposes such as food preparation or as a ‘slop’ sink. </a:t>
            </a:r>
          </a:p>
          <a:p>
            <a:pPr lvl="0">
              <a:buFont typeface="Arial" pitchFamily="34" charset="0"/>
              <a:buChar char="•"/>
            </a:pPr>
            <a:r>
              <a:rPr lang="en-AU" sz="1200" kern="1200" dirty="0" smtClean="0">
                <a:solidFill>
                  <a:schemeClr val="tx1"/>
                </a:solidFill>
                <a:latin typeface="+mn-lt"/>
                <a:ea typeface="+mn-ea"/>
                <a:cs typeface="+mn-cs"/>
              </a:rPr>
              <a:t> Signage must indicate these wash hand basins are for the sole purpose of hand washing.</a:t>
            </a:r>
          </a:p>
          <a:p>
            <a:pPr lvl="0">
              <a:buFont typeface="Arial" pitchFamily="34" charset="0"/>
              <a:buChar char="•"/>
            </a:pPr>
            <a:r>
              <a:rPr lang="en-AU" sz="1200" kern="1200" dirty="0" smtClean="0">
                <a:solidFill>
                  <a:schemeClr val="tx1"/>
                </a:solidFill>
                <a:latin typeface="+mn-lt"/>
                <a:ea typeface="+mn-ea"/>
                <a:cs typeface="+mn-cs"/>
              </a:rPr>
              <a:t> Sinks in the kitchen/food preparation area used for other purposes (washing food; cleaning pots and pans) must not be used for hand washing.</a:t>
            </a:r>
          </a:p>
          <a:p>
            <a:pPr lvl="0">
              <a:buFont typeface="Arial" pitchFamily="34" charset="0"/>
              <a:buChar char="•"/>
            </a:pPr>
            <a:r>
              <a:rPr lang="en-AU" sz="1200" kern="1200" dirty="0" smtClean="0">
                <a:solidFill>
                  <a:schemeClr val="tx1"/>
                </a:solidFill>
                <a:latin typeface="+mn-lt"/>
                <a:ea typeface="+mn-ea"/>
                <a:cs typeface="+mn-cs"/>
              </a:rPr>
              <a:t> Be of an appropriate size to enable the effective washing of hands</a:t>
            </a:r>
          </a:p>
          <a:p>
            <a:pPr lvl="0">
              <a:buFont typeface="Arial" pitchFamily="34" charset="0"/>
              <a:buChar char="•"/>
            </a:pPr>
            <a:r>
              <a:rPr lang="en-AU" sz="1200" kern="1200" dirty="0" smtClean="0">
                <a:solidFill>
                  <a:schemeClr val="tx1"/>
                </a:solidFill>
                <a:latin typeface="+mn-lt"/>
                <a:ea typeface="+mn-ea"/>
                <a:cs typeface="+mn-cs"/>
              </a:rPr>
              <a:t> Be supplied with appropriate means of drying the hands – this can be single use (paper) towels and hot air dryers </a:t>
            </a:r>
          </a:p>
          <a:p>
            <a:pPr lvl="1">
              <a:buFont typeface="Arial" pitchFamily="34" charset="0"/>
              <a:buChar char="•"/>
            </a:pPr>
            <a:r>
              <a:rPr lang="en-AU" sz="1200" kern="1200" dirty="0" smtClean="0">
                <a:solidFill>
                  <a:schemeClr val="tx1"/>
                </a:solidFill>
                <a:latin typeface="+mn-lt"/>
                <a:ea typeface="+mn-ea"/>
                <a:cs typeface="+mn-cs"/>
              </a:rPr>
              <a:t> It is not acceptable for a business to provide only a hot air dryer. </a:t>
            </a:r>
          </a:p>
          <a:p>
            <a:pPr lvl="1">
              <a:buFont typeface="Arial" pitchFamily="34" charset="0"/>
              <a:buChar char="•"/>
            </a:pPr>
            <a:r>
              <a:rPr lang="en-AU" sz="1200" kern="1200" dirty="0" smtClean="0">
                <a:solidFill>
                  <a:schemeClr val="tx1"/>
                </a:solidFill>
                <a:latin typeface="+mn-lt"/>
                <a:ea typeface="+mn-ea"/>
                <a:cs typeface="+mn-cs"/>
              </a:rPr>
              <a:t> Re-usable towels can be used provided they are washed and dried after every use – this is extremely unlikely to happen in most businesses so the preferred option is to use paper/disposable towel.</a:t>
            </a:r>
          </a:p>
          <a:p>
            <a:pPr lvl="0">
              <a:buFont typeface="Arial" pitchFamily="34" charset="0"/>
              <a:buChar char="•"/>
            </a:pPr>
            <a:r>
              <a:rPr lang="en-AU" sz="1200" kern="1200" dirty="0" smtClean="0">
                <a:solidFill>
                  <a:schemeClr val="tx1"/>
                </a:solidFill>
                <a:latin typeface="+mn-lt"/>
                <a:ea typeface="+mn-ea"/>
                <a:cs typeface="+mn-cs"/>
              </a:rPr>
              <a:t> Be supplied with a bin – for disposing of used disposable towels.</a:t>
            </a:r>
          </a:p>
          <a:p>
            <a:pPr lvl="0">
              <a:buFont typeface="Arial" pitchFamily="34" charset="0"/>
              <a:buChar char="•"/>
            </a:pPr>
            <a:r>
              <a:rPr lang="en-AU" sz="1200" kern="1200" dirty="0" smtClean="0">
                <a:solidFill>
                  <a:schemeClr val="tx1"/>
                </a:solidFill>
                <a:latin typeface="+mn-lt"/>
                <a:ea typeface="+mn-ea"/>
                <a:cs typeface="+mn-cs"/>
              </a:rPr>
              <a:t> A nail brush should also be supplied so cleaning under the fingernails can occur.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13998055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hand washing requirements are food handlers ‘thoroughly clean’ their hands, meaning they must:</a:t>
            </a:r>
          </a:p>
          <a:p>
            <a:pPr>
              <a:buFont typeface="Arial" pitchFamily="34" charset="0"/>
              <a:buChar char="•"/>
            </a:pPr>
            <a:r>
              <a:rPr lang="en-AU" sz="1200" kern="1200" dirty="0" smtClean="0">
                <a:solidFill>
                  <a:schemeClr val="tx1"/>
                </a:solidFill>
                <a:latin typeface="+mn-lt"/>
                <a:ea typeface="+mn-ea"/>
                <a:cs typeface="+mn-cs"/>
              </a:rPr>
              <a:t> Rinse off visible and easy to remove dirt</a:t>
            </a:r>
          </a:p>
          <a:p>
            <a:pPr>
              <a:buFont typeface="Arial" pitchFamily="34" charset="0"/>
              <a:buChar char="•"/>
            </a:pPr>
            <a:r>
              <a:rPr lang="en-AU" sz="1200" kern="1200" dirty="0" smtClean="0">
                <a:solidFill>
                  <a:schemeClr val="tx1"/>
                </a:solidFill>
                <a:latin typeface="+mn-lt"/>
                <a:ea typeface="+mn-ea"/>
                <a:cs typeface="+mn-cs"/>
              </a:rPr>
              <a:t> Apply soap/detergent</a:t>
            </a:r>
          </a:p>
          <a:p>
            <a:pPr>
              <a:buFont typeface="Arial" pitchFamily="34" charset="0"/>
              <a:buChar char="•"/>
            </a:pPr>
            <a:r>
              <a:rPr lang="en-AU" sz="1200" kern="1200" dirty="0" smtClean="0">
                <a:solidFill>
                  <a:schemeClr val="tx1"/>
                </a:solidFill>
                <a:latin typeface="+mn-lt"/>
                <a:ea typeface="+mn-ea"/>
                <a:cs typeface="+mn-cs"/>
              </a:rPr>
              <a:t> Wash hands for at least 20 seconds:</a:t>
            </a:r>
          </a:p>
          <a:p>
            <a:pPr lvl="1">
              <a:buFont typeface="Arial" pitchFamily="34" charset="0"/>
              <a:buChar char="•"/>
            </a:pPr>
            <a:r>
              <a:rPr lang="en-AU" sz="1200" kern="1200" dirty="0" smtClean="0">
                <a:solidFill>
                  <a:schemeClr val="tx1"/>
                </a:solidFill>
                <a:latin typeface="+mn-lt"/>
                <a:ea typeface="+mn-ea"/>
                <a:cs typeface="+mn-cs"/>
              </a:rPr>
              <a:t> Thoroughly and vigorously massage the soap into the folds and creases of the hands and wrists</a:t>
            </a:r>
          </a:p>
          <a:p>
            <a:pPr lvl="1">
              <a:buFont typeface="Arial" pitchFamily="34" charset="0"/>
              <a:buChar char="•"/>
            </a:pPr>
            <a:r>
              <a:rPr lang="en-AU" sz="1200" kern="1200" dirty="0" smtClean="0">
                <a:solidFill>
                  <a:schemeClr val="tx1"/>
                </a:solidFill>
                <a:latin typeface="+mn-lt"/>
                <a:ea typeface="+mn-ea"/>
                <a:cs typeface="+mn-cs"/>
              </a:rPr>
              <a:t> Clean under the fingernails</a:t>
            </a:r>
          </a:p>
          <a:p>
            <a:pPr>
              <a:buFont typeface="Arial" pitchFamily="34" charset="0"/>
              <a:buChar char="•"/>
            </a:pPr>
            <a:r>
              <a:rPr lang="en-AU" sz="1200" kern="1200" dirty="0" smtClean="0">
                <a:solidFill>
                  <a:schemeClr val="tx1"/>
                </a:solidFill>
                <a:latin typeface="+mn-lt"/>
                <a:ea typeface="+mn-ea"/>
                <a:cs typeface="+mn-cs"/>
              </a:rPr>
              <a:t> Rinse soap from hands</a:t>
            </a:r>
          </a:p>
          <a:p>
            <a:pPr>
              <a:buFont typeface="Arial" pitchFamily="34" charset="0"/>
              <a:buChar char="•"/>
            </a:pPr>
            <a:r>
              <a:rPr lang="en-AU" sz="1200" kern="1200" dirty="0" smtClean="0">
                <a:solidFill>
                  <a:schemeClr val="tx1"/>
                </a:solidFill>
                <a:latin typeface="+mn-lt"/>
                <a:ea typeface="+mn-ea"/>
                <a:cs typeface="+mn-cs"/>
              </a:rPr>
              <a:t> Thoroughly dry hands – the preferred method of drying hands is to:</a:t>
            </a:r>
          </a:p>
          <a:p>
            <a:pPr lvl="1">
              <a:buFont typeface="Arial" pitchFamily="34" charset="0"/>
              <a:buChar char="•"/>
            </a:pPr>
            <a:r>
              <a:rPr lang="en-AU" sz="1200" kern="1200" dirty="0" smtClean="0">
                <a:solidFill>
                  <a:schemeClr val="tx1"/>
                </a:solidFill>
                <a:latin typeface="+mn-lt"/>
                <a:ea typeface="+mn-ea"/>
                <a:cs typeface="+mn-cs"/>
              </a:rPr>
              <a:t> Shake off excess water</a:t>
            </a:r>
          </a:p>
          <a:p>
            <a:pPr lvl="1">
              <a:buFont typeface="Arial" pitchFamily="34" charset="0"/>
              <a:buChar char="•"/>
            </a:pPr>
            <a:r>
              <a:rPr lang="en-AU" sz="1200" kern="1200" dirty="0" smtClean="0">
                <a:solidFill>
                  <a:schemeClr val="tx1"/>
                </a:solidFill>
                <a:latin typeface="+mn-lt"/>
                <a:ea typeface="+mn-ea"/>
                <a:cs typeface="+mn-cs"/>
              </a:rPr>
              <a:t> Dry with paper towel</a:t>
            </a:r>
          </a:p>
          <a:p>
            <a:pPr lvl="1">
              <a:buFont typeface="Arial" pitchFamily="34" charset="0"/>
              <a:buChar char="•"/>
            </a:pPr>
            <a:r>
              <a:rPr lang="en-AU" sz="1200" kern="1200" dirty="0" smtClean="0">
                <a:solidFill>
                  <a:schemeClr val="tx1"/>
                </a:solidFill>
                <a:latin typeface="+mn-lt"/>
                <a:ea typeface="+mn-ea"/>
                <a:cs typeface="+mn-cs"/>
              </a:rPr>
              <a:t> Finish with hot air dryer.</a:t>
            </a:r>
          </a:p>
          <a:p>
            <a:pPr>
              <a:buFont typeface="Arial" pitchFamily="34" charset="0"/>
              <a:buNone/>
            </a:pPr>
            <a:endParaRPr lang="en-AU" noProof="0" dirty="0" smtClean="0"/>
          </a:p>
          <a:p>
            <a:pPr>
              <a:buFont typeface="Arial" pitchFamily="34" charset="0"/>
              <a:buNone/>
            </a:pPr>
            <a:r>
              <a:rPr lang="en-AU" b="1" noProof="0" dirty="0" smtClean="0"/>
              <a:t>Class Activity 1 – Demonstration and Practical</a:t>
            </a:r>
          </a:p>
          <a:p>
            <a:pPr>
              <a:buFont typeface="Arial" pitchFamily="34" charset="0"/>
              <a:buNone/>
            </a:pPr>
            <a:r>
              <a:rPr lang="en-AU" b="0" noProof="0" dirty="0" smtClean="0"/>
              <a:t>Trainer demonstrates correct procedure for food handlers to wash and dry their hands and provides opportunity for students to practice same.</a:t>
            </a:r>
          </a:p>
          <a:p>
            <a:pPr>
              <a:buFont typeface="Arial" pitchFamily="34" charset="0"/>
              <a:buNone/>
            </a:pPr>
            <a:endParaRPr lang="en-AU" b="0" noProof="0" dirty="0" smtClean="0"/>
          </a:p>
          <a:p>
            <a:pPr>
              <a:buFont typeface="Arial" pitchFamily="34" charset="0"/>
              <a:buNone/>
            </a:pPr>
            <a:r>
              <a:rPr lang="en-AU" b="1" noProof="0" dirty="0" smtClean="0"/>
              <a:t>Class Activity 2 – Use of UV light kit (demonstration)</a:t>
            </a:r>
          </a:p>
          <a:p>
            <a:pPr>
              <a:buFont typeface="Arial" pitchFamily="34" charset="0"/>
              <a:buNone/>
            </a:pPr>
            <a:r>
              <a:rPr lang="en-AU" b="0" noProof="0" dirty="0" smtClean="0"/>
              <a:t>Trainer uses UV light kit to demonstrate the need for proper hand washing (following instructions provided in the kit.</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26840617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food establishments may require staff to wear a nominated uniform or other personal protective equipment or clothing highlighting the following requirements apply:</a:t>
            </a:r>
          </a:p>
          <a:p>
            <a:pPr>
              <a:buFont typeface="Arial" pitchFamily="34" charset="0"/>
              <a:buChar char="•"/>
            </a:pPr>
            <a:r>
              <a:rPr lang="en-AU" sz="1200" kern="1200" dirty="0" smtClean="0">
                <a:solidFill>
                  <a:schemeClr val="tx1"/>
                </a:solidFill>
                <a:latin typeface="+mn-lt"/>
                <a:ea typeface="+mn-ea"/>
                <a:cs typeface="+mn-cs"/>
              </a:rPr>
              <a:t> Uniform and protective clothing and equipment worn/used by food handlers must be clean – dirty clothing may directly or indirectly contaminate food and/or food preparation equipment or surfaces</a:t>
            </a:r>
          </a:p>
          <a:p>
            <a:pPr>
              <a:buFont typeface="Arial" pitchFamily="34" charset="0"/>
              <a:buChar char="•"/>
            </a:pPr>
            <a:r>
              <a:rPr lang="en-AU" sz="1200" kern="1200" dirty="0" smtClean="0">
                <a:solidFill>
                  <a:schemeClr val="tx1"/>
                </a:solidFill>
                <a:latin typeface="+mn-lt"/>
                <a:ea typeface="+mn-ea"/>
                <a:cs typeface="+mn-cs"/>
              </a:rPr>
              <a:t> Food handlers are legally obliged to ensure their clothing does not contaminate food or food-related equipment, utensils or surfaces </a:t>
            </a:r>
          </a:p>
          <a:p>
            <a:pPr>
              <a:buFont typeface="Arial" pitchFamily="34" charset="0"/>
              <a:buChar char="•"/>
            </a:pPr>
            <a:r>
              <a:rPr lang="en-AU" sz="1200" kern="1200" dirty="0" smtClean="0">
                <a:solidFill>
                  <a:schemeClr val="tx1"/>
                </a:solidFill>
                <a:latin typeface="+mn-lt"/>
                <a:ea typeface="+mn-ea"/>
                <a:cs typeface="+mn-cs"/>
              </a:rPr>
              <a:t> Clothing that becomes dirty and a risk to food must be changed – you should take into account the nature of the work being performed when making a judgement about the state of your clothes. </a:t>
            </a:r>
          </a:p>
          <a:p>
            <a:pPr lvl="1">
              <a:buFont typeface="Arial" pitchFamily="34" charset="0"/>
              <a:buChar char="•"/>
            </a:pPr>
            <a:r>
              <a:rPr lang="en-AU" sz="1200" kern="1200" dirty="0" smtClean="0">
                <a:solidFill>
                  <a:schemeClr val="tx1"/>
                </a:solidFill>
                <a:latin typeface="+mn-lt"/>
                <a:ea typeface="+mn-ea"/>
                <a:cs typeface="+mn-cs"/>
              </a:rPr>
              <a:t> For example, a cook dealing with raw meat and blood can be expected to have dirtier clothes than a counter-hand making sandwiches or serving prepared food</a:t>
            </a:r>
          </a:p>
          <a:p>
            <a:pPr>
              <a:buFont typeface="Arial" pitchFamily="34" charset="0"/>
              <a:buChar char="•"/>
            </a:pPr>
            <a:r>
              <a:rPr lang="en-AU" sz="1200" kern="1200" dirty="0" smtClean="0">
                <a:solidFill>
                  <a:schemeClr val="tx1"/>
                </a:solidFill>
                <a:latin typeface="+mn-lt"/>
                <a:ea typeface="+mn-ea"/>
                <a:cs typeface="+mn-cs"/>
              </a:rPr>
              <a:t> Outer clothing needs to be changed when it has become soiled as a result of handling exposed (that is, not packaged) high risk raw food and there is then a need to handle exposed ready-to-eat food</a:t>
            </a:r>
          </a:p>
          <a:p>
            <a:pPr>
              <a:buFont typeface="Arial" pitchFamily="34" charset="0"/>
              <a:buChar char="•"/>
            </a:pPr>
            <a:r>
              <a:rPr lang="en-AU" sz="1200" kern="1200" dirty="0" smtClean="0">
                <a:solidFill>
                  <a:schemeClr val="tx1"/>
                </a:solidFill>
                <a:latin typeface="+mn-lt"/>
                <a:ea typeface="+mn-ea"/>
                <a:cs typeface="+mn-cs"/>
              </a:rPr>
              <a:t> Protective clothing such as aprons, overalls, hats, gloves and other outer protective clothing/equipment should be removed before visiting the toilet.</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2274093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requirements for food handler clothing:</a:t>
            </a:r>
          </a:p>
          <a:p>
            <a:pPr>
              <a:buFont typeface="Arial" pitchFamily="34" charset="0"/>
              <a:buChar char="•"/>
            </a:pPr>
            <a:r>
              <a:rPr lang="en-AU" sz="1200" kern="1200" dirty="0" smtClean="0">
                <a:solidFill>
                  <a:schemeClr val="tx1"/>
                </a:solidFill>
                <a:latin typeface="+mn-lt"/>
                <a:ea typeface="+mn-ea"/>
                <a:cs typeface="+mn-cs"/>
              </a:rPr>
              <a:t> Avoid loose-fitting clothes – they increase chance of clothing dragging into food and posing a contamination threat</a:t>
            </a:r>
          </a:p>
          <a:p>
            <a:pPr>
              <a:buFont typeface="Arial" pitchFamily="34" charset="0"/>
              <a:buChar char="•"/>
            </a:pPr>
            <a:r>
              <a:rPr lang="en-AU" sz="1200" kern="1200" dirty="0" smtClean="0">
                <a:solidFill>
                  <a:schemeClr val="tx1"/>
                </a:solidFill>
                <a:latin typeface="+mn-lt"/>
                <a:ea typeface="+mn-ea"/>
                <a:cs typeface="+mn-cs"/>
              </a:rPr>
              <a:t> Wear clean clothes to work daily</a:t>
            </a:r>
          </a:p>
          <a:p>
            <a:pPr>
              <a:buFont typeface="Arial" pitchFamily="34" charset="0"/>
              <a:buChar char="•"/>
            </a:pPr>
            <a:r>
              <a:rPr lang="en-AU" sz="1200" kern="1200" dirty="0" smtClean="0">
                <a:solidFill>
                  <a:schemeClr val="tx1"/>
                </a:solidFill>
                <a:latin typeface="+mn-lt"/>
                <a:ea typeface="+mn-ea"/>
                <a:cs typeface="+mn-cs"/>
              </a:rPr>
              <a:t> Have a change of clothes available at work</a:t>
            </a:r>
          </a:p>
          <a:p>
            <a:pPr>
              <a:buFont typeface="Arial" pitchFamily="34" charset="0"/>
              <a:buChar char="•"/>
            </a:pPr>
            <a:r>
              <a:rPr lang="en-AU" sz="1200" kern="1200" dirty="0" smtClean="0">
                <a:solidFill>
                  <a:schemeClr val="tx1"/>
                </a:solidFill>
                <a:latin typeface="+mn-lt"/>
                <a:ea typeface="+mn-ea"/>
                <a:cs typeface="+mn-cs"/>
              </a:rPr>
              <a:t> Do not wear food handling clothes to and from work.</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42589378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requirements for food handler clothing:</a:t>
            </a:r>
          </a:p>
          <a:p>
            <a:pPr>
              <a:buFont typeface="Arial" pitchFamily="34" charset="0"/>
              <a:buChar char="•"/>
            </a:pPr>
            <a:r>
              <a:rPr lang="en-AU" sz="1200" kern="1200" dirty="0" smtClean="0">
                <a:solidFill>
                  <a:schemeClr val="tx1"/>
                </a:solidFill>
                <a:latin typeface="+mn-lt"/>
                <a:ea typeface="+mn-ea"/>
                <a:cs typeface="+mn-cs"/>
              </a:rPr>
              <a:t> Wear protective clothing such as aprons.</a:t>
            </a:r>
          </a:p>
          <a:p>
            <a:pPr>
              <a:buFont typeface="Arial" pitchFamily="34" charset="0"/>
              <a:buChar char="•"/>
            </a:pPr>
            <a:r>
              <a:rPr lang="en-AU" sz="1200" kern="1200" dirty="0" smtClean="0">
                <a:solidFill>
                  <a:schemeClr val="tx1"/>
                </a:solidFill>
                <a:latin typeface="+mn-lt"/>
                <a:ea typeface="+mn-ea"/>
                <a:cs typeface="+mn-cs"/>
              </a:rPr>
              <a:t> Ensure buttons on food handling clothes are not loose – or they may fall off and drop into food presenting a physical hazard</a:t>
            </a:r>
          </a:p>
          <a:p>
            <a:pPr>
              <a:buFont typeface="Arial" pitchFamily="34" charset="0"/>
              <a:buChar char="•"/>
            </a:pPr>
            <a:r>
              <a:rPr lang="en-AU" sz="1200" kern="1200" dirty="0" smtClean="0">
                <a:solidFill>
                  <a:schemeClr val="tx1"/>
                </a:solidFill>
                <a:latin typeface="+mn-lt"/>
                <a:ea typeface="+mn-ea"/>
                <a:cs typeface="+mn-cs"/>
              </a:rPr>
              <a:t> Avoid adding brooches, name tags, clips, pins to clothes – unless they are securely fastened and unable to fall off</a:t>
            </a:r>
          </a:p>
          <a:p>
            <a:pPr>
              <a:buFont typeface="Arial" pitchFamily="34" charset="0"/>
              <a:buChar char="•"/>
            </a:pPr>
            <a:r>
              <a:rPr lang="en-AU" sz="1200" kern="1200" dirty="0" smtClean="0">
                <a:solidFill>
                  <a:schemeClr val="tx1"/>
                </a:solidFill>
                <a:latin typeface="+mn-lt"/>
                <a:ea typeface="+mn-ea"/>
                <a:cs typeface="+mn-cs"/>
              </a:rPr>
              <a:t> Avoid rings and watches on hands and wrists.</a:t>
            </a:r>
          </a:p>
          <a:p>
            <a:pPr lvl="1">
              <a:buFont typeface="Arial" pitchFamily="34" charset="0"/>
              <a:buChar char="•"/>
            </a:pPr>
            <a:r>
              <a:rPr lang="en-AU" sz="1200" kern="1200" dirty="0" smtClean="0">
                <a:solidFill>
                  <a:schemeClr val="tx1"/>
                </a:solidFill>
                <a:latin typeface="+mn-lt"/>
                <a:ea typeface="+mn-ea"/>
                <a:cs typeface="+mn-cs"/>
              </a:rPr>
              <a:t> Even plain, banded rings can cause a potential food poisoning source and gloves should be when handling food if these are worn.</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4193411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requirements for food handler clothing:</a:t>
            </a:r>
          </a:p>
          <a:p>
            <a:pPr>
              <a:buFont typeface="Arial" pitchFamily="34" charset="0"/>
              <a:buChar char="•"/>
            </a:pPr>
            <a:r>
              <a:rPr lang="en-AU" sz="1200" kern="1200" dirty="0" smtClean="0">
                <a:solidFill>
                  <a:schemeClr val="tx1"/>
                </a:solidFill>
                <a:latin typeface="+mn-lt"/>
                <a:ea typeface="+mn-ea"/>
                <a:cs typeface="+mn-cs"/>
              </a:rPr>
              <a:t> Do not wear ear-rings – ear-rings that dangle are the worst but not wearing them at all is preferable.</a:t>
            </a:r>
          </a:p>
          <a:p>
            <a:pPr lvl="1">
              <a:buFont typeface="Arial" pitchFamily="34" charset="0"/>
              <a:buChar char="•"/>
            </a:pPr>
            <a:r>
              <a:rPr lang="en-AU" sz="1200" kern="1200" dirty="0" smtClean="0">
                <a:solidFill>
                  <a:schemeClr val="tx1"/>
                </a:solidFill>
                <a:latin typeface="+mn-lt"/>
                <a:ea typeface="+mn-ea"/>
                <a:cs typeface="+mn-cs"/>
              </a:rPr>
              <a:t> Sleepers may be acceptable in some venues but check house rules first</a:t>
            </a:r>
          </a:p>
          <a:p>
            <a:pPr>
              <a:buFont typeface="Arial" pitchFamily="34" charset="0"/>
              <a:buChar char="•"/>
            </a:pPr>
            <a:r>
              <a:rPr lang="en-AU" sz="1200" kern="1200" dirty="0" smtClean="0">
                <a:solidFill>
                  <a:schemeClr val="tx1"/>
                </a:solidFill>
                <a:latin typeface="+mn-lt"/>
                <a:ea typeface="+mn-ea"/>
                <a:cs typeface="+mn-cs"/>
              </a:rPr>
              <a:t> Avoid fiddling/playing with jewellery – especially ear-rings in pierced ears</a:t>
            </a:r>
          </a:p>
          <a:p>
            <a:pPr>
              <a:buFont typeface="Arial" pitchFamily="34" charset="0"/>
              <a:buChar char="•"/>
            </a:pPr>
            <a:r>
              <a:rPr lang="en-AU" sz="1200" kern="1200" dirty="0" smtClean="0">
                <a:solidFill>
                  <a:schemeClr val="tx1"/>
                </a:solidFill>
                <a:latin typeface="+mn-lt"/>
                <a:ea typeface="+mn-ea"/>
                <a:cs typeface="+mn-cs"/>
              </a:rPr>
              <a:t> Avoiding wearing hair clips</a:t>
            </a:r>
          </a:p>
          <a:p>
            <a:pPr>
              <a:buFont typeface="Arial" pitchFamily="34" charset="0"/>
              <a:buChar char="•"/>
            </a:pPr>
            <a:r>
              <a:rPr lang="en-AU" sz="1200" kern="1200" dirty="0" smtClean="0">
                <a:solidFill>
                  <a:schemeClr val="tx1"/>
                </a:solidFill>
                <a:latin typeface="+mn-lt"/>
                <a:ea typeface="+mn-ea"/>
                <a:cs typeface="+mn-cs"/>
              </a:rPr>
              <a:t> Avoiding using hair pins</a:t>
            </a:r>
          </a:p>
          <a:p>
            <a:pPr lvl="1">
              <a:buFont typeface="Arial" pitchFamily="34" charset="0"/>
              <a:buChar char="•"/>
            </a:pPr>
            <a:r>
              <a:rPr lang="en-AU" sz="1200" kern="1200" dirty="0" smtClean="0">
                <a:solidFill>
                  <a:schemeClr val="tx1"/>
                </a:solidFill>
                <a:latin typeface="+mn-lt"/>
                <a:ea typeface="+mn-ea"/>
                <a:cs typeface="+mn-cs"/>
              </a:rPr>
              <a:t> Ensuring anything worn in the hair is securely fastened in place</a:t>
            </a:r>
          </a:p>
          <a:p>
            <a:pPr>
              <a:buFont typeface="Arial" pitchFamily="34" charset="0"/>
              <a:buChar char="•"/>
            </a:pPr>
            <a:r>
              <a:rPr lang="en-AU" sz="1200" kern="1200" dirty="0" smtClean="0">
                <a:solidFill>
                  <a:schemeClr val="tx1"/>
                </a:solidFill>
                <a:latin typeface="+mn-lt"/>
                <a:ea typeface="+mn-ea"/>
                <a:cs typeface="+mn-cs"/>
              </a:rPr>
              <a:t> Wearing a hair net or hat to guard against items falling out of the hair and into food or into food preparation equipment or onto food preparation surfaces.</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9310390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introduces concept of cross contamination.</a:t>
            </a:r>
          </a:p>
          <a:p>
            <a:pPr>
              <a:buFont typeface="Arial" pitchFamily="34" charset="0"/>
              <a:buChar char="•"/>
            </a:pPr>
            <a:r>
              <a:rPr lang="en-AU" sz="1200" kern="1200" dirty="0" smtClean="0">
                <a:solidFill>
                  <a:schemeClr val="tx1"/>
                </a:solidFill>
                <a:latin typeface="+mn-lt"/>
                <a:ea typeface="+mn-ea"/>
                <a:cs typeface="+mn-cs"/>
              </a:rPr>
              <a:t> All food handlers must be aware of the concept of cross contamination.</a:t>
            </a:r>
          </a:p>
          <a:p>
            <a:pPr>
              <a:buFont typeface="Arial" pitchFamily="34" charset="0"/>
              <a:buChar char="•"/>
            </a:pPr>
            <a:r>
              <a:rPr lang="en-AU" sz="1200" kern="1200" dirty="0" smtClean="0">
                <a:solidFill>
                  <a:schemeClr val="tx1"/>
                </a:solidFill>
                <a:latin typeface="+mn-lt"/>
                <a:ea typeface="+mn-ea"/>
                <a:cs typeface="+mn-cs"/>
              </a:rPr>
              <a:t> Cross contamination is the contamination of food (or food preparation surfaces, equipment etc) with bacteria, chemicals or allergens as a result of contact with a contaminated source.</a:t>
            </a:r>
          </a:p>
          <a:p>
            <a:pPr>
              <a:buFont typeface="Arial" pitchFamily="34" charset="0"/>
              <a:buChar char="•"/>
            </a:pPr>
            <a:r>
              <a:rPr lang="en-AU" sz="1200" kern="1200" dirty="0" smtClean="0">
                <a:solidFill>
                  <a:schemeClr val="tx1"/>
                </a:solidFill>
                <a:latin typeface="+mn-lt"/>
                <a:ea typeface="+mn-ea"/>
                <a:cs typeface="+mn-cs"/>
              </a:rPr>
              <a:t> Bacteria cannot fly, jump or hop so they depend on people to move them around from place to place via direct contact or through indirect contact</a:t>
            </a:r>
          </a:p>
          <a:p>
            <a:pPr>
              <a:buFont typeface="Arial" pitchFamily="34" charset="0"/>
              <a:buChar char="•"/>
            </a:pPr>
            <a:r>
              <a:rPr lang="en-AU" sz="1200" kern="1200" dirty="0" smtClean="0">
                <a:solidFill>
                  <a:schemeClr val="tx1"/>
                </a:solidFill>
                <a:latin typeface="+mn-lt"/>
                <a:ea typeface="+mn-ea"/>
                <a:cs typeface="+mn-cs"/>
              </a:rPr>
              <a:t> Cross contamination may occur via direct or indirect contact:</a:t>
            </a:r>
          </a:p>
          <a:p>
            <a:pPr lvl="1">
              <a:buFont typeface="Arial" pitchFamily="34" charset="0"/>
              <a:buNone/>
            </a:pPr>
            <a:r>
              <a:rPr lang="en-AU" sz="1200" b="1" kern="1200" dirty="0" smtClean="0">
                <a:solidFill>
                  <a:schemeClr val="tx1"/>
                </a:solidFill>
                <a:latin typeface="+mn-lt"/>
                <a:ea typeface="+mn-ea"/>
                <a:cs typeface="+mn-cs"/>
              </a:rPr>
              <a:t>Direct contact</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Using a knife to cut raw meat and then using the same knife to cut cooked, ready-to-eat meat without cleaning and sanitizing the knife in between tasks – the blood and residual meat on the knife will carry bacteria and this will be transferred by the knife to the previously safe cooked, ready-to-eat meat</a:t>
            </a:r>
          </a:p>
          <a:p>
            <a:pPr lvl="1">
              <a:buFont typeface="Arial" pitchFamily="34" charset="0"/>
              <a:buChar char="•"/>
            </a:pPr>
            <a:r>
              <a:rPr lang="en-AU" sz="1200" kern="1200" dirty="0" smtClean="0">
                <a:solidFill>
                  <a:schemeClr val="tx1"/>
                </a:solidFill>
                <a:latin typeface="+mn-lt"/>
                <a:ea typeface="+mn-ea"/>
                <a:cs typeface="+mn-cs"/>
              </a:rPr>
              <a:t> Using a chopping board to cut raw chicken and then using the same chopping board to cut cooked meat for salads without cleaning and sanitizing the board in between tasks – the chopping board will carry bacteria from the uncooked chicken (the cooking process should destroy the bacteria) which will then be transferred to the previously safe to eat cooked meat</a:t>
            </a:r>
          </a:p>
          <a:p>
            <a:pPr lvl="1">
              <a:buFont typeface="Arial" pitchFamily="34" charset="0"/>
              <a:buNone/>
            </a:pPr>
            <a:r>
              <a:rPr lang="en-AU" sz="1200" b="1" kern="1200" dirty="0" smtClean="0">
                <a:solidFill>
                  <a:schemeClr val="tx1"/>
                </a:solidFill>
                <a:latin typeface="+mn-lt"/>
                <a:ea typeface="+mn-ea"/>
                <a:cs typeface="+mn-cs"/>
              </a:rPr>
              <a:t>Indirect contact</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As previously explained this involved coughing or sneezing into a hand and then using that hand to prepare/touch food or to touch a food preparation surface.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39406431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solidFill>
                  <a:schemeClr val="bg2">
                    <a:lumMod val="50000"/>
                  </a:schemeClr>
                </a:solidFill>
              </a:rPr>
              <a:t>Trainer</a:t>
            </a:r>
            <a:r>
              <a:rPr lang="en-AU" baseline="0" noProof="0" dirty="0" smtClean="0">
                <a:solidFill>
                  <a:schemeClr val="bg2">
                    <a:lumMod val="50000"/>
                  </a:schemeClr>
                </a:solidFill>
              </a:rPr>
              <a:t> presents a range of techniques/practices used in the workplace to help food handlers prevent cross contamination.</a:t>
            </a:r>
          </a:p>
          <a:p>
            <a:pPr>
              <a:buFont typeface="Arial" pitchFamily="34" charset="0"/>
              <a:buNone/>
            </a:pPr>
            <a:endParaRPr lang="en-AU" baseline="0" noProof="0" dirty="0" smtClean="0">
              <a:solidFill>
                <a:schemeClr val="bg2">
                  <a:lumMod val="50000"/>
                </a:schemeClr>
              </a:solidFill>
            </a:endParaRPr>
          </a:p>
          <a:p>
            <a:pPr>
              <a:buFont typeface="Arial" pitchFamily="34" charset="0"/>
              <a:buNone/>
            </a:pPr>
            <a:r>
              <a:rPr lang="en-AU" baseline="0" noProof="0" dirty="0" smtClean="0">
                <a:solidFill>
                  <a:schemeClr val="bg2">
                    <a:lumMod val="50000"/>
                  </a:schemeClr>
                </a:solidFill>
              </a:rPr>
              <a:t>Trainer to discuss importance of these points.</a:t>
            </a:r>
          </a:p>
          <a:p>
            <a:pPr>
              <a:buFont typeface="Arial" pitchFamily="34" charset="0"/>
              <a:buChar char="•"/>
            </a:pPr>
            <a:endParaRPr lang="en-AU" noProof="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4608464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solidFill>
                  <a:schemeClr val="bg2">
                    <a:lumMod val="50000"/>
                  </a:schemeClr>
                </a:solidFill>
              </a:rPr>
              <a:t>Trainer</a:t>
            </a:r>
            <a:r>
              <a:rPr lang="en-AU" baseline="0" noProof="0" dirty="0" smtClean="0">
                <a:solidFill>
                  <a:schemeClr val="bg2">
                    <a:lumMod val="50000"/>
                  </a:schemeClr>
                </a:solidFill>
              </a:rPr>
              <a:t> presents a range of techniques/practices used in the workplace to help food handlers prevent cross contamination.</a:t>
            </a:r>
          </a:p>
          <a:p>
            <a:pPr>
              <a:buFont typeface="Arial" pitchFamily="34" charset="0"/>
              <a:buNone/>
            </a:pPr>
            <a:endParaRPr lang="en-AU" baseline="0" noProof="0" dirty="0" smtClean="0">
              <a:solidFill>
                <a:schemeClr val="bg2">
                  <a:lumMod val="50000"/>
                </a:schemeClr>
              </a:solidFill>
            </a:endParaRPr>
          </a:p>
          <a:p>
            <a:pPr>
              <a:buFont typeface="Arial" pitchFamily="34" charset="0"/>
              <a:buNone/>
            </a:pPr>
            <a:r>
              <a:rPr lang="en-AU" baseline="0" noProof="0" dirty="0" smtClean="0">
                <a:solidFill>
                  <a:schemeClr val="bg2">
                    <a:lumMod val="50000"/>
                  </a:schemeClr>
                </a:solidFill>
              </a:rPr>
              <a:t>Trainer to discuss importance of these points.</a:t>
            </a:r>
          </a:p>
          <a:p>
            <a:pPr>
              <a:buFont typeface="Arial" pitchFamily="34" charset="0"/>
              <a:buChar char="•"/>
            </a:pPr>
            <a:endParaRPr lang="en-AU" noProof="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38898894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presents a range of techniques/practices used in the workplace to help food handlers prevent cross contamination:</a:t>
            </a:r>
          </a:p>
          <a:p>
            <a:pPr>
              <a:buFont typeface="Arial" pitchFamily="34" charset="0"/>
              <a:buChar char="•"/>
            </a:pPr>
            <a:r>
              <a:rPr lang="en-AU" sz="1200" kern="1200" dirty="0" smtClean="0">
                <a:solidFill>
                  <a:schemeClr val="tx1"/>
                </a:solidFill>
                <a:latin typeface="+mn-lt"/>
                <a:ea typeface="+mn-ea"/>
                <a:cs typeface="+mn-cs"/>
              </a:rPr>
              <a:t> Using separate staff to handle raw high risk food and other food that is cooked and/or ready-to-eat</a:t>
            </a:r>
          </a:p>
          <a:p>
            <a:pPr>
              <a:buFont typeface="Arial" pitchFamily="34" charset="0"/>
              <a:buChar char="•"/>
            </a:pPr>
            <a:r>
              <a:rPr lang="en-AU" sz="1200" kern="1200" dirty="0" smtClean="0">
                <a:solidFill>
                  <a:schemeClr val="tx1"/>
                </a:solidFill>
                <a:latin typeface="+mn-lt"/>
                <a:ea typeface="+mn-ea"/>
                <a:cs typeface="+mn-cs"/>
              </a:rPr>
              <a:t> Washing and sanitizing all preparation surfaces, equipment and utensils in between each use</a:t>
            </a:r>
          </a:p>
          <a:p>
            <a:pPr>
              <a:buFont typeface="Arial" pitchFamily="34" charset="0"/>
              <a:buChar char="•"/>
            </a:pPr>
            <a:r>
              <a:rPr lang="en-AU" sz="1200" kern="1200" dirty="0" smtClean="0">
                <a:solidFill>
                  <a:schemeClr val="tx1"/>
                </a:solidFill>
                <a:latin typeface="+mn-lt"/>
                <a:ea typeface="+mn-ea"/>
                <a:cs typeface="+mn-cs"/>
              </a:rPr>
              <a:t> Using colour-coded chopping boards </a:t>
            </a:r>
          </a:p>
          <a:p>
            <a:pPr>
              <a:buFont typeface="Arial" pitchFamily="34" charset="0"/>
              <a:buChar char="•"/>
            </a:pPr>
            <a:r>
              <a:rPr lang="en-AU" sz="1200" kern="1200" dirty="0" smtClean="0">
                <a:solidFill>
                  <a:schemeClr val="tx1"/>
                </a:solidFill>
                <a:latin typeface="+mn-lt"/>
                <a:ea typeface="+mn-ea"/>
                <a:cs typeface="+mn-cs"/>
              </a:rPr>
              <a:t> Ensuring proper personal hygiene practices are implemented. </a:t>
            </a:r>
          </a:p>
          <a:p>
            <a:pPr>
              <a:buFont typeface="Arial" pitchFamily="34" charset="0"/>
              <a:buNone/>
            </a:pPr>
            <a:endParaRPr lang="en-AU" noProof="0" dirty="0" smtClean="0"/>
          </a:p>
          <a:p>
            <a:pPr>
              <a:buFont typeface="Arial" pitchFamily="34" charset="0"/>
              <a:buNone/>
            </a:pPr>
            <a:r>
              <a:rPr lang="en-AU" b="1" noProof="0" dirty="0" smtClean="0"/>
              <a:t>Class Activity – Presentation</a:t>
            </a:r>
          </a:p>
          <a:p>
            <a:pPr>
              <a:buFont typeface="Arial" pitchFamily="34" charset="0"/>
              <a:buNone/>
            </a:pPr>
            <a:r>
              <a:rPr lang="en-AU" b="0" noProof="0" dirty="0" smtClean="0"/>
              <a:t>Trainer presents trainees with samples of:</a:t>
            </a:r>
          </a:p>
          <a:p>
            <a:pPr>
              <a:buFont typeface="Arial" pitchFamily="34" charset="0"/>
              <a:buChar char="•"/>
            </a:pPr>
            <a:r>
              <a:rPr lang="en-AU" b="0" noProof="0" dirty="0" smtClean="0"/>
              <a:t> Colour-coded chopping boards</a:t>
            </a:r>
          </a:p>
          <a:p>
            <a:pPr>
              <a:buFont typeface="Arial" pitchFamily="34" charset="0"/>
              <a:buChar char="•"/>
            </a:pPr>
            <a:r>
              <a:rPr lang="en-AU" b="0" noProof="0" dirty="0" smtClean="0"/>
              <a:t> Posters instructing use of different coloured boards for different foods – such as:</a:t>
            </a:r>
          </a:p>
          <a:p>
            <a:pPr lvl="1">
              <a:buFont typeface="Arial" pitchFamily="34" charset="0"/>
              <a:buChar char="•"/>
            </a:pPr>
            <a:r>
              <a:rPr lang="en-AU" sz="1200" kern="1200" dirty="0" smtClean="0">
                <a:solidFill>
                  <a:schemeClr val="tx1"/>
                </a:solidFill>
                <a:latin typeface="+mn-lt"/>
                <a:ea typeface="+mn-ea"/>
                <a:cs typeface="+mn-cs"/>
              </a:rPr>
              <a:t> White – for dairy products only</a:t>
            </a:r>
          </a:p>
          <a:p>
            <a:pPr lvl="1">
              <a:buFont typeface="Arial" pitchFamily="34" charset="0"/>
              <a:buChar char="•"/>
            </a:pPr>
            <a:r>
              <a:rPr lang="en-AU" sz="1200" kern="1200" dirty="0" smtClean="0">
                <a:solidFill>
                  <a:schemeClr val="tx1"/>
                </a:solidFill>
                <a:latin typeface="+mn-lt"/>
                <a:ea typeface="+mn-ea"/>
                <a:cs typeface="+mn-cs"/>
              </a:rPr>
              <a:t> Red – for raw meat only</a:t>
            </a:r>
          </a:p>
          <a:p>
            <a:pPr lvl="1">
              <a:buFont typeface="Arial" pitchFamily="34" charset="0"/>
              <a:buChar char="•"/>
            </a:pPr>
            <a:r>
              <a:rPr lang="en-AU" sz="1200" kern="1200" dirty="0" smtClean="0">
                <a:solidFill>
                  <a:schemeClr val="tx1"/>
                </a:solidFill>
                <a:latin typeface="+mn-lt"/>
                <a:ea typeface="+mn-ea"/>
                <a:cs typeface="+mn-cs"/>
              </a:rPr>
              <a:t> Blue – for seafood only</a:t>
            </a:r>
          </a:p>
          <a:p>
            <a:pPr lvl="1">
              <a:buFont typeface="Arial" pitchFamily="34" charset="0"/>
              <a:buChar char="•"/>
            </a:pPr>
            <a:r>
              <a:rPr lang="en-AU" sz="1200" kern="1200" dirty="0" smtClean="0">
                <a:solidFill>
                  <a:schemeClr val="tx1"/>
                </a:solidFill>
                <a:latin typeface="+mn-lt"/>
                <a:ea typeface="+mn-ea"/>
                <a:cs typeface="+mn-cs"/>
              </a:rPr>
              <a:t> Yellow – for poultry only</a:t>
            </a:r>
          </a:p>
          <a:p>
            <a:pPr lvl="1">
              <a:buFont typeface="Arial" pitchFamily="34" charset="0"/>
              <a:buChar char="•"/>
            </a:pPr>
            <a:r>
              <a:rPr lang="en-AU" sz="1200" kern="1200" dirty="0" smtClean="0">
                <a:solidFill>
                  <a:schemeClr val="tx1"/>
                </a:solidFill>
                <a:latin typeface="+mn-lt"/>
                <a:ea typeface="+mn-ea"/>
                <a:cs typeface="+mn-cs"/>
              </a:rPr>
              <a:t> Brown – for cooked meat only</a:t>
            </a:r>
          </a:p>
          <a:p>
            <a:pPr lvl="1">
              <a:buFont typeface="Arial" pitchFamily="34" charset="0"/>
              <a:buChar char="•"/>
            </a:pPr>
            <a:r>
              <a:rPr lang="en-AU" sz="1200" kern="1200" dirty="0" smtClean="0">
                <a:solidFill>
                  <a:schemeClr val="tx1"/>
                </a:solidFill>
                <a:latin typeface="+mn-lt"/>
                <a:ea typeface="+mn-ea"/>
                <a:cs typeface="+mn-cs"/>
              </a:rPr>
              <a:t> Green – for fruit and vegetables only.</a:t>
            </a:r>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6547740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a range of techniques/practices used in the workplace to help food handlers prevent cross contamination:</a:t>
            </a:r>
          </a:p>
          <a:p>
            <a:pPr>
              <a:buFont typeface="Arial" pitchFamily="34" charset="0"/>
              <a:buChar char="•"/>
            </a:pPr>
            <a:r>
              <a:rPr lang="en-AU" sz="1200" kern="1200" dirty="0" smtClean="0">
                <a:solidFill>
                  <a:schemeClr val="tx1"/>
                </a:solidFill>
                <a:latin typeface="+mn-lt"/>
                <a:ea typeface="+mn-ea"/>
                <a:cs typeface="+mn-cs"/>
              </a:rPr>
              <a:t> Keeping chemicals away from food and food preparation/service areas – this includes eliminating the use of chemicals in food areas when food is present</a:t>
            </a:r>
          </a:p>
          <a:p>
            <a:pPr>
              <a:buFont typeface="Arial" pitchFamily="34" charset="0"/>
              <a:buChar char="•"/>
            </a:pPr>
            <a:r>
              <a:rPr lang="en-AU" sz="1200" kern="1200" dirty="0" smtClean="0">
                <a:solidFill>
                  <a:schemeClr val="tx1"/>
                </a:solidFill>
                <a:latin typeface="+mn-lt"/>
                <a:ea typeface="+mn-ea"/>
                <a:cs typeface="+mn-cs"/>
              </a:rPr>
              <a:t> Using cleaned and sanitized containers for every food preparation and storage requirement – this applies to all storage, preparation or display environments</a:t>
            </a:r>
          </a:p>
          <a:p>
            <a:pPr>
              <a:buFont typeface="Arial" pitchFamily="34" charset="0"/>
              <a:buChar char="•"/>
            </a:pPr>
            <a:r>
              <a:rPr lang="en-AU" sz="1200" kern="1200" dirty="0" smtClean="0">
                <a:solidFill>
                  <a:schemeClr val="tx1"/>
                </a:solidFill>
                <a:latin typeface="+mn-lt"/>
                <a:ea typeface="+mn-ea"/>
                <a:cs typeface="+mn-cs"/>
              </a:rPr>
              <a:t> Using only cleaned and sanitized crockery, cutlery and glassware for the service of food and drinks – this includes ensuring all service items are properly stored after cleaning to protect them from contamination</a:t>
            </a:r>
          </a:p>
          <a:p>
            <a:pPr>
              <a:buFont typeface="Arial" pitchFamily="34" charset="0"/>
              <a:buChar char="•"/>
            </a:pPr>
            <a:r>
              <a:rPr lang="en-AU" sz="1200" kern="1200" dirty="0" smtClean="0">
                <a:solidFill>
                  <a:schemeClr val="tx1"/>
                </a:solidFill>
                <a:latin typeface="+mn-lt"/>
                <a:ea typeface="+mn-ea"/>
                <a:cs typeface="+mn-cs"/>
              </a:rPr>
              <a:t> Using only disposable (paper) towels for wiping hands or cleaning up spills and immediately discard after use – do not use clothing (such as fronts of jackets, aprons) or cloth tea towels.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8827214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a range of techniques/practices used in the workplace to help food handlers prevent cross contamination:</a:t>
            </a:r>
          </a:p>
          <a:p>
            <a:pPr>
              <a:buFont typeface="Arial" pitchFamily="34" charset="0"/>
              <a:buChar char="•"/>
            </a:pPr>
            <a:r>
              <a:rPr lang="en-AU" sz="1200" kern="1200" dirty="0" smtClean="0">
                <a:solidFill>
                  <a:schemeClr val="tx1"/>
                </a:solidFill>
                <a:latin typeface="+mn-lt"/>
                <a:ea typeface="+mn-ea"/>
                <a:cs typeface="+mn-cs"/>
              </a:rPr>
              <a:t> Never storing raw high risk food above cooked and/or ready-to-eat food – to eliminate the risk posed by blood/juice dripping onto raw food below</a:t>
            </a:r>
          </a:p>
          <a:p>
            <a:pPr>
              <a:buFont typeface="Arial" pitchFamily="34" charset="0"/>
              <a:buChar char="•"/>
            </a:pPr>
            <a:r>
              <a:rPr lang="en-AU" sz="1200" kern="1200" dirty="0" smtClean="0">
                <a:solidFill>
                  <a:schemeClr val="tx1"/>
                </a:solidFill>
                <a:latin typeface="+mn-lt"/>
                <a:ea typeface="+mn-ea"/>
                <a:cs typeface="+mn-cs"/>
              </a:rPr>
              <a:t> Never storing food containers on the floor</a:t>
            </a:r>
          </a:p>
          <a:p>
            <a:pPr>
              <a:buFont typeface="Arial" pitchFamily="34" charset="0"/>
              <a:buChar char="•"/>
            </a:pPr>
            <a:r>
              <a:rPr lang="en-AU" sz="1200" kern="1200" dirty="0" smtClean="0">
                <a:solidFill>
                  <a:schemeClr val="tx1"/>
                </a:solidFill>
                <a:latin typeface="+mn-lt"/>
                <a:ea typeface="+mn-ea"/>
                <a:cs typeface="+mn-cs"/>
              </a:rPr>
              <a:t> Using hand wash sinks only for hand washing – and not using food preparation sinks for hand washing</a:t>
            </a:r>
          </a:p>
          <a:p>
            <a:pPr>
              <a:buFont typeface="Arial" pitchFamily="34" charset="0"/>
              <a:buChar char="•"/>
            </a:pPr>
            <a:r>
              <a:rPr lang="en-AU" sz="1200" kern="1200" dirty="0" smtClean="0">
                <a:solidFill>
                  <a:schemeClr val="tx1"/>
                </a:solidFill>
                <a:latin typeface="+mn-lt"/>
                <a:ea typeface="+mn-ea"/>
                <a:cs typeface="+mn-cs"/>
              </a:rPr>
              <a:t> Cleaning and sanitizing probe thermometers in between each use.</a:t>
            </a:r>
          </a:p>
          <a:p>
            <a:pPr>
              <a:buFont typeface="Arial" pitchFamily="34" charset="0"/>
              <a:buNone/>
            </a:pPr>
            <a:endParaRPr lang="en-AU" noProof="0" dirty="0" smtClean="0"/>
          </a:p>
          <a:p>
            <a:pPr>
              <a:buFont typeface="Arial" pitchFamily="34" charset="0"/>
              <a:buNone/>
            </a:pPr>
            <a:r>
              <a:rPr lang="en-AU" b="1" noProof="0" dirty="0" smtClean="0"/>
              <a:t>Class Activity – Demonstration </a:t>
            </a:r>
          </a:p>
          <a:p>
            <a:pPr>
              <a:buFont typeface="Arial" pitchFamily="34" charset="0"/>
              <a:buNone/>
            </a:pPr>
            <a:r>
              <a:rPr lang="en-AU" b="0" noProof="0" dirty="0" smtClean="0"/>
              <a:t>Trainer demonstrates how to clean and sanitize a probe thermometer using a sanitizing wipe.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20696207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a range of techniques/practices used in the workplace to help food handlers prevent cross contamination:</a:t>
            </a:r>
          </a:p>
          <a:p>
            <a:pPr>
              <a:buFont typeface="Arial" pitchFamily="34" charset="0"/>
              <a:buChar char="•"/>
            </a:pPr>
            <a:r>
              <a:rPr lang="en-AU" sz="1200" kern="1200" dirty="0" smtClean="0">
                <a:solidFill>
                  <a:schemeClr val="tx1"/>
                </a:solidFill>
                <a:latin typeface="+mn-lt"/>
                <a:ea typeface="+mn-ea"/>
                <a:cs typeface="+mn-cs"/>
              </a:rPr>
              <a:t> Cleaning low risk areas and equipment before cleaning high risk areas when the same cleaning items/equipment have to be used</a:t>
            </a:r>
          </a:p>
          <a:p>
            <a:pPr>
              <a:buFont typeface="Arial" pitchFamily="34" charset="0"/>
              <a:buChar char="•"/>
            </a:pPr>
            <a:r>
              <a:rPr lang="en-AU" sz="1200" kern="1200" dirty="0" smtClean="0">
                <a:solidFill>
                  <a:schemeClr val="tx1"/>
                </a:solidFill>
                <a:latin typeface="+mn-lt"/>
                <a:ea typeface="+mn-ea"/>
                <a:cs typeface="+mn-cs"/>
              </a:rPr>
              <a:t> Washing all fruit and vegetables, especially salad vegetables, in a sanitizing solution before use</a:t>
            </a:r>
          </a:p>
          <a:p>
            <a:pPr>
              <a:buFont typeface="Arial" pitchFamily="34" charset="0"/>
              <a:buChar char="•"/>
            </a:pPr>
            <a:r>
              <a:rPr lang="en-AU" sz="1200" kern="1200" dirty="0" smtClean="0">
                <a:solidFill>
                  <a:schemeClr val="tx1"/>
                </a:solidFill>
                <a:latin typeface="+mn-lt"/>
                <a:ea typeface="+mn-ea"/>
                <a:cs typeface="+mn-cs"/>
              </a:rPr>
              <a:t> Wearing clean clothes and clean protective clothing for each shift</a:t>
            </a:r>
          </a:p>
          <a:p>
            <a:pPr>
              <a:buFont typeface="Arial" pitchFamily="34" charset="0"/>
              <a:buChar char="•"/>
            </a:pPr>
            <a:r>
              <a:rPr lang="en-AU" sz="1200" kern="1200" dirty="0" smtClean="0">
                <a:solidFill>
                  <a:schemeClr val="tx1"/>
                </a:solidFill>
                <a:latin typeface="+mn-lt"/>
                <a:ea typeface="+mn-ea"/>
                <a:cs typeface="+mn-cs"/>
              </a:rPr>
              <a:t> Cleaning and sanitizing food equipment, utensils and preparation areas in accordance with the cleaning schedule for the premises – including the cleaning and sanitizing of preparation benches in between preparing raw high risk food and other foods.</a:t>
            </a:r>
          </a:p>
          <a:p>
            <a:pPr>
              <a:buFont typeface="Arial" pitchFamily="34" charset="0"/>
              <a:buNone/>
            </a:pPr>
            <a:endParaRPr lang="en-AU" noProof="0" dirty="0" smtClean="0"/>
          </a:p>
          <a:p>
            <a:pPr>
              <a:buFont typeface="Arial" pitchFamily="34" charset="0"/>
              <a:buNone/>
            </a:pPr>
            <a:r>
              <a:rPr lang="en-AU" b="1" noProof="0" dirty="0" smtClean="0"/>
              <a:t>Class Activity 1 – Demonstration</a:t>
            </a:r>
          </a:p>
          <a:p>
            <a:pPr>
              <a:buFont typeface="Arial" pitchFamily="34" charset="0"/>
              <a:buNone/>
            </a:pPr>
            <a:r>
              <a:rPr lang="en-AU" b="0" noProof="0" dirty="0" smtClean="0"/>
              <a:t>Trainer shows class how to wash fruit and vegetables in sanitizing solution prior to use.</a:t>
            </a:r>
          </a:p>
          <a:p>
            <a:pPr>
              <a:buFont typeface="Arial" pitchFamily="34" charset="0"/>
              <a:buNone/>
            </a:pPr>
            <a:endParaRPr lang="en-AU" b="0" noProof="0" dirty="0" smtClean="0"/>
          </a:p>
          <a:p>
            <a:pPr>
              <a:buFont typeface="Arial" pitchFamily="34" charset="0"/>
              <a:buNone/>
            </a:pPr>
            <a:r>
              <a:rPr lang="en-AU" b="1" noProof="0" dirty="0" smtClean="0"/>
              <a:t>Class Activity – Handout</a:t>
            </a:r>
          </a:p>
          <a:p>
            <a:pPr>
              <a:buFont typeface="Arial" pitchFamily="34" charset="0"/>
              <a:buNone/>
            </a:pPr>
            <a:r>
              <a:rPr lang="en-AU" b="0" noProof="0" dirty="0" smtClean="0"/>
              <a:t>Trainer distributes and discusses sample cleaning schedule.</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6727243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a range of techniques/practices used in the workplace to help food handlers prevent cross contamination:</a:t>
            </a:r>
          </a:p>
          <a:p>
            <a:pPr>
              <a:buFont typeface="Arial" pitchFamily="34" charset="0"/>
              <a:buChar char="•"/>
            </a:pPr>
            <a:r>
              <a:rPr lang="en-AU" sz="1200" kern="1200" dirty="0" smtClean="0">
                <a:solidFill>
                  <a:schemeClr val="tx1"/>
                </a:solidFill>
                <a:latin typeface="+mn-lt"/>
                <a:ea typeface="+mn-ea"/>
                <a:cs typeface="+mn-cs"/>
              </a:rPr>
              <a:t> Using waterproof bandages and dressings on cuts and sores</a:t>
            </a:r>
          </a:p>
          <a:p>
            <a:pPr>
              <a:buFont typeface="Arial" pitchFamily="34" charset="0"/>
              <a:buChar char="•"/>
            </a:pPr>
            <a:r>
              <a:rPr lang="en-AU" sz="1200" kern="1200" dirty="0" smtClean="0">
                <a:solidFill>
                  <a:schemeClr val="tx1"/>
                </a:solidFill>
                <a:latin typeface="+mn-lt"/>
                <a:ea typeface="+mn-ea"/>
                <a:cs typeface="+mn-cs"/>
              </a:rPr>
              <a:t> Washing – and properly drying –  hands when and as required</a:t>
            </a:r>
          </a:p>
          <a:p>
            <a:pPr>
              <a:buFont typeface="Arial" pitchFamily="34" charset="0"/>
              <a:buChar char="•"/>
            </a:pPr>
            <a:r>
              <a:rPr lang="en-AU" sz="1200" kern="1200" dirty="0" smtClean="0">
                <a:solidFill>
                  <a:schemeClr val="tx1"/>
                </a:solidFill>
                <a:latin typeface="+mn-lt"/>
                <a:ea typeface="+mn-ea"/>
                <a:cs typeface="+mn-cs"/>
              </a:rPr>
              <a:t> Separating the storage of raw and cooked/ready-to-eat foods – by storing (for example) in different areas of the refrigerator and/or on separate trays</a:t>
            </a:r>
          </a:p>
          <a:p>
            <a:pPr>
              <a:buFont typeface="Arial" pitchFamily="34" charset="0"/>
              <a:buChar char="•"/>
            </a:pPr>
            <a:r>
              <a:rPr lang="en-AU" sz="1200" kern="1200" dirty="0" smtClean="0">
                <a:solidFill>
                  <a:schemeClr val="tx1"/>
                </a:solidFill>
                <a:latin typeface="+mn-lt"/>
                <a:ea typeface="+mn-ea"/>
                <a:cs typeface="+mn-cs"/>
              </a:rPr>
              <a:t> Keeping foods covered as much as possible when in storage, while being processed and displayed.</a:t>
            </a:r>
          </a:p>
          <a:p>
            <a:pPr>
              <a:buFont typeface="Arial" pitchFamily="34" charset="0"/>
              <a:buNone/>
            </a:pPr>
            <a:endParaRPr lang="en-AU" noProof="0" dirty="0" smtClean="0"/>
          </a:p>
          <a:p>
            <a:pPr>
              <a:buFont typeface="Arial" pitchFamily="34" charset="0"/>
              <a:buNone/>
            </a:pPr>
            <a:r>
              <a:rPr lang="en-AU" b="1" noProof="0" dirty="0" smtClean="0"/>
              <a:t>Class Activity – Presentation</a:t>
            </a:r>
          </a:p>
          <a:p>
            <a:pPr>
              <a:buFont typeface="Arial" pitchFamily="34" charset="0"/>
              <a:buNone/>
            </a:pPr>
            <a:r>
              <a:rPr lang="en-AU" b="0" noProof="0" dirty="0" smtClean="0"/>
              <a:t>Trainer distributes samples of:</a:t>
            </a:r>
          </a:p>
          <a:p>
            <a:pPr>
              <a:buFont typeface="Arial" pitchFamily="34" charset="0"/>
              <a:buChar char="•"/>
            </a:pPr>
            <a:r>
              <a:rPr lang="en-AU" b="0" noProof="0" dirty="0" smtClean="0"/>
              <a:t> Water proof bandages/dressings</a:t>
            </a:r>
          </a:p>
          <a:p>
            <a:pPr>
              <a:buFont typeface="Arial" pitchFamily="34" charset="0"/>
              <a:buChar char="•"/>
            </a:pPr>
            <a:r>
              <a:rPr lang="en-AU" b="0" noProof="0" dirty="0" smtClean="0"/>
              <a:t> Coloured band aids which should be used by food handlers.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20671865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a range of techniques/practices used in the workplace to help food handlers prevent cross contamination:</a:t>
            </a:r>
          </a:p>
          <a:p>
            <a:pPr>
              <a:buFont typeface="Arial" pitchFamily="34" charset="0"/>
              <a:buChar char="•"/>
            </a:pPr>
            <a:r>
              <a:rPr lang="en-AU" sz="1200" kern="1200" dirty="0" smtClean="0">
                <a:solidFill>
                  <a:schemeClr val="tx1"/>
                </a:solidFill>
                <a:latin typeface="+mn-lt"/>
                <a:ea typeface="+mn-ea"/>
                <a:cs typeface="+mn-cs"/>
              </a:rPr>
              <a:t> Using separate sinks for washing ready-to-eat salad vegetables/vegetables and other high risk foods – this includes a requirement a sink used for thawing high risk foods by running it under cold water should take place in a different sink to the one used for washing salad vegetables/vegetables</a:t>
            </a:r>
          </a:p>
          <a:p>
            <a:pPr>
              <a:buFont typeface="Arial" pitchFamily="34" charset="0"/>
              <a:buChar char="•"/>
            </a:pPr>
            <a:r>
              <a:rPr lang="en-AU" sz="1200" kern="1200" dirty="0" smtClean="0">
                <a:solidFill>
                  <a:schemeClr val="tx1"/>
                </a:solidFill>
                <a:latin typeface="+mn-lt"/>
                <a:ea typeface="+mn-ea"/>
                <a:cs typeface="+mn-cs"/>
              </a:rPr>
              <a:t> Changing disposable gloves whenever there would be a need to wash hands – such as in between handling raw high risk food and cooked/ready-to-eat food: gloves should be changed every hour regardless</a:t>
            </a:r>
          </a:p>
          <a:p>
            <a:pPr>
              <a:buFont typeface="Arial" pitchFamily="34" charset="0"/>
              <a:buChar char="•"/>
            </a:pPr>
            <a:r>
              <a:rPr lang="en-AU" sz="1200" kern="1200" dirty="0" smtClean="0">
                <a:solidFill>
                  <a:schemeClr val="tx1"/>
                </a:solidFill>
                <a:latin typeface="+mn-lt"/>
                <a:ea typeface="+mn-ea"/>
                <a:cs typeface="+mn-cs"/>
              </a:rPr>
              <a:t> Not mixing batches of food</a:t>
            </a:r>
          </a:p>
          <a:p>
            <a:pPr>
              <a:buFont typeface="Arial" pitchFamily="34" charset="0"/>
              <a:buChar char="•"/>
            </a:pPr>
            <a:r>
              <a:rPr lang="en-AU" sz="1200" kern="1200" dirty="0" smtClean="0">
                <a:solidFill>
                  <a:schemeClr val="tx1"/>
                </a:solidFill>
                <a:latin typeface="+mn-lt"/>
                <a:ea typeface="+mn-ea"/>
                <a:cs typeface="+mn-cs"/>
              </a:rPr>
              <a:t> Refraining from tasting food and replacing the spoon back in the pot.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18529755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a range of techniques/practices used in the workplace to help food handlers prevent cross contamination:</a:t>
            </a:r>
          </a:p>
          <a:p>
            <a:pPr>
              <a:buFont typeface="Arial" pitchFamily="34" charset="0"/>
              <a:buChar char="•"/>
            </a:pPr>
            <a:r>
              <a:rPr lang="en-AU" sz="1200" kern="1200" dirty="0" smtClean="0">
                <a:solidFill>
                  <a:schemeClr val="tx1"/>
                </a:solidFill>
                <a:latin typeface="+mn-lt"/>
                <a:ea typeface="+mn-ea"/>
                <a:cs typeface="+mn-cs"/>
              </a:rPr>
              <a:t> Not coughing or sneezing over food or food preparation equipment, utensils or surfaces</a:t>
            </a:r>
          </a:p>
          <a:p>
            <a:pPr>
              <a:buFont typeface="Arial" pitchFamily="34" charset="0"/>
              <a:buChar char="•"/>
            </a:pPr>
            <a:r>
              <a:rPr lang="en-AU" sz="1200" kern="1200" dirty="0" smtClean="0">
                <a:solidFill>
                  <a:schemeClr val="tx1"/>
                </a:solidFill>
                <a:latin typeface="+mn-lt"/>
                <a:ea typeface="+mn-ea"/>
                <a:cs typeface="+mn-cs"/>
              </a:rPr>
              <a:t> Cleaning and sanitizing knives in between cutting raw high risk foods and cooked/ready-to-eat foods</a:t>
            </a:r>
          </a:p>
          <a:p>
            <a:pPr>
              <a:buFont typeface="Arial" pitchFamily="34" charset="0"/>
              <a:buChar char="•"/>
            </a:pPr>
            <a:r>
              <a:rPr lang="en-AU" sz="1200" kern="1200" dirty="0" smtClean="0">
                <a:solidFill>
                  <a:schemeClr val="tx1"/>
                </a:solidFill>
                <a:latin typeface="+mn-lt"/>
                <a:ea typeface="+mn-ea"/>
                <a:cs typeface="+mn-cs"/>
              </a:rPr>
              <a:t> Cleaning and sanitizing food preparation benches and equipment that are in constant use at least every four hours</a:t>
            </a:r>
          </a:p>
          <a:p>
            <a:pPr>
              <a:buFont typeface="Arial" pitchFamily="34" charset="0"/>
              <a:buChar char="•"/>
            </a:pPr>
            <a:r>
              <a:rPr lang="en-AU" sz="1200" kern="1200" dirty="0" smtClean="0">
                <a:solidFill>
                  <a:schemeClr val="tx1"/>
                </a:solidFill>
                <a:latin typeface="+mn-lt"/>
                <a:ea typeface="+mn-ea"/>
                <a:cs typeface="+mn-cs"/>
              </a:rPr>
              <a:t> Avoiding the use of the same cleaning equipment between other areas of the premises (such as bathrooms and bedrooms) and the kitchen.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4810312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a range of techniques/practices used in the workplace to help food handlers prevent cross contamination:</a:t>
            </a:r>
          </a:p>
          <a:p>
            <a:pPr>
              <a:buFont typeface="Arial" pitchFamily="34" charset="0"/>
              <a:buChar char="•"/>
            </a:pPr>
            <a:r>
              <a:rPr lang="en-AU" sz="1200" kern="1200" dirty="0" smtClean="0">
                <a:solidFill>
                  <a:schemeClr val="tx1"/>
                </a:solidFill>
                <a:latin typeface="+mn-lt"/>
                <a:ea typeface="+mn-ea"/>
                <a:cs typeface="+mn-cs"/>
              </a:rPr>
              <a:t> Repairing cracked surfaces in the food preparation area</a:t>
            </a:r>
          </a:p>
          <a:p>
            <a:pPr>
              <a:buFont typeface="Arial" pitchFamily="34" charset="0"/>
              <a:buChar char="•"/>
            </a:pPr>
            <a:r>
              <a:rPr lang="en-AU" sz="1200" kern="1200" dirty="0" smtClean="0">
                <a:solidFill>
                  <a:schemeClr val="tx1"/>
                </a:solidFill>
                <a:latin typeface="+mn-lt"/>
                <a:ea typeface="+mn-ea"/>
                <a:cs typeface="+mn-cs"/>
              </a:rPr>
              <a:t> Excluding pests and implementing an effective pest control program – which may necessitate the use of a qualified professional external pest control company</a:t>
            </a:r>
          </a:p>
          <a:p>
            <a:pPr>
              <a:buFont typeface="Arial" pitchFamily="34" charset="0"/>
              <a:buChar char="•"/>
            </a:pPr>
            <a:r>
              <a:rPr lang="en-AU" sz="1200" kern="1200" dirty="0" smtClean="0">
                <a:solidFill>
                  <a:schemeClr val="tx1"/>
                </a:solidFill>
                <a:latin typeface="+mn-lt"/>
                <a:ea typeface="+mn-ea"/>
                <a:cs typeface="+mn-cs"/>
              </a:rPr>
              <a:t> Discarding all food that is known to be contaminated – or suspected of being contaminated</a:t>
            </a:r>
          </a:p>
          <a:p>
            <a:pPr>
              <a:buFont typeface="Arial" pitchFamily="34" charset="0"/>
              <a:buChar char="•"/>
            </a:pPr>
            <a:r>
              <a:rPr lang="en-AU" sz="1200" kern="1200" dirty="0" smtClean="0">
                <a:solidFill>
                  <a:schemeClr val="tx1"/>
                </a:solidFill>
                <a:latin typeface="+mn-lt"/>
                <a:ea typeface="+mn-ea"/>
                <a:cs typeface="+mn-cs"/>
              </a:rPr>
              <a:t> Excluding food handlers who are ill from food handling and food-related activities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Putting up signs/posters in the workplace to remind food handlers about cross contamination.</a:t>
            </a:r>
          </a:p>
          <a:p>
            <a:pPr>
              <a:buFont typeface="Arial" pitchFamily="34" charset="0"/>
              <a:buNone/>
            </a:pPr>
            <a:endParaRPr lang="en-AU" noProof="0" dirty="0" smtClean="0"/>
          </a:p>
          <a:p>
            <a:pPr>
              <a:buFont typeface="Arial" pitchFamily="34" charset="0"/>
              <a:buNone/>
            </a:pPr>
            <a:r>
              <a:rPr lang="en-AU" b="1" noProof="0" dirty="0" smtClean="0"/>
              <a:t>Class Activity – Small</a:t>
            </a:r>
            <a:r>
              <a:rPr lang="en-AU" b="1" baseline="0" noProof="0" dirty="0" smtClean="0"/>
              <a:t> Group Exercise</a:t>
            </a:r>
          </a:p>
          <a:p>
            <a:pPr>
              <a:buFont typeface="Arial" pitchFamily="34" charset="0"/>
              <a:buNone/>
            </a:pPr>
            <a:r>
              <a:rPr lang="en-AU" b="0" baseline="0" noProof="0" dirty="0" smtClean="0"/>
              <a:t>Trainer asks trainees to prepare posters suitable for placement in the work area which:</a:t>
            </a:r>
          </a:p>
          <a:p>
            <a:pPr>
              <a:buFont typeface="Arial" pitchFamily="34" charset="0"/>
              <a:buChar char="•"/>
            </a:pPr>
            <a:r>
              <a:rPr lang="en-AU" sz="1200" kern="1200" noProof="0" dirty="0" smtClean="0">
                <a:solidFill>
                  <a:schemeClr val="tx1"/>
                </a:solidFill>
                <a:latin typeface="+mn-lt"/>
                <a:ea typeface="+mn-ea"/>
                <a:cs typeface="+mn-cs"/>
              </a:rPr>
              <a:t> Advise staff of personal hygiene requirements</a:t>
            </a:r>
          </a:p>
          <a:p>
            <a:pPr>
              <a:buFont typeface="Arial" pitchFamily="34" charset="0"/>
              <a:buChar char="•"/>
            </a:pPr>
            <a:r>
              <a:rPr lang="en-AU" sz="1200" kern="1200" noProof="0" dirty="0" smtClean="0">
                <a:solidFill>
                  <a:schemeClr val="tx1"/>
                </a:solidFill>
                <a:latin typeface="+mn-lt"/>
                <a:ea typeface="+mn-ea"/>
                <a:cs typeface="+mn-cs"/>
              </a:rPr>
              <a:t> Advise staff on safe food handling practices</a:t>
            </a:r>
          </a:p>
          <a:p>
            <a:pPr>
              <a:buFont typeface="Arial" pitchFamily="34" charset="0"/>
              <a:buChar char="•"/>
            </a:pPr>
            <a:r>
              <a:rPr lang="en-AU" sz="1200" kern="1200" noProof="0" dirty="0" smtClean="0">
                <a:solidFill>
                  <a:schemeClr val="tx1"/>
                </a:solidFill>
                <a:latin typeface="+mn-lt"/>
                <a:ea typeface="+mn-ea"/>
                <a:cs typeface="+mn-cs"/>
              </a:rPr>
              <a:t> Inform patrons at self-serve buffets regarding safe food handling practices to be implemented at the buffet.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14194439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a range of techniques/practices used in the workplace to help food handlers prevent cross contamination:</a:t>
            </a:r>
          </a:p>
          <a:p>
            <a:pPr>
              <a:buFont typeface="Arial" pitchFamily="34" charset="0"/>
              <a:buChar char="•"/>
            </a:pPr>
            <a:r>
              <a:rPr lang="en-AU" sz="1200" kern="1200" dirty="0" smtClean="0">
                <a:solidFill>
                  <a:schemeClr val="tx1"/>
                </a:solidFill>
                <a:latin typeface="+mn-lt"/>
                <a:ea typeface="+mn-ea"/>
                <a:cs typeface="+mn-cs"/>
              </a:rPr>
              <a:t> Displaying food so it is protected from contamination by customers – including the use of sneeze guards, monitoring patron actions where self-service food is available and taking appropriate action when the potential for cross contamination to have taken place has been identified</a:t>
            </a:r>
          </a:p>
          <a:p>
            <a:pPr>
              <a:buFont typeface="Arial" pitchFamily="34" charset="0"/>
              <a:buChar char="•"/>
            </a:pPr>
            <a:r>
              <a:rPr lang="en-AU" sz="1200" kern="1200" dirty="0" smtClean="0">
                <a:solidFill>
                  <a:schemeClr val="tx1"/>
                </a:solidFill>
                <a:latin typeface="+mn-lt"/>
                <a:ea typeface="+mn-ea"/>
                <a:cs typeface="+mn-cs"/>
              </a:rPr>
              <a:t> Disposing of any food dropped on the floor </a:t>
            </a:r>
          </a:p>
          <a:p>
            <a:pPr>
              <a:buFont typeface="Arial" pitchFamily="34" charset="0"/>
              <a:buChar char="•"/>
            </a:pPr>
            <a:r>
              <a:rPr lang="en-AU" sz="1200" kern="1200" dirty="0" smtClean="0">
                <a:solidFill>
                  <a:schemeClr val="tx1"/>
                </a:solidFill>
                <a:latin typeface="+mn-lt"/>
                <a:ea typeface="+mn-ea"/>
                <a:cs typeface="+mn-cs"/>
              </a:rPr>
              <a:t> Disposing of any food returned from a patron – this includes food and beverage items</a:t>
            </a:r>
          </a:p>
          <a:p>
            <a:pPr>
              <a:buFont typeface="Arial" pitchFamily="34" charset="0"/>
              <a:buChar char="•"/>
            </a:pPr>
            <a:r>
              <a:rPr lang="en-AU" sz="1200" kern="1200" dirty="0" smtClean="0">
                <a:solidFill>
                  <a:schemeClr val="tx1"/>
                </a:solidFill>
                <a:latin typeface="+mn-lt"/>
                <a:ea typeface="+mn-ea"/>
                <a:cs typeface="+mn-cs"/>
              </a:rPr>
              <a:t> Disposing of any single-use item which has been used once and/or has become contaminated (or is suspected of being contaminated) for any reason – more information on later slides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Inspecting food deliveries into the premises to ensure they are not contaminated by any visible sources.</a:t>
            </a:r>
          </a:p>
          <a:p>
            <a:pPr>
              <a:buFont typeface="Arial" pitchFamily="34" charset="0"/>
              <a:buNone/>
            </a:pPr>
            <a:endParaRPr lang="en-AU" noProof="0" dirty="0" smtClean="0"/>
          </a:p>
          <a:p>
            <a:pPr>
              <a:buFont typeface="Arial" pitchFamily="34" charset="0"/>
              <a:buNone/>
            </a:pPr>
            <a:r>
              <a:rPr lang="en-AU" b="1" noProof="0" dirty="0" smtClean="0"/>
              <a:t>Class Activity – Presentation</a:t>
            </a:r>
          </a:p>
          <a:p>
            <a:pPr>
              <a:buFont typeface="Arial" pitchFamily="34" charset="0"/>
              <a:buNone/>
            </a:pPr>
            <a:r>
              <a:rPr lang="en-AU" b="0" noProof="0" dirty="0" smtClean="0"/>
              <a:t>Trainer shows class examples/samples of single-use items.</a:t>
            </a:r>
          </a:p>
          <a:p>
            <a:pPr>
              <a:buFont typeface="Arial" pitchFamily="34" charset="0"/>
              <a:buChar char="•"/>
            </a:pPr>
            <a:r>
              <a:rPr lang="en-AU" sz="1200" kern="1200" dirty="0" smtClean="0">
                <a:solidFill>
                  <a:schemeClr val="tx1"/>
                </a:solidFill>
                <a:latin typeface="+mn-lt"/>
                <a:ea typeface="+mn-ea"/>
                <a:cs typeface="+mn-cs"/>
              </a:rPr>
              <a:t> Take-away food and drink containers </a:t>
            </a:r>
          </a:p>
          <a:p>
            <a:pPr>
              <a:buFont typeface="Arial" pitchFamily="34" charset="0"/>
              <a:buChar char="•"/>
            </a:pPr>
            <a:r>
              <a:rPr lang="en-AU" sz="1200" kern="1200" dirty="0" smtClean="0">
                <a:solidFill>
                  <a:schemeClr val="tx1"/>
                </a:solidFill>
                <a:latin typeface="+mn-lt"/>
                <a:ea typeface="+mn-ea"/>
                <a:cs typeface="+mn-cs"/>
              </a:rPr>
              <a:t> Drinking straws</a:t>
            </a:r>
          </a:p>
          <a:p>
            <a:pPr>
              <a:buFont typeface="Arial" pitchFamily="34" charset="0"/>
              <a:buChar char="•"/>
            </a:pPr>
            <a:r>
              <a:rPr lang="en-AU" sz="1200" kern="1200" dirty="0" smtClean="0">
                <a:solidFill>
                  <a:schemeClr val="tx1"/>
                </a:solidFill>
                <a:latin typeface="+mn-lt"/>
                <a:ea typeface="+mn-ea"/>
                <a:cs typeface="+mn-cs"/>
              </a:rPr>
              <a:t> Disposable gloves</a:t>
            </a:r>
          </a:p>
          <a:p>
            <a:pPr>
              <a:buFont typeface="Arial" pitchFamily="34" charset="0"/>
              <a:buChar char="•"/>
            </a:pPr>
            <a:r>
              <a:rPr lang="en-AU" sz="1200" kern="1200" dirty="0" smtClean="0">
                <a:solidFill>
                  <a:schemeClr val="tx1"/>
                </a:solidFill>
                <a:latin typeface="+mn-lt"/>
                <a:ea typeface="+mn-ea"/>
                <a:cs typeface="+mn-cs"/>
              </a:rPr>
              <a:t> Plastic cutlery</a:t>
            </a:r>
          </a:p>
          <a:p>
            <a:pPr>
              <a:buFont typeface="Arial" pitchFamily="34" charset="0"/>
              <a:buChar char="•"/>
            </a:pPr>
            <a:r>
              <a:rPr lang="en-AU" sz="1200" kern="1200" dirty="0" smtClean="0">
                <a:solidFill>
                  <a:schemeClr val="tx1"/>
                </a:solidFill>
                <a:latin typeface="+mn-lt"/>
                <a:ea typeface="+mn-ea"/>
                <a:cs typeface="+mn-cs"/>
              </a:rPr>
              <a:t> Food wrappers – around items such as hamburgers and other take-away menu items.</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37214351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informs students on practical </a:t>
            </a:r>
            <a:r>
              <a:rPr lang="en-AU" sz="1200" kern="1200" dirty="0" smtClean="0">
                <a:solidFill>
                  <a:schemeClr val="tx1"/>
                </a:solidFill>
                <a:latin typeface="+mn-lt"/>
                <a:ea typeface="+mn-ea"/>
                <a:cs typeface="+mn-cs"/>
              </a:rPr>
              <a:t>measures to </a:t>
            </a:r>
            <a:r>
              <a:rPr lang="en-AU" sz="1200" b="0" kern="1200" dirty="0" smtClean="0">
                <a:solidFill>
                  <a:schemeClr val="tx1"/>
                </a:solidFill>
                <a:latin typeface="+mn-lt"/>
                <a:ea typeface="+mn-ea"/>
                <a:cs typeface="+mn-cs"/>
              </a:rPr>
              <a:t>prevent direct contact with ready-to-eat foods</a:t>
            </a:r>
            <a:r>
              <a:rPr lang="en-AU" sz="1200" kern="1200" dirty="0" smtClean="0">
                <a:solidFill>
                  <a:schemeClr val="tx1"/>
                </a:solidFill>
                <a:latin typeface="+mn-lt"/>
                <a:ea typeface="+mn-ea"/>
                <a:cs typeface="+mn-cs"/>
              </a:rPr>
              <a:t>:</a:t>
            </a:r>
          </a:p>
          <a:p>
            <a:pPr>
              <a:buFont typeface="Arial" pitchFamily="34" charset="0"/>
              <a:buChar char="•"/>
            </a:pPr>
            <a:r>
              <a:rPr lang="en-AU" sz="1200" kern="1200" dirty="0" smtClean="0">
                <a:solidFill>
                  <a:schemeClr val="tx1"/>
                </a:solidFill>
                <a:latin typeface="+mn-lt"/>
                <a:ea typeface="+mn-ea"/>
                <a:cs typeface="+mn-cs"/>
              </a:rPr>
              <a:t> Wearing disposable gloves – and changing them as required (see following slides)</a:t>
            </a:r>
          </a:p>
          <a:p>
            <a:pPr>
              <a:buFont typeface="Arial" pitchFamily="34" charset="0"/>
              <a:buChar char="•"/>
            </a:pPr>
            <a:r>
              <a:rPr lang="en-AU" sz="1200" kern="1200" dirty="0" smtClean="0">
                <a:solidFill>
                  <a:schemeClr val="tx1"/>
                </a:solidFill>
                <a:latin typeface="+mn-lt"/>
                <a:ea typeface="+mn-ea"/>
                <a:cs typeface="+mn-cs"/>
              </a:rPr>
              <a:t> Using utensils (tongs, spatulas, forks, spoons) instead of bare hands to handle ready-to-eat food </a:t>
            </a:r>
          </a:p>
          <a:p>
            <a:pPr>
              <a:buFont typeface="Arial" pitchFamily="34" charset="0"/>
              <a:buChar char="•"/>
            </a:pPr>
            <a:r>
              <a:rPr lang="en-AU" sz="1200" kern="1200" dirty="0" smtClean="0">
                <a:solidFill>
                  <a:schemeClr val="tx1"/>
                </a:solidFill>
                <a:latin typeface="+mn-lt"/>
                <a:ea typeface="+mn-ea"/>
                <a:cs typeface="+mn-cs"/>
              </a:rPr>
              <a:t> Using paper (tissue/packaging materials for take-away food) to act as a barrier between ready-to-eat foods and bare hands.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 Activity – Demonstration </a:t>
            </a:r>
          </a:p>
          <a:p>
            <a:pPr>
              <a:buFont typeface="Arial" pitchFamily="34" charset="0"/>
              <a:buNone/>
            </a:pPr>
            <a:r>
              <a:rPr lang="en-AU" sz="1200" b="0" kern="1200" dirty="0" smtClean="0">
                <a:solidFill>
                  <a:schemeClr val="tx1"/>
                </a:solidFill>
                <a:latin typeface="+mn-lt"/>
                <a:ea typeface="+mn-ea"/>
                <a:cs typeface="+mn-cs"/>
              </a:rPr>
              <a:t>Trainer demonstrates the practices identified on the slide for preventing direct contact between hands and foods.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1014354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instructs trainees on the use of disposable gloves by food handlers stating:</a:t>
            </a:r>
          </a:p>
          <a:p>
            <a:pPr>
              <a:buFont typeface="Arial" pitchFamily="34" charset="0"/>
              <a:buChar char="•"/>
            </a:pPr>
            <a:r>
              <a:rPr lang="en-AU" sz="1200" kern="1200" dirty="0" smtClean="0">
                <a:solidFill>
                  <a:schemeClr val="tx1"/>
                </a:solidFill>
                <a:latin typeface="+mn-lt"/>
                <a:ea typeface="+mn-ea"/>
                <a:cs typeface="+mn-cs"/>
              </a:rPr>
              <a:t> The use of protective, disposable gloves in food handling is an excellent safe food handling practice but gloves do not/can not fix all food hygiene problems and requirements relating to the use/wearing of disposable gloves include:</a:t>
            </a:r>
          </a:p>
          <a:p>
            <a:pPr lvl="1">
              <a:buFont typeface="Arial" pitchFamily="34" charset="0"/>
              <a:buChar char="•"/>
            </a:pPr>
            <a:r>
              <a:rPr lang="en-AU" sz="1200" kern="1200" dirty="0" smtClean="0">
                <a:solidFill>
                  <a:schemeClr val="tx1"/>
                </a:solidFill>
                <a:latin typeface="+mn-lt"/>
                <a:ea typeface="+mn-ea"/>
                <a:cs typeface="+mn-cs"/>
              </a:rPr>
              <a:t> Change gloves immediately they are ripped/torn</a:t>
            </a:r>
          </a:p>
          <a:p>
            <a:pPr lvl="1">
              <a:buFont typeface="Arial" pitchFamily="34" charset="0"/>
              <a:buChar char="•"/>
            </a:pPr>
            <a:r>
              <a:rPr lang="en-AU" sz="1200" kern="1200" dirty="0" smtClean="0">
                <a:solidFill>
                  <a:schemeClr val="tx1"/>
                </a:solidFill>
                <a:latin typeface="+mn-lt"/>
                <a:ea typeface="+mn-ea"/>
                <a:cs typeface="+mn-cs"/>
              </a:rPr>
              <a:t> Change gloves between handling raw high-risk food and cooked, ready-to-eat foods</a:t>
            </a:r>
          </a:p>
          <a:p>
            <a:pPr lvl="1">
              <a:buFont typeface="Arial" pitchFamily="34" charset="0"/>
              <a:buChar char="•"/>
            </a:pPr>
            <a:r>
              <a:rPr lang="en-AU" sz="1200" kern="1200" dirty="0" smtClean="0">
                <a:solidFill>
                  <a:schemeClr val="tx1"/>
                </a:solidFill>
                <a:latin typeface="+mn-lt"/>
                <a:ea typeface="+mn-ea"/>
                <a:cs typeface="+mn-cs"/>
              </a:rPr>
              <a:t> Change gloves every hour regardless</a:t>
            </a:r>
          </a:p>
          <a:p>
            <a:pPr lvl="1">
              <a:buFont typeface="Arial" pitchFamily="34" charset="0"/>
              <a:buChar char="•"/>
            </a:pPr>
            <a:r>
              <a:rPr lang="en-AU" sz="1200" kern="1200" dirty="0" smtClean="0">
                <a:solidFill>
                  <a:schemeClr val="tx1"/>
                </a:solidFill>
                <a:latin typeface="+mn-lt"/>
                <a:ea typeface="+mn-ea"/>
                <a:cs typeface="+mn-cs"/>
              </a:rPr>
              <a:t> If handling money do not use gloved hand to handle food.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28607687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instruct trainees on the use of disposable gloves by food handlers:</a:t>
            </a:r>
          </a:p>
          <a:p>
            <a:pPr>
              <a:buFont typeface="Arial" pitchFamily="34" charset="0"/>
              <a:buChar char="•"/>
            </a:pPr>
            <a:r>
              <a:rPr lang="en-AU" sz="1200" kern="1200" dirty="0" smtClean="0">
                <a:solidFill>
                  <a:schemeClr val="tx1"/>
                </a:solidFill>
                <a:latin typeface="+mn-lt"/>
                <a:ea typeface="+mn-ea"/>
                <a:cs typeface="+mn-cs"/>
              </a:rPr>
              <a:t> If changing gloves during service ensure they are not taken off over food/food surfaces if the gloves contain powder as the powder may provide a source of contamination</a:t>
            </a:r>
          </a:p>
          <a:p>
            <a:pPr>
              <a:buFont typeface="Arial" pitchFamily="34" charset="0"/>
              <a:buChar char="•"/>
            </a:pPr>
            <a:r>
              <a:rPr lang="en-AU" sz="1200" kern="1200" dirty="0" smtClean="0">
                <a:solidFill>
                  <a:schemeClr val="tx1"/>
                </a:solidFill>
                <a:latin typeface="+mn-lt"/>
                <a:ea typeface="+mn-ea"/>
                <a:cs typeface="+mn-cs"/>
              </a:rPr>
              <a:t> Do not try to put on gloves that have already been used</a:t>
            </a:r>
          </a:p>
          <a:p>
            <a:pPr>
              <a:buFont typeface="Arial" pitchFamily="34" charset="0"/>
              <a:buChar char="•"/>
            </a:pPr>
            <a:r>
              <a:rPr lang="en-AU" sz="1200" kern="1200" dirty="0" smtClean="0">
                <a:solidFill>
                  <a:schemeClr val="tx1"/>
                </a:solidFill>
                <a:latin typeface="+mn-lt"/>
                <a:ea typeface="+mn-ea"/>
                <a:cs typeface="+mn-cs"/>
              </a:rPr>
              <a:t> Do not turn gloves inside out and try to wear them again</a:t>
            </a:r>
          </a:p>
          <a:p>
            <a:pPr>
              <a:buFont typeface="Arial" pitchFamily="34" charset="0"/>
              <a:buChar char="•"/>
            </a:pPr>
            <a:r>
              <a:rPr lang="en-AU" sz="1200" kern="1200" dirty="0" smtClean="0">
                <a:solidFill>
                  <a:schemeClr val="tx1"/>
                </a:solidFill>
                <a:latin typeface="+mn-lt"/>
                <a:ea typeface="+mn-ea"/>
                <a:cs typeface="+mn-cs"/>
              </a:rPr>
              <a:t> Change gloves whenever they become contaminated from whatever source – raw food, blood, sneezing, chemicals, scratching the face, handling rubbish</a:t>
            </a:r>
          </a:p>
          <a:p>
            <a:pPr>
              <a:buFont typeface="Arial" pitchFamily="34" charset="0"/>
              <a:buChar char="•"/>
            </a:pPr>
            <a:r>
              <a:rPr lang="en-AU" sz="1200" kern="1200" dirty="0" smtClean="0">
                <a:solidFill>
                  <a:schemeClr val="tx1"/>
                </a:solidFill>
                <a:latin typeface="+mn-lt"/>
                <a:ea typeface="+mn-ea"/>
                <a:cs typeface="+mn-cs"/>
              </a:rPr>
              <a:t> Whenever required to wash hands, gloves should be changed.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160877905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re-visits single-use items stating:</a:t>
            </a:r>
          </a:p>
          <a:p>
            <a:pPr>
              <a:buFont typeface="Arial" pitchFamily="34" charset="0"/>
              <a:buChar char="•"/>
            </a:pPr>
            <a:r>
              <a:rPr lang="en-AU" sz="1200" kern="1200" dirty="0" smtClean="0">
                <a:solidFill>
                  <a:schemeClr val="tx1"/>
                </a:solidFill>
                <a:latin typeface="+mn-lt"/>
                <a:ea typeface="+mn-ea"/>
                <a:cs typeface="+mn-cs"/>
              </a:rPr>
              <a:t> Must not be used more than once by the business – customers are free to re-use them at home as they see fit</a:t>
            </a:r>
          </a:p>
          <a:p>
            <a:pPr lvl="1">
              <a:buFont typeface="Arial" pitchFamily="34" charset="0"/>
              <a:buChar char="•"/>
            </a:pPr>
            <a:r>
              <a:rPr lang="en-AU" sz="1200" kern="1200" dirty="0" smtClean="0">
                <a:solidFill>
                  <a:schemeClr val="tx1"/>
                </a:solidFill>
                <a:latin typeface="+mn-lt"/>
                <a:ea typeface="+mn-ea"/>
                <a:cs typeface="+mn-cs"/>
              </a:rPr>
              <a:t> Note single-use containers may, however, be used for non-food activities – such as collecting or storing dirty cutlery.</a:t>
            </a:r>
          </a:p>
          <a:p>
            <a:pPr>
              <a:buFont typeface="Arial" pitchFamily="34" charset="0"/>
              <a:buChar char="•"/>
            </a:pPr>
            <a:r>
              <a:rPr lang="en-AU" sz="1200" kern="1200" dirty="0" smtClean="0">
                <a:solidFill>
                  <a:schemeClr val="tx1"/>
                </a:solidFill>
                <a:latin typeface="+mn-lt"/>
                <a:ea typeface="+mn-ea"/>
                <a:cs typeface="+mn-cs"/>
              </a:rPr>
              <a:t> Must be stored and/or displayed so as to be protected from contamination – this contamination may be from:</a:t>
            </a:r>
          </a:p>
          <a:p>
            <a:pPr lvl="1">
              <a:buFont typeface="Arial" pitchFamily="34" charset="0"/>
              <a:buChar char="•"/>
            </a:pPr>
            <a:r>
              <a:rPr lang="en-AU" sz="1200" kern="1200" dirty="0" smtClean="0">
                <a:solidFill>
                  <a:schemeClr val="tx1"/>
                </a:solidFill>
                <a:latin typeface="+mn-lt"/>
                <a:ea typeface="+mn-ea"/>
                <a:cs typeface="+mn-cs"/>
              </a:rPr>
              <a:t> Flies, pests and vermin</a:t>
            </a:r>
          </a:p>
          <a:p>
            <a:pPr lvl="1">
              <a:buFont typeface="Arial" pitchFamily="34" charset="0"/>
              <a:buChar char="•"/>
            </a:pPr>
            <a:r>
              <a:rPr lang="en-AU" sz="1200" kern="1200" dirty="0" smtClean="0">
                <a:solidFill>
                  <a:schemeClr val="tx1"/>
                </a:solidFill>
                <a:latin typeface="+mn-lt"/>
                <a:ea typeface="+mn-ea"/>
                <a:cs typeface="+mn-cs"/>
              </a:rPr>
              <a:t> An infected food handler</a:t>
            </a:r>
          </a:p>
          <a:p>
            <a:pPr lvl="1">
              <a:buFont typeface="Arial" pitchFamily="34" charset="0"/>
              <a:buChar char="•"/>
            </a:pPr>
            <a:r>
              <a:rPr lang="en-AU" sz="1200" kern="1200" dirty="0" smtClean="0">
                <a:solidFill>
                  <a:schemeClr val="tx1"/>
                </a:solidFill>
                <a:latin typeface="+mn-lt"/>
                <a:ea typeface="+mn-ea"/>
                <a:cs typeface="+mn-cs"/>
              </a:rPr>
              <a:t> Airborne contamination</a:t>
            </a:r>
          </a:p>
          <a:p>
            <a:pPr lvl="1">
              <a:buFont typeface="Arial" pitchFamily="34" charset="0"/>
              <a:buChar char="•"/>
            </a:pPr>
            <a:r>
              <a:rPr lang="en-AU" sz="1200" kern="1200" dirty="0" smtClean="0">
                <a:solidFill>
                  <a:schemeClr val="tx1"/>
                </a:solidFill>
                <a:latin typeface="+mn-lt"/>
                <a:ea typeface="+mn-ea"/>
                <a:cs typeface="+mn-cs"/>
              </a:rPr>
              <a:t> Physical contamination</a:t>
            </a:r>
          </a:p>
          <a:p>
            <a:pPr lvl="1">
              <a:buFont typeface="Arial" pitchFamily="34" charset="0"/>
              <a:buChar char="•"/>
            </a:pPr>
            <a:r>
              <a:rPr lang="en-AU" sz="1200" kern="1200" dirty="0" smtClean="0">
                <a:solidFill>
                  <a:schemeClr val="tx1"/>
                </a:solidFill>
                <a:latin typeface="+mn-lt"/>
                <a:ea typeface="+mn-ea"/>
                <a:cs typeface="+mn-cs"/>
              </a:rPr>
              <a:t> Customers</a:t>
            </a:r>
          </a:p>
          <a:p>
            <a:pPr>
              <a:buFont typeface="Arial" pitchFamily="34" charset="0"/>
              <a:buChar char="•"/>
            </a:pPr>
            <a:r>
              <a:rPr lang="en-AU" sz="1200" kern="1200" dirty="0" smtClean="0">
                <a:solidFill>
                  <a:schemeClr val="tx1"/>
                </a:solidFill>
                <a:latin typeface="+mn-lt"/>
                <a:ea typeface="+mn-ea"/>
                <a:cs typeface="+mn-cs"/>
              </a:rPr>
              <a:t> Must not be used if it has been contaminated – or there is a suspicion it may have been contaminated. This may mean:</a:t>
            </a:r>
          </a:p>
          <a:p>
            <a:pPr lvl="1">
              <a:buFont typeface="Arial" pitchFamily="34" charset="0"/>
              <a:buChar char="•"/>
            </a:pPr>
            <a:r>
              <a:rPr lang="en-AU" sz="1200" kern="1200" dirty="0" smtClean="0">
                <a:solidFill>
                  <a:schemeClr val="tx1"/>
                </a:solidFill>
                <a:latin typeface="+mn-lt"/>
                <a:ea typeface="+mn-ea"/>
                <a:cs typeface="+mn-cs"/>
              </a:rPr>
              <a:t> Disposing of any single-use items handled by customers</a:t>
            </a:r>
          </a:p>
          <a:p>
            <a:pPr lvl="1">
              <a:buFont typeface="Arial" pitchFamily="34" charset="0"/>
              <a:buChar char="•"/>
            </a:pPr>
            <a:r>
              <a:rPr lang="en-AU" sz="1200" kern="1200" dirty="0" smtClean="0">
                <a:solidFill>
                  <a:schemeClr val="tx1"/>
                </a:solidFill>
                <a:latin typeface="+mn-lt"/>
                <a:ea typeface="+mn-ea"/>
                <a:cs typeface="+mn-cs"/>
              </a:rPr>
              <a:t> Disposing of any single-use items which have been dropped on the floor</a:t>
            </a:r>
          </a:p>
          <a:p>
            <a:pPr lvl="1">
              <a:buFont typeface="Arial" pitchFamily="34" charset="0"/>
              <a:buChar char="•"/>
            </a:pPr>
            <a:r>
              <a:rPr lang="en-AU" sz="1200" kern="1200" dirty="0" smtClean="0">
                <a:solidFill>
                  <a:schemeClr val="tx1"/>
                </a:solidFill>
                <a:latin typeface="+mn-lt"/>
                <a:ea typeface="+mn-ea"/>
                <a:cs typeface="+mn-cs"/>
              </a:rPr>
              <a:t> Disposing of any single-use items where the protective packaging they were delivered in has been compromised</a:t>
            </a:r>
          </a:p>
          <a:p>
            <a:pPr>
              <a:buFont typeface="Arial" pitchFamily="34" charset="0"/>
              <a:buChar char="•"/>
            </a:pPr>
            <a:r>
              <a:rPr lang="en-AU" sz="1200" kern="1200" dirty="0" smtClean="0">
                <a:solidFill>
                  <a:schemeClr val="tx1"/>
                </a:solidFill>
                <a:latin typeface="+mn-lt"/>
                <a:ea typeface="+mn-ea"/>
                <a:cs typeface="+mn-cs"/>
              </a:rPr>
              <a:t> Must be clean in order for it to be safely used – meaning free from visible contamination of any sort (including food).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218054548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provides </a:t>
            </a:r>
            <a:r>
              <a:rPr lang="en-AU" sz="1200" kern="1200" dirty="0" smtClean="0">
                <a:solidFill>
                  <a:schemeClr val="tx1"/>
                </a:solidFill>
                <a:latin typeface="+mn-lt"/>
                <a:ea typeface="+mn-ea"/>
                <a:cs typeface="+mn-cs"/>
              </a:rPr>
              <a:t>practical measures in relation to single-use items include:</a:t>
            </a:r>
          </a:p>
          <a:p>
            <a:pPr>
              <a:buFont typeface="Arial" pitchFamily="34" charset="0"/>
              <a:buChar char="•"/>
            </a:pPr>
            <a:r>
              <a:rPr lang="en-AU" sz="1200" kern="1200" dirty="0" smtClean="0">
                <a:solidFill>
                  <a:schemeClr val="tx1"/>
                </a:solidFill>
                <a:latin typeface="+mn-lt"/>
                <a:ea typeface="+mn-ea"/>
                <a:cs typeface="+mn-cs"/>
              </a:rPr>
              <a:t> Not preparing take-away containers (for example, pizza boxes) in advance and leaving them ‘open’ – this allows airborne and other contamination to settle inside the boxes on the food contact area: pizza boxes should be constructed ‘to order’</a:t>
            </a:r>
          </a:p>
          <a:p>
            <a:pPr>
              <a:buFont typeface="Arial" pitchFamily="34" charset="0"/>
              <a:buChar char="•"/>
            </a:pPr>
            <a:r>
              <a:rPr lang="en-AU" sz="1200" kern="1200" dirty="0" smtClean="0">
                <a:solidFill>
                  <a:schemeClr val="tx1"/>
                </a:solidFill>
                <a:latin typeface="+mn-lt"/>
                <a:ea typeface="+mn-ea"/>
                <a:cs typeface="+mn-cs"/>
              </a:rPr>
              <a:t> Providing drinking straws in containers to allow one straw at a time to be dispensed without others in the container being touched: an alternative is to only use individually wrapped drinking straws</a:t>
            </a:r>
          </a:p>
          <a:p>
            <a:pPr>
              <a:buFont typeface="Arial" pitchFamily="34" charset="0"/>
              <a:buChar char="•"/>
            </a:pPr>
            <a:r>
              <a:rPr lang="en-AU" sz="1200" kern="1200" dirty="0" smtClean="0">
                <a:solidFill>
                  <a:schemeClr val="tx1"/>
                </a:solidFill>
                <a:latin typeface="+mn-lt"/>
                <a:ea typeface="+mn-ea"/>
                <a:cs typeface="+mn-cs"/>
              </a:rPr>
              <a:t> Storing take-away food containers (for food and beverages) upside down – so the food contact surface of the container is not exposed.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331797058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providing </a:t>
            </a:r>
            <a:r>
              <a:rPr lang="en-AU" sz="1200" kern="1200" dirty="0" smtClean="0">
                <a:solidFill>
                  <a:schemeClr val="tx1"/>
                </a:solidFill>
                <a:latin typeface="+mn-lt"/>
                <a:ea typeface="+mn-ea"/>
                <a:cs typeface="+mn-cs"/>
              </a:rPr>
              <a:t>practical measures in relation to single-use items:</a:t>
            </a:r>
          </a:p>
          <a:p>
            <a:pPr>
              <a:buFont typeface="Arial" pitchFamily="34" charset="0"/>
              <a:buChar char="•"/>
            </a:pPr>
            <a:r>
              <a:rPr lang="en-AU" sz="1200" kern="1200" dirty="0" smtClean="0">
                <a:solidFill>
                  <a:schemeClr val="tx1"/>
                </a:solidFill>
                <a:latin typeface="+mn-lt"/>
                <a:ea typeface="+mn-ea"/>
                <a:cs typeface="+mn-cs"/>
              </a:rPr>
              <a:t> Storing the lids to take away containers safely – so that the side that makes contact with the drink/food is protected</a:t>
            </a:r>
          </a:p>
          <a:p>
            <a:pPr>
              <a:buFont typeface="Arial" pitchFamily="34" charset="0"/>
              <a:buChar char="•"/>
            </a:pPr>
            <a:r>
              <a:rPr lang="en-AU" sz="1200" kern="1200" dirty="0" smtClean="0">
                <a:solidFill>
                  <a:schemeClr val="tx1"/>
                </a:solidFill>
                <a:latin typeface="+mn-lt"/>
                <a:ea typeface="+mn-ea"/>
                <a:cs typeface="+mn-cs"/>
              </a:rPr>
              <a:t> Disposable cutlery should be kept covered or individually wrapped</a:t>
            </a:r>
          </a:p>
          <a:p>
            <a:pPr>
              <a:buFont typeface="Arial" pitchFamily="34" charset="0"/>
              <a:buChar char="•"/>
            </a:pPr>
            <a:r>
              <a:rPr lang="en-AU" sz="1200" kern="1200" dirty="0" smtClean="0">
                <a:solidFill>
                  <a:schemeClr val="tx1"/>
                </a:solidFill>
                <a:latin typeface="+mn-lt"/>
                <a:ea typeface="+mn-ea"/>
                <a:cs typeface="+mn-cs"/>
              </a:rPr>
              <a:t> Toothpicks should be individually wrapped</a:t>
            </a:r>
          </a:p>
          <a:p>
            <a:pPr>
              <a:buFont typeface="Arial" pitchFamily="34" charset="0"/>
              <a:buChar char="•"/>
            </a:pPr>
            <a:r>
              <a:rPr lang="en-AU" sz="1200" kern="1200" dirty="0" smtClean="0">
                <a:solidFill>
                  <a:schemeClr val="tx1"/>
                </a:solidFill>
                <a:latin typeface="+mn-lt"/>
                <a:ea typeface="+mn-ea"/>
                <a:cs typeface="+mn-cs"/>
              </a:rPr>
              <a:t> Disposing of any portion control units which have been damaged or already handled by customers. </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Presentation and Demonstration</a:t>
            </a:r>
          </a:p>
          <a:p>
            <a:r>
              <a:rPr lang="en-AU" sz="1200" b="0" kern="1200" dirty="0" smtClean="0">
                <a:solidFill>
                  <a:schemeClr val="tx1"/>
                </a:solidFill>
                <a:latin typeface="+mn-lt"/>
                <a:ea typeface="+mn-ea"/>
                <a:cs typeface="+mn-cs"/>
              </a:rPr>
              <a:t>Trainer:</a:t>
            </a:r>
          </a:p>
          <a:p>
            <a:pPr>
              <a:buFont typeface="Arial" pitchFamily="34" charset="0"/>
              <a:buChar char="•"/>
            </a:pPr>
            <a:r>
              <a:rPr lang="en-AU" sz="1200" b="0" kern="1200" dirty="0" smtClean="0">
                <a:solidFill>
                  <a:schemeClr val="tx1"/>
                </a:solidFill>
                <a:latin typeface="+mn-lt"/>
                <a:ea typeface="+mn-ea"/>
                <a:cs typeface="+mn-cs"/>
              </a:rPr>
              <a:t> Presents examples of containers which can be used to safely provide drinking straws to customers</a:t>
            </a:r>
          </a:p>
          <a:p>
            <a:pPr>
              <a:buFont typeface="Arial" pitchFamily="34" charset="0"/>
              <a:buChar char="•"/>
            </a:pPr>
            <a:r>
              <a:rPr lang="en-AU" sz="1200" b="0" kern="1200" dirty="0" smtClean="0">
                <a:solidFill>
                  <a:schemeClr val="tx1"/>
                </a:solidFill>
                <a:latin typeface="+mn-lt"/>
                <a:ea typeface="+mn-ea"/>
                <a:cs typeface="+mn-cs"/>
              </a:rPr>
              <a:t> Presents sample PC units/products</a:t>
            </a:r>
          </a:p>
          <a:p>
            <a:pPr>
              <a:buFont typeface="Arial" pitchFamily="34" charset="0"/>
              <a:buChar char="•"/>
            </a:pPr>
            <a:r>
              <a:rPr lang="en-AU" sz="1200" b="0" kern="1200" dirty="0" smtClean="0">
                <a:solidFill>
                  <a:schemeClr val="tx1"/>
                </a:solidFill>
                <a:latin typeface="+mn-lt"/>
                <a:ea typeface="+mn-ea"/>
                <a:cs typeface="+mn-cs"/>
              </a:rPr>
              <a:t> Demonstrates correct storage of take-away containers, lids and cutlery.</a:t>
            </a:r>
          </a:p>
          <a:p>
            <a:pPr>
              <a:buFont typeface="Arial" pitchFamily="34" charset="0"/>
              <a:buChar char="•"/>
            </a:pP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8291606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28561241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80940778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handling and storing foodstuffs by asking questions such as:</a:t>
            </a:r>
          </a:p>
          <a:p>
            <a:pPr>
              <a:buFont typeface="Arial" pitchFamily="34" charset="0"/>
              <a:buChar char="•"/>
            </a:pPr>
            <a:r>
              <a:rPr lang="en-US" b="0" dirty="0" smtClean="0"/>
              <a:t> What guidelines</a:t>
            </a:r>
            <a:r>
              <a:rPr lang="en-US" b="0" baseline="0" dirty="0" smtClean="0"/>
              <a:t> do you think venues have regarding the safe and effective storage of food</a:t>
            </a:r>
            <a:r>
              <a:rPr lang="en-US" b="0" dirty="0" smtClean="0"/>
              <a:t>?</a:t>
            </a:r>
          </a:p>
          <a:p>
            <a:pPr>
              <a:buFont typeface="Arial" pitchFamily="34" charset="0"/>
              <a:buChar char="•"/>
            </a:pPr>
            <a:r>
              <a:rPr lang="en-US" b="0" dirty="0" smtClean="0"/>
              <a:t> Why is it important to store food correctly?</a:t>
            </a:r>
          </a:p>
          <a:p>
            <a:pPr>
              <a:buFont typeface="Arial" pitchFamily="34" charset="0"/>
              <a:buChar char="•"/>
            </a:pPr>
            <a:r>
              <a:rPr lang="en-US" b="0" dirty="0" smtClean="0"/>
              <a:t> What do you think are correct food storage requirements for dry food, refrigerated food and frozen food?</a:t>
            </a:r>
          </a:p>
          <a:p>
            <a:pPr>
              <a:buFont typeface="Arial" pitchFamily="34" charset="0"/>
              <a:buChar char="•"/>
            </a:pPr>
            <a:r>
              <a:rPr lang="en-US" b="0" dirty="0" smtClean="0"/>
              <a:t> What do you think is meant by the term ‘Temperature Danger Zone’?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4792053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the three storage options for food</a:t>
            </a:r>
            <a:r>
              <a:rPr lang="en-AU" baseline="0" noProof="0" dirty="0" smtClean="0"/>
              <a:t> explaining details will be provided on following slides:</a:t>
            </a:r>
          </a:p>
          <a:p>
            <a:pPr>
              <a:buFont typeface="Arial" pitchFamily="34" charset="0"/>
              <a:buChar char="•"/>
            </a:pPr>
            <a:r>
              <a:rPr lang="en-AU" sz="1200" kern="1200" dirty="0" smtClean="0">
                <a:solidFill>
                  <a:schemeClr val="tx1"/>
                </a:solidFill>
                <a:latin typeface="+mn-lt"/>
                <a:ea typeface="+mn-ea"/>
                <a:cs typeface="+mn-cs"/>
              </a:rPr>
              <a:t> Dry goods storage </a:t>
            </a:r>
          </a:p>
          <a:p>
            <a:pPr>
              <a:buFont typeface="Arial" pitchFamily="34" charset="0"/>
              <a:buChar char="•"/>
            </a:pPr>
            <a:r>
              <a:rPr lang="en-AU" sz="1200" kern="1200" dirty="0" smtClean="0">
                <a:solidFill>
                  <a:schemeClr val="tx1"/>
                </a:solidFill>
                <a:latin typeface="+mn-lt"/>
                <a:ea typeface="+mn-ea"/>
                <a:cs typeface="+mn-cs"/>
              </a:rPr>
              <a:t> Refrigerated goods storage</a:t>
            </a:r>
          </a:p>
          <a:p>
            <a:pPr>
              <a:buFont typeface="Arial" pitchFamily="34" charset="0"/>
              <a:buChar char="•"/>
            </a:pPr>
            <a:r>
              <a:rPr lang="en-AU" sz="1200" kern="1200" dirty="0" smtClean="0">
                <a:solidFill>
                  <a:schemeClr val="tx1"/>
                </a:solidFill>
                <a:latin typeface="+mn-lt"/>
                <a:ea typeface="+mn-ea"/>
                <a:cs typeface="+mn-cs"/>
              </a:rPr>
              <a:t> Frozen goods storage.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97056319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basic</a:t>
            </a:r>
            <a:r>
              <a:rPr lang="en-AU" sz="1200" kern="1200" dirty="0" smtClean="0">
                <a:solidFill>
                  <a:schemeClr val="tx1"/>
                </a:solidFill>
                <a:latin typeface="+mn-lt"/>
                <a:ea typeface="+mn-ea"/>
                <a:cs typeface="+mn-cs"/>
              </a:rPr>
              <a:t>/standard safe food handling requirements in relation to food storage are:</a:t>
            </a:r>
          </a:p>
          <a:p>
            <a:pPr>
              <a:buFont typeface="Arial" pitchFamily="34" charset="0"/>
              <a:buChar char="•"/>
            </a:pPr>
            <a:r>
              <a:rPr lang="en-AU" sz="1200" kern="1200" dirty="0" smtClean="0">
                <a:solidFill>
                  <a:schemeClr val="tx1"/>
                </a:solidFill>
                <a:latin typeface="+mn-lt"/>
                <a:ea typeface="+mn-ea"/>
                <a:cs typeface="+mn-cs"/>
              </a:rPr>
              <a:t> Use food grade materials to store food susceptible to contamination – such as stainless steel</a:t>
            </a:r>
          </a:p>
          <a:p>
            <a:pPr>
              <a:buFont typeface="Arial" pitchFamily="34" charset="0"/>
              <a:buChar char="•"/>
            </a:pPr>
            <a:r>
              <a:rPr lang="en-AU" sz="1200" kern="1200" dirty="0" smtClean="0">
                <a:solidFill>
                  <a:schemeClr val="tx1"/>
                </a:solidFill>
                <a:latin typeface="+mn-lt"/>
                <a:ea typeface="+mn-ea"/>
                <a:cs typeface="+mn-cs"/>
              </a:rPr>
              <a:t> Cover food that is in storage to protect it from contamination</a:t>
            </a:r>
          </a:p>
          <a:p>
            <a:pPr>
              <a:buFont typeface="Arial" pitchFamily="34" charset="0"/>
              <a:buChar char="•"/>
            </a:pPr>
            <a:r>
              <a:rPr lang="en-AU" sz="1200" kern="1200" dirty="0" smtClean="0">
                <a:solidFill>
                  <a:schemeClr val="tx1"/>
                </a:solidFill>
                <a:latin typeface="+mn-lt"/>
                <a:ea typeface="+mn-ea"/>
                <a:cs typeface="+mn-cs"/>
              </a:rPr>
              <a:t> Rotate stock to ensure it is used in the correct sequence – the method used for most food is called ‘First In, First Out’: any food exceeding its use-by date must be thrown out (more on later slides)</a:t>
            </a:r>
          </a:p>
          <a:p>
            <a:pPr>
              <a:buFont typeface="Arial" pitchFamily="34" charset="0"/>
              <a:buChar char="•"/>
            </a:pPr>
            <a:r>
              <a:rPr lang="en-AU" sz="1200" kern="1200" dirty="0" smtClean="0">
                <a:solidFill>
                  <a:schemeClr val="tx1"/>
                </a:solidFill>
                <a:latin typeface="+mn-lt"/>
                <a:ea typeface="+mn-ea"/>
                <a:cs typeface="+mn-cs"/>
              </a:rPr>
              <a:t> Keep all storage areas and equipment clean </a:t>
            </a:r>
          </a:p>
          <a:p>
            <a:pPr>
              <a:buFont typeface="Arial" pitchFamily="34" charset="0"/>
              <a:buChar char="•"/>
            </a:pPr>
            <a:r>
              <a:rPr lang="en-AU" sz="1200" kern="1200" dirty="0" smtClean="0">
                <a:solidFill>
                  <a:schemeClr val="tx1"/>
                </a:solidFill>
                <a:latin typeface="+mn-lt"/>
                <a:ea typeface="+mn-ea"/>
                <a:cs typeface="+mn-cs"/>
              </a:rPr>
              <a:t> Never store food (including packaged food) directly on the floor – use shelves or stack on pallets</a:t>
            </a:r>
          </a:p>
          <a:p>
            <a:pPr>
              <a:buFont typeface="Arial" pitchFamily="34" charset="0"/>
              <a:buChar char="•"/>
            </a:pPr>
            <a:r>
              <a:rPr lang="en-AU" sz="1200" kern="1200" dirty="0" smtClean="0">
                <a:solidFill>
                  <a:schemeClr val="tx1"/>
                </a:solidFill>
                <a:latin typeface="+mn-lt"/>
                <a:ea typeface="+mn-ea"/>
                <a:cs typeface="+mn-cs"/>
              </a:rPr>
              <a:t> Ensure pests and rodents are excluded from food storage areas (more on later slides) – conduct a regular (at least weekly inspection to check this, and take appropriate action when evidence of pests or rodents is discovered).</a:t>
            </a:r>
          </a:p>
          <a:p>
            <a:pPr>
              <a:buFont typeface="Arial" pitchFamily="34" charset="0"/>
              <a:buNone/>
            </a:pPr>
            <a:endParaRPr lang="en-AU" noProof="0" dirty="0" smtClean="0"/>
          </a:p>
          <a:p>
            <a:pPr>
              <a:buFont typeface="Arial" pitchFamily="34" charset="0"/>
              <a:buNone/>
            </a:pPr>
            <a:r>
              <a:rPr lang="en-AU" noProof="0" dirty="0" smtClean="0"/>
              <a:t>Trainer advises students ‘beverages’ are regarded as ‘food’ and all safe food handling protocols for food apply equally to beverages/drinks.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39886539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safe</a:t>
            </a:r>
            <a:r>
              <a:rPr lang="en-AU" sz="1200" kern="1200" dirty="0" smtClean="0">
                <a:solidFill>
                  <a:schemeClr val="tx1"/>
                </a:solidFill>
                <a:latin typeface="+mn-lt"/>
                <a:ea typeface="+mn-ea"/>
                <a:cs typeface="+mn-cs"/>
              </a:rPr>
              <a:t> food handling requirements in relation to food receipt:</a:t>
            </a:r>
          </a:p>
          <a:p>
            <a:pPr>
              <a:buFont typeface="Arial" pitchFamily="34" charset="0"/>
              <a:buChar char="•"/>
            </a:pPr>
            <a:r>
              <a:rPr lang="en-AU" sz="1200" kern="1200" dirty="0" smtClean="0">
                <a:solidFill>
                  <a:schemeClr val="tx1"/>
                </a:solidFill>
                <a:latin typeface="+mn-lt"/>
                <a:ea typeface="+mn-ea"/>
                <a:cs typeface="+mn-cs"/>
              </a:rPr>
              <a:t> Inspect the deliveries – the FSP may require a visual inspection of a set number of deliveries (such as 5%) to make sure:</a:t>
            </a:r>
          </a:p>
          <a:p>
            <a:pPr lvl="1">
              <a:buFont typeface="Arial" pitchFamily="34" charset="0"/>
              <a:buChar char="•"/>
            </a:pPr>
            <a:r>
              <a:rPr lang="en-AU" sz="1200" kern="1200" dirty="0" smtClean="0">
                <a:solidFill>
                  <a:schemeClr val="tx1"/>
                </a:solidFill>
                <a:latin typeface="+mn-lt"/>
                <a:ea typeface="+mn-ea"/>
                <a:cs typeface="+mn-cs"/>
              </a:rPr>
              <a:t> The food is free from visible contamination – for example:</a:t>
            </a:r>
          </a:p>
          <a:p>
            <a:pPr lvl="2">
              <a:buFont typeface="Arial" pitchFamily="34" charset="0"/>
              <a:buChar char="•"/>
            </a:pPr>
            <a:r>
              <a:rPr lang="en-AU" sz="1200" kern="1200" dirty="0" smtClean="0">
                <a:solidFill>
                  <a:schemeClr val="tx1"/>
                </a:solidFill>
                <a:latin typeface="+mn-lt"/>
                <a:ea typeface="+mn-ea"/>
                <a:cs typeface="+mn-cs"/>
              </a:rPr>
              <a:t> Frozen food is hard frozen </a:t>
            </a:r>
          </a:p>
          <a:p>
            <a:pPr lvl="2">
              <a:buFont typeface="Arial" pitchFamily="34" charset="0"/>
              <a:buChar char="•"/>
            </a:pPr>
            <a:r>
              <a:rPr lang="en-AU" sz="1200" kern="1200" dirty="0" smtClean="0">
                <a:solidFill>
                  <a:schemeClr val="tx1"/>
                </a:solidFill>
                <a:latin typeface="+mn-lt"/>
                <a:ea typeface="+mn-ea"/>
                <a:cs typeface="+mn-cs"/>
              </a:rPr>
              <a:t> Packaging and wrapping is not torn </a:t>
            </a:r>
          </a:p>
          <a:p>
            <a:pPr lvl="2">
              <a:buFont typeface="Arial" pitchFamily="34" charset="0"/>
              <a:buChar char="•"/>
            </a:pPr>
            <a:r>
              <a:rPr lang="en-AU" sz="1200" kern="1200" dirty="0" smtClean="0">
                <a:solidFill>
                  <a:schemeClr val="tx1"/>
                </a:solidFill>
                <a:latin typeface="+mn-lt"/>
                <a:ea typeface="+mn-ea"/>
                <a:cs typeface="+mn-cs"/>
              </a:rPr>
              <a:t> The integrity of tins, bottles and other containers has not been compromised </a:t>
            </a:r>
          </a:p>
          <a:p>
            <a:pPr lvl="2">
              <a:buFont typeface="Arial" pitchFamily="34" charset="0"/>
              <a:buChar char="•"/>
            </a:pPr>
            <a:r>
              <a:rPr lang="en-AU" sz="1200" kern="1200" dirty="0" smtClean="0">
                <a:solidFill>
                  <a:schemeClr val="tx1"/>
                </a:solidFill>
                <a:latin typeface="+mn-lt"/>
                <a:ea typeface="+mn-ea"/>
                <a:cs typeface="+mn-cs"/>
              </a:rPr>
              <a:t> There are no leaking food containers </a:t>
            </a:r>
          </a:p>
          <a:p>
            <a:pPr lvl="1">
              <a:buFont typeface="Arial" pitchFamily="34" charset="0"/>
              <a:buChar char="•"/>
            </a:pPr>
            <a:r>
              <a:rPr lang="en-AU" sz="1200" kern="1200" dirty="0" smtClean="0">
                <a:solidFill>
                  <a:schemeClr val="tx1"/>
                </a:solidFill>
                <a:latin typeface="+mn-lt"/>
                <a:ea typeface="+mn-ea"/>
                <a:cs typeface="+mn-cs"/>
              </a:rPr>
              <a:t> The delivery does not bring in pests or rodents</a:t>
            </a:r>
          </a:p>
          <a:p>
            <a:pPr lvl="1">
              <a:buFont typeface="Arial" pitchFamily="34" charset="0"/>
              <a:buChar char="•"/>
            </a:pPr>
            <a:r>
              <a:rPr lang="en-AU" sz="1200" kern="1200" dirty="0" smtClean="0">
                <a:solidFill>
                  <a:schemeClr val="tx1"/>
                </a:solidFill>
                <a:latin typeface="+mn-lt"/>
                <a:ea typeface="+mn-ea"/>
                <a:cs typeface="+mn-cs"/>
              </a:rPr>
              <a:t> The use-by dates of the food are acceptable – reject any food delivered beyond its use-by date or where it is believed it will not be able to be used before it reaches its use-by date</a:t>
            </a:r>
          </a:p>
          <a:p>
            <a:pPr>
              <a:buFont typeface="Arial" pitchFamily="34" charset="0"/>
              <a:buChar char="•"/>
            </a:pPr>
            <a:r>
              <a:rPr lang="en-AU" sz="1200" kern="1200" dirty="0" smtClean="0">
                <a:solidFill>
                  <a:schemeClr val="tx1"/>
                </a:solidFill>
                <a:latin typeface="+mn-lt"/>
                <a:ea typeface="+mn-ea"/>
                <a:cs typeface="+mn-cs"/>
              </a:rPr>
              <a:t> Inspect the food delivery vehicle – check it is clean and is a dedicated food delivery vehicle</a:t>
            </a:r>
          </a:p>
          <a:p>
            <a:pPr>
              <a:buFont typeface="Arial" pitchFamily="34" charset="0"/>
              <a:buChar char="•"/>
            </a:pPr>
            <a:r>
              <a:rPr lang="en-AU" sz="1200" kern="1200" dirty="0" smtClean="0">
                <a:solidFill>
                  <a:schemeClr val="tx1"/>
                </a:solidFill>
                <a:latin typeface="+mn-lt"/>
                <a:ea typeface="+mn-ea"/>
                <a:cs typeface="+mn-cs"/>
              </a:rPr>
              <a:t> Check the practices of the delivery driver – check things such as:</a:t>
            </a:r>
          </a:p>
          <a:p>
            <a:pPr lvl="1">
              <a:buFont typeface="Arial" pitchFamily="34" charset="0"/>
              <a:buChar char="•"/>
            </a:pPr>
            <a:r>
              <a:rPr lang="en-AU" sz="1200" kern="1200" dirty="0" smtClean="0">
                <a:solidFill>
                  <a:schemeClr val="tx1"/>
                </a:solidFill>
                <a:latin typeface="+mn-lt"/>
                <a:ea typeface="+mn-ea"/>
                <a:cs typeface="+mn-cs"/>
              </a:rPr>
              <a:t> Whether or not food is protected during the delivery process – is the delivery vehicle left unlocked during deliveries? (It should be locked to prevent unauthorised entry) Is food placed on the footpath? (It should not be) Are there chemicals mixed in with the food items? (No chemicals should be with the food delivered)</a:t>
            </a:r>
          </a:p>
          <a:p>
            <a:pPr lvl="1">
              <a:buFont typeface="Arial" pitchFamily="34" charset="0"/>
              <a:buChar char="•"/>
            </a:pPr>
            <a:r>
              <a:rPr lang="en-AU" sz="1200" kern="1200" dirty="0" smtClean="0">
                <a:solidFill>
                  <a:schemeClr val="tx1"/>
                </a:solidFill>
                <a:latin typeface="+mn-lt"/>
                <a:ea typeface="+mn-ea"/>
                <a:cs typeface="+mn-cs"/>
              </a:rPr>
              <a:t> Personal hygiene of the delivery driver.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137221262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presenting safe</a:t>
            </a:r>
            <a:r>
              <a:rPr lang="en-AU" sz="1200" kern="1200" dirty="0" smtClean="0">
                <a:solidFill>
                  <a:schemeClr val="tx1"/>
                </a:solidFill>
                <a:latin typeface="+mn-lt"/>
                <a:ea typeface="+mn-ea"/>
                <a:cs typeface="+mn-cs"/>
              </a:rPr>
              <a:t> food handling requirements in relation to food receipt:</a:t>
            </a:r>
          </a:p>
          <a:p>
            <a:pPr>
              <a:buFont typeface="Arial" pitchFamily="34" charset="0"/>
              <a:buChar char="•"/>
            </a:pPr>
            <a:r>
              <a:rPr lang="en-AU" sz="1200" kern="1200" dirty="0" smtClean="0">
                <a:solidFill>
                  <a:schemeClr val="tx1"/>
                </a:solidFill>
                <a:latin typeface="+mn-lt"/>
                <a:ea typeface="+mn-ea"/>
                <a:cs typeface="+mn-cs"/>
              </a:rPr>
              <a:t> Ensure someone is at the premises to receive the food – deliveries should not be left at the premises unattended as this raises the possibility of contamination (from birds, dogs, cats) as well as potential for theft</a:t>
            </a:r>
          </a:p>
          <a:p>
            <a:pPr>
              <a:buFont typeface="Arial" pitchFamily="34" charset="0"/>
              <a:buChar char="•"/>
            </a:pPr>
            <a:r>
              <a:rPr lang="en-AU" sz="1200" kern="1200" dirty="0" smtClean="0">
                <a:solidFill>
                  <a:schemeClr val="tx1"/>
                </a:solidFill>
                <a:latin typeface="+mn-lt"/>
                <a:ea typeface="+mn-ea"/>
                <a:cs typeface="+mn-cs"/>
              </a:rPr>
              <a:t> Check the temperature of the food in accordance with the requirements of the FSP using a properly calibrated thermometer (see section 3.3): </a:t>
            </a:r>
          </a:p>
          <a:p>
            <a:pPr lvl="1">
              <a:buFont typeface="Arial" pitchFamily="34" charset="0"/>
              <a:buChar char="•"/>
            </a:pPr>
            <a:r>
              <a:rPr lang="en-AU" sz="1200" kern="1200" dirty="0" smtClean="0">
                <a:solidFill>
                  <a:schemeClr val="tx1"/>
                </a:solidFill>
                <a:latin typeface="+mn-lt"/>
                <a:ea typeface="+mn-ea"/>
                <a:cs typeface="+mn-cs"/>
              </a:rPr>
              <a:t> Frozen food should be hard frozen with no evidence of defrosting: -15ºC is the recommended temperature </a:t>
            </a:r>
          </a:p>
          <a:p>
            <a:pPr lvl="1">
              <a:buFont typeface="Arial" pitchFamily="34" charset="0"/>
              <a:buChar char="•"/>
            </a:pPr>
            <a:r>
              <a:rPr lang="en-AU" sz="1200" kern="1200" dirty="0" smtClean="0">
                <a:solidFill>
                  <a:schemeClr val="tx1"/>
                </a:solidFill>
                <a:latin typeface="+mn-lt"/>
                <a:ea typeface="+mn-ea"/>
                <a:cs typeface="+mn-cs"/>
              </a:rPr>
              <a:t> Hot food that is ‘potentially hazardous’ must be at 60ºC or above</a:t>
            </a:r>
          </a:p>
          <a:p>
            <a:pPr lvl="1">
              <a:buFont typeface="Arial" pitchFamily="34" charset="0"/>
              <a:buChar char="•"/>
            </a:pPr>
            <a:r>
              <a:rPr lang="en-AU" sz="1200" kern="1200" dirty="0" smtClean="0">
                <a:solidFill>
                  <a:schemeClr val="tx1"/>
                </a:solidFill>
                <a:latin typeface="+mn-lt"/>
                <a:ea typeface="+mn-ea"/>
                <a:cs typeface="+mn-cs"/>
              </a:rPr>
              <a:t> Potentially hazardous refrigerated food must be at 5ºC or below</a:t>
            </a:r>
          </a:p>
          <a:p>
            <a:pPr lvl="1">
              <a:buFont typeface="Arial" pitchFamily="34" charset="0"/>
              <a:buChar char="•"/>
            </a:pPr>
            <a:r>
              <a:rPr lang="en-AU" sz="1200" kern="1200" dirty="0" smtClean="0">
                <a:solidFill>
                  <a:schemeClr val="tx1"/>
                </a:solidFill>
                <a:latin typeface="+mn-lt"/>
                <a:ea typeface="+mn-ea"/>
                <a:cs typeface="+mn-cs"/>
              </a:rPr>
              <a:t> Potentially hazardous food may be accepted where the delivery driver can demonstrate (that is, prove to your satisfaction) the combination of time and temperature have not adversely impacted on food safety. In general terms, if the food has been in the Temperature Danger Zone for 2 hours or longer the food should be rejected.</a:t>
            </a:r>
          </a:p>
          <a:p>
            <a:pPr lvl="1">
              <a:buFont typeface="Arial" pitchFamily="34" charset="0"/>
              <a:buChar char="•"/>
            </a:pPr>
            <a:r>
              <a:rPr lang="en-AU" sz="1200" kern="1200" dirty="0" smtClean="0">
                <a:solidFill>
                  <a:schemeClr val="tx1"/>
                </a:solidFill>
                <a:latin typeface="+mn-lt"/>
                <a:ea typeface="+mn-ea"/>
                <a:cs typeface="+mn-cs"/>
              </a:rPr>
              <a:t> When accepting a delivery of potentially hazardous food that is in the Temperature Danger Zone, it should be used first/immediately and not be subject to the standard stock rotation principle of First In, First Out.</a:t>
            </a:r>
          </a:p>
          <a:p>
            <a:pPr>
              <a:buFont typeface="Arial" pitchFamily="34" charset="0"/>
              <a:buChar char="•"/>
            </a:pPr>
            <a:r>
              <a:rPr lang="en-AU" sz="1200" kern="1200" dirty="0" smtClean="0">
                <a:solidFill>
                  <a:schemeClr val="tx1"/>
                </a:solidFill>
                <a:latin typeface="+mn-lt"/>
                <a:ea typeface="+mn-ea"/>
                <a:cs typeface="+mn-cs"/>
              </a:rPr>
              <a:t> Check all packaged food is properly labelled with the name of the supplier, manufacturer or vendor – all food delivered into a food premises must be able to be identified so as to assist with food recalls and to help identify the source of problems/contamination where an outbreak of food poisoning occurs</a:t>
            </a:r>
          </a:p>
          <a:p>
            <a:pPr>
              <a:buFont typeface="Arial" pitchFamily="34" charset="0"/>
              <a:buChar char="•"/>
            </a:pPr>
            <a:r>
              <a:rPr lang="en-AU" sz="1200" kern="1200" dirty="0" smtClean="0">
                <a:solidFill>
                  <a:schemeClr val="tx1"/>
                </a:solidFill>
                <a:latin typeface="+mn-lt"/>
                <a:ea typeface="+mn-ea"/>
                <a:cs typeface="+mn-cs"/>
              </a:rPr>
              <a:t> Store all deliveries as soon as possible after they have been delivered and checked – never leave refrigerated or frozen food lying around in the receival area.</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Demonstration and Practical</a:t>
            </a:r>
          </a:p>
          <a:p>
            <a:r>
              <a:rPr lang="en-AU" sz="1200" b="0" kern="1200" dirty="0" smtClean="0">
                <a:solidFill>
                  <a:schemeClr val="tx1"/>
                </a:solidFill>
                <a:latin typeface="+mn-lt"/>
                <a:ea typeface="+mn-ea"/>
                <a:cs typeface="+mn-cs"/>
              </a:rPr>
              <a:t>Trainer demonstrates how to use a food thermometer (probe type) to take the temperature of refrigerated, frozen and hot food.</a:t>
            </a:r>
          </a:p>
          <a:p>
            <a:r>
              <a:rPr lang="en-AU" sz="1200" b="0" kern="1200" dirty="0" smtClean="0">
                <a:solidFill>
                  <a:schemeClr val="tx1"/>
                </a:solidFill>
                <a:latin typeface="+mn-lt"/>
                <a:ea typeface="+mn-ea"/>
                <a:cs typeface="+mn-cs"/>
              </a:rPr>
              <a:t>Trainer provides opportunity for students to practice doing the same, and checks their technique and accuracy of readings.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7484848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concept of ‘potentially hazardous food’ stating:</a:t>
            </a:r>
          </a:p>
          <a:p>
            <a:pPr>
              <a:buFont typeface="Arial" pitchFamily="34" charset="0"/>
              <a:buChar char="•"/>
            </a:pPr>
            <a:r>
              <a:rPr lang="en-AU" sz="1200" kern="1200" dirty="0" smtClean="0">
                <a:solidFill>
                  <a:schemeClr val="tx1"/>
                </a:solidFill>
                <a:latin typeface="+mn-lt"/>
                <a:ea typeface="+mn-ea"/>
                <a:cs typeface="+mn-cs"/>
              </a:rPr>
              <a:t> Potentially hazardous food is food that must be stored under special temperature conditions (out of the Temperature Danger Zone  - see later slide) to prevent the growth of food poisoning bacteria or to prevent the formation of toxins in the food.</a:t>
            </a:r>
          </a:p>
          <a:p>
            <a:pPr>
              <a:buFont typeface="Arial" pitchFamily="34" charset="0"/>
              <a:buChar char="•"/>
            </a:pPr>
            <a:r>
              <a:rPr lang="en-AU" sz="1200" kern="1200" dirty="0" smtClean="0">
                <a:solidFill>
                  <a:schemeClr val="tx1"/>
                </a:solidFill>
                <a:latin typeface="+mn-lt"/>
                <a:ea typeface="+mn-ea"/>
                <a:cs typeface="+mn-cs"/>
              </a:rPr>
              <a:t> The list of potentially hazardous food (also known as ‘high risk’ food and/or ‘potentially dangerous’ food) is really without end but focuses on high protein, high moisture, low acid foods.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146380460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examples of potentially hazardous foods:</a:t>
            </a:r>
          </a:p>
          <a:p>
            <a:pPr>
              <a:buFont typeface="Arial" pitchFamily="34" charset="0"/>
              <a:buChar char="•"/>
            </a:pPr>
            <a:r>
              <a:rPr lang="en-AU" sz="1200" kern="1200" dirty="0" smtClean="0">
                <a:solidFill>
                  <a:schemeClr val="tx1"/>
                </a:solidFill>
                <a:latin typeface="+mn-lt"/>
                <a:ea typeface="+mn-ea"/>
                <a:cs typeface="+mn-cs"/>
              </a:rPr>
              <a:t> Milk and milk products, soft cheeses – butter, yoghurt, custards, cream cakes, cheese, baked custard tarts and dips</a:t>
            </a:r>
          </a:p>
          <a:p>
            <a:pPr>
              <a:buFont typeface="Arial" pitchFamily="34" charset="0"/>
              <a:buChar char="•"/>
            </a:pPr>
            <a:r>
              <a:rPr lang="en-AU" sz="1200" kern="1200" dirty="0" smtClean="0">
                <a:solidFill>
                  <a:schemeClr val="tx1"/>
                </a:solidFill>
                <a:latin typeface="+mn-lt"/>
                <a:ea typeface="+mn-ea"/>
                <a:cs typeface="+mn-cs"/>
              </a:rPr>
              <a:t> Egg products – quiche, fresh pasta, duck and game bird eggs, all eggs, mayonnaise (whole egg)</a:t>
            </a:r>
          </a:p>
          <a:p>
            <a:pPr>
              <a:buFont typeface="Arial" pitchFamily="34" charset="0"/>
              <a:buChar char="•"/>
            </a:pPr>
            <a:r>
              <a:rPr lang="en-AU" sz="1200" kern="1200" dirty="0" smtClean="0">
                <a:solidFill>
                  <a:schemeClr val="tx1"/>
                </a:solidFill>
                <a:latin typeface="+mn-lt"/>
                <a:ea typeface="+mn-ea"/>
                <a:cs typeface="+mn-cs"/>
              </a:rPr>
              <a:t> Meat and poultry – all types of meat (beef, lamb, pork, chicken, turkey) and all cuts (sides, loins, steaks, chops, ribs, mince)</a:t>
            </a:r>
          </a:p>
          <a:p>
            <a:pPr>
              <a:buFont typeface="Arial" pitchFamily="34" charset="0"/>
              <a:buChar char="•"/>
            </a:pPr>
            <a:r>
              <a:rPr lang="en-AU" sz="1200" kern="1200" dirty="0" smtClean="0">
                <a:solidFill>
                  <a:schemeClr val="tx1"/>
                </a:solidFill>
                <a:latin typeface="+mn-lt"/>
                <a:ea typeface="+mn-ea"/>
                <a:cs typeface="+mn-cs"/>
              </a:rPr>
              <a:t> Smallgoods products – ham, pressed chicken, but note most salami is not a high risk food due to its high salt and low moisture content</a:t>
            </a:r>
          </a:p>
          <a:p>
            <a:pPr>
              <a:buFont typeface="Arial" pitchFamily="34" charset="0"/>
              <a:buChar char="•"/>
            </a:pPr>
            <a:r>
              <a:rPr lang="en-AU" sz="1200" kern="1200" dirty="0" smtClean="0">
                <a:solidFill>
                  <a:schemeClr val="tx1"/>
                </a:solidFill>
                <a:latin typeface="+mn-lt"/>
                <a:ea typeface="+mn-ea"/>
                <a:cs typeface="+mn-cs"/>
              </a:rPr>
              <a:t> Processed meat products including chicken – pate, meat pies, sausages, sausage rolls, coagulated blood, rissoles, meat balls</a:t>
            </a:r>
          </a:p>
          <a:p>
            <a:pPr>
              <a:buFont typeface="Arial" pitchFamily="34" charset="0"/>
              <a:buChar char="•"/>
            </a:pPr>
            <a:r>
              <a:rPr lang="en-AU" sz="1200" kern="1200" dirty="0" smtClean="0">
                <a:solidFill>
                  <a:schemeClr val="tx1"/>
                </a:solidFill>
                <a:latin typeface="+mn-lt"/>
                <a:ea typeface="+mn-ea"/>
                <a:cs typeface="+mn-cs"/>
              </a:rPr>
              <a:t> Fish, shellfish, fish products, fish soups and fish stocks – caviar, fish balls, patties, salads, sauces and stews</a:t>
            </a:r>
          </a:p>
          <a:p>
            <a:pPr>
              <a:buFont typeface="Arial" pitchFamily="34" charset="0"/>
              <a:buChar char="•"/>
            </a:pPr>
            <a:r>
              <a:rPr lang="en-AU" sz="1200" kern="1200" dirty="0" smtClean="0">
                <a:solidFill>
                  <a:schemeClr val="tx1"/>
                </a:solidFill>
                <a:latin typeface="+mn-lt"/>
                <a:ea typeface="+mn-ea"/>
                <a:cs typeface="+mn-cs"/>
              </a:rPr>
              <a:t> Other food dishes – pizza, prepared meals, sandwiches, salads and cooked rice and cooked pasta.</a:t>
            </a:r>
          </a:p>
          <a:p>
            <a:pPr>
              <a:buFont typeface="Arial" pitchFamily="34" charset="0"/>
              <a:buNone/>
            </a:pPr>
            <a:endParaRPr lang="en-AU" noProof="0" dirty="0" smtClean="0"/>
          </a:p>
          <a:p>
            <a:pPr>
              <a:buFont typeface="Arial" pitchFamily="34" charset="0"/>
              <a:buNone/>
            </a:pPr>
            <a:r>
              <a:rPr lang="en-AU" b="1" noProof="0" dirty="0" smtClean="0"/>
              <a:t>Class Activity – Presentation</a:t>
            </a:r>
          </a:p>
          <a:p>
            <a:pPr>
              <a:buFont typeface="Arial" pitchFamily="34" charset="0"/>
              <a:buNone/>
            </a:pPr>
            <a:r>
              <a:rPr lang="en-AU" b="0" noProof="0" dirty="0" smtClean="0"/>
              <a:t>Trainer shows students a range of food items which are classified as ‘potentially hazardous’ foods.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13818854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Temperature Danger Zone stating:</a:t>
            </a:r>
          </a:p>
          <a:p>
            <a:pPr>
              <a:buFont typeface="Arial" pitchFamily="34" charset="0"/>
              <a:buChar char="•"/>
            </a:pPr>
            <a:r>
              <a:rPr lang="en-AU" sz="1200" kern="1200" dirty="0" smtClean="0">
                <a:solidFill>
                  <a:schemeClr val="tx1"/>
                </a:solidFill>
                <a:latin typeface="+mn-lt"/>
                <a:ea typeface="+mn-ea"/>
                <a:cs typeface="+mn-cs"/>
              </a:rPr>
              <a:t> The Temperature Danger Zone is the temperature range in which food poisoning bacteria multiply most rapidly</a:t>
            </a:r>
          </a:p>
          <a:p>
            <a:pPr>
              <a:buFont typeface="Arial" pitchFamily="34" charset="0"/>
              <a:buChar char="•"/>
            </a:pPr>
            <a:r>
              <a:rPr lang="en-AU" sz="1200" kern="1200" dirty="0" smtClean="0">
                <a:solidFill>
                  <a:schemeClr val="tx1"/>
                </a:solidFill>
                <a:latin typeface="+mn-lt"/>
                <a:ea typeface="+mn-ea"/>
                <a:cs typeface="+mn-cs"/>
              </a:rPr>
              <a:t> The range is 5ºC to 60ºC</a:t>
            </a:r>
          </a:p>
          <a:p>
            <a:pPr>
              <a:buFont typeface="Arial" pitchFamily="34" charset="0"/>
              <a:buChar char="•"/>
            </a:pPr>
            <a:r>
              <a:rPr lang="en-AU" sz="1200" kern="1200" dirty="0" smtClean="0">
                <a:solidFill>
                  <a:schemeClr val="tx1"/>
                </a:solidFill>
                <a:latin typeface="+mn-lt"/>
                <a:ea typeface="+mn-ea"/>
                <a:cs typeface="+mn-cs"/>
              </a:rPr>
              <a:t> Every effort must be made to keep potentially hazardous food out of this temperature range</a:t>
            </a:r>
          </a:p>
          <a:p>
            <a:pPr>
              <a:buFont typeface="Arial" pitchFamily="34" charset="0"/>
              <a:buChar char="•"/>
            </a:pPr>
            <a:r>
              <a:rPr lang="en-AU" sz="1200" kern="1200" dirty="0" smtClean="0">
                <a:solidFill>
                  <a:schemeClr val="tx1"/>
                </a:solidFill>
                <a:latin typeface="+mn-lt"/>
                <a:ea typeface="+mn-ea"/>
                <a:cs typeface="+mn-cs"/>
              </a:rPr>
              <a:t> Where food has to be in this range (such as when it is being prepared), the amount of time it spends in this zone must be minimized</a:t>
            </a:r>
          </a:p>
          <a:p>
            <a:pPr>
              <a:buFont typeface="Arial" pitchFamily="34" charset="0"/>
              <a:buChar char="•"/>
            </a:pPr>
            <a:r>
              <a:rPr lang="en-AU" sz="1200" kern="1200" dirty="0" smtClean="0">
                <a:solidFill>
                  <a:schemeClr val="tx1"/>
                </a:solidFill>
                <a:latin typeface="+mn-lt"/>
                <a:ea typeface="+mn-ea"/>
                <a:cs typeface="+mn-cs"/>
              </a:rPr>
              <a:t> It is important to note all time food spends in the Temperature Danger Zone is cumulative  </a:t>
            </a:r>
          </a:p>
          <a:p>
            <a:pPr>
              <a:buFont typeface="Arial" pitchFamily="34" charset="0"/>
              <a:buChar char="•"/>
            </a:pPr>
            <a:r>
              <a:rPr lang="en-AU" sz="1200" kern="1200" dirty="0" smtClean="0">
                <a:solidFill>
                  <a:schemeClr val="tx1"/>
                </a:solidFill>
                <a:latin typeface="+mn-lt"/>
                <a:ea typeface="+mn-ea"/>
                <a:cs typeface="+mn-cs"/>
              </a:rPr>
              <a:t> If a piece of meat is left out on the bench for one hour, refrigerated and then brought back out into the kitchen, the time it then spends in the Temperature Danger Zone is added to the previous time – the  clock (and the bacteria count) does not get reset to zero when the food was put in the fridge again.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305379723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awareness </a:t>
            </a:r>
            <a:r>
              <a:rPr lang="en-AU" sz="1200" kern="1200" dirty="0" smtClean="0">
                <a:solidFill>
                  <a:schemeClr val="tx1"/>
                </a:solidFill>
                <a:latin typeface="+mn-lt"/>
                <a:ea typeface="+mn-ea"/>
                <a:cs typeface="+mn-cs"/>
              </a:rPr>
              <a:t>of the 2/4 rule is critical in applying safe food handling procedures explaining the 2/4 rule states:</a:t>
            </a:r>
          </a:p>
          <a:p>
            <a:pPr>
              <a:buFont typeface="Arial" pitchFamily="34" charset="0"/>
              <a:buChar char="•"/>
            </a:pPr>
            <a:r>
              <a:rPr lang="en-AU" sz="1200" kern="1200" dirty="0" smtClean="0">
                <a:solidFill>
                  <a:schemeClr val="tx1"/>
                </a:solidFill>
                <a:latin typeface="+mn-lt"/>
                <a:ea typeface="+mn-ea"/>
                <a:cs typeface="+mn-cs"/>
              </a:rPr>
              <a:t> Potentially hazardous foods which have been in the Temperature Danger Zone for four hours (or more) must be discarded/thrown out </a:t>
            </a:r>
          </a:p>
          <a:p>
            <a:pPr>
              <a:buFont typeface="Arial" pitchFamily="34" charset="0"/>
              <a:buChar char="•"/>
            </a:pPr>
            <a:r>
              <a:rPr lang="en-AU" sz="1200" kern="1200" dirty="0" smtClean="0">
                <a:solidFill>
                  <a:schemeClr val="tx1"/>
                </a:solidFill>
                <a:latin typeface="+mn-lt"/>
                <a:ea typeface="+mn-ea"/>
                <a:cs typeface="+mn-cs"/>
              </a:rPr>
              <a:t> Potentially hazardous foods that have been in the Temperature Danger Zone for two hours can be refrigerated and then returned to the Temperature Danger Zone for another two hours, maximum</a:t>
            </a:r>
          </a:p>
          <a:p>
            <a:pPr>
              <a:buFont typeface="Arial" pitchFamily="34" charset="0"/>
              <a:buChar char="•"/>
            </a:pPr>
            <a:r>
              <a:rPr lang="en-AU" sz="1200" kern="1200" dirty="0" smtClean="0">
                <a:solidFill>
                  <a:schemeClr val="tx1"/>
                </a:solidFill>
                <a:latin typeface="+mn-lt"/>
                <a:ea typeface="+mn-ea"/>
                <a:cs typeface="+mn-cs"/>
              </a:rPr>
              <a:t> When high risk food has been in the Temperature Danger Zone for two hours it must be cooked or eaten within the next two hours or thrown out.</a:t>
            </a:r>
          </a:p>
          <a:p>
            <a:pPr>
              <a:buFont typeface="Arial" pitchFamily="34" charset="0"/>
              <a:buChar char="•"/>
            </a:pPr>
            <a:r>
              <a:rPr lang="en-AU" sz="1200" kern="1200" dirty="0" smtClean="0">
                <a:solidFill>
                  <a:schemeClr val="tx1"/>
                </a:solidFill>
                <a:latin typeface="+mn-lt"/>
                <a:ea typeface="+mn-ea"/>
                <a:cs typeface="+mn-cs"/>
              </a:rPr>
              <a:t> There are no exceptions to this rule.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29957092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a:t>
            </a:r>
            <a:r>
              <a:rPr lang="en-AU" sz="1200" kern="1200" dirty="0" smtClean="0">
                <a:solidFill>
                  <a:schemeClr val="tx1"/>
                </a:solidFill>
                <a:latin typeface="+mn-lt"/>
                <a:ea typeface="+mn-ea"/>
                <a:cs typeface="+mn-cs"/>
              </a:rPr>
              <a:t>the two-step rule for the cooling of high risk hot food explaining:</a:t>
            </a:r>
          </a:p>
          <a:p>
            <a:pPr>
              <a:buFont typeface="Arial" pitchFamily="34" charset="0"/>
              <a:buChar char="•"/>
            </a:pPr>
            <a:r>
              <a:rPr lang="en-AU" sz="1200" b="1" i="1" kern="1200" dirty="0" smtClean="0">
                <a:solidFill>
                  <a:schemeClr val="tx1"/>
                </a:solidFill>
                <a:latin typeface="+mn-lt"/>
                <a:ea typeface="+mn-ea"/>
                <a:cs typeface="+mn-cs"/>
              </a:rPr>
              <a:t> Step 1:  </a:t>
            </a:r>
            <a:r>
              <a:rPr lang="en-AU" sz="1200" kern="1200" dirty="0" smtClean="0">
                <a:solidFill>
                  <a:schemeClr val="tx1"/>
                </a:solidFill>
                <a:latin typeface="+mn-lt"/>
                <a:ea typeface="+mn-ea"/>
                <a:cs typeface="+mn-cs"/>
              </a:rPr>
              <a:t>Cool hot food down from 60°C (or above) to 21°C within two hours of removing the food from the stove, oven or other cooking unit</a:t>
            </a:r>
          </a:p>
          <a:p>
            <a:pPr>
              <a:buFont typeface="Arial" pitchFamily="34" charset="0"/>
              <a:buChar char="•"/>
            </a:pPr>
            <a:r>
              <a:rPr lang="en-AU" sz="1200" b="1" i="1" kern="1200" dirty="0" smtClean="0">
                <a:solidFill>
                  <a:schemeClr val="tx1"/>
                </a:solidFill>
                <a:latin typeface="+mn-lt"/>
                <a:ea typeface="+mn-ea"/>
                <a:cs typeface="+mn-cs"/>
              </a:rPr>
              <a:t> Step 2:</a:t>
            </a:r>
            <a:r>
              <a:rPr lang="en-AU" sz="1200" kern="1200" dirty="0" smtClean="0">
                <a:solidFill>
                  <a:schemeClr val="tx1"/>
                </a:solidFill>
                <a:latin typeface="+mn-lt"/>
                <a:ea typeface="+mn-ea"/>
                <a:cs typeface="+mn-cs"/>
              </a:rPr>
              <a:t>  Once the food has reached 21°C it should be placed into a refrigerator/cool room, and then cooled to 5°C (or below) within a further four hours</a:t>
            </a:r>
          </a:p>
          <a:p>
            <a:pPr>
              <a:buFont typeface="Arial" pitchFamily="34" charset="0"/>
              <a:buChar char="•"/>
            </a:pPr>
            <a:r>
              <a:rPr lang="en-AU" sz="1200" kern="1200" dirty="0" smtClean="0">
                <a:solidFill>
                  <a:schemeClr val="tx1"/>
                </a:solidFill>
                <a:latin typeface="+mn-lt"/>
                <a:ea typeface="+mn-ea"/>
                <a:cs typeface="+mn-cs"/>
              </a:rPr>
              <a:t> If the cooling of high risk food does not meet these criteria, the food must be thrown out</a:t>
            </a:r>
          </a:p>
          <a:p>
            <a:pPr>
              <a:buFont typeface="Arial" pitchFamily="34" charset="0"/>
              <a:buChar char="•"/>
            </a:pPr>
            <a:r>
              <a:rPr lang="en-AU" sz="1200" kern="1200" dirty="0" smtClean="0">
                <a:solidFill>
                  <a:schemeClr val="tx1"/>
                </a:solidFill>
                <a:latin typeface="+mn-lt"/>
                <a:ea typeface="+mn-ea"/>
                <a:cs typeface="+mn-cs"/>
              </a:rPr>
              <a:t> Once food has reached 5°C it can safely be put in the freezer.</a:t>
            </a:r>
          </a:p>
          <a:p>
            <a:pPr>
              <a:buFont typeface="Arial" pitchFamily="34" charset="0"/>
              <a:buNone/>
            </a:pPr>
            <a:endParaRPr lang="en-AU" noProof="0" dirty="0" smtClean="0"/>
          </a:p>
          <a:p>
            <a:pPr>
              <a:buFont typeface="Arial" pitchFamily="34" charset="0"/>
              <a:buNone/>
            </a:pPr>
            <a:r>
              <a:rPr lang="en-AU" b="1" noProof="0" dirty="0" smtClean="0"/>
              <a:t>Class Activity – Discussion</a:t>
            </a:r>
          </a:p>
          <a:p>
            <a:pPr>
              <a:buFont typeface="Arial" pitchFamily="34" charset="0"/>
              <a:buNone/>
            </a:pPr>
            <a:r>
              <a:rPr lang="en-AU" b="0" noProof="0" dirty="0" smtClean="0"/>
              <a:t>Trainer asks trainees how they might cool down hot food and monitor the activity to make sure requirements are complied with.</a:t>
            </a:r>
          </a:p>
          <a:p>
            <a:pPr>
              <a:buFont typeface="Arial" pitchFamily="34" charset="0"/>
              <a:buNone/>
            </a:pPr>
            <a:r>
              <a:rPr lang="en-AU" b="0" noProof="0" dirty="0" smtClean="0"/>
              <a:t>Responses may include:</a:t>
            </a:r>
          </a:p>
          <a:p>
            <a:pPr>
              <a:buFont typeface="Arial" pitchFamily="34" charset="0"/>
              <a:buChar char="•"/>
            </a:pPr>
            <a:r>
              <a:rPr lang="en-AU" b="0" noProof="0" dirty="0" smtClean="0"/>
              <a:t> Cooling in small amounts</a:t>
            </a:r>
          </a:p>
          <a:p>
            <a:pPr>
              <a:buFont typeface="Arial" pitchFamily="34" charset="0"/>
              <a:buChar char="•"/>
            </a:pPr>
            <a:r>
              <a:rPr lang="en-AU" b="0" noProof="0" dirty="0" smtClean="0"/>
              <a:t> Frequent stirring</a:t>
            </a:r>
          </a:p>
          <a:p>
            <a:pPr>
              <a:buFont typeface="Arial" pitchFamily="34" charset="0"/>
              <a:buChar char="•"/>
            </a:pPr>
            <a:r>
              <a:rPr lang="en-AU" b="0" noProof="0" dirty="0" smtClean="0"/>
              <a:t> Placing containers into ice water baths</a:t>
            </a:r>
          </a:p>
          <a:p>
            <a:pPr>
              <a:buFont typeface="Arial" pitchFamily="34" charset="0"/>
              <a:buChar char="•"/>
            </a:pPr>
            <a:r>
              <a:rPr lang="en-AU" b="0" noProof="0" dirty="0" smtClean="0"/>
              <a:t> Using a fan to cool items down</a:t>
            </a:r>
          </a:p>
          <a:p>
            <a:pPr>
              <a:buFont typeface="Arial" pitchFamily="34" charset="0"/>
              <a:buChar char="•"/>
            </a:pPr>
            <a:r>
              <a:rPr lang="en-AU" b="0" baseline="0" noProof="0" dirty="0" smtClean="0"/>
              <a:t> Setting timers to notify of times</a:t>
            </a:r>
          </a:p>
          <a:p>
            <a:pPr>
              <a:buFont typeface="Arial" pitchFamily="34" charset="0"/>
              <a:buChar char="•"/>
            </a:pPr>
            <a:r>
              <a:rPr lang="en-AU" b="0" baseline="0" noProof="0" dirty="0" smtClean="0"/>
              <a:t> Using food thermometer to test temperatures.</a:t>
            </a:r>
            <a:endParaRPr lang="en-AU" b="0" noProof="0" dirty="0" smtClean="0"/>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262700244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thawing of frozen food stating:</a:t>
            </a:r>
          </a:p>
          <a:p>
            <a:pPr>
              <a:buFont typeface="Arial" pitchFamily="34" charset="0"/>
              <a:buChar char="•"/>
            </a:pPr>
            <a:r>
              <a:rPr lang="en-AU" sz="1200" kern="1200" dirty="0" smtClean="0">
                <a:solidFill>
                  <a:schemeClr val="tx1"/>
                </a:solidFill>
                <a:latin typeface="+mn-lt"/>
                <a:ea typeface="+mn-ea"/>
                <a:cs typeface="+mn-cs"/>
              </a:rPr>
              <a:t> Frozen food must be thawed before use (also known as ‘defrosting) using one of three methods:</a:t>
            </a:r>
          </a:p>
          <a:p>
            <a:pPr>
              <a:buFont typeface="Arial" pitchFamily="34" charset="0"/>
              <a:buChar char="•"/>
            </a:pPr>
            <a:r>
              <a:rPr lang="en-AU" sz="1200" kern="1200" dirty="0" smtClean="0">
                <a:solidFill>
                  <a:schemeClr val="tx1"/>
                </a:solidFill>
                <a:latin typeface="+mn-lt"/>
                <a:ea typeface="+mn-ea"/>
                <a:cs typeface="+mn-cs"/>
              </a:rPr>
              <a:t> In a refrigerator/coolroom – large pieces of meat may take two to three days to defrost so planning ahead is vital: this is the preferred method of thawing as the food is always out of Temperature Danger Zone</a:t>
            </a:r>
          </a:p>
          <a:p>
            <a:pPr>
              <a:buFont typeface="Arial" pitchFamily="34" charset="0"/>
              <a:buChar char="•"/>
            </a:pPr>
            <a:r>
              <a:rPr lang="en-AU" sz="1200" kern="1200" dirty="0" smtClean="0">
                <a:solidFill>
                  <a:schemeClr val="tx1"/>
                </a:solidFill>
                <a:latin typeface="+mn-lt"/>
                <a:ea typeface="+mn-ea"/>
                <a:cs typeface="+mn-cs"/>
              </a:rPr>
              <a:t> If pressed for time, use a microwave to defrost, moving  pieces of food during the procedure – food should be immediately cooked once taken from the microwave after defrosting</a:t>
            </a:r>
          </a:p>
          <a:p>
            <a:pPr>
              <a:buFont typeface="Arial" pitchFamily="34" charset="0"/>
              <a:buChar char="•"/>
            </a:pPr>
            <a:r>
              <a:rPr lang="en-AU" sz="1200" kern="1200" dirty="0" smtClean="0">
                <a:solidFill>
                  <a:schemeClr val="tx1"/>
                </a:solidFill>
                <a:latin typeface="+mn-lt"/>
                <a:ea typeface="+mn-ea"/>
                <a:cs typeface="+mn-cs"/>
              </a:rPr>
              <a:t> Run the item under cold water (less than 20°C) – only suitable for small portions/items. Not suitable for products which have been ‘breaded’ or ‘crumbed’.</a:t>
            </a:r>
          </a:p>
          <a:p>
            <a:pPr>
              <a:buFont typeface="Arial" pitchFamily="34" charset="0"/>
              <a:buChar char="•"/>
            </a:pPr>
            <a:r>
              <a:rPr lang="en-AU" sz="1200" kern="1200" dirty="0" smtClean="0">
                <a:solidFill>
                  <a:schemeClr val="tx1"/>
                </a:solidFill>
                <a:latin typeface="+mn-lt"/>
                <a:ea typeface="+mn-ea"/>
                <a:cs typeface="+mn-cs"/>
              </a:rPr>
              <a:t> All meats should be cooked </a:t>
            </a:r>
            <a:r>
              <a:rPr lang="en-AU" sz="1200" b="1" kern="1200" dirty="0" smtClean="0">
                <a:solidFill>
                  <a:schemeClr val="tx1"/>
                </a:solidFill>
                <a:latin typeface="+mn-lt"/>
                <a:ea typeface="+mn-ea"/>
                <a:cs typeface="+mn-cs"/>
              </a:rPr>
              <a:t>immediately after thawing</a:t>
            </a:r>
            <a:r>
              <a:rPr lang="en-AU" sz="1200" kern="1200" dirty="0" smtClean="0">
                <a:solidFill>
                  <a:schemeClr val="tx1"/>
                </a:solidFill>
                <a:latin typeface="+mn-lt"/>
                <a:ea typeface="+mn-ea"/>
                <a:cs typeface="+mn-cs"/>
              </a:rPr>
              <a:t>.</a:t>
            </a:r>
          </a:p>
          <a:p>
            <a:pPr>
              <a:buFont typeface="Arial" pitchFamily="34" charset="0"/>
              <a:buChar char="•"/>
            </a:pPr>
            <a:r>
              <a:rPr lang="en-AU" sz="1200" kern="1200" dirty="0" smtClean="0">
                <a:solidFill>
                  <a:schemeClr val="tx1"/>
                </a:solidFill>
                <a:latin typeface="+mn-lt"/>
                <a:ea typeface="+mn-ea"/>
                <a:cs typeface="+mn-cs"/>
              </a:rPr>
              <a:t> It is not acceptable to thaw items out by placing them in a bowl or sink of water.</a:t>
            </a:r>
          </a:p>
          <a:p>
            <a:pPr>
              <a:buFont typeface="Arial" pitchFamily="34" charset="0"/>
              <a:buNone/>
            </a:pPr>
            <a:endParaRPr lang="en-AU" noProof="0" dirty="0" smtClean="0"/>
          </a:p>
          <a:p>
            <a:pPr>
              <a:buFont typeface="Arial" pitchFamily="34" charset="0"/>
              <a:buNone/>
            </a:pPr>
            <a:r>
              <a:rPr lang="en-AU" b="1" noProof="0" dirty="0" smtClean="0"/>
              <a:t>Class Activity – Demonstrations</a:t>
            </a:r>
          </a:p>
          <a:p>
            <a:pPr>
              <a:buFont typeface="Arial" pitchFamily="34" charset="0"/>
              <a:buNone/>
            </a:pPr>
            <a:r>
              <a:rPr lang="en-AU" b="0" noProof="0" dirty="0" smtClean="0"/>
              <a:t>Trainer demonstrates how to thaw frozen food using the three methods described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408103039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defines ‘clean’ as:</a:t>
            </a:r>
          </a:p>
          <a:p>
            <a:pPr>
              <a:buFont typeface="Arial" pitchFamily="34" charset="0"/>
              <a:buChar char="•"/>
            </a:pPr>
            <a:r>
              <a:rPr lang="en-AU" sz="1200" kern="1200" dirty="0" smtClean="0">
                <a:solidFill>
                  <a:schemeClr val="tx1"/>
                </a:solidFill>
                <a:latin typeface="+mn-lt"/>
                <a:ea typeface="+mn-ea"/>
                <a:cs typeface="+mn-cs"/>
              </a:rPr>
              <a:t> Free from visible debris/contamination (dirt, food, grime) </a:t>
            </a:r>
          </a:p>
          <a:p>
            <a:pPr>
              <a:buFont typeface="Arial" pitchFamily="34" charset="0"/>
              <a:buNone/>
            </a:pPr>
            <a:r>
              <a:rPr lang="en-AU" sz="1200" b="1" kern="1200" dirty="0" smtClean="0">
                <a:solidFill>
                  <a:schemeClr val="tx1"/>
                </a:solidFill>
                <a:latin typeface="+mn-lt"/>
                <a:ea typeface="+mn-ea"/>
                <a:cs typeface="+mn-cs"/>
              </a:rPr>
              <a:t>and</a:t>
            </a:r>
            <a:r>
              <a:rPr lang="en-AU" sz="1200" kern="1200" dirty="0" smtClean="0">
                <a:solidFill>
                  <a:schemeClr val="tx1"/>
                </a:solidFill>
                <a:latin typeface="+mn-lt"/>
                <a:ea typeface="+mn-ea"/>
                <a:cs typeface="+mn-cs"/>
              </a:rPr>
              <a:t> </a:t>
            </a:r>
          </a:p>
          <a:p>
            <a:pPr>
              <a:buFont typeface="Arial" pitchFamily="34" charset="0"/>
              <a:buChar char="•"/>
            </a:pPr>
            <a:r>
              <a:rPr lang="en-AU" sz="1200" kern="1200" dirty="0" smtClean="0">
                <a:solidFill>
                  <a:schemeClr val="tx1"/>
                </a:solidFill>
                <a:latin typeface="+mn-lt"/>
                <a:ea typeface="+mn-ea"/>
                <a:cs typeface="+mn-cs"/>
              </a:rPr>
              <a:t> Free from objectionable odour (which has relevance to the need for premises to have waste bins which are clean). </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312150220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safe</a:t>
            </a:r>
            <a:r>
              <a:rPr lang="en-AU" sz="1200" kern="1200" dirty="0" smtClean="0">
                <a:solidFill>
                  <a:schemeClr val="tx1"/>
                </a:solidFill>
                <a:latin typeface="+mn-lt"/>
                <a:ea typeface="+mn-ea"/>
                <a:cs typeface="+mn-cs"/>
              </a:rPr>
              <a:t> food handling requirements in relation to processing/preparing food:</a:t>
            </a:r>
          </a:p>
          <a:p>
            <a:pPr>
              <a:buFont typeface="Arial" pitchFamily="34" charset="0"/>
              <a:buChar char="•"/>
            </a:pPr>
            <a:r>
              <a:rPr lang="en-AU" sz="1200" kern="1200" dirty="0" smtClean="0">
                <a:solidFill>
                  <a:schemeClr val="tx1"/>
                </a:solidFill>
                <a:latin typeface="+mn-lt"/>
                <a:ea typeface="+mn-ea"/>
                <a:cs typeface="+mn-cs"/>
              </a:rPr>
              <a:t> Ensuring only safe and suitable food is processed – food unfit for consumption must not be processed. This includes:</a:t>
            </a:r>
          </a:p>
          <a:p>
            <a:pPr lvl="1">
              <a:buFont typeface="Arial" pitchFamily="34" charset="0"/>
              <a:buChar char="•"/>
            </a:pPr>
            <a:r>
              <a:rPr lang="en-AU" sz="1200" kern="1200" dirty="0" smtClean="0">
                <a:solidFill>
                  <a:schemeClr val="tx1"/>
                </a:solidFill>
                <a:latin typeface="+mn-lt"/>
                <a:ea typeface="+mn-ea"/>
                <a:cs typeface="+mn-cs"/>
              </a:rPr>
              <a:t> Foods that look or smell ‘off’ or shows other signs of contamination </a:t>
            </a:r>
          </a:p>
          <a:p>
            <a:pPr lvl="1">
              <a:buFont typeface="Arial" pitchFamily="34" charset="0"/>
              <a:buChar char="•"/>
            </a:pPr>
            <a:r>
              <a:rPr lang="en-AU" sz="1200" kern="1200" dirty="0" smtClean="0">
                <a:solidFill>
                  <a:schemeClr val="tx1"/>
                </a:solidFill>
                <a:latin typeface="+mn-lt"/>
                <a:ea typeface="+mn-ea"/>
                <a:cs typeface="+mn-cs"/>
              </a:rPr>
              <a:t> Food that has exceeded its use-by date </a:t>
            </a:r>
          </a:p>
          <a:p>
            <a:pPr>
              <a:buFont typeface="Arial" pitchFamily="34" charset="0"/>
              <a:buChar char="•"/>
            </a:pPr>
            <a:r>
              <a:rPr lang="en-AU" sz="1200" kern="1200" dirty="0" smtClean="0">
                <a:solidFill>
                  <a:schemeClr val="tx1"/>
                </a:solidFill>
                <a:latin typeface="+mn-lt"/>
                <a:ea typeface="+mn-ea"/>
                <a:cs typeface="+mn-cs"/>
              </a:rPr>
              <a:t> Protecting food being prepared from contamination – this includes preventing contamination from:</a:t>
            </a:r>
          </a:p>
          <a:p>
            <a:pPr lvl="1">
              <a:buFont typeface="Arial" pitchFamily="34" charset="0"/>
              <a:buChar char="•"/>
            </a:pPr>
            <a:r>
              <a:rPr lang="en-AU" sz="1200" kern="1200" dirty="0" smtClean="0">
                <a:solidFill>
                  <a:schemeClr val="tx1"/>
                </a:solidFill>
                <a:latin typeface="+mn-lt"/>
                <a:ea typeface="+mn-ea"/>
                <a:cs typeface="+mn-cs"/>
              </a:rPr>
              <a:t> Physical sources </a:t>
            </a:r>
          </a:p>
          <a:p>
            <a:pPr lvl="1">
              <a:buFont typeface="Arial" pitchFamily="34" charset="0"/>
              <a:buChar char="•"/>
            </a:pPr>
            <a:r>
              <a:rPr lang="en-AU" sz="1200" kern="1200" dirty="0" smtClean="0">
                <a:solidFill>
                  <a:schemeClr val="tx1"/>
                </a:solidFill>
                <a:latin typeface="+mn-lt"/>
                <a:ea typeface="+mn-ea"/>
                <a:cs typeface="+mn-cs"/>
              </a:rPr>
              <a:t> Chemicals </a:t>
            </a:r>
          </a:p>
          <a:p>
            <a:pPr lvl="1">
              <a:buFont typeface="Arial" pitchFamily="34" charset="0"/>
              <a:buChar char="•"/>
            </a:pPr>
            <a:r>
              <a:rPr lang="en-AU" sz="1200" kern="1200" dirty="0" smtClean="0">
                <a:solidFill>
                  <a:schemeClr val="tx1"/>
                </a:solidFill>
                <a:latin typeface="+mn-lt"/>
                <a:ea typeface="+mn-ea"/>
                <a:cs typeface="+mn-cs"/>
              </a:rPr>
              <a:t> Microbiological contamination – which may be caused by leaving potentially hazardous food in the Temperature Danger Zone for too long while it is being processed, or failing to cook food at the correct temperature. High risk food should reach an internal temperature of 75ºC which should be verified with a thermometer</a:t>
            </a:r>
          </a:p>
          <a:p>
            <a:pPr>
              <a:buFont typeface="Arial" pitchFamily="34" charset="0"/>
              <a:buChar char="•"/>
            </a:pPr>
            <a:r>
              <a:rPr lang="en-AU" sz="1200" kern="1200" dirty="0" smtClean="0">
                <a:solidFill>
                  <a:schemeClr val="tx1"/>
                </a:solidFill>
                <a:latin typeface="+mn-lt"/>
                <a:ea typeface="+mn-ea"/>
                <a:cs typeface="+mn-cs"/>
              </a:rPr>
              <a:t> Ensuring all fruit and vegetables are washed in a sanitizing solution before being prepared</a:t>
            </a:r>
          </a:p>
          <a:p>
            <a:pPr>
              <a:buFont typeface="Arial" pitchFamily="34" charset="0"/>
              <a:buChar char="•"/>
            </a:pPr>
            <a:r>
              <a:rPr lang="en-AU" sz="1200" kern="1200" dirty="0" smtClean="0">
                <a:solidFill>
                  <a:schemeClr val="tx1"/>
                </a:solidFill>
                <a:latin typeface="+mn-lt"/>
                <a:ea typeface="+mn-ea"/>
                <a:cs typeface="+mn-cs"/>
              </a:rPr>
              <a:t> Excluding unhealthy people from food handling/processing activities – food processing activities including chopping, cooking, drying, fermenting, heating, pasteurising, thawing and washing, or a combination of these activities.</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safe food handling practices as identified on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299155411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presenting safe</a:t>
            </a:r>
            <a:r>
              <a:rPr lang="en-AU" sz="1200" kern="1200" dirty="0" smtClean="0">
                <a:solidFill>
                  <a:schemeClr val="tx1"/>
                </a:solidFill>
                <a:latin typeface="+mn-lt"/>
                <a:ea typeface="+mn-ea"/>
                <a:cs typeface="+mn-cs"/>
              </a:rPr>
              <a:t> food handling requirements in relation to processing/preparing food:</a:t>
            </a:r>
          </a:p>
          <a:p>
            <a:pPr>
              <a:buFont typeface="Arial" pitchFamily="34" charset="0"/>
              <a:buChar char="•"/>
            </a:pPr>
            <a:r>
              <a:rPr lang="en-AU" sz="1200" kern="1200" dirty="0" smtClean="0">
                <a:solidFill>
                  <a:schemeClr val="tx1"/>
                </a:solidFill>
                <a:latin typeface="+mn-lt"/>
                <a:ea typeface="+mn-ea"/>
                <a:cs typeface="+mn-cs"/>
              </a:rPr>
              <a:t> Using clean equipment and utensils that have been sanitized and which are in proper working order – any piece of food equipment not working properly either raises safety and welfare risks for staff or presents the possibility the food processing job it was intended to do (such as to cook food to a certain temperature, or store/display food at a certain temperature) may not be achieved </a:t>
            </a:r>
          </a:p>
          <a:p>
            <a:pPr>
              <a:buFont typeface="Arial" pitchFamily="34" charset="0"/>
              <a:buChar char="•"/>
            </a:pPr>
            <a:r>
              <a:rPr lang="en-AU" sz="1200" kern="1200" dirty="0" smtClean="0">
                <a:solidFill>
                  <a:schemeClr val="tx1"/>
                </a:solidFill>
                <a:latin typeface="+mn-lt"/>
                <a:ea typeface="+mn-ea"/>
                <a:cs typeface="+mn-cs"/>
              </a:rPr>
              <a:t> Ensuring chemicals are kept separated from food and food utensils and equipment during processing </a:t>
            </a:r>
          </a:p>
          <a:p>
            <a:pPr>
              <a:buFont typeface="Arial" pitchFamily="34" charset="0"/>
              <a:buChar char="•"/>
            </a:pPr>
            <a:r>
              <a:rPr lang="en-AU" sz="1200" kern="1200" dirty="0" smtClean="0">
                <a:solidFill>
                  <a:schemeClr val="tx1"/>
                </a:solidFill>
                <a:latin typeface="+mn-lt"/>
                <a:ea typeface="+mn-ea"/>
                <a:cs typeface="+mn-cs"/>
              </a:rPr>
              <a:t> Keeping individual batches of processed food separate – batches of prepared food should never be mixed together as this can give rise to situations where food may remain able to be served even though it has passed its safe food date/time</a:t>
            </a:r>
          </a:p>
          <a:p>
            <a:pPr>
              <a:buFont typeface="Arial" pitchFamily="34" charset="0"/>
              <a:buChar char="•"/>
            </a:pPr>
            <a:r>
              <a:rPr lang="en-AU" sz="1200" kern="1200" dirty="0" smtClean="0">
                <a:solidFill>
                  <a:schemeClr val="tx1"/>
                </a:solidFill>
                <a:latin typeface="+mn-lt"/>
                <a:ea typeface="+mn-ea"/>
                <a:cs typeface="+mn-cs"/>
              </a:rPr>
              <a:t> Avoiding touching cooked/ready-to-eat food with the bare hands where it will not be subsequently cooked. </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safe food handling practices as identified on the slide.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350546735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presenting safe</a:t>
            </a:r>
            <a:r>
              <a:rPr lang="en-AU" sz="1200" kern="1200" dirty="0" smtClean="0">
                <a:solidFill>
                  <a:schemeClr val="tx1"/>
                </a:solidFill>
                <a:latin typeface="+mn-lt"/>
                <a:ea typeface="+mn-ea"/>
                <a:cs typeface="+mn-cs"/>
              </a:rPr>
              <a:t> food handling requirements in relation to processing/preparing food:</a:t>
            </a:r>
          </a:p>
          <a:p>
            <a:pPr>
              <a:buFont typeface="Arial" pitchFamily="34" charset="0"/>
              <a:buChar char="•"/>
            </a:pPr>
            <a:r>
              <a:rPr lang="en-AU" sz="1200" kern="1200" dirty="0" smtClean="0">
                <a:solidFill>
                  <a:schemeClr val="tx1"/>
                </a:solidFill>
                <a:latin typeface="+mn-lt"/>
                <a:ea typeface="+mn-ea"/>
                <a:cs typeface="+mn-cs"/>
              </a:rPr>
              <a:t> Discarding any food dropped on the floor – even if it was only on the floor for 1 second</a:t>
            </a:r>
          </a:p>
          <a:p>
            <a:pPr>
              <a:buFont typeface="Arial" pitchFamily="34" charset="0"/>
              <a:buChar char="•"/>
            </a:pPr>
            <a:r>
              <a:rPr lang="en-AU" sz="1200" kern="1200" dirty="0" smtClean="0">
                <a:solidFill>
                  <a:schemeClr val="tx1"/>
                </a:solidFill>
                <a:latin typeface="+mn-lt"/>
                <a:ea typeface="+mn-ea"/>
                <a:cs typeface="+mn-cs"/>
              </a:rPr>
              <a:t> Washing and sanitizing any food handling tool, implement or utensil dropped on the floor before re-using it</a:t>
            </a:r>
          </a:p>
          <a:p>
            <a:pPr>
              <a:buFont typeface="Arial" pitchFamily="34" charset="0"/>
              <a:buChar char="•"/>
            </a:pPr>
            <a:r>
              <a:rPr lang="en-AU" sz="1200" kern="1200" dirty="0" smtClean="0">
                <a:solidFill>
                  <a:schemeClr val="tx1"/>
                </a:solidFill>
                <a:latin typeface="+mn-lt"/>
                <a:ea typeface="+mn-ea"/>
                <a:cs typeface="+mn-cs"/>
              </a:rPr>
              <a:t> Avoiding coughing or sneezing over food or food preparation utensils, equipment or surfaces</a:t>
            </a:r>
          </a:p>
          <a:p>
            <a:pPr>
              <a:buFont typeface="Arial" pitchFamily="34" charset="0"/>
              <a:buChar char="•"/>
            </a:pPr>
            <a:r>
              <a:rPr lang="en-AU" sz="1200" kern="1200" dirty="0" smtClean="0">
                <a:solidFill>
                  <a:schemeClr val="tx1"/>
                </a:solidFill>
                <a:latin typeface="+mn-lt"/>
                <a:ea typeface="+mn-ea"/>
                <a:cs typeface="+mn-cs"/>
              </a:rPr>
              <a:t> Using a tasting spoon to taste dishes (not the spoon used to stir the food) – and not replacing in the food.</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safe food handling practices as identified on the slide.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353008171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safe</a:t>
            </a:r>
            <a:r>
              <a:rPr lang="en-AU" sz="1200" kern="1200" dirty="0" smtClean="0">
                <a:solidFill>
                  <a:schemeClr val="tx1"/>
                </a:solidFill>
                <a:latin typeface="+mn-lt"/>
                <a:ea typeface="+mn-ea"/>
                <a:cs typeface="+mn-cs"/>
              </a:rPr>
              <a:t> food handling requirements in relation to using cold display units/cabinets:</a:t>
            </a:r>
          </a:p>
          <a:p>
            <a:pPr>
              <a:buFont typeface="Arial" pitchFamily="34" charset="0"/>
              <a:buChar char="•"/>
            </a:pPr>
            <a:r>
              <a:rPr lang="en-AU" sz="1200" kern="1200" dirty="0" smtClean="0">
                <a:solidFill>
                  <a:schemeClr val="tx1"/>
                </a:solidFill>
                <a:latin typeface="+mn-lt"/>
                <a:ea typeface="+mn-ea"/>
                <a:cs typeface="+mn-cs"/>
              </a:rPr>
              <a:t> Food should be at or below 5°C</a:t>
            </a:r>
          </a:p>
          <a:p>
            <a:pPr>
              <a:buFont typeface="Arial" pitchFamily="34" charset="0"/>
              <a:buChar char="•"/>
            </a:pPr>
            <a:r>
              <a:rPr lang="en-AU" sz="1200" kern="1200" dirty="0" smtClean="0">
                <a:solidFill>
                  <a:schemeClr val="tx1"/>
                </a:solidFill>
                <a:latin typeface="+mn-lt"/>
                <a:ea typeface="+mn-ea"/>
                <a:cs typeface="+mn-cs"/>
              </a:rPr>
              <a:t> Food should be covered/wrapped to prevent contamination</a:t>
            </a:r>
          </a:p>
          <a:p>
            <a:pPr>
              <a:buFont typeface="Arial" pitchFamily="34" charset="0"/>
              <a:buChar char="•"/>
            </a:pPr>
            <a:r>
              <a:rPr lang="en-AU" sz="1200" kern="1200" dirty="0" smtClean="0">
                <a:solidFill>
                  <a:schemeClr val="tx1"/>
                </a:solidFill>
                <a:latin typeface="+mn-lt"/>
                <a:ea typeface="+mn-ea"/>
                <a:cs typeface="+mn-cs"/>
              </a:rPr>
              <a:t> Temperatures must be regularly checked (at least daily) and recorded using an independent thermometer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Serve food using FIFO principles</a:t>
            </a:r>
          </a:p>
          <a:p>
            <a:pPr>
              <a:buFont typeface="Arial" pitchFamily="34" charset="0"/>
              <a:buChar char="•"/>
            </a:pPr>
            <a:r>
              <a:rPr lang="en-AU" sz="1200" kern="1200" dirty="0" smtClean="0">
                <a:solidFill>
                  <a:schemeClr val="tx1"/>
                </a:solidFill>
                <a:latin typeface="+mn-lt"/>
                <a:ea typeface="+mn-ea"/>
                <a:cs typeface="+mn-cs"/>
              </a:rPr>
              <a:t> Protective guards must be provided (where appropriate) to prevent customers breathing, sneezing and/or coughing over the food</a:t>
            </a:r>
          </a:p>
          <a:p>
            <a:pPr>
              <a:buFont typeface="Arial" pitchFamily="34" charset="0"/>
              <a:buChar char="•"/>
            </a:pPr>
            <a:r>
              <a:rPr lang="en-AU" sz="1200" kern="1200" dirty="0" smtClean="0">
                <a:solidFill>
                  <a:schemeClr val="tx1"/>
                </a:solidFill>
                <a:latin typeface="+mn-lt"/>
                <a:ea typeface="+mn-ea"/>
                <a:cs typeface="+mn-cs"/>
              </a:rPr>
              <a:t> Pre-prepared sandwiches and filled rolls should be stored in these cabinets – where they are not so stored, some system must apply (such as the use of colour-coded stick-on labels, or written times on the wrapping/container) that will allow control over the length of time the food spends in the Temperature Danger Zone.</a:t>
            </a:r>
          </a:p>
          <a:p>
            <a:pPr lvl="1">
              <a:buFont typeface="Arial" pitchFamily="34" charset="0"/>
              <a:buChar char="•"/>
            </a:pPr>
            <a:r>
              <a:rPr lang="en-AU" sz="1200" kern="1200" dirty="0" smtClean="0">
                <a:solidFill>
                  <a:schemeClr val="tx1"/>
                </a:solidFill>
                <a:latin typeface="+mn-lt"/>
                <a:ea typeface="+mn-ea"/>
                <a:cs typeface="+mn-cs"/>
              </a:rPr>
              <a:t> Pre-prepared sandwiches and/or filled rolls must not be sold/eaten when they have spent four hours or more in the Temperature Danger Zone.</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safe food handling practices as identified on the slide.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292384790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safe</a:t>
            </a:r>
            <a:r>
              <a:rPr lang="en-AU" sz="1200" kern="1200" dirty="0" smtClean="0">
                <a:solidFill>
                  <a:schemeClr val="tx1"/>
                </a:solidFill>
                <a:latin typeface="+mn-lt"/>
                <a:ea typeface="+mn-ea"/>
                <a:cs typeface="+mn-cs"/>
              </a:rPr>
              <a:t> food handling requirements in relation to using hot display units/cabinets:</a:t>
            </a:r>
          </a:p>
          <a:p>
            <a:pPr>
              <a:buFont typeface="Arial" pitchFamily="34" charset="0"/>
              <a:buChar char="•"/>
            </a:pPr>
            <a:r>
              <a:rPr lang="en-AU" sz="1200" kern="1200" dirty="0" smtClean="0">
                <a:solidFill>
                  <a:schemeClr val="tx1"/>
                </a:solidFill>
                <a:latin typeface="+mn-lt"/>
                <a:ea typeface="+mn-ea"/>
                <a:cs typeface="+mn-cs"/>
              </a:rPr>
              <a:t> The temperature of the food must be over 60°C (or the 2/4 Rule must be applied)</a:t>
            </a:r>
          </a:p>
          <a:p>
            <a:pPr>
              <a:buFont typeface="Arial" pitchFamily="34" charset="0"/>
              <a:buChar char="•"/>
            </a:pPr>
            <a:r>
              <a:rPr lang="en-AU" sz="1200" kern="1200" dirty="0" smtClean="0">
                <a:solidFill>
                  <a:schemeClr val="tx1"/>
                </a:solidFill>
                <a:latin typeface="+mn-lt"/>
                <a:ea typeface="+mn-ea"/>
                <a:cs typeface="+mn-cs"/>
              </a:rPr>
              <a:t> Food to be put in hot food cabinets must be preheated rapidly before being placed in the cabinet </a:t>
            </a:r>
          </a:p>
          <a:p>
            <a:pPr>
              <a:buFont typeface="Arial" pitchFamily="34" charset="0"/>
              <a:buChar char="•"/>
            </a:pPr>
            <a:r>
              <a:rPr lang="en-AU" sz="1200" kern="1200" dirty="0" smtClean="0">
                <a:solidFill>
                  <a:schemeClr val="tx1"/>
                </a:solidFill>
                <a:latin typeface="+mn-lt"/>
                <a:ea typeface="+mn-ea"/>
                <a:cs typeface="+mn-cs"/>
              </a:rPr>
              <a:t> Food should be served in the order it was placed in the cabinet to minimise risk of contamination (as well as guard against loss of taste, appearance and quality)</a:t>
            </a:r>
          </a:p>
          <a:p>
            <a:pPr>
              <a:buFont typeface="Arial" pitchFamily="34" charset="0"/>
              <a:buChar char="•"/>
            </a:pPr>
            <a:r>
              <a:rPr lang="en-AU" sz="1200" kern="1200" dirty="0" smtClean="0">
                <a:solidFill>
                  <a:schemeClr val="tx1"/>
                </a:solidFill>
                <a:latin typeface="+mn-lt"/>
                <a:ea typeface="+mn-ea"/>
                <a:cs typeface="+mn-cs"/>
              </a:rPr>
              <a:t> Hot foods left from the day before should be served first, following the guidelines set out in ‘Re-heating previously cooked food’ – foods can only be re-heated once. Note some premises follow a standard operating procedure of discarding </a:t>
            </a:r>
            <a:r>
              <a:rPr lang="en-AU" sz="1200" i="1" kern="1200" dirty="0" smtClean="0">
                <a:solidFill>
                  <a:schemeClr val="tx1"/>
                </a:solidFill>
                <a:latin typeface="+mn-lt"/>
                <a:ea typeface="+mn-ea"/>
                <a:cs typeface="+mn-cs"/>
              </a:rPr>
              <a:t>all</a:t>
            </a:r>
            <a:r>
              <a:rPr lang="en-AU" sz="1200" kern="1200" dirty="0" smtClean="0">
                <a:solidFill>
                  <a:schemeClr val="tx1"/>
                </a:solidFill>
                <a:latin typeface="+mn-lt"/>
                <a:ea typeface="+mn-ea"/>
                <a:cs typeface="+mn-cs"/>
              </a:rPr>
              <a:t> left-over food</a:t>
            </a:r>
          </a:p>
          <a:p>
            <a:pPr>
              <a:buFont typeface="Arial" pitchFamily="34" charset="0"/>
              <a:buChar char="•"/>
            </a:pPr>
            <a:r>
              <a:rPr lang="en-AU" sz="1200" kern="1200" dirty="0" smtClean="0">
                <a:solidFill>
                  <a:schemeClr val="tx1"/>
                </a:solidFill>
                <a:latin typeface="+mn-lt"/>
                <a:ea typeface="+mn-ea"/>
                <a:cs typeface="+mn-cs"/>
              </a:rPr>
              <a:t> Temperatures of food must be regularly checked (at least daily) using an independent thermometer </a:t>
            </a:r>
          </a:p>
          <a:p>
            <a:pPr>
              <a:buFont typeface="Arial" pitchFamily="34" charset="0"/>
              <a:buChar char="•"/>
            </a:pPr>
            <a:r>
              <a:rPr lang="en-AU" sz="1200" kern="1200" dirty="0" smtClean="0">
                <a:solidFill>
                  <a:schemeClr val="tx1"/>
                </a:solidFill>
                <a:latin typeface="+mn-lt"/>
                <a:ea typeface="+mn-ea"/>
                <a:cs typeface="+mn-cs"/>
              </a:rPr>
              <a:t> Food must not be topped-up but rotated to keep it fresh and avoid mixing batches.</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safe food handling practices as identified on the slide.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56339639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safe</a:t>
            </a:r>
            <a:r>
              <a:rPr lang="en-AU" sz="1200" kern="1200" dirty="0" smtClean="0">
                <a:solidFill>
                  <a:schemeClr val="tx1"/>
                </a:solidFill>
                <a:latin typeface="+mn-lt"/>
                <a:ea typeface="+mn-ea"/>
                <a:cs typeface="+mn-cs"/>
              </a:rPr>
              <a:t> food handling requirements in relation to situations where customers serve themselves and/or there is unpackaged ready-to-eat food:</a:t>
            </a:r>
          </a:p>
          <a:p>
            <a:pPr>
              <a:buFont typeface="Arial" pitchFamily="34" charset="0"/>
              <a:buChar char="•"/>
            </a:pPr>
            <a:r>
              <a:rPr lang="en-AU" sz="1200" kern="1200" dirty="0" smtClean="0">
                <a:solidFill>
                  <a:schemeClr val="tx1"/>
                </a:solidFill>
                <a:latin typeface="+mn-lt"/>
                <a:ea typeface="+mn-ea"/>
                <a:cs typeface="+mn-cs"/>
              </a:rPr>
              <a:t> Customer activities are routinely and regularly monitored so unsafe practices can be identified and remedial action taken – this means a staff member must be appointed to watch the customers in order to prevent them from doing anything to compromise the food, and/or to remove food from sale/service when it has been contaminated</a:t>
            </a:r>
          </a:p>
          <a:p>
            <a:pPr>
              <a:buFont typeface="Arial" pitchFamily="34" charset="0"/>
              <a:buChar char="•"/>
            </a:pPr>
            <a:r>
              <a:rPr lang="en-AU" sz="1200" kern="1200" dirty="0" smtClean="0">
                <a:solidFill>
                  <a:schemeClr val="tx1"/>
                </a:solidFill>
                <a:latin typeface="+mn-lt"/>
                <a:ea typeface="+mn-ea"/>
                <a:cs typeface="+mn-cs"/>
              </a:rPr>
              <a:t> Special attention is paid to children at self-serve areas – they are prone to handling food with their hands, and taking food from displays and then putting it back</a:t>
            </a:r>
          </a:p>
          <a:p>
            <a:pPr>
              <a:buFont typeface="Arial" pitchFamily="34" charset="0"/>
              <a:buChar char="•"/>
            </a:pPr>
            <a:r>
              <a:rPr lang="en-AU" sz="1200" kern="1200" dirty="0" smtClean="0">
                <a:solidFill>
                  <a:schemeClr val="tx1"/>
                </a:solidFill>
                <a:latin typeface="+mn-lt"/>
                <a:ea typeface="+mn-ea"/>
                <a:cs typeface="+mn-cs"/>
              </a:rPr>
              <a:t> Hot food is kept hot (60°C and above), and cold food is kept cold (5°C and below) or the 2/4 rule is applied</a:t>
            </a:r>
          </a:p>
          <a:p>
            <a:pPr>
              <a:buFont typeface="Arial" pitchFamily="34" charset="0"/>
              <a:buChar char="•"/>
            </a:pPr>
            <a:r>
              <a:rPr lang="en-AU" sz="1200" kern="1200" dirty="0" smtClean="0">
                <a:solidFill>
                  <a:schemeClr val="tx1"/>
                </a:solidFill>
                <a:latin typeface="+mn-lt"/>
                <a:ea typeface="+mn-ea"/>
                <a:cs typeface="+mn-cs"/>
              </a:rPr>
              <a:t> Any utensils dropped by customers are immediately replaced with clean and sanitized ones</a:t>
            </a:r>
          </a:p>
          <a:p>
            <a:pPr>
              <a:buFont typeface="Arial" pitchFamily="34" charset="0"/>
              <a:buChar char="•"/>
            </a:pPr>
            <a:r>
              <a:rPr lang="en-AU" sz="1200" kern="1200" dirty="0" smtClean="0">
                <a:solidFill>
                  <a:schemeClr val="tx1"/>
                </a:solidFill>
                <a:latin typeface="+mn-lt"/>
                <a:ea typeface="+mn-ea"/>
                <a:cs typeface="+mn-cs"/>
              </a:rPr>
              <a:t> Spills are cleaned up immediately.</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safe food handling practices as identified on the slide.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231835300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presenting safe</a:t>
            </a:r>
            <a:r>
              <a:rPr lang="en-AU" sz="1200" kern="1200" dirty="0" smtClean="0">
                <a:solidFill>
                  <a:schemeClr val="tx1"/>
                </a:solidFill>
                <a:latin typeface="+mn-lt"/>
                <a:ea typeface="+mn-ea"/>
                <a:cs typeface="+mn-cs"/>
              </a:rPr>
              <a:t> food handling requirements in relation to situations where customers serve themselves and/or there is unpackaged ready-to-eat food:</a:t>
            </a:r>
          </a:p>
          <a:p>
            <a:pPr>
              <a:buFont typeface="Arial" pitchFamily="34" charset="0"/>
              <a:buChar char="•"/>
            </a:pPr>
            <a:r>
              <a:rPr lang="en-AU" sz="1200" kern="1200" dirty="0" smtClean="0">
                <a:solidFill>
                  <a:schemeClr val="tx1"/>
                </a:solidFill>
                <a:latin typeface="+mn-lt"/>
                <a:ea typeface="+mn-ea"/>
                <a:cs typeface="+mn-cs"/>
              </a:rPr>
              <a:t> Any contaminated food is thrown out – this includes contamination by customers coughing or sneezing over the food</a:t>
            </a:r>
          </a:p>
          <a:p>
            <a:pPr>
              <a:buFont typeface="Arial" pitchFamily="34" charset="0"/>
              <a:buChar char="•"/>
            </a:pPr>
            <a:r>
              <a:rPr lang="en-AU" sz="1200" kern="1200" dirty="0" smtClean="0">
                <a:solidFill>
                  <a:schemeClr val="tx1"/>
                </a:solidFill>
                <a:latin typeface="+mn-lt"/>
                <a:ea typeface="+mn-ea"/>
                <a:cs typeface="+mn-cs"/>
              </a:rPr>
              <a:t> Signs are posted advising customers of safe food handling practices – such as asking them not to use utensils in other foods, to refrain from coughing and sneezing over the food, to refrain from handling any of the food with their bare hands</a:t>
            </a:r>
          </a:p>
          <a:p>
            <a:pPr>
              <a:buFont typeface="Arial" pitchFamily="34" charset="0"/>
              <a:buChar char="•"/>
            </a:pPr>
            <a:r>
              <a:rPr lang="en-AU" sz="1200" kern="1200" dirty="0" smtClean="0">
                <a:solidFill>
                  <a:schemeClr val="tx1"/>
                </a:solidFill>
                <a:latin typeface="+mn-lt"/>
                <a:ea typeface="+mn-ea"/>
                <a:cs typeface="+mn-cs"/>
              </a:rPr>
              <a:t> Foods are covered and protected from contamination when not actually being used</a:t>
            </a:r>
          </a:p>
          <a:p>
            <a:pPr>
              <a:buFont typeface="Arial" pitchFamily="34" charset="0"/>
              <a:buChar char="•"/>
            </a:pPr>
            <a:r>
              <a:rPr lang="en-AU" sz="1200" kern="1200" dirty="0" smtClean="0">
                <a:solidFill>
                  <a:schemeClr val="tx1"/>
                </a:solidFill>
                <a:latin typeface="+mn-lt"/>
                <a:ea typeface="+mn-ea"/>
                <a:cs typeface="+mn-cs"/>
              </a:rPr>
              <a:t> Separate utensils are provided for each and every food item</a:t>
            </a:r>
          </a:p>
          <a:p>
            <a:pPr>
              <a:buFont typeface="Arial" pitchFamily="34" charset="0"/>
              <a:buChar char="•"/>
            </a:pPr>
            <a:r>
              <a:rPr lang="en-AU" sz="1200" kern="1200" dirty="0" smtClean="0">
                <a:solidFill>
                  <a:schemeClr val="tx1"/>
                </a:solidFill>
                <a:latin typeface="+mn-lt"/>
                <a:ea typeface="+mn-ea"/>
                <a:cs typeface="+mn-cs"/>
              </a:rPr>
              <a:t> Sneeze-guards are in place and are constructed/positioned to be effective.</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safe food handling practices as identified on the slide.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10849977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presenting safe</a:t>
            </a:r>
            <a:r>
              <a:rPr lang="en-AU" sz="1200" kern="1200" dirty="0" smtClean="0">
                <a:solidFill>
                  <a:schemeClr val="tx1"/>
                </a:solidFill>
                <a:latin typeface="+mn-lt"/>
                <a:ea typeface="+mn-ea"/>
                <a:cs typeface="+mn-cs"/>
              </a:rPr>
              <a:t> food handling requirements in relation to situations where customers serve themselves and/or there is unpackaged ready-to-eat food:</a:t>
            </a:r>
          </a:p>
          <a:p>
            <a:pPr>
              <a:buFont typeface="Arial" pitchFamily="34" charset="0"/>
              <a:buChar char="•"/>
            </a:pPr>
            <a:r>
              <a:rPr lang="en-AU" sz="1200" kern="1200" dirty="0" smtClean="0">
                <a:solidFill>
                  <a:schemeClr val="tx1"/>
                </a:solidFill>
                <a:latin typeface="+mn-lt"/>
                <a:ea typeface="+mn-ea"/>
                <a:cs typeface="+mn-cs"/>
              </a:rPr>
              <a:t> Batches and/or trays of food items are not mixed – stock rotation is important but so is keeping batches separate</a:t>
            </a:r>
          </a:p>
          <a:p>
            <a:pPr>
              <a:buFont typeface="Arial" pitchFamily="34" charset="0"/>
              <a:buChar char="•"/>
            </a:pPr>
            <a:r>
              <a:rPr lang="en-AU" sz="1200" kern="1200" dirty="0" smtClean="0">
                <a:solidFill>
                  <a:schemeClr val="tx1"/>
                </a:solidFill>
                <a:latin typeface="+mn-lt"/>
                <a:ea typeface="+mn-ea"/>
                <a:cs typeface="+mn-cs"/>
              </a:rPr>
              <a:t> Throw out any plate waste/returned food</a:t>
            </a:r>
          </a:p>
          <a:p>
            <a:pPr>
              <a:buFont typeface="Arial" pitchFamily="34" charset="0"/>
              <a:buChar char="•"/>
            </a:pPr>
            <a:r>
              <a:rPr lang="en-AU" sz="1200" kern="1200" dirty="0" smtClean="0">
                <a:solidFill>
                  <a:schemeClr val="tx1"/>
                </a:solidFill>
                <a:latin typeface="+mn-lt"/>
                <a:ea typeface="+mn-ea"/>
                <a:cs typeface="+mn-cs"/>
              </a:rPr>
              <a:t> Small batches of food are put out – and replaced frequently, rather than putting out a large tray/platter to begin with</a:t>
            </a:r>
          </a:p>
          <a:p>
            <a:pPr>
              <a:buFont typeface="Arial" pitchFamily="34" charset="0"/>
              <a:buChar char="•"/>
            </a:pPr>
            <a:r>
              <a:rPr lang="en-AU" sz="1200" kern="1200" dirty="0" smtClean="0">
                <a:solidFill>
                  <a:schemeClr val="tx1"/>
                </a:solidFill>
                <a:latin typeface="+mn-lt"/>
                <a:ea typeface="+mn-ea"/>
                <a:cs typeface="+mn-cs"/>
              </a:rPr>
              <a:t> Extra utensils are provided – there always seems to be a need for more</a:t>
            </a:r>
          </a:p>
          <a:p>
            <a:pPr>
              <a:buFont typeface="Arial" pitchFamily="34" charset="0"/>
              <a:buChar char="•"/>
            </a:pPr>
            <a:r>
              <a:rPr lang="en-AU" sz="1200" kern="1200" dirty="0" smtClean="0">
                <a:solidFill>
                  <a:schemeClr val="tx1"/>
                </a:solidFill>
                <a:latin typeface="+mn-lt"/>
                <a:ea typeface="+mn-ea"/>
                <a:cs typeface="+mn-cs"/>
              </a:rPr>
              <a:t> Clean ‘rests’ for utensils (spoons and other service utensils) are provided and changed regularly to prevent cross-contamination</a:t>
            </a:r>
          </a:p>
          <a:p>
            <a:pPr>
              <a:buFont typeface="Arial" pitchFamily="34" charset="0"/>
              <a:buChar char="•"/>
            </a:pPr>
            <a:r>
              <a:rPr lang="en-AU" sz="1200" kern="1200" dirty="0" smtClean="0">
                <a:solidFill>
                  <a:schemeClr val="tx1"/>
                </a:solidFill>
                <a:latin typeface="+mn-lt"/>
                <a:ea typeface="+mn-ea"/>
                <a:cs typeface="+mn-cs"/>
              </a:rPr>
              <a:t> The 2/4 rule is being complied with.</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safe food handling practices as identified on the slide.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185957931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safe</a:t>
            </a:r>
            <a:r>
              <a:rPr lang="en-AU" sz="1200" kern="1200" dirty="0" smtClean="0">
                <a:solidFill>
                  <a:schemeClr val="tx1"/>
                </a:solidFill>
                <a:latin typeface="+mn-lt"/>
                <a:ea typeface="+mn-ea"/>
                <a:cs typeface="+mn-cs"/>
              </a:rPr>
              <a:t> food handling requirements in relation to food transportation:</a:t>
            </a:r>
          </a:p>
          <a:p>
            <a:pPr>
              <a:buFont typeface="Arial" pitchFamily="34" charset="0"/>
              <a:buChar char="•"/>
            </a:pPr>
            <a:r>
              <a:rPr lang="en-AU" sz="1200" kern="1200" dirty="0" smtClean="0">
                <a:solidFill>
                  <a:schemeClr val="tx1"/>
                </a:solidFill>
                <a:latin typeface="+mn-lt"/>
                <a:ea typeface="+mn-ea"/>
                <a:cs typeface="+mn-cs"/>
              </a:rPr>
              <a:t> A dedicated food delivery vehicle is used – food should not be transported in family cars</a:t>
            </a:r>
          </a:p>
          <a:p>
            <a:pPr>
              <a:buFont typeface="Arial" pitchFamily="34" charset="0"/>
              <a:buChar char="•"/>
            </a:pPr>
            <a:r>
              <a:rPr lang="en-AU" sz="1200" kern="1200" dirty="0" smtClean="0">
                <a:solidFill>
                  <a:schemeClr val="tx1"/>
                </a:solidFill>
                <a:latin typeface="+mn-lt"/>
                <a:ea typeface="+mn-ea"/>
                <a:cs typeface="+mn-cs"/>
              </a:rPr>
              <a:t> The food storage area of the delivery vehicle is maintained in a clean condition been cleaned – also, any boxes, containers, transport boxes (including warmers/heaters) used to store food during transport must be clean</a:t>
            </a:r>
          </a:p>
          <a:p>
            <a:pPr>
              <a:buFont typeface="Arial" pitchFamily="34" charset="0"/>
              <a:buChar char="•"/>
            </a:pPr>
            <a:r>
              <a:rPr lang="en-AU" sz="1200" kern="1200" dirty="0" smtClean="0">
                <a:solidFill>
                  <a:schemeClr val="tx1"/>
                </a:solidFill>
                <a:latin typeface="+mn-lt"/>
                <a:ea typeface="+mn-ea"/>
                <a:cs typeface="+mn-cs"/>
              </a:rPr>
              <a:t> Raw and cooked/ready-to-eat foods are kept physically separate – to avoid cross contamination</a:t>
            </a:r>
          </a:p>
          <a:p>
            <a:pPr>
              <a:buFont typeface="Arial" pitchFamily="34" charset="0"/>
              <a:buChar char="•"/>
            </a:pPr>
            <a:r>
              <a:rPr lang="en-AU" sz="1200" kern="1200" dirty="0" smtClean="0">
                <a:solidFill>
                  <a:schemeClr val="tx1"/>
                </a:solidFill>
                <a:latin typeface="+mn-lt"/>
                <a:ea typeface="+mn-ea"/>
                <a:cs typeface="+mn-cs"/>
              </a:rPr>
              <a:t> The temperature of hot and cold food is checked prior to being loaded – hot food to be 60°C or above, and cold food to be 5°C or below: frozen food to be hard frozen</a:t>
            </a:r>
          </a:p>
          <a:p>
            <a:pPr>
              <a:buFont typeface="Arial" pitchFamily="34" charset="0"/>
              <a:buChar char="•"/>
            </a:pPr>
            <a:r>
              <a:rPr lang="en-AU" sz="1200" kern="1200" dirty="0" smtClean="0">
                <a:solidFill>
                  <a:schemeClr val="tx1"/>
                </a:solidFill>
                <a:latin typeface="+mn-lt"/>
                <a:ea typeface="+mn-ea"/>
                <a:cs typeface="+mn-cs"/>
              </a:rPr>
              <a:t> Where hot food cannot be held at 60°C or above, it will need to be able to be delivered within two hours </a:t>
            </a:r>
          </a:p>
          <a:p>
            <a:pPr>
              <a:buFont typeface="Arial" pitchFamily="34" charset="0"/>
              <a:buChar char="•"/>
            </a:pPr>
            <a:r>
              <a:rPr lang="en-AU" sz="1200" kern="1200" dirty="0" smtClean="0">
                <a:solidFill>
                  <a:schemeClr val="tx1"/>
                </a:solidFill>
                <a:latin typeface="+mn-lt"/>
                <a:ea typeface="+mn-ea"/>
                <a:cs typeface="+mn-cs"/>
              </a:rPr>
              <a:t> Where cold potentially hazardous food cannot be held at 5°C or below, it will 100% definitely need to be able to be delivered within two hours.</a:t>
            </a:r>
          </a:p>
          <a:p>
            <a:pPr>
              <a:buFont typeface="Arial" pitchFamily="34" charset="0"/>
              <a:buNone/>
            </a:pPr>
            <a:endParaRPr lang="en-AU" noProof="0" dirty="0" smtClean="0"/>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safe food handling practices as identified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8106708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presenting safe</a:t>
            </a:r>
            <a:r>
              <a:rPr lang="en-AU" sz="1200" kern="1200" dirty="0" smtClean="0">
                <a:solidFill>
                  <a:schemeClr val="tx1"/>
                </a:solidFill>
                <a:latin typeface="+mn-lt"/>
                <a:ea typeface="+mn-ea"/>
                <a:cs typeface="+mn-cs"/>
              </a:rPr>
              <a:t> food handling requirements in relation to food transportation:</a:t>
            </a:r>
          </a:p>
          <a:p>
            <a:pPr>
              <a:buFont typeface="Arial" pitchFamily="34" charset="0"/>
              <a:buChar char="•"/>
            </a:pPr>
            <a:r>
              <a:rPr lang="en-AU" sz="1200" kern="1200" dirty="0" smtClean="0">
                <a:solidFill>
                  <a:schemeClr val="tx1"/>
                </a:solidFill>
                <a:latin typeface="+mn-lt"/>
                <a:ea typeface="+mn-ea"/>
                <a:cs typeface="+mn-cs"/>
              </a:rPr>
              <a:t> Refrigerated food delivery vehicles must be able to hold food outside the Temperature Danger Zone – this may require the vehicle to be connected to mains power and pre-cooled prior to food being loaded into the vehicle</a:t>
            </a:r>
          </a:p>
          <a:p>
            <a:pPr>
              <a:buFont typeface="Arial" pitchFamily="34" charset="0"/>
              <a:buChar char="•"/>
            </a:pPr>
            <a:r>
              <a:rPr lang="en-AU" sz="1200" kern="1200" dirty="0" smtClean="0">
                <a:solidFill>
                  <a:schemeClr val="tx1"/>
                </a:solidFill>
                <a:latin typeface="+mn-lt"/>
                <a:ea typeface="+mn-ea"/>
                <a:cs typeface="+mn-cs"/>
              </a:rPr>
              <a:t> Temperatures (and times) of food items are recorded onto a Food Delivery-Transportation log (or similar) when they are loaded into the food delivery vehicle</a:t>
            </a:r>
          </a:p>
          <a:p>
            <a:pPr>
              <a:buFont typeface="Arial" pitchFamily="34" charset="0"/>
              <a:buChar char="•"/>
            </a:pPr>
            <a:r>
              <a:rPr lang="en-AU" sz="1200" kern="1200" dirty="0" smtClean="0">
                <a:solidFill>
                  <a:schemeClr val="tx1"/>
                </a:solidFill>
                <a:latin typeface="+mn-lt"/>
                <a:ea typeface="+mn-ea"/>
                <a:cs typeface="+mn-cs"/>
              </a:rPr>
              <a:t> Food is not loaded into the delivery vehicle until it is ready to be delivered</a:t>
            </a:r>
          </a:p>
          <a:p>
            <a:pPr>
              <a:buFont typeface="Arial" pitchFamily="34" charset="0"/>
              <a:buChar char="•"/>
            </a:pPr>
            <a:r>
              <a:rPr lang="en-AU" sz="1200" kern="1200" dirty="0" smtClean="0">
                <a:solidFill>
                  <a:schemeClr val="tx1"/>
                </a:solidFill>
                <a:latin typeface="+mn-lt"/>
                <a:ea typeface="+mn-ea"/>
                <a:cs typeface="+mn-cs"/>
              </a:rPr>
              <a:t> All food is covered to protect it from contamination.</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safe food handling practices as identified on the slide.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394992738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presenting safe</a:t>
            </a:r>
            <a:r>
              <a:rPr lang="en-AU" sz="1200" kern="1200" dirty="0" smtClean="0">
                <a:solidFill>
                  <a:schemeClr val="tx1"/>
                </a:solidFill>
                <a:latin typeface="+mn-lt"/>
                <a:ea typeface="+mn-ea"/>
                <a:cs typeface="+mn-cs"/>
              </a:rPr>
              <a:t> food handling requirements in relation to food transportation:</a:t>
            </a:r>
          </a:p>
          <a:p>
            <a:pPr>
              <a:buFont typeface="Arial" pitchFamily="34" charset="0"/>
              <a:buChar char="•"/>
            </a:pPr>
            <a:r>
              <a:rPr lang="en-AU" sz="1200" kern="1200" dirty="0" smtClean="0">
                <a:solidFill>
                  <a:schemeClr val="tx1"/>
                </a:solidFill>
                <a:latin typeface="+mn-lt"/>
                <a:ea typeface="+mn-ea"/>
                <a:cs typeface="+mn-cs"/>
              </a:rPr>
              <a:t> The delivery vehicle itself has been well maintained to minimise the risk of vehicle breakdown during food delivery</a:t>
            </a:r>
          </a:p>
          <a:p>
            <a:pPr>
              <a:buFont typeface="Arial" pitchFamily="34" charset="0"/>
              <a:buChar char="•"/>
            </a:pPr>
            <a:r>
              <a:rPr lang="en-AU" sz="1200" kern="1200" dirty="0" smtClean="0">
                <a:solidFill>
                  <a:schemeClr val="tx1"/>
                </a:solidFill>
                <a:latin typeface="+mn-lt"/>
                <a:ea typeface="+mn-ea"/>
                <a:cs typeface="+mn-cs"/>
              </a:rPr>
              <a:t> Chemicals are not stored/transported with food items – chemicals</a:t>
            </a:r>
            <a:r>
              <a:rPr lang="en-AU" sz="1200" kern="1200" baseline="0" dirty="0" smtClean="0">
                <a:solidFill>
                  <a:schemeClr val="tx1"/>
                </a:solidFill>
                <a:latin typeface="+mn-lt"/>
                <a:ea typeface="+mn-ea"/>
                <a:cs typeface="+mn-cs"/>
              </a:rPr>
              <a:t> can be carried in the same vehicle as food but they must in a separate part of the vehicle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No pets/animals are allowed in the food delivery vehicle</a:t>
            </a:r>
          </a:p>
          <a:p>
            <a:pPr>
              <a:buFont typeface="Arial" pitchFamily="34" charset="0"/>
              <a:buChar char="•"/>
            </a:pPr>
            <a:r>
              <a:rPr lang="en-AU" sz="1200" kern="1200" dirty="0" smtClean="0">
                <a:solidFill>
                  <a:schemeClr val="tx1"/>
                </a:solidFill>
                <a:latin typeface="+mn-lt"/>
                <a:ea typeface="+mn-ea"/>
                <a:cs typeface="+mn-cs"/>
              </a:rPr>
              <a:t> All doors on the food delivery vehicle should be locked when unattended.</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safe food handling practices as identified on the slide.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189537250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specific requirements for people who work in a bar:</a:t>
            </a:r>
          </a:p>
          <a:p>
            <a:pPr>
              <a:buFont typeface="Arial" pitchFamily="34" charset="0"/>
              <a:buChar char="•"/>
            </a:pPr>
            <a:r>
              <a:rPr lang="en-AU" sz="1200" kern="1200" dirty="0" smtClean="0">
                <a:solidFill>
                  <a:schemeClr val="tx1"/>
                </a:solidFill>
                <a:latin typeface="+mn-lt"/>
                <a:ea typeface="+mn-ea"/>
                <a:cs typeface="+mn-cs"/>
              </a:rPr>
              <a:t> Use a fork or tongs when putting fruit or ice in a glass – do not use fingers</a:t>
            </a:r>
          </a:p>
          <a:p>
            <a:pPr>
              <a:buFont typeface="Arial" pitchFamily="34" charset="0"/>
              <a:buChar char="•"/>
            </a:pPr>
            <a:r>
              <a:rPr lang="en-AU" sz="1200" kern="1200" dirty="0" smtClean="0">
                <a:solidFill>
                  <a:schemeClr val="tx1"/>
                </a:solidFill>
                <a:latin typeface="+mn-lt"/>
                <a:ea typeface="+mn-ea"/>
                <a:cs typeface="+mn-cs"/>
              </a:rPr>
              <a:t> Do not re-use any fruit, straws, beverage, food, garnish left by a guest, or which comes back from the tables – it must be thrown out</a:t>
            </a:r>
          </a:p>
          <a:p>
            <a:pPr>
              <a:buFont typeface="Arial" pitchFamily="34" charset="0"/>
              <a:buChar char="•"/>
            </a:pPr>
            <a:r>
              <a:rPr lang="en-AU" sz="1200" kern="1200" dirty="0" smtClean="0">
                <a:solidFill>
                  <a:schemeClr val="tx1"/>
                </a:solidFill>
                <a:latin typeface="+mn-lt"/>
                <a:ea typeface="+mn-ea"/>
                <a:cs typeface="+mn-cs"/>
              </a:rPr>
              <a:t> Ensure straws are correctly stored – they must be stored so they are kept free from flies, dust and contamination. They must be able to be obtained one at a time without the others being touched so it is not acceptable to store straws in a glass on the bar</a:t>
            </a:r>
          </a:p>
          <a:p>
            <a:pPr>
              <a:buFont typeface="Arial" pitchFamily="34" charset="0"/>
              <a:buChar char="•"/>
            </a:pPr>
            <a:r>
              <a:rPr lang="en-AU" sz="1200" kern="1200" dirty="0" smtClean="0">
                <a:solidFill>
                  <a:schemeClr val="tx1"/>
                </a:solidFill>
                <a:latin typeface="+mn-lt"/>
                <a:ea typeface="+mn-ea"/>
                <a:cs typeface="+mn-cs"/>
              </a:rPr>
              <a:t> Check glass washing machine has detergent, and is operating at the prescribed temperature (which is 70° C)</a:t>
            </a:r>
          </a:p>
          <a:p>
            <a:pPr>
              <a:buFont typeface="Arial" pitchFamily="34" charset="0"/>
              <a:buChar char="•"/>
            </a:pPr>
            <a:r>
              <a:rPr lang="en-AU" sz="1200" kern="1200" dirty="0" smtClean="0">
                <a:solidFill>
                  <a:schemeClr val="tx1"/>
                </a:solidFill>
                <a:latin typeface="+mn-lt"/>
                <a:ea typeface="+mn-ea"/>
                <a:cs typeface="+mn-cs"/>
              </a:rPr>
              <a:t> Put de-naturing agent in drip trays (drip trays are trays which are placed under beer drawing taps to catch the drips/overflow from glasses) – there must be sufficient de-naturing agent to actually de-nature the waste beer and stop premises pouring this waste beer back into the barrel.</a:t>
            </a:r>
          </a:p>
          <a:p>
            <a:pPr>
              <a:buFont typeface="Arial" pitchFamily="34" charset="0"/>
              <a:buNone/>
            </a:pPr>
            <a:endParaRPr lang="en-AU" noProof="0" dirty="0" smtClean="0"/>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safe food handling practices as identified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1594418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specific requirements for people who work in a bar:</a:t>
            </a:r>
          </a:p>
          <a:p>
            <a:pPr>
              <a:buFont typeface="Arial" pitchFamily="34" charset="0"/>
              <a:buChar char="•"/>
            </a:pPr>
            <a:r>
              <a:rPr lang="en-AU" sz="1200" kern="1200" dirty="0" smtClean="0">
                <a:solidFill>
                  <a:schemeClr val="tx1"/>
                </a:solidFill>
                <a:latin typeface="+mn-lt"/>
                <a:ea typeface="+mn-ea"/>
                <a:cs typeface="+mn-cs"/>
              </a:rPr>
              <a:t> No smoking or spitting behind the bar </a:t>
            </a:r>
          </a:p>
          <a:p>
            <a:pPr>
              <a:buFont typeface="Arial" pitchFamily="34" charset="0"/>
              <a:buChar char="•"/>
            </a:pPr>
            <a:r>
              <a:rPr lang="en-AU" sz="1200" kern="1200" dirty="0" smtClean="0">
                <a:solidFill>
                  <a:schemeClr val="tx1"/>
                </a:solidFill>
                <a:latin typeface="+mn-lt"/>
                <a:ea typeface="+mn-ea"/>
                <a:cs typeface="+mn-cs"/>
              </a:rPr>
              <a:t> Wash hands at all times that kitchen-based food handlers are required to wash their hands</a:t>
            </a:r>
          </a:p>
          <a:p>
            <a:pPr>
              <a:buFont typeface="Arial" pitchFamily="34" charset="0"/>
              <a:buChar char="•"/>
            </a:pPr>
            <a:r>
              <a:rPr lang="en-AU" sz="1200" kern="1200" dirty="0" smtClean="0">
                <a:solidFill>
                  <a:schemeClr val="tx1"/>
                </a:solidFill>
                <a:latin typeface="+mn-lt"/>
                <a:ea typeface="+mn-ea"/>
                <a:cs typeface="+mn-cs"/>
              </a:rPr>
              <a:t> Ensure clean clothes, hands and fingernails</a:t>
            </a:r>
          </a:p>
          <a:p>
            <a:pPr>
              <a:buFont typeface="Arial" pitchFamily="34" charset="0"/>
              <a:buChar char="•"/>
            </a:pPr>
            <a:r>
              <a:rPr lang="en-AU" sz="1200" kern="1200" dirty="0" smtClean="0">
                <a:solidFill>
                  <a:schemeClr val="tx1"/>
                </a:solidFill>
                <a:latin typeface="+mn-lt"/>
                <a:ea typeface="+mn-ea"/>
                <a:cs typeface="+mn-cs"/>
              </a:rPr>
              <a:t> Stay away from work if ill or suffering from an infected cut: notify doctor of food handler status – bring a medical clearance stating fitness for work on return</a:t>
            </a:r>
          </a:p>
          <a:p>
            <a:pPr>
              <a:buFont typeface="Arial" pitchFamily="34" charset="0"/>
              <a:buChar char="•"/>
            </a:pPr>
            <a:r>
              <a:rPr lang="en-AU" sz="1200" kern="1200" dirty="0" smtClean="0">
                <a:solidFill>
                  <a:schemeClr val="tx1"/>
                </a:solidFill>
                <a:latin typeface="+mn-lt"/>
                <a:ea typeface="+mn-ea"/>
                <a:cs typeface="+mn-cs"/>
              </a:rPr>
              <a:t> Ensure all glassware and utensils are clean – plates and glasses must also be free of chips and cracks.</a:t>
            </a:r>
          </a:p>
          <a:p>
            <a:pPr>
              <a:buFont typeface="Arial" pitchFamily="34" charset="0"/>
              <a:buNone/>
            </a:pPr>
            <a:endParaRPr lang="en-AU" noProof="0" dirty="0" smtClean="0"/>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safe food handling practices as identified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192354401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dry goods store and identifies requirements:</a:t>
            </a:r>
          </a:p>
          <a:p>
            <a:pPr>
              <a:buFont typeface="Arial" pitchFamily="34" charset="0"/>
              <a:buChar char="•"/>
            </a:pPr>
            <a:r>
              <a:rPr lang="en-AU" sz="1200" kern="1200" dirty="0" smtClean="0">
                <a:solidFill>
                  <a:schemeClr val="tx1"/>
                </a:solidFill>
                <a:latin typeface="+mn-lt"/>
                <a:ea typeface="+mn-ea"/>
                <a:cs typeface="+mn-cs"/>
              </a:rPr>
              <a:t> The area is fly- and vermin-proof to minimise contamination by pests</a:t>
            </a:r>
          </a:p>
          <a:p>
            <a:pPr>
              <a:buFont typeface="Arial" pitchFamily="34" charset="0"/>
              <a:buChar char="•"/>
            </a:pPr>
            <a:r>
              <a:rPr lang="en-AU" sz="1200" kern="1200" dirty="0" smtClean="0">
                <a:solidFill>
                  <a:schemeClr val="tx1"/>
                </a:solidFill>
                <a:latin typeface="+mn-lt"/>
                <a:ea typeface="+mn-ea"/>
                <a:cs typeface="+mn-cs"/>
              </a:rPr>
              <a:t> It is well ventilated and lit – to deter pests and to allow staff to see what they are doing and identify and remedy spillages</a:t>
            </a:r>
          </a:p>
          <a:p>
            <a:pPr>
              <a:buFont typeface="Arial" pitchFamily="34" charset="0"/>
              <a:buChar char="•"/>
            </a:pPr>
            <a:r>
              <a:rPr lang="en-AU" sz="1200" kern="1200" dirty="0" smtClean="0">
                <a:solidFill>
                  <a:schemeClr val="tx1"/>
                </a:solidFill>
                <a:latin typeface="+mn-lt"/>
                <a:ea typeface="+mn-ea"/>
                <a:cs typeface="+mn-cs"/>
              </a:rPr>
              <a:t> It is never overstocked – excess stock costs money, clutters things up, and increases the chance of out-of-date stock being used</a:t>
            </a:r>
          </a:p>
          <a:p>
            <a:pPr>
              <a:buFont typeface="Arial" pitchFamily="34" charset="0"/>
              <a:buChar char="•"/>
            </a:pPr>
            <a:r>
              <a:rPr lang="en-AU" sz="1200" kern="1200" dirty="0" smtClean="0">
                <a:solidFill>
                  <a:schemeClr val="tx1"/>
                </a:solidFill>
                <a:latin typeface="+mn-lt"/>
                <a:ea typeface="+mn-ea"/>
                <a:cs typeface="+mn-cs"/>
              </a:rPr>
              <a:t> It is fitted with doors which make a proper fit when fully closed to help exclude pests</a:t>
            </a:r>
          </a:p>
          <a:p>
            <a:pPr>
              <a:buFont typeface="Arial" pitchFamily="34" charset="0"/>
              <a:buChar char="•"/>
            </a:pPr>
            <a:r>
              <a:rPr lang="en-AU" sz="1200" kern="1200" dirty="0" smtClean="0">
                <a:solidFill>
                  <a:schemeClr val="tx1"/>
                </a:solidFill>
                <a:latin typeface="+mn-lt"/>
                <a:ea typeface="+mn-ea"/>
                <a:cs typeface="+mn-cs"/>
              </a:rPr>
              <a:t> The lowest shelf is sufficiently far enough above floor level to enable air circulation around produce, and to allow mops and brooms to reach under the shelves when cleaning is required.</a:t>
            </a:r>
          </a:p>
          <a:p>
            <a:pPr>
              <a:buFont typeface="Arial" pitchFamily="34" charset="0"/>
              <a:buNone/>
            </a:pPr>
            <a:endParaRPr lang="en-AU" noProof="0" dirty="0" smtClean="0"/>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requirements for storage as identified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35555679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describing dry goods store and identifies requirements:</a:t>
            </a:r>
          </a:p>
          <a:p>
            <a:pPr>
              <a:buFont typeface="Arial" pitchFamily="34" charset="0"/>
              <a:buChar char="•"/>
            </a:pPr>
            <a:r>
              <a:rPr lang="en-AU" sz="1200" kern="1200" dirty="0" smtClean="0">
                <a:solidFill>
                  <a:schemeClr val="tx1"/>
                </a:solidFill>
                <a:latin typeface="+mn-lt"/>
                <a:ea typeface="+mn-ea"/>
                <a:cs typeface="+mn-cs"/>
              </a:rPr>
              <a:t> Bulk food containers used are made from food grade materials and have tight-fitting lids – plastic garbage bins (even brand new/unused ones) are not permitted to be used for food storage as they are liable to splitting, do not have a smooth internal surface that facilitates cleaning and do not protect against mice and rats</a:t>
            </a:r>
          </a:p>
          <a:p>
            <a:pPr>
              <a:buFont typeface="Arial" pitchFamily="34" charset="0"/>
              <a:buChar char="•"/>
            </a:pPr>
            <a:r>
              <a:rPr lang="en-AU" sz="1200" kern="1200" dirty="0" smtClean="0">
                <a:solidFill>
                  <a:schemeClr val="tx1"/>
                </a:solidFill>
                <a:latin typeface="+mn-lt"/>
                <a:ea typeface="+mn-ea"/>
                <a:cs typeface="+mn-cs"/>
              </a:rPr>
              <a:t> Food storage containers are cleaned and sanitized before being re-used/re-filled – to guard against batch-mixing</a:t>
            </a:r>
          </a:p>
          <a:p>
            <a:pPr>
              <a:buFont typeface="Arial" pitchFamily="34" charset="0"/>
              <a:buChar char="•"/>
            </a:pPr>
            <a:r>
              <a:rPr lang="en-AU" sz="1200" kern="1200" dirty="0" smtClean="0">
                <a:solidFill>
                  <a:schemeClr val="tx1"/>
                </a:solidFill>
                <a:latin typeface="+mn-lt"/>
                <a:ea typeface="+mn-ea"/>
                <a:cs typeface="+mn-cs"/>
              </a:rPr>
              <a:t> Any canned, tinned or bottled food must be transferred to an appropriate container and refrigerated once the container has been opened – it is not acceptable (for example) to open a can, use half of the contents and then return the open can to dry storage. The food must be transferred to a plastic or stainless steel (or other appropriate) container and then placed in the refrigerator. </a:t>
            </a:r>
          </a:p>
          <a:p>
            <a:pPr>
              <a:buFont typeface="Arial" pitchFamily="34" charset="0"/>
              <a:buNone/>
            </a:pPr>
            <a:endParaRPr lang="en-AU" noProof="0" dirty="0" smtClean="0"/>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requirements for storage as identified on the slide.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26925795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refrigerated storage and identifies requirements:</a:t>
            </a:r>
          </a:p>
          <a:p>
            <a:pPr>
              <a:buFont typeface="Arial" pitchFamily="34" charset="0"/>
              <a:buChar char="•"/>
            </a:pPr>
            <a:r>
              <a:rPr lang="en-AU" sz="1200" kern="1200" dirty="0" smtClean="0">
                <a:solidFill>
                  <a:schemeClr val="tx1"/>
                </a:solidFill>
                <a:latin typeface="+mn-lt"/>
                <a:ea typeface="+mn-ea"/>
                <a:cs typeface="+mn-cs"/>
              </a:rPr>
              <a:t> The temperature is kept at 5°C or below and this temperature is checked with an independent calibrated thermometer – checks must be done at least once per day</a:t>
            </a:r>
          </a:p>
          <a:p>
            <a:pPr>
              <a:buFont typeface="Arial" pitchFamily="34" charset="0"/>
              <a:buChar char="•"/>
            </a:pPr>
            <a:r>
              <a:rPr lang="en-AU" sz="1200" kern="1200" dirty="0" smtClean="0">
                <a:solidFill>
                  <a:schemeClr val="tx1"/>
                </a:solidFill>
                <a:latin typeface="+mn-lt"/>
                <a:ea typeface="+mn-ea"/>
                <a:cs typeface="+mn-cs"/>
              </a:rPr>
              <a:t> The coolroom/refrigerator door is closed between uses and an effort made to minimise opening times by planning these openings – an open door raises the temperature and makes the unit more expensive to operate</a:t>
            </a:r>
          </a:p>
          <a:p>
            <a:pPr>
              <a:buFont typeface="Arial" pitchFamily="34" charset="0"/>
              <a:buChar char="•"/>
            </a:pPr>
            <a:r>
              <a:rPr lang="en-AU" sz="1200" kern="1200" dirty="0" smtClean="0">
                <a:solidFill>
                  <a:schemeClr val="tx1"/>
                </a:solidFill>
                <a:latin typeface="+mn-lt"/>
                <a:ea typeface="+mn-ea"/>
                <a:cs typeface="+mn-cs"/>
              </a:rPr>
              <a:t> The cool room is not overcrowded to enable air to circulate freely around food items.</a:t>
            </a:r>
          </a:p>
          <a:p>
            <a:pPr>
              <a:buFont typeface="Arial" pitchFamily="34" charset="0"/>
              <a:buNone/>
            </a:pPr>
            <a:endParaRPr lang="en-AU" noProof="0" dirty="0" smtClean="0"/>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requirements for storage as identified on the slide.</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233262590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describing refrigerated storage and identifies requirements:</a:t>
            </a:r>
          </a:p>
          <a:p>
            <a:pPr>
              <a:buFont typeface="Arial" pitchFamily="34" charset="0"/>
              <a:buChar char="•"/>
            </a:pPr>
            <a:r>
              <a:rPr lang="en-AU" sz="1200" kern="1200" dirty="0" smtClean="0">
                <a:solidFill>
                  <a:schemeClr val="tx1"/>
                </a:solidFill>
                <a:latin typeface="+mn-lt"/>
                <a:ea typeface="+mn-ea"/>
                <a:cs typeface="+mn-cs"/>
              </a:rPr>
              <a:t> Food loads put into the coolroom/refrigerator are broken down into smaller units to enable faster cooling: where large units of food are placed in the refrigerator it takes a lot longer for the core of that food to move out of the Temperature Danger Zone.</a:t>
            </a:r>
          </a:p>
          <a:p>
            <a:pPr lvl="1">
              <a:buFont typeface="Arial" pitchFamily="34" charset="0"/>
              <a:buChar char="•"/>
            </a:pPr>
            <a:r>
              <a:rPr lang="en-AU" sz="1200" kern="1200" dirty="0" smtClean="0">
                <a:solidFill>
                  <a:schemeClr val="tx1"/>
                </a:solidFill>
                <a:latin typeface="+mn-lt"/>
                <a:ea typeface="+mn-ea"/>
                <a:cs typeface="+mn-cs"/>
              </a:rPr>
              <a:t> Hot foods should be allowed to cool (perhaps by placing the food in pots into tubs full of a water-ice mixture) before being placed in the cool room: frequent stirring of the item will help it to cool quicker.</a:t>
            </a:r>
          </a:p>
          <a:p>
            <a:pPr lvl="1">
              <a:buFont typeface="Arial" pitchFamily="34" charset="0"/>
              <a:buChar char="•"/>
            </a:pPr>
            <a:r>
              <a:rPr lang="en-AU" sz="1200" kern="1200" dirty="0" smtClean="0">
                <a:solidFill>
                  <a:schemeClr val="tx1"/>
                </a:solidFill>
                <a:latin typeface="+mn-lt"/>
                <a:ea typeface="+mn-ea"/>
                <a:cs typeface="+mn-cs"/>
              </a:rPr>
              <a:t> If ‘too much’ hot food is placed into refrigeration it will raise the temperature of the unit and may cause condensation which could lead to cross-contamination (see below).</a:t>
            </a:r>
          </a:p>
          <a:p>
            <a:pPr lvl="1">
              <a:buFont typeface="Arial" pitchFamily="34" charset="0"/>
              <a:buChar char="•"/>
            </a:pPr>
            <a:r>
              <a:rPr lang="en-AU" sz="1200" kern="1200" dirty="0" smtClean="0">
                <a:solidFill>
                  <a:schemeClr val="tx1"/>
                </a:solidFill>
                <a:latin typeface="+mn-lt"/>
                <a:ea typeface="+mn-ea"/>
                <a:cs typeface="+mn-cs"/>
              </a:rPr>
              <a:t> The ‘Two-step rule for cooling hot foods’ (see below) must be complied with.</a:t>
            </a:r>
          </a:p>
          <a:p>
            <a:pPr>
              <a:buFont typeface="Arial" pitchFamily="34" charset="0"/>
              <a:buChar char="•"/>
            </a:pPr>
            <a:r>
              <a:rPr lang="en-AU" sz="1200" kern="1200" dirty="0" smtClean="0">
                <a:solidFill>
                  <a:schemeClr val="tx1"/>
                </a:solidFill>
                <a:latin typeface="+mn-lt"/>
                <a:ea typeface="+mn-ea"/>
                <a:cs typeface="+mn-cs"/>
              </a:rPr>
              <a:t> All food is covered and protected from contamination – plastic film with a label attached to identify the food and date it was placed under refrigeration may be used</a:t>
            </a:r>
          </a:p>
          <a:p>
            <a:pPr>
              <a:buFont typeface="Arial" pitchFamily="34" charset="0"/>
              <a:buChar char="•"/>
            </a:pPr>
            <a:r>
              <a:rPr lang="en-AU" sz="1200" kern="1200" dirty="0" smtClean="0">
                <a:solidFill>
                  <a:schemeClr val="tx1"/>
                </a:solidFill>
                <a:latin typeface="+mn-lt"/>
                <a:ea typeface="+mn-ea"/>
                <a:cs typeface="+mn-cs"/>
              </a:rPr>
              <a:t> Potentially hazardous raw food is separated from cooked and/or ready-to-eat foods – this is to prevent cross contamination.</a:t>
            </a:r>
          </a:p>
          <a:p>
            <a:pPr>
              <a:buFont typeface="Arial" pitchFamily="34" charset="0"/>
              <a:buNone/>
            </a:pPr>
            <a:endParaRPr lang="en-AU" noProof="0" dirty="0" smtClean="0"/>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requirements for storage as identified on the slide.</a:t>
            </a: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367594565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frozen food storage requirements:</a:t>
            </a:r>
          </a:p>
          <a:p>
            <a:pPr>
              <a:buFont typeface="Arial" pitchFamily="34" charset="0"/>
              <a:buChar char="•"/>
            </a:pPr>
            <a:r>
              <a:rPr lang="en-AU" sz="1200" kern="1200" dirty="0" smtClean="0">
                <a:solidFill>
                  <a:schemeClr val="tx1"/>
                </a:solidFill>
                <a:latin typeface="+mn-lt"/>
                <a:ea typeface="+mn-ea"/>
                <a:cs typeface="+mn-cs"/>
              </a:rPr>
              <a:t> Must keep food at -15˚C or below – many venues will operate freezers at -18˚C: food must stay hard frozen</a:t>
            </a:r>
          </a:p>
          <a:p>
            <a:pPr>
              <a:buFont typeface="Arial" pitchFamily="34" charset="0"/>
              <a:buChar char="•"/>
            </a:pPr>
            <a:r>
              <a:rPr lang="en-AU" sz="1200" kern="1200" dirty="0" smtClean="0">
                <a:solidFill>
                  <a:schemeClr val="tx1"/>
                </a:solidFill>
                <a:latin typeface="+mn-lt"/>
                <a:ea typeface="+mn-ea"/>
                <a:cs typeface="+mn-cs"/>
              </a:rPr>
              <a:t> Hot food is never frozen – cool it first following the two-step rule for cooling hot food</a:t>
            </a:r>
          </a:p>
          <a:p>
            <a:pPr>
              <a:buFont typeface="Arial" pitchFamily="34" charset="0"/>
              <a:buChar char="•"/>
            </a:pPr>
            <a:r>
              <a:rPr lang="en-AU" sz="1200" kern="1200" dirty="0" smtClean="0">
                <a:solidFill>
                  <a:schemeClr val="tx1"/>
                </a:solidFill>
                <a:latin typeface="+mn-lt"/>
                <a:ea typeface="+mn-ea"/>
                <a:cs typeface="+mn-cs"/>
              </a:rPr>
              <a:t> Thawed items must never be refrozen</a:t>
            </a:r>
          </a:p>
          <a:p>
            <a:pPr>
              <a:buFont typeface="Arial" pitchFamily="34" charset="0"/>
              <a:buChar char="•"/>
            </a:pPr>
            <a:r>
              <a:rPr lang="en-AU" sz="1200" kern="1200" dirty="0" smtClean="0">
                <a:solidFill>
                  <a:schemeClr val="tx1"/>
                </a:solidFill>
                <a:latin typeface="+mn-lt"/>
                <a:ea typeface="+mn-ea"/>
                <a:cs typeface="+mn-cs"/>
              </a:rPr>
              <a:t> That freezers are defrosted regularly to maintain operating effectiveness and encourage use (or disposal) of items. </a:t>
            </a:r>
          </a:p>
          <a:p>
            <a:pPr>
              <a:buFont typeface="Arial" pitchFamily="34" charset="0"/>
              <a:buNone/>
            </a:pPr>
            <a:endParaRPr lang="en-AU" noProof="0" dirty="0" smtClean="0"/>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requirements for storage as identified on the slide.</a:t>
            </a: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154226072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describing frozen food storage requirements:</a:t>
            </a:r>
          </a:p>
          <a:p>
            <a:pPr>
              <a:buFont typeface="Arial" pitchFamily="34" charset="0"/>
              <a:buChar char="•"/>
            </a:pPr>
            <a:r>
              <a:rPr lang="en-AU" sz="1200" kern="1200" dirty="0" smtClean="0">
                <a:solidFill>
                  <a:schemeClr val="tx1"/>
                </a:solidFill>
                <a:latin typeface="+mn-lt"/>
                <a:ea typeface="+mn-ea"/>
                <a:cs typeface="+mn-cs"/>
              </a:rPr>
              <a:t> Freezer doors are kept closed when the freezer is not in use</a:t>
            </a:r>
          </a:p>
          <a:p>
            <a:pPr>
              <a:buFont typeface="Arial" pitchFamily="34" charset="0"/>
              <a:buChar char="•"/>
            </a:pPr>
            <a:r>
              <a:rPr lang="en-AU" sz="1200" kern="1200" dirty="0" smtClean="0">
                <a:solidFill>
                  <a:schemeClr val="tx1"/>
                </a:solidFill>
                <a:latin typeface="+mn-lt"/>
                <a:ea typeface="+mn-ea"/>
                <a:cs typeface="+mn-cs"/>
              </a:rPr>
              <a:t> Freezer temperature is be checked at least daily to ensure correct operating temperature</a:t>
            </a:r>
          </a:p>
          <a:p>
            <a:pPr>
              <a:buFont typeface="Arial" pitchFamily="34" charset="0"/>
              <a:buChar char="•"/>
            </a:pPr>
            <a:r>
              <a:rPr lang="en-AU" sz="1200" kern="1200" dirty="0" smtClean="0">
                <a:solidFill>
                  <a:schemeClr val="tx1"/>
                </a:solidFill>
                <a:latin typeface="+mn-lt"/>
                <a:ea typeface="+mn-ea"/>
                <a:cs typeface="+mn-cs"/>
              </a:rPr>
              <a:t> Large pieces/amounts of food are not frozen as this encourages others to defrost the item and then re-freeze it – in practice this means:</a:t>
            </a:r>
          </a:p>
          <a:p>
            <a:pPr lvl="1">
              <a:buFont typeface="Arial" pitchFamily="34" charset="0"/>
              <a:buChar char="•"/>
            </a:pPr>
            <a:r>
              <a:rPr lang="en-AU" sz="1200" kern="1200" dirty="0" smtClean="0">
                <a:solidFill>
                  <a:schemeClr val="tx1"/>
                </a:solidFill>
                <a:latin typeface="+mn-lt"/>
                <a:ea typeface="+mn-ea"/>
                <a:cs typeface="+mn-cs"/>
              </a:rPr>
              <a:t> Freezing slices rather than  slabs of meat </a:t>
            </a:r>
          </a:p>
          <a:p>
            <a:pPr lvl="1">
              <a:buFont typeface="Arial" pitchFamily="34" charset="0"/>
              <a:buChar char="•"/>
            </a:pPr>
            <a:r>
              <a:rPr lang="en-AU" sz="1200" kern="1200" dirty="0" smtClean="0">
                <a:solidFill>
                  <a:schemeClr val="tx1"/>
                </a:solidFill>
                <a:latin typeface="+mn-lt"/>
                <a:ea typeface="+mn-ea"/>
                <a:cs typeface="+mn-cs"/>
              </a:rPr>
              <a:t> Using shallow storage containers rather than deep ones</a:t>
            </a:r>
          </a:p>
          <a:p>
            <a:pPr>
              <a:buFont typeface="Arial" pitchFamily="34" charset="0"/>
              <a:buChar char="•"/>
            </a:pPr>
            <a:r>
              <a:rPr lang="en-AU" sz="1200" kern="1200" dirty="0" smtClean="0">
                <a:solidFill>
                  <a:schemeClr val="tx1"/>
                </a:solidFill>
                <a:latin typeface="+mn-lt"/>
                <a:ea typeface="+mn-ea"/>
                <a:cs typeface="+mn-cs"/>
              </a:rPr>
              <a:t> Manufacturer’s instructions regarding the storage of frozen food products are followed – these may relate to storage temperatures and the length of time the product can be stored (for quality ands/or safety reasons).</a:t>
            </a:r>
          </a:p>
          <a:p>
            <a:pPr>
              <a:buFont typeface="Arial" pitchFamily="34" charset="0"/>
              <a:buNone/>
            </a:pPr>
            <a:endParaRPr lang="en-AU" noProof="0" dirty="0" smtClean="0"/>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requirements for storage as identified on the slide.</a:t>
            </a: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86703930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FIFO stock rotation explaining </a:t>
            </a:r>
            <a:r>
              <a:rPr lang="en-AU" sz="1200" kern="1200" dirty="0" smtClean="0">
                <a:solidFill>
                  <a:schemeClr val="tx1"/>
                </a:solidFill>
                <a:latin typeface="+mn-lt"/>
                <a:ea typeface="+mn-ea"/>
                <a:cs typeface="+mn-cs"/>
              </a:rPr>
              <a:t>effective stock rotation for foods means using the FIFO approach to stock rotation – First In, First Out:</a:t>
            </a:r>
          </a:p>
          <a:p>
            <a:pPr>
              <a:buFont typeface="Arial" pitchFamily="34" charset="0"/>
              <a:buChar char="•"/>
            </a:pPr>
            <a:r>
              <a:rPr lang="en-AU" sz="1200" kern="1200" dirty="0" smtClean="0">
                <a:solidFill>
                  <a:schemeClr val="tx1"/>
                </a:solidFill>
                <a:latin typeface="+mn-lt"/>
                <a:ea typeface="+mn-ea"/>
                <a:cs typeface="+mn-cs"/>
              </a:rPr>
              <a:t> This method requires food is used/served in the order it was delivered meaning the foods which have been in stock the longest are used first.</a:t>
            </a:r>
          </a:p>
          <a:p>
            <a:pPr>
              <a:buFont typeface="Arial" pitchFamily="34" charset="0"/>
              <a:buChar char="•"/>
            </a:pPr>
            <a:r>
              <a:rPr lang="en-AU" sz="1200" kern="1200" dirty="0" smtClean="0">
                <a:solidFill>
                  <a:schemeClr val="tx1"/>
                </a:solidFill>
                <a:latin typeface="+mn-lt"/>
                <a:ea typeface="+mn-ea"/>
                <a:cs typeface="+mn-cs"/>
              </a:rPr>
              <a:t> In practice this means when storing food:</a:t>
            </a:r>
          </a:p>
          <a:p>
            <a:pPr lvl="1">
              <a:buFont typeface="Arial" pitchFamily="34" charset="0"/>
              <a:buChar char="•"/>
            </a:pPr>
            <a:r>
              <a:rPr lang="en-AU" sz="1200" kern="1200" dirty="0" smtClean="0">
                <a:solidFill>
                  <a:schemeClr val="tx1"/>
                </a:solidFill>
                <a:latin typeface="+mn-lt"/>
                <a:ea typeface="+mn-ea"/>
                <a:cs typeface="+mn-cs"/>
              </a:rPr>
              <a:t> Old/existing stock must be moved forward on the shelf and the newly delivered stock must be placed behind it – this allows the stock at the front (the oldest stock) to be used before the newer stock</a:t>
            </a:r>
          </a:p>
          <a:p>
            <a:pPr lvl="1">
              <a:buFont typeface="Arial" pitchFamily="34" charset="0"/>
              <a:buChar char="•"/>
            </a:pPr>
            <a:r>
              <a:rPr lang="en-AU" sz="1200" kern="1200" dirty="0" smtClean="0">
                <a:solidFill>
                  <a:schemeClr val="tx1"/>
                </a:solidFill>
                <a:latin typeface="+mn-lt"/>
                <a:ea typeface="+mn-ea"/>
                <a:cs typeface="+mn-cs"/>
              </a:rPr>
              <a:t> Existing product in a chest freezer should be removed and the new stock placed at the bottom of the freezer – the existing/old stock is then replaced in the freezer on top of the newer stock. </a:t>
            </a:r>
          </a:p>
          <a:p>
            <a:pPr>
              <a:buFont typeface="Arial" pitchFamily="34" charset="0"/>
              <a:buNone/>
            </a:pPr>
            <a:endParaRPr lang="en-AU" noProof="0" dirty="0" smtClean="0"/>
          </a:p>
          <a:p>
            <a:r>
              <a:rPr lang="en-AU" sz="1200" b="1" kern="1200" dirty="0" smtClean="0">
                <a:solidFill>
                  <a:schemeClr val="tx1"/>
                </a:solidFill>
                <a:latin typeface="+mn-lt"/>
                <a:ea typeface="+mn-ea"/>
                <a:cs typeface="+mn-cs"/>
              </a:rPr>
              <a:t>Class Activity – Demonstrations</a:t>
            </a:r>
          </a:p>
          <a:p>
            <a:r>
              <a:rPr lang="en-AU" sz="1200" b="0" kern="1200" dirty="0" smtClean="0">
                <a:solidFill>
                  <a:schemeClr val="tx1"/>
                </a:solidFill>
                <a:latin typeface="+mn-lt"/>
                <a:ea typeface="+mn-ea"/>
                <a:cs typeface="+mn-cs"/>
              </a:rPr>
              <a:t>Trainer demonstrates practical application of FIFO stock rotation</a:t>
            </a:r>
            <a:r>
              <a:rPr lang="en-AU" sz="1200" b="0" kern="1200" baseline="0" dirty="0" smtClean="0">
                <a:solidFill>
                  <a:schemeClr val="tx1"/>
                </a:solidFill>
                <a:latin typeface="+mn-lt"/>
                <a:ea typeface="+mn-ea"/>
                <a:cs typeface="+mn-cs"/>
              </a:rPr>
              <a:t> in relation to:</a:t>
            </a:r>
          </a:p>
          <a:p>
            <a:pPr>
              <a:buFont typeface="Arial" pitchFamily="34" charset="0"/>
              <a:buChar char="•"/>
            </a:pPr>
            <a:r>
              <a:rPr lang="en-AU" noProof="0" dirty="0" smtClean="0"/>
              <a:t> Food on shelves</a:t>
            </a:r>
          </a:p>
          <a:p>
            <a:pPr>
              <a:buFont typeface="Arial" pitchFamily="34" charset="0"/>
              <a:buChar char="•"/>
            </a:pPr>
            <a:r>
              <a:rPr lang="en-AU" noProof="0" dirty="0" smtClean="0"/>
              <a:t> Food in refrigerators</a:t>
            </a:r>
          </a:p>
          <a:p>
            <a:pPr>
              <a:buFont typeface="Arial" pitchFamily="34" charset="0"/>
              <a:buChar char="•"/>
            </a:pPr>
            <a:r>
              <a:rPr lang="en-AU" noProof="0" dirty="0" smtClean="0"/>
              <a:t> Food in freezers.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253744526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‘cleaning’ requirements explaining </a:t>
            </a:r>
            <a:r>
              <a:rPr lang="en-AU" sz="1200" kern="1200" dirty="0" smtClean="0">
                <a:solidFill>
                  <a:schemeClr val="tx1"/>
                </a:solidFill>
                <a:latin typeface="+mn-lt"/>
                <a:ea typeface="+mn-ea"/>
                <a:cs typeface="+mn-cs"/>
              </a:rPr>
              <a:t>businesses are required to keep their food premises and equipment clean which can be seen as:</a:t>
            </a:r>
          </a:p>
          <a:p>
            <a:pPr>
              <a:buFont typeface="Arial" pitchFamily="34" charset="0"/>
              <a:buChar char="•"/>
            </a:pPr>
            <a:r>
              <a:rPr lang="en-AU" sz="1200" kern="1200" dirty="0" smtClean="0">
                <a:solidFill>
                  <a:schemeClr val="tx1"/>
                </a:solidFill>
                <a:latin typeface="+mn-lt"/>
                <a:ea typeface="+mn-ea"/>
                <a:cs typeface="+mn-cs"/>
              </a:rPr>
              <a:t> A state in which there is no accumulation of:</a:t>
            </a:r>
          </a:p>
          <a:p>
            <a:pPr lvl="1">
              <a:buFont typeface="Arial" pitchFamily="34" charset="0"/>
              <a:buChar char="•"/>
            </a:pPr>
            <a:r>
              <a:rPr lang="en-AU" sz="1200" kern="1200" dirty="0" smtClean="0">
                <a:solidFill>
                  <a:schemeClr val="tx1"/>
                </a:solidFill>
                <a:latin typeface="+mn-lt"/>
                <a:ea typeface="+mn-ea"/>
                <a:cs typeface="+mn-cs"/>
              </a:rPr>
              <a:t> Garbage, except in garbage containers</a:t>
            </a:r>
          </a:p>
          <a:p>
            <a:pPr lvl="1">
              <a:buFont typeface="Arial" pitchFamily="34" charset="0"/>
              <a:buChar char="•"/>
            </a:pPr>
            <a:r>
              <a:rPr lang="en-AU" sz="1200" kern="1200" dirty="0" smtClean="0">
                <a:solidFill>
                  <a:schemeClr val="tx1"/>
                </a:solidFill>
                <a:latin typeface="+mn-lt"/>
                <a:ea typeface="+mn-ea"/>
                <a:cs typeface="+mn-cs"/>
              </a:rPr>
              <a:t> Recycled matter, except in containers</a:t>
            </a:r>
          </a:p>
          <a:p>
            <a:pPr lvl="1">
              <a:buFont typeface="Arial" pitchFamily="34" charset="0"/>
              <a:buChar char="•"/>
            </a:pPr>
            <a:r>
              <a:rPr lang="en-AU" sz="1200" kern="1200" dirty="0" smtClean="0">
                <a:solidFill>
                  <a:schemeClr val="tx1"/>
                </a:solidFill>
                <a:latin typeface="+mn-lt"/>
                <a:ea typeface="+mn-ea"/>
                <a:cs typeface="+mn-cs"/>
              </a:rPr>
              <a:t> Food waste </a:t>
            </a:r>
          </a:p>
          <a:p>
            <a:pPr lvl="1">
              <a:buFont typeface="Arial" pitchFamily="34" charset="0"/>
              <a:buChar char="•"/>
            </a:pPr>
            <a:r>
              <a:rPr lang="en-AU" sz="1200" kern="1200" dirty="0" smtClean="0">
                <a:solidFill>
                  <a:schemeClr val="tx1"/>
                </a:solidFill>
                <a:latin typeface="+mn-lt"/>
                <a:ea typeface="+mn-ea"/>
                <a:cs typeface="+mn-cs"/>
              </a:rPr>
              <a:t> Dirt</a:t>
            </a:r>
          </a:p>
          <a:p>
            <a:pPr lvl="1">
              <a:buFont typeface="Arial" pitchFamily="34" charset="0"/>
              <a:buChar char="•"/>
            </a:pPr>
            <a:r>
              <a:rPr lang="en-AU" sz="1200" kern="1200" dirty="0" smtClean="0">
                <a:solidFill>
                  <a:schemeClr val="tx1"/>
                </a:solidFill>
                <a:latin typeface="+mn-lt"/>
                <a:ea typeface="+mn-ea"/>
                <a:cs typeface="+mn-cs"/>
              </a:rPr>
              <a:t> Grease</a:t>
            </a:r>
          </a:p>
          <a:p>
            <a:pPr lvl="1">
              <a:buFont typeface="Arial" pitchFamily="34" charset="0"/>
              <a:buChar char="•"/>
            </a:pPr>
            <a:r>
              <a:rPr lang="en-AU" sz="1200" kern="1200" dirty="0" smtClean="0">
                <a:solidFill>
                  <a:schemeClr val="tx1"/>
                </a:solidFill>
                <a:latin typeface="+mn-lt"/>
                <a:ea typeface="+mn-ea"/>
                <a:cs typeface="+mn-cs"/>
              </a:rPr>
              <a:t> Other visible matter.</a:t>
            </a:r>
          </a:p>
          <a:p>
            <a:pPr>
              <a:buFont typeface="Arial" pitchFamily="34" charset="0"/>
              <a:buChar char="•"/>
            </a:pPr>
            <a:r>
              <a:rPr lang="en-AU" sz="1200" kern="1200" dirty="0" smtClean="0">
                <a:solidFill>
                  <a:schemeClr val="tx1"/>
                </a:solidFill>
                <a:latin typeface="+mn-lt"/>
                <a:ea typeface="+mn-ea"/>
                <a:cs typeface="+mn-cs"/>
              </a:rPr>
              <a:t> The business must also maintain all its fixtures, fittings and equipment (in a clean condition.</a:t>
            </a:r>
          </a:p>
          <a:p>
            <a:pPr lvl="1">
              <a:buFont typeface="Arial" pitchFamily="34" charset="0"/>
              <a:buChar char="•"/>
            </a:pPr>
            <a:r>
              <a:rPr lang="en-AU" sz="1200" kern="1200" dirty="0" smtClean="0">
                <a:solidFill>
                  <a:schemeClr val="tx1"/>
                </a:solidFill>
                <a:latin typeface="+mn-lt"/>
                <a:ea typeface="+mn-ea"/>
                <a:cs typeface="+mn-cs"/>
              </a:rPr>
              <a:t> This requirement applies to things such as walls, floors, ceilings, windows, benches, shelves, sinks, wash hand basins, cupboards, grease filters, cooking equipment, food preparation equipment, food utensils, food vending machines, light fittings, ventilation ducts, pipes and electrical wiring. </a:t>
            </a:r>
          </a:p>
          <a:p>
            <a:pPr>
              <a:buFont typeface="Arial" pitchFamily="34" charset="0"/>
              <a:buChar char="•"/>
            </a:pPr>
            <a:r>
              <a:rPr lang="en-AU" sz="1200" kern="1200" dirty="0" smtClean="0">
                <a:solidFill>
                  <a:schemeClr val="tx1"/>
                </a:solidFill>
                <a:latin typeface="+mn-lt"/>
                <a:ea typeface="+mn-ea"/>
                <a:cs typeface="+mn-cs"/>
              </a:rPr>
              <a:t> Equipment used to do the cleaning (for example, brooms, mops and buckets, hoses) must also be cleaned – they should be cleaned, washed and/or sanitized after each use.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10760079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identifies </a:t>
            </a:r>
            <a:r>
              <a:rPr lang="en-AU" sz="1200" kern="1200" dirty="0" smtClean="0">
                <a:solidFill>
                  <a:schemeClr val="tx1"/>
                </a:solidFill>
                <a:latin typeface="+mn-lt"/>
                <a:ea typeface="+mn-ea"/>
                <a:cs typeface="+mn-cs"/>
              </a:rPr>
              <a:t>cleaning tools and equipment used in a kitchen to clean food equipment as listed on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Class Activity – Presentation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dirty="0" smtClean="0">
                <a:solidFill>
                  <a:schemeClr val="tx1"/>
                </a:solidFill>
                <a:latin typeface="+mn-lt"/>
                <a:ea typeface="+mn-ea"/>
                <a:cs typeface="+mn-cs"/>
              </a:rPr>
              <a:t>Trainer (or representative from cleaning supply company):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Presents sample items for each product listed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Identifies use of each.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119814513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identifies range of </a:t>
            </a:r>
            <a:r>
              <a:rPr lang="en-AU" sz="1200" kern="1200" dirty="0" smtClean="0">
                <a:solidFill>
                  <a:schemeClr val="tx1"/>
                </a:solidFill>
                <a:latin typeface="+mn-lt"/>
                <a:ea typeface="+mn-ea"/>
                <a:cs typeface="+mn-cs"/>
              </a:rPr>
              <a:t>cleaning agents/chemicals used to clean equipment in a kitchen as listed on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Class Activity – Presentation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dirty="0" smtClean="0">
                <a:solidFill>
                  <a:schemeClr val="tx1"/>
                </a:solidFill>
                <a:latin typeface="+mn-lt"/>
                <a:ea typeface="+mn-ea"/>
                <a:cs typeface="+mn-cs"/>
              </a:rPr>
              <a:t>Trainer (or representative from cleaning supply company):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Presents sample chemicals as listed on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Identifies use/s for each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Demonstrates how to use each chemical</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Identifies safety issues.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276647303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presents general </a:t>
            </a:r>
            <a:r>
              <a:rPr lang="en-AU" sz="1200" kern="1200" dirty="0" smtClean="0">
                <a:solidFill>
                  <a:schemeClr val="tx1"/>
                </a:solidFill>
                <a:latin typeface="+mn-lt"/>
                <a:ea typeface="+mn-ea"/>
                <a:cs typeface="+mn-cs"/>
              </a:rPr>
              <a:t>cleaning procedures and techniques for food preparation equipment which can include:</a:t>
            </a:r>
          </a:p>
          <a:p>
            <a:pPr>
              <a:buFont typeface="Arial" pitchFamily="34" charset="0"/>
              <a:buChar char="•"/>
            </a:pPr>
            <a:r>
              <a:rPr lang="en-AU" sz="1200" kern="1200" dirty="0" smtClean="0">
                <a:solidFill>
                  <a:schemeClr val="tx1"/>
                </a:solidFill>
                <a:latin typeface="+mn-lt"/>
                <a:ea typeface="+mn-ea"/>
                <a:cs typeface="+mn-cs"/>
              </a:rPr>
              <a:t> Allowing item to cool down before cleaning or disassembly (where required)</a:t>
            </a:r>
          </a:p>
          <a:p>
            <a:pPr>
              <a:buFont typeface="Arial" pitchFamily="34" charset="0"/>
              <a:buChar char="•"/>
            </a:pPr>
            <a:r>
              <a:rPr lang="en-AU" sz="1200" kern="1200" dirty="0" smtClean="0">
                <a:solidFill>
                  <a:schemeClr val="tx1"/>
                </a:solidFill>
                <a:latin typeface="+mn-lt"/>
                <a:ea typeface="+mn-ea"/>
                <a:cs typeface="+mn-cs"/>
              </a:rPr>
              <a:t> Checking with other staff to determine item:</a:t>
            </a:r>
          </a:p>
          <a:p>
            <a:pPr lvl="1">
              <a:buFont typeface="Arial" pitchFamily="34" charset="0"/>
              <a:buChar char="•"/>
            </a:pPr>
            <a:r>
              <a:rPr lang="en-AU" sz="1200" kern="1200" dirty="0" smtClean="0">
                <a:solidFill>
                  <a:schemeClr val="tx1"/>
                </a:solidFill>
                <a:latin typeface="+mn-lt"/>
                <a:ea typeface="+mn-ea"/>
                <a:cs typeface="+mn-cs"/>
              </a:rPr>
              <a:t> Is no longer required and can be cleaned</a:t>
            </a:r>
          </a:p>
          <a:p>
            <a:pPr lvl="1">
              <a:buFont typeface="Arial" pitchFamily="34" charset="0"/>
              <a:buChar char="•"/>
            </a:pPr>
            <a:r>
              <a:rPr lang="en-AU" sz="1200" kern="1200" dirty="0" smtClean="0">
                <a:solidFill>
                  <a:schemeClr val="tx1"/>
                </a:solidFill>
                <a:latin typeface="+mn-lt"/>
                <a:ea typeface="+mn-ea"/>
                <a:cs typeface="+mn-cs"/>
              </a:rPr>
              <a:t> Needs to be cleaned</a:t>
            </a:r>
          </a:p>
          <a:p>
            <a:pPr>
              <a:buFont typeface="Arial" pitchFamily="34" charset="0"/>
              <a:buChar char="•"/>
            </a:pPr>
            <a:r>
              <a:rPr lang="en-AU" sz="1200" kern="1200" dirty="0" smtClean="0">
                <a:solidFill>
                  <a:schemeClr val="tx1"/>
                </a:solidFill>
                <a:latin typeface="+mn-lt"/>
                <a:ea typeface="+mn-ea"/>
                <a:cs typeface="+mn-cs"/>
              </a:rPr>
              <a:t> Ensuring required cleaning tools, equipment and cleaning agents/chemicals are available</a:t>
            </a:r>
          </a:p>
          <a:p>
            <a:pPr>
              <a:buFont typeface="Arial" pitchFamily="34" charset="0"/>
              <a:buChar char="•"/>
            </a:pPr>
            <a:r>
              <a:rPr lang="en-AU" sz="1200" kern="1200" dirty="0" smtClean="0">
                <a:solidFill>
                  <a:schemeClr val="tx1"/>
                </a:solidFill>
                <a:latin typeface="+mn-lt"/>
                <a:ea typeface="+mn-ea"/>
                <a:cs typeface="+mn-cs"/>
              </a:rPr>
              <a:t> Cleaning the item where it is physically located – or moving it to the cleaning area</a:t>
            </a:r>
          </a:p>
          <a:p>
            <a:pPr>
              <a:buFont typeface="Arial" pitchFamily="34" charset="0"/>
              <a:buChar char="•"/>
            </a:pPr>
            <a:r>
              <a:rPr lang="en-AU" sz="1200" kern="1200" dirty="0" smtClean="0">
                <a:solidFill>
                  <a:schemeClr val="tx1"/>
                </a:solidFill>
                <a:latin typeface="+mn-lt"/>
                <a:ea typeface="+mn-ea"/>
                <a:cs typeface="+mn-cs"/>
              </a:rPr>
              <a:t> Making sure you know and/or have access to the required cleaning procedures and techniques for the individual item</a:t>
            </a:r>
          </a:p>
          <a:p>
            <a:pPr>
              <a:buFont typeface="Arial" pitchFamily="34" charset="0"/>
              <a:buChar char="•"/>
            </a:pPr>
            <a:r>
              <a:rPr lang="en-AU" sz="1200" kern="1200" dirty="0" smtClean="0">
                <a:solidFill>
                  <a:schemeClr val="tx1"/>
                </a:solidFill>
                <a:latin typeface="+mn-lt"/>
                <a:ea typeface="+mn-ea"/>
                <a:cs typeface="+mn-cs"/>
              </a:rPr>
              <a:t> Pre-cleaning items – such as:</a:t>
            </a:r>
          </a:p>
          <a:p>
            <a:pPr lvl="1">
              <a:buFont typeface="Arial" pitchFamily="34" charset="0"/>
              <a:buChar char="•"/>
            </a:pPr>
            <a:r>
              <a:rPr lang="en-AU" sz="1200" kern="1200" dirty="0" smtClean="0">
                <a:solidFill>
                  <a:schemeClr val="tx1"/>
                </a:solidFill>
                <a:latin typeface="+mn-lt"/>
                <a:ea typeface="+mn-ea"/>
                <a:cs typeface="+mn-cs"/>
              </a:rPr>
              <a:t> Physically removing food scraps/debris</a:t>
            </a:r>
          </a:p>
          <a:p>
            <a:pPr lvl="1">
              <a:buFont typeface="Arial" pitchFamily="34" charset="0"/>
              <a:buChar char="•"/>
            </a:pPr>
            <a:r>
              <a:rPr lang="en-AU" sz="1200" kern="1200" dirty="0" smtClean="0">
                <a:solidFill>
                  <a:schemeClr val="tx1"/>
                </a:solidFill>
                <a:latin typeface="+mn-lt"/>
                <a:ea typeface="+mn-ea"/>
                <a:cs typeface="+mn-cs"/>
              </a:rPr>
              <a:t> Using bristle brush to remove food debris</a:t>
            </a:r>
          </a:p>
          <a:p>
            <a:pPr lvl="1">
              <a:buFont typeface="Arial" pitchFamily="34" charset="0"/>
              <a:buChar char="•"/>
            </a:pPr>
            <a:r>
              <a:rPr lang="en-AU" sz="1200" kern="1200" dirty="0" smtClean="0">
                <a:solidFill>
                  <a:schemeClr val="tx1"/>
                </a:solidFill>
                <a:latin typeface="+mn-lt"/>
                <a:ea typeface="+mn-ea"/>
                <a:cs typeface="+mn-cs"/>
              </a:rPr>
              <a:t> Rinsing</a:t>
            </a:r>
          </a:p>
          <a:p>
            <a:pPr lvl="1">
              <a:buFont typeface="Arial" pitchFamily="34" charset="0"/>
              <a:buChar char="•"/>
            </a:pPr>
            <a:r>
              <a:rPr lang="en-AU" sz="1200" kern="1200" dirty="0" smtClean="0">
                <a:solidFill>
                  <a:schemeClr val="tx1"/>
                </a:solidFill>
                <a:latin typeface="+mn-lt"/>
                <a:ea typeface="+mn-ea"/>
                <a:cs typeface="+mn-cs"/>
              </a:rPr>
              <a:t> Soaking in detergent solution</a:t>
            </a:r>
          </a:p>
          <a:p>
            <a:pPr>
              <a:buFont typeface="Arial" pitchFamily="34" charset="0"/>
              <a:buChar char="•"/>
            </a:pPr>
            <a:r>
              <a:rPr lang="en-AU" sz="1200" kern="1200" dirty="0" smtClean="0">
                <a:solidFill>
                  <a:schemeClr val="tx1"/>
                </a:solidFill>
                <a:latin typeface="+mn-lt"/>
                <a:ea typeface="+mn-ea"/>
                <a:cs typeface="+mn-cs"/>
              </a:rPr>
              <a:t> Washing items:</a:t>
            </a:r>
          </a:p>
          <a:p>
            <a:pPr lvl="1">
              <a:buFont typeface="Arial" pitchFamily="34" charset="0"/>
              <a:buChar char="•"/>
            </a:pPr>
            <a:r>
              <a:rPr lang="en-AU" sz="1200" kern="1200" dirty="0" smtClean="0">
                <a:solidFill>
                  <a:schemeClr val="tx1"/>
                </a:solidFill>
                <a:latin typeface="+mn-lt"/>
                <a:ea typeface="+mn-ea"/>
                <a:cs typeface="+mn-cs"/>
              </a:rPr>
              <a:t> Thoroughly </a:t>
            </a:r>
          </a:p>
          <a:p>
            <a:pPr lvl="1">
              <a:buFont typeface="Arial" pitchFamily="34" charset="0"/>
              <a:buChar char="•"/>
            </a:pPr>
            <a:r>
              <a:rPr lang="en-AU" sz="1200" kern="1200" dirty="0" smtClean="0">
                <a:solidFill>
                  <a:schemeClr val="tx1"/>
                </a:solidFill>
                <a:latin typeface="+mn-lt"/>
                <a:ea typeface="+mn-ea"/>
                <a:cs typeface="+mn-cs"/>
              </a:rPr>
              <a:t> Using hot water </a:t>
            </a:r>
          </a:p>
          <a:p>
            <a:pPr lvl="1">
              <a:buFont typeface="Arial" pitchFamily="34" charset="0"/>
              <a:buChar char="•"/>
            </a:pPr>
            <a:r>
              <a:rPr lang="en-AU" sz="1200" kern="1200" dirty="0" smtClean="0">
                <a:solidFill>
                  <a:schemeClr val="tx1"/>
                </a:solidFill>
                <a:latin typeface="+mn-lt"/>
                <a:ea typeface="+mn-ea"/>
                <a:cs typeface="+mn-cs"/>
              </a:rPr>
              <a:t> Using designated/appropriate detergent for the item and the cleaning job to be performed</a:t>
            </a:r>
          </a:p>
          <a:p>
            <a:pPr lvl="1">
              <a:buFont typeface="Arial" pitchFamily="34" charset="0"/>
              <a:buChar char="•"/>
            </a:pPr>
            <a:r>
              <a:rPr lang="en-AU" sz="1200" kern="1200" dirty="0" smtClean="0">
                <a:solidFill>
                  <a:schemeClr val="tx1"/>
                </a:solidFill>
                <a:latin typeface="+mn-lt"/>
                <a:ea typeface="+mn-ea"/>
                <a:cs typeface="+mn-cs"/>
              </a:rPr>
              <a:t> Scrubbing</a:t>
            </a:r>
          </a:p>
          <a:p>
            <a:pPr lvl="1">
              <a:buFont typeface="Arial" pitchFamily="34" charset="0"/>
              <a:buChar char="•"/>
            </a:pPr>
            <a:r>
              <a:rPr lang="en-AU" sz="1200" kern="1200" dirty="0" smtClean="0">
                <a:solidFill>
                  <a:schemeClr val="tx1"/>
                </a:solidFill>
                <a:latin typeface="+mn-lt"/>
                <a:ea typeface="+mn-ea"/>
                <a:cs typeface="+mn-cs"/>
              </a:rPr>
              <a:t> Using abrasive pads as/if required</a:t>
            </a:r>
          </a:p>
          <a:p>
            <a:pPr>
              <a:buFont typeface="Arial" pitchFamily="34" charset="0"/>
              <a:buChar char="•"/>
            </a:pPr>
            <a:r>
              <a:rPr lang="en-AU" sz="1200" kern="1200" dirty="0" smtClean="0">
                <a:solidFill>
                  <a:schemeClr val="tx1"/>
                </a:solidFill>
                <a:latin typeface="+mn-lt"/>
                <a:ea typeface="+mn-ea"/>
                <a:cs typeface="+mn-cs"/>
              </a:rPr>
              <a:t> Rinsing items</a:t>
            </a:r>
          </a:p>
          <a:p>
            <a:pPr>
              <a:buFont typeface="Arial" pitchFamily="34" charset="0"/>
              <a:buChar char="•"/>
            </a:pPr>
            <a:r>
              <a:rPr lang="en-AU" sz="1200" kern="1200" dirty="0" smtClean="0">
                <a:solidFill>
                  <a:schemeClr val="tx1"/>
                </a:solidFill>
                <a:latin typeface="+mn-lt"/>
                <a:ea typeface="+mn-ea"/>
                <a:cs typeface="+mn-cs"/>
              </a:rPr>
              <a:t> Sanitizing the item – using hot water, steam or chemicals.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63499751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some venues have detailed cleaning instructions to guide staff in the cleaning of food equipment, utensils and areas.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279435666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example of cleaning instruction for ‘utensils and cutting boards’ as shown on slide.</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 demonstrates how to follow cleaning instructions for cleaning:</a:t>
            </a:r>
          </a:p>
          <a:p>
            <a:pPr>
              <a:buFont typeface="Arial" pitchFamily="34" charset="0"/>
              <a:buChar char="•"/>
            </a:pPr>
            <a:r>
              <a:rPr lang="en-AU" b="0" noProof="0" dirty="0" smtClean="0"/>
              <a:t> A cutting/chopping board</a:t>
            </a:r>
          </a:p>
          <a:p>
            <a:pPr>
              <a:buFont typeface="Arial" pitchFamily="34" charset="0"/>
              <a:buChar char="•"/>
            </a:pPr>
            <a:r>
              <a:rPr lang="en-AU" b="0" noProof="0" dirty="0" smtClean="0"/>
              <a:t> Several food utensils</a:t>
            </a:r>
          </a:p>
          <a:p>
            <a:pPr>
              <a:buFont typeface="Arial" pitchFamily="34" charset="0"/>
              <a:buNone/>
            </a:pPr>
            <a:r>
              <a:rPr lang="en-AU" b="0" noProof="0" dirty="0" smtClean="0"/>
              <a:t>Trainer provides opportunity for students to practice same.</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174958100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shows another example of cleaning instruction</a:t>
            </a:r>
            <a:r>
              <a:rPr lang="en-AU" baseline="0" noProof="0" dirty="0" smtClean="0"/>
              <a:t> as per slide.</a:t>
            </a:r>
          </a:p>
          <a:p>
            <a:pPr>
              <a:buFont typeface="Arial" pitchFamily="34" charset="0"/>
              <a:buNone/>
            </a:pPr>
            <a:endParaRPr lang="en-AU" baseline="0"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 demonstrates how to follow cleaning instructions for cleaning:</a:t>
            </a:r>
          </a:p>
          <a:p>
            <a:pPr>
              <a:buFont typeface="Arial" pitchFamily="34" charset="0"/>
              <a:buChar char="•"/>
            </a:pPr>
            <a:r>
              <a:rPr lang="en-AU" b="0" noProof="0" dirty="0" smtClean="0"/>
              <a:t> Microwave</a:t>
            </a:r>
          </a:p>
          <a:p>
            <a:pPr>
              <a:buFont typeface="Arial" pitchFamily="34" charset="0"/>
              <a:buNone/>
            </a:pPr>
            <a:r>
              <a:rPr lang="en-AU" b="0" noProof="0" dirty="0" smtClean="0"/>
              <a:t>Trainer provides opportunity for students to practice same.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384622448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shows another example of cleaning instruction</a:t>
            </a:r>
            <a:r>
              <a:rPr lang="en-AU" baseline="0" noProof="0" dirty="0" smtClean="0"/>
              <a:t> as per slide.</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 demonstrates how to follow cleaning instructions for cleaning:</a:t>
            </a:r>
          </a:p>
          <a:p>
            <a:pPr>
              <a:buFont typeface="Arial" pitchFamily="34" charset="0"/>
              <a:buChar char="•"/>
            </a:pPr>
            <a:r>
              <a:rPr lang="en-AU" b="0" noProof="0" dirty="0" smtClean="0"/>
              <a:t> Bain </a:t>
            </a:r>
            <a:r>
              <a:rPr lang="en-AU" b="0" noProof="0" dirty="0" err="1" smtClean="0"/>
              <a:t>marie</a:t>
            </a:r>
            <a:r>
              <a:rPr lang="en-AU" b="0" noProof="0" dirty="0" smtClean="0"/>
              <a:t>.</a:t>
            </a:r>
          </a:p>
          <a:p>
            <a:pPr>
              <a:buFont typeface="Arial" pitchFamily="34" charset="0"/>
              <a:buNone/>
            </a:pPr>
            <a:r>
              <a:rPr lang="en-AU" b="0" noProof="0" dirty="0" smtClean="0"/>
              <a:t>Trainer provides opportunity for students to practice same.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379691160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additional information about cleaning:</a:t>
            </a:r>
          </a:p>
          <a:p>
            <a:pPr>
              <a:buFont typeface="Arial" pitchFamily="34" charset="0"/>
              <a:buChar char="•"/>
            </a:pPr>
            <a:r>
              <a:rPr lang="en-AU" noProof="0" dirty="0" smtClean="0"/>
              <a:t> Cleaning instructions/directions must be followed – they are not optional</a:t>
            </a:r>
          </a:p>
          <a:p>
            <a:pPr>
              <a:buFont typeface="Arial" pitchFamily="34" charset="0"/>
              <a:buChar char="•"/>
            </a:pPr>
            <a:r>
              <a:rPr lang="en-AU" noProof="0" dirty="0" smtClean="0"/>
              <a:t> Venues who have developed cleaning instructions will also generate cleaning instructions to identify names of individual staff with responsibility for cleaning designated items/areas at set times and/or on stated days of the week.</a:t>
            </a:r>
          </a:p>
          <a:p>
            <a:pPr>
              <a:buFont typeface="Arial" pitchFamily="34" charset="0"/>
              <a:buChar char="•"/>
            </a:pPr>
            <a:endParaRPr lang="en-AU" noProof="0" dirty="0" smtClean="0"/>
          </a:p>
          <a:p>
            <a:pPr>
              <a:buFont typeface="Arial" pitchFamily="34" charset="0"/>
              <a:buNone/>
            </a:pPr>
            <a:r>
              <a:rPr lang="en-AU" b="1" noProof="0" dirty="0" smtClean="0"/>
              <a:t>Class Activity</a:t>
            </a:r>
            <a:r>
              <a:rPr lang="en-AU" b="1" baseline="0" noProof="0" dirty="0" smtClean="0"/>
              <a:t> – Individual Exercise</a:t>
            </a:r>
          </a:p>
          <a:p>
            <a:pPr>
              <a:buFont typeface="Arial" pitchFamily="34" charset="0"/>
              <a:buNone/>
            </a:pPr>
            <a:r>
              <a:rPr lang="en-AU" b="0" baseline="0" noProof="0" dirty="0" smtClean="0"/>
              <a:t>Trainer asks trainees to develop sample cleaning instructions for one item of food preparation/cooking equipment.</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173908384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temperature information for storing dry goods:</a:t>
            </a:r>
          </a:p>
          <a:p>
            <a:pPr>
              <a:buFont typeface="Arial" pitchFamily="34" charset="0"/>
              <a:buChar char="•"/>
            </a:pPr>
            <a:r>
              <a:rPr lang="en-AU" sz="1200" kern="1200" dirty="0" smtClean="0">
                <a:solidFill>
                  <a:schemeClr val="tx1"/>
                </a:solidFill>
                <a:latin typeface="+mn-lt"/>
                <a:ea typeface="+mn-ea"/>
                <a:cs typeface="+mn-cs"/>
              </a:rPr>
              <a:t> The dry goods store is a non-refrigerated store where canned and dried food are kept</a:t>
            </a:r>
          </a:p>
          <a:p>
            <a:pPr>
              <a:buFont typeface="Arial" pitchFamily="34" charset="0"/>
              <a:buChar char="•"/>
            </a:pPr>
            <a:r>
              <a:rPr lang="en-AU" sz="1200" kern="1200" dirty="0" smtClean="0">
                <a:solidFill>
                  <a:schemeClr val="tx1"/>
                </a:solidFill>
                <a:latin typeface="+mn-lt"/>
                <a:ea typeface="+mn-ea"/>
                <a:cs typeface="+mn-cs"/>
              </a:rPr>
              <a:t> It may be room-size, or a variety of cupboards and/or pantries</a:t>
            </a:r>
          </a:p>
          <a:p>
            <a:pPr>
              <a:buFont typeface="Arial" pitchFamily="34" charset="0"/>
              <a:buChar char="•"/>
            </a:pPr>
            <a:r>
              <a:rPr lang="en-AU" sz="1200" kern="1200" dirty="0" smtClean="0">
                <a:solidFill>
                  <a:schemeClr val="tx1"/>
                </a:solidFill>
                <a:latin typeface="+mn-lt"/>
                <a:ea typeface="+mn-ea"/>
                <a:cs typeface="+mn-cs"/>
              </a:rPr>
              <a:t> Desired temperature for dry store should be in the range 15°C to 20°C.</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249660638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temperature information for storing refrigerated goods:</a:t>
            </a:r>
          </a:p>
          <a:p>
            <a:r>
              <a:rPr lang="en-AU" sz="1200" kern="1200" dirty="0" smtClean="0">
                <a:solidFill>
                  <a:schemeClr val="tx1"/>
                </a:solidFill>
                <a:latin typeface="+mn-lt"/>
                <a:ea typeface="+mn-ea"/>
                <a:cs typeface="+mn-cs"/>
              </a:rPr>
              <a:t>Refrigerated storage is used for perishable fresh products such as fruit and vegetables, dairy products, eggs, meat, poultry and seafood. </a:t>
            </a:r>
          </a:p>
          <a:p>
            <a:pPr>
              <a:buFont typeface="Arial" pitchFamily="34" charset="0"/>
              <a:buChar char="•"/>
            </a:pPr>
            <a:r>
              <a:rPr lang="en-AU" sz="1200" kern="1200" dirty="0" smtClean="0">
                <a:solidFill>
                  <a:schemeClr val="tx1"/>
                </a:solidFill>
                <a:latin typeface="+mn-lt"/>
                <a:ea typeface="+mn-ea"/>
                <a:cs typeface="+mn-cs"/>
              </a:rPr>
              <a:t> The basic requirement is storage is at 5°C or below: many operate at 2°C</a:t>
            </a:r>
          </a:p>
          <a:p>
            <a:pPr>
              <a:buFont typeface="Arial" pitchFamily="34" charset="0"/>
              <a:buChar char="•"/>
            </a:pPr>
            <a:r>
              <a:rPr lang="en-AU" sz="1200" kern="1200" dirty="0" smtClean="0">
                <a:solidFill>
                  <a:schemeClr val="tx1"/>
                </a:solidFill>
                <a:latin typeface="+mn-lt"/>
                <a:ea typeface="+mn-ea"/>
                <a:cs typeface="+mn-cs"/>
              </a:rPr>
              <a:t> Meat poultry and seafood are best stored fresh at 1°C to 2°C</a:t>
            </a:r>
          </a:p>
          <a:p>
            <a:pPr>
              <a:buFont typeface="Arial" pitchFamily="34" charset="0"/>
              <a:buChar char="•"/>
            </a:pPr>
            <a:r>
              <a:rPr lang="en-AU" sz="1200" kern="1200" dirty="0" smtClean="0">
                <a:solidFill>
                  <a:schemeClr val="tx1"/>
                </a:solidFill>
                <a:latin typeface="+mn-lt"/>
                <a:ea typeface="+mn-ea"/>
                <a:cs typeface="+mn-cs"/>
              </a:rPr>
              <a:t> If purchasing on daily basis this means a high turnover and 4°C is sufficient but if high risk foods are purchased less frequently then colder temperatures are best</a:t>
            </a:r>
          </a:p>
          <a:p>
            <a:pPr>
              <a:buFont typeface="Arial" pitchFamily="34" charset="0"/>
              <a:buChar char="•"/>
            </a:pPr>
            <a:r>
              <a:rPr lang="en-AU" sz="1200" kern="1200" dirty="0" smtClean="0">
                <a:solidFill>
                  <a:schemeClr val="tx1"/>
                </a:solidFill>
                <a:latin typeface="+mn-lt"/>
                <a:ea typeface="+mn-ea"/>
                <a:cs typeface="+mn-cs"/>
              </a:rPr>
              <a:t> Fruit and vegetables require less severe temperature: </a:t>
            </a:r>
          </a:p>
          <a:p>
            <a:pPr>
              <a:buFont typeface="Wingdings" pitchFamily="2" charset="2"/>
              <a:buChar char="§"/>
            </a:pPr>
            <a:r>
              <a:rPr lang="en-AU" sz="1200" kern="1200" dirty="0" smtClean="0">
                <a:solidFill>
                  <a:schemeClr val="tx1"/>
                </a:solidFill>
                <a:latin typeface="+mn-lt"/>
                <a:ea typeface="+mn-ea"/>
                <a:cs typeface="+mn-cs"/>
              </a:rPr>
              <a:t> Tomatoes can be stored in the dry store if they are purchased regular basis. </a:t>
            </a:r>
          </a:p>
          <a:p>
            <a:pPr>
              <a:buFont typeface="Wingdings" pitchFamily="2" charset="2"/>
              <a:buChar char="§"/>
            </a:pPr>
            <a:r>
              <a:rPr lang="en-AU" sz="1200" kern="1200" dirty="0" smtClean="0">
                <a:solidFill>
                  <a:schemeClr val="tx1"/>
                </a:solidFill>
                <a:latin typeface="+mn-lt"/>
                <a:ea typeface="+mn-ea"/>
                <a:cs typeface="+mn-cs"/>
              </a:rPr>
              <a:t> Most vegetables only require refrigeration to keep their </a:t>
            </a:r>
            <a:r>
              <a:rPr lang="en-AU" sz="1200" i="1" kern="1200" dirty="0" smtClean="0">
                <a:solidFill>
                  <a:schemeClr val="tx1"/>
                </a:solidFill>
                <a:latin typeface="+mn-lt"/>
                <a:ea typeface="+mn-ea"/>
                <a:cs typeface="+mn-cs"/>
              </a:rPr>
              <a:t>quality</a:t>
            </a:r>
            <a:r>
              <a:rPr lang="en-AU" sz="1200" kern="1200" dirty="0" smtClean="0">
                <a:solidFill>
                  <a:schemeClr val="tx1"/>
                </a:solidFill>
                <a:latin typeface="+mn-lt"/>
                <a:ea typeface="+mn-ea"/>
                <a:cs typeface="+mn-cs"/>
              </a:rPr>
              <a:t>, not for food safety reasons. </a:t>
            </a:r>
          </a:p>
          <a:p>
            <a:pPr>
              <a:buFont typeface="Wingdings" pitchFamily="2" charset="2"/>
              <a:buChar char="§"/>
            </a:pPr>
            <a:r>
              <a:rPr lang="en-AU" sz="1200" kern="1200" dirty="0" smtClean="0">
                <a:solidFill>
                  <a:schemeClr val="tx1"/>
                </a:solidFill>
                <a:latin typeface="+mn-lt"/>
                <a:ea typeface="+mn-ea"/>
                <a:cs typeface="+mn-cs"/>
              </a:rPr>
              <a:t> Refrigerated storage may occur in cool rooms, under-counter refrigeration units or domestic refrigerators.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100931749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noProof="0" dirty="0" smtClean="0"/>
              <a:t>Trainer presents temperature information for storing refrigerated goods:</a:t>
            </a:r>
          </a:p>
          <a:p>
            <a:pPr>
              <a:buFont typeface="Arial" pitchFamily="34" charset="0"/>
              <a:buChar char="•"/>
            </a:pPr>
            <a:r>
              <a:rPr lang="en-AU" sz="1200" kern="1200" dirty="0" smtClean="0">
                <a:solidFill>
                  <a:schemeClr val="tx1"/>
                </a:solidFill>
                <a:latin typeface="+mn-lt"/>
                <a:ea typeface="+mn-ea"/>
                <a:cs typeface="+mn-cs"/>
              </a:rPr>
              <a:t> Freezers are used to store frozen produce</a:t>
            </a:r>
          </a:p>
          <a:p>
            <a:pPr>
              <a:buFont typeface="Arial" pitchFamily="34" charset="0"/>
              <a:buChar char="•"/>
            </a:pPr>
            <a:r>
              <a:rPr lang="en-AU" sz="1200" kern="1200" dirty="0" smtClean="0">
                <a:solidFill>
                  <a:schemeClr val="tx1"/>
                </a:solidFill>
                <a:latin typeface="+mn-lt"/>
                <a:ea typeface="+mn-ea"/>
                <a:cs typeface="+mn-cs"/>
              </a:rPr>
              <a:t> Freezers may be chest type, up-right, or walk-in, but they must be maintained such that the food remains hard frozen – domestic freezers can be used in commercial situations</a:t>
            </a:r>
          </a:p>
          <a:p>
            <a:pPr>
              <a:buFont typeface="Arial" pitchFamily="34" charset="0"/>
              <a:buChar char="•"/>
            </a:pPr>
            <a:r>
              <a:rPr lang="en-AU" sz="1200" kern="1200" dirty="0" smtClean="0">
                <a:solidFill>
                  <a:schemeClr val="tx1"/>
                </a:solidFill>
                <a:latin typeface="+mn-lt"/>
                <a:ea typeface="+mn-ea"/>
                <a:cs typeface="+mn-cs"/>
              </a:rPr>
              <a:t> Standard operating range is -15°C to -18°C.</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155720996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recaps </a:t>
            </a:r>
            <a:r>
              <a:rPr lang="en-AU" sz="1200" kern="1200" dirty="0" smtClean="0">
                <a:solidFill>
                  <a:schemeClr val="tx1"/>
                </a:solidFill>
                <a:latin typeface="+mn-lt"/>
                <a:ea typeface="+mn-ea"/>
                <a:cs typeface="+mn-cs"/>
              </a:rPr>
              <a:t>display temperatures for potentially hazardous food :</a:t>
            </a:r>
          </a:p>
          <a:p>
            <a:pPr>
              <a:buFont typeface="Arial" pitchFamily="34" charset="0"/>
              <a:buChar char="•"/>
            </a:pPr>
            <a:r>
              <a:rPr lang="en-AU" sz="1200" kern="1200" dirty="0" smtClean="0">
                <a:solidFill>
                  <a:schemeClr val="tx1"/>
                </a:solidFill>
                <a:latin typeface="+mn-lt"/>
                <a:ea typeface="+mn-ea"/>
                <a:cs typeface="+mn-cs"/>
              </a:rPr>
              <a:t> Cold food – at 5°C or below. Between 1°C and 5°C will keep high risk food out of the Temperature Danger Zone and prevent freezing of product (which makes it unattractive and unappealing to customers)</a:t>
            </a:r>
          </a:p>
          <a:p>
            <a:pPr>
              <a:buFont typeface="Arial" pitchFamily="34" charset="0"/>
              <a:buChar char="•"/>
            </a:pPr>
            <a:r>
              <a:rPr lang="en-AU" sz="1200" kern="1200" dirty="0" smtClean="0">
                <a:solidFill>
                  <a:schemeClr val="tx1"/>
                </a:solidFill>
                <a:latin typeface="+mn-lt"/>
                <a:ea typeface="+mn-ea"/>
                <a:cs typeface="+mn-cs"/>
              </a:rPr>
              <a:t> Hot food – at 60°C or above</a:t>
            </a:r>
          </a:p>
          <a:p>
            <a:pPr>
              <a:buFont typeface="Arial" pitchFamily="34" charset="0"/>
              <a:buChar char="•"/>
            </a:pPr>
            <a:r>
              <a:rPr lang="en-AU" sz="1200" kern="1200" dirty="0" smtClean="0">
                <a:solidFill>
                  <a:schemeClr val="tx1"/>
                </a:solidFill>
                <a:latin typeface="+mn-lt"/>
                <a:ea typeface="+mn-ea"/>
                <a:cs typeface="+mn-cs"/>
              </a:rPr>
              <a:t> Frozen food – maintained in a ‘hard frozen’ state (in the range of -15°C to -18°C or below).</a:t>
            </a:r>
          </a:p>
          <a:p>
            <a:pPr>
              <a:buFont typeface="Arial" pitchFamily="34" charset="0"/>
              <a:buNone/>
            </a:pPr>
            <a:endParaRPr lang="en-AU" noProof="0" dirty="0" smtClean="0"/>
          </a:p>
          <a:p>
            <a:pPr>
              <a:buFont typeface="Arial" pitchFamily="34" charset="0"/>
              <a:buNone/>
            </a:pPr>
            <a:r>
              <a:rPr lang="en-AU" b="1" noProof="0" dirty="0" smtClean="0"/>
              <a:t>Class Activity – Discussion </a:t>
            </a:r>
          </a:p>
          <a:p>
            <a:pPr>
              <a:buFont typeface="Arial" pitchFamily="34" charset="0"/>
              <a:buNone/>
            </a:pPr>
            <a:r>
              <a:rPr lang="en-AU" b="0" noProof="0" dirty="0" smtClean="0"/>
              <a:t>Trainer asks trainees:</a:t>
            </a:r>
          </a:p>
          <a:p>
            <a:pPr>
              <a:buFont typeface="Arial" pitchFamily="34" charset="0"/>
              <a:buChar char="•"/>
            </a:pPr>
            <a:r>
              <a:rPr lang="en-AU" b="0" noProof="0" dirty="0" smtClean="0"/>
              <a:t> Define ‘potentially hazardous food’</a:t>
            </a:r>
          </a:p>
          <a:p>
            <a:pPr>
              <a:buFont typeface="Arial" pitchFamily="34" charset="0"/>
              <a:buChar char="•"/>
            </a:pPr>
            <a:r>
              <a:rPr lang="en-AU" b="0" noProof="0" dirty="0" smtClean="0"/>
              <a:t> Give examples of potentially hazardous food.</a:t>
            </a:r>
          </a:p>
          <a:p>
            <a:pPr>
              <a:buFont typeface="Arial" pitchFamily="34" charset="0"/>
              <a:buNone/>
            </a:pPr>
            <a:endParaRPr lang="en-AU" b="0" noProof="0" dirty="0" smtClean="0"/>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13441508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food premises should have a probe thermometer explaining </a:t>
            </a:r>
            <a:r>
              <a:rPr lang="en-AU" sz="1200" kern="1200" dirty="0" smtClean="0">
                <a:solidFill>
                  <a:schemeClr val="tx1"/>
                </a:solidFill>
                <a:latin typeface="+mn-lt"/>
                <a:ea typeface="+mn-ea"/>
                <a:cs typeface="+mn-cs"/>
              </a:rPr>
              <a:t>this thermometer must be:</a:t>
            </a:r>
          </a:p>
          <a:p>
            <a:pPr>
              <a:buFont typeface="Arial" pitchFamily="34" charset="0"/>
              <a:buChar char="•"/>
            </a:pPr>
            <a:r>
              <a:rPr lang="en-AU" sz="1200" kern="1200" dirty="0" smtClean="0">
                <a:solidFill>
                  <a:schemeClr val="tx1"/>
                </a:solidFill>
                <a:latin typeface="+mn-lt"/>
                <a:ea typeface="+mn-ea"/>
                <a:cs typeface="+mn-cs"/>
              </a:rPr>
              <a:t> Readily available for food handling staff to use as required</a:t>
            </a:r>
          </a:p>
          <a:p>
            <a:pPr>
              <a:buFont typeface="Arial" pitchFamily="34" charset="0"/>
              <a:buChar char="•"/>
            </a:pPr>
            <a:r>
              <a:rPr lang="en-AU" sz="1200" kern="1200" dirty="0" smtClean="0">
                <a:solidFill>
                  <a:schemeClr val="tx1"/>
                </a:solidFill>
                <a:latin typeface="+mn-lt"/>
                <a:ea typeface="+mn-ea"/>
                <a:cs typeface="+mn-cs"/>
              </a:rPr>
              <a:t> Checked/calibrated very six months (minimum) to ensure it is giving an accurate reading. Instructions on how to do a hot and cold calibration to check the accuracy of the thermometer are sometimes included in the instructions that accompany the thermometer when it is purchased.</a:t>
            </a:r>
          </a:p>
          <a:p>
            <a:pPr>
              <a:buFont typeface="Arial" pitchFamily="34" charset="0"/>
              <a:buChar char="•"/>
            </a:pPr>
            <a:r>
              <a:rPr lang="en-AU" sz="1200" kern="1200" dirty="0" smtClean="0">
                <a:solidFill>
                  <a:schemeClr val="tx1"/>
                </a:solidFill>
                <a:latin typeface="+mn-lt"/>
                <a:ea typeface="+mn-ea"/>
                <a:cs typeface="+mn-cs"/>
              </a:rPr>
              <a:t> Thermometers must be accurate to +/- 1ºC or they must be repaired or replaced.</a:t>
            </a:r>
          </a:p>
          <a:p>
            <a:pPr>
              <a:buFont typeface="Arial" pitchFamily="34" charset="0"/>
              <a:buChar char="•"/>
            </a:pPr>
            <a:r>
              <a:rPr lang="en-AU" sz="1200" kern="1200" dirty="0" smtClean="0">
                <a:solidFill>
                  <a:schemeClr val="tx1"/>
                </a:solidFill>
                <a:latin typeface="+mn-lt"/>
                <a:ea typeface="+mn-ea"/>
                <a:cs typeface="+mn-cs"/>
              </a:rPr>
              <a:t> Cleaned and sanitized between uses when it is being used to check the temperature of food – the use of a sanitizing wipe to achieve this is common</a:t>
            </a:r>
          </a:p>
          <a:p>
            <a:pPr>
              <a:buFont typeface="Arial" pitchFamily="34" charset="0"/>
              <a:buChar char="•"/>
            </a:pPr>
            <a:r>
              <a:rPr lang="en-AU" sz="1200" kern="1200" dirty="0" smtClean="0">
                <a:solidFill>
                  <a:schemeClr val="tx1"/>
                </a:solidFill>
                <a:latin typeface="+mn-lt"/>
                <a:ea typeface="+mn-ea"/>
                <a:cs typeface="+mn-cs"/>
              </a:rPr>
              <a:t> Allowed to reach room temperature when being alternated between use on hot and cold food or vice versa</a:t>
            </a:r>
          </a:p>
          <a:p>
            <a:pPr>
              <a:buFont typeface="Arial" pitchFamily="34" charset="0"/>
              <a:buChar char="•"/>
            </a:pPr>
            <a:r>
              <a:rPr lang="en-AU" sz="1200" kern="1200" dirty="0" smtClean="0">
                <a:solidFill>
                  <a:schemeClr val="tx1"/>
                </a:solidFill>
                <a:latin typeface="+mn-lt"/>
                <a:ea typeface="+mn-ea"/>
                <a:cs typeface="+mn-cs"/>
              </a:rPr>
              <a:t> Treated with care – do not knock, drop or damage it: if it is knocked, dropped or damaged, it should be immediately checked for accuracy.</a:t>
            </a:r>
          </a:p>
          <a:p>
            <a:pPr>
              <a:buFont typeface="Arial" pitchFamily="34" charset="0"/>
              <a:buNone/>
            </a:pPr>
            <a:endParaRPr lang="en-AU" noProof="0" dirty="0" smtClean="0"/>
          </a:p>
          <a:p>
            <a:pPr>
              <a:buFont typeface="Arial" pitchFamily="34" charset="0"/>
              <a:buNone/>
            </a:pPr>
            <a:r>
              <a:rPr lang="en-AU" b="1" noProof="0" dirty="0" smtClean="0"/>
              <a:t>Class Activity – Demonstrations</a:t>
            </a:r>
          </a:p>
          <a:p>
            <a:pPr>
              <a:buFont typeface="Arial" pitchFamily="34" charset="0"/>
              <a:buNone/>
            </a:pPr>
            <a:r>
              <a:rPr lang="en-AU" b="0" noProof="0" dirty="0" smtClean="0"/>
              <a:t>Trainer shows students:</a:t>
            </a:r>
          </a:p>
          <a:p>
            <a:pPr>
              <a:buFont typeface="Arial" pitchFamily="34" charset="0"/>
              <a:buChar char="•"/>
            </a:pPr>
            <a:r>
              <a:rPr lang="en-AU" b="0" baseline="0" noProof="0" dirty="0" smtClean="0"/>
              <a:t> How to use probe thermometers in hot and cold food</a:t>
            </a:r>
            <a:r>
              <a:rPr lang="en-AU" b="1" noProof="0" dirty="0" smtClean="0"/>
              <a:t> </a:t>
            </a:r>
            <a:r>
              <a:rPr lang="en-AU" b="0" noProof="0" dirty="0" smtClean="0"/>
              <a:t>to measure temperature</a:t>
            </a:r>
          </a:p>
          <a:p>
            <a:pPr>
              <a:buFont typeface="Arial" pitchFamily="34" charset="0"/>
              <a:buChar char="•"/>
            </a:pPr>
            <a:r>
              <a:rPr lang="en-AU" b="0" noProof="0" dirty="0" smtClean="0"/>
              <a:t> How to use probe thermometer to take temperature of frozen items</a:t>
            </a:r>
          </a:p>
          <a:p>
            <a:pPr>
              <a:buFont typeface="Arial" pitchFamily="34" charset="0"/>
              <a:buChar char="•"/>
            </a:pPr>
            <a:r>
              <a:rPr lang="en-AU" b="0" noProof="0" dirty="0" smtClean="0"/>
              <a:t> How to read temperature of cool room using probe thermometer</a:t>
            </a:r>
          </a:p>
          <a:p>
            <a:pPr>
              <a:buFont typeface="Arial" pitchFamily="34" charset="0"/>
              <a:buChar char="•"/>
            </a:pPr>
            <a:r>
              <a:rPr lang="en-AU" b="0" noProof="0" dirty="0" smtClean="0"/>
              <a:t> Use of infra-red thermometer highlighting limitations of this type as it can</a:t>
            </a:r>
            <a:r>
              <a:rPr lang="en-AU" b="0" baseline="0" noProof="0" dirty="0" smtClean="0"/>
              <a:t> only provide a surface reading.</a:t>
            </a:r>
            <a:endParaRPr lang="en-AU" b="0" noProof="0" dirty="0" smtClean="0"/>
          </a:p>
          <a:p>
            <a:pPr>
              <a:buFont typeface="Arial" pitchFamily="34" charset="0"/>
              <a:buNone/>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159172667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manufacturer’s instructions when calibrating thermometers:</a:t>
            </a:r>
          </a:p>
          <a:p>
            <a:r>
              <a:rPr lang="en-AU" sz="1200" b="1" i="1" kern="1200" dirty="0" smtClean="0">
                <a:solidFill>
                  <a:schemeClr val="tx1"/>
                </a:solidFill>
                <a:latin typeface="+mn-lt"/>
                <a:ea typeface="+mn-ea"/>
                <a:cs typeface="+mn-cs"/>
              </a:rPr>
              <a:t>Cold Calibration </a:t>
            </a:r>
          </a:p>
          <a:p>
            <a:pPr>
              <a:buFont typeface="Arial" pitchFamily="34" charset="0"/>
              <a:buChar char="•"/>
            </a:pPr>
            <a:r>
              <a:rPr lang="en-AU" sz="1200" kern="1200" dirty="0" smtClean="0">
                <a:solidFill>
                  <a:schemeClr val="tx1"/>
                </a:solidFill>
                <a:latin typeface="+mn-lt"/>
                <a:ea typeface="+mn-ea"/>
                <a:cs typeface="+mn-cs"/>
              </a:rPr>
              <a:t> The following procedure must be applied at least every six months (some do every month) for the ice point calibration of thermometers: </a:t>
            </a:r>
          </a:p>
          <a:p>
            <a:pPr lvl="1">
              <a:buFont typeface="Arial" pitchFamily="34" charset="0"/>
              <a:buChar char="•"/>
            </a:pPr>
            <a:r>
              <a:rPr lang="en-AU" sz="1200" kern="1200" dirty="0" smtClean="0">
                <a:solidFill>
                  <a:schemeClr val="tx1"/>
                </a:solidFill>
                <a:latin typeface="+mn-lt"/>
                <a:ea typeface="+mn-ea"/>
                <a:cs typeface="+mn-cs"/>
              </a:rPr>
              <a:t> Put ice and pre-cooled water (about half-and-half) into a container and allow to stand for about five minutes </a:t>
            </a:r>
          </a:p>
          <a:p>
            <a:pPr lvl="1">
              <a:buFont typeface="Arial" pitchFamily="34" charset="0"/>
              <a:buChar char="•"/>
            </a:pPr>
            <a:r>
              <a:rPr lang="en-AU" sz="1200" kern="1200" dirty="0" smtClean="0">
                <a:solidFill>
                  <a:schemeClr val="tx1"/>
                </a:solidFill>
                <a:latin typeface="+mn-lt"/>
                <a:ea typeface="+mn-ea"/>
                <a:cs typeface="+mn-cs"/>
              </a:rPr>
              <a:t> Insert the probe of the thermometer into the ice-water mixture and allow to stand for two minutes </a:t>
            </a:r>
          </a:p>
          <a:p>
            <a:pPr lvl="1">
              <a:buFont typeface="Arial" pitchFamily="34" charset="0"/>
              <a:buChar char="•"/>
            </a:pPr>
            <a:r>
              <a:rPr lang="en-AU" sz="1200" kern="1200" dirty="0" smtClean="0">
                <a:solidFill>
                  <a:schemeClr val="tx1"/>
                </a:solidFill>
                <a:latin typeface="+mn-lt"/>
                <a:ea typeface="+mn-ea"/>
                <a:cs typeface="+mn-cs"/>
              </a:rPr>
              <a:t> Record temperature reading – it should be 0°C – on Equipment Calibration Log, Independent Thermometer Calibration Record (or similar) </a:t>
            </a:r>
          </a:p>
          <a:p>
            <a:pPr lvl="1">
              <a:buFont typeface="Arial" pitchFamily="34" charset="0"/>
              <a:buChar char="•"/>
            </a:pPr>
            <a:r>
              <a:rPr lang="en-AU" sz="1200" kern="1200" dirty="0" smtClean="0">
                <a:solidFill>
                  <a:schemeClr val="tx1"/>
                </a:solidFill>
                <a:latin typeface="+mn-lt"/>
                <a:ea typeface="+mn-ea"/>
                <a:cs typeface="+mn-cs"/>
              </a:rPr>
              <a:t> Replace, repair or get recalibrated if temperature reading is ±1°C or more. </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 demonstrates how to do ice point calibration and provides opportunity for students to practice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205727933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manufacturer’s instructions when calibrating thermometers:</a:t>
            </a:r>
          </a:p>
          <a:p>
            <a:r>
              <a:rPr lang="en-AU" sz="1200" b="1" i="1" kern="1200" dirty="0" smtClean="0">
                <a:solidFill>
                  <a:schemeClr val="tx1"/>
                </a:solidFill>
                <a:latin typeface="+mn-lt"/>
                <a:ea typeface="+mn-ea"/>
                <a:cs typeface="+mn-cs"/>
              </a:rPr>
              <a:t>Hot Calibration </a:t>
            </a:r>
          </a:p>
          <a:p>
            <a:pPr>
              <a:buFont typeface="Arial" pitchFamily="34" charset="0"/>
              <a:buChar char="•"/>
            </a:pPr>
            <a:r>
              <a:rPr lang="en-AU" sz="1200" kern="1200" dirty="0" smtClean="0">
                <a:solidFill>
                  <a:schemeClr val="tx1"/>
                </a:solidFill>
                <a:latin typeface="+mn-lt"/>
                <a:ea typeface="+mn-ea"/>
                <a:cs typeface="+mn-cs"/>
              </a:rPr>
              <a:t> The following procedure must be applied at least every six months (some do every month) for hot calibration of thermometers: </a:t>
            </a:r>
          </a:p>
          <a:p>
            <a:pPr lvl="1">
              <a:buFont typeface="Arial" pitchFamily="34" charset="0"/>
              <a:buChar char="•"/>
            </a:pPr>
            <a:r>
              <a:rPr lang="en-AU" sz="1200" kern="1200" dirty="0" smtClean="0">
                <a:solidFill>
                  <a:schemeClr val="tx1"/>
                </a:solidFill>
                <a:latin typeface="+mn-lt"/>
                <a:ea typeface="+mn-ea"/>
                <a:cs typeface="+mn-cs"/>
              </a:rPr>
              <a:t> Boil water and place thermometer probe into the boiling water </a:t>
            </a:r>
          </a:p>
          <a:p>
            <a:pPr lvl="1">
              <a:buFont typeface="Arial" pitchFamily="34" charset="0"/>
              <a:buChar char="•"/>
            </a:pPr>
            <a:r>
              <a:rPr lang="en-AU" sz="1200" kern="1200" dirty="0" smtClean="0">
                <a:solidFill>
                  <a:schemeClr val="tx1"/>
                </a:solidFill>
                <a:latin typeface="+mn-lt"/>
                <a:ea typeface="+mn-ea"/>
                <a:cs typeface="+mn-cs"/>
              </a:rPr>
              <a:t> Allow to stand for two minutes </a:t>
            </a:r>
          </a:p>
          <a:p>
            <a:pPr lvl="1">
              <a:buFont typeface="Arial" pitchFamily="34" charset="0"/>
              <a:buChar char="•"/>
            </a:pPr>
            <a:r>
              <a:rPr lang="en-AU" sz="1200" kern="1200" dirty="0" smtClean="0">
                <a:solidFill>
                  <a:schemeClr val="tx1"/>
                </a:solidFill>
                <a:latin typeface="+mn-lt"/>
                <a:ea typeface="+mn-ea"/>
                <a:cs typeface="+mn-cs"/>
              </a:rPr>
              <a:t> Record temperature reading – should be 100°C – on Equipment Calibration Log, Independent Thermometer Calibration Record (or similar) </a:t>
            </a:r>
          </a:p>
          <a:p>
            <a:pPr lvl="1">
              <a:buFont typeface="Arial" pitchFamily="34" charset="0"/>
              <a:buChar char="•"/>
            </a:pPr>
            <a:r>
              <a:rPr lang="en-AU" sz="1200" kern="1200" dirty="0" smtClean="0">
                <a:solidFill>
                  <a:schemeClr val="tx1"/>
                </a:solidFill>
                <a:latin typeface="+mn-lt"/>
                <a:ea typeface="+mn-ea"/>
                <a:cs typeface="+mn-cs"/>
              </a:rPr>
              <a:t> Replace, repair or get recalibrated if temperature reading is ±1°C or more. </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 demonstrates how to do hot calibration and provides opportunity for students to practice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306205827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424145926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216983211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124933118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427577051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following a food safety program by asking questions such as:</a:t>
            </a:r>
          </a:p>
          <a:p>
            <a:pPr>
              <a:buFont typeface="Arial" pitchFamily="34" charset="0"/>
              <a:buChar char="•"/>
            </a:pPr>
            <a:r>
              <a:rPr lang="en-US" b="0" dirty="0" smtClean="0"/>
              <a:t> What do you think a food safety program is?</a:t>
            </a:r>
          </a:p>
          <a:p>
            <a:pPr>
              <a:buFont typeface="Arial" pitchFamily="34" charset="0"/>
              <a:buChar char="•"/>
            </a:pPr>
            <a:r>
              <a:rPr lang="en-US" b="0" dirty="0" smtClean="0"/>
              <a:t> Why do venues have them?</a:t>
            </a:r>
          </a:p>
          <a:p>
            <a:pPr>
              <a:buFont typeface="Arial" pitchFamily="34" charset="0"/>
              <a:buChar char="•"/>
            </a:pPr>
            <a:r>
              <a:rPr lang="en-US" b="0" dirty="0" smtClean="0"/>
              <a:t> How do you learn about the requirements of the food safety program at</a:t>
            </a:r>
            <a:r>
              <a:rPr lang="en-US" b="0" baseline="0" dirty="0" smtClean="0"/>
              <a:t> your workplace?</a:t>
            </a:r>
          </a:p>
          <a:p>
            <a:pPr>
              <a:buFont typeface="Arial" pitchFamily="34" charset="0"/>
              <a:buNone/>
            </a:pPr>
            <a:r>
              <a:rPr lang="en-US" b="0" baseline="0" dirty="0" smtClean="0"/>
              <a:t> </a:t>
            </a:r>
            <a:endParaRPr lang="en-US" b="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286704405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states venues may have a Food</a:t>
            </a:r>
            <a:r>
              <a:rPr lang="en-AU" baseline="0" noProof="0" dirty="0" smtClean="0"/>
              <a:t> Safety Plan</a:t>
            </a:r>
            <a:r>
              <a:rPr lang="en-AU" noProof="0" dirty="0" smtClean="0"/>
              <a:t>  (also known as a Food Safety Program) explaining the FSP may be:</a:t>
            </a:r>
          </a:p>
          <a:p>
            <a:pPr>
              <a:buFont typeface="Arial" pitchFamily="34" charset="0"/>
              <a:buChar char="•"/>
            </a:pPr>
            <a:r>
              <a:rPr lang="en-AU" noProof="0" dirty="0" smtClean="0"/>
              <a:t> A legal requirements – there are places where an FSP is a mandatory/legislated obligation</a:t>
            </a:r>
          </a:p>
          <a:p>
            <a:pPr>
              <a:buFont typeface="Arial" pitchFamily="34" charset="0"/>
              <a:buChar char="•"/>
            </a:pPr>
            <a:r>
              <a:rPr lang="en-AU" noProof="0" dirty="0" smtClean="0"/>
              <a:t> As a result of the venue taking a decision in its own right to put in place a range of safe food handling practices.</a:t>
            </a:r>
          </a:p>
          <a:p>
            <a:r>
              <a:rPr lang="en-AU" noProof="0" dirty="0" smtClean="0"/>
              <a:t>Trainer advises </a:t>
            </a:r>
            <a:r>
              <a:rPr lang="en-AU" sz="1200" kern="1200" dirty="0" smtClean="0">
                <a:solidFill>
                  <a:schemeClr val="tx1"/>
                </a:solidFill>
                <a:latin typeface="+mn-lt"/>
                <a:ea typeface="+mn-ea"/>
                <a:cs typeface="+mn-cs"/>
              </a:rPr>
              <a:t>a FSP will:</a:t>
            </a:r>
          </a:p>
          <a:p>
            <a:pPr>
              <a:buFont typeface="Arial" pitchFamily="34" charset="0"/>
              <a:buChar char="•"/>
            </a:pPr>
            <a:r>
              <a:rPr lang="en-AU" sz="1200" kern="1200" dirty="0" smtClean="0">
                <a:solidFill>
                  <a:schemeClr val="tx1"/>
                </a:solidFill>
                <a:latin typeface="+mn-lt"/>
                <a:ea typeface="+mn-ea"/>
                <a:cs typeface="+mn-cs"/>
              </a:rPr>
              <a:t> Provide guidelines for safe food handling protocols in the business and compliance with the requirements of the plan is mandatory even where the plan itself is not a legislated requirement</a:t>
            </a:r>
          </a:p>
          <a:p>
            <a:pPr>
              <a:buFont typeface="Arial" pitchFamily="34" charset="0"/>
              <a:buChar char="•"/>
            </a:pPr>
            <a:r>
              <a:rPr lang="en-AU" sz="1200" kern="1200" dirty="0" smtClean="0">
                <a:solidFill>
                  <a:schemeClr val="tx1"/>
                </a:solidFill>
                <a:latin typeface="+mn-lt"/>
                <a:ea typeface="+mn-ea"/>
                <a:cs typeface="+mn-cs"/>
              </a:rPr>
              <a:t> Have been developed after an analysis of the food handling operations of the business.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51095381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the FSP will/may:</a:t>
            </a:r>
          </a:p>
          <a:p>
            <a:pPr>
              <a:buFont typeface="Arial" pitchFamily="34" charset="0"/>
              <a:buChar char="•"/>
            </a:pPr>
            <a:r>
              <a:rPr lang="en-AU" sz="1200" kern="1200" dirty="0" smtClean="0">
                <a:solidFill>
                  <a:schemeClr val="tx1"/>
                </a:solidFill>
                <a:latin typeface="+mn-lt"/>
                <a:ea typeface="+mn-ea"/>
                <a:cs typeface="+mn-cs"/>
              </a:rPr>
              <a:t> Contain a range of detailed ‘support’ information on requirements (the safe food handling practices for the venue) for topics such as:</a:t>
            </a:r>
          </a:p>
          <a:p>
            <a:pPr lvl="1">
              <a:buFont typeface="Arial" pitchFamily="34" charset="0"/>
              <a:buChar char="•"/>
            </a:pPr>
            <a:r>
              <a:rPr lang="en-AU" sz="1200" kern="1200" dirty="0" smtClean="0">
                <a:solidFill>
                  <a:schemeClr val="tx1"/>
                </a:solidFill>
                <a:latin typeface="+mn-lt"/>
                <a:ea typeface="+mn-ea"/>
                <a:cs typeface="+mn-cs"/>
              </a:rPr>
              <a:t> Cleaning and sanitizing – of equipment, utensils and work areas</a:t>
            </a:r>
          </a:p>
          <a:p>
            <a:pPr lvl="1">
              <a:buFont typeface="Arial" pitchFamily="34" charset="0"/>
              <a:buChar char="•"/>
            </a:pPr>
            <a:r>
              <a:rPr lang="en-AU" sz="1200" kern="1200" dirty="0" smtClean="0">
                <a:solidFill>
                  <a:schemeClr val="tx1"/>
                </a:solidFill>
                <a:latin typeface="+mn-lt"/>
                <a:ea typeface="+mn-ea"/>
                <a:cs typeface="+mn-cs"/>
              </a:rPr>
              <a:t> Personal hygiene practices and requirements</a:t>
            </a:r>
          </a:p>
          <a:p>
            <a:pPr lvl="1">
              <a:buFont typeface="Arial" pitchFamily="34" charset="0"/>
              <a:buChar char="•"/>
            </a:pPr>
            <a:r>
              <a:rPr lang="en-AU" sz="1200" kern="1200" dirty="0" smtClean="0">
                <a:solidFill>
                  <a:schemeClr val="tx1"/>
                </a:solidFill>
                <a:latin typeface="+mn-lt"/>
                <a:ea typeface="+mn-ea"/>
                <a:cs typeface="+mn-cs"/>
              </a:rPr>
              <a:t> Health of food handlers</a:t>
            </a:r>
          </a:p>
          <a:p>
            <a:pPr lvl="1">
              <a:buFont typeface="Arial" pitchFamily="34" charset="0"/>
              <a:buChar char="•"/>
            </a:pPr>
            <a:r>
              <a:rPr lang="en-AU" sz="1200" kern="1200" dirty="0" smtClean="0">
                <a:solidFill>
                  <a:schemeClr val="tx1"/>
                </a:solidFill>
                <a:latin typeface="+mn-lt"/>
                <a:ea typeface="+mn-ea"/>
                <a:cs typeface="+mn-cs"/>
              </a:rPr>
              <a:t> Equipment and property maintenance </a:t>
            </a:r>
          </a:p>
          <a:p>
            <a:pPr lvl="1">
              <a:buFont typeface="Arial" pitchFamily="34" charset="0"/>
              <a:buChar char="•"/>
            </a:pPr>
            <a:r>
              <a:rPr lang="en-AU" sz="1200" kern="1200" dirty="0" smtClean="0">
                <a:solidFill>
                  <a:schemeClr val="tx1"/>
                </a:solidFill>
                <a:latin typeface="+mn-lt"/>
                <a:ea typeface="+mn-ea"/>
                <a:cs typeface="+mn-cs"/>
              </a:rPr>
              <a:t> Thermometer use and calibration</a:t>
            </a:r>
          </a:p>
          <a:p>
            <a:pPr lvl="1">
              <a:buFont typeface="Arial" pitchFamily="34" charset="0"/>
              <a:buChar char="•"/>
            </a:pPr>
            <a:r>
              <a:rPr lang="en-AU" sz="1200" kern="1200" dirty="0" smtClean="0">
                <a:solidFill>
                  <a:schemeClr val="tx1"/>
                </a:solidFill>
                <a:latin typeface="+mn-lt"/>
                <a:ea typeface="+mn-ea"/>
                <a:cs typeface="+mn-cs"/>
              </a:rPr>
              <a:t> Pest control – see later slides</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Waste disposal – see later slides</a:t>
            </a:r>
          </a:p>
          <a:p>
            <a:pPr>
              <a:buFont typeface="Arial" pitchFamily="34" charset="0"/>
              <a:buChar char="•"/>
            </a:pPr>
            <a:r>
              <a:rPr lang="en-AU" sz="1200" kern="1200" dirty="0" smtClean="0">
                <a:solidFill>
                  <a:schemeClr val="tx1"/>
                </a:solidFill>
                <a:latin typeface="+mn-lt"/>
                <a:ea typeface="+mn-ea"/>
                <a:cs typeface="+mn-cs"/>
              </a:rPr>
              <a:t> Identify the food safety records to be established and maintained by the venue</a:t>
            </a:r>
          </a:p>
          <a:p>
            <a:pPr>
              <a:buFont typeface="Arial" pitchFamily="34" charset="0"/>
              <a:buChar char="•"/>
            </a:pPr>
            <a:r>
              <a:rPr lang="en-AU" sz="1200" kern="1200" dirty="0" smtClean="0">
                <a:solidFill>
                  <a:schemeClr val="tx1"/>
                </a:solidFill>
                <a:latin typeface="+mn-lt"/>
                <a:ea typeface="+mn-ea"/>
                <a:cs typeface="+mn-cs"/>
              </a:rPr>
              <a:t> Describe the training all food handlers must receive before they handle food.</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334553594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explaining (possible) contents of FSP:</a:t>
            </a:r>
          </a:p>
          <a:p>
            <a:pPr>
              <a:buFont typeface="Arial" pitchFamily="34" charset="0"/>
              <a:buChar char="•"/>
            </a:pPr>
            <a:r>
              <a:rPr lang="en-AU" sz="1200" kern="1200" dirty="0" smtClean="0">
                <a:solidFill>
                  <a:schemeClr val="tx1"/>
                </a:solidFill>
                <a:latin typeface="+mn-lt"/>
                <a:ea typeface="+mn-ea"/>
                <a:cs typeface="+mn-cs"/>
              </a:rPr>
              <a:t> Identify the food safety records to be established and maintained by the venue – details on later slides</a:t>
            </a:r>
          </a:p>
          <a:p>
            <a:pPr>
              <a:buFont typeface="Arial" pitchFamily="34" charset="0"/>
              <a:buChar char="•"/>
            </a:pPr>
            <a:r>
              <a:rPr lang="en-AU" sz="1200" kern="1200" dirty="0" smtClean="0">
                <a:solidFill>
                  <a:schemeClr val="tx1"/>
                </a:solidFill>
                <a:latin typeface="+mn-lt"/>
                <a:ea typeface="+mn-ea"/>
                <a:cs typeface="+mn-cs"/>
              </a:rPr>
              <a:t> Describe the training all food handlers must receive before they handle food – training may be local/mandatory training as imposed or required by local health authorities and may also prescribe extra training as well as refresher training.</a:t>
            </a:r>
          </a:p>
          <a:p>
            <a:pPr>
              <a:buFont typeface="Arial" pitchFamily="34" charset="0"/>
              <a:buNone/>
            </a:pPr>
            <a:endParaRPr lang="en-AU" noProof="0" dirty="0" smtClean="0"/>
          </a:p>
          <a:p>
            <a:pPr>
              <a:buFont typeface="Arial" pitchFamily="34" charset="0"/>
              <a:buNone/>
            </a:pPr>
            <a:r>
              <a:rPr lang="en-AU" b="1" noProof="0" dirty="0" smtClean="0"/>
              <a:t>Class Activity – Presentation</a:t>
            </a:r>
          </a:p>
          <a:p>
            <a:pPr>
              <a:buFont typeface="Arial" pitchFamily="34" charset="0"/>
              <a:buNone/>
            </a:pPr>
            <a:r>
              <a:rPr lang="en-AU" b="0" noProof="0" dirty="0" smtClean="0"/>
              <a:t>Trainer obtains a copy of a local FSP and:</a:t>
            </a:r>
          </a:p>
          <a:p>
            <a:pPr>
              <a:buFont typeface="Arial" pitchFamily="34" charset="0"/>
              <a:buChar char="•"/>
            </a:pPr>
            <a:r>
              <a:rPr lang="en-AU" b="0" noProof="0" dirty="0" smtClean="0"/>
              <a:t> Distributes and discusses with class.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6953628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topic of pest control stating effective pest control comprises three elements, all of which have to be implemented and all of which will be detailed on following slides:</a:t>
            </a:r>
          </a:p>
          <a:p>
            <a:pPr>
              <a:buFont typeface="Arial" pitchFamily="34" charset="0"/>
              <a:buChar char="•"/>
            </a:pPr>
            <a:r>
              <a:rPr lang="en-AU" sz="1200" kern="1200" dirty="0" smtClean="0">
                <a:solidFill>
                  <a:schemeClr val="tx1"/>
                </a:solidFill>
                <a:latin typeface="+mn-lt"/>
                <a:ea typeface="+mn-ea"/>
                <a:cs typeface="+mn-cs"/>
              </a:rPr>
              <a:t> Physical exclusion of pests – also known as ‘Build them out’ </a:t>
            </a:r>
          </a:p>
          <a:p>
            <a:pPr>
              <a:buFont typeface="Arial" pitchFamily="34" charset="0"/>
              <a:buChar char="•"/>
            </a:pPr>
            <a:r>
              <a:rPr lang="en-AU" sz="1200" kern="1200" dirty="0" smtClean="0">
                <a:solidFill>
                  <a:schemeClr val="tx1"/>
                </a:solidFill>
                <a:latin typeface="+mn-lt"/>
                <a:ea typeface="+mn-ea"/>
                <a:cs typeface="+mn-cs"/>
              </a:rPr>
              <a:t> Chemical and mechanical control – also known as ‘Chase them out’ </a:t>
            </a:r>
          </a:p>
          <a:p>
            <a:pPr>
              <a:buFont typeface="Arial" pitchFamily="34" charset="0"/>
              <a:buChar char="•"/>
            </a:pPr>
            <a:r>
              <a:rPr lang="en-AU" sz="1200" kern="1200" dirty="0" smtClean="0">
                <a:solidFill>
                  <a:schemeClr val="tx1"/>
                </a:solidFill>
                <a:latin typeface="+mn-lt"/>
                <a:ea typeface="+mn-ea"/>
                <a:cs typeface="+mn-cs"/>
              </a:rPr>
              <a:t> Sound housekeeping practices – also known as ‘Starve them out’.</a:t>
            </a:r>
          </a:p>
          <a:p>
            <a:pPr>
              <a:buFont typeface="Arial" pitchFamily="34" charset="0"/>
              <a:buNone/>
            </a:pPr>
            <a:endParaRPr lang="en-AU" noProof="0" dirty="0" smtClean="0"/>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25993855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physical </a:t>
            </a:r>
            <a:r>
              <a:rPr lang="en-AU" sz="1200" kern="1200" dirty="0" smtClean="0">
                <a:solidFill>
                  <a:schemeClr val="tx1"/>
                </a:solidFill>
                <a:latin typeface="+mn-lt"/>
                <a:ea typeface="+mn-ea"/>
                <a:cs typeface="+mn-cs"/>
              </a:rPr>
              <a:t>exclusion of pests/vermin involves:</a:t>
            </a:r>
          </a:p>
          <a:p>
            <a:pPr>
              <a:buFont typeface="Arial" pitchFamily="34" charset="0"/>
              <a:buChar char="•"/>
            </a:pPr>
            <a:r>
              <a:rPr lang="en-AU" sz="1200" kern="1200" dirty="0" smtClean="0">
                <a:solidFill>
                  <a:schemeClr val="tx1"/>
                </a:solidFill>
                <a:latin typeface="+mn-lt"/>
                <a:ea typeface="+mn-ea"/>
                <a:cs typeface="+mn-cs"/>
              </a:rPr>
              <a:t> Checking all deliveries – to eliminate pests coming in with foodstuffs</a:t>
            </a:r>
          </a:p>
          <a:p>
            <a:pPr>
              <a:buFont typeface="Arial" pitchFamily="34" charset="0"/>
              <a:buChar char="•"/>
            </a:pPr>
            <a:r>
              <a:rPr lang="en-AU" sz="1200" kern="1200" dirty="0" smtClean="0">
                <a:solidFill>
                  <a:schemeClr val="tx1"/>
                </a:solidFill>
                <a:latin typeface="+mn-lt"/>
                <a:ea typeface="+mn-ea"/>
                <a:cs typeface="+mn-cs"/>
              </a:rPr>
              <a:t> Correct fitting of fly wire to doors and windows – to stop pests entering through doors and windows</a:t>
            </a:r>
          </a:p>
          <a:p>
            <a:pPr>
              <a:buFont typeface="Arial" pitchFamily="34" charset="0"/>
              <a:buChar char="•"/>
            </a:pPr>
            <a:r>
              <a:rPr lang="en-AU" sz="1200" kern="1200" dirty="0" smtClean="0">
                <a:solidFill>
                  <a:schemeClr val="tx1"/>
                </a:solidFill>
                <a:latin typeface="+mn-lt"/>
                <a:ea typeface="+mn-ea"/>
                <a:cs typeface="+mn-cs"/>
              </a:rPr>
              <a:t> Sealing of holes around pipes and other fittings – that allow pests entry to the premises</a:t>
            </a:r>
          </a:p>
          <a:p>
            <a:pPr>
              <a:buFont typeface="Arial" pitchFamily="34" charset="0"/>
              <a:buChar char="•"/>
            </a:pPr>
            <a:r>
              <a:rPr lang="en-AU" sz="1200" kern="1200" dirty="0" smtClean="0">
                <a:solidFill>
                  <a:schemeClr val="tx1"/>
                </a:solidFill>
                <a:latin typeface="+mn-lt"/>
                <a:ea typeface="+mn-ea"/>
                <a:cs typeface="+mn-cs"/>
              </a:rPr>
              <a:t> Exclusion of animals from food areas – as a standard operating practice.</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24552875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examples of </a:t>
            </a:r>
            <a:r>
              <a:rPr lang="en-AU" sz="1200" kern="1200" dirty="0" smtClean="0">
                <a:solidFill>
                  <a:schemeClr val="tx1"/>
                </a:solidFill>
                <a:latin typeface="+mn-lt"/>
                <a:ea typeface="+mn-ea"/>
                <a:cs typeface="+mn-cs"/>
              </a:rPr>
              <a:t>chemical and mechanical control of pests:</a:t>
            </a:r>
          </a:p>
          <a:p>
            <a:pPr>
              <a:buFont typeface="Arial" pitchFamily="34" charset="0"/>
              <a:buChar char="•"/>
            </a:pPr>
            <a:r>
              <a:rPr lang="en-AU" sz="1200" kern="1200" dirty="0" smtClean="0">
                <a:solidFill>
                  <a:schemeClr val="tx1"/>
                </a:solidFill>
                <a:latin typeface="+mn-lt"/>
                <a:ea typeface="+mn-ea"/>
                <a:cs typeface="+mn-cs"/>
              </a:rPr>
              <a:t> Electronic fly zappers – ‘insectocutors’ which use UV light to attract insects and then</a:t>
            </a:r>
            <a:r>
              <a:rPr lang="en-AU" sz="1200" kern="1200" baseline="0" dirty="0" smtClean="0">
                <a:solidFill>
                  <a:schemeClr val="tx1"/>
                </a:solidFill>
                <a:latin typeface="+mn-lt"/>
                <a:ea typeface="+mn-ea"/>
                <a:cs typeface="+mn-cs"/>
              </a:rPr>
              <a:t> electrocute them</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Air curtains </a:t>
            </a:r>
          </a:p>
          <a:p>
            <a:pPr>
              <a:buFont typeface="Arial" pitchFamily="34" charset="0"/>
              <a:buChar char="•"/>
            </a:pPr>
            <a:r>
              <a:rPr lang="en-AU" sz="1200" kern="1200" dirty="0" smtClean="0">
                <a:solidFill>
                  <a:schemeClr val="tx1"/>
                </a:solidFill>
                <a:latin typeface="+mn-lt"/>
                <a:ea typeface="+mn-ea"/>
                <a:cs typeface="+mn-cs"/>
              </a:rPr>
              <a:t> Traps </a:t>
            </a:r>
          </a:p>
          <a:p>
            <a:pPr>
              <a:buFont typeface="Arial" pitchFamily="34" charset="0"/>
              <a:buChar char="•"/>
            </a:pPr>
            <a:r>
              <a:rPr lang="en-AU" sz="1200" kern="1200" dirty="0" smtClean="0">
                <a:solidFill>
                  <a:schemeClr val="tx1"/>
                </a:solidFill>
                <a:latin typeface="+mn-lt"/>
                <a:ea typeface="+mn-ea"/>
                <a:cs typeface="+mn-cs"/>
              </a:rPr>
              <a:t> Bait stations </a:t>
            </a:r>
          </a:p>
          <a:p>
            <a:pPr>
              <a:buFont typeface="Arial" pitchFamily="34" charset="0"/>
              <a:buChar char="•"/>
            </a:pPr>
            <a:r>
              <a:rPr lang="en-AU" sz="1200" kern="1200" dirty="0" smtClean="0">
                <a:solidFill>
                  <a:schemeClr val="tx1"/>
                </a:solidFill>
                <a:latin typeface="+mn-lt"/>
                <a:ea typeface="+mn-ea"/>
                <a:cs typeface="+mn-cs"/>
              </a:rPr>
              <a:t> Sprays </a:t>
            </a:r>
          </a:p>
          <a:p>
            <a:pPr>
              <a:buFont typeface="Arial" pitchFamily="34" charset="0"/>
              <a:buChar char="•"/>
            </a:pPr>
            <a:r>
              <a:rPr lang="en-AU" sz="1200" kern="1200" dirty="0" smtClean="0">
                <a:solidFill>
                  <a:schemeClr val="tx1"/>
                </a:solidFill>
                <a:latin typeface="+mn-lt"/>
                <a:ea typeface="+mn-ea"/>
                <a:cs typeface="+mn-cs"/>
              </a:rPr>
              <a:t> Fogging</a:t>
            </a:r>
          </a:p>
          <a:p>
            <a:pPr>
              <a:buFont typeface="Arial" pitchFamily="34" charset="0"/>
              <a:buChar char="•"/>
            </a:pPr>
            <a:r>
              <a:rPr lang="en-AU" sz="1200" kern="1200" dirty="0" smtClean="0">
                <a:solidFill>
                  <a:schemeClr val="tx1"/>
                </a:solidFill>
                <a:latin typeface="+mn-lt"/>
                <a:ea typeface="+mn-ea"/>
                <a:cs typeface="+mn-cs"/>
              </a:rPr>
              <a:t> Professional pest control companies – who should:</a:t>
            </a:r>
          </a:p>
          <a:p>
            <a:pPr lvl="1">
              <a:buFont typeface="Arial" pitchFamily="34" charset="0"/>
              <a:buChar char="•"/>
            </a:pPr>
            <a:r>
              <a:rPr lang="en-AU" sz="1200" kern="1200" dirty="0" smtClean="0">
                <a:solidFill>
                  <a:schemeClr val="tx1"/>
                </a:solidFill>
                <a:latin typeface="+mn-lt"/>
                <a:ea typeface="+mn-ea"/>
                <a:cs typeface="+mn-cs"/>
              </a:rPr>
              <a:t> Inspect the venue first to identify the types of pests present</a:t>
            </a:r>
          </a:p>
          <a:p>
            <a:pPr lvl="1">
              <a:buFont typeface="Arial" pitchFamily="34" charset="0"/>
              <a:buChar char="•"/>
            </a:pPr>
            <a:r>
              <a:rPr lang="en-AU" sz="1200" kern="1200" dirty="0" smtClean="0">
                <a:solidFill>
                  <a:schemeClr val="tx1"/>
                </a:solidFill>
                <a:latin typeface="+mn-lt"/>
                <a:ea typeface="+mn-ea"/>
                <a:cs typeface="+mn-cs"/>
              </a:rPr>
              <a:t> Be properly licensed/certified.</a:t>
            </a:r>
          </a:p>
          <a:p>
            <a:pPr>
              <a:buFont typeface="Arial" pitchFamily="34" charset="0"/>
              <a:buNone/>
            </a:pPr>
            <a:endParaRPr lang="en-AU" noProof="0" dirty="0" smtClean="0"/>
          </a:p>
          <a:p>
            <a:pPr>
              <a:buFont typeface="Arial" pitchFamily="34" charset="0"/>
              <a:buNone/>
            </a:pPr>
            <a:r>
              <a:rPr lang="en-AU" b="1" noProof="0" dirty="0" smtClean="0"/>
              <a:t>Class Activity – Presentation</a:t>
            </a:r>
          </a:p>
          <a:p>
            <a:pPr>
              <a:buFont typeface="Arial" pitchFamily="34" charset="0"/>
              <a:buNone/>
            </a:pPr>
            <a:r>
              <a:rPr lang="en-AU" b="0" noProof="0" dirty="0" smtClean="0"/>
              <a:t>Trainer obtains</a:t>
            </a:r>
            <a:r>
              <a:rPr lang="en-AU" b="0" baseline="0" noProof="0" dirty="0" smtClean="0"/>
              <a:t> samples of items listed on slide, presents them to students and discusses their use.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343187752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need for good/sound housekeeping practices as part of effective pest control providing examples such as:</a:t>
            </a:r>
          </a:p>
          <a:p>
            <a:pPr>
              <a:buFont typeface="Arial" pitchFamily="34" charset="0"/>
              <a:buChar char="•"/>
            </a:pPr>
            <a:r>
              <a:rPr lang="en-AU" sz="1200" kern="1200" dirty="0" smtClean="0">
                <a:solidFill>
                  <a:schemeClr val="tx1"/>
                </a:solidFill>
                <a:latin typeface="+mn-lt"/>
                <a:ea typeface="+mn-ea"/>
                <a:cs typeface="+mn-cs"/>
              </a:rPr>
              <a:t> Ensuring equipment, floors, benches and other areas are properly cleaned at end of shift/day so that no liquid or food remains to serve as a food source for pests and rodents.</a:t>
            </a:r>
          </a:p>
          <a:p>
            <a:pPr>
              <a:buFont typeface="Arial" pitchFamily="34" charset="0"/>
              <a:buChar char="•"/>
            </a:pPr>
            <a:r>
              <a:rPr lang="en-AU" sz="1200" kern="1200" dirty="0" smtClean="0">
                <a:solidFill>
                  <a:schemeClr val="tx1"/>
                </a:solidFill>
                <a:latin typeface="+mn-lt"/>
                <a:ea typeface="+mn-ea"/>
                <a:cs typeface="+mn-cs"/>
              </a:rPr>
              <a:t> Inspecting/checking under items of equipment at end-of-shift to make sure no food scraps are there</a:t>
            </a:r>
          </a:p>
          <a:p>
            <a:pPr>
              <a:buFont typeface="Arial" pitchFamily="34" charset="0"/>
              <a:buChar char="•"/>
            </a:pPr>
            <a:r>
              <a:rPr lang="en-AU" sz="1200" kern="1200" dirty="0" smtClean="0">
                <a:solidFill>
                  <a:schemeClr val="tx1"/>
                </a:solidFill>
                <a:latin typeface="+mn-lt"/>
                <a:ea typeface="+mn-ea"/>
                <a:cs typeface="+mn-cs"/>
              </a:rPr>
              <a:t> Making sure no water remains after cleaning to serve as a drinking source for pests</a:t>
            </a:r>
          </a:p>
          <a:p>
            <a:pPr>
              <a:buFont typeface="Arial" pitchFamily="34" charset="0"/>
              <a:buChar char="•"/>
            </a:pPr>
            <a:r>
              <a:rPr lang="en-AU" sz="1200" kern="1200" dirty="0" smtClean="0">
                <a:solidFill>
                  <a:schemeClr val="tx1"/>
                </a:solidFill>
                <a:latin typeface="+mn-lt"/>
                <a:ea typeface="+mn-ea"/>
                <a:cs typeface="+mn-cs"/>
              </a:rPr>
              <a:t> Removing cartons and other items which may provide shelter for them </a:t>
            </a:r>
          </a:p>
          <a:p>
            <a:pPr>
              <a:buFont typeface="Arial" pitchFamily="34" charset="0"/>
              <a:buChar char="•"/>
            </a:pPr>
            <a:r>
              <a:rPr lang="en-AU" sz="1200" kern="1200" dirty="0" smtClean="0">
                <a:solidFill>
                  <a:schemeClr val="tx1"/>
                </a:solidFill>
                <a:latin typeface="+mn-lt"/>
                <a:ea typeface="+mn-ea"/>
                <a:cs typeface="+mn-cs"/>
              </a:rPr>
              <a:t> Correct storage of food in vermin-proof containers </a:t>
            </a:r>
          </a:p>
          <a:p>
            <a:pPr>
              <a:buFont typeface="Arial" pitchFamily="34" charset="0"/>
              <a:buChar char="•"/>
            </a:pPr>
            <a:r>
              <a:rPr lang="en-AU" sz="1200" kern="1200" dirty="0" smtClean="0">
                <a:solidFill>
                  <a:schemeClr val="tx1"/>
                </a:solidFill>
                <a:latin typeface="+mn-lt"/>
                <a:ea typeface="+mn-ea"/>
                <a:cs typeface="+mn-cs"/>
              </a:rPr>
              <a:t> Making immediate repairs to cracked surfaces and tiles which can provide an inadvertent source of food.</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noProof="0" dirty="0" smtClean="0"/>
              <a:t>Trainer arranges for representative from pest control company to come and talk to students about:</a:t>
            </a:r>
          </a:p>
          <a:p>
            <a:pPr>
              <a:buFont typeface="Arial" pitchFamily="34" charset="0"/>
              <a:buChar char="•"/>
            </a:pPr>
            <a:r>
              <a:rPr lang="en-AU" noProof="0" dirty="0" smtClean="0"/>
              <a:t> Effective pest</a:t>
            </a:r>
            <a:r>
              <a:rPr lang="en-AU" baseline="0" noProof="0" dirty="0" smtClean="0"/>
              <a:t> control protocols</a:t>
            </a:r>
          </a:p>
          <a:p>
            <a:pPr>
              <a:buFont typeface="Arial" pitchFamily="34" charset="0"/>
              <a:buChar char="•"/>
            </a:pPr>
            <a:r>
              <a:rPr lang="en-AU" baseline="0" noProof="0" dirty="0" smtClean="0"/>
              <a:t> How to identify signs of infestation</a:t>
            </a:r>
          </a:p>
          <a:p>
            <a:pPr>
              <a:buFont typeface="Arial" pitchFamily="34" charset="0"/>
              <a:buChar char="•"/>
            </a:pPr>
            <a:r>
              <a:rPr lang="en-AU" baseline="0" noProof="0" dirty="0" smtClean="0"/>
              <a:t> Assistance pest controllers can provide</a:t>
            </a:r>
          </a:p>
          <a:p>
            <a:pPr>
              <a:buFont typeface="Arial" pitchFamily="34" charset="0"/>
              <a:buChar char="•"/>
            </a:pPr>
            <a:r>
              <a:rPr lang="en-AU" baseline="0" noProof="0" dirty="0" smtClean="0"/>
              <a:t> Cost/charges for services.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102403073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waste disposal with students presenting two basic requirements:</a:t>
            </a:r>
          </a:p>
          <a:p>
            <a:pPr>
              <a:buFont typeface="Arial" pitchFamily="34" charset="0"/>
              <a:buChar char="•"/>
            </a:pPr>
            <a:r>
              <a:rPr lang="en-AU" sz="1200" kern="1200" dirty="0" smtClean="0">
                <a:solidFill>
                  <a:schemeClr val="tx1"/>
                </a:solidFill>
                <a:latin typeface="+mn-lt"/>
                <a:ea typeface="+mn-ea"/>
                <a:cs typeface="+mn-cs"/>
              </a:rPr>
              <a:t> Wear disposable gloves when handling garbage – and discard after use</a:t>
            </a:r>
          </a:p>
          <a:p>
            <a:pPr>
              <a:buFont typeface="Arial" pitchFamily="34" charset="0"/>
              <a:buChar char="•"/>
            </a:pPr>
            <a:r>
              <a:rPr lang="en-AU" sz="1200" kern="1200" dirty="0" smtClean="0">
                <a:solidFill>
                  <a:schemeClr val="tx1"/>
                </a:solidFill>
                <a:latin typeface="+mn-lt"/>
                <a:ea typeface="+mn-ea"/>
                <a:cs typeface="+mn-cs"/>
              </a:rPr>
              <a:t> Wash hands after handling garbage or bins – even where disposable gloves have been worn.</a:t>
            </a:r>
          </a:p>
          <a:p>
            <a:pPr>
              <a:buFont typeface="Arial" pitchFamily="34" charset="0"/>
              <a:buNone/>
            </a:pPr>
            <a:endParaRPr lang="en-AU" noProof="0" dirty="0" smtClean="0"/>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124769989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requirements for the handling of garbage within the kitchen can include:</a:t>
            </a:r>
          </a:p>
          <a:p>
            <a:pPr>
              <a:buFont typeface="Arial" pitchFamily="34" charset="0"/>
              <a:buChar char="•"/>
            </a:pPr>
            <a:r>
              <a:rPr lang="en-AU" sz="1200" kern="1200" dirty="0" smtClean="0">
                <a:solidFill>
                  <a:schemeClr val="tx1"/>
                </a:solidFill>
                <a:latin typeface="+mn-lt"/>
                <a:ea typeface="+mn-ea"/>
                <a:cs typeface="+mn-cs"/>
              </a:rPr>
              <a:t> Emptying internal bins regularly</a:t>
            </a:r>
          </a:p>
          <a:p>
            <a:pPr>
              <a:buFont typeface="Arial" pitchFamily="34" charset="0"/>
              <a:buChar char="•"/>
            </a:pPr>
            <a:r>
              <a:rPr lang="en-AU" sz="1200" kern="1200" dirty="0" smtClean="0">
                <a:solidFill>
                  <a:schemeClr val="tx1"/>
                </a:solidFill>
                <a:latin typeface="+mn-lt"/>
                <a:ea typeface="+mn-ea"/>
                <a:cs typeface="+mn-cs"/>
              </a:rPr>
              <a:t> Emptying bins when three-quarters full – and not waiting until they are full/overflowing</a:t>
            </a:r>
          </a:p>
          <a:p>
            <a:pPr>
              <a:buFont typeface="Arial" pitchFamily="34" charset="0"/>
              <a:buChar char="•"/>
            </a:pPr>
            <a:r>
              <a:rPr lang="en-AU" sz="1200" kern="1200" dirty="0" smtClean="0">
                <a:solidFill>
                  <a:schemeClr val="tx1"/>
                </a:solidFill>
                <a:latin typeface="+mn-lt"/>
                <a:ea typeface="+mn-ea"/>
                <a:cs typeface="+mn-cs"/>
              </a:rPr>
              <a:t> Always emptying internal bins at the end-of-shifts/session – never leave waste in bins between shifts or overnight</a:t>
            </a:r>
          </a:p>
          <a:p>
            <a:pPr>
              <a:buFont typeface="Arial" pitchFamily="34" charset="0"/>
              <a:buChar char="•"/>
            </a:pPr>
            <a:r>
              <a:rPr lang="en-AU" sz="1200" kern="1200" dirty="0" smtClean="0">
                <a:solidFill>
                  <a:schemeClr val="tx1"/>
                </a:solidFill>
                <a:latin typeface="+mn-lt"/>
                <a:ea typeface="+mn-ea"/>
                <a:cs typeface="+mn-cs"/>
              </a:rPr>
              <a:t> Using bin liners – of appropriate strength and size for each bin: fix securely</a:t>
            </a:r>
          </a:p>
          <a:p>
            <a:pPr>
              <a:buFont typeface="Arial" pitchFamily="34" charset="0"/>
              <a:buChar char="•"/>
            </a:pPr>
            <a:r>
              <a:rPr lang="en-AU" sz="1200" kern="1200" dirty="0" smtClean="0">
                <a:solidFill>
                  <a:schemeClr val="tx1"/>
                </a:solidFill>
                <a:latin typeface="+mn-lt"/>
                <a:ea typeface="+mn-ea"/>
                <a:cs typeface="+mn-cs"/>
              </a:rPr>
              <a:t> Cleaning in and around bins – lift/move bins and clean under them too</a:t>
            </a:r>
          </a:p>
          <a:p>
            <a:pPr>
              <a:buFont typeface="Arial" pitchFamily="34" charset="0"/>
              <a:buChar char="•"/>
            </a:pPr>
            <a:r>
              <a:rPr lang="en-AU" sz="1200" kern="1200" dirty="0" smtClean="0">
                <a:solidFill>
                  <a:schemeClr val="tx1"/>
                </a:solidFill>
                <a:latin typeface="+mn-lt"/>
                <a:ea typeface="+mn-ea"/>
                <a:cs typeface="+mn-cs"/>
              </a:rPr>
              <a:t> Cleaning bins at the end of each shift/session – using detergent and hot water.</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 demonstrates how to clean internal bins</a:t>
            </a:r>
            <a:r>
              <a:rPr lang="en-AU" b="0" baseline="0" noProof="0" dirty="0" smtClean="0"/>
              <a:t> and fit bin liners, and provides opportunity for students to practice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154503333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gives </a:t>
            </a:r>
            <a:r>
              <a:rPr lang="en-AU" sz="1200" kern="1200" dirty="0" smtClean="0">
                <a:solidFill>
                  <a:schemeClr val="tx1"/>
                </a:solidFill>
                <a:latin typeface="+mn-lt"/>
                <a:ea typeface="+mn-ea"/>
                <a:cs typeface="+mn-cs"/>
              </a:rPr>
              <a:t>requirements for the handling of garbage outside the kitchen in external bins and dumpers:</a:t>
            </a:r>
          </a:p>
          <a:p>
            <a:pPr>
              <a:buFont typeface="Arial" pitchFamily="34" charset="0"/>
              <a:buChar char="•"/>
            </a:pPr>
            <a:r>
              <a:rPr lang="en-AU" sz="1200" kern="1200" dirty="0" smtClean="0">
                <a:solidFill>
                  <a:schemeClr val="tx1"/>
                </a:solidFill>
                <a:latin typeface="+mn-lt"/>
                <a:ea typeface="+mn-ea"/>
                <a:cs typeface="+mn-cs"/>
              </a:rPr>
              <a:t> Ensuring sufficient numbers of bins – to cater for the waste produced by the business</a:t>
            </a:r>
          </a:p>
          <a:p>
            <a:pPr>
              <a:buFont typeface="Arial" pitchFamily="34" charset="0"/>
              <a:buChar char="•"/>
            </a:pPr>
            <a:r>
              <a:rPr lang="en-AU" sz="1200" kern="1200" dirty="0" smtClean="0">
                <a:solidFill>
                  <a:schemeClr val="tx1"/>
                </a:solidFill>
                <a:latin typeface="+mn-lt"/>
                <a:ea typeface="+mn-ea"/>
                <a:cs typeface="+mn-cs"/>
              </a:rPr>
              <a:t> Making sure all bins have tight-fitting lids’</a:t>
            </a:r>
          </a:p>
          <a:p>
            <a:pPr>
              <a:buFont typeface="Arial" pitchFamily="34" charset="0"/>
              <a:buChar char="•"/>
            </a:pPr>
            <a:r>
              <a:rPr lang="en-AU" sz="1200" kern="1200" dirty="0" smtClean="0">
                <a:solidFill>
                  <a:schemeClr val="tx1"/>
                </a:solidFill>
                <a:latin typeface="+mn-lt"/>
                <a:ea typeface="+mn-ea"/>
                <a:cs typeface="+mn-cs"/>
              </a:rPr>
              <a:t> Keeping lids closed when bins are not in use – to help prevent access to garbage by pests</a:t>
            </a:r>
          </a:p>
          <a:p>
            <a:pPr>
              <a:buFont typeface="Arial" pitchFamily="34" charset="0"/>
              <a:buChar char="•"/>
            </a:pPr>
            <a:r>
              <a:rPr lang="en-AU" sz="1200" kern="1200" dirty="0" smtClean="0">
                <a:solidFill>
                  <a:schemeClr val="tx1"/>
                </a:solidFill>
                <a:latin typeface="+mn-lt"/>
                <a:ea typeface="+mn-ea"/>
                <a:cs typeface="+mn-cs"/>
              </a:rPr>
              <a:t> Ensuring bins/dumpers are in good condition – to prevent leaks and protect against access by vermin</a:t>
            </a:r>
          </a:p>
          <a:p>
            <a:pPr>
              <a:buFont typeface="Arial" pitchFamily="34" charset="0"/>
              <a:buChar char="•"/>
            </a:pPr>
            <a:r>
              <a:rPr lang="en-AU" sz="1200" kern="1200" dirty="0" smtClean="0">
                <a:solidFill>
                  <a:schemeClr val="tx1"/>
                </a:solidFill>
                <a:latin typeface="+mn-lt"/>
                <a:ea typeface="+mn-ea"/>
                <a:cs typeface="+mn-cs"/>
              </a:rPr>
              <a:t> Cleaning the external bins and dumpers – using detergents, degreasers and deodorants</a:t>
            </a:r>
          </a:p>
          <a:p>
            <a:pPr>
              <a:buFont typeface="Arial" pitchFamily="34" charset="0"/>
              <a:buChar char="•"/>
            </a:pPr>
            <a:r>
              <a:rPr lang="en-AU" sz="1200" kern="1200" dirty="0" smtClean="0">
                <a:solidFill>
                  <a:schemeClr val="tx1"/>
                </a:solidFill>
                <a:latin typeface="+mn-lt"/>
                <a:ea typeface="+mn-ea"/>
                <a:cs typeface="+mn-cs"/>
              </a:rPr>
              <a:t> Emptying external bins on a regular basis – to help avoid accumulation of rubbish and objectionable odours</a:t>
            </a:r>
          </a:p>
          <a:p>
            <a:pPr>
              <a:buFont typeface="Arial" pitchFamily="34" charset="0"/>
              <a:buChar char="•"/>
            </a:pPr>
            <a:r>
              <a:rPr lang="en-AU" sz="1200" kern="1200" dirty="0" smtClean="0">
                <a:solidFill>
                  <a:schemeClr val="tx1"/>
                </a:solidFill>
                <a:latin typeface="+mn-lt"/>
                <a:ea typeface="+mn-ea"/>
                <a:cs typeface="+mn-cs"/>
              </a:rPr>
              <a:t> Applying appropriate recycling techniques.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220340128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basics for identifying &amp; monitoring risk:</a:t>
            </a:r>
          </a:p>
          <a:p>
            <a:pPr>
              <a:buFont typeface="Arial" pitchFamily="34" charset="0"/>
              <a:buChar char="•"/>
            </a:pPr>
            <a:r>
              <a:rPr lang="en-AU" sz="1200" kern="1200" dirty="0" smtClean="0">
                <a:solidFill>
                  <a:schemeClr val="tx1"/>
                </a:solidFill>
                <a:latin typeface="+mn-lt"/>
                <a:ea typeface="+mn-ea"/>
                <a:cs typeface="+mn-cs"/>
              </a:rPr>
              <a:t> An area of risk is frequently the result of poor organizational practices</a:t>
            </a:r>
          </a:p>
          <a:p>
            <a:pPr>
              <a:buFont typeface="Arial" pitchFamily="34" charset="0"/>
              <a:buChar char="•"/>
            </a:pPr>
            <a:r>
              <a:rPr lang="en-AU" sz="1200" kern="1200" dirty="0" smtClean="0">
                <a:solidFill>
                  <a:schemeClr val="tx1"/>
                </a:solidFill>
                <a:latin typeface="+mn-lt"/>
                <a:ea typeface="+mn-ea"/>
                <a:cs typeface="+mn-cs"/>
              </a:rPr>
              <a:t> All food handlers are under an obligation to identify and report poor organizational practices that are inconsistent with required hygiene procedures</a:t>
            </a:r>
          </a:p>
          <a:p>
            <a:pPr>
              <a:buFont typeface="Arial" pitchFamily="34" charset="0"/>
              <a:buChar char="•"/>
            </a:pPr>
            <a:r>
              <a:rPr lang="en-AU" sz="1200" kern="1200" dirty="0" smtClean="0">
                <a:solidFill>
                  <a:schemeClr val="tx1"/>
                </a:solidFill>
                <a:latin typeface="+mn-lt"/>
                <a:ea typeface="+mn-ea"/>
                <a:cs typeface="+mn-cs"/>
              </a:rPr>
              <a:t> This requirement applies whether the unsafe/poor practice relates to an organizational policy or procedure, or if it relates to the activities/practices of an individual food handler</a:t>
            </a:r>
          </a:p>
          <a:p>
            <a:pPr>
              <a:buFont typeface="Arial" pitchFamily="34" charset="0"/>
              <a:buChar char="•"/>
            </a:pPr>
            <a:r>
              <a:rPr lang="en-AU" sz="1200" kern="1200" dirty="0" smtClean="0">
                <a:solidFill>
                  <a:schemeClr val="tx1"/>
                </a:solidFill>
                <a:latin typeface="+mn-lt"/>
                <a:ea typeface="+mn-ea"/>
                <a:cs typeface="+mn-cs"/>
              </a:rPr>
              <a:t> Poor organizational practice includes sub-standard performance by staff and compromise the requirements of your workplace FSP.</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36535760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it </a:t>
            </a:r>
            <a:r>
              <a:rPr lang="en-AU" sz="1200" kern="1200" dirty="0" smtClean="0">
                <a:solidFill>
                  <a:schemeClr val="tx1"/>
                </a:solidFill>
                <a:latin typeface="+mn-lt"/>
                <a:ea typeface="+mn-ea"/>
                <a:cs typeface="+mn-cs"/>
              </a:rPr>
              <a:t>is impossible to identify an all-inclusive list of possible bad/sub-standard practices but they are likely to fall into one of the following categories:</a:t>
            </a:r>
          </a:p>
          <a:p>
            <a:pPr>
              <a:buFont typeface="Arial" pitchFamily="34" charset="0"/>
              <a:buChar char="•"/>
            </a:pPr>
            <a:r>
              <a:rPr lang="en-AU" sz="1200" kern="1200" dirty="0" smtClean="0">
                <a:solidFill>
                  <a:schemeClr val="tx1"/>
                </a:solidFill>
                <a:latin typeface="+mn-lt"/>
                <a:ea typeface="+mn-ea"/>
                <a:cs typeface="+mn-cs"/>
              </a:rPr>
              <a:t> Poor personal hygiene practices</a:t>
            </a:r>
          </a:p>
          <a:p>
            <a:pPr>
              <a:buFont typeface="Arial" pitchFamily="34" charset="0"/>
              <a:buChar char="•"/>
            </a:pPr>
            <a:r>
              <a:rPr lang="en-AU" sz="1200" kern="1200" dirty="0" smtClean="0">
                <a:solidFill>
                  <a:schemeClr val="tx1"/>
                </a:solidFill>
                <a:latin typeface="+mn-lt"/>
                <a:ea typeface="+mn-ea"/>
                <a:cs typeface="+mn-cs"/>
              </a:rPr>
              <a:t> Poor food handling practices that may result in the contamination of food</a:t>
            </a:r>
          </a:p>
          <a:p>
            <a:pPr>
              <a:buFont typeface="Arial" pitchFamily="34" charset="0"/>
              <a:buChar char="•"/>
            </a:pPr>
            <a:r>
              <a:rPr lang="en-AU" sz="1200" kern="1200" dirty="0" smtClean="0">
                <a:solidFill>
                  <a:schemeClr val="tx1"/>
                </a:solidFill>
                <a:latin typeface="+mn-lt"/>
                <a:ea typeface="+mn-ea"/>
                <a:cs typeface="+mn-cs"/>
              </a:rPr>
              <a:t> Poor cleaning practices that may result in cross contamination of food and other items including food preparation equipment, utensils and surfaces.</a:t>
            </a:r>
          </a:p>
          <a:p>
            <a:pPr>
              <a:buFont typeface="Arial" pitchFamily="34" charset="0"/>
              <a:buNone/>
            </a:pPr>
            <a:endParaRPr lang="en-AU" noProof="0" dirty="0" smtClean="0"/>
          </a:p>
          <a:p>
            <a:pPr>
              <a:buFont typeface="Arial" pitchFamily="34" charset="0"/>
              <a:buNone/>
            </a:pPr>
            <a:r>
              <a:rPr lang="en-AU" b="1" noProof="0" dirty="0" smtClean="0"/>
              <a:t>Class Activity – Discussion</a:t>
            </a:r>
          </a:p>
          <a:p>
            <a:pPr>
              <a:buFont typeface="Arial" pitchFamily="34" charset="0"/>
              <a:buNone/>
            </a:pPr>
            <a:r>
              <a:rPr lang="en-AU" b="0" noProof="0" dirty="0" smtClean="0"/>
              <a:t>Trainer leads a question on the poor organizational practices listed on the slide by asking questions such as:</a:t>
            </a:r>
          </a:p>
          <a:p>
            <a:pPr>
              <a:buFont typeface="Arial" pitchFamily="34" charset="0"/>
              <a:buChar char="•"/>
            </a:pPr>
            <a:r>
              <a:rPr lang="en-AU" b="0" noProof="0" dirty="0" smtClean="0"/>
              <a:t> What are examples of poor personal hygiene practices?</a:t>
            </a:r>
          </a:p>
          <a:p>
            <a:pPr lvl="1">
              <a:buFont typeface="Arial" pitchFamily="34" charset="0"/>
              <a:buChar char="•"/>
            </a:pPr>
            <a:r>
              <a:rPr lang="en-AU" b="0" noProof="0" dirty="0" smtClean="0"/>
              <a:t> Why are they a problem?</a:t>
            </a:r>
          </a:p>
          <a:p>
            <a:pPr>
              <a:buFont typeface="Arial" pitchFamily="34" charset="0"/>
              <a:buChar char="•"/>
            </a:pPr>
            <a:r>
              <a:rPr lang="en-AU" b="0" noProof="0" dirty="0" smtClean="0"/>
              <a:t> What are examples of poor food handling practices?</a:t>
            </a:r>
          </a:p>
          <a:p>
            <a:pPr lvl="1">
              <a:buFont typeface="Arial" pitchFamily="34" charset="0"/>
              <a:buChar char="•"/>
            </a:pPr>
            <a:r>
              <a:rPr lang="en-AU" b="0" noProof="0" dirty="0" smtClean="0"/>
              <a:t> Why are they a problem?</a:t>
            </a:r>
          </a:p>
          <a:p>
            <a:pPr>
              <a:buFont typeface="Arial" pitchFamily="34" charset="0"/>
              <a:buChar char="•"/>
            </a:pPr>
            <a:r>
              <a:rPr lang="en-AU" b="0" noProof="0" dirty="0" smtClean="0"/>
              <a:t> What are examples of poor cleaning practices?</a:t>
            </a:r>
          </a:p>
          <a:p>
            <a:pPr lvl="1">
              <a:buFont typeface="Arial" pitchFamily="34" charset="0"/>
              <a:buChar char="•"/>
            </a:pPr>
            <a:r>
              <a:rPr lang="en-AU" b="0" noProof="0" dirty="0" smtClean="0"/>
              <a:t> Why are they a problem?</a:t>
            </a:r>
          </a:p>
          <a:p>
            <a:pPr lvl="1">
              <a:buFont typeface="Arial" pitchFamily="34" charset="0"/>
              <a:buChar char="•"/>
            </a:pPr>
            <a:endParaRPr lang="en-AU" b="0" noProof="0" dirty="0" smtClean="0"/>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407191919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examples of poor</a:t>
            </a:r>
            <a:r>
              <a:rPr lang="en-AU" baseline="0" noProof="0" dirty="0" smtClean="0"/>
              <a:t> organizational practices:</a:t>
            </a:r>
          </a:p>
          <a:p>
            <a:pPr>
              <a:buFont typeface="Arial" pitchFamily="34" charset="0"/>
              <a:buChar char="•"/>
            </a:pPr>
            <a:r>
              <a:rPr lang="en-AU" sz="1200" kern="1200" dirty="0" smtClean="0">
                <a:solidFill>
                  <a:schemeClr val="tx1"/>
                </a:solidFill>
                <a:latin typeface="+mn-lt"/>
                <a:ea typeface="+mn-ea"/>
                <a:cs typeface="+mn-cs"/>
              </a:rPr>
              <a:t> Practices that are inconsistent with the FSP for the premises</a:t>
            </a:r>
          </a:p>
          <a:p>
            <a:pPr>
              <a:buFont typeface="Arial" pitchFamily="34" charset="0"/>
              <a:buChar char="•"/>
            </a:pPr>
            <a:r>
              <a:rPr lang="en-AU" sz="1200" kern="1200" dirty="0" smtClean="0">
                <a:solidFill>
                  <a:schemeClr val="tx1"/>
                </a:solidFill>
                <a:latin typeface="+mn-lt"/>
                <a:ea typeface="+mn-ea"/>
                <a:cs typeface="+mn-cs"/>
              </a:rPr>
              <a:t> Implementation and continuation of food handling practices that are out-dated by virtue of their failure to align with changing workplace conditions and food handling activities</a:t>
            </a:r>
          </a:p>
          <a:p>
            <a:pPr>
              <a:buFont typeface="Arial" pitchFamily="34" charset="0"/>
              <a:buChar char="•"/>
            </a:pPr>
            <a:r>
              <a:rPr lang="en-AU" sz="1200" kern="1200" dirty="0" smtClean="0">
                <a:solidFill>
                  <a:schemeClr val="tx1"/>
                </a:solidFill>
                <a:latin typeface="+mn-lt"/>
                <a:ea typeface="+mn-ea"/>
                <a:cs typeface="+mn-cs"/>
              </a:rPr>
              <a:t> Use of equipment and utensils that are broken, damaged or other wise failing to operate or function as intended</a:t>
            </a:r>
          </a:p>
          <a:p>
            <a:pPr>
              <a:buFont typeface="Arial" pitchFamily="34" charset="0"/>
              <a:buChar char="•"/>
            </a:pPr>
            <a:r>
              <a:rPr lang="en-AU" sz="1200" kern="1200" dirty="0" smtClean="0">
                <a:solidFill>
                  <a:schemeClr val="tx1"/>
                </a:solidFill>
                <a:latin typeface="+mn-lt"/>
                <a:ea typeface="+mn-ea"/>
                <a:cs typeface="+mn-cs"/>
              </a:rPr>
              <a:t> Employment of staff who have not received the necessary and appropriate training to allow them to work effectively with the required skills and knowledge.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2140487243"/>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mentions possible outcomes of failing to identify, monitor and</a:t>
            </a:r>
            <a:r>
              <a:rPr lang="en-AU" baseline="0" noProof="0" dirty="0" smtClean="0"/>
              <a:t> address poor/unsafe food handling practices and procedures.</a:t>
            </a:r>
          </a:p>
          <a:p>
            <a:pPr>
              <a:buFont typeface="Arial" pitchFamily="34" charset="0"/>
              <a:buNone/>
            </a:pPr>
            <a:r>
              <a:rPr lang="en-AU" b="1" i="1" baseline="0" noProof="0" dirty="0" smtClean="0"/>
              <a:t>Impacts on customers</a:t>
            </a:r>
          </a:p>
          <a:p>
            <a:pPr>
              <a:buFont typeface="Arial" pitchFamily="34" charset="0"/>
              <a:buChar char="•"/>
            </a:pPr>
            <a:r>
              <a:rPr lang="en-AU" sz="1200" kern="1200" dirty="0" smtClean="0">
                <a:solidFill>
                  <a:schemeClr val="tx1"/>
                </a:solidFill>
                <a:latin typeface="+mn-lt"/>
                <a:ea typeface="+mn-ea"/>
                <a:cs typeface="+mn-cs"/>
              </a:rPr>
              <a:t> Customers can be affected in the following ways:</a:t>
            </a:r>
          </a:p>
          <a:p>
            <a:pPr lvl="1">
              <a:buFont typeface="Arial" pitchFamily="34" charset="0"/>
              <a:buChar char="•"/>
            </a:pPr>
            <a:r>
              <a:rPr lang="en-AU" sz="1200" kern="1200" dirty="0" smtClean="0">
                <a:solidFill>
                  <a:schemeClr val="tx1"/>
                </a:solidFill>
                <a:latin typeface="+mn-lt"/>
                <a:ea typeface="+mn-ea"/>
                <a:cs typeface="+mn-cs"/>
              </a:rPr>
              <a:t> Food poisoning – which can make them ill and even give rise to the need to take time off from work, seek medical attention or be hospitalised</a:t>
            </a:r>
          </a:p>
          <a:p>
            <a:pPr lvl="1">
              <a:buFont typeface="Arial" pitchFamily="34" charset="0"/>
              <a:buChar char="•"/>
            </a:pPr>
            <a:r>
              <a:rPr lang="en-AU" sz="1200" kern="1200" dirty="0" smtClean="0">
                <a:solidFill>
                  <a:schemeClr val="tx1"/>
                </a:solidFill>
                <a:latin typeface="+mn-lt"/>
                <a:ea typeface="+mn-ea"/>
                <a:cs typeface="+mn-cs"/>
              </a:rPr>
              <a:t> Death – every year a number of people die as a result of food poisoning.</a:t>
            </a:r>
          </a:p>
          <a:p>
            <a:pPr>
              <a:buFont typeface="Arial" pitchFamily="34" charset="0"/>
              <a:buChar char="•"/>
            </a:pPr>
            <a:r>
              <a:rPr lang="en-AU" sz="1200" kern="1200" dirty="0" smtClean="0">
                <a:solidFill>
                  <a:schemeClr val="tx1"/>
                </a:solidFill>
                <a:latin typeface="+mn-lt"/>
                <a:ea typeface="+mn-ea"/>
                <a:cs typeface="+mn-cs"/>
              </a:rPr>
              <a:t> The three sectors of society who are most susceptible to food poisoning (and subsequent death) are:</a:t>
            </a:r>
          </a:p>
          <a:p>
            <a:pPr lvl="1">
              <a:buFont typeface="Arial" pitchFamily="34" charset="0"/>
              <a:buChar char="•"/>
            </a:pPr>
            <a:r>
              <a:rPr lang="en-AU" sz="1200" kern="1200" dirty="0" smtClean="0">
                <a:solidFill>
                  <a:schemeClr val="tx1"/>
                </a:solidFill>
                <a:latin typeface="+mn-lt"/>
                <a:ea typeface="+mn-ea"/>
                <a:cs typeface="+mn-cs"/>
              </a:rPr>
              <a:t> The very young – babies and children</a:t>
            </a:r>
          </a:p>
          <a:p>
            <a:pPr lvl="1">
              <a:buFont typeface="Arial" pitchFamily="34" charset="0"/>
              <a:buChar char="•"/>
            </a:pPr>
            <a:r>
              <a:rPr lang="en-AU" sz="1200" kern="1200" dirty="0" smtClean="0">
                <a:solidFill>
                  <a:schemeClr val="tx1"/>
                </a:solidFill>
                <a:latin typeface="+mn-lt"/>
                <a:ea typeface="+mn-ea"/>
                <a:cs typeface="+mn-cs"/>
              </a:rPr>
              <a:t> The very old</a:t>
            </a:r>
          </a:p>
          <a:p>
            <a:pPr lvl="1">
              <a:buFont typeface="Arial" pitchFamily="34" charset="0"/>
              <a:buChar char="•"/>
            </a:pPr>
            <a:r>
              <a:rPr lang="en-AU" sz="1200" kern="1200" dirty="0" smtClean="0">
                <a:solidFill>
                  <a:schemeClr val="tx1"/>
                </a:solidFill>
                <a:latin typeface="+mn-lt"/>
                <a:ea typeface="+mn-ea"/>
                <a:cs typeface="+mn-cs"/>
              </a:rPr>
              <a:t> People who are already ill and/or who have their immune system already compromised.</a:t>
            </a:r>
          </a:p>
          <a:p>
            <a:pPr>
              <a:buFont typeface="Arial" pitchFamily="34" charset="0"/>
              <a:buNone/>
            </a:pPr>
            <a:endParaRPr lang="en-AU" b="1" i="1"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288913709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gives examples of possible impacts of poor food handling practices on an individual business:</a:t>
            </a:r>
          </a:p>
          <a:p>
            <a:pPr>
              <a:buFont typeface="Arial" pitchFamily="34" charset="0"/>
              <a:buChar char="•"/>
            </a:pPr>
            <a:r>
              <a:rPr lang="en-AU" sz="1200" kern="1200" dirty="0" smtClean="0">
                <a:solidFill>
                  <a:schemeClr val="tx1"/>
                </a:solidFill>
                <a:latin typeface="+mn-lt"/>
                <a:ea typeface="+mn-ea"/>
                <a:cs typeface="+mn-cs"/>
              </a:rPr>
              <a:t> They may be fined by the authorities </a:t>
            </a:r>
          </a:p>
          <a:p>
            <a:pPr>
              <a:buFont typeface="Arial" pitchFamily="34" charset="0"/>
              <a:buChar char="•"/>
            </a:pPr>
            <a:r>
              <a:rPr lang="en-AU" sz="1200" kern="1200" dirty="0" smtClean="0">
                <a:solidFill>
                  <a:schemeClr val="tx1"/>
                </a:solidFill>
                <a:latin typeface="+mn-lt"/>
                <a:ea typeface="+mn-ea"/>
                <a:cs typeface="+mn-cs"/>
              </a:rPr>
              <a:t> The authorities may temporarily close the business down </a:t>
            </a:r>
          </a:p>
          <a:p>
            <a:pPr>
              <a:buFont typeface="Arial" pitchFamily="34" charset="0"/>
              <a:buChar char="•"/>
            </a:pPr>
            <a:r>
              <a:rPr lang="en-AU" sz="1200" kern="1200" dirty="0" smtClean="0">
                <a:solidFill>
                  <a:schemeClr val="tx1"/>
                </a:solidFill>
                <a:latin typeface="+mn-lt"/>
                <a:ea typeface="+mn-ea"/>
                <a:cs typeface="+mn-cs"/>
              </a:rPr>
              <a:t> Jail for the owner or staff – especially in situations where there unsafe practices have been intentional (and designed to harm customers) or extremely negligent</a:t>
            </a:r>
          </a:p>
          <a:p>
            <a:pPr>
              <a:buFont typeface="Arial" pitchFamily="34" charset="0"/>
              <a:buChar char="•"/>
            </a:pPr>
            <a:r>
              <a:rPr lang="en-AU" sz="1200" kern="1200" dirty="0" smtClean="0">
                <a:solidFill>
                  <a:schemeClr val="tx1"/>
                </a:solidFill>
                <a:latin typeface="+mn-lt"/>
                <a:ea typeface="+mn-ea"/>
                <a:cs typeface="+mn-cs"/>
              </a:rPr>
              <a:t> Being sued by customers </a:t>
            </a:r>
          </a:p>
          <a:p>
            <a:pPr>
              <a:buFont typeface="Arial" pitchFamily="34" charset="0"/>
              <a:buChar char="•"/>
            </a:pPr>
            <a:r>
              <a:rPr lang="en-AU" sz="1200" kern="1200" dirty="0" smtClean="0">
                <a:solidFill>
                  <a:schemeClr val="tx1"/>
                </a:solidFill>
                <a:latin typeface="+mn-lt"/>
                <a:ea typeface="+mn-ea"/>
                <a:cs typeface="+mn-cs"/>
              </a:rPr>
              <a:t> Bad media exposure </a:t>
            </a:r>
          </a:p>
          <a:p>
            <a:pPr>
              <a:buFont typeface="Arial" pitchFamily="34" charset="0"/>
              <a:buChar char="•"/>
            </a:pPr>
            <a:r>
              <a:rPr lang="en-AU" sz="1200" kern="1200" dirty="0" smtClean="0">
                <a:solidFill>
                  <a:schemeClr val="tx1"/>
                </a:solidFill>
                <a:latin typeface="+mn-lt"/>
                <a:ea typeface="+mn-ea"/>
                <a:cs typeface="+mn-cs"/>
              </a:rPr>
              <a:t> Permanent closure of the business </a:t>
            </a:r>
          </a:p>
          <a:p>
            <a:pPr>
              <a:buFont typeface="Arial" pitchFamily="34" charset="0"/>
              <a:buChar char="•"/>
            </a:pPr>
            <a:r>
              <a:rPr lang="en-AU" sz="1200" kern="1200" dirty="0" smtClean="0">
                <a:solidFill>
                  <a:schemeClr val="tx1"/>
                </a:solidFill>
                <a:latin typeface="+mn-lt"/>
                <a:ea typeface="+mn-ea"/>
                <a:cs typeface="+mn-cs"/>
              </a:rPr>
              <a:t> Loss of jobs for staff – as a result of reduced trade, there is often less of a need for the business to employ as many staff.</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214654532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lists and explains ways to identify ‘out of control’ situations:</a:t>
            </a:r>
          </a:p>
          <a:p>
            <a:pPr>
              <a:buFont typeface="Arial" pitchFamily="34" charset="0"/>
              <a:buChar char="•"/>
            </a:pPr>
            <a:r>
              <a:rPr lang="en-AU" sz="1200" kern="1200" dirty="0" smtClean="0">
                <a:solidFill>
                  <a:schemeClr val="tx1"/>
                </a:solidFill>
                <a:latin typeface="+mn-lt"/>
                <a:ea typeface="+mn-ea"/>
                <a:cs typeface="+mn-cs"/>
              </a:rPr>
              <a:t> Encouraging and training staff to constantly be on the lookout for poor practices – constant attentiveness to food safety is critical</a:t>
            </a:r>
          </a:p>
          <a:p>
            <a:pPr>
              <a:buFont typeface="Arial" pitchFamily="34" charset="0"/>
              <a:buChar char="•"/>
            </a:pPr>
            <a:r>
              <a:rPr lang="en-AU" sz="1200" kern="1200" dirty="0" smtClean="0">
                <a:solidFill>
                  <a:schemeClr val="tx1"/>
                </a:solidFill>
                <a:latin typeface="+mn-lt"/>
                <a:ea typeface="+mn-ea"/>
                <a:cs typeface="+mn-cs"/>
              </a:rPr>
              <a:t> Conducting regular workplace inspections using comprehensive checklists designed specifically for each individual premises – staff and management should cooperate in the conduct of these inspections and all areas listed on the checklists must be covered</a:t>
            </a:r>
          </a:p>
          <a:p>
            <a:pPr>
              <a:buFont typeface="Arial" pitchFamily="34" charset="0"/>
              <a:buChar char="•"/>
            </a:pPr>
            <a:r>
              <a:rPr lang="en-AU" sz="1200" kern="1200" dirty="0" smtClean="0">
                <a:solidFill>
                  <a:schemeClr val="tx1"/>
                </a:solidFill>
                <a:latin typeface="+mn-lt"/>
                <a:ea typeface="+mn-ea"/>
                <a:cs typeface="+mn-cs"/>
              </a:rPr>
              <a:t> Raising staff awareness and maintaining that awareness in the workplace – through management initiatives such as:</a:t>
            </a:r>
          </a:p>
          <a:p>
            <a:pPr lvl="1">
              <a:buFont typeface="Arial" pitchFamily="34" charset="0"/>
              <a:buChar char="•"/>
            </a:pPr>
            <a:r>
              <a:rPr lang="en-AU" sz="1200" kern="1200" dirty="0" smtClean="0">
                <a:solidFill>
                  <a:schemeClr val="tx1"/>
                </a:solidFill>
                <a:latin typeface="+mn-lt"/>
                <a:ea typeface="+mn-ea"/>
                <a:cs typeface="+mn-cs"/>
              </a:rPr>
              <a:t> Refresher training for food handlers </a:t>
            </a:r>
          </a:p>
          <a:p>
            <a:pPr lvl="1">
              <a:buFont typeface="Arial" pitchFamily="34" charset="0"/>
              <a:buChar char="•"/>
            </a:pPr>
            <a:r>
              <a:rPr lang="en-AU" sz="1200" kern="1200" dirty="0" smtClean="0">
                <a:solidFill>
                  <a:schemeClr val="tx1"/>
                </a:solidFill>
                <a:latin typeface="+mn-lt"/>
                <a:ea typeface="+mn-ea"/>
                <a:cs typeface="+mn-cs"/>
              </a:rPr>
              <a:t> Recognitions and rewards for consistent safe food handling practices </a:t>
            </a:r>
          </a:p>
          <a:p>
            <a:pPr lvl="1">
              <a:buFont typeface="Arial" pitchFamily="34" charset="0"/>
              <a:buChar char="•"/>
            </a:pPr>
            <a:r>
              <a:rPr lang="en-AU" sz="1200" kern="1200" dirty="0" smtClean="0">
                <a:solidFill>
                  <a:schemeClr val="tx1"/>
                </a:solidFill>
                <a:latin typeface="+mn-lt"/>
                <a:ea typeface="+mn-ea"/>
                <a:cs typeface="+mn-cs"/>
              </a:rPr>
              <a:t> Development of posters to be put up throughout the food handling workplace</a:t>
            </a:r>
          </a:p>
          <a:p>
            <a:pPr lvl="1">
              <a:buFont typeface="Arial" pitchFamily="34" charset="0"/>
              <a:buChar char="•"/>
            </a:pPr>
            <a:r>
              <a:rPr lang="en-AU" sz="1200" kern="1200" dirty="0" smtClean="0">
                <a:solidFill>
                  <a:schemeClr val="tx1"/>
                </a:solidFill>
                <a:latin typeface="+mn-lt"/>
                <a:ea typeface="+mn-ea"/>
                <a:cs typeface="+mn-cs"/>
              </a:rPr>
              <a:t> Making food safety a standing item at all staff meetings/briefings </a:t>
            </a:r>
          </a:p>
          <a:p>
            <a:pPr lvl="1">
              <a:buFont typeface="Arial" pitchFamily="34" charset="0"/>
              <a:buChar char="•"/>
            </a:pPr>
            <a:r>
              <a:rPr lang="en-AU" sz="1200" kern="1200" dirty="0" smtClean="0">
                <a:solidFill>
                  <a:schemeClr val="tx1"/>
                </a:solidFill>
                <a:latin typeface="+mn-lt"/>
                <a:ea typeface="+mn-ea"/>
                <a:cs typeface="+mn-cs"/>
              </a:rPr>
              <a:t> Creating a workplace-based library of food safety information, references and fact sheets </a:t>
            </a:r>
          </a:p>
          <a:p>
            <a:pPr>
              <a:buFont typeface="Arial" pitchFamily="34" charset="0"/>
              <a:buChar char="•"/>
            </a:pPr>
            <a:r>
              <a:rPr lang="en-AU" sz="1200" kern="1200" dirty="0" smtClean="0">
                <a:solidFill>
                  <a:schemeClr val="tx1"/>
                </a:solidFill>
                <a:latin typeface="+mn-lt"/>
                <a:ea typeface="+mn-ea"/>
                <a:cs typeface="+mn-cs"/>
              </a:rPr>
              <a:t> Undertaking personal observation – of all food handling areas and practices</a:t>
            </a:r>
          </a:p>
          <a:p>
            <a:pPr>
              <a:buFont typeface="Arial" pitchFamily="34" charset="0"/>
              <a:buChar char="•"/>
            </a:pPr>
            <a:r>
              <a:rPr lang="en-AU" sz="1200" kern="1200" dirty="0" smtClean="0">
                <a:solidFill>
                  <a:schemeClr val="tx1"/>
                </a:solidFill>
                <a:latin typeface="+mn-lt"/>
                <a:ea typeface="+mn-ea"/>
                <a:cs typeface="+mn-cs"/>
              </a:rPr>
              <a:t> Conducting formal audits of the workplace every six months to identify areas and issues that may require attention.</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management-level</a:t>
            </a:r>
            <a:r>
              <a:rPr lang="en-AU" b="0" baseline="0" noProof="0" dirty="0" smtClean="0"/>
              <a:t> person from a food premises to attend and talk to students about:</a:t>
            </a:r>
          </a:p>
          <a:p>
            <a:pPr>
              <a:buFont typeface="Arial" pitchFamily="34" charset="0"/>
              <a:buChar char="•"/>
            </a:pPr>
            <a:r>
              <a:rPr lang="en-AU" b="0" noProof="0" dirty="0" smtClean="0"/>
              <a:t> Their venue protocols to establish and maintain a safe food environment</a:t>
            </a:r>
          </a:p>
          <a:p>
            <a:pPr>
              <a:buFont typeface="Arial" pitchFamily="34" charset="0"/>
              <a:buChar char="•"/>
            </a:pPr>
            <a:r>
              <a:rPr lang="en-AU" b="0" noProof="0" dirty="0" smtClean="0"/>
              <a:t> Internal food safety training</a:t>
            </a:r>
          </a:p>
          <a:p>
            <a:pPr>
              <a:buFont typeface="Arial" pitchFamily="34" charset="0"/>
              <a:buChar char="•"/>
            </a:pPr>
            <a:r>
              <a:rPr lang="en-AU" b="0" noProof="0" dirty="0" smtClean="0"/>
              <a:t> Aspects of their FSP</a:t>
            </a:r>
          </a:p>
          <a:p>
            <a:pPr>
              <a:buFont typeface="Arial" pitchFamily="34" charset="0"/>
              <a:buChar char="•"/>
            </a:pPr>
            <a:r>
              <a:rPr lang="en-AU" b="0" noProof="0" dirty="0" smtClean="0"/>
              <a:t> Monitoring  protocols.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3746775233"/>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a:t>
            </a:r>
            <a:r>
              <a:rPr lang="en-AU" baseline="0" noProof="0" dirty="0" smtClean="0"/>
              <a:t> explains: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noProof="0" dirty="0" smtClean="0"/>
              <a:t> The </a:t>
            </a:r>
            <a:r>
              <a:rPr lang="en-AU" sz="1200" kern="1200" dirty="0" smtClean="0">
                <a:solidFill>
                  <a:schemeClr val="tx1"/>
                </a:solidFill>
                <a:latin typeface="+mn-lt"/>
                <a:ea typeface="+mn-ea"/>
                <a:cs typeface="+mn-cs"/>
              </a:rPr>
              <a:t>corrective action needed in response to a food safety risk or hazard will depend on what has been identified</a:t>
            </a:r>
          </a:p>
          <a:p>
            <a:pPr>
              <a:buFont typeface="Arial" pitchFamily="34" charset="0"/>
              <a:buChar char="•"/>
            </a:pPr>
            <a:r>
              <a:rPr lang="en-AU" sz="1200" kern="1200" dirty="0" smtClean="0">
                <a:solidFill>
                  <a:schemeClr val="tx1"/>
                </a:solidFill>
                <a:latin typeface="+mn-lt"/>
                <a:ea typeface="+mn-ea"/>
                <a:cs typeface="+mn-cs"/>
              </a:rPr>
              <a:t> Corrective action is action taken to address or retrieve an out-of-control situation</a:t>
            </a:r>
          </a:p>
          <a:p>
            <a:pPr>
              <a:buFont typeface="Arial" pitchFamily="34" charset="0"/>
              <a:buChar char="•"/>
            </a:pPr>
            <a:r>
              <a:rPr lang="en-AU" sz="1200" kern="1200" dirty="0" smtClean="0">
                <a:solidFill>
                  <a:schemeClr val="tx1"/>
                </a:solidFill>
                <a:latin typeface="+mn-lt"/>
                <a:ea typeface="+mn-ea"/>
                <a:cs typeface="+mn-cs"/>
              </a:rPr>
              <a:t> When corrective action is taken in response to a food safety issue there is usually a need to complete an establishment-specific Correct Action Report.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119375058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discusses CARs stating :</a:t>
            </a:r>
          </a:p>
          <a:p>
            <a:pPr>
              <a:buFont typeface="Arial" pitchFamily="34" charset="0"/>
              <a:buChar char="•"/>
            </a:pPr>
            <a:r>
              <a:rPr lang="en-AU" sz="1200" kern="1200" dirty="0" smtClean="0">
                <a:solidFill>
                  <a:schemeClr val="tx1"/>
                </a:solidFill>
                <a:latin typeface="+mn-lt"/>
                <a:ea typeface="+mn-ea"/>
                <a:cs typeface="+mn-cs"/>
              </a:rPr>
              <a:t> They will detail: </a:t>
            </a:r>
          </a:p>
          <a:p>
            <a:pPr lvl="1">
              <a:buFont typeface="Arial" pitchFamily="34" charset="0"/>
              <a:buChar char="•"/>
            </a:pPr>
            <a:r>
              <a:rPr lang="en-AU" sz="1200" kern="1200" dirty="0" smtClean="0">
                <a:solidFill>
                  <a:schemeClr val="tx1"/>
                </a:solidFill>
                <a:latin typeface="+mn-lt"/>
                <a:ea typeface="+mn-ea"/>
                <a:cs typeface="+mn-cs"/>
              </a:rPr>
              <a:t> Date and time of the event</a:t>
            </a:r>
          </a:p>
          <a:p>
            <a:pPr lvl="1">
              <a:buFont typeface="Arial" pitchFamily="34" charset="0"/>
              <a:buChar char="•"/>
            </a:pPr>
            <a:r>
              <a:rPr lang="en-AU" sz="1200" kern="1200" dirty="0" smtClean="0">
                <a:solidFill>
                  <a:schemeClr val="tx1"/>
                </a:solidFill>
                <a:latin typeface="+mn-lt"/>
                <a:ea typeface="+mn-ea"/>
                <a:cs typeface="+mn-cs"/>
              </a:rPr>
              <a:t> Indicator which identified there was a problem – for example ‘Temperature reading of cool room was 15˚C at 5:30AM when I arrived for work’, or ‘Mice droppings found in food’</a:t>
            </a:r>
          </a:p>
          <a:p>
            <a:pPr lvl="1">
              <a:buFont typeface="Arial" pitchFamily="34" charset="0"/>
              <a:buChar char="•"/>
            </a:pPr>
            <a:r>
              <a:rPr lang="en-AU" sz="1200" kern="1200" dirty="0" smtClean="0">
                <a:solidFill>
                  <a:schemeClr val="tx1"/>
                </a:solidFill>
                <a:latin typeface="+mn-lt"/>
                <a:ea typeface="+mn-ea"/>
                <a:cs typeface="+mn-cs"/>
              </a:rPr>
              <a:t> Food involved – naming and describing the type and amount of food</a:t>
            </a:r>
          </a:p>
          <a:p>
            <a:pPr lvl="1">
              <a:buFont typeface="Arial" pitchFamily="34" charset="0"/>
              <a:buChar char="•"/>
            </a:pPr>
            <a:r>
              <a:rPr lang="en-AU" sz="1200" kern="1200" dirty="0" smtClean="0">
                <a:solidFill>
                  <a:schemeClr val="tx1"/>
                </a:solidFill>
                <a:latin typeface="+mn-lt"/>
                <a:ea typeface="+mn-ea"/>
                <a:cs typeface="+mn-cs"/>
              </a:rPr>
              <a:t> Action taken to address the problem – explaining (for example):</a:t>
            </a:r>
          </a:p>
          <a:p>
            <a:pPr lvl="1">
              <a:buFont typeface="Arial" pitchFamily="34" charset="0"/>
              <a:buChar char="•"/>
            </a:pPr>
            <a:r>
              <a:rPr lang="en-US" sz="1200" kern="1200" dirty="0" smtClean="0">
                <a:solidFill>
                  <a:schemeClr val="tx1"/>
                </a:solidFill>
                <a:latin typeface="+mn-lt"/>
                <a:ea typeface="+mn-ea"/>
                <a:cs typeface="+mn-cs"/>
              </a:rPr>
              <a:t> ‘Discarded food’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‘Called service technician to check/repair cool room’.</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Recording corrective action taken should not be regarded as an ‘admission of guilt’ in relation to an out-of-control situation – rather, it should be seen as a positive indication you were actively monitoring food safety and took appropriate action when the need to do so arose.</a:t>
            </a:r>
          </a:p>
          <a:p>
            <a:pPr>
              <a:buFont typeface="Arial" pitchFamily="34" charset="0"/>
              <a:buNone/>
            </a:pPr>
            <a:endParaRPr lang="en-AU" noProof="0" dirty="0" smtClean="0"/>
          </a:p>
          <a:p>
            <a:pPr>
              <a:buFont typeface="Arial" pitchFamily="34" charset="0"/>
              <a:buNone/>
            </a:pPr>
            <a:r>
              <a:rPr lang="en-AU" b="1" noProof="0" dirty="0" smtClean="0"/>
              <a:t>Class Activity – Handout</a:t>
            </a:r>
          </a:p>
          <a:p>
            <a:pPr>
              <a:buFont typeface="Arial" pitchFamily="34" charset="0"/>
              <a:buNone/>
            </a:pPr>
            <a:r>
              <a:rPr lang="en-AU" b="0" noProof="0" dirty="0" smtClean="0"/>
              <a:t>Trainer obtains sample CAR and distributes same to class, explains all sections</a:t>
            </a:r>
            <a:r>
              <a:rPr lang="en-AU" b="0" baseline="0" noProof="0" dirty="0" smtClean="0"/>
              <a:t> and discusses how to complete.</a:t>
            </a:r>
            <a:endParaRPr lang="en-AU" b="0" noProof="0" dirty="0" smtClean="0"/>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1489668015"/>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introduces concept of ‘scope of authority’ stating:</a:t>
            </a:r>
          </a:p>
          <a:p>
            <a:pPr>
              <a:buFont typeface="Arial" pitchFamily="34" charset="0"/>
              <a:buChar char="•"/>
            </a:pPr>
            <a:r>
              <a:rPr lang="en-AU" sz="1200" kern="1200" dirty="0" smtClean="0">
                <a:solidFill>
                  <a:schemeClr val="tx1"/>
                </a:solidFill>
                <a:latin typeface="+mn-lt"/>
                <a:ea typeface="+mn-ea"/>
                <a:cs typeface="+mn-cs"/>
              </a:rPr>
              <a:t> Individual scope of responsibility refers to the authority to take action without needing to have it approved by someone else</a:t>
            </a:r>
          </a:p>
          <a:p>
            <a:pPr>
              <a:buFont typeface="Arial" pitchFamily="34" charset="0"/>
              <a:buChar char="•"/>
            </a:pPr>
            <a:r>
              <a:rPr lang="en-AU" sz="1200" kern="1200" dirty="0" smtClean="0">
                <a:solidFill>
                  <a:schemeClr val="tx1"/>
                </a:solidFill>
                <a:latin typeface="+mn-lt"/>
                <a:ea typeface="+mn-ea"/>
                <a:cs typeface="+mn-cs"/>
              </a:rPr>
              <a:t> If action is required which falls outside personal scope of responsibility it must be reported/referred to the ‘appropriate person’ (see later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267860186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the purchasing of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Obtain proof from suppliers they are registered as a food business and/or have a FSP in place and operational</a:t>
            </a:r>
          </a:p>
          <a:p>
            <a:pPr>
              <a:buFont typeface="Arial" pitchFamily="34" charset="0"/>
              <a:buChar char="•"/>
            </a:pPr>
            <a:r>
              <a:rPr lang="en-AU" sz="1200" kern="1200" dirty="0" smtClean="0">
                <a:solidFill>
                  <a:schemeClr val="tx1"/>
                </a:solidFill>
                <a:latin typeface="+mn-lt"/>
                <a:ea typeface="+mn-ea"/>
                <a:cs typeface="+mn-cs"/>
              </a:rPr>
              <a:t> Add required/new suppliers to Approved Suppliers List (see next section) as necessary</a:t>
            </a:r>
          </a:p>
          <a:p>
            <a:pPr>
              <a:buFont typeface="Arial" pitchFamily="34" charset="0"/>
              <a:buChar char="•"/>
            </a:pPr>
            <a:r>
              <a:rPr lang="en-AU" sz="1200" kern="1200" dirty="0" smtClean="0">
                <a:solidFill>
                  <a:schemeClr val="tx1"/>
                </a:solidFill>
                <a:latin typeface="+mn-lt"/>
                <a:ea typeface="+mn-ea"/>
                <a:cs typeface="+mn-cs"/>
              </a:rPr>
              <a:t> Set purchase specifications for suppliers to comply with.</a:t>
            </a:r>
          </a:p>
          <a:p>
            <a:pPr>
              <a:buFont typeface="Arial" pitchFamily="34" charset="0"/>
              <a:buNone/>
            </a:pPr>
            <a:endParaRPr lang="en-AU" noProof="0" dirty="0" smtClean="0"/>
          </a:p>
          <a:p>
            <a:pPr>
              <a:buFont typeface="Arial" pitchFamily="34" charset="0"/>
              <a:buNone/>
            </a:pPr>
            <a:r>
              <a:rPr lang="en-AU" b="1" noProof="0" dirty="0" smtClean="0"/>
              <a:t>Class Activity – Presentation</a:t>
            </a:r>
          </a:p>
          <a:p>
            <a:pPr>
              <a:buFont typeface="Arial" pitchFamily="34" charset="0"/>
              <a:buNone/>
            </a:pPr>
            <a:r>
              <a:rPr lang="en-AU" b="0" noProof="0" dirty="0" smtClean="0"/>
              <a:t>Trainer obtains,</a:t>
            </a:r>
            <a:r>
              <a:rPr lang="en-AU" b="0" baseline="0" noProof="0" dirty="0" smtClean="0"/>
              <a:t> distributes and discusses:</a:t>
            </a:r>
          </a:p>
          <a:p>
            <a:pPr>
              <a:buFont typeface="Arial" pitchFamily="34" charset="0"/>
              <a:buChar char="•"/>
            </a:pPr>
            <a:r>
              <a:rPr lang="en-AU" b="0" baseline="0" noProof="0" dirty="0" smtClean="0"/>
              <a:t> Sample ‘Approved Suppliers List’</a:t>
            </a:r>
          </a:p>
          <a:p>
            <a:pPr>
              <a:buFont typeface="Arial" pitchFamily="34" charset="0"/>
              <a:buChar char="•"/>
            </a:pPr>
            <a:r>
              <a:rPr lang="en-AU" b="0" baseline="0" noProof="0" dirty="0" smtClean="0"/>
              <a:t> Example of food specification/s.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3290007572"/>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receiving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Refuse/reject refrigerated high risk foods delivered at more than 5°C (or as otherwise stated in your FSP)</a:t>
            </a:r>
          </a:p>
          <a:p>
            <a:pPr>
              <a:buFont typeface="Arial" pitchFamily="34" charset="0"/>
              <a:buChar char="•"/>
            </a:pPr>
            <a:r>
              <a:rPr lang="en-AU" sz="1200" kern="1200" dirty="0" smtClean="0">
                <a:solidFill>
                  <a:schemeClr val="tx1"/>
                </a:solidFill>
                <a:latin typeface="+mn-lt"/>
                <a:ea typeface="+mn-ea"/>
                <a:cs typeface="+mn-cs"/>
              </a:rPr>
              <a:t> Refuse/reject frozen produce not hard frozen</a:t>
            </a:r>
          </a:p>
          <a:p>
            <a:pPr>
              <a:buFont typeface="Arial" pitchFamily="34" charset="0"/>
              <a:buChar char="•"/>
            </a:pPr>
            <a:r>
              <a:rPr lang="en-AU" sz="1200" kern="1200" dirty="0" smtClean="0">
                <a:solidFill>
                  <a:schemeClr val="tx1"/>
                </a:solidFill>
                <a:latin typeface="+mn-lt"/>
                <a:ea typeface="+mn-ea"/>
                <a:cs typeface="+mn-cs"/>
              </a:rPr>
              <a:t> Refuse/reject hot food delivered at less than 60°C – unless you are convinced it has been at this temperature for less than two hours: note this food must be thrown out after it has spent four hours total (including delivery time) in this temperature range</a:t>
            </a:r>
          </a:p>
          <a:p>
            <a:pPr>
              <a:buFont typeface="Arial" pitchFamily="34" charset="0"/>
              <a:buChar char="•"/>
            </a:pPr>
            <a:r>
              <a:rPr lang="en-AU" sz="1200" kern="1200" dirty="0" smtClean="0">
                <a:solidFill>
                  <a:schemeClr val="tx1"/>
                </a:solidFill>
                <a:latin typeface="+mn-lt"/>
                <a:ea typeface="+mn-ea"/>
                <a:cs typeface="+mn-cs"/>
              </a:rPr>
              <a:t> Refuse/reject products which are not adequately marked with manufacturer’s details</a:t>
            </a:r>
          </a:p>
          <a:p>
            <a:pPr>
              <a:buFont typeface="Arial" pitchFamily="34" charset="0"/>
              <a:buChar char="•"/>
            </a:pPr>
            <a:r>
              <a:rPr lang="en-AU" sz="1200" kern="1200" dirty="0" smtClean="0">
                <a:solidFill>
                  <a:schemeClr val="tx1"/>
                </a:solidFill>
                <a:latin typeface="+mn-lt"/>
                <a:ea typeface="+mn-ea"/>
                <a:cs typeface="+mn-cs"/>
              </a:rPr>
              <a:t> Refuse/reject food delivered in an unclean vehicle, or which is being delivered in a non-food vehicle such as a private car</a:t>
            </a:r>
          </a:p>
          <a:p>
            <a:pPr>
              <a:buFont typeface="Arial" pitchFamily="34" charset="0"/>
              <a:buChar char="•"/>
            </a:pPr>
            <a:r>
              <a:rPr lang="en-AU" sz="1200" kern="1200" dirty="0" smtClean="0">
                <a:solidFill>
                  <a:schemeClr val="tx1"/>
                </a:solidFill>
                <a:latin typeface="+mn-lt"/>
                <a:ea typeface="+mn-ea"/>
                <a:cs typeface="+mn-cs"/>
              </a:rPr>
              <a:t> Refuse/reject foods delivered to you mixed in with chemicals: this includes refusing/rejecting foods where the chemicals were sealed and unopened – food and chemicals must not be mixed together even in their original containers, drums.</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22637299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storage of dry food/goods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Where there is evidence of pest or rodent infestation:</a:t>
            </a:r>
          </a:p>
          <a:p>
            <a:pPr lvl="1">
              <a:buFont typeface="Arial" pitchFamily="34" charset="0"/>
              <a:buChar char="•"/>
            </a:pPr>
            <a:r>
              <a:rPr lang="en-AU" sz="1200" kern="1200" dirty="0" smtClean="0">
                <a:solidFill>
                  <a:schemeClr val="tx1"/>
                </a:solidFill>
                <a:latin typeface="+mn-lt"/>
                <a:ea typeface="+mn-ea"/>
                <a:cs typeface="+mn-cs"/>
              </a:rPr>
              <a:t> Lay baits</a:t>
            </a:r>
          </a:p>
          <a:p>
            <a:pPr lvl="1">
              <a:buFont typeface="Arial" pitchFamily="34" charset="0"/>
              <a:buChar char="•"/>
            </a:pPr>
            <a:r>
              <a:rPr lang="en-AU" sz="1200" kern="1200" dirty="0" smtClean="0">
                <a:solidFill>
                  <a:schemeClr val="tx1"/>
                </a:solidFill>
                <a:latin typeface="+mn-lt"/>
                <a:ea typeface="+mn-ea"/>
                <a:cs typeface="+mn-cs"/>
              </a:rPr>
              <a:t> Engage the services of a licensed pest control company</a:t>
            </a:r>
          </a:p>
          <a:p>
            <a:pPr lvl="1">
              <a:buFont typeface="Arial" pitchFamily="34" charset="0"/>
              <a:buChar char="•"/>
            </a:pPr>
            <a:r>
              <a:rPr lang="en-AU" sz="1200" kern="1200" dirty="0" smtClean="0">
                <a:solidFill>
                  <a:schemeClr val="tx1"/>
                </a:solidFill>
                <a:latin typeface="+mn-lt"/>
                <a:ea typeface="+mn-ea"/>
                <a:cs typeface="+mn-cs"/>
              </a:rPr>
              <a:t> Investigate where they are getting in and make repairs – fit fly wire, fill in holes</a:t>
            </a:r>
          </a:p>
          <a:p>
            <a:pPr lvl="1">
              <a:buFont typeface="Arial" pitchFamily="34" charset="0"/>
              <a:buChar char="•"/>
            </a:pPr>
            <a:r>
              <a:rPr lang="en-AU" sz="1200" kern="1200" dirty="0" smtClean="0">
                <a:solidFill>
                  <a:schemeClr val="tx1"/>
                </a:solidFill>
                <a:latin typeface="+mn-lt"/>
                <a:ea typeface="+mn-ea"/>
                <a:cs typeface="+mn-cs"/>
              </a:rPr>
              <a:t> Record the action you take on the Corrective Action form</a:t>
            </a:r>
          </a:p>
          <a:p>
            <a:pPr>
              <a:buFont typeface="Arial" pitchFamily="34" charset="0"/>
              <a:buChar char="•"/>
            </a:pPr>
            <a:r>
              <a:rPr lang="en-AU" sz="1200" kern="1200" dirty="0" smtClean="0">
                <a:solidFill>
                  <a:schemeClr val="tx1"/>
                </a:solidFill>
                <a:latin typeface="+mn-lt"/>
                <a:ea typeface="+mn-ea"/>
                <a:cs typeface="+mn-cs"/>
              </a:rPr>
              <a:t> Throw away all infested/contaminated food</a:t>
            </a:r>
          </a:p>
          <a:p>
            <a:pPr>
              <a:buFont typeface="Arial" pitchFamily="34" charset="0"/>
              <a:buChar char="•"/>
            </a:pPr>
            <a:r>
              <a:rPr lang="en-AU" sz="1200" kern="1200" dirty="0" smtClean="0">
                <a:solidFill>
                  <a:schemeClr val="tx1"/>
                </a:solidFill>
                <a:latin typeface="+mn-lt"/>
                <a:ea typeface="+mn-ea"/>
                <a:cs typeface="+mn-cs"/>
              </a:rPr>
              <a:t> Up-date and/or repair lighting/globes/fluorescent tubes – if</a:t>
            </a:r>
            <a:r>
              <a:rPr lang="en-AU" sz="1200" kern="1200" baseline="0" dirty="0" smtClean="0">
                <a:solidFill>
                  <a:schemeClr val="tx1"/>
                </a:solidFill>
                <a:latin typeface="+mn-lt"/>
                <a:ea typeface="+mn-ea"/>
                <a:cs typeface="+mn-cs"/>
              </a:rPr>
              <a:t> lighting is poor or not working properly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Revamp stock control measures – throw away out-of-date food; implement FIFO procedures.</a:t>
            </a:r>
          </a:p>
          <a:p>
            <a:endParaRPr lang="en-AU" baseline="0"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AU" b="1" noProof="0" dirty="0" smtClean="0"/>
              <a:t>Class Activity – Discussion</a:t>
            </a:r>
          </a:p>
          <a:p>
            <a:r>
              <a:rPr lang="en-AU" baseline="0" noProof="0" dirty="0" smtClean="0"/>
              <a:t>Trainer asks trainees:</a:t>
            </a:r>
          </a:p>
          <a:p>
            <a:pPr>
              <a:buFont typeface="Arial" pitchFamily="34" charset="0"/>
              <a:buChar char="•"/>
            </a:pPr>
            <a:r>
              <a:rPr lang="en-AU" baseline="0" noProof="0" dirty="0" smtClean="0"/>
              <a:t> What action might be able to be taken to address pest infestation?</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160882533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listing possible corrective action which may need to be taken in relation to storage of dry food/goods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Allocate more space for dry storage of food where conditions are too crowded/cramped</a:t>
            </a:r>
          </a:p>
          <a:p>
            <a:pPr>
              <a:buFont typeface="Arial" pitchFamily="34" charset="0"/>
              <a:buChar char="•"/>
            </a:pPr>
            <a:r>
              <a:rPr lang="en-AU" sz="1200" kern="1200" dirty="0" smtClean="0">
                <a:solidFill>
                  <a:schemeClr val="tx1"/>
                </a:solidFill>
                <a:latin typeface="+mn-lt"/>
                <a:ea typeface="+mn-ea"/>
                <a:cs typeface="+mn-cs"/>
              </a:rPr>
              <a:t> Train staff in stock control procedures</a:t>
            </a:r>
          </a:p>
          <a:p>
            <a:pPr>
              <a:buFont typeface="Arial" pitchFamily="34" charset="0"/>
              <a:buChar char="•"/>
            </a:pPr>
            <a:r>
              <a:rPr lang="en-AU" sz="1200" kern="1200" dirty="0" smtClean="0">
                <a:solidFill>
                  <a:schemeClr val="tx1"/>
                </a:solidFill>
                <a:latin typeface="+mn-lt"/>
                <a:ea typeface="+mn-ea"/>
                <a:cs typeface="+mn-cs"/>
              </a:rPr>
              <a:t> Discard products with damaged packaging</a:t>
            </a:r>
          </a:p>
          <a:p>
            <a:pPr>
              <a:buFont typeface="Arial" pitchFamily="34" charset="0"/>
              <a:buChar char="•"/>
            </a:pPr>
            <a:r>
              <a:rPr lang="en-AU" sz="1200" kern="1200" dirty="0" smtClean="0">
                <a:solidFill>
                  <a:schemeClr val="tx1"/>
                </a:solidFill>
                <a:latin typeface="+mn-lt"/>
                <a:ea typeface="+mn-ea"/>
                <a:cs typeface="+mn-cs"/>
              </a:rPr>
              <a:t> Revise cleaning protocols – allocate more time, get more/better equipment and/or chemicals, provide training in cleaning, clean the area more frequently.</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19336871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storage of refrigerated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Discard all food that exceeds the ‘2/4 rule’</a:t>
            </a:r>
          </a:p>
          <a:p>
            <a:pPr>
              <a:buFont typeface="Arial" pitchFamily="34" charset="0"/>
              <a:buChar char="•"/>
            </a:pPr>
            <a:r>
              <a:rPr lang="en-AU" sz="1200" kern="1200" dirty="0" smtClean="0">
                <a:solidFill>
                  <a:schemeClr val="tx1"/>
                </a:solidFill>
                <a:latin typeface="+mn-lt"/>
                <a:ea typeface="+mn-ea"/>
                <a:cs typeface="+mn-cs"/>
              </a:rPr>
              <a:t> Discard all food beyond its ‘use by’ date</a:t>
            </a:r>
          </a:p>
          <a:p>
            <a:pPr>
              <a:buFont typeface="Arial" pitchFamily="34" charset="0"/>
              <a:buChar char="•"/>
            </a:pPr>
            <a:r>
              <a:rPr lang="en-AU" sz="1200" kern="1200" dirty="0" smtClean="0">
                <a:solidFill>
                  <a:schemeClr val="tx1"/>
                </a:solidFill>
                <a:latin typeface="+mn-lt"/>
                <a:ea typeface="+mn-ea"/>
                <a:cs typeface="+mn-cs"/>
              </a:rPr>
              <a:t> Train staff in cleaning techniques and practices</a:t>
            </a:r>
          </a:p>
          <a:p>
            <a:pPr>
              <a:buFont typeface="Arial" pitchFamily="34" charset="0"/>
              <a:buChar char="•"/>
            </a:pPr>
            <a:r>
              <a:rPr lang="en-AU" sz="1200" kern="1200" dirty="0" smtClean="0">
                <a:solidFill>
                  <a:schemeClr val="tx1"/>
                </a:solidFill>
                <a:latin typeface="+mn-lt"/>
                <a:ea typeface="+mn-ea"/>
                <a:cs typeface="+mn-cs"/>
              </a:rPr>
              <a:t> Call in refrigeration mechanic where the refrigeration units are reading above 5°C: consider implementing a preventative maintenance schedule through a reputable refrigeration company.</a:t>
            </a:r>
          </a:p>
          <a:p>
            <a:endParaRPr lang="en-AU" baseline="0" noProof="0" dirty="0" smtClean="0"/>
          </a:p>
          <a:p>
            <a:r>
              <a:rPr lang="en-AU" b="1" baseline="0" noProof="0" dirty="0" smtClean="0"/>
              <a:t>Class Activity – Question</a:t>
            </a:r>
          </a:p>
          <a:p>
            <a:r>
              <a:rPr lang="en-AU" b="0" baseline="0" noProof="0" dirty="0" smtClean="0"/>
              <a:t>Trainer asks students to describe/explain the 2/4 rule.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71089992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listing possible corrective action which may need to be taken in relation to storage of refrigerated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Discard all food where there is evidence – or a belief – cross contamination has occurred</a:t>
            </a:r>
          </a:p>
          <a:p>
            <a:pPr>
              <a:buFont typeface="Arial" pitchFamily="34" charset="0"/>
              <a:buChar char="•"/>
            </a:pPr>
            <a:r>
              <a:rPr lang="en-AU" sz="1200" kern="1200" dirty="0" smtClean="0">
                <a:solidFill>
                  <a:schemeClr val="tx1"/>
                </a:solidFill>
                <a:latin typeface="+mn-lt"/>
                <a:ea typeface="+mn-ea"/>
                <a:cs typeface="+mn-cs"/>
              </a:rPr>
              <a:t> Revamp stock control procedures, as required – if out-of-date stock is identified</a:t>
            </a:r>
          </a:p>
          <a:p>
            <a:pPr>
              <a:buFont typeface="Arial" pitchFamily="34" charset="0"/>
              <a:buChar char="•"/>
            </a:pPr>
            <a:r>
              <a:rPr lang="en-AU" sz="1200" kern="1200" dirty="0" smtClean="0">
                <a:solidFill>
                  <a:schemeClr val="tx1"/>
                </a:solidFill>
                <a:latin typeface="+mn-lt"/>
                <a:ea typeface="+mn-ea"/>
                <a:cs typeface="+mn-cs"/>
              </a:rPr>
              <a:t> Revamp cleaning procedures, as necessary – where cool room/refrigerated units are unclean.</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3416061105"/>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storage of frozen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Where frozen food has thawed out but is still below 5°C, you are allowed to refrigerate it and then treat it as refrigerated food </a:t>
            </a:r>
          </a:p>
          <a:p>
            <a:pPr>
              <a:buFont typeface="Arial" pitchFamily="34" charset="0"/>
              <a:buChar char="•"/>
            </a:pPr>
            <a:r>
              <a:rPr lang="en-AU" sz="1200" kern="1200" dirty="0" smtClean="0">
                <a:solidFill>
                  <a:schemeClr val="tx1"/>
                </a:solidFill>
                <a:latin typeface="+mn-lt"/>
                <a:ea typeface="+mn-ea"/>
                <a:cs typeface="+mn-cs"/>
              </a:rPr>
              <a:t> Where frozen food has been allowed to reach 5°C or higher (perhaps the freezer has broken down or there has been an extended power failure) for less than four  hours – you may use it if you do so immediately</a:t>
            </a:r>
          </a:p>
          <a:p>
            <a:pPr>
              <a:buFont typeface="Arial" pitchFamily="34" charset="0"/>
              <a:buChar char="•"/>
            </a:pPr>
            <a:r>
              <a:rPr lang="en-AU" sz="1200" kern="1200" dirty="0" smtClean="0">
                <a:solidFill>
                  <a:schemeClr val="tx1"/>
                </a:solidFill>
                <a:latin typeface="+mn-lt"/>
                <a:ea typeface="+mn-ea"/>
                <a:cs typeface="+mn-cs"/>
              </a:rPr>
              <a:t> If the frozen food has been at 5°C or more for more than four hours – throw it out</a:t>
            </a:r>
          </a:p>
          <a:p>
            <a:pPr>
              <a:buFont typeface="Arial" pitchFamily="34" charset="0"/>
              <a:buChar char="•"/>
            </a:pPr>
            <a:r>
              <a:rPr lang="en-AU" sz="1200" kern="1200" dirty="0" smtClean="0">
                <a:solidFill>
                  <a:schemeClr val="tx1"/>
                </a:solidFill>
                <a:latin typeface="+mn-lt"/>
                <a:ea typeface="+mn-ea"/>
                <a:cs typeface="+mn-cs"/>
              </a:rPr>
              <a:t> If the frozen food has been at 5°C or more for an indefinite amount of time – that is, you are not certain how long it has been at 5°C or above – discard it all</a:t>
            </a:r>
          </a:p>
          <a:p>
            <a:pPr>
              <a:buFont typeface="Arial" pitchFamily="34" charset="0"/>
              <a:buChar char="•"/>
            </a:pPr>
            <a:r>
              <a:rPr lang="en-AU" sz="1200" kern="1200" dirty="0" smtClean="0">
                <a:solidFill>
                  <a:schemeClr val="tx1"/>
                </a:solidFill>
                <a:latin typeface="+mn-lt"/>
                <a:ea typeface="+mn-ea"/>
                <a:cs typeface="+mn-cs"/>
              </a:rPr>
              <a:t> Discard all food that exceeds the ‘2/4 rule’.</a:t>
            </a:r>
          </a:p>
          <a:p>
            <a:endParaRPr lang="en-AU" baseline="0"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AU" b="1" noProof="0" dirty="0" smtClean="0"/>
              <a:t>Class Activity – Discussion</a:t>
            </a:r>
          </a:p>
          <a:p>
            <a:r>
              <a:rPr lang="en-AU" baseline="0" noProof="0" dirty="0" smtClean="0"/>
              <a:t>Trainer asks trainees:</a:t>
            </a:r>
          </a:p>
          <a:p>
            <a:pPr>
              <a:buFont typeface="Arial" pitchFamily="34" charset="0"/>
              <a:buChar char="•"/>
            </a:pPr>
            <a:r>
              <a:rPr lang="en-AU" baseline="0" noProof="0" dirty="0" smtClean="0"/>
              <a:t> What is the Temperature Danger Zone?</a:t>
            </a:r>
          </a:p>
          <a:p>
            <a:pPr>
              <a:buFont typeface="Arial" pitchFamily="34" charset="0"/>
              <a:buChar char="•"/>
            </a:pPr>
            <a:r>
              <a:rPr lang="en-AU" baseline="0" noProof="0" dirty="0" smtClean="0"/>
              <a:t> Why is it important in relation to food safety?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1469425059"/>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listing possible corrective action which may need to be taken in relation to storage of frozen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Discard all food that is beyond its ‘use by’ date</a:t>
            </a:r>
          </a:p>
          <a:p>
            <a:pPr>
              <a:buFont typeface="Arial" pitchFamily="34" charset="0"/>
              <a:buChar char="•"/>
            </a:pPr>
            <a:r>
              <a:rPr lang="en-AU" sz="1200" kern="1200" dirty="0" smtClean="0">
                <a:solidFill>
                  <a:schemeClr val="tx1"/>
                </a:solidFill>
                <a:latin typeface="+mn-lt"/>
                <a:ea typeface="+mn-ea"/>
                <a:cs typeface="+mn-cs"/>
              </a:rPr>
              <a:t> Train staff in cleaning techniques and practices</a:t>
            </a:r>
          </a:p>
          <a:p>
            <a:pPr>
              <a:buFont typeface="Arial" pitchFamily="34" charset="0"/>
              <a:buChar char="•"/>
            </a:pPr>
            <a:r>
              <a:rPr lang="en-AU" sz="1200" kern="1200" dirty="0" smtClean="0">
                <a:solidFill>
                  <a:schemeClr val="tx1"/>
                </a:solidFill>
                <a:latin typeface="+mn-lt"/>
                <a:ea typeface="+mn-ea"/>
                <a:cs typeface="+mn-cs"/>
              </a:rPr>
              <a:t> Call in refrigeration mechanic where the freezer units are reading above -15°C: again, consider implementing a preventative maintenance schedule through a reputable refrigeration company</a:t>
            </a:r>
          </a:p>
          <a:p>
            <a:pPr>
              <a:buFont typeface="Arial" pitchFamily="34" charset="0"/>
              <a:buChar char="•"/>
            </a:pPr>
            <a:r>
              <a:rPr lang="en-AU" sz="1200" kern="1200" dirty="0" smtClean="0">
                <a:solidFill>
                  <a:schemeClr val="tx1"/>
                </a:solidFill>
                <a:latin typeface="+mn-lt"/>
                <a:ea typeface="+mn-ea"/>
                <a:cs typeface="+mn-cs"/>
              </a:rPr>
              <a:t> Discard all food where there is evidence – or a belief – cross contamination has occurred</a:t>
            </a:r>
          </a:p>
          <a:p>
            <a:pPr>
              <a:buFont typeface="Arial" pitchFamily="34" charset="0"/>
              <a:buChar char="•"/>
            </a:pPr>
            <a:r>
              <a:rPr lang="en-AU" sz="1200" kern="1200" dirty="0" smtClean="0">
                <a:solidFill>
                  <a:schemeClr val="tx1"/>
                </a:solidFill>
                <a:latin typeface="+mn-lt"/>
                <a:ea typeface="+mn-ea"/>
                <a:cs typeface="+mn-cs"/>
              </a:rPr>
              <a:t> Revamp stock control procedures, as required</a:t>
            </a:r>
          </a:p>
          <a:p>
            <a:pPr>
              <a:buFont typeface="Arial" pitchFamily="34" charset="0"/>
              <a:buChar char="•"/>
            </a:pPr>
            <a:r>
              <a:rPr lang="en-AU" sz="1200" kern="1200" dirty="0" smtClean="0">
                <a:solidFill>
                  <a:schemeClr val="tx1"/>
                </a:solidFill>
                <a:latin typeface="+mn-lt"/>
                <a:ea typeface="+mn-ea"/>
                <a:cs typeface="+mn-cs"/>
              </a:rPr>
              <a:t> Revamp cleaning procedures, as necessary.</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1996055353"/>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thawing of frozen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Train staff to wait until food is fully thawed before cooking</a:t>
            </a:r>
          </a:p>
          <a:p>
            <a:pPr>
              <a:buFont typeface="Arial" pitchFamily="34" charset="0"/>
              <a:buChar char="•"/>
            </a:pPr>
            <a:r>
              <a:rPr lang="en-AU" sz="1200" kern="1200" dirty="0" smtClean="0">
                <a:solidFill>
                  <a:schemeClr val="tx1"/>
                </a:solidFill>
                <a:latin typeface="+mn-lt"/>
                <a:ea typeface="+mn-ea"/>
                <a:cs typeface="+mn-cs"/>
              </a:rPr>
              <a:t> Train staff in proper thawing practices, including the need to plan defrosting needs</a:t>
            </a:r>
          </a:p>
          <a:p>
            <a:pPr>
              <a:buFont typeface="Arial" pitchFamily="34" charset="0"/>
              <a:buChar char="•"/>
            </a:pPr>
            <a:r>
              <a:rPr lang="en-AU" sz="1200" kern="1200" dirty="0" smtClean="0">
                <a:solidFill>
                  <a:schemeClr val="tx1"/>
                </a:solidFill>
                <a:latin typeface="+mn-lt"/>
                <a:ea typeface="+mn-ea"/>
                <a:cs typeface="+mn-cs"/>
              </a:rPr>
              <a:t> Discard all food that exceeds the ‘2/4 rule’</a:t>
            </a:r>
          </a:p>
          <a:p>
            <a:pPr>
              <a:buFont typeface="Arial" pitchFamily="34" charset="0"/>
              <a:buChar char="•"/>
            </a:pPr>
            <a:r>
              <a:rPr lang="en-AU" sz="1200" kern="1200" dirty="0" smtClean="0">
                <a:solidFill>
                  <a:schemeClr val="tx1"/>
                </a:solidFill>
                <a:latin typeface="+mn-lt"/>
                <a:ea typeface="+mn-ea"/>
                <a:cs typeface="+mn-cs"/>
              </a:rPr>
              <a:t> Throw out all food defrosted in an uncovered state, or which has defrosted in damaged packaging</a:t>
            </a:r>
          </a:p>
          <a:p>
            <a:pPr>
              <a:buFont typeface="Arial" pitchFamily="34" charset="0"/>
              <a:buChar char="•"/>
            </a:pPr>
            <a:r>
              <a:rPr lang="en-AU" sz="1200" kern="1200" dirty="0" smtClean="0">
                <a:solidFill>
                  <a:schemeClr val="tx1"/>
                </a:solidFill>
                <a:latin typeface="+mn-lt"/>
                <a:ea typeface="+mn-ea"/>
                <a:cs typeface="+mn-cs"/>
              </a:rPr>
              <a:t> Discard all food that has been thawed and re-frozen</a:t>
            </a:r>
          </a:p>
          <a:p>
            <a:pPr>
              <a:buFont typeface="Arial" pitchFamily="34" charset="0"/>
              <a:buChar char="•"/>
            </a:pPr>
            <a:r>
              <a:rPr lang="en-AU" sz="1200" kern="1200" dirty="0" smtClean="0">
                <a:solidFill>
                  <a:schemeClr val="tx1"/>
                </a:solidFill>
                <a:latin typeface="+mn-lt"/>
                <a:ea typeface="+mn-ea"/>
                <a:cs typeface="+mn-cs"/>
              </a:rPr>
              <a:t> Train staff not to re-freeze thawed product which has already been frozen once.</a:t>
            </a:r>
          </a:p>
          <a:p>
            <a:endParaRPr lang="en-AU" baseline="0"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AU" b="1" noProof="0" dirty="0" smtClean="0"/>
              <a:t>Class Activity – Discussion</a:t>
            </a:r>
          </a:p>
          <a:p>
            <a:r>
              <a:rPr lang="en-AU" baseline="0" noProof="0" dirty="0" smtClean="0"/>
              <a:t>Trainer asks trainees:</a:t>
            </a:r>
          </a:p>
          <a:p>
            <a:pPr>
              <a:buFont typeface="Arial" pitchFamily="34" charset="0"/>
              <a:buChar char="•"/>
            </a:pPr>
            <a:r>
              <a:rPr lang="en-AU" baseline="0" noProof="0" dirty="0" smtClean="0"/>
              <a:t> What are the three acceptable options for thawing frown food?</a:t>
            </a:r>
          </a:p>
          <a:p>
            <a:pPr>
              <a:buFont typeface="Arial" pitchFamily="34" charset="0"/>
              <a:buChar char="•"/>
            </a:pPr>
            <a:r>
              <a:rPr lang="en-AU" baseline="0" noProof="0" dirty="0" smtClean="0"/>
              <a:t> What practices are not acceptable?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350744909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preparing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Supply sufficient time and resources to facilitate compliance with correct food handling practices – this may be gloves, extra utensils (knives, chopping boards, bowls), more time for hand washing</a:t>
            </a:r>
          </a:p>
          <a:p>
            <a:pPr>
              <a:buFont typeface="Arial" pitchFamily="34" charset="0"/>
              <a:buChar char="•"/>
            </a:pPr>
            <a:r>
              <a:rPr lang="en-AU" sz="1200" kern="1200" dirty="0" smtClean="0">
                <a:solidFill>
                  <a:schemeClr val="tx1"/>
                </a:solidFill>
                <a:latin typeface="+mn-lt"/>
                <a:ea typeface="+mn-ea"/>
                <a:cs typeface="+mn-cs"/>
              </a:rPr>
              <a:t> Put up signs to prompt/remind staff of correct/safe food handling practices</a:t>
            </a:r>
          </a:p>
          <a:p>
            <a:pPr>
              <a:buFont typeface="Arial" pitchFamily="34" charset="0"/>
              <a:buChar char="•"/>
            </a:pPr>
            <a:r>
              <a:rPr lang="en-AU" sz="1200" kern="1200" dirty="0" smtClean="0">
                <a:solidFill>
                  <a:schemeClr val="tx1"/>
                </a:solidFill>
                <a:latin typeface="+mn-lt"/>
                <a:ea typeface="+mn-ea"/>
                <a:cs typeface="+mn-cs"/>
              </a:rPr>
              <a:t> Revamp preparation procedures and practices so as to minimise time food spends in the Temperature Danger Zone – this may include spending time planning food preparation activities on a daily basis</a:t>
            </a:r>
          </a:p>
          <a:p>
            <a:pPr>
              <a:buFont typeface="Arial" pitchFamily="34" charset="0"/>
              <a:buChar char="•"/>
            </a:pPr>
            <a:r>
              <a:rPr lang="en-AU" sz="1200" kern="1200" dirty="0" smtClean="0">
                <a:solidFill>
                  <a:schemeClr val="tx1"/>
                </a:solidFill>
                <a:latin typeface="+mn-lt"/>
                <a:ea typeface="+mn-ea"/>
                <a:cs typeface="+mn-cs"/>
              </a:rPr>
              <a:t> Improve stock rotation procedures – if out-of-date items are being identified during this phase.</a:t>
            </a:r>
            <a:endParaRPr lang="en-AU" baseline="0" noProof="0" dirty="0" smtClean="0"/>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393498765"/>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listing possible corrective action which may need to be taken in relation to thawing of frozen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Apply the ‘2/4 rule’</a:t>
            </a:r>
          </a:p>
          <a:p>
            <a:pPr>
              <a:buFont typeface="Arial" pitchFamily="34" charset="0"/>
              <a:buChar char="•"/>
            </a:pPr>
            <a:r>
              <a:rPr lang="en-AU" sz="1200" kern="1200" dirty="0" smtClean="0">
                <a:solidFill>
                  <a:schemeClr val="tx1"/>
                </a:solidFill>
                <a:latin typeface="+mn-lt"/>
                <a:ea typeface="+mn-ea"/>
                <a:cs typeface="+mn-cs"/>
              </a:rPr>
              <a:t> Change cloths/swabs regularly – at least hourly: consider using paper towels instead</a:t>
            </a:r>
          </a:p>
          <a:p>
            <a:pPr>
              <a:buFont typeface="Arial" pitchFamily="34" charset="0"/>
              <a:buChar char="•"/>
            </a:pPr>
            <a:r>
              <a:rPr lang="en-AU" sz="1200" kern="1200" dirty="0" smtClean="0">
                <a:solidFill>
                  <a:schemeClr val="tx1"/>
                </a:solidFill>
                <a:latin typeface="+mn-lt"/>
                <a:ea typeface="+mn-ea"/>
                <a:cs typeface="+mn-cs"/>
              </a:rPr>
              <a:t> Monitor the performance of individual staff members in relation to food preparation-food safety issues, and suggest improvements to practice where this is deemed necessary </a:t>
            </a:r>
          </a:p>
          <a:p>
            <a:pPr>
              <a:buFont typeface="Arial" pitchFamily="34" charset="0"/>
              <a:buChar char="•"/>
            </a:pPr>
            <a:r>
              <a:rPr lang="en-AU" sz="1200" kern="1200" dirty="0" smtClean="0">
                <a:solidFill>
                  <a:schemeClr val="tx1"/>
                </a:solidFill>
                <a:latin typeface="+mn-lt"/>
                <a:ea typeface="+mn-ea"/>
                <a:cs typeface="+mn-cs"/>
              </a:rPr>
              <a:t> Train staff as required.</a:t>
            </a:r>
          </a:p>
          <a:p>
            <a:endParaRPr lang="en-AU" baseline="0"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AU" b="1" noProof="0" dirty="0" smtClean="0"/>
              <a:t>Class Activity – Discussion</a:t>
            </a:r>
          </a:p>
          <a:p>
            <a:r>
              <a:rPr lang="en-AU" baseline="0" noProof="0" dirty="0" smtClean="0"/>
              <a:t>Trainer asks trainees:</a:t>
            </a:r>
          </a:p>
          <a:p>
            <a:pPr>
              <a:buFont typeface="Arial" pitchFamily="34" charset="0"/>
              <a:buChar char="•"/>
            </a:pPr>
            <a:r>
              <a:rPr lang="en-AU" baseline="0" noProof="0" dirty="0" smtClean="0"/>
              <a:t> What staff training might be required?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190728672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cooking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Repair equipment where cooking equipment is functioning below required standards</a:t>
            </a:r>
          </a:p>
          <a:p>
            <a:pPr>
              <a:buFont typeface="Arial" pitchFamily="34" charset="0"/>
              <a:buChar char="•"/>
            </a:pPr>
            <a:r>
              <a:rPr lang="en-AU" sz="1200" kern="1200" dirty="0" smtClean="0">
                <a:solidFill>
                  <a:schemeClr val="tx1"/>
                </a:solidFill>
                <a:latin typeface="+mn-lt"/>
                <a:ea typeface="+mn-ea"/>
                <a:cs typeface="+mn-cs"/>
              </a:rPr>
              <a:t> Cook food in smaller batches – to reduce likelihood of producing</a:t>
            </a:r>
            <a:r>
              <a:rPr lang="en-AU" sz="1200" kern="1200" baseline="0" dirty="0" smtClean="0">
                <a:solidFill>
                  <a:schemeClr val="tx1"/>
                </a:solidFill>
                <a:latin typeface="+mn-lt"/>
                <a:ea typeface="+mn-ea"/>
                <a:cs typeface="+mn-cs"/>
              </a:rPr>
              <a:t> left-over product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Provide special purpose tasting spoons</a:t>
            </a:r>
          </a:p>
          <a:p>
            <a:pPr>
              <a:buFont typeface="Arial" pitchFamily="34" charset="0"/>
              <a:buChar char="•"/>
            </a:pPr>
            <a:r>
              <a:rPr lang="en-AU" sz="1200" kern="1200" dirty="0" smtClean="0">
                <a:solidFill>
                  <a:schemeClr val="tx1"/>
                </a:solidFill>
                <a:latin typeface="+mn-lt"/>
                <a:ea typeface="+mn-ea"/>
                <a:cs typeface="+mn-cs"/>
              </a:rPr>
              <a:t> Verify thermometer readings – via calibration at least every six months</a:t>
            </a:r>
          </a:p>
          <a:p>
            <a:pPr>
              <a:buFont typeface="Arial" pitchFamily="34" charset="0"/>
              <a:buChar char="•"/>
            </a:pPr>
            <a:r>
              <a:rPr lang="en-AU" sz="1200" kern="1200" dirty="0" smtClean="0">
                <a:solidFill>
                  <a:schemeClr val="tx1"/>
                </a:solidFill>
                <a:latin typeface="+mn-lt"/>
                <a:ea typeface="+mn-ea"/>
                <a:cs typeface="+mn-cs"/>
              </a:rPr>
              <a:t> Train staff as required</a:t>
            </a:r>
          </a:p>
          <a:p>
            <a:pPr>
              <a:buFont typeface="Arial" pitchFamily="34" charset="0"/>
              <a:buChar char="•"/>
            </a:pPr>
            <a:r>
              <a:rPr lang="en-AU" sz="1200" kern="1200" dirty="0" smtClean="0">
                <a:solidFill>
                  <a:schemeClr val="tx1"/>
                </a:solidFill>
                <a:latin typeface="+mn-lt"/>
                <a:ea typeface="+mn-ea"/>
                <a:cs typeface="+mn-cs"/>
              </a:rPr>
              <a:t> Provide – and/or use – covers for food as it is cooked.</a:t>
            </a:r>
          </a:p>
          <a:p>
            <a:endParaRPr lang="en-AU" baseline="0"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AU" b="1" noProof="0" dirty="0" smtClean="0"/>
              <a:t>Class Activity – Discussion</a:t>
            </a:r>
          </a:p>
          <a:p>
            <a:r>
              <a:rPr lang="en-AU" baseline="0" noProof="0" dirty="0" smtClean="0"/>
              <a:t>Trainer asks trainees:</a:t>
            </a:r>
          </a:p>
          <a:p>
            <a:pPr>
              <a:buFont typeface="Arial" pitchFamily="34" charset="0"/>
              <a:buChar char="•"/>
            </a:pPr>
            <a:r>
              <a:rPr lang="en-AU" baseline="0" noProof="0" dirty="0" smtClean="0"/>
              <a:t> How should tasting spoons be used to maintain food hygiene/safety?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1832166193"/>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cooling hot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Help hot foods to cool down by placing hot pots/containers into iced water baths</a:t>
            </a:r>
          </a:p>
          <a:p>
            <a:pPr>
              <a:buFont typeface="Arial" pitchFamily="34" charset="0"/>
              <a:buChar char="•"/>
            </a:pPr>
            <a:r>
              <a:rPr lang="en-AU" sz="1200" kern="1200" dirty="0" smtClean="0">
                <a:solidFill>
                  <a:schemeClr val="tx1"/>
                </a:solidFill>
                <a:latin typeface="+mn-lt"/>
                <a:ea typeface="+mn-ea"/>
                <a:cs typeface="+mn-cs"/>
              </a:rPr>
              <a:t> Stir wet dishes to help release heat</a:t>
            </a:r>
          </a:p>
          <a:p>
            <a:pPr>
              <a:buFont typeface="Arial" pitchFamily="34" charset="0"/>
              <a:buChar char="•"/>
            </a:pPr>
            <a:r>
              <a:rPr lang="en-AU" sz="1200" kern="1200" dirty="0" smtClean="0">
                <a:solidFill>
                  <a:schemeClr val="tx1"/>
                </a:solidFill>
                <a:latin typeface="+mn-lt"/>
                <a:ea typeface="+mn-ea"/>
                <a:cs typeface="+mn-cs"/>
              </a:rPr>
              <a:t> Cover cooling dishes</a:t>
            </a:r>
          </a:p>
          <a:p>
            <a:pPr>
              <a:buFont typeface="Arial" pitchFamily="34" charset="0"/>
              <a:buChar char="•"/>
            </a:pPr>
            <a:r>
              <a:rPr lang="en-AU" sz="1200" kern="1200" dirty="0" smtClean="0">
                <a:solidFill>
                  <a:schemeClr val="tx1"/>
                </a:solidFill>
                <a:latin typeface="+mn-lt"/>
                <a:ea typeface="+mn-ea"/>
                <a:cs typeface="+mn-cs"/>
              </a:rPr>
              <a:t> Set clocks, watches or alarms to notify of required timeframes.</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3989594734"/>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listing possible corrective action which may need to be taken in relation to cooling hot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Make sure new staff at any change of shift are notified in relation to any food that is cooling</a:t>
            </a:r>
          </a:p>
          <a:p>
            <a:pPr>
              <a:buFont typeface="Arial" pitchFamily="34" charset="0"/>
              <a:buChar char="•"/>
            </a:pPr>
            <a:r>
              <a:rPr lang="en-AU" sz="1200" kern="1200" dirty="0" smtClean="0">
                <a:solidFill>
                  <a:schemeClr val="tx1"/>
                </a:solidFill>
                <a:latin typeface="+mn-lt"/>
                <a:ea typeface="+mn-ea"/>
                <a:cs typeface="+mn-cs"/>
              </a:rPr>
              <a:t> Verify thermometer readings – via calibration every six months (minimum)</a:t>
            </a:r>
          </a:p>
          <a:p>
            <a:pPr>
              <a:buFont typeface="Arial" pitchFamily="34" charset="0"/>
              <a:buChar char="•"/>
            </a:pPr>
            <a:r>
              <a:rPr lang="en-AU" sz="1200" kern="1200" dirty="0" smtClean="0">
                <a:solidFill>
                  <a:schemeClr val="tx1"/>
                </a:solidFill>
                <a:latin typeface="+mn-lt"/>
                <a:ea typeface="+mn-ea"/>
                <a:cs typeface="+mn-cs"/>
              </a:rPr>
              <a:t> Train staff as required</a:t>
            </a:r>
          </a:p>
          <a:p>
            <a:pPr>
              <a:buFont typeface="Arial" pitchFamily="34" charset="0"/>
              <a:buChar char="•"/>
            </a:pPr>
            <a:r>
              <a:rPr lang="en-AU" sz="1200" kern="1200" dirty="0" smtClean="0">
                <a:solidFill>
                  <a:schemeClr val="tx1"/>
                </a:solidFill>
                <a:latin typeface="+mn-lt"/>
                <a:ea typeface="+mn-ea"/>
                <a:cs typeface="+mn-cs"/>
              </a:rPr>
              <a:t> Place signs around the workplace to remind staff of what is required in relation to the cooling of food.</a:t>
            </a:r>
          </a:p>
          <a:p>
            <a:endParaRPr lang="en-AU" baseline="0"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AU" b="1" noProof="0" dirty="0" smtClean="0"/>
              <a:t>Class Activity – Discussion</a:t>
            </a:r>
          </a:p>
          <a:p>
            <a:r>
              <a:rPr lang="en-AU" baseline="0" noProof="0" dirty="0" smtClean="0"/>
              <a:t>Trainer asks trainees:</a:t>
            </a:r>
          </a:p>
          <a:p>
            <a:pPr>
              <a:buFont typeface="Arial" pitchFamily="34" charset="0"/>
              <a:buChar char="•"/>
            </a:pPr>
            <a:r>
              <a:rPr lang="en-AU" baseline="0" noProof="0" dirty="0" smtClean="0"/>
              <a:t> How are food thermometers calibrated?</a:t>
            </a:r>
          </a:p>
          <a:p>
            <a:pPr>
              <a:buFont typeface="Arial" pitchFamily="34" charset="0"/>
              <a:buChar char="•"/>
            </a:pPr>
            <a:r>
              <a:rPr lang="en-AU" baseline="0" noProof="0" dirty="0" smtClean="0"/>
              <a:t> Why do they need to be calibrated?</a:t>
            </a:r>
          </a:p>
          <a:p>
            <a:pPr>
              <a:buFont typeface="Arial" pitchFamily="34" charset="0"/>
              <a:buChar char="•"/>
            </a:pPr>
            <a:r>
              <a:rPr lang="en-AU" baseline="0" noProof="0" dirty="0" smtClean="0"/>
              <a:t> With what frequency should they be calibrated?</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3405518866"/>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storing and holding hot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Train staff as required – handling, heating, display, stock rotation and cleaning protocols</a:t>
            </a:r>
          </a:p>
          <a:p>
            <a:pPr>
              <a:buFont typeface="Arial" pitchFamily="34" charset="0"/>
              <a:buChar char="•"/>
            </a:pPr>
            <a:r>
              <a:rPr lang="en-AU" sz="1200" kern="1200" dirty="0" smtClean="0">
                <a:solidFill>
                  <a:schemeClr val="tx1"/>
                </a:solidFill>
                <a:latin typeface="+mn-lt"/>
                <a:ea typeface="+mn-ea"/>
                <a:cs typeface="+mn-cs"/>
              </a:rPr>
              <a:t> Revamp hot holding procedures to ensure food stays at or above 60°C</a:t>
            </a:r>
          </a:p>
          <a:p>
            <a:pPr>
              <a:buFont typeface="Arial" pitchFamily="34" charset="0"/>
              <a:buChar char="•"/>
            </a:pPr>
            <a:r>
              <a:rPr lang="en-AU" sz="1200" kern="1200" dirty="0" smtClean="0">
                <a:solidFill>
                  <a:schemeClr val="tx1"/>
                </a:solidFill>
                <a:latin typeface="+mn-lt"/>
                <a:ea typeface="+mn-ea"/>
                <a:cs typeface="+mn-cs"/>
              </a:rPr>
              <a:t> Check operational efficiency and accuracy of all hot holding equipment and have units serviced as required</a:t>
            </a:r>
          </a:p>
          <a:p>
            <a:pPr>
              <a:buFont typeface="Arial" pitchFamily="34" charset="0"/>
              <a:buChar char="•"/>
            </a:pPr>
            <a:r>
              <a:rPr lang="en-AU" sz="1200" kern="1200" dirty="0" smtClean="0">
                <a:solidFill>
                  <a:schemeClr val="tx1"/>
                </a:solidFill>
                <a:latin typeface="+mn-lt"/>
                <a:ea typeface="+mn-ea"/>
                <a:cs typeface="+mn-cs"/>
              </a:rPr>
              <a:t> Pre-heat all food properly (minimum 70°C for two minutes) prior to placing it into hot/pre-heated holding devices.</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3535591646"/>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listing possible corrective action which may need to be taken in relation to storing and holding hot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Ensure temperatures of all hot held food are being taken as required using a properly calibrated thermometer</a:t>
            </a:r>
          </a:p>
          <a:p>
            <a:pPr>
              <a:buFont typeface="Arial" pitchFamily="34" charset="0"/>
              <a:buChar char="•"/>
            </a:pPr>
            <a:r>
              <a:rPr lang="en-AU" sz="1200" kern="1200" dirty="0" smtClean="0">
                <a:solidFill>
                  <a:schemeClr val="tx1"/>
                </a:solidFill>
                <a:latin typeface="+mn-lt"/>
                <a:ea typeface="+mn-ea"/>
                <a:cs typeface="+mn-cs"/>
              </a:rPr>
              <a:t> Revise display protocols if tags are actually touching food</a:t>
            </a:r>
          </a:p>
          <a:p>
            <a:pPr>
              <a:buFont typeface="Arial" pitchFamily="34" charset="0"/>
              <a:buChar char="•"/>
            </a:pPr>
            <a:r>
              <a:rPr lang="en-AU" sz="1200" kern="1200" dirty="0" smtClean="0">
                <a:solidFill>
                  <a:schemeClr val="tx1"/>
                </a:solidFill>
                <a:latin typeface="+mn-lt"/>
                <a:ea typeface="+mn-ea"/>
                <a:cs typeface="+mn-cs"/>
              </a:rPr>
              <a:t> Revamp times when bain maries and warmers are turned on – turn them on earlier to allow sufficient time for them to get to 60°C or above</a:t>
            </a:r>
          </a:p>
          <a:p>
            <a:pPr>
              <a:buFont typeface="Arial" pitchFamily="34" charset="0"/>
              <a:buChar char="•"/>
            </a:pPr>
            <a:r>
              <a:rPr lang="en-AU" sz="1200" kern="1200" dirty="0" smtClean="0">
                <a:solidFill>
                  <a:schemeClr val="tx1"/>
                </a:solidFill>
                <a:latin typeface="+mn-lt"/>
                <a:ea typeface="+mn-ea"/>
                <a:cs typeface="+mn-cs"/>
              </a:rPr>
              <a:t> Operate bain maries and/or warmers at higher settings so as to reach 60°C.</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61707698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storing and holding cold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Train staff as required – handling, cooling, display, stock rotation and  cleaning protocols</a:t>
            </a:r>
          </a:p>
          <a:p>
            <a:pPr>
              <a:buFont typeface="Arial" pitchFamily="34" charset="0"/>
              <a:buChar char="•"/>
            </a:pPr>
            <a:r>
              <a:rPr lang="en-AU" sz="1200" kern="1200" dirty="0" smtClean="0">
                <a:solidFill>
                  <a:schemeClr val="tx1"/>
                </a:solidFill>
                <a:latin typeface="+mn-lt"/>
                <a:ea typeface="+mn-ea"/>
                <a:cs typeface="+mn-cs"/>
              </a:rPr>
              <a:t> Revamp cold holding procedures to ensure food stays at or below 5°C</a:t>
            </a:r>
          </a:p>
          <a:p>
            <a:pPr>
              <a:buFont typeface="Arial" pitchFamily="34" charset="0"/>
              <a:buChar char="•"/>
            </a:pPr>
            <a:r>
              <a:rPr lang="en-AU" sz="1200" kern="1200" dirty="0" smtClean="0">
                <a:solidFill>
                  <a:schemeClr val="tx1"/>
                </a:solidFill>
                <a:latin typeface="+mn-lt"/>
                <a:ea typeface="+mn-ea"/>
                <a:cs typeface="+mn-cs"/>
              </a:rPr>
              <a:t> Check operational efficiency and accuracy of all cold holding equipment and have units services as required</a:t>
            </a:r>
          </a:p>
          <a:p>
            <a:pPr>
              <a:buFont typeface="Arial" pitchFamily="34" charset="0"/>
              <a:buChar char="•"/>
            </a:pPr>
            <a:r>
              <a:rPr lang="en-AU" sz="1200" kern="1200" dirty="0" smtClean="0">
                <a:solidFill>
                  <a:schemeClr val="tx1"/>
                </a:solidFill>
                <a:latin typeface="+mn-lt"/>
                <a:ea typeface="+mn-ea"/>
                <a:cs typeface="+mn-cs"/>
              </a:rPr>
              <a:t> Ensure all food that goes into cold display units is already at or below 5°C.</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65333513"/>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listing possible corrective action which may need to be taken in relation to storing and holding cold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Ensure temperatures of all cold held food are being taken as required using a properly calibrated thermometer</a:t>
            </a:r>
          </a:p>
          <a:p>
            <a:pPr>
              <a:buFont typeface="Arial" pitchFamily="34" charset="0"/>
              <a:buChar char="•"/>
            </a:pPr>
            <a:r>
              <a:rPr lang="en-AU" sz="1200" kern="1200" dirty="0" smtClean="0">
                <a:solidFill>
                  <a:schemeClr val="tx1"/>
                </a:solidFill>
                <a:latin typeface="+mn-lt"/>
                <a:ea typeface="+mn-ea"/>
                <a:cs typeface="+mn-cs"/>
              </a:rPr>
              <a:t> Revise display protocols if tags are actually touching food</a:t>
            </a:r>
          </a:p>
          <a:p>
            <a:pPr>
              <a:buFont typeface="Arial" pitchFamily="34" charset="0"/>
              <a:buChar char="•"/>
            </a:pPr>
            <a:r>
              <a:rPr lang="en-AU" sz="1200" kern="1200" dirty="0" smtClean="0">
                <a:solidFill>
                  <a:schemeClr val="tx1"/>
                </a:solidFill>
                <a:latin typeface="+mn-lt"/>
                <a:ea typeface="+mn-ea"/>
                <a:cs typeface="+mn-cs"/>
              </a:rPr>
              <a:t> Revamp times when cold display units are turned on – turn them on earlier to allow sufficient time for them to get to 5°C or below</a:t>
            </a:r>
          </a:p>
          <a:p>
            <a:pPr>
              <a:buFont typeface="Arial" pitchFamily="34" charset="0"/>
              <a:buChar char="•"/>
            </a:pPr>
            <a:r>
              <a:rPr lang="en-AU" sz="1200" kern="1200" dirty="0" smtClean="0">
                <a:solidFill>
                  <a:schemeClr val="tx1"/>
                </a:solidFill>
                <a:latin typeface="+mn-lt"/>
                <a:ea typeface="+mn-ea"/>
                <a:cs typeface="+mn-cs"/>
              </a:rPr>
              <a:t> Operate units at lower settings so as to reach 5°C or less.</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2928923949"/>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re-heating of previously cooked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Revamp re-heating procedures to ensure 70°C for two minutes or higher is attained, and display/holding protocols ensure 60°C or higher is maintained</a:t>
            </a:r>
          </a:p>
          <a:p>
            <a:pPr>
              <a:buFont typeface="Arial" pitchFamily="34" charset="0"/>
              <a:buChar char="•"/>
            </a:pPr>
            <a:r>
              <a:rPr lang="en-AU" sz="1200" kern="1200" dirty="0" smtClean="0">
                <a:solidFill>
                  <a:schemeClr val="tx1"/>
                </a:solidFill>
                <a:latin typeface="+mn-lt"/>
                <a:ea typeface="+mn-ea"/>
                <a:cs typeface="+mn-cs"/>
              </a:rPr>
              <a:t> Alter re-heating practices to re-heat quicker and/or in smaller quantities</a:t>
            </a:r>
          </a:p>
          <a:p>
            <a:pPr>
              <a:buFont typeface="Arial" pitchFamily="34" charset="0"/>
              <a:buChar char="•"/>
            </a:pPr>
            <a:r>
              <a:rPr lang="en-AU" sz="1200" kern="1200" dirty="0" smtClean="0">
                <a:solidFill>
                  <a:schemeClr val="tx1"/>
                </a:solidFill>
                <a:latin typeface="+mn-lt"/>
                <a:ea typeface="+mn-ea"/>
                <a:cs typeface="+mn-cs"/>
              </a:rPr>
              <a:t> Throw out re-heated food that fails to reach a core temperature of 70°C or higher for at least two minutes</a:t>
            </a:r>
          </a:p>
          <a:p>
            <a:pPr>
              <a:buFont typeface="Arial" pitchFamily="34" charset="0"/>
              <a:buChar char="•"/>
            </a:pPr>
            <a:r>
              <a:rPr lang="en-AU" sz="1200" kern="1200" dirty="0" smtClean="0">
                <a:solidFill>
                  <a:schemeClr val="tx1"/>
                </a:solidFill>
                <a:latin typeface="+mn-lt"/>
                <a:ea typeface="+mn-ea"/>
                <a:cs typeface="+mn-cs"/>
              </a:rPr>
              <a:t> Train staff – as required.</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2789213385"/>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packaging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Dirty and damaged containers and other packaging materials are discarded</a:t>
            </a:r>
          </a:p>
          <a:p>
            <a:pPr>
              <a:buFont typeface="Arial" pitchFamily="34" charset="0"/>
              <a:buChar char="•"/>
            </a:pPr>
            <a:r>
              <a:rPr lang="en-AU" sz="1200" kern="1200" dirty="0" smtClean="0">
                <a:solidFill>
                  <a:schemeClr val="tx1"/>
                </a:solidFill>
                <a:latin typeface="+mn-lt"/>
                <a:ea typeface="+mn-ea"/>
                <a:cs typeface="+mn-cs"/>
              </a:rPr>
              <a:t> Service packaging equipment correctly and regularly – so it operates correctly</a:t>
            </a:r>
          </a:p>
          <a:p>
            <a:pPr>
              <a:buFont typeface="Arial" pitchFamily="34" charset="0"/>
              <a:buChar char="•"/>
            </a:pPr>
            <a:r>
              <a:rPr lang="en-AU" sz="1200" kern="1200" dirty="0" smtClean="0">
                <a:solidFill>
                  <a:schemeClr val="tx1"/>
                </a:solidFill>
                <a:latin typeface="+mn-lt"/>
                <a:ea typeface="+mn-ea"/>
                <a:cs typeface="+mn-cs"/>
              </a:rPr>
              <a:t> Ensure packaging area is kept pest free – consider using a pest control company</a:t>
            </a:r>
          </a:p>
          <a:p>
            <a:pPr>
              <a:buFont typeface="Arial" pitchFamily="34" charset="0"/>
              <a:buChar char="•"/>
            </a:pPr>
            <a:r>
              <a:rPr lang="en-AU" sz="1200" kern="1200" dirty="0" smtClean="0">
                <a:solidFill>
                  <a:schemeClr val="tx1"/>
                </a:solidFill>
                <a:latin typeface="+mn-lt"/>
                <a:ea typeface="+mn-ea"/>
                <a:cs typeface="+mn-cs"/>
              </a:rPr>
              <a:t> Verify the cleaning schedule for the packaging area is operating as intended – amend as required</a:t>
            </a:r>
          </a:p>
          <a:p>
            <a:pPr>
              <a:buFont typeface="Arial" pitchFamily="34" charset="0"/>
              <a:buChar char="•"/>
            </a:pPr>
            <a:r>
              <a:rPr lang="en-AU" sz="1200" kern="1200" dirty="0" smtClean="0">
                <a:solidFill>
                  <a:schemeClr val="tx1"/>
                </a:solidFill>
                <a:latin typeface="+mn-lt"/>
                <a:ea typeface="+mn-ea"/>
                <a:cs typeface="+mn-cs"/>
              </a:rPr>
              <a:t>Train staff – as required</a:t>
            </a:r>
          </a:p>
          <a:p>
            <a:pPr>
              <a:buFont typeface="Arial" pitchFamily="34" charset="0"/>
              <a:buChar char="•"/>
            </a:pPr>
            <a:r>
              <a:rPr lang="en-AU" sz="1200" kern="1200" dirty="0" smtClean="0">
                <a:solidFill>
                  <a:schemeClr val="tx1"/>
                </a:solidFill>
                <a:latin typeface="+mn-lt"/>
                <a:ea typeface="+mn-ea"/>
                <a:cs typeface="+mn-cs"/>
              </a:rPr>
              <a:t> Modify labelling so it conforms with requirements</a:t>
            </a:r>
          </a:p>
          <a:p>
            <a:pPr>
              <a:buFont typeface="Arial" pitchFamily="34" charset="0"/>
              <a:buChar char="•"/>
            </a:pPr>
            <a:r>
              <a:rPr lang="en-AU" sz="1200" kern="1200" dirty="0" smtClean="0">
                <a:solidFill>
                  <a:schemeClr val="tx1"/>
                </a:solidFill>
                <a:latin typeface="+mn-lt"/>
                <a:ea typeface="+mn-ea"/>
                <a:cs typeface="+mn-cs"/>
              </a:rPr>
              <a:t> Discard all food contaminated during the packaging/re-packaging process.</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341230638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food service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Discard all food exceeding the ‘2/4 rule’</a:t>
            </a:r>
          </a:p>
          <a:p>
            <a:pPr>
              <a:buFont typeface="Arial" pitchFamily="34" charset="0"/>
              <a:buChar char="•"/>
            </a:pPr>
            <a:r>
              <a:rPr lang="en-AU" sz="1200" kern="1200" dirty="0" smtClean="0">
                <a:solidFill>
                  <a:schemeClr val="tx1"/>
                </a:solidFill>
                <a:latin typeface="+mn-lt"/>
                <a:ea typeface="+mn-ea"/>
                <a:cs typeface="+mn-cs"/>
              </a:rPr>
              <a:t> Train staff in correct food handling and serving practices</a:t>
            </a:r>
          </a:p>
          <a:p>
            <a:pPr>
              <a:buFont typeface="Arial" pitchFamily="34" charset="0"/>
              <a:buChar char="•"/>
            </a:pPr>
            <a:r>
              <a:rPr lang="en-AU" sz="1200" kern="1200" dirty="0" smtClean="0">
                <a:solidFill>
                  <a:schemeClr val="tx1"/>
                </a:solidFill>
                <a:latin typeface="+mn-lt"/>
                <a:ea typeface="+mn-ea"/>
                <a:cs typeface="+mn-cs"/>
              </a:rPr>
              <a:t> Purchase sufficient equipment and utensils to enable separate utensils for each food item</a:t>
            </a:r>
          </a:p>
          <a:p>
            <a:pPr>
              <a:buFont typeface="Arial" pitchFamily="34" charset="0"/>
              <a:buChar char="•"/>
            </a:pPr>
            <a:r>
              <a:rPr lang="en-AU" sz="1200" kern="1200" dirty="0" smtClean="0">
                <a:solidFill>
                  <a:schemeClr val="tx1"/>
                </a:solidFill>
                <a:latin typeface="+mn-lt"/>
                <a:ea typeface="+mn-ea"/>
                <a:cs typeface="+mn-cs"/>
              </a:rPr>
              <a:t> Maintain food holding equipment so the required holding temperatures for hot and cold food can be obtained</a:t>
            </a:r>
          </a:p>
          <a:p>
            <a:pPr>
              <a:buFont typeface="Arial" pitchFamily="34" charset="0"/>
              <a:buChar char="•"/>
            </a:pPr>
            <a:r>
              <a:rPr lang="en-AU" sz="1200" kern="1200" dirty="0" smtClean="0">
                <a:solidFill>
                  <a:schemeClr val="tx1"/>
                </a:solidFill>
                <a:latin typeface="+mn-lt"/>
                <a:ea typeface="+mn-ea"/>
                <a:cs typeface="+mn-cs"/>
              </a:rPr>
              <a:t> Alter the settings on units so the required display/holding temperatures can be achieved.</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3660409180"/>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lists possible corrective action which may need to be taken in relation to the self-service of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Prepare public food handling signage/advice</a:t>
            </a:r>
          </a:p>
          <a:p>
            <a:pPr>
              <a:buFont typeface="Arial" pitchFamily="34" charset="0"/>
              <a:buChar char="•"/>
            </a:pPr>
            <a:r>
              <a:rPr lang="en-AU" sz="1200" kern="1200" dirty="0" smtClean="0">
                <a:solidFill>
                  <a:schemeClr val="tx1"/>
                </a:solidFill>
                <a:latin typeface="+mn-lt"/>
                <a:ea typeface="+mn-ea"/>
                <a:cs typeface="+mn-cs"/>
              </a:rPr>
              <a:t> Consider alternative serving options if the safety/integrity of food cannot be guaranteed</a:t>
            </a:r>
          </a:p>
          <a:p>
            <a:pPr>
              <a:buFont typeface="Arial" pitchFamily="34" charset="0"/>
              <a:buChar char="•"/>
            </a:pPr>
            <a:r>
              <a:rPr lang="en-AU" sz="1200" kern="1200" dirty="0" smtClean="0">
                <a:solidFill>
                  <a:schemeClr val="tx1"/>
                </a:solidFill>
                <a:latin typeface="+mn-lt"/>
                <a:ea typeface="+mn-ea"/>
                <a:cs typeface="+mn-cs"/>
              </a:rPr>
              <a:t> Allocate additional staff to observe customer food handling practices</a:t>
            </a:r>
          </a:p>
          <a:p>
            <a:pPr>
              <a:buFont typeface="Arial" pitchFamily="34" charset="0"/>
              <a:buChar char="•"/>
            </a:pPr>
            <a:r>
              <a:rPr lang="en-AU" sz="1200" kern="1200" dirty="0" smtClean="0">
                <a:solidFill>
                  <a:schemeClr val="tx1"/>
                </a:solidFill>
                <a:latin typeface="+mn-lt"/>
                <a:ea typeface="+mn-ea"/>
                <a:cs typeface="+mn-cs"/>
              </a:rPr>
              <a:t> Discard all food that exceeds the ‘2/4 rule’.</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2511456902"/>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listing possible corrective action which may need to be taken in relation to the self-service of food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Train staff in correct monitoring procedures – and in appropriate customer relations skills to facilitate compliance with requirements</a:t>
            </a:r>
          </a:p>
          <a:p>
            <a:pPr>
              <a:buFont typeface="Arial" pitchFamily="34" charset="0"/>
              <a:buChar char="•"/>
            </a:pPr>
            <a:r>
              <a:rPr lang="en-AU" sz="1200" kern="1200" dirty="0" smtClean="0">
                <a:solidFill>
                  <a:schemeClr val="tx1"/>
                </a:solidFill>
                <a:latin typeface="+mn-lt"/>
                <a:ea typeface="+mn-ea"/>
                <a:cs typeface="+mn-cs"/>
              </a:rPr>
              <a:t> Purchase sufficient equipment and utensils to enable separate utensils for each food item</a:t>
            </a:r>
          </a:p>
          <a:p>
            <a:pPr>
              <a:buFont typeface="Arial" pitchFamily="34" charset="0"/>
              <a:buChar char="•"/>
            </a:pPr>
            <a:r>
              <a:rPr lang="en-AU" sz="1200" kern="1200" dirty="0" smtClean="0">
                <a:solidFill>
                  <a:schemeClr val="tx1"/>
                </a:solidFill>
                <a:latin typeface="+mn-lt"/>
                <a:ea typeface="+mn-ea"/>
                <a:cs typeface="+mn-cs"/>
              </a:rPr>
              <a:t> Maintain food holding equipment so the required holding temperatures for hot and cold food can be obtained</a:t>
            </a:r>
          </a:p>
          <a:p>
            <a:pPr>
              <a:buFont typeface="Arial" pitchFamily="34" charset="0"/>
              <a:buChar char="•"/>
            </a:pPr>
            <a:r>
              <a:rPr lang="en-AU" sz="1200" kern="1200" dirty="0" smtClean="0">
                <a:solidFill>
                  <a:schemeClr val="tx1"/>
                </a:solidFill>
                <a:latin typeface="+mn-lt"/>
                <a:ea typeface="+mn-ea"/>
                <a:cs typeface="+mn-cs"/>
              </a:rPr>
              <a:t> Alter the settings on units so the required display/holding temperatures can be achieved.</a:t>
            </a:r>
          </a:p>
          <a:p>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3118567240"/>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a:t>
            </a:r>
            <a:r>
              <a:rPr lang="en-AU" baseline="0" noProof="0" dirty="0" smtClean="0"/>
              <a:t> lists possible corrective action which may need to be taken in relation to food transportation highlighting the action must reflect/address the identified problem/s:</a:t>
            </a:r>
          </a:p>
          <a:p>
            <a:pPr>
              <a:buFont typeface="Arial" pitchFamily="34" charset="0"/>
              <a:buChar char="•"/>
            </a:pPr>
            <a:r>
              <a:rPr lang="en-AU" sz="1200" kern="1200" dirty="0" smtClean="0">
                <a:solidFill>
                  <a:schemeClr val="tx1"/>
                </a:solidFill>
                <a:latin typeface="+mn-lt"/>
                <a:ea typeface="+mn-ea"/>
                <a:cs typeface="+mn-cs"/>
              </a:rPr>
              <a:t> Obtain and use specially designated ‘Food Transport Vehicles’</a:t>
            </a:r>
          </a:p>
          <a:p>
            <a:pPr>
              <a:buFont typeface="Arial" pitchFamily="34" charset="0"/>
              <a:buChar char="•"/>
            </a:pPr>
            <a:r>
              <a:rPr lang="en-AU" sz="1200" kern="1200" dirty="0" smtClean="0">
                <a:solidFill>
                  <a:schemeClr val="tx1"/>
                </a:solidFill>
                <a:latin typeface="+mn-lt"/>
                <a:ea typeface="+mn-ea"/>
                <a:cs typeface="+mn-cs"/>
              </a:rPr>
              <a:t> Service Food Transport Vehicles regularly</a:t>
            </a:r>
          </a:p>
          <a:p>
            <a:pPr>
              <a:buFont typeface="Arial" pitchFamily="34" charset="0"/>
              <a:buChar char="•"/>
            </a:pPr>
            <a:r>
              <a:rPr lang="en-AU" sz="1200" kern="1200" dirty="0" smtClean="0">
                <a:solidFill>
                  <a:schemeClr val="tx1"/>
                </a:solidFill>
                <a:latin typeface="+mn-lt"/>
                <a:ea typeface="+mn-ea"/>
                <a:cs typeface="+mn-cs"/>
              </a:rPr>
              <a:t> Ensure food can be delivered within 2 hours</a:t>
            </a:r>
          </a:p>
          <a:p>
            <a:pPr>
              <a:buFont typeface="Arial" pitchFamily="34" charset="0"/>
              <a:buChar char="•"/>
            </a:pPr>
            <a:r>
              <a:rPr lang="en-AU" sz="1200" kern="1200" dirty="0" smtClean="0">
                <a:solidFill>
                  <a:schemeClr val="tx1"/>
                </a:solidFill>
                <a:latin typeface="+mn-lt"/>
                <a:ea typeface="+mn-ea"/>
                <a:cs typeface="+mn-cs"/>
              </a:rPr>
              <a:t> Throw out all food exceeding the ‘2/4 rule’</a:t>
            </a:r>
          </a:p>
          <a:p>
            <a:pPr>
              <a:buFont typeface="Arial" pitchFamily="34" charset="0"/>
              <a:buChar char="•"/>
            </a:pPr>
            <a:r>
              <a:rPr lang="en-AU" sz="1200" kern="1200" dirty="0" smtClean="0">
                <a:solidFill>
                  <a:schemeClr val="tx1"/>
                </a:solidFill>
                <a:latin typeface="+mn-lt"/>
                <a:ea typeface="+mn-ea"/>
                <a:cs typeface="+mn-cs"/>
              </a:rPr>
              <a:t> Discard any contaminated food items</a:t>
            </a:r>
          </a:p>
          <a:p>
            <a:pPr>
              <a:buFont typeface="Arial" pitchFamily="34" charset="0"/>
              <a:buChar char="•"/>
            </a:pPr>
            <a:r>
              <a:rPr lang="en-AU" sz="1200" kern="1200" dirty="0" smtClean="0">
                <a:solidFill>
                  <a:schemeClr val="tx1"/>
                </a:solidFill>
                <a:latin typeface="+mn-lt"/>
                <a:ea typeface="+mn-ea"/>
                <a:cs typeface="+mn-cs"/>
              </a:rPr>
              <a:t> Train staff as necessary.</a:t>
            </a:r>
          </a:p>
          <a:p>
            <a:pPr>
              <a:buFont typeface="Arial" pitchFamily="34" charset="0"/>
              <a:buNone/>
            </a:pPr>
            <a:r>
              <a:rPr lang="en-AU" baseline="0"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p14="http://schemas.microsoft.com/office/powerpoint/2010/main" val="38071842"/>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staff who identify a food hygiene hazard are expected to take immediate action within their scope of authority to resolve the issue however not all hygiene hazards can be effectively addressed by staff because they may require action that extends beyond their designated scope of authority.</a:t>
            </a:r>
          </a:p>
          <a:p>
            <a:r>
              <a:rPr lang="en-AU" sz="1200" kern="1200" dirty="0" smtClean="0">
                <a:solidFill>
                  <a:schemeClr val="tx1"/>
                </a:solidFill>
                <a:latin typeface="+mn-lt"/>
                <a:ea typeface="+mn-ea"/>
                <a:cs typeface="+mn-cs"/>
              </a:rPr>
              <a:t>Trainer advises where students cannot effectively address a situation it must be reported to ‘the appropriate person’ who may be:</a:t>
            </a:r>
          </a:p>
          <a:p>
            <a:pPr>
              <a:buFont typeface="Arial" pitchFamily="34" charset="0"/>
              <a:buChar char="•"/>
            </a:pPr>
            <a:r>
              <a:rPr lang="en-AU" sz="1200" kern="1200" dirty="0" smtClean="0">
                <a:solidFill>
                  <a:schemeClr val="tx1"/>
                </a:solidFill>
                <a:latin typeface="+mn-lt"/>
                <a:ea typeface="+mn-ea"/>
                <a:cs typeface="+mn-cs"/>
              </a:rPr>
              <a:t> The Food Safety Supervisor</a:t>
            </a:r>
          </a:p>
          <a:p>
            <a:pPr>
              <a:buFont typeface="Arial" pitchFamily="34" charset="0"/>
              <a:buChar char="•"/>
            </a:pPr>
            <a:r>
              <a:rPr lang="en-AU" sz="1200" kern="1200" dirty="0" smtClean="0">
                <a:solidFill>
                  <a:schemeClr val="tx1"/>
                </a:solidFill>
                <a:latin typeface="+mn-lt"/>
                <a:ea typeface="+mn-ea"/>
                <a:cs typeface="+mn-cs"/>
              </a:rPr>
              <a:t> A department or shift supervisor</a:t>
            </a:r>
          </a:p>
          <a:p>
            <a:pPr>
              <a:buFont typeface="Arial" pitchFamily="34" charset="0"/>
              <a:buChar char="•"/>
            </a:pPr>
            <a:r>
              <a:rPr lang="en-AU" sz="1200" kern="1200" dirty="0" smtClean="0">
                <a:solidFill>
                  <a:schemeClr val="tx1"/>
                </a:solidFill>
                <a:latin typeface="+mn-lt"/>
                <a:ea typeface="+mn-ea"/>
                <a:cs typeface="+mn-cs"/>
              </a:rPr>
              <a:t> The department or venue manager</a:t>
            </a:r>
          </a:p>
          <a:p>
            <a:pPr>
              <a:buFont typeface="Arial" pitchFamily="34" charset="0"/>
              <a:buChar char="•"/>
            </a:pPr>
            <a:r>
              <a:rPr lang="en-AU" sz="1200" kern="1200" dirty="0" smtClean="0">
                <a:solidFill>
                  <a:schemeClr val="tx1"/>
                </a:solidFill>
                <a:latin typeface="+mn-lt"/>
                <a:ea typeface="+mn-ea"/>
                <a:cs typeface="+mn-cs"/>
              </a:rPr>
              <a:t> The owner</a:t>
            </a:r>
          </a:p>
          <a:p>
            <a:pPr>
              <a:buFont typeface="Arial" pitchFamily="34" charset="0"/>
              <a:buChar char="•"/>
            </a:pPr>
            <a:r>
              <a:rPr lang="en-AU" sz="1200" kern="1200" dirty="0" smtClean="0">
                <a:solidFill>
                  <a:schemeClr val="tx1"/>
                </a:solidFill>
                <a:latin typeface="+mn-lt"/>
                <a:ea typeface="+mn-ea"/>
                <a:cs typeface="+mn-cs"/>
              </a:rPr>
              <a:t> Any member of the establishment food safety team/committee (where one exists)</a:t>
            </a:r>
          </a:p>
          <a:p>
            <a:pPr>
              <a:buFont typeface="Arial" pitchFamily="34" charset="0"/>
              <a:buChar char="•"/>
            </a:pPr>
            <a:r>
              <a:rPr lang="en-AU" sz="1200" kern="1200" dirty="0" smtClean="0">
                <a:solidFill>
                  <a:schemeClr val="tx1"/>
                </a:solidFill>
                <a:latin typeface="+mn-lt"/>
                <a:ea typeface="+mn-ea"/>
                <a:cs typeface="+mn-cs"/>
              </a:rPr>
              <a:t> Head office – this may be an option where the business is a large one that has numerous food outlets/sites and where the organization operates its own laboratory that is central to establishing and maintaining food safety throughout all food sites.</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Guest Speaker</a:t>
            </a:r>
          </a:p>
          <a:p>
            <a:r>
              <a:rPr lang="en-AU" sz="1200" b="0" kern="1200" dirty="0" smtClean="0">
                <a:solidFill>
                  <a:schemeClr val="tx1"/>
                </a:solidFill>
                <a:latin typeface="+mn-lt"/>
                <a:ea typeface="+mn-ea"/>
                <a:cs typeface="+mn-cs"/>
              </a:rPr>
              <a:t>Trainer arranges relevant Guest Speaker to:</a:t>
            </a:r>
          </a:p>
          <a:p>
            <a:pPr>
              <a:buFont typeface="Arial" pitchFamily="34" charset="0"/>
              <a:buChar char="•"/>
            </a:pPr>
            <a:r>
              <a:rPr lang="en-AU" sz="1200" kern="1200" dirty="0" smtClean="0">
                <a:solidFill>
                  <a:schemeClr val="tx1"/>
                </a:solidFill>
                <a:latin typeface="+mn-lt"/>
                <a:ea typeface="+mn-ea"/>
                <a:cs typeface="+mn-cs"/>
              </a:rPr>
              <a:t> Discuss protocols at their workplace for reporting food risks/hazards</a:t>
            </a:r>
          </a:p>
          <a:p>
            <a:pPr>
              <a:buFont typeface="Arial" pitchFamily="34" charset="0"/>
              <a:buChar char="•"/>
            </a:pPr>
            <a:r>
              <a:rPr lang="en-AU" sz="1200" kern="1200" dirty="0" smtClean="0">
                <a:solidFill>
                  <a:schemeClr val="tx1"/>
                </a:solidFill>
                <a:latin typeface="+mn-lt"/>
                <a:ea typeface="+mn-ea"/>
                <a:cs typeface="+mn-cs"/>
              </a:rPr>
              <a:t> Describe situations in which reports have been made</a:t>
            </a:r>
          </a:p>
          <a:p>
            <a:pPr>
              <a:buFont typeface="Arial" pitchFamily="34" charset="0"/>
              <a:buChar char="•"/>
            </a:pPr>
            <a:r>
              <a:rPr lang="en-AU" sz="1200" kern="1200" dirty="0" smtClean="0">
                <a:solidFill>
                  <a:schemeClr val="tx1"/>
                </a:solidFill>
                <a:latin typeface="+mn-lt"/>
                <a:ea typeface="+mn-ea"/>
                <a:cs typeface="+mn-cs"/>
              </a:rPr>
              <a:t> Provide sample reporting documentation</a:t>
            </a:r>
          </a:p>
          <a:p>
            <a:pPr>
              <a:buFont typeface="Arial" pitchFamily="34" charset="0"/>
              <a:buChar char="•"/>
            </a:pPr>
            <a:r>
              <a:rPr lang="en-AU" sz="1200" kern="1200" dirty="0" smtClean="0">
                <a:solidFill>
                  <a:schemeClr val="tx1"/>
                </a:solidFill>
                <a:latin typeface="+mn-lt"/>
                <a:ea typeface="+mn-ea"/>
                <a:cs typeface="+mn-cs"/>
              </a:rPr>
              <a:t> Highlight need for reports to be made</a:t>
            </a:r>
          </a:p>
          <a:p>
            <a:pPr>
              <a:buFont typeface="Arial" pitchFamily="34" charset="0"/>
              <a:buChar char="•"/>
            </a:pPr>
            <a:r>
              <a:rPr lang="en-AU" sz="1200" kern="1200" dirty="0" smtClean="0">
                <a:solidFill>
                  <a:schemeClr val="tx1"/>
                </a:solidFill>
                <a:latin typeface="+mn-lt"/>
                <a:ea typeface="+mn-ea"/>
                <a:cs typeface="+mn-cs"/>
              </a:rPr>
              <a:t> Identify who reports may be made to at their venue</a:t>
            </a:r>
          </a:p>
          <a:p>
            <a:pPr>
              <a:buFont typeface="Arial" pitchFamily="34" charset="0"/>
              <a:buChar char="•"/>
            </a:pPr>
            <a:r>
              <a:rPr lang="en-AU" sz="1200" kern="1200" dirty="0" smtClean="0">
                <a:solidFill>
                  <a:schemeClr val="tx1"/>
                </a:solidFill>
                <a:latin typeface="+mn-lt"/>
                <a:ea typeface="+mn-ea"/>
                <a:cs typeface="+mn-cs"/>
              </a:rPr>
              <a:t> Explain contents of these reports.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extLst>
      <p:ext uri="{BB962C8B-B14F-4D97-AF65-F5344CB8AC3E}">
        <p14:creationId xmlns:p14="http://schemas.microsoft.com/office/powerpoint/2010/main" val="3315375138"/>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a:t>
            </a:r>
            <a:r>
              <a:rPr lang="en-AU" sz="1200" kern="1200" dirty="0" smtClean="0">
                <a:solidFill>
                  <a:schemeClr val="tx1"/>
                </a:solidFill>
                <a:latin typeface="+mn-lt"/>
                <a:ea typeface="+mn-ea"/>
                <a:cs typeface="+mn-cs"/>
              </a:rPr>
              <a:t>immediate verbal reports must be made as soon as the hazard has been identified and these can/may need to be followed up with written reports.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Trainer notes acceptable ways to report are:</a:t>
            </a:r>
          </a:p>
          <a:p>
            <a:pPr>
              <a:buFont typeface="Arial" pitchFamily="34" charset="0"/>
              <a:buChar char="•"/>
            </a:pPr>
            <a:r>
              <a:rPr lang="en-AU" sz="1200" kern="1200" dirty="0" smtClean="0">
                <a:solidFill>
                  <a:schemeClr val="tx1"/>
                </a:solidFill>
                <a:latin typeface="+mn-lt"/>
                <a:ea typeface="+mn-ea"/>
                <a:cs typeface="+mn-cs"/>
              </a:rPr>
              <a:t> Verbally – face-to-face</a:t>
            </a:r>
          </a:p>
          <a:p>
            <a:pPr>
              <a:buFont typeface="Arial" pitchFamily="34" charset="0"/>
              <a:buChar char="•"/>
            </a:pPr>
            <a:r>
              <a:rPr lang="en-AU" sz="1200" kern="1200" dirty="0" smtClean="0">
                <a:solidFill>
                  <a:schemeClr val="tx1"/>
                </a:solidFill>
                <a:latin typeface="+mn-lt"/>
                <a:ea typeface="+mn-ea"/>
                <a:cs typeface="+mn-cs"/>
              </a:rPr>
              <a:t> Via the telephone</a:t>
            </a:r>
          </a:p>
          <a:p>
            <a:pPr>
              <a:buFont typeface="Arial" pitchFamily="34" charset="0"/>
              <a:buChar char="•"/>
            </a:pPr>
            <a:r>
              <a:rPr lang="en-AU" sz="1200" kern="1200" dirty="0" smtClean="0">
                <a:solidFill>
                  <a:schemeClr val="tx1"/>
                </a:solidFill>
                <a:latin typeface="+mn-lt"/>
                <a:ea typeface="+mn-ea"/>
                <a:cs typeface="+mn-cs"/>
              </a:rPr>
              <a:t> Using e-mail</a:t>
            </a:r>
          </a:p>
          <a:p>
            <a:pPr>
              <a:buFont typeface="Arial" pitchFamily="34" charset="0"/>
              <a:buChar char="•"/>
            </a:pPr>
            <a:r>
              <a:rPr lang="en-AU" sz="1200" kern="1200" dirty="0" smtClean="0">
                <a:solidFill>
                  <a:schemeClr val="tx1"/>
                </a:solidFill>
                <a:latin typeface="+mn-lt"/>
                <a:ea typeface="+mn-ea"/>
                <a:cs typeface="+mn-cs"/>
              </a:rPr>
              <a:t> Completing nominated food safety reports forms.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extLst>
      <p:ext uri="{BB962C8B-B14F-4D97-AF65-F5344CB8AC3E}">
        <p14:creationId xmlns:p14="http://schemas.microsoft.com/office/powerpoint/2010/main" val="1720178399"/>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when </a:t>
            </a:r>
            <a:r>
              <a:rPr lang="en-AU" sz="1200" kern="1200" dirty="0" smtClean="0">
                <a:solidFill>
                  <a:schemeClr val="tx1"/>
                </a:solidFill>
                <a:latin typeface="+mn-lt"/>
                <a:ea typeface="+mn-ea"/>
                <a:cs typeface="+mn-cs"/>
              </a:rPr>
              <a:t>making a report (verbal or written) attention should be paid to:</a:t>
            </a:r>
          </a:p>
          <a:p>
            <a:pPr>
              <a:buFont typeface="Arial" pitchFamily="34" charset="0"/>
              <a:buChar char="•"/>
            </a:pPr>
            <a:r>
              <a:rPr lang="en-AU" sz="1200" kern="1200" dirty="0" smtClean="0">
                <a:solidFill>
                  <a:schemeClr val="tx1"/>
                </a:solidFill>
                <a:latin typeface="+mn-lt"/>
                <a:ea typeface="+mn-ea"/>
                <a:cs typeface="+mn-cs"/>
              </a:rPr>
              <a:t> Stating the facts as believed to be – for example, based on actual personal experience or personal observation: there is no room for bias, conjecture or making up things</a:t>
            </a:r>
          </a:p>
          <a:p>
            <a:pPr>
              <a:buFont typeface="Arial" pitchFamily="34" charset="0"/>
              <a:buChar char="•"/>
            </a:pPr>
            <a:r>
              <a:rPr lang="en-AU" sz="1200" kern="1200" dirty="0" smtClean="0">
                <a:solidFill>
                  <a:schemeClr val="tx1"/>
                </a:solidFill>
                <a:latin typeface="+mn-lt"/>
                <a:ea typeface="+mn-ea"/>
                <a:cs typeface="+mn-cs"/>
              </a:rPr>
              <a:t> Being comprehensive – giving all the information </a:t>
            </a:r>
          </a:p>
          <a:p>
            <a:pPr>
              <a:buFont typeface="Arial" pitchFamily="34" charset="0"/>
              <a:buChar char="•"/>
            </a:pPr>
            <a:r>
              <a:rPr lang="en-AU" sz="1200" kern="1200" dirty="0" smtClean="0">
                <a:solidFill>
                  <a:schemeClr val="tx1"/>
                </a:solidFill>
                <a:latin typeface="+mn-lt"/>
                <a:ea typeface="+mn-ea"/>
                <a:cs typeface="+mn-cs"/>
              </a:rPr>
              <a:t> Being specific – if possible, give dates, times, temperatures, supplier names, names of products, names of menu items, staff names</a:t>
            </a:r>
          </a:p>
          <a:p>
            <a:pPr>
              <a:buFont typeface="Arial" pitchFamily="34" charset="0"/>
              <a:buChar char="•"/>
            </a:pPr>
            <a:r>
              <a:rPr lang="en-AU" sz="1200" kern="1200" dirty="0" smtClean="0">
                <a:solidFill>
                  <a:schemeClr val="tx1"/>
                </a:solidFill>
                <a:latin typeface="+mn-lt"/>
                <a:ea typeface="+mn-ea"/>
                <a:cs typeface="+mn-cs"/>
              </a:rPr>
              <a:t> Being immediate – where food safety is concerned there is always a need for reports to be made immediately/as soon as possible.</a:t>
            </a:r>
          </a:p>
          <a:p>
            <a:pPr>
              <a:buFont typeface="Arial" pitchFamily="34" charset="0"/>
              <a:buNone/>
            </a:pPr>
            <a:r>
              <a:rPr lang="en-AU" noProof="0" dirty="0" smtClean="0"/>
              <a:t> </a:t>
            </a:r>
          </a:p>
          <a:p>
            <a:pPr>
              <a:buFont typeface="Arial" pitchFamily="34" charset="0"/>
              <a:buNone/>
            </a:pPr>
            <a:r>
              <a:rPr lang="en-AU" b="1" noProof="0" dirty="0" smtClean="0"/>
              <a:t>Class Activity – Handout</a:t>
            </a:r>
          </a:p>
          <a:p>
            <a:pPr>
              <a:buFont typeface="Arial" pitchFamily="34" charset="0"/>
              <a:buNone/>
            </a:pPr>
            <a:r>
              <a:rPr lang="en-AU" b="0" noProof="0" dirty="0" smtClean="0"/>
              <a:t>Trainer distributes and discusses a completed/sample report regarding an identified food hazard, risk, problem or out-of-control situation.</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extLst>
      <p:ext uri="{BB962C8B-B14F-4D97-AF65-F5344CB8AC3E}">
        <p14:creationId xmlns:p14="http://schemas.microsoft.com/office/powerpoint/2010/main" val="116002701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the FSP for the venue will determine/identify and provide examples</a:t>
            </a:r>
            <a:r>
              <a:rPr lang="en-AU" baseline="0" noProof="0" dirty="0" smtClean="0"/>
              <a:t> of food safety </a:t>
            </a:r>
            <a:r>
              <a:rPr lang="en-AU" noProof="0" dirty="0" smtClean="0"/>
              <a:t>records to be kept, which may include:</a:t>
            </a:r>
          </a:p>
          <a:p>
            <a:pPr>
              <a:buFont typeface="Arial" pitchFamily="34" charset="0"/>
              <a:buChar char="•"/>
            </a:pPr>
            <a:r>
              <a:rPr lang="en-AU" sz="1200" kern="1200" dirty="0" smtClean="0">
                <a:solidFill>
                  <a:schemeClr val="tx1"/>
                </a:solidFill>
                <a:latin typeface="+mn-lt"/>
                <a:ea typeface="+mn-ea"/>
                <a:cs typeface="+mn-cs"/>
              </a:rPr>
              <a:t> Approved Food Suppliers List – listing those businesses from whom the food may be bought</a:t>
            </a:r>
          </a:p>
          <a:p>
            <a:pPr>
              <a:buFont typeface="Arial" pitchFamily="34" charset="0"/>
              <a:buChar char="•"/>
            </a:pPr>
            <a:r>
              <a:rPr lang="en-AU" sz="1200" kern="1200" dirty="0" smtClean="0">
                <a:solidFill>
                  <a:schemeClr val="tx1"/>
                </a:solidFill>
                <a:latin typeface="+mn-lt"/>
                <a:ea typeface="+mn-ea"/>
                <a:cs typeface="+mn-cs"/>
              </a:rPr>
              <a:t> Goods Receiving Form – recording a proportion (say, 5%) of inwards food deliveries to the property</a:t>
            </a:r>
          </a:p>
          <a:p>
            <a:pPr>
              <a:buFont typeface="Arial" pitchFamily="34" charset="0"/>
              <a:buChar char="•"/>
            </a:pPr>
            <a:r>
              <a:rPr lang="en-AU" sz="1200" kern="1200" dirty="0" smtClean="0">
                <a:solidFill>
                  <a:schemeClr val="tx1"/>
                </a:solidFill>
                <a:latin typeface="+mn-lt"/>
                <a:ea typeface="+mn-ea"/>
                <a:cs typeface="+mn-cs"/>
              </a:rPr>
              <a:t> Goods Rejected Form – detailing which have been delivered to the venue but refused/rejected</a:t>
            </a:r>
          </a:p>
          <a:p>
            <a:pPr>
              <a:buFont typeface="Arial" pitchFamily="34" charset="0"/>
              <a:buChar char="•"/>
            </a:pPr>
            <a:r>
              <a:rPr lang="en-AU" sz="1200" kern="1200" dirty="0" smtClean="0">
                <a:solidFill>
                  <a:schemeClr val="tx1"/>
                </a:solidFill>
                <a:latin typeface="+mn-lt"/>
                <a:ea typeface="+mn-ea"/>
                <a:cs typeface="+mn-cs"/>
              </a:rPr>
              <a:t> Cold Storage Temperature Log – recording the daily temperatures of fridges, freezers and cool rooms</a:t>
            </a:r>
          </a:p>
          <a:p>
            <a:pPr>
              <a:buFont typeface="Arial" pitchFamily="34" charset="0"/>
              <a:buChar char="•"/>
            </a:pPr>
            <a:r>
              <a:rPr lang="en-AU" sz="1200" kern="1200" dirty="0" smtClean="0">
                <a:solidFill>
                  <a:schemeClr val="tx1"/>
                </a:solidFill>
                <a:latin typeface="+mn-lt"/>
                <a:ea typeface="+mn-ea"/>
                <a:cs typeface="+mn-cs"/>
              </a:rPr>
              <a:t> Ready To Eat Food On Display Log – recording the daily temperatures of both hot and cold foods which are on display.</a:t>
            </a:r>
          </a:p>
          <a:p>
            <a:pPr>
              <a:buFont typeface="Arial" pitchFamily="34" charset="0"/>
              <a:buNone/>
            </a:pPr>
            <a:endParaRPr lang="en-AU" noProof="0" dirty="0" smtClean="0"/>
          </a:p>
          <a:p>
            <a:pPr>
              <a:buFont typeface="Arial" pitchFamily="34" charset="0"/>
              <a:buNone/>
            </a:pPr>
            <a:r>
              <a:rPr lang="en-AU" b="1" noProof="0" dirty="0" smtClean="0"/>
              <a:t>Class Activity – Handouts, Explanations and Demonstrations</a:t>
            </a:r>
          </a:p>
          <a:p>
            <a:pPr>
              <a:buFont typeface="Arial" pitchFamily="34" charset="0"/>
              <a:buNone/>
            </a:pPr>
            <a:r>
              <a:rPr lang="en-AU" b="0" noProof="0" dirty="0" smtClean="0"/>
              <a:t>Trainer obtains sample food safety records as identified on the slide and:</a:t>
            </a:r>
          </a:p>
          <a:p>
            <a:pPr>
              <a:buFont typeface="Arial" pitchFamily="34" charset="0"/>
              <a:buChar char="•"/>
            </a:pPr>
            <a:r>
              <a:rPr lang="en-AU" b="0" noProof="0" dirty="0" smtClean="0"/>
              <a:t> Distributes them to students</a:t>
            </a:r>
          </a:p>
          <a:p>
            <a:pPr>
              <a:buFont typeface="Arial" pitchFamily="34" charset="0"/>
              <a:buChar char="•"/>
            </a:pPr>
            <a:r>
              <a:rPr lang="en-AU" b="0" noProof="0" dirty="0" smtClean="0"/>
              <a:t> Explains their role</a:t>
            </a:r>
          </a:p>
          <a:p>
            <a:pPr>
              <a:buFont typeface="Arial" pitchFamily="34" charset="0"/>
              <a:buChar char="•"/>
            </a:pPr>
            <a:r>
              <a:rPr lang="en-AU" b="0" noProof="0" dirty="0" smtClean="0"/>
              <a:t> Demonstrates how to complete them.</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extLst>
      <p:ext uri="{BB962C8B-B14F-4D97-AF65-F5344CB8AC3E}">
        <p14:creationId xmlns:p14="http://schemas.microsoft.com/office/powerpoint/2010/main" val="398521194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Char char="•"/>
            </a:pPr>
            <a:r>
              <a:rPr lang="en-AU" sz="1200" kern="1200" dirty="0" smtClean="0">
                <a:solidFill>
                  <a:schemeClr val="tx1"/>
                </a:solidFill>
                <a:latin typeface="+mn-lt"/>
                <a:ea typeface="+mn-ea"/>
                <a:cs typeface="+mn-cs"/>
              </a:rPr>
              <a:t> Hot Display Temperature Log – recording the daily temperatures of hot foods on display in units such as bain maries and warmers</a:t>
            </a:r>
          </a:p>
          <a:p>
            <a:pPr>
              <a:buFont typeface="Arial" pitchFamily="34" charset="0"/>
              <a:buChar char="•"/>
            </a:pPr>
            <a:r>
              <a:rPr lang="en-AU" sz="1200" kern="1200" dirty="0" smtClean="0">
                <a:solidFill>
                  <a:schemeClr val="tx1"/>
                </a:solidFill>
                <a:latin typeface="+mn-lt"/>
                <a:ea typeface="+mn-ea"/>
                <a:cs typeface="+mn-cs"/>
              </a:rPr>
              <a:t> Cold Display Temperature Log – recording the daily temperatures of cold foods in units such as salad wells or refrigerated display cabinets </a:t>
            </a:r>
          </a:p>
          <a:p>
            <a:pPr>
              <a:buFont typeface="Arial" pitchFamily="34" charset="0"/>
              <a:buChar char="•"/>
            </a:pPr>
            <a:r>
              <a:rPr lang="en-AU" sz="1200" kern="1200" dirty="0" smtClean="0">
                <a:solidFill>
                  <a:schemeClr val="tx1"/>
                </a:solidFill>
                <a:latin typeface="+mn-lt"/>
                <a:ea typeface="+mn-ea"/>
                <a:cs typeface="+mn-cs"/>
              </a:rPr>
              <a:t> Equipment Calibration Log – detailing testing of probe thermometers to prove they are providing accurate readings, or to show they need repair/replacement</a:t>
            </a:r>
          </a:p>
          <a:p>
            <a:pPr>
              <a:buFont typeface="Arial" pitchFamily="34" charset="0"/>
              <a:buChar char="•"/>
            </a:pPr>
            <a:r>
              <a:rPr lang="en-AU" sz="1200" kern="1200" dirty="0" smtClean="0">
                <a:solidFill>
                  <a:schemeClr val="tx1"/>
                </a:solidFill>
                <a:latin typeface="+mn-lt"/>
                <a:ea typeface="+mn-ea"/>
                <a:cs typeface="+mn-cs"/>
              </a:rPr>
              <a:t> Internal Review – Process Temperature Log – detailing on some regular basis (such as once every two weeks) the processing of a food item by tracking and recording the processes used (such as thawing, preparing, cooking, cooling, re-heating, displaying, serving) and recording the times and temperatures involved at each process step</a:t>
            </a:r>
          </a:p>
          <a:p>
            <a:pPr>
              <a:buFont typeface="Arial" pitchFamily="34" charset="0"/>
              <a:buChar char="•"/>
            </a:pPr>
            <a:r>
              <a:rPr lang="en-AU" sz="1200" kern="1200" dirty="0" smtClean="0">
                <a:solidFill>
                  <a:schemeClr val="tx1"/>
                </a:solidFill>
                <a:latin typeface="+mn-lt"/>
                <a:ea typeface="+mn-ea"/>
                <a:cs typeface="+mn-cs"/>
              </a:rPr>
              <a:t> Corrective Action form – detailing action taken in response to an out-of-control situation.</a:t>
            </a:r>
          </a:p>
          <a:p>
            <a:pPr>
              <a:buFont typeface="Arial" pitchFamily="34" charset="0"/>
              <a:buNone/>
            </a:pPr>
            <a:endParaRPr lang="en-AU" noProof="0" dirty="0" smtClean="0"/>
          </a:p>
          <a:p>
            <a:pPr>
              <a:buFont typeface="Arial" pitchFamily="34" charset="0"/>
              <a:buNone/>
            </a:pPr>
            <a:r>
              <a:rPr lang="en-AU" b="1" noProof="0" dirty="0" smtClean="0"/>
              <a:t>Class Activity – Handouts, Explanations and Demonstrations</a:t>
            </a:r>
          </a:p>
          <a:p>
            <a:pPr>
              <a:buFont typeface="Arial" pitchFamily="34" charset="0"/>
              <a:buNone/>
            </a:pPr>
            <a:r>
              <a:rPr lang="en-AU" b="0" noProof="0" dirty="0" smtClean="0"/>
              <a:t>Trainer obtains sample food safety records as identified on the slide and:</a:t>
            </a:r>
          </a:p>
          <a:p>
            <a:pPr>
              <a:buFont typeface="Arial" pitchFamily="34" charset="0"/>
              <a:buChar char="•"/>
            </a:pPr>
            <a:r>
              <a:rPr lang="en-AU" b="0" noProof="0" dirty="0" smtClean="0"/>
              <a:t> Distributes them to students</a:t>
            </a:r>
          </a:p>
          <a:p>
            <a:pPr>
              <a:buFont typeface="Arial" pitchFamily="34" charset="0"/>
              <a:buChar char="•"/>
            </a:pPr>
            <a:r>
              <a:rPr lang="en-AU" b="0" noProof="0" dirty="0" smtClean="0"/>
              <a:t> Explains their role</a:t>
            </a:r>
          </a:p>
          <a:p>
            <a:pPr>
              <a:buFont typeface="Arial" pitchFamily="34" charset="0"/>
              <a:buChar char="•"/>
            </a:pPr>
            <a:r>
              <a:rPr lang="en-AU" b="0" noProof="0" dirty="0" smtClean="0"/>
              <a:t> Demonstrates how to complete them.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extLst>
      <p:ext uri="{BB962C8B-B14F-4D97-AF65-F5344CB8AC3E}">
        <p14:creationId xmlns:p14="http://schemas.microsoft.com/office/powerpoint/2010/main" val="2280527103"/>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extLst>
      <p:ext uri="{BB962C8B-B14F-4D97-AF65-F5344CB8AC3E}">
        <p14:creationId xmlns:p14="http://schemas.microsoft.com/office/powerpoint/2010/main" val="4062994957"/>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extLst>
      <p:ext uri="{BB962C8B-B14F-4D97-AF65-F5344CB8AC3E}">
        <p14:creationId xmlns:p14="http://schemas.microsoft.com/office/powerpoint/2010/main" val="2948971995"/>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extLst>
      <p:ext uri="{BB962C8B-B14F-4D97-AF65-F5344CB8AC3E}">
        <p14:creationId xmlns:p14="http://schemas.microsoft.com/office/powerpoint/2010/main" val="263616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3/11/2015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3/11/2015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3/11/2015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3/11/2015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3/11/2015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3/11/2015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3/11/2015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3/11/2015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3/11/2015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3/11/2015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3/11/2015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3/11/2015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46.gif"/></Relationships>
</file>

<file path=ppt/slides/_rels/slide5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46.gif"/></Relationships>
</file>

<file path=ppt/slides/_rels/slide5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52.jpeg"/></Relationships>
</file>

<file path=ppt/slides/_rels/slide6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62.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56.wmf"/></Relationships>
</file>

<file path=ppt/slides/_rels/slide6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59.jpeg"/></Relationships>
</file>

<file path=ppt/slides/_rels/slide66.xml.rels><?xml version="1.0" encoding="UTF-8" standalone="yes"?>
<Relationships xmlns="http://schemas.openxmlformats.org/package/2006/relationships"><Relationship Id="rId3" Type="http://schemas.openxmlformats.org/officeDocument/2006/relationships/image" Target="../media/image60.gif"/><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64.jpeg"/></Relationships>
</file>

<file path=ppt/slides/_rels/slide7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89.jpeg"/></Relationships>
</file>

<file path=ppt/slides/_rels/slide104.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19.xml"/><Relationship Id="rId1" Type="http://schemas.openxmlformats.org/officeDocument/2006/relationships/slideLayout" Target="../slideLayouts/slideLayout2.xml"/><Relationship Id="rId4" Type="http://schemas.openxmlformats.org/officeDocument/2006/relationships/image" Target="../media/image101.jpeg"/></Relationships>
</file>

<file path=ppt/slides/_rels/slide120.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22.xml"/><Relationship Id="rId1" Type="http://schemas.openxmlformats.org/officeDocument/2006/relationships/slideLayout" Target="../slideLayouts/slideLayout2.xml"/><Relationship Id="rId4" Type="http://schemas.openxmlformats.org/officeDocument/2006/relationships/image" Target="../media/image105.jpeg"/></Relationships>
</file>

<file path=ppt/slides/_rels/slide123.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27.xml"/><Relationship Id="rId1" Type="http://schemas.openxmlformats.org/officeDocument/2006/relationships/slideLayout" Target="../slideLayouts/slideLayout2.xml"/><Relationship Id="rId4" Type="http://schemas.openxmlformats.org/officeDocument/2006/relationships/image" Target="../media/image111.jpeg"/></Relationships>
</file>

<file path=ppt/slides/_rels/slide128.x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381000"/>
            <a:ext cx="7625752" cy="1159024"/>
          </a:xfrm>
        </p:spPr>
        <p:txBody>
          <a:bodyPr>
            <a:normAutofit fontScale="90000"/>
          </a:bodyPr>
          <a:lstStyle/>
          <a:p>
            <a:r>
              <a:rPr sz="4000" dirty="0" smtClean="0">
                <a:ln w="5000" cmpd="sng">
                  <a:noFill/>
                  <a:prstDash val="solid"/>
                </a:ln>
                <a:solidFill>
                  <a:srgbClr val="FF6600"/>
                </a:solidFill>
                <a:latin typeface="Helvetica" pitchFamily="34" charset="0"/>
              </a:rPr>
              <a:t>Apply standard safety procedures for handling foodstuffs</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6020544" y="2233242"/>
            <a:ext cx="2541268" cy="433758"/>
          </a:xfrm>
        </p:spPr>
        <p:txBody>
          <a:bodyPr>
            <a:normAutofit/>
          </a:bodyPr>
          <a:lstStyle/>
          <a:p>
            <a:r>
              <a:rPr lang="en-AU" b="1" dirty="0" smtClean="0">
                <a:latin typeface="Helvetica" pitchFamily="34" charset="0"/>
              </a:rPr>
              <a:t>D1.HRS.CL1.02</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6" name="Group 5"/>
          <p:cNvGrpSpPr/>
          <p:nvPr/>
        </p:nvGrpSpPr>
        <p:grpSpPr>
          <a:xfrm>
            <a:off x="367267" y="2258758"/>
            <a:ext cx="6078312" cy="4142042"/>
            <a:chOff x="443088" y="1981200"/>
            <a:chExt cx="6078312" cy="4142042"/>
          </a:xfrm>
        </p:grpSpPr>
        <p:pic>
          <p:nvPicPr>
            <p:cNvPr id="1027" name="Picture 3" descr="C:\Documents and Settings\danielc\Desktop\Apply safety proc handling food images\1007703_take_washing.jpg"/>
            <p:cNvPicPr>
              <a:picLocks noChangeAspect="1" noChangeArrowheads="1"/>
            </p:cNvPicPr>
            <p:nvPr/>
          </p:nvPicPr>
          <p:blipFill>
            <a:blip r:embed="rId3" cstate="print"/>
            <a:srcRect/>
            <a:stretch>
              <a:fillRect/>
            </a:stretch>
          </p:blipFill>
          <p:spPr bwMode="auto">
            <a:xfrm>
              <a:off x="3429000" y="1981202"/>
              <a:ext cx="3092400" cy="41416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6" name="Picture 2" descr="C:\Documents and Settings\danielc\Desktop\Apply safety proc handling food images\830288_beware_of_germs.jpg"/>
            <p:cNvPicPr>
              <a:picLocks noChangeAspect="1" noChangeArrowheads="1"/>
            </p:cNvPicPr>
            <p:nvPr/>
          </p:nvPicPr>
          <p:blipFill>
            <a:blip r:embed="rId4" cstate="print"/>
            <a:srcRect l="7778" t="10000" r="3333" b="3333"/>
            <a:stretch>
              <a:fillRect/>
            </a:stretch>
          </p:blipFill>
          <p:spPr bwMode="auto">
            <a:xfrm>
              <a:off x="457200" y="1981200"/>
              <a:ext cx="3048000" cy="1981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8" name="Picture 4" descr="C:\Documents and Settings\danielc\Desktop\Apply safety proc handling food images\freeimage-6733946.jpg"/>
            <p:cNvPicPr>
              <a:picLocks noChangeAspect="1" noChangeArrowheads="1"/>
            </p:cNvPicPr>
            <p:nvPr/>
          </p:nvPicPr>
          <p:blipFill>
            <a:blip r:embed="rId5" cstate="print"/>
            <a:srcRect/>
            <a:stretch>
              <a:fillRect/>
            </a:stretch>
          </p:blipFill>
          <p:spPr bwMode="auto">
            <a:xfrm>
              <a:off x="443088" y="3937000"/>
              <a:ext cx="3062111" cy="21862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standard safety procedures for handling foodstuffs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four Elements:</a:t>
            </a:r>
          </a:p>
          <a:p>
            <a:pPr marL="360000" indent="-360000">
              <a:spcBef>
                <a:spcPts val="600"/>
              </a:spcBef>
              <a:spcAft>
                <a:spcPts val="1200"/>
              </a:spcAft>
            </a:pPr>
            <a:r>
              <a:rPr lang="en-US" sz="2200" dirty="0" smtClean="0">
                <a:latin typeface="Helvetica" pitchFamily="34" charset="0"/>
              </a:rPr>
              <a:t>Identify hazards and risks</a:t>
            </a:r>
          </a:p>
          <a:p>
            <a:pPr marL="360000" indent="-360000">
              <a:spcBef>
                <a:spcPts val="600"/>
              </a:spcBef>
              <a:spcAft>
                <a:spcPts val="1200"/>
              </a:spcAft>
            </a:pPr>
            <a:r>
              <a:rPr lang="en-US" sz="2200" dirty="0" smtClean="0">
                <a:latin typeface="Helvetica" pitchFamily="34" charset="0"/>
              </a:rPr>
              <a:t>Follow enterprise hygiene standards, procedures and practices</a:t>
            </a:r>
          </a:p>
          <a:p>
            <a:pPr marL="360000" indent="-360000">
              <a:spcBef>
                <a:spcPts val="600"/>
              </a:spcBef>
              <a:spcAft>
                <a:spcPts val="1200"/>
              </a:spcAft>
            </a:pPr>
            <a:r>
              <a:rPr lang="en-US" sz="2200" dirty="0" smtClean="0">
                <a:latin typeface="Helvetica" pitchFamily="34" charset="0"/>
              </a:rPr>
              <a:t>Handle and store foodstuffs</a:t>
            </a:r>
          </a:p>
          <a:p>
            <a:pPr marL="360000" indent="-360000">
              <a:spcBef>
                <a:spcPts val="600"/>
              </a:spcBef>
              <a:spcAft>
                <a:spcPts val="1200"/>
              </a:spcAft>
            </a:pPr>
            <a:r>
              <a:rPr lang="en-US" sz="2200" dirty="0" smtClean="0">
                <a:latin typeface="Helvetica" pitchFamily="34" charset="0"/>
              </a:rPr>
              <a:t>Follow food safety program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2" descr="C:\Documents and Settings\danielc\Local Settings\Temporary Internet Files\Content.IE5\XF6U4J0T\MC900434929[1].png"/>
          <p:cNvPicPr>
            <a:picLocks noChangeAspect="1" noChangeArrowheads="1"/>
          </p:cNvPicPr>
          <p:nvPr/>
        </p:nvPicPr>
        <p:blipFill>
          <a:blip r:embed="rId3" cstate="print"/>
          <a:srcRect/>
          <a:stretch>
            <a:fillRect/>
          </a:stretch>
        </p:blipFill>
        <p:spPr bwMode="auto">
          <a:xfrm>
            <a:off x="6477000" y="1219200"/>
            <a:ext cx="1447800" cy="14478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Clr>
                <a:srgbClr val="92D050"/>
              </a:buClr>
            </a:pPr>
            <a:r>
              <a:rPr lang="en-US" sz="2200" dirty="0" smtClean="0"/>
              <a:t>Oral questions</a:t>
            </a:r>
          </a:p>
          <a:p>
            <a:pPr marL="360000" indent="-360000">
              <a:spcBef>
                <a:spcPts val="600"/>
              </a:spcBef>
              <a:spcAft>
                <a:spcPts val="1200"/>
              </a:spcAft>
              <a:buClr>
                <a:srgbClr val="92D050"/>
              </a:buClr>
            </a:pPr>
            <a:r>
              <a:rPr lang="en-US" sz="2200" dirty="0" smtClean="0"/>
              <a:t>Written questions</a:t>
            </a:r>
          </a:p>
          <a:p>
            <a:pPr marL="360000" indent="-360000">
              <a:spcBef>
                <a:spcPts val="600"/>
              </a:spcBef>
              <a:spcAft>
                <a:spcPts val="1200"/>
              </a:spcAft>
              <a:buClr>
                <a:srgbClr val="92D050"/>
              </a:buClr>
            </a:pPr>
            <a:r>
              <a:rPr lang="en-US" sz="2200" dirty="0" smtClean="0"/>
              <a:t>Work projects</a:t>
            </a:r>
          </a:p>
          <a:p>
            <a:pPr marL="360000" indent="-360000">
              <a:spcBef>
                <a:spcPts val="600"/>
              </a:spcBef>
              <a:spcAft>
                <a:spcPts val="1200"/>
              </a:spcAft>
              <a:buClr>
                <a:srgbClr val="92D050"/>
              </a:buClr>
            </a:pPr>
            <a:r>
              <a:rPr lang="en-US" sz="2200" dirty="0" smtClean="0"/>
              <a:t>Workplace observation of practical skills</a:t>
            </a:r>
          </a:p>
          <a:p>
            <a:pPr marL="360000" indent="-360000">
              <a:spcBef>
                <a:spcPts val="600"/>
              </a:spcBef>
              <a:spcAft>
                <a:spcPts val="1200"/>
              </a:spcAft>
              <a:buClr>
                <a:srgbClr val="92D050"/>
              </a:buClr>
            </a:pPr>
            <a:r>
              <a:rPr lang="en-US" sz="2200" dirty="0" smtClean="0"/>
              <a:t>Practical exercises</a:t>
            </a:r>
          </a:p>
          <a:p>
            <a:pPr marL="360000" indent="-360000">
              <a:spcBef>
                <a:spcPts val="600"/>
              </a:spcBef>
              <a:spcAft>
                <a:spcPts val="1200"/>
              </a:spcAft>
              <a:buClr>
                <a:srgbClr val="92D050"/>
              </a:buClr>
            </a:pPr>
            <a:r>
              <a:rPr lang="en-US" sz="22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715000" y="1905000"/>
            <a:ext cx="2403733" cy="16002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hazards and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960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Identify key hazards and risks associated with individual work role</a:t>
            </a:r>
          </a:p>
          <a:p>
            <a:pPr marL="360000" indent="-360000">
              <a:spcBef>
                <a:spcPts val="600"/>
              </a:spcBef>
              <a:spcAft>
                <a:spcPts val="1200"/>
              </a:spcAft>
            </a:pPr>
            <a:r>
              <a:rPr lang="en-US" sz="2200" dirty="0" smtClean="0">
                <a:latin typeface="Helvetica" pitchFamily="34" charset="0"/>
              </a:rPr>
              <a:t>Check own work area to identify hazards and risks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8077200" y="1987554"/>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8059046" y="2942175"/>
            <a:ext cx="399154" cy="527046"/>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key hazards and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Ways to identify food risks and hazards:</a:t>
            </a:r>
          </a:p>
          <a:p>
            <a:pPr marL="360000" indent="-360000">
              <a:spcBef>
                <a:spcPts val="600"/>
              </a:spcBef>
              <a:spcAft>
                <a:spcPts val="1200"/>
              </a:spcAft>
            </a:pPr>
            <a:r>
              <a:rPr lang="en-US" sz="2200" dirty="0" smtClean="0">
                <a:latin typeface="Helvetica" pitchFamily="34" charset="0"/>
              </a:rPr>
              <a:t>Personal observation</a:t>
            </a:r>
          </a:p>
          <a:p>
            <a:pPr marL="360000" indent="-360000">
              <a:spcBef>
                <a:spcPts val="600"/>
              </a:spcBef>
              <a:spcAft>
                <a:spcPts val="1200"/>
              </a:spcAft>
            </a:pPr>
            <a:r>
              <a:rPr lang="en-US" sz="2200" dirty="0" smtClean="0">
                <a:latin typeface="Helvetica" pitchFamily="34" charset="0"/>
              </a:rPr>
              <a:t>Personal experience</a:t>
            </a:r>
          </a:p>
          <a:p>
            <a:pPr marL="360000" indent="-360000">
              <a:spcBef>
                <a:spcPts val="600"/>
              </a:spcBef>
              <a:spcAft>
                <a:spcPts val="1200"/>
              </a:spcAft>
            </a:pPr>
            <a:r>
              <a:rPr lang="en-US" sz="2200" dirty="0" smtClean="0">
                <a:latin typeface="Helvetica" pitchFamily="34" charset="0"/>
              </a:rPr>
              <a:t>Analysis of food safety records</a:t>
            </a:r>
          </a:p>
          <a:p>
            <a:pPr marL="360000" indent="-360000">
              <a:spcBef>
                <a:spcPts val="600"/>
              </a:spcBef>
              <a:spcAft>
                <a:spcPts val="1200"/>
              </a:spcAft>
            </a:pPr>
            <a:r>
              <a:rPr lang="en-US" sz="2200" dirty="0" smtClean="0">
                <a:latin typeface="Helvetica" pitchFamily="34" charset="0"/>
              </a:rPr>
              <a:t>Regular workplace inspections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2050" name="Picture 2" descr="C:\Documents and Settings\danielc\Desktop\Apply safety proc handling food images\1282502_magnifying_glass.jpg"/>
          <p:cNvPicPr>
            <a:picLocks noChangeAspect="1" noChangeArrowheads="1"/>
          </p:cNvPicPr>
          <p:nvPr/>
        </p:nvPicPr>
        <p:blipFill>
          <a:blip r:embed="rId3" cstate="print"/>
          <a:srcRect/>
          <a:stretch>
            <a:fillRect/>
          </a:stretch>
        </p:blipFill>
        <p:spPr bwMode="auto">
          <a:xfrm>
            <a:off x="5562600" y="2133600"/>
            <a:ext cx="2071688" cy="2071688"/>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key hazards and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Hazards and risks can occur at any food handling stage and may be in the form of:</a:t>
            </a:r>
          </a:p>
          <a:p>
            <a:pPr marL="360000" indent="-360000">
              <a:spcBef>
                <a:spcPts val="600"/>
              </a:spcBef>
              <a:spcAft>
                <a:spcPts val="1200"/>
              </a:spcAft>
            </a:pPr>
            <a:r>
              <a:rPr lang="en-US" sz="2200" dirty="0" smtClean="0">
                <a:latin typeface="Helvetica" pitchFamily="34" charset="0"/>
              </a:rPr>
              <a:t>Microbiological contamination</a:t>
            </a:r>
          </a:p>
          <a:p>
            <a:pPr marL="360000" indent="-360000">
              <a:spcBef>
                <a:spcPts val="600"/>
              </a:spcBef>
              <a:spcAft>
                <a:spcPts val="1200"/>
              </a:spcAft>
            </a:pPr>
            <a:r>
              <a:rPr lang="en-US" sz="2200" dirty="0" smtClean="0">
                <a:latin typeface="Helvetica" pitchFamily="34" charset="0"/>
              </a:rPr>
              <a:t>Chemical contamination</a:t>
            </a:r>
          </a:p>
          <a:p>
            <a:pPr marL="360000" indent="-360000">
              <a:spcBef>
                <a:spcPts val="600"/>
              </a:spcBef>
              <a:spcAft>
                <a:spcPts val="1200"/>
              </a:spcAft>
            </a:pPr>
            <a:r>
              <a:rPr lang="en-US" sz="2200" dirty="0" smtClean="0">
                <a:latin typeface="Helvetica" pitchFamily="34" charset="0"/>
              </a:rPr>
              <a:t>Physical contamination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8" name="Picture 2" descr="I:\Overseas Projects\PHOTOS\2011\food safety hazards.jpg"/>
          <p:cNvPicPr>
            <a:picLocks noChangeAspect="1" noChangeArrowheads="1"/>
          </p:cNvPicPr>
          <p:nvPr/>
        </p:nvPicPr>
        <p:blipFill>
          <a:blip r:embed="rId3" cstate="print"/>
          <a:srcRect/>
          <a:stretch>
            <a:fillRect/>
          </a:stretch>
        </p:blipFill>
        <p:spPr bwMode="auto">
          <a:xfrm>
            <a:off x="6019800" y="2438400"/>
            <a:ext cx="1898254" cy="1752234"/>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key hazards and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Microbiological contamination may be caused by:</a:t>
            </a:r>
          </a:p>
          <a:p>
            <a:pPr marL="360000" indent="-360000">
              <a:spcBef>
                <a:spcPts val="600"/>
              </a:spcBef>
              <a:spcAft>
                <a:spcPts val="1200"/>
              </a:spcAft>
            </a:pPr>
            <a:r>
              <a:rPr lang="en-US" sz="2200" dirty="0" smtClean="0">
                <a:latin typeface="Helvetica" pitchFamily="34" charset="0"/>
              </a:rPr>
              <a:t>Bacteria</a:t>
            </a:r>
          </a:p>
          <a:p>
            <a:pPr marL="360000" indent="-360000">
              <a:spcBef>
                <a:spcPts val="600"/>
              </a:spcBef>
              <a:spcAft>
                <a:spcPts val="1200"/>
              </a:spcAft>
            </a:pPr>
            <a:r>
              <a:rPr lang="en-US" sz="2200" dirty="0" smtClean="0">
                <a:latin typeface="Helvetica" pitchFamily="34" charset="0"/>
              </a:rPr>
              <a:t>Moulds</a:t>
            </a:r>
          </a:p>
          <a:p>
            <a:pPr marL="360000" indent="-360000">
              <a:spcBef>
                <a:spcPts val="600"/>
              </a:spcBef>
              <a:spcAft>
                <a:spcPts val="1200"/>
              </a:spcAft>
            </a:pPr>
            <a:r>
              <a:rPr lang="en-US" sz="2200" dirty="0" smtClean="0">
                <a:latin typeface="Helvetica" pitchFamily="34" charset="0"/>
              </a:rPr>
              <a:t>Yeasts</a:t>
            </a:r>
          </a:p>
          <a:p>
            <a:pPr marL="360000" indent="-360000">
              <a:spcBef>
                <a:spcPts val="600"/>
              </a:spcBef>
              <a:spcAft>
                <a:spcPts val="1200"/>
              </a:spcAft>
            </a:pPr>
            <a:r>
              <a:rPr lang="en-US" sz="2200" dirty="0" smtClean="0">
                <a:latin typeface="Helvetica" pitchFamily="34" charset="0"/>
              </a:rPr>
              <a:t>Viruses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descr="C:\Documents and Settings\danielc\Desktop\Apply safety proc handling food images\1256310_medical_abstract_swirls_1.jpg"/>
          <p:cNvPicPr/>
          <p:nvPr/>
        </p:nvPicPr>
        <p:blipFill>
          <a:blip r:embed="rId3" cstate="print">
            <a:duotone>
              <a:prstClr val="black"/>
              <a:srgbClr val="D9C3A5">
                <a:tint val="50000"/>
                <a:satMod val="180000"/>
              </a:srgbClr>
            </a:duotone>
            <a:lum bright="10000"/>
          </a:blip>
          <a:srcRect/>
          <a:stretch>
            <a:fillRect/>
          </a:stretch>
        </p:blipFill>
        <p:spPr bwMode="auto">
          <a:xfrm>
            <a:off x="4648200" y="2438400"/>
            <a:ext cx="2592958" cy="14478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key hazards and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High risk food handling situations that may involve microbiological contamination:</a:t>
            </a:r>
          </a:p>
          <a:p>
            <a:pPr marL="360000" indent="-360000">
              <a:spcBef>
                <a:spcPts val="600"/>
              </a:spcBef>
              <a:spcAft>
                <a:spcPts val="1200"/>
              </a:spcAft>
            </a:pPr>
            <a:r>
              <a:rPr lang="en-US" sz="2200" dirty="0" smtClean="0">
                <a:latin typeface="Helvetica" pitchFamily="34" charset="0"/>
              </a:rPr>
              <a:t>Working with high risk foods</a:t>
            </a:r>
          </a:p>
          <a:p>
            <a:pPr marL="360000" indent="-360000">
              <a:spcBef>
                <a:spcPts val="600"/>
              </a:spcBef>
              <a:spcAft>
                <a:spcPts val="1200"/>
              </a:spcAft>
            </a:pPr>
            <a:r>
              <a:rPr lang="en-US" sz="2200" dirty="0" smtClean="0">
                <a:latin typeface="Helvetica" pitchFamily="34" charset="0"/>
              </a:rPr>
              <a:t>Working with food in Temperature </a:t>
            </a:r>
            <a:br>
              <a:rPr lang="en-US" sz="2200" dirty="0" smtClean="0">
                <a:latin typeface="Helvetica" pitchFamily="34" charset="0"/>
              </a:rPr>
            </a:br>
            <a:r>
              <a:rPr lang="en-US" sz="2200" dirty="0" smtClean="0">
                <a:latin typeface="Helvetica" pitchFamily="34" charset="0"/>
              </a:rPr>
              <a:t>Danger Zone</a:t>
            </a:r>
          </a:p>
          <a:p>
            <a:pPr marL="360000" indent="-360000">
              <a:spcBef>
                <a:spcPts val="600"/>
              </a:spcBef>
              <a:spcAft>
                <a:spcPts val="1200"/>
              </a:spcAft>
            </a:pPr>
            <a:r>
              <a:rPr lang="en-US" sz="2200" dirty="0" smtClean="0">
                <a:latin typeface="Helvetica" pitchFamily="34" charset="0"/>
              </a:rPr>
              <a:t>Displaying food</a:t>
            </a:r>
          </a:p>
          <a:p>
            <a:pPr marL="360000" indent="-360000">
              <a:spcBef>
                <a:spcPts val="600"/>
              </a:spcBef>
              <a:spcAft>
                <a:spcPts val="1200"/>
              </a:spcAft>
            </a:pPr>
            <a:r>
              <a:rPr lang="en-US" sz="2200" dirty="0" smtClean="0">
                <a:latin typeface="Helvetica" pitchFamily="34" charset="0"/>
              </a:rPr>
              <a:t>Processing food</a:t>
            </a:r>
          </a:p>
          <a:p>
            <a:pPr marL="360000" indent="-360000">
              <a:spcBef>
                <a:spcPts val="600"/>
              </a:spcBef>
              <a:spcAft>
                <a:spcPts val="1200"/>
              </a:spcAft>
            </a:pPr>
            <a:r>
              <a:rPr lang="en-US" sz="2200" dirty="0" smtClean="0">
                <a:latin typeface="Helvetica" pitchFamily="34" charset="0"/>
              </a:rPr>
              <a:t>Thawing and reheating of food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6" name="Picture 4" descr="C:\Documents and Settings\danielc\Desktop\Apply safety proc handling food images\freeimage-6733946.jpg"/>
          <p:cNvPicPr>
            <a:picLocks noChangeAspect="1" noChangeArrowheads="1"/>
          </p:cNvPicPr>
          <p:nvPr/>
        </p:nvPicPr>
        <p:blipFill>
          <a:blip r:embed="rId3" cstate="print"/>
          <a:stretch>
            <a:fillRect/>
          </a:stretch>
        </p:blipFill>
        <p:spPr bwMode="auto">
          <a:xfrm>
            <a:off x="5867400" y="2590800"/>
            <a:ext cx="2211327" cy="157904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key hazards and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Chemical contamination can be caused by:</a:t>
            </a:r>
          </a:p>
          <a:p>
            <a:pPr marL="360000" indent="-360000">
              <a:spcBef>
                <a:spcPts val="600"/>
              </a:spcBef>
              <a:spcAft>
                <a:spcPts val="1200"/>
              </a:spcAft>
            </a:pPr>
            <a:r>
              <a:rPr lang="en-US" sz="2200" dirty="0" smtClean="0">
                <a:latin typeface="Helvetica" pitchFamily="34" charset="0"/>
              </a:rPr>
              <a:t>Chemicals used on food when it is grown or </a:t>
            </a:r>
            <a:br>
              <a:rPr lang="en-US" sz="2200" dirty="0" smtClean="0">
                <a:latin typeface="Helvetica" pitchFamily="34" charset="0"/>
              </a:rPr>
            </a:br>
            <a:r>
              <a:rPr lang="en-US" sz="2200" dirty="0" smtClean="0">
                <a:latin typeface="Helvetica" pitchFamily="34" charset="0"/>
              </a:rPr>
              <a:t>processed</a:t>
            </a:r>
          </a:p>
          <a:p>
            <a:pPr marL="360000" indent="-360000">
              <a:spcBef>
                <a:spcPts val="600"/>
              </a:spcBef>
              <a:spcAft>
                <a:spcPts val="1200"/>
              </a:spcAft>
            </a:pPr>
            <a:r>
              <a:rPr lang="en-US" sz="2200" dirty="0" smtClean="0">
                <a:latin typeface="Helvetica" pitchFamily="34" charset="0"/>
              </a:rPr>
              <a:t>Chemicals inadvertently introduced to </a:t>
            </a:r>
            <a:br>
              <a:rPr lang="en-US" sz="2200" dirty="0" smtClean="0">
                <a:latin typeface="Helvetica" pitchFamily="34" charset="0"/>
              </a:rPr>
            </a:br>
            <a:r>
              <a:rPr lang="en-US" sz="2200" dirty="0" smtClean="0">
                <a:latin typeface="Helvetica" pitchFamily="34" charset="0"/>
              </a:rPr>
              <a:t>food</a:t>
            </a:r>
          </a:p>
          <a:p>
            <a:pPr>
              <a:spcBef>
                <a:spcPts val="600"/>
              </a:spcBef>
              <a:spcAft>
                <a:spcPts val="1200"/>
              </a:spcAft>
            </a:pPr>
            <a:r>
              <a:rPr lang="en-AU" sz="2200" dirty="0" smtClean="0">
                <a:latin typeface="Helvetica" pitchFamily="34" charset="0"/>
              </a:rPr>
              <a:t>Over usage of fertilizers and pesticides by farmers</a:t>
            </a:r>
          </a:p>
          <a:p>
            <a:pPr>
              <a:spcBef>
                <a:spcPts val="600"/>
              </a:spcBef>
              <a:spcAft>
                <a:spcPts val="1200"/>
              </a:spcAft>
            </a:pPr>
            <a:r>
              <a:rPr lang="en-AU" sz="2200" dirty="0" smtClean="0">
                <a:latin typeface="Helvetica" pitchFamily="34" charset="0"/>
              </a:rPr>
              <a:t>Contaminated food by radioactive particles</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Naturally occurring poisonous food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125" name="Picture 5" descr="C:\Documents and Settings\danielc\Desktop\Apply safety proc handling food images\sprouting potatoes.jpg"/>
          <p:cNvPicPr>
            <a:picLocks noChangeAspect="1" noChangeArrowheads="1"/>
          </p:cNvPicPr>
          <p:nvPr/>
        </p:nvPicPr>
        <p:blipFill>
          <a:blip r:embed="rId3" cstate="print"/>
          <a:srcRect/>
          <a:stretch>
            <a:fillRect/>
          </a:stretch>
        </p:blipFill>
        <p:spPr bwMode="auto">
          <a:xfrm>
            <a:off x="6858000" y="4419600"/>
            <a:ext cx="1600200" cy="1060132"/>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key hazards and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Physical contamination can occur:</a:t>
            </a:r>
          </a:p>
          <a:p>
            <a:pPr marL="360000" indent="-360000">
              <a:spcBef>
                <a:spcPts val="600"/>
              </a:spcBef>
              <a:spcAft>
                <a:spcPts val="1200"/>
              </a:spcAft>
            </a:pPr>
            <a:r>
              <a:rPr lang="en-US" sz="2200" dirty="0" smtClean="0">
                <a:latin typeface="Helvetica" pitchFamily="34" charset="0"/>
              </a:rPr>
              <a:t>Before food arrives at the venue</a:t>
            </a:r>
          </a:p>
          <a:p>
            <a:pPr marL="360000" indent="-360000">
              <a:spcBef>
                <a:spcPts val="600"/>
              </a:spcBef>
              <a:spcAft>
                <a:spcPts val="1200"/>
              </a:spcAft>
            </a:pPr>
            <a:r>
              <a:rPr lang="en-US" sz="2200" dirty="0" smtClean="0">
                <a:latin typeface="Helvetica" pitchFamily="34" charset="0"/>
              </a:rPr>
              <a:t>During storage, preparation, service or </a:t>
            </a:r>
            <a:br>
              <a:rPr lang="en-US" sz="2200" dirty="0" smtClean="0">
                <a:latin typeface="Helvetica" pitchFamily="34" charset="0"/>
              </a:rPr>
            </a:br>
            <a:r>
              <a:rPr lang="en-US" sz="2200" dirty="0" smtClean="0">
                <a:latin typeface="Helvetica" pitchFamily="34" charset="0"/>
              </a:rPr>
              <a:t>other procedures</a:t>
            </a:r>
          </a:p>
          <a:p>
            <a:pPr marL="0" indent="0" algn="ctr">
              <a:spcBef>
                <a:spcPts val="600"/>
              </a:spcBef>
              <a:spcAft>
                <a:spcPts val="1200"/>
              </a:spcAft>
              <a:buNone/>
            </a:pPr>
            <a:r>
              <a:rPr lang="en-US" sz="2200" i="1" dirty="0" smtClean="0">
                <a:latin typeface="Helvetica" pitchFamily="34" charset="0"/>
              </a:rPr>
              <a:t>Constant vigilance is required to identify physical contaminants.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descr="C:\Documents and Settings\danielc\Desktop\Apply safety proc handling food images\freeimage-91507.jpg"/>
          <p:cNvPicPr/>
          <p:nvPr/>
        </p:nvPicPr>
        <p:blipFill>
          <a:blip r:embed="rId3" cstate="print"/>
          <a:srcRect/>
          <a:stretch>
            <a:fillRect/>
          </a:stretch>
        </p:blipFill>
        <p:spPr bwMode="auto">
          <a:xfrm>
            <a:off x="3505200" y="4572000"/>
            <a:ext cx="2047256" cy="1543793"/>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key hazards and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You only have direct responsibility for the food handling duties you are employed to perform – for example:</a:t>
            </a:r>
          </a:p>
          <a:p>
            <a:pPr marL="360000" indent="-360000">
              <a:spcBef>
                <a:spcPts val="600"/>
              </a:spcBef>
              <a:spcAft>
                <a:spcPts val="1200"/>
              </a:spcAft>
            </a:pPr>
            <a:r>
              <a:rPr lang="en-US" sz="2200" dirty="0" smtClean="0">
                <a:latin typeface="Helvetica" pitchFamily="34" charset="0"/>
              </a:rPr>
              <a:t>Purchasing and receiving food</a:t>
            </a:r>
          </a:p>
          <a:p>
            <a:pPr marL="360000" indent="-360000">
              <a:spcBef>
                <a:spcPts val="600"/>
              </a:spcBef>
              <a:spcAft>
                <a:spcPts val="1200"/>
              </a:spcAft>
            </a:pPr>
            <a:r>
              <a:rPr lang="en-US" sz="2200" dirty="0" smtClean="0">
                <a:latin typeface="Helvetica" pitchFamily="34" charset="0"/>
              </a:rPr>
              <a:t>Storing food</a:t>
            </a:r>
          </a:p>
          <a:p>
            <a:pPr marL="360000" indent="-360000">
              <a:spcBef>
                <a:spcPts val="600"/>
              </a:spcBef>
              <a:spcAft>
                <a:spcPts val="1200"/>
              </a:spcAft>
            </a:pPr>
            <a:r>
              <a:rPr lang="en-US" sz="2200" dirty="0" smtClean="0">
                <a:latin typeface="Helvetica" pitchFamily="34" charset="0"/>
              </a:rPr>
              <a:t>Thawing frozen food</a:t>
            </a:r>
          </a:p>
          <a:p>
            <a:pPr marL="360000" indent="-360000">
              <a:spcBef>
                <a:spcPts val="600"/>
              </a:spcBef>
              <a:spcAft>
                <a:spcPts val="1200"/>
              </a:spcAft>
            </a:pPr>
            <a:r>
              <a:rPr lang="en-US" sz="2200" dirty="0" smtClean="0">
                <a:latin typeface="Helvetica" pitchFamily="34" charset="0"/>
              </a:rPr>
              <a:t>Food preparation activities</a:t>
            </a:r>
          </a:p>
          <a:p>
            <a:pPr marL="360000" indent="-360000">
              <a:spcBef>
                <a:spcPts val="600"/>
              </a:spcBef>
              <a:spcAft>
                <a:spcPts val="1200"/>
              </a:spcAft>
            </a:pPr>
            <a:r>
              <a:rPr lang="en-US" sz="2200" dirty="0" smtClean="0">
                <a:latin typeface="Helvetica" pitchFamily="34" charset="0"/>
              </a:rPr>
              <a:t>Cooking food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descr="stores.jpg"/>
          <p:cNvPicPr/>
          <p:nvPr/>
        </p:nvPicPr>
        <p:blipFill>
          <a:blip r:embed="rId3" cstate="print">
            <a:lum bright="10000" contrast="20000"/>
          </a:blip>
          <a:stretch>
            <a:fillRect/>
          </a:stretch>
        </p:blipFill>
        <p:spPr>
          <a:xfrm>
            <a:off x="5181600" y="2667000"/>
            <a:ext cx="2646861" cy="1752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key hazards and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Holding of food</a:t>
            </a:r>
          </a:p>
          <a:p>
            <a:pPr marL="360000" indent="-360000">
              <a:spcBef>
                <a:spcPts val="600"/>
              </a:spcBef>
              <a:spcAft>
                <a:spcPts val="1200"/>
              </a:spcAft>
            </a:pPr>
            <a:r>
              <a:rPr lang="en-US" sz="2200" dirty="0" smtClean="0">
                <a:latin typeface="Helvetica" pitchFamily="34" charset="0"/>
              </a:rPr>
              <a:t>Reheating previously cooked food</a:t>
            </a:r>
          </a:p>
          <a:p>
            <a:pPr marL="360000" indent="-360000">
              <a:spcBef>
                <a:spcPts val="600"/>
              </a:spcBef>
              <a:spcAft>
                <a:spcPts val="1200"/>
              </a:spcAft>
            </a:pPr>
            <a:r>
              <a:rPr lang="en-US" sz="2200" dirty="0" smtClean="0">
                <a:latin typeface="Helvetica" pitchFamily="34" charset="0"/>
              </a:rPr>
              <a:t>Displaying food</a:t>
            </a:r>
          </a:p>
          <a:p>
            <a:pPr marL="360000" indent="-360000">
              <a:spcBef>
                <a:spcPts val="600"/>
              </a:spcBef>
              <a:spcAft>
                <a:spcPts val="1200"/>
              </a:spcAft>
            </a:pPr>
            <a:r>
              <a:rPr lang="en-US" sz="2200" dirty="0" smtClean="0">
                <a:latin typeface="Helvetica" pitchFamily="34" charset="0"/>
              </a:rPr>
              <a:t>Supervising self-serve situations</a:t>
            </a:r>
          </a:p>
          <a:p>
            <a:pPr marL="360000" indent="-360000">
              <a:spcBef>
                <a:spcPts val="600"/>
              </a:spcBef>
              <a:spcAft>
                <a:spcPts val="1200"/>
              </a:spcAft>
            </a:pPr>
            <a:r>
              <a:rPr lang="en-US" sz="2200" dirty="0" smtClean="0">
                <a:latin typeface="Helvetica" pitchFamily="34" charset="0"/>
              </a:rPr>
              <a:t>Serving food</a:t>
            </a:r>
          </a:p>
          <a:p>
            <a:pPr marL="360000" indent="-360000">
              <a:spcBef>
                <a:spcPts val="600"/>
              </a:spcBef>
              <a:spcAft>
                <a:spcPts val="1200"/>
              </a:spcAft>
            </a:pPr>
            <a:r>
              <a:rPr lang="en-US" sz="2200" dirty="0" smtClean="0">
                <a:latin typeface="Helvetica" pitchFamily="34" charset="0"/>
              </a:rPr>
              <a:t>Cleaning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6146" name="Picture 2" descr="I:\Overseas Projects\PHOTOS\2011\Culinary\Han with sponge.jpg"/>
          <p:cNvPicPr>
            <a:picLocks noChangeAspect="1" noChangeArrowheads="1"/>
          </p:cNvPicPr>
          <p:nvPr/>
        </p:nvPicPr>
        <p:blipFill>
          <a:blip r:embed="rId3" cstate="print"/>
          <a:srcRect/>
          <a:stretch>
            <a:fillRect/>
          </a:stretch>
        </p:blipFill>
        <p:spPr bwMode="auto">
          <a:xfrm>
            <a:off x="5486400" y="2286000"/>
            <a:ext cx="2576224" cy="19050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key hazards and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47800"/>
            <a:ext cx="7467600" cy="5257800"/>
          </a:xfrm>
        </p:spPr>
        <p:txBody>
          <a:bodyPr>
            <a:normAutofit/>
          </a:bodyPr>
          <a:lstStyle/>
          <a:p>
            <a:pPr marL="0" indent="0">
              <a:spcBef>
                <a:spcPts val="600"/>
              </a:spcBef>
              <a:spcAft>
                <a:spcPts val="1200"/>
              </a:spcAft>
              <a:buNone/>
            </a:pPr>
            <a:r>
              <a:rPr lang="en-US" sz="2200" dirty="0" smtClean="0">
                <a:latin typeface="Helvetica" pitchFamily="34" charset="0"/>
              </a:rPr>
              <a:t>At work you will also be expected to:</a:t>
            </a:r>
          </a:p>
          <a:p>
            <a:pPr marL="360000" indent="-360000">
              <a:spcBef>
                <a:spcPts val="600"/>
              </a:spcBef>
              <a:spcAft>
                <a:spcPts val="1200"/>
              </a:spcAft>
            </a:pPr>
            <a:r>
              <a:rPr lang="en-US" sz="2200" dirty="0" smtClean="0">
                <a:latin typeface="Helvetica" pitchFamily="34" charset="0"/>
              </a:rPr>
              <a:t>Participate in establishment-wide food safety </a:t>
            </a:r>
            <a:br>
              <a:rPr lang="en-US" sz="2200" dirty="0" smtClean="0">
                <a:latin typeface="Helvetica" pitchFamily="34" charset="0"/>
              </a:rPr>
            </a:br>
            <a:r>
              <a:rPr lang="en-US" sz="2200" dirty="0" smtClean="0">
                <a:latin typeface="Helvetica" pitchFamily="34" charset="0"/>
              </a:rPr>
              <a:t>training activities</a:t>
            </a:r>
          </a:p>
          <a:p>
            <a:pPr marL="360000" indent="-360000">
              <a:spcBef>
                <a:spcPts val="600"/>
              </a:spcBef>
              <a:spcAft>
                <a:spcPts val="1200"/>
              </a:spcAft>
            </a:pPr>
            <a:r>
              <a:rPr lang="en-US" sz="2200" dirty="0" smtClean="0">
                <a:latin typeface="Helvetica" pitchFamily="34" charset="0"/>
              </a:rPr>
              <a:t>Increased awareness for identifying hazards</a:t>
            </a:r>
          </a:p>
          <a:p>
            <a:pPr marL="360000" indent="-360000">
              <a:spcBef>
                <a:spcPts val="600"/>
              </a:spcBef>
              <a:spcAft>
                <a:spcPts val="1200"/>
              </a:spcAft>
            </a:pPr>
            <a:r>
              <a:rPr lang="en-US" sz="2200" dirty="0" smtClean="0">
                <a:latin typeface="Helvetica" pitchFamily="34" charset="0"/>
              </a:rPr>
              <a:t>Constant vigilance</a:t>
            </a:r>
          </a:p>
          <a:p>
            <a:pPr marL="360000" indent="-360000">
              <a:spcBef>
                <a:spcPts val="600"/>
              </a:spcBef>
              <a:spcAft>
                <a:spcPts val="1200"/>
              </a:spcAft>
            </a:pPr>
            <a:r>
              <a:rPr lang="en-US" sz="2200" dirty="0" smtClean="0">
                <a:latin typeface="Helvetica" pitchFamily="34" charset="0"/>
              </a:rPr>
              <a:t>Due diligence</a:t>
            </a:r>
          </a:p>
          <a:p>
            <a:pPr marL="360000" indent="-360000">
              <a:spcBef>
                <a:spcPts val="600"/>
              </a:spcBef>
              <a:spcAft>
                <a:spcPts val="1200"/>
              </a:spcAft>
            </a:pPr>
            <a:r>
              <a:rPr lang="en-US" sz="2200" dirty="0" smtClean="0">
                <a:latin typeface="Helvetica" pitchFamily="34" charset="0"/>
              </a:rPr>
              <a:t>Assist other staff in their food handling and food </a:t>
            </a:r>
            <a:br>
              <a:rPr lang="en-US" sz="2200" dirty="0" smtClean="0">
                <a:latin typeface="Helvetica" pitchFamily="34" charset="0"/>
              </a:rPr>
            </a:br>
            <a:r>
              <a:rPr lang="en-US" sz="2200" dirty="0" smtClean="0">
                <a:latin typeface="Helvetica" pitchFamily="34" charset="0"/>
              </a:rPr>
              <a:t>safety activities</a:t>
            </a:r>
          </a:p>
          <a:p>
            <a:pPr marL="360000" indent="-360000">
              <a:spcBef>
                <a:spcPts val="600"/>
              </a:spcBef>
              <a:spcAft>
                <a:spcPts val="1200"/>
              </a:spcAft>
            </a:pPr>
            <a:r>
              <a:rPr lang="en-US" sz="2200" dirty="0" smtClean="0">
                <a:latin typeface="Helvetica" pitchFamily="34" charset="0"/>
              </a:rPr>
              <a:t>Seek advice when unsure about what to do</a:t>
            </a:r>
          </a:p>
          <a:p>
            <a:pPr marL="360000" indent="-360000">
              <a:spcBef>
                <a:spcPts val="600"/>
              </a:spcBef>
              <a:spcAft>
                <a:spcPts val="1200"/>
              </a:spcAft>
            </a:pPr>
            <a:r>
              <a:rPr lang="en-US" sz="2200" dirty="0" smtClean="0">
                <a:latin typeface="Helvetica" pitchFamily="34" charset="0"/>
              </a:rPr>
              <a:t>Effective responses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7170" name="Picture 2" descr="I:\Overseas Projects\PHOTOS\2011\Culinary\corey_mcgregor1bw.jpg"/>
          <p:cNvPicPr>
            <a:picLocks noChangeAspect="1" noChangeArrowheads="1"/>
          </p:cNvPicPr>
          <p:nvPr/>
        </p:nvPicPr>
        <p:blipFill>
          <a:blip r:embed="rId3" cstate="print"/>
          <a:srcRect/>
          <a:stretch>
            <a:fillRect/>
          </a:stretch>
        </p:blipFill>
        <p:spPr bwMode="auto">
          <a:xfrm>
            <a:off x="7010400" y="2209800"/>
            <a:ext cx="1447800" cy="2197452"/>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own work area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Checking your own work area can involve:</a:t>
            </a:r>
          </a:p>
          <a:p>
            <a:pPr marL="360000" indent="-360000">
              <a:spcBef>
                <a:spcPts val="600"/>
              </a:spcBef>
              <a:spcAft>
                <a:spcPts val="1200"/>
              </a:spcAft>
            </a:pPr>
            <a:r>
              <a:rPr lang="en-US" sz="2200" dirty="0" smtClean="0">
                <a:latin typeface="Helvetica" pitchFamily="34" charset="0"/>
              </a:rPr>
              <a:t>Inspecting work station prior to starting work</a:t>
            </a:r>
          </a:p>
          <a:p>
            <a:pPr marL="360000" indent="-360000">
              <a:spcBef>
                <a:spcPts val="600"/>
              </a:spcBef>
              <a:spcAft>
                <a:spcPts val="1200"/>
              </a:spcAft>
            </a:pPr>
            <a:r>
              <a:rPr lang="en-US" sz="2200" dirty="0" smtClean="0">
                <a:latin typeface="Helvetica" pitchFamily="34" charset="0"/>
              </a:rPr>
              <a:t>Adhering to workplace checklists</a:t>
            </a:r>
          </a:p>
          <a:p>
            <a:pPr marL="360000" indent="-360000">
              <a:spcBef>
                <a:spcPts val="600"/>
              </a:spcBef>
              <a:spcAft>
                <a:spcPts val="1200"/>
              </a:spcAft>
            </a:pPr>
            <a:r>
              <a:rPr lang="en-US" sz="2200" dirty="0" smtClean="0">
                <a:latin typeface="Helvetica" pitchFamily="34" charset="0"/>
              </a:rPr>
              <a:t>Monitoring work activities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8194" name="Picture 2" descr="I:\Overseas Projects\PHOTOS\2011\Culinary\cookery1.jpg"/>
          <p:cNvPicPr>
            <a:picLocks noChangeAspect="1" noChangeArrowheads="1"/>
          </p:cNvPicPr>
          <p:nvPr/>
        </p:nvPicPr>
        <p:blipFill>
          <a:blip r:embed="rId3" cstate="print">
            <a:grayscl/>
            <a:lum bright="10000"/>
          </a:blip>
          <a:srcRect/>
          <a:stretch>
            <a:fillRect/>
          </a:stretch>
        </p:blipFill>
        <p:spPr bwMode="auto">
          <a:xfrm>
            <a:off x="6858000" y="1905000"/>
            <a:ext cx="1676400" cy="2495107"/>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own work area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Verifying safety of food to be used</a:t>
            </a:r>
          </a:p>
          <a:p>
            <a:pPr marL="360000" indent="-360000">
              <a:spcBef>
                <a:spcPts val="600"/>
              </a:spcBef>
              <a:spcAft>
                <a:spcPts val="1200"/>
              </a:spcAft>
            </a:pPr>
            <a:r>
              <a:rPr lang="en-US" sz="2200" dirty="0" smtClean="0">
                <a:latin typeface="Helvetica" pitchFamily="34" charset="0"/>
              </a:rPr>
              <a:t>Observing what colleagues do</a:t>
            </a:r>
          </a:p>
          <a:p>
            <a:pPr marL="360000" indent="-360000">
              <a:spcBef>
                <a:spcPts val="600"/>
              </a:spcBef>
              <a:spcAft>
                <a:spcPts val="1200"/>
              </a:spcAft>
            </a:pPr>
            <a:r>
              <a:rPr lang="en-US" sz="2200" dirty="0" smtClean="0">
                <a:latin typeface="Helvetica" pitchFamily="34" charset="0"/>
              </a:rPr>
              <a:t>Testing equipment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9218" name="Picture 2" descr="C:\Documents and Settings\danielc\Desktop\Apply safety proc handling food images\freeimage-6805610.jpg"/>
          <p:cNvPicPr>
            <a:picLocks noChangeAspect="1" noChangeArrowheads="1"/>
          </p:cNvPicPr>
          <p:nvPr/>
        </p:nvPicPr>
        <p:blipFill>
          <a:blip r:embed="rId3" cstate="print"/>
          <a:srcRect/>
          <a:stretch>
            <a:fillRect/>
          </a:stretch>
        </p:blipFill>
        <p:spPr bwMode="auto">
          <a:xfrm>
            <a:off x="5486400" y="1676400"/>
            <a:ext cx="2767045" cy="22098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own work area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Be alert to potential for:</a:t>
            </a:r>
          </a:p>
          <a:p>
            <a:pPr marL="360000" indent="-360000">
              <a:spcBef>
                <a:spcPts val="600"/>
              </a:spcBef>
              <a:spcAft>
                <a:spcPts val="1200"/>
              </a:spcAft>
            </a:pPr>
            <a:r>
              <a:rPr lang="en-US" sz="2200" dirty="0" smtClean="0">
                <a:latin typeface="Helvetica" pitchFamily="34" charset="0"/>
              </a:rPr>
              <a:t>Food contaminated by vermin</a:t>
            </a:r>
          </a:p>
          <a:p>
            <a:pPr marL="360000" indent="-360000">
              <a:spcBef>
                <a:spcPts val="600"/>
              </a:spcBef>
              <a:spcAft>
                <a:spcPts val="1200"/>
              </a:spcAft>
            </a:pPr>
            <a:r>
              <a:rPr lang="en-US" sz="2200" dirty="0" smtClean="0">
                <a:latin typeface="Helvetica" pitchFamily="34" charset="0"/>
              </a:rPr>
              <a:t>Contaminated items</a:t>
            </a:r>
          </a:p>
          <a:p>
            <a:pPr marL="360000" indent="-360000">
              <a:spcBef>
                <a:spcPts val="600"/>
              </a:spcBef>
              <a:spcAft>
                <a:spcPts val="1200"/>
              </a:spcAft>
            </a:pPr>
            <a:r>
              <a:rPr lang="en-US" sz="2200" dirty="0" smtClean="0">
                <a:latin typeface="Helvetica" pitchFamily="34" charset="0"/>
              </a:rPr>
              <a:t>Dirty equipment and utensils</a:t>
            </a:r>
          </a:p>
          <a:p>
            <a:pPr marL="360000" indent="-360000">
              <a:spcBef>
                <a:spcPts val="600"/>
              </a:spcBef>
              <a:spcAft>
                <a:spcPts val="1200"/>
              </a:spcAft>
            </a:pPr>
            <a:r>
              <a:rPr lang="en-US" sz="2200" dirty="0" smtClean="0">
                <a:latin typeface="Helvetica" pitchFamily="34" charset="0"/>
              </a:rPr>
              <a:t>Garbage</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descr="C:\Documents and Settings\danielc\Desktop\Apply safety proc handling food images\freeimage-4867238.jpg"/>
          <p:cNvPicPr/>
          <p:nvPr/>
        </p:nvPicPr>
        <p:blipFill>
          <a:blip r:embed="rId3" cstate="print"/>
          <a:srcRect/>
          <a:stretch>
            <a:fillRect/>
          </a:stretch>
        </p:blipFill>
        <p:spPr bwMode="auto">
          <a:xfrm>
            <a:off x="6248400" y="2133600"/>
            <a:ext cx="1382238" cy="2078182"/>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own work area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Out-of-date food handling practices</a:t>
            </a:r>
          </a:p>
          <a:p>
            <a:pPr marL="360000" indent="-360000">
              <a:spcBef>
                <a:spcPts val="600"/>
              </a:spcBef>
              <a:spcAft>
                <a:spcPts val="1200"/>
              </a:spcAft>
            </a:pPr>
            <a:r>
              <a:rPr lang="en-US" sz="2200" dirty="0" smtClean="0">
                <a:latin typeface="Helvetica" pitchFamily="34" charset="0"/>
              </a:rPr>
              <a:t>Colleagues who require training</a:t>
            </a:r>
          </a:p>
          <a:p>
            <a:pPr marL="360000" indent="-360000">
              <a:spcBef>
                <a:spcPts val="600"/>
              </a:spcBef>
              <a:spcAft>
                <a:spcPts val="1200"/>
              </a:spcAft>
            </a:pPr>
            <a:r>
              <a:rPr lang="en-US" sz="2200" dirty="0" smtClean="0">
                <a:latin typeface="Helvetica" pitchFamily="34" charset="0"/>
              </a:rPr>
              <a:t>Equipment not operating as intended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10243" name="Picture 3" descr="C:\Documents and Settings\danielc\Desktop\Apply safety proc handling food images\freeimage-1495765.jpg"/>
          <p:cNvPicPr>
            <a:picLocks noChangeAspect="1" noChangeArrowheads="1"/>
          </p:cNvPicPr>
          <p:nvPr/>
        </p:nvPicPr>
        <p:blipFill>
          <a:blip r:embed="rId3" cstate="print"/>
          <a:srcRect/>
          <a:stretch>
            <a:fillRect/>
          </a:stretch>
        </p:blipFill>
        <p:spPr bwMode="auto">
          <a:xfrm>
            <a:off x="5867400" y="1981200"/>
            <a:ext cx="2278394" cy="22860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own work area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Keys in responding to threats (hazards and risks):</a:t>
            </a:r>
          </a:p>
          <a:p>
            <a:pPr marL="360000" indent="-360000">
              <a:spcBef>
                <a:spcPts val="600"/>
              </a:spcBef>
              <a:spcAft>
                <a:spcPts val="1200"/>
              </a:spcAft>
            </a:pPr>
            <a:r>
              <a:rPr lang="en-US" sz="2200" dirty="0" smtClean="0">
                <a:latin typeface="Helvetica" pitchFamily="34" charset="0"/>
              </a:rPr>
              <a:t>Awareness</a:t>
            </a:r>
          </a:p>
          <a:p>
            <a:pPr marL="360000" indent="-360000">
              <a:spcBef>
                <a:spcPts val="600"/>
              </a:spcBef>
              <a:spcAft>
                <a:spcPts val="1200"/>
              </a:spcAft>
            </a:pPr>
            <a:r>
              <a:rPr lang="en-US" sz="2200" dirty="0" smtClean="0">
                <a:latin typeface="Helvetica" pitchFamily="34" charset="0"/>
              </a:rPr>
              <a:t>Constant vigilance</a:t>
            </a:r>
          </a:p>
          <a:p>
            <a:pPr marL="360000" indent="-360000">
              <a:spcBef>
                <a:spcPts val="600"/>
              </a:spcBef>
              <a:spcAft>
                <a:spcPts val="1200"/>
              </a:spcAft>
            </a:pPr>
            <a:r>
              <a:rPr lang="en-US" sz="2200" dirty="0" smtClean="0">
                <a:latin typeface="Helvetica" pitchFamily="34" charset="0"/>
              </a:rPr>
              <a:t>Quick and effective response</a:t>
            </a:r>
          </a:p>
          <a:p>
            <a:pPr marL="360000" indent="-360000">
              <a:spcBef>
                <a:spcPts val="600"/>
              </a:spcBef>
              <a:spcAft>
                <a:spcPts val="1200"/>
              </a:spcAft>
            </a:pPr>
            <a:r>
              <a:rPr lang="en-US" sz="2200" dirty="0" smtClean="0">
                <a:latin typeface="Helvetica" pitchFamily="34" charset="0"/>
              </a:rPr>
              <a:t>Record in log book</a:t>
            </a:r>
          </a:p>
          <a:p>
            <a:pPr marL="360000" indent="-360000">
              <a:spcBef>
                <a:spcPts val="600"/>
              </a:spcBef>
              <a:spcAft>
                <a:spcPts val="1200"/>
              </a:spcAft>
            </a:pPr>
            <a:r>
              <a:rPr lang="en-US" sz="2200" dirty="0" smtClean="0">
                <a:latin typeface="Helvetica" pitchFamily="34" charset="0"/>
              </a:rPr>
              <a:t>Immediate reporting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descr="C:\Documents and Settings\danielc\Desktop\Apply safety proc handling food images\17315_safe_handling.jpg"/>
          <p:cNvPicPr/>
          <p:nvPr/>
        </p:nvPicPr>
        <p:blipFill>
          <a:blip r:embed="rId3" cstate="print">
            <a:lum contrast="10000"/>
          </a:blip>
          <a:srcRect/>
          <a:stretch>
            <a:fillRect/>
          </a:stretch>
        </p:blipFill>
        <p:spPr bwMode="auto">
          <a:xfrm rot="5400000">
            <a:off x="5538280" y="2538920"/>
            <a:ext cx="2458192" cy="1647553"/>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identifying hazards and risks:</a:t>
            </a:r>
          </a:p>
          <a:p>
            <a:pPr>
              <a:spcBef>
                <a:spcPts val="600"/>
              </a:spcBef>
              <a:spcAft>
                <a:spcPts val="1200"/>
              </a:spcAft>
            </a:pPr>
            <a:r>
              <a:rPr lang="en-AU" sz="2200" dirty="0" smtClean="0">
                <a:latin typeface="Helvetica" pitchFamily="34" charset="0"/>
              </a:rPr>
              <a:t>Use personal observation</a:t>
            </a:r>
          </a:p>
          <a:p>
            <a:pPr>
              <a:spcBef>
                <a:spcPts val="600"/>
              </a:spcBef>
              <a:spcAft>
                <a:spcPts val="1200"/>
              </a:spcAft>
            </a:pPr>
            <a:r>
              <a:rPr lang="en-AU" sz="2200" dirty="0" smtClean="0">
                <a:latin typeface="Helvetica" pitchFamily="34" charset="0"/>
              </a:rPr>
              <a:t>Gain experience to help provide a basis for analysing what is occurring</a:t>
            </a:r>
          </a:p>
          <a:p>
            <a:pPr>
              <a:spcBef>
                <a:spcPts val="600"/>
              </a:spcBef>
              <a:spcAft>
                <a:spcPts val="1200"/>
              </a:spcAft>
            </a:pPr>
            <a:r>
              <a:rPr lang="en-AU" sz="2200" dirty="0" smtClean="0">
                <a:latin typeface="Helvetica" pitchFamily="34" charset="0"/>
              </a:rPr>
              <a:t>Read workplace food safety records to determine what is happening</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2" descr="C:\Documents and Settings\danielc\Local Settings\Temporary Internet Files\Content.IE5\3Y3SDCJX\MC900442036[1].wmf"/>
          <p:cNvPicPr>
            <a:picLocks noChangeAspect="1" noChangeArrowheads="1"/>
          </p:cNvPicPr>
          <p:nvPr/>
        </p:nvPicPr>
        <p:blipFill>
          <a:blip r:embed="rId3" cstate="print"/>
          <a:srcRect/>
          <a:stretch>
            <a:fillRect/>
          </a:stretch>
        </p:blipFill>
        <p:spPr bwMode="auto">
          <a:xfrm>
            <a:off x="6286512" y="4286256"/>
            <a:ext cx="1857375" cy="1838325"/>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Undertake regular and required workplace inspections and checks</a:t>
            </a:r>
          </a:p>
          <a:p>
            <a:pPr>
              <a:spcBef>
                <a:spcPts val="600"/>
              </a:spcBef>
              <a:spcAft>
                <a:spcPts val="1200"/>
              </a:spcAft>
            </a:pPr>
            <a:r>
              <a:rPr lang="en-AU" sz="2200" dirty="0" smtClean="0">
                <a:latin typeface="Helvetica" pitchFamily="34" charset="0"/>
              </a:rPr>
              <a:t>Be alert to the potential for microbiological, chemical and physical contamination</a:t>
            </a:r>
          </a:p>
          <a:p>
            <a:pPr>
              <a:spcBef>
                <a:spcPts val="600"/>
              </a:spcBef>
              <a:spcAft>
                <a:spcPts val="1200"/>
              </a:spcAft>
            </a:pPr>
            <a:r>
              <a:rPr lang="en-AU" sz="2200" dirty="0" smtClean="0">
                <a:latin typeface="Helvetica" pitchFamily="34" charset="0"/>
              </a:rPr>
              <a:t>Pay special attention to high risk food handling situations</a:t>
            </a: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2" descr="C:\Documents and Settings\danielc\Local Settings\Temporary Internet Files\Content.IE5\3Y3SDCJX\MC900442036[1].wmf"/>
          <p:cNvPicPr>
            <a:picLocks noChangeAspect="1" noChangeArrowheads="1"/>
          </p:cNvPicPr>
          <p:nvPr/>
        </p:nvPicPr>
        <p:blipFill>
          <a:blip r:embed="rId3" cstate="print"/>
          <a:srcRect/>
          <a:stretch>
            <a:fillRect/>
          </a:stretch>
        </p:blipFill>
        <p:spPr bwMode="auto">
          <a:xfrm>
            <a:off x="6286512" y="4286256"/>
            <a:ext cx="1857375" cy="1838325"/>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Focus on the food handling area and activities for which you have direct responsibility</a:t>
            </a:r>
          </a:p>
          <a:p>
            <a:pPr>
              <a:spcBef>
                <a:spcPts val="600"/>
              </a:spcBef>
              <a:spcAft>
                <a:spcPts val="1200"/>
              </a:spcAft>
            </a:pPr>
            <a:r>
              <a:rPr lang="en-AU" sz="2200" dirty="0" smtClean="0">
                <a:latin typeface="Helvetica" pitchFamily="34" charset="0"/>
              </a:rPr>
              <a:t>Be prepared to assist in venue-wide safe food handling initiatives and requirements</a:t>
            </a:r>
          </a:p>
          <a:p>
            <a:pPr>
              <a:spcBef>
                <a:spcPts val="600"/>
              </a:spcBef>
              <a:spcAft>
                <a:spcPts val="1200"/>
              </a:spcAft>
            </a:pPr>
            <a:r>
              <a:rPr lang="en-AU" sz="2200" dirty="0" smtClean="0">
                <a:latin typeface="Helvetica" pitchFamily="34" charset="0"/>
              </a:rPr>
              <a:t>Ask for help, advice and direction when not sure about what to do</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2" descr="C:\Documents and Settings\danielc\Local Settings\Temporary Internet Files\Content.IE5\3Y3SDCJX\MC900442036[1].wmf"/>
          <p:cNvPicPr>
            <a:picLocks noChangeAspect="1" noChangeArrowheads="1"/>
          </p:cNvPicPr>
          <p:nvPr/>
        </p:nvPicPr>
        <p:blipFill>
          <a:blip r:embed="rId3" cstate="print"/>
          <a:srcRect/>
          <a:stretch>
            <a:fillRect/>
          </a:stretch>
        </p:blipFill>
        <p:spPr bwMode="auto">
          <a:xfrm>
            <a:off x="6286512" y="4286256"/>
            <a:ext cx="1857375" cy="1838325"/>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Apply checking procedures to verify safe food handling protocols are being applied</a:t>
            </a:r>
          </a:p>
          <a:p>
            <a:pPr>
              <a:spcBef>
                <a:spcPts val="600"/>
              </a:spcBef>
              <a:spcAft>
                <a:spcPts val="1200"/>
              </a:spcAft>
            </a:pPr>
            <a:r>
              <a:rPr lang="en-AU" sz="2200" dirty="0" smtClean="0">
                <a:latin typeface="Helvetica" pitchFamily="34" charset="0"/>
              </a:rPr>
              <a:t>Protect food from contamination</a:t>
            </a:r>
          </a:p>
          <a:p>
            <a:pPr>
              <a:spcBef>
                <a:spcPts val="600"/>
              </a:spcBef>
              <a:spcAft>
                <a:spcPts val="1200"/>
              </a:spcAft>
            </a:pPr>
            <a:r>
              <a:rPr lang="en-AU" sz="2200" dirty="0" smtClean="0">
                <a:latin typeface="Helvetica" pitchFamily="34" charset="0"/>
              </a:rPr>
              <a:t>Take appropriate remedial action where necessary</a:t>
            </a:r>
          </a:p>
          <a:p>
            <a:pPr>
              <a:spcBef>
                <a:spcPts val="600"/>
              </a:spcBef>
              <a:spcAft>
                <a:spcPts val="1200"/>
              </a:spcAft>
            </a:pPr>
            <a:r>
              <a:rPr lang="en-AU" sz="2200" dirty="0" smtClean="0">
                <a:latin typeface="Helvetica" pitchFamily="34" charset="0"/>
              </a:rPr>
              <a:t>Report instances of non-compliance and out-of-control situations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2" descr="C:\Documents and Settings\danielc\Local Settings\Temporary Internet Files\Content.IE5\3Y3SDCJX\MC900442036[1].wmf"/>
          <p:cNvPicPr>
            <a:picLocks noChangeAspect="1" noChangeArrowheads="1"/>
          </p:cNvPicPr>
          <p:nvPr/>
        </p:nvPicPr>
        <p:blipFill>
          <a:blip r:embed="rId3" cstate="print"/>
          <a:srcRect/>
          <a:stretch>
            <a:fillRect/>
          </a:stretch>
        </p:blipFill>
        <p:spPr bwMode="auto">
          <a:xfrm>
            <a:off x="6286512" y="4286256"/>
            <a:ext cx="1857375" cy="1838325"/>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Follow enterprise hygiene standards, procedures and practices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9600" y="172243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Implement required personal hygiene practices</a:t>
            </a:r>
          </a:p>
          <a:p>
            <a:pPr marL="360000" indent="-360000">
              <a:spcBef>
                <a:spcPts val="600"/>
              </a:spcBef>
              <a:spcAft>
                <a:spcPts val="1200"/>
              </a:spcAft>
            </a:pPr>
            <a:r>
              <a:rPr lang="en-US" sz="2200" dirty="0" smtClean="0">
                <a:latin typeface="Helvetica" pitchFamily="34" charset="0"/>
              </a:rPr>
              <a:t>Maintain clothing to meet work area standards</a:t>
            </a:r>
          </a:p>
          <a:p>
            <a:pPr marL="360000" indent="-360000">
              <a:spcBef>
                <a:spcPts val="600"/>
              </a:spcBef>
              <a:spcAft>
                <a:spcPts val="1200"/>
              </a:spcAft>
            </a:pPr>
            <a:r>
              <a:rPr lang="en-US" sz="2200" dirty="0" smtClean="0">
                <a:latin typeface="Helvetica" pitchFamily="34" charset="0"/>
              </a:rPr>
              <a:t>Follow hygiene procedures in accordance with enterprise requirements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239000" y="2163588"/>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239000" y="2721678"/>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239000" y="3276600"/>
            <a:ext cx="399154" cy="527046"/>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required personal hygiene practices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600201"/>
            <a:ext cx="7467600" cy="5562600"/>
          </a:xfrm>
        </p:spPr>
        <p:txBody>
          <a:bodyPr>
            <a:normAutofit/>
          </a:bodyPr>
          <a:lstStyle/>
          <a:p>
            <a:pPr marL="0" indent="0">
              <a:spcBef>
                <a:spcPts val="600"/>
              </a:spcBef>
              <a:spcAft>
                <a:spcPts val="800"/>
              </a:spcAft>
              <a:buNone/>
            </a:pPr>
            <a:r>
              <a:rPr lang="en-US" sz="2200" dirty="0" smtClean="0">
                <a:latin typeface="Helvetica" pitchFamily="34" charset="0"/>
              </a:rPr>
              <a:t>Necessary personal hygiene practices for food handlers:</a:t>
            </a:r>
          </a:p>
          <a:p>
            <a:pPr>
              <a:spcBef>
                <a:spcPts val="600"/>
              </a:spcBef>
              <a:spcAft>
                <a:spcPts val="800"/>
              </a:spcAft>
            </a:pPr>
            <a:r>
              <a:rPr lang="en-AU" sz="2200" dirty="0" smtClean="0">
                <a:latin typeface="Helvetica" pitchFamily="34" charset="0"/>
              </a:rPr>
              <a:t>Have a shower before work</a:t>
            </a:r>
          </a:p>
          <a:p>
            <a:pPr>
              <a:spcBef>
                <a:spcPts val="600"/>
              </a:spcBef>
              <a:spcAft>
                <a:spcPts val="800"/>
              </a:spcAft>
            </a:pPr>
            <a:r>
              <a:rPr lang="en-AU" sz="2200" dirty="0" smtClean="0">
                <a:latin typeface="Helvetica" pitchFamily="34" charset="0"/>
              </a:rPr>
              <a:t>Wash hands using the standard procedure</a:t>
            </a:r>
            <a:endParaRPr lang="en-US" sz="2200" dirty="0" smtClean="0">
              <a:latin typeface="Helvetica" pitchFamily="34" charset="0"/>
            </a:endParaRPr>
          </a:p>
          <a:p>
            <a:pPr marL="360000" indent="-360000">
              <a:spcBef>
                <a:spcPts val="600"/>
              </a:spcBef>
              <a:spcAft>
                <a:spcPts val="800"/>
              </a:spcAft>
            </a:pPr>
            <a:r>
              <a:rPr lang="en-US" sz="2200" dirty="0" smtClean="0">
                <a:latin typeface="Helvetica" pitchFamily="34" charset="0"/>
              </a:rPr>
              <a:t>Avoid touching cooked or ready-to-eat food                               with bare hands</a:t>
            </a:r>
          </a:p>
          <a:p>
            <a:pPr marL="360000" indent="-360000">
              <a:spcBef>
                <a:spcPts val="600"/>
              </a:spcBef>
              <a:spcAft>
                <a:spcPts val="800"/>
              </a:spcAft>
            </a:pPr>
            <a:r>
              <a:rPr lang="en-US" sz="2200" dirty="0" smtClean="0">
                <a:latin typeface="Helvetica" pitchFamily="34" charset="0"/>
              </a:rPr>
              <a:t>Avoid touching food surfaces with bare hands</a:t>
            </a:r>
          </a:p>
          <a:p>
            <a:pPr marL="360000" indent="-360000">
              <a:spcBef>
                <a:spcPts val="600"/>
              </a:spcBef>
              <a:spcAft>
                <a:spcPts val="800"/>
              </a:spcAft>
            </a:pPr>
            <a:r>
              <a:rPr lang="en-US" sz="2200" dirty="0" smtClean="0">
                <a:latin typeface="Helvetica" pitchFamily="34" charset="0"/>
              </a:rPr>
              <a:t>Do not wear jewellery on hands or wrists</a:t>
            </a:r>
          </a:p>
          <a:p>
            <a:pPr marL="360000" indent="-360000">
              <a:spcBef>
                <a:spcPts val="600"/>
              </a:spcBef>
              <a:spcAft>
                <a:spcPts val="800"/>
              </a:spcAft>
            </a:pPr>
            <a:r>
              <a:rPr lang="en-US" sz="2200" dirty="0" smtClean="0">
                <a:latin typeface="Helvetica" pitchFamily="34" charset="0"/>
              </a:rPr>
              <a:t>No wearing of wrist watch on duty</a:t>
            </a:r>
          </a:p>
          <a:p>
            <a:pPr marL="360000" indent="-360000">
              <a:spcBef>
                <a:spcPts val="600"/>
              </a:spcBef>
              <a:spcAft>
                <a:spcPts val="800"/>
              </a:spcAft>
            </a:pPr>
            <a:r>
              <a:rPr lang="en-US" sz="2200" dirty="0" smtClean="0">
                <a:latin typeface="Helvetica" pitchFamily="34" charset="0"/>
              </a:rPr>
              <a:t>Control facial hair</a:t>
            </a:r>
          </a:p>
          <a:p>
            <a:pPr marL="360000" indent="-360000">
              <a:spcBef>
                <a:spcPts val="600"/>
              </a:spcBef>
              <a:spcAft>
                <a:spcPts val="800"/>
              </a:spcAft>
              <a:buNone/>
            </a:pPr>
            <a:r>
              <a:rPr lang="en-US" sz="2200" i="1" dirty="0" smtClean="0">
                <a:latin typeface="Helvetica" pitchFamily="34" charset="0"/>
              </a:rPr>
              <a:t>(Continued)</a:t>
            </a:r>
          </a:p>
          <a:p>
            <a:pPr marL="360000" indent="-360000">
              <a:spcBef>
                <a:spcPts val="600"/>
              </a:spcBef>
              <a:spcAft>
                <a:spcPts val="8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descr="C:\Documents and Settings\danielc\Desktop\Apply safety proc handling food images\vwa-manual-handling-food-cover.png"/>
          <p:cNvPicPr/>
          <p:nvPr/>
        </p:nvPicPr>
        <p:blipFill>
          <a:blip r:embed="rId3" cstate="print"/>
          <a:srcRect l="33506" t="22414" r="6145" b="30029"/>
          <a:stretch>
            <a:fillRect/>
          </a:stretch>
        </p:blipFill>
        <p:spPr bwMode="auto">
          <a:xfrm>
            <a:off x="6976533" y="3809999"/>
            <a:ext cx="1489116" cy="163879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required personal hygiene practices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2243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Have short, clean fingernails</a:t>
            </a:r>
          </a:p>
          <a:p>
            <a:pPr marL="360000" indent="-360000">
              <a:spcBef>
                <a:spcPts val="600"/>
              </a:spcBef>
              <a:spcAft>
                <a:spcPts val="1200"/>
              </a:spcAft>
            </a:pPr>
            <a:r>
              <a:rPr lang="en-US" sz="2200" dirty="0" smtClean="0">
                <a:latin typeface="Helvetica" pitchFamily="34" charset="0"/>
              </a:rPr>
              <a:t>Wear clean clothes</a:t>
            </a:r>
          </a:p>
          <a:p>
            <a:pPr marL="360000" indent="-360000">
              <a:spcBef>
                <a:spcPts val="600"/>
              </a:spcBef>
              <a:spcAft>
                <a:spcPts val="1200"/>
              </a:spcAft>
            </a:pPr>
            <a:r>
              <a:rPr lang="en-US" sz="2200" dirty="0" smtClean="0">
                <a:latin typeface="Helvetica" pitchFamily="34" charset="0"/>
              </a:rPr>
              <a:t>No smoking or betel in food areas</a:t>
            </a:r>
          </a:p>
          <a:p>
            <a:pPr marL="360000" indent="-360000">
              <a:spcBef>
                <a:spcPts val="600"/>
              </a:spcBef>
              <a:spcAft>
                <a:spcPts val="1200"/>
              </a:spcAft>
            </a:pPr>
            <a:r>
              <a:rPr lang="en-US" sz="2200" dirty="0" smtClean="0">
                <a:latin typeface="Helvetica" pitchFamily="34" charset="0"/>
              </a:rPr>
              <a:t>Stay away from work when ill</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1026" name="Picture 2" descr="C:\Documents and Settings\danielc\Desktop\Apply safety proc handling food images\freeimage-4762793.jpg"/>
          <p:cNvPicPr>
            <a:picLocks noChangeAspect="1" noChangeArrowheads="1"/>
          </p:cNvPicPr>
          <p:nvPr/>
        </p:nvPicPr>
        <p:blipFill>
          <a:blip r:embed="rId3" cstate="print"/>
          <a:srcRect l="17691" t="7346" r="17209" b="8024"/>
          <a:stretch>
            <a:fillRect/>
          </a:stretch>
        </p:blipFill>
        <p:spPr bwMode="auto">
          <a:xfrm>
            <a:off x="5715000" y="1828800"/>
            <a:ext cx="2145323" cy="185928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required personal hygiene practices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64623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Doctor’s certificate required to return to work after suffering a communicable disease</a:t>
            </a:r>
          </a:p>
          <a:p>
            <a:pPr marL="360000" indent="-360000">
              <a:spcBef>
                <a:spcPts val="600"/>
              </a:spcBef>
              <a:spcAft>
                <a:spcPts val="1200"/>
              </a:spcAft>
            </a:pPr>
            <a:r>
              <a:rPr lang="en-US" sz="2200" dirty="0" smtClean="0">
                <a:latin typeface="Helvetica" pitchFamily="34" charset="0"/>
              </a:rPr>
              <a:t>No spitting in food areas</a:t>
            </a:r>
          </a:p>
          <a:p>
            <a:pPr marL="360000" indent="-360000">
              <a:spcBef>
                <a:spcPts val="600"/>
              </a:spcBef>
              <a:spcAft>
                <a:spcPts val="1200"/>
              </a:spcAft>
            </a:pPr>
            <a:r>
              <a:rPr lang="en-US" sz="2200" dirty="0" smtClean="0">
                <a:latin typeface="Helvetica" pitchFamily="34" charset="0"/>
              </a:rPr>
              <a:t>Do not taste food with spoon and replace </a:t>
            </a:r>
            <a:br>
              <a:rPr lang="en-US" sz="2200" dirty="0" smtClean="0">
                <a:latin typeface="Helvetica" pitchFamily="34" charset="0"/>
              </a:rPr>
            </a:br>
            <a:r>
              <a:rPr lang="en-US" sz="2200" dirty="0" smtClean="0">
                <a:latin typeface="Helvetica" pitchFamily="34" charset="0"/>
              </a:rPr>
              <a:t>spoon into food</a:t>
            </a:r>
          </a:p>
          <a:p>
            <a:pPr marL="360000" indent="-360000">
              <a:spcBef>
                <a:spcPts val="600"/>
              </a:spcBef>
              <a:spcAft>
                <a:spcPts val="1200"/>
              </a:spcAft>
            </a:pPr>
            <a:r>
              <a:rPr lang="en-US" sz="2200" dirty="0" smtClean="0">
                <a:latin typeface="Helvetica" pitchFamily="34" charset="0"/>
              </a:rPr>
              <a:t>Consider wearing a sweat band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2050" name="Picture 2" descr="C:\Documents and Settings\danielc\Desktop\Apply safety proc handling food images\863719_spit1.jpg"/>
          <p:cNvPicPr>
            <a:picLocks noChangeAspect="1" noChangeArrowheads="1"/>
          </p:cNvPicPr>
          <p:nvPr/>
        </p:nvPicPr>
        <p:blipFill>
          <a:blip r:embed="rId3" cstate="print"/>
          <a:srcRect/>
          <a:stretch>
            <a:fillRect/>
          </a:stretch>
        </p:blipFill>
        <p:spPr bwMode="auto">
          <a:xfrm>
            <a:off x="6096000" y="2590800"/>
            <a:ext cx="2187575" cy="1640681"/>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required personal hygiene practices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72243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Cover cuts and sores on hands and fingers</a:t>
            </a:r>
          </a:p>
          <a:p>
            <a:pPr marL="360000" indent="-360000">
              <a:spcBef>
                <a:spcPts val="600"/>
              </a:spcBef>
              <a:spcAft>
                <a:spcPts val="1200"/>
              </a:spcAft>
            </a:pPr>
            <a:r>
              <a:rPr lang="en-US" sz="2200" dirty="0" smtClean="0">
                <a:latin typeface="Helvetica" pitchFamily="34" charset="0"/>
              </a:rPr>
              <a:t>Do not blow into a bag with your breath </a:t>
            </a:r>
            <a:br>
              <a:rPr lang="en-US" sz="2200" dirty="0" smtClean="0">
                <a:latin typeface="Helvetica" pitchFamily="34" charset="0"/>
              </a:rPr>
            </a:br>
            <a:r>
              <a:rPr lang="en-US" sz="2200" dirty="0" smtClean="0">
                <a:latin typeface="Helvetica" pitchFamily="34" charset="0"/>
              </a:rPr>
              <a:t>(to open the bag)</a:t>
            </a:r>
          </a:p>
          <a:p>
            <a:pPr marL="360000" indent="-360000">
              <a:spcBef>
                <a:spcPts val="600"/>
              </a:spcBef>
              <a:spcAft>
                <a:spcPts val="1200"/>
              </a:spcAft>
            </a:pPr>
            <a:r>
              <a:rPr lang="en-US" sz="2200" dirty="0" smtClean="0">
                <a:latin typeface="Helvetica" pitchFamily="34" charset="0"/>
              </a:rPr>
              <a:t>Do not lick your fingers to separate </a:t>
            </a:r>
            <a:br>
              <a:rPr lang="en-US" sz="2200" dirty="0" smtClean="0">
                <a:latin typeface="Helvetica" pitchFamily="34" charset="0"/>
              </a:rPr>
            </a:br>
            <a:r>
              <a:rPr lang="en-US" sz="2200" dirty="0" smtClean="0">
                <a:latin typeface="Helvetica" pitchFamily="34" charset="0"/>
              </a:rPr>
              <a:t>wrapping paper for food</a:t>
            </a:r>
          </a:p>
          <a:p>
            <a:pPr marL="360000" indent="-360000">
              <a:spcBef>
                <a:spcPts val="600"/>
              </a:spcBef>
              <a:spcAft>
                <a:spcPts val="1200"/>
              </a:spcAft>
            </a:pPr>
            <a:r>
              <a:rPr lang="en-US" sz="2200" dirty="0" smtClean="0">
                <a:latin typeface="Helvetica" pitchFamily="34" charset="0"/>
              </a:rPr>
              <a:t>Do not touch any body opening</a:t>
            </a:r>
          </a:p>
          <a:p>
            <a:pPr marL="360000" indent="-360000">
              <a:spcBef>
                <a:spcPts val="600"/>
              </a:spcBef>
              <a:spcAft>
                <a:spcPts val="1200"/>
              </a:spcAft>
            </a:pPr>
            <a:r>
              <a:rPr lang="en-US" sz="2200" dirty="0" smtClean="0">
                <a:latin typeface="Helvetica" pitchFamily="34" charset="0"/>
              </a:rPr>
              <a:t>Wash hands properly when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3074" name="Picture 2" descr="I:\Overseas Projects\PHOTOS\2011\coloured band-aids.jpg"/>
          <p:cNvPicPr>
            <a:picLocks noChangeAspect="1" noChangeArrowheads="1"/>
          </p:cNvPicPr>
          <p:nvPr/>
        </p:nvPicPr>
        <p:blipFill>
          <a:blip r:embed="rId3" cstate="print"/>
          <a:srcRect/>
          <a:stretch>
            <a:fillRect/>
          </a:stretch>
        </p:blipFill>
        <p:spPr bwMode="auto">
          <a:xfrm>
            <a:off x="5981861" y="2362200"/>
            <a:ext cx="2369027" cy="23622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required personal hygiene practices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87483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Eating food in food preparation areas:</a:t>
            </a:r>
          </a:p>
          <a:p>
            <a:pPr marL="360000" indent="-360000">
              <a:spcBef>
                <a:spcPts val="600"/>
              </a:spcBef>
              <a:spcAft>
                <a:spcPts val="1200"/>
              </a:spcAft>
            </a:pPr>
            <a:r>
              <a:rPr lang="en-US" sz="2200" dirty="0" smtClean="0">
                <a:latin typeface="Helvetica" pitchFamily="34" charset="0"/>
              </a:rPr>
              <a:t>Do not eat food over or above unprotected </a:t>
            </a:r>
            <a:br>
              <a:rPr lang="en-US" sz="2200" dirty="0" smtClean="0">
                <a:latin typeface="Helvetica" pitchFamily="34" charset="0"/>
              </a:rPr>
            </a:br>
            <a:r>
              <a:rPr lang="en-US" sz="2200" dirty="0" smtClean="0">
                <a:latin typeface="Helvetica" pitchFamily="34" charset="0"/>
              </a:rPr>
              <a:t>surfaces</a:t>
            </a:r>
          </a:p>
          <a:p>
            <a:pPr marL="360000" indent="-360000">
              <a:spcBef>
                <a:spcPts val="600"/>
              </a:spcBef>
              <a:spcAft>
                <a:spcPts val="1200"/>
              </a:spcAft>
            </a:pPr>
            <a:r>
              <a:rPr lang="en-US" sz="2200" dirty="0" smtClean="0">
                <a:latin typeface="Helvetica" pitchFamily="34" charset="0"/>
              </a:rPr>
              <a:t>Do not eat food over or above unprotected food</a:t>
            </a:r>
          </a:p>
          <a:p>
            <a:pPr marL="360000" indent="-360000">
              <a:spcBef>
                <a:spcPts val="600"/>
              </a:spcBef>
              <a:spcAft>
                <a:spcPts val="1200"/>
              </a:spcAft>
            </a:pPr>
            <a:r>
              <a:rPr lang="en-US" sz="2200" dirty="0" smtClean="0">
                <a:latin typeface="Helvetica" pitchFamily="34" charset="0"/>
              </a:rPr>
              <a:t>House policies may ban eating food in food </a:t>
            </a:r>
            <a:br>
              <a:rPr lang="en-US" sz="2200" dirty="0" smtClean="0">
                <a:latin typeface="Helvetica" pitchFamily="34" charset="0"/>
              </a:rPr>
            </a:br>
            <a:r>
              <a:rPr lang="en-US" sz="2200" dirty="0" smtClean="0">
                <a:latin typeface="Helvetica" pitchFamily="34" charset="0"/>
              </a:rPr>
              <a:t>prep areas</a:t>
            </a:r>
          </a:p>
          <a:p>
            <a:pPr marL="360000" indent="-360000">
              <a:spcBef>
                <a:spcPts val="600"/>
              </a:spcBef>
              <a:spcAft>
                <a:spcPts val="1200"/>
              </a:spcAft>
            </a:pPr>
            <a:r>
              <a:rPr lang="en-US" sz="2200" dirty="0" smtClean="0">
                <a:latin typeface="Helvetica" pitchFamily="34" charset="0"/>
              </a:rPr>
              <a:t>House policies may ban all people eating food over or above unprotected surfaces or food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4098" name="Picture 2" descr="C:\Documents and Settings\danielc\Desktop\Apply safety proc handling food images\freeimage-1782144.jpg"/>
          <p:cNvPicPr>
            <a:picLocks noChangeAspect="1" noChangeArrowheads="1"/>
          </p:cNvPicPr>
          <p:nvPr/>
        </p:nvPicPr>
        <p:blipFill>
          <a:blip r:embed="rId3" cstate="print"/>
          <a:srcRect/>
          <a:stretch>
            <a:fillRect/>
          </a:stretch>
        </p:blipFill>
        <p:spPr bwMode="auto">
          <a:xfrm>
            <a:off x="6553108" y="1524000"/>
            <a:ext cx="2057492" cy="1371600"/>
          </a:xfrm>
          <a:prstGeom prst="rect">
            <a:avLst/>
          </a:prstGeom>
          <a:noFill/>
        </p:spPr>
      </p:pic>
      <p:sp>
        <p:nvSpPr>
          <p:cNvPr id="6" name="Cross 5"/>
          <p:cNvSpPr/>
          <p:nvPr/>
        </p:nvSpPr>
        <p:spPr>
          <a:xfrm rot="18803081">
            <a:off x="7564761" y="2383162"/>
            <a:ext cx="838200" cy="838200"/>
          </a:xfrm>
          <a:prstGeom prst="plus">
            <a:avLst>
              <a:gd name="adj" fmla="val 346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required personal hygiene practices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Action to take:</a:t>
            </a:r>
          </a:p>
          <a:p>
            <a:pPr marL="360000" indent="-360000">
              <a:spcBef>
                <a:spcPts val="600"/>
              </a:spcBef>
              <a:spcAft>
                <a:spcPts val="1200"/>
              </a:spcAft>
            </a:pPr>
            <a:r>
              <a:rPr lang="en-US" sz="2200" dirty="0" smtClean="0">
                <a:latin typeface="Helvetica" pitchFamily="34" charset="0"/>
              </a:rPr>
              <a:t>If a food surface is </a:t>
            </a:r>
            <a:r>
              <a:rPr lang="en-US" sz="2200" b="1" dirty="0" smtClean="0">
                <a:latin typeface="Helvetica" pitchFamily="34" charset="0"/>
              </a:rPr>
              <a:t>known or suspected </a:t>
            </a:r>
            <a:r>
              <a:rPr lang="en-US" sz="2200" dirty="0" smtClean="0">
                <a:latin typeface="Helvetica" pitchFamily="34" charset="0"/>
              </a:rPr>
              <a:t>of being contaminated it must be </a:t>
            </a:r>
            <a:r>
              <a:rPr lang="en-US" sz="2200" b="1" dirty="0" smtClean="0">
                <a:latin typeface="Helvetica" pitchFamily="34" charset="0"/>
              </a:rPr>
              <a:t>cleaned and sanitised</a:t>
            </a:r>
          </a:p>
          <a:p>
            <a:pPr marL="360000" indent="-360000">
              <a:spcBef>
                <a:spcPts val="600"/>
              </a:spcBef>
              <a:spcAft>
                <a:spcPts val="1200"/>
              </a:spcAft>
            </a:pPr>
            <a:r>
              <a:rPr lang="en-US" sz="2200" dirty="0" smtClean="0">
                <a:latin typeface="Helvetica" pitchFamily="34" charset="0"/>
              </a:rPr>
              <a:t>If food is </a:t>
            </a:r>
            <a:r>
              <a:rPr lang="en-US" sz="2200" b="1" dirty="0" smtClean="0">
                <a:latin typeface="Helvetica" pitchFamily="34" charset="0"/>
              </a:rPr>
              <a:t>known or suspected </a:t>
            </a:r>
            <a:r>
              <a:rPr lang="en-US" sz="2200" dirty="0" smtClean="0">
                <a:latin typeface="Helvetica" pitchFamily="34" charset="0"/>
              </a:rPr>
              <a:t>of being contaminated it must be </a:t>
            </a:r>
            <a:r>
              <a:rPr lang="en-US" sz="2200" b="1" dirty="0" smtClean="0">
                <a:latin typeface="Helvetica" pitchFamily="34" charset="0"/>
              </a:rPr>
              <a:t>thrown out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5122" name="Picture 2" descr="C:\Documents and Settings\danielc\Desktop\Apply safety proc handling food images\1091783_washing_spray_2.jpg"/>
          <p:cNvPicPr>
            <a:picLocks noChangeAspect="1" noChangeArrowheads="1"/>
          </p:cNvPicPr>
          <p:nvPr/>
        </p:nvPicPr>
        <p:blipFill>
          <a:blip r:embed="rId3" cstate="print"/>
          <a:srcRect/>
          <a:stretch>
            <a:fillRect/>
          </a:stretch>
        </p:blipFill>
        <p:spPr bwMode="auto">
          <a:xfrm>
            <a:off x="4114800" y="3733800"/>
            <a:ext cx="1303020" cy="22860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required personal hygiene practices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Food handlers must wash hands:</a:t>
            </a:r>
          </a:p>
          <a:p>
            <a:pPr marL="360000" indent="-360000">
              <a:spcBef>
                <a:spcPts val="600"/>
              </a:spcBef>
              <a:spcAft>
                <a:spcPts val="1200"/>
              </a:spcAft>
            </a:pPr>
            <a:r>
              <a:rPr lang="en-US" sz="2200" dirty="0" smtClean="0">
                <a:latin typeface="Helvetica" pitchFamily="34" charset="0"/>
              </a:rPr>
              <a:t>Any time they may be a source of contamination:</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After handling garbage, animals or money</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After undertaking cleaning duties</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After taking delivery of food</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In between handling raw and </a:t>
            </a:r>
            <a:br>
              <a:rPr lang="en-US" sz="2200" dirty="0" smtClean="0">
                <a:latin typeface="Helvetica" pitchFamily="34" charset="0"/>
              </a:rPr>
            </a:br>
            <a:r>
              <a:rPr lang="en-US" sz="2200" dirty="0" smtClean="0">
                <a:latin typeface="Helvetica" pitchFamily="34" charset="0"/>
              </a:rPr>
              <a:t>cooked or ready-to-eat food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6146" name="Picture 2" descr="I:\Overseas Projects\PHOTOS\2012\Culinary 2011\Image Follow Safe Hygiene and Food Handling Procedures\DSC_0076.jpg"/>
          <p:cNvPicPr>
            <a:picLocks noChangeAspect="1" noChangeArrowheads="1"/>
          </p:cNvPicPr>
          <p:nvPr/>
        </p:nvPicPr>
        <p:blipFill>
          <a:blip r:embed="rId3" cstate="print"/>
          <a:srcRect/>
          <a:stretch>
            <a:fillRect/>
          </a:stretch>
        </p:blipFill>
        <p:spPr bwMode="auto">
          <a:xfrm>
            <a:off x="5943600" y="3810000"/>
            <a:ext cx="2523586" cy="16764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required personal hygiene practices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752600"/>
            <a:ext cx="7467600" cy="4525963"/>
          </a:xfrm>
        </p:spPr>
        <p:txBody>
          <a:bodyPr>
            <a:normAutofit lnSpcReduction="10000"/>
          </a:bodyPr>
          <a:lstStyle/>
          <a:p>
            <a:pPr marL="360000" indent="-360000">
              <a:spcBef>
                <a:spcPts val="600"/>
              </a:spcBef>
              <a:spcAft>
                <a:spcPts val="1200"/>
              </a:spcAft>
            </a:pPr>
            <a:r>
              <a:rPr lang="en-US" sz="2200" dirty="0" smtClean="0">
                <a:latin typeface="Helvetica" pitchFamily="34" charset="0"/>
              </a:rPr>
              <a:t>Before they start work</a:t>
            </a:r>
          </a:p>
          <a:p>
            <a:pPr marL="360000" indent="-360000">
              <a:spcBef>
                <a:spcPts val="600"/>
              </a:spcBef>
              <a:spcAft>
                <a:spcPts val="1200"/>
              </a:spcAft>
            </a:pPr>
            <a:r>
              <a:rPr lang="en-US" sz="2200" dirty="0" smtClean="0">
                <a:latin typeface="Helvetica" pitchFamily="34" charset="0"/>
              </a:rPr>
              <a:t>Immediately after:</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Smoking</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Coughing or sneezing</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Using handkerchief or tissue</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Eating or drinking</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Touching the body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7170" name="Picture 2" descr="C:\Documents and Settings\danielc\Desktop\Apply safety proc handling food images\330422_hand_sanitizer.jpg"/>
          <p:cNvPicPr>
            <a:picLocks noChangeAspect="1" noChangeArrowheads="1"/>
          </p:cNvPicPr>
          <p:nvPr/>
        </p:nvPicPr>
        <p:blipFill>
          <a:blip r:embed="rId3" cstate="print"/>
          <a:srcRect/>
          <a:stretch>
            <a:fillRect/>
          </a:stretch>
        </p:blipFill>
        <p:spPr bwMode="auto">
          <a:xfrm>
            <a:off x="6096000" y="2590800"/>
            <a:ext cx="990600" cy="1880886"/>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required personal hygiene practices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722437"/>
            <a:ext cx="7541840" cy="4525963"/>
          </a:xfrm>
        </p:spPr>
        <p:txBody>
          <a:bodyPr>
            <a:normAutofit/>
          </a:bodyPr>
          <a:lstStyle/>
          <a:p>
            <a:pPr marL="360000" indent="-360000">
              <a:spcBef>
                <a:spcPts val="600"/>
              </a:spcBef>
              <a:spcAft>
                <a:spcPts val="1200"/>
              </a:spcAft>
            </a:pPr>
            <a:r>
              <a:rPr lang="en-US" sz="2200" dirty="0" smtClean="0">
                <a:latin typeface="Helvetica" pitchFamily="34" charset="0"/>
              </a:rPr>
              <a:t>After any ‘absence from the workstation’ – for example:</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Taking a delivery</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Answering the telephone</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Undertaking any work which is </a:t>
            </a:r>
            <a:br>
              <a:rPr lang="en-US" sz="2200" dirty="0" smtClean="0">
                <a:latin typeface="Helvetica" pitchFamily="34" charset="0"/>
              </a:rPr>
            </a:br>
            <a:r>
              <a:rPr lang="en-US" sz="2200" dirty="0" smtClean="0">
                <a:latin typeface="Helvetica" pitchFamily="34" charset="0"/>
              </a:rPr>
              <a:t>not food handling</a:t>
            </a:r>
          </a:p>
          <a:p>
            <a:pPr marL="360000" indent="-360000">
              <a:spcBef>
                <a:spcPts val="600"/>
              </a:spcBef>
              <a:spcAft>
                <a:spcPts val="1200"/>
              </a:spcAft>
            </a:pPr>
            <a:r>
              <a:rPr lang="en-US" sz="2200" dirty="0" smtClean="0">
                <a:latin typeface="Helvetica" pitchFamily="34" charset="0"/>
              </a:rPr>
              <a:t>After using the toilet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8194" name="Picture 2" descr="I:\Overseas Projects\PHOTOS\2012\Culinary 2011\Image Follow Safe Hygiene and Food Handling Procedures\handwash 1.jpg"/>
          <p:cNvPicPr>
            <a:picLocks noChangeAspect="1" noChangeArrowheads="1"/>
          </p:cNvPicPr>
          <p:nvPr/>
        </p:nvPicPr>
        <p:blipFill>
          <a:blip r:embed="rId3" cstate="print"/>
          <a:srcRect/>
          <a:stretch>
            <a:fillRect/>
          </a:stretch>
        </p:blipFill>
        <p:spPr bwMode="auto">
          <a:xfrm>
            <a:off x="5638800" y="2514600"/>
            <a:ext cx="2630240" cy="1752600"/>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required personal hygiene practices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94240" cy="4525963"/>
          </a:xfrm>
        </p:spPr>
        <p:txBody>
          <a:bodyPr>
            <a:noAutofit/>
          </a:bodyPr>
          <a:lstStyle/>
          <a:p>
            <a:pPr marL="0" indent="0">
              <a:spcBef>
                <a:spcPts val="600"/>
              </a:spcBef>
              <a:spcAft>
                <a:spcPts val="1200"/>
              </a:spcAft>
              <a:buNone/>
            </a:pPr>
            <a:r>
              <a:rPr lang="en-US" sz="2200" dirty="0" smtClean="0">
                <a:latin typeface="Helvetica" pitchFamily="34" charset="0"/>
              </a:rPr>
              <a:t>Regulations regarding hand washing facilities:</a:t>
            </a:r>
          </a:p>
          <a:p>
            <a:pPr marL="360000" indent="-360000">
              <a:spcBef>
                <a:spcPts val="600"/>
              </a:spcBef>
              <a:spcAft>
                <a:spcPts val="1200"/>
              </a:spcAft>
            </a:pPr>
            <a:r>
              <a:rPr lang="en-US" sz="2200" dirty="0" smtClean="0">
                <a:latin typeface="Helvetica" pitchFamily="34" charset="0"/>
              </a:rPr>
              <a:t>Must be supplied with hot water and soap</a:t>
            </a:r>
          </a:p>
          <a:p>
            <a:pPr marL="360000" indent="-360000">
              <a:spcBef>
                <a:spcPts val="600"/>
              </a:spcBef>
              <a:spcAft>
                <a:spcPts val="1200"/>
              </a:spcAft>
            </a:pPr>
            <a:r>
              <a:rPr lang="en-US" sz="2200" dirty="0" smtClean="0">
                <a:latin typeface="Helvetica" pitchFamily="34" charset="0"/>
              </a:rPr>
              <a:t>Should have a nail brush</a:t>
            </a:r>
          </a:p>
          <a:p>
            <a:pPr marL="360000" indent="-360000">
              <a:spcBef>
                <a:spcPts val="600"/>
              </a:spcBef>
              <a:spcAft>
                <a:spcPts val="1200"/>
              </a:spcAft>
            </a:pPr>
            <a:r>
              <a:rPr lang="en-US" sz="2200" dirty="0" smtClean="0">
                <a:latin typeface="Helvetica" pitchFamily="34" charset="0"/>
              </a:rPr>
              <a:t>Sinks or basins for hand washing must not </a:t>
            </a:r>
            <a:br>
              <a:rPr lang="en-US" sz="2200" dirty="0" smtClean="0">
                <a:latin typeface="Helvetica" pitchFamily="34" charset="0"/>
              </a:rPr>
            </a:br>
            <a:r>
              <a:rPr lang="en-US" sz="2200" dirty="0" smtClean="0">
                <a:latin typeface="Helvetica" pitchFamily="34" charset="0"/>
              </a:rPr>
              <a:t>be used for food</a:t>
            </a:r>
          </a:p>
          <a:p>
            <a:pPr marL="360000" indent="-360000">
              <a:spcBef>
                <a:spcPts val="600"/>
              </a:spcBef>
              <a:spcAft>
                <a:spcPts val="1200"/>
              </a:spcAft>
            </a:pPr>
            <a:r>
              <a:rPr lang="en-US" sz="2200" dirty="0" smtClean="0">
                <a:latin typeface="Helvetica" pitchFamily="34" charset="0"/>
              </a:rPr>
              <a:t>Food sinks must not be used for hand washing</a:t>
            </a:r>
          </a:p>
          <a:p>
            <a:pPr marL="360000" indent="-360000">
              <a:spcBef>
                <a:spcPts val="600"/>
              </a:spcBef>
              <a:spcAft>
                <a:spcPts val="1200"/>
              </a:spcAft>
            </a:pPr>
            <a:r>
              <a:rPr lang="en-US" sz="2200" dirty="0" smtClean="0">
                <a:latin typeface="Helvetica" pitchFamily="34" charset="0"/>
              </a:rPr>
              <a:t>Should be an adequate size</a:t>
            </a:r>
          </a:p>
          <a:p>
            <a:pPr marL="360000" indent="-360000">
              <a:spcBef>
                <a:spcPts val="600"/>
              </a:spcBef>
              <a:spcAft>
                <a:spcPts val="1200"/>
              </a:spcAft>
            </a:pPr>
            <a:r>
              <a:rPr lang="en-US" sz="2200" dirty="0" smtClean="0">
                <a:latin typeface="Helvetica" pitchFamily="34" charset="0"/>
              </a:rPr>
              <a:t>Must have proper hand drying facilities</a:t>
            </a:r>
          </a:p>
          <a:p>
            <a:pPr marL="360000" indent="-360000">
              <a:spcBef>
                <a:spcPts val="600"/>
              </a:spcBef>
              <a:spcAft>
                <a:spcPts val="1200"/>
              </a:spcAft>
            </a:pPr>
            <a:r>
              <a:rPr lang="en-US" sz="2200" dirty="0" smtClean="0">
                <a:latin typeface="Helvetica" pitchFamily="34" charset="0"/>
              </a:rPr>
              <a:t>Have a waste bin provided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9218" name="Picture 2" descr="C:\Documents and Settings\danielc\Desktop\Apply safety proc handling food images\679507_hand_dryers.jpg"/>
          <p:cNvPicPr>
            <a:picLocks noChangeAspect="1" noChangeArrowheads="1"/>
          </p:cNvPicPr>
          <p:nvPr/>
        </p:nvPicPr>
        <p:blipFill>
          <a:blip r:embed="rId3" cstate="print"/>
          <a:srcRect/>
          <a:stretch>
            <a:fillRect/>
          </a:stretch>
        </p:blipFill>
        <p:spPr bwMode="auto">
          <a:xfrm>
            <a:off x="6629400" y="2590800"/>
            <a:ext cx="2160896" cy="14478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required personal hygiene practices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Procedure for hand washing:</a:t>
            </a:r>
          </a:p>
          <a:p>
            <a:pPr marL="360000" indent="-360000">
              <a:spcBef>
                <a:spcPts val="600"/>
              </a:spcBef>
              <a:spcAft>
                <a:spcPts val="1200"/>
              </a:spcAft>
            </a:pPr>
            <a:r>
              <a:rPr lang="en-US" sz="2200" dirty="0" smtClean="0">
                <a:latin typeface="Helvetica" pitchFamily="34" charset="0"/>
              </a:rPr>
              <a:t>Rinse off visible dirt</a:t>
            </a:r>
          </a:p>
          <a:p>
            <a:pPr marL="360000" indent="-360000">
              <a:spcBef>
                <a:spcPts val="600"/>
              </a:spcBef>
              <a:spcAft>
                <a:spcPts val="1200"/>
              </a:spcAft>
            </a:pPr>
            <a:r>
              <a:rPr lang="en-US" sz="2200" dirty="0" smtClean="0">
                <a:latin typeface="Helvetica" pitchFamily="34" charset="0"/>
              </a:rPr>
              <a:t>Apply soap</a:t>
            </a:r>
          </a:p>
          <a:p>
            <a:pPr marL="360000" indent="-360000">
              <a:spcBef>
                <a:spcPts val="600"/>
              </a:spcBef>
              <a:spcAft>
                <a:spcPts val="1200"/>
              </a:spcAft>
            </a:pPr>
            <a:r>
              <a:rPr lang="en-US" sz="2200" dirty="0" smtClean="0">
                <a:latin typeface="Helvetica" pitchFamily="34" charset="0"/>
              </a:rPr>
              <a:t>Wash for 20 seconds</a:t>
            </a:r>
          </a:p>
          <a:p>
            <a:pPr marL="360000" indent="-360000">
              <a:spcBef>
                <a:spcPts val="600"/>
              </a:spcBef>
              <a:spcAft>
                <a:spcPts val="1200"/>
              </a:spcAft>
            </a:pPr>
            <a:r>
              <a:rPr lang="en-US" sz="2200" dirty="0" smtClean="0">
                <a:latin typeface="Helvetica" pitchFamily="34" charset="0"/>
              </a:rPr>
              <a:t>Rinse</a:t>
            </a:r>
          </a:p>
          <a:p>
            <a:pPr marL="360000" indent="-360000">
              <a:spcBef>
                <a:spcPts val="600"/>
              </a:spcBef>
              <a:spcAft>
                <a:spcPts val="1200"/>
              </a:spcAft>
            </a:pPr>
            <a:r>
              <a:rPr lang="en-US" sz="2200" dirty="0" smtClean="0">
                <a:latin typeface="Helvetica" pitchFamily="34" charset="0"/>
              </a:rPr>
              <a:t>Dry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10242" name="Picture 2" descr="I:\Overseas Projects\PHOTOS\2012\Culinary 2011\Image Follow Safe Hygiene and Food Handling Procedures\handwash 2.jpg"/>
          <p:cNvPicPr>
            <a:picLocks noChangeAspect="1" noChangeArrowheads="1"/>
          </p:cNvPicPr>
          <p:nvPr/>
        </p:nvPicPr>
        <p:blipFill>
          <a:blip r:embed="rId3" cstate="print"/>
          <a:srcRect/>
          <a:stretch>
            <a:fillRect/>
          </a:stretch>
        </p:blipFill>
        <p:spPr bwMode="auto">
          <a:xfrm>
            <a:off x="4953000" y="2286000"/>
            <a:ext cx="2515882" cy="16764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clothing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Clothing requirements for food handlers:</a:t>
            </a:r>
          </a:p>
          <a:p>
            <a:pPr marL="360000" indent="-360000">
              <a:spcBef>
                <a:spcPts val="600"/>
              </a:spcBef>
              <a:spcAft>
                <a:spcPts val="1200"/>
              </a:spcAft>
            </a:pPr>
            <a:r>
              <a:rPr lang="en-US" sz="2200" dirty="0" smtClean="0">
                <a:latin typeface="Helvetica" pitchFamily="34" charset="0"/>
              </a:rPr>
              <a:t>Must be clean</a:t>
            </a:r>
          </a:p>
          <a:p>
            <a:pPr marL="360000" indent="-360000">
              <a:spcBef>
                <a:spcPts val="600"/>
              </a:spcBef>
              <a:spcAft>
                <a:spcPts val="1200"/>
              </a:spcAft>
            </a:pPr>
            <a:r>
              <a:rPr lang="en-US" sz="2200" dirty="0" smtClean="0">
                <a:latin typeface="Helvetica" pitchFamily="34" charset="0"/>
              </a:rPr>
              <a:t>Does not provide a source of contamination</a:t>
            </a:r>
          </a:p>
          <a:p>
            <a:pPr marL="360000" indent="-360000">
              <a:spcBef>
                <a:spcPts val="600"/>
              </a:spcBef>
              <a:spcAft>
                <a:spcPts val="1200"/>
              </a:spcAft>
            </a:pPr>
            <a:r>
              <a:rPr lang="en-US" sz="2200" dirty="0" smtClean="0">
                <a:latin typeface="Helvetica" pitchFamily="34" charset="0"/>
              </a:rPr>
              <a:t>Must be changed when dirty</a:t>
            </a:r>
          </a:p>
          <a:p>
            <a:pPr marL="360000" indent="-360000">
              <a:spcBef>
                <a:spcPts val="600"/>
              </a:spcBef>
              <a:spcAft>
                <a:spcPts val="1200"/>
              </a:spcAft>
            </a:pPr>
            <a:r>
              <a:rPr lang="en-US" sz="2200" dirty="0" smtClean="0">
                <a:latin typeface="Helvetica" pitchFamily="34" charset="0"/>
              </a:rPr>
              <a:t>Protective clothing must be removed before </a:t>
            </a:r>
            <a:br>
              <a:rPr lang="en-US" sz="2200" dirty="0" smtClean="0">
                <a:latin typeface="Helvetica" pitchFamily="34" charset="0"/>
              </a:rPr>
            </a:br>
            <a:r>
              <a:rPr lang="en-US" sz="2200" dirty="0" smtClean="0">
                <a:latin typeface="Helvetica" pitchFamily="34" charset="0"/>
              </a:rPr>
              <a:t>visiting the toilet</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11266" name="Picture 2" descr="I:\Overseas Projects\PHOTOS\2012\Culinary 2011\Trial-a-Trade_001.jpg"/>
          <p:cNvPicPr>
            <a:picLocks noChangeAspect="1" noChangeArrowheads="1"/>
          </p:cNvPicPr>
          <p:nvPr/>
        </p:nvPicPr>
        <p:blipFill>
          <a:blip r:embed="rId3" cstate="print"/>
          <a:srcRect/>
          <a:stretch>
            <a:fillRect/>
          </a:stretch>
        </p:blipFill>
        <p:spPr bwMode="auto">
          <a:xfrm>
            <a:off x="6781800" y="2209800"/>
            <a:ext cx="1472452" cy="220980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clothing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Avoid loose-fitting clothes</a:t>
            </a:r>
          </a:p>
          <a:p>
            <a:pPr marL="360000" indent="-360000">
              <a:spcBef>
                <a:spcPts val="600"/>
              </a:spcBef>
              <a:spcAft>
                <a:spcPts val="1200"/>
              </a:spcAft>
            </a:pPr>
            <a:r>
              <a:rPr lang="en-US" sz="2200" dirty="0" smtClean="0">
                <a:latin typeface="Helvetica" pitchFamily="34" charset="0"/>
              </a:rPr>
              <a:t>Wear clean clothes daily</a:t>
            </a:r>
          </a:p>
          <a:p>
            <a:pPr marL="360000" indent="-360000">
              <a:spcBef>
                <a:spcPts val="600"/>
              </a:spcBef>
              <a:spcAft>
                <a:spcPts val="1200"/>
              </a:spcAft>
            </a:pPr>
            <a:r>
              <a:rPr lang="en-US" sz="2200" dirty="0" smtClean="0">
                <a:latin typeface="Helvetica" pitchFamily="34" charset="0"/>
              </a:rPr>
              <a:t>Have a change of clothes at work</a:t>
            </a:r>
          </a:p>
          <a:p>
            <a:pPr marL="360000" indent="-360000">
              <a:spcBef>
                <a:spcPts val="600"/>
              </a:spcBef>
              <a:spcAft>
                <a:spcPts val="1200"/>
              </a:spcAft>
            </a:pPr>
            <a:r>
              <a:rPr lang="en-US" sz="2200" dirty="0" smtClean="0">
                <a:latin typeface="Helvetica" pitchFamily="34" charset="0"/>
              </a:rPr>
              <a:t>Do not wear food handling clothes when going to and from work</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 name="Picture 4" descr="C:\Documents and Settings\danielc\Desktop\Apply safety proc handling food images\Safe-And-Clean-Resto.jpg"/>
          <p:cNvPicPr/>
          <p:nvPr/>
        </p:nvPicPr>
        <p:blipFill>
          <a:blip r:embed="rId3" cstate="print">
            <a:grayscl/>
          </a:blip>
          <a:srcRect l="2579" t="10694" r="2241" b="14343"/>
          <a:stretch>
            <a:fillRect/>
          </a:stretch>
        </p:blipFill>
        <p:spPr bwMode="auto">
          <a:xfrm>
            <a:off x="6324600" y="1295400"/>
            <a:ext cx="1376300" cy="172588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clothing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Wear an apron</a:t>
            </a:r>
          </a:p>
          <a:p>
            <a:pPr marL="360000" indent="-360000">
              <a:spcBef>
                <a:spcPts val="600"/>
              </a:spcBef>
              <a:spcAft>
                <a:spcPts val="1200"/>
              </a:spcAft>
            </a:pPr>
            <a:r>
              <a:rPr lang="en-US" sz="2200" dirty="0" smtClean="0">
                <a:latin typeface="Helvetica" pitchFamily="34" charset="0"/>
              </a:rPr>
              <a:t>Make sure buttons are not loose</a:t>
            </a:r>
          </a:p>
          <a:p>
            <a:pPr marL="360000" indent="-360000">
              <a:spcBef>
                <a:spcPts val="600"/>
              </a:spcBef>
              <a:spcAft>
                <a:spcPts val="1200"/>
              </a:spcAft>
            </a:pPr>
            <a:r>
              <a:rPr lang="en-US" sz="2200" dirty="0" smtClean="0">
                <a:latin typeface="Helvetica" pitchFamily="34" charset="0"/>
              </a:rPr>
              <a:t>Fasten brooches and name tags securely</a:t>
            </a:r>
          </a:p>
          <a:p>
            <a:pPr marL="360000" indent="-360000">
              <a:spcBef>
                <a:spcPts val="600"/>
              </a:spcBef>
              <a:spcAft>
                <a:spcPts val="1200"/>
              </a:spcAft>
            </a:pPr>
            <a:r>
              <a:rPr lang="en-US" sz="2200" dirty="0" smtClean="0">
                <a:latin typeface="Helvetica" pitchFamily="34" charset="0"/>
              </a:rPr>
              <a:t>No rings or watches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descr="C:\Documents and Settings\danielc\Desktop\Apply safety proc handling food images\Safe-And-Clean-Resto.jpg"/>
          <p:cNvPicPr/>
          <p:nvPr/>
        </p:nvPicPr>
        <p:blipFill>
          <a:blip r:embed="rId3" cstate="print">
            <a:grayscl/>
          </a:blip>
          <a:srcRect l="2579" t="10694" r="2241" b="14343"/>
          <a:stretch>
            <a:fillRect/>
          </a:stretch>
        </p:blipFill>
        <p:spPr bwMode="auto">
          <a:xfrm>
            <a:off x="6324600" y="1295400"/>
            <a:ext cx="1376300" cy="172588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clothing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No ear-rings</a:t>
            </a:r>
          </a:p>
          <a:p>
            <a:pPr marL="360000" indent="-360000">
              <a:spcBef>
                <a:spcPts val="600"/>
              </a:spcBef>
              <a:spcAft>
                <a:spcPts val="1200"/>
              </a:spcAft>
            </a:pPr>
            <a:r>
              <a:rPr lang="en-US" sz="2200" dirty="0" smtClean="0">
                <a:latin typeface="Helvetica" pitchFamily="34" charset="0"/>
              </a:rPr>
              <a:t>Avoid fiddling with jewellery</a:t>
            </a:r>
          </a:p>
          <a:p>
            <a:pPr marL="360000" indent="-360000">
              <a:spcBef>
                <a:spcPts val="600"/>
              </a:spcBef>
              <a:spcAft>
                <a:spcPts val="1200"/>
              </a:spcAft>
            </a:pPr>
            <a:r>
              <a:rPr lang="en-US" sz="2200" dirty="0" smtClean="0">
                <a:latin typeface="Helvetica" pitchFamily="34" charset="0"/>
              </a:rPr>
              <a:t>No hair clips or hair pins</a:t>
            </a:r>
          </a:p>
          <a:p>
            <a:pPr marL="360000" indent="-360000">
              <a:spcBef>
                <a:spcPts val="600"/>
              </a:spcBef>
              <a:spcAft>
                <a:spcPts val="1200"/>
              </a:spcAft>
            </a:pPr>
            <a:r>
              <a:rPr lang="en-US" sz="2200" dirty="0" smtClean="0">
                <a:latin typeface="Helvetica" pitchFamily="34" charset="0"/>
              </a:rPr>
              <a:t>Wear a hair net or hat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12290" name="Picture 2" descr="I:\Overseas Projects\PHOTOS\2012\Culinary 2011\Trial-a-Trade_046.jpg"/>
          <p:cNvPicPr>
            <a:picLocks noChangeAspect="1" noChangeArrowheads="1"/>
          </p:cNvPicPr>
          <p:nvPr/>
        </p:nvPicPr>
        <p:blipFill>
          <a:blip r:embed="rId3" cstate="print"/>
          <a:srcRect/>
          <a:stretch>
            <a:fillRect/>
          </a:stretch>
        </p:blipFill>
        <p:spPr bwMode="auto">
          <a:xfrm>
            <a:off x="6248400" y="1600200"/>
            <a:ext cx="1517936" cy="2278063"/>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Cross contamination:</a:t>
            </a:r>
          </a:p>
          <a:p>
            <a:pPr marL="360000" indent="-360000">
              <a:spcBef>
                <a:spcPts val="600"/>
              </a:spcBef>
              <a:spcAft>
                <a:spcPts val="1200"/>
              </a:spcAft>
            </a:pPr>
            <a:r>
              <a:rPr lang="en-US" sz="2200" dirty="0" smtClean="0">
                <a:latin typeface="Helvetica" pitchFamily="34" charset="0"/>
              </a:rPr>
              <a:t>Bacteria depend on humans to transfer them from place to place</a:t>
            </a:r>
          </a:p>
          <a:p>
            <a:pPr marL="360000" indent="-360000">
              <a:spcBef>
                <a:spcPts val="600"/>
              </a:spcBef>
              <a:spcAft>
                <a:spcPts val="1200"/>
              </a:spcAft>
            </a:pPr>
            <a:r>
              <a:rPr lang="en-US" sz="2200" dirty="0" smtClean="0">
                <a:latin typeface="Helvetica" pitchFamily="34" charset="0"/>
              </a:rPr>
              <a:t>Transfer can occur through:</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Direct contact</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Indirect contact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descr="C:\Documents and Settings\danielc\Desktop\Apply safety proc handling food images\freeimage-2680624.jpg"/>
          <p:cNvPicPr/>
          <p:nvPr/>
        </p:nvPicPr>
        <p:blipFill>
          <a:blip r:embed="rId3" cstate="print">
            <a:lum contrast="10000"/>
          </a:blip>
          <a:srcRect/>
          <a:stretch>
            <a:fillRect/>
          </a:stretch>
        </p:blipFill>
        <p:spPr bwMode="auto">
          <a:xfrm>
            <a:off x="6400800" y="2895600"/>
            <a:ext cx="1453490" cy="218506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72608"/>
          </a:xfrm>
        </p:spPr>
        <p:txBody>
          <a:bodyPr>
            <a:noAutofit/>
          </a:bodyPr>
          <a:lstStyle/>
          <a:p>
            <a:pPr marL="0" indent="0">
              <a:spcBef>
                <a:spcPts val="600"/>
              </a:spcBef>
              <a:spcAft>
                <a:spcPts val="1200"/>
              </a:spcAft>
              <a:buNone/>
            </a:pPr>
            <a:r>
              <a:rPr lang="en-US" sz="2200" dirty="0" smtClean="0">
                <a:latin typeface="Helvetica" pitchFamily="34" charset="0"/>
              </a:rPr>
              <a:t>Practices to prevent cross contamination:</a:t>
            </a:r>
          </a:p>
          <a:p>
            <a:pPr lvl="0">
              <a:spcBef>
                <a:spcPts val="600"/>
              </a:spcBef>
              <a:spcAft>
                <a:spcPts val="1200"/>
              </a:spcAft>
            </a:pPr>
            <a:r>
              <a:rPr lang="en-AU" sz="2200" dirty="0" smtClean="0">
                <a:latin typeface="Helvetica" pitchFamily="34" charset="0"/>
              </a:rPr>
              <a:t>Clean and disinfect food preparation areas and equipment</a:t>
            </a:r>
          </a:p>
          <a:p>
            <a:pPr lvl="0">
              <a:spcBef>
                <a:spcPts val="600"/>
              </a:spcBef>
              <a:spcAft>
                <a:spcPts val="1200"/>
              </a:spcAft>
            </a:pPr>
            <a:r>
              <a:rPr lang="en-AU" sz="2200" dirty="0" smtClean="0">
                <a:latin typeface="Helvetica" pitchFamily="34" charset="0"/>
              </a:rPr>
              <a:t>Careful avoidance of meat contaminated with salmonella and pathogens</a:t>
            </a:r>
          </a:p>
          <a:p>
            <a:pPr lvl="0">
              <a:spcBef>
                <a:spcPts val="600"/>
              </a:spcBef>
              <a:spcAft>
                <a:spcPts val="1200"/>
              </a:spcAft>
            </a:pPr>
            <a:r>
              <a:rPr lang="en-AU" sz="2200" dirty="0" smtClean="0">
                <a:latin typeface="Helvetica" pitchFamily="34" charset="0"/>
              </a:rPr>
              <a:t>Extreme care in preparing raw food</a:t>
            </a:r>
          </a:p>
          <a:p>
            <a:pPr lvl="0">
              <a:spcBef>
                <a:spcPts val="600"/>
              </a:spcBef>
              <a:spcAft>
                <a:spcPts val="1200"/>
              </a:spcAft>
            </a:pPr>
            <a:r>
              <a:rPr lang="en-AU" sz="2200" dirty="0" smtClean="0">
                <a:latin typeface="Helvetica" pitchFamily="34" charset="0"/>
              </a:rPr>
              <a:t>Institutional dish sanitizing with soap </a:t>
            </a:r>
            <a:br>
              <a:rPr lang="en-AU" sz="2200" dirty="0" smtClean="0">
                <a:latin typeface="Helvetica" pitchFamily="34" charset="0"/>
              </a:rPr>
            </a:br>
            <a:r>
              <a:rPr lang="en-AU" sz="2200" dirty="0" smtClean="0">
                <a:latin typeface="Helvetica" pitchFamily="34" charset="0"/>
              </a:rPr>
              <a:t>and clean water</a:t>
            </a:r>
          </a:p>
          <a:p>
            <a:pPr lvl="0">
              <a:spcBef>
                <a:spcPts val="600"/>
              </a:spcBef>
              <a:spcAft>
                <a:spcPts val="1200"/>
              </a:spcAft>
            </a:pPr>
            <a:r>
              <a:rPr lang="en-AU" sz="2200" dirty="0" smtClean="0">
                <a:latin typeface="Helvetica" pitchFamily="34" charset="0"/>
              </a:rPr>
              <a:t>Washing of hands thoroughly before                               touching food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6" name="Picture 5" descr="handwash 3.jpg"/>
          <p:cNvPicPr>
            <a:picLocks noChangeAspect="1"/>
          </p:cNvPicPr>
          <p:nvPr/>
        </p:nvPicPr>
        <p:blipFill>
          <a:blip r:embed="rId3" cstate="print"/>
          <a:stretch>
            <a:fillRect/>
          </a:stretch>
        </p:blipFill>
        <p:spPr>
          <a:xfrm>
            <a:off x="6858000" y="4343400"/>
            <a:ext cx="1560576" cy="103936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47800"/>
            <a:ext cx="7467600" cy="4634955"/>
          </a:xfrm>
        </p:spPr>
        <p:txBody>
          <a:bodyPr>
            <a:noAutofit/>
          </a:bodyPr>
          <a:lstStyle/>
          <a:p>
            <a:pPr marL="0" indent="0">
              <a:spcBef>
                <a:spcPts val="600"/>
              </a:spcBef>
              <a:spcAft>
                <a:spcPts val="1200"/>
              </a:spcAft>
              <a:buNone/>
            </a:pPr>
            <a:r>
              <a:rPr lang="en-US" sz="2200" dirty="0" smtClean="0">
                <a:latin typeface="Helvetica" pitchFamily="34" charset="0"/>
              </a:rPr>
              <a:t>Practices to prevent cross contamination:</a:t>
            </a:r>
          </a:p>
          <a:p>
            <a:pPr lvl="0">
              <a:spcBef>
                <a:spcPts val="600"/>
              </a:spcBef>
              <a:spcAft>
                <a:spcPts val="1200"/>
              </a:spcAft>
            </a:pPr>
            <a:r>
              <a:rPr lang="en-AU" sz="2200" dirty="0" smtClean="0">
                <a:latin typeface="Helvetica" pitchFamily="34" charset="0"/>
              </a:rPr>
              <a:t>Avoid using the same utensils for other food</a:t>
            </a:r>
          </a:p>
          <a:p>
            <a:pPr lvl="0">
              <a:spcBef>
                <a:spcPts val="600"/>
              </a:spcBef>
              <a:spcAft>
                <a:spcPts val="1200"/>
              </a:spcAft>
            </a:pPr>
            <a:r>
              <a:rPr lang="en-AU" sz="2200" dirty="0" smtClean="0">
                <a:latin typeface="Helvetica" pitchFamily="34" charset="0"/>
              </a:rPr>
              <a:t>Avoid using utensils that have been licked.</a:t>
            </a:r>
          </a:p>
          <a:p>
            <a:pPr lvl="0">
              <a:spcBef>
                <a:spcPts val="600"/>
              </a:spcBef>
              <a:spcAft>
                <a:spcPts val="1200"/>
              </a:spcAft>
            </a:pPr>
            <a:r>
              <a:rPr lang="en-AU" sz="2200" dirty="0" smtClean="0">
                <a:latin typeface="Helvetica" pitchFamily="34" charset="0"/>
              </a:rPr>
              <a:t>Observe proper storage of food</a:t>
            </a:r>
          </a:p>
          <a:p>
            <a:pPr lvl="0">
              <a:spcBef>
                <a:spcPts val="600"/>
              </a:spcBef>
              <a:spcAft>
                <a:spcPts val="1200"/>
              </a:spcAft>
            </a:pPr>
            <a:r>
              <a:rPr lang="en-AU" sz="2200" dirty="0" smtClean="0">
                <a:latin typeface="Helvetica" pitchFamily="34" charset="0"/>
              </a:rPr>
              <a:t>Practice appropriate refrigeration of food</a:t>
            </a:r>
          </a:p>
          <a:p>
            <a:pPr lvl="0">
              <a:spcBef>
                <a:spcPts val="600"/>
              </a:spcBef>
              <a:spcAft>
                <a:spcPts val="1200"/>
              </a:spcAft>
            </a:pPr>
            <a:r>
              <a:rPr lang="en-AU" sz="2200" dirty="0" smtClean="0">
                <a:latin typeface="Helvetica" pitchFamily="34" charset="0"/>
              </a:rPr>
              <a:t>Label food to indicate the life span of food</a:t>
            </a:r>
          </a:p>
          <a:p>
            <a:pPr>
              <a:spcBef>
                <a:spcPts val="600"/>
              </a:spcBef>
              <a:spcAft>
                <a:spcPts val="1200"/>
              </a:spcAft>
            </a:pPr>
            <a:r>
              <a:rPr lang="en-AU" sz="2200" dirty="0" smtClean="0">
                <a:latin typeface="Helvetica" pitchFamily="34" charset="0"/>
              </a:rPr>
              <a:t>Proper disposal of uneaten food and                                packed or canned food stuff</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descr="ohs use by dates.jpg"/>
          <p:cNvPicPr>
            <a:picLocks noChangeAspect="1"/>
          </p:cNvPicPr>
          <p:nvPr/>
        </p:nvPicPr>
        <p:blipFill>
          <a:blip r:embed="rId3" cstate="print"/>
          <a:stretch>
            <a:fillRect/>
          </a:stretch>
        </p:blipFill>
        <p:spPr>
          <a:xfrm>
            <a:off x="6858000" y="4460240"/>
            <a:ext cx="1560576" cy="103632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Practices to prevent cross contamination:</a:t>
            </a:r>
          </a:p>
          <a:p>
            <a:pPr marL="360000" indent="-360000">
              <a:spcBef>
                <a:spcPts val="600"/>
              </a:spcBef>
              <a:spcAft>
                <a:spcPts val="1200"/>
              </a:spcAft>
            </a:pPr>
            <a:r>
              <a:rPr lang="en-US" sz="2200" dirty="0" smtClean="0">
                <a:latin typeface="Helvetica" pitchFamily="34" charset="0"/>
              </a:rPr>
              <a:t>Using different staff to handle raw food and cooked or ready-to-eat food</a:t>
            </a:r>
          </a:p>
          <a:p>
            <a:pPr marL="360000" indent="-360000">
              <a:spcBef>
                <a:spcPts val="600"/>
              </a:spcBef>
              <a:spcAft>
                <a:spcPts val="1200"/>
              </a:spcAft>
            </a:pPr>
            <a:r>
              <a:rPr lang="en-US" sz="2200" dirty="0" smtClean="0">
                <a:latin typeface="Helvetica" pitchFamily="34" charset="0"/>
              </a:rPr>
              <a:t>Washing and sanitizing items between uses</a:t>
            </a:r>
          </a:p>
          <a:p>
            <a:pPr marL="360000" indent="-360000">
              <a:spcBef>
                <a:spcPts val="600"/>
              </a:spcBef>
              <a:spcAft>
                <a:spcPts val="1200"/>
              </a:spcAft>
            </a:pPr>
            <a:r>
              <a:rPr lang="en-US" sz="2200" dirty="0" smtClean="0">
                <a:latin typeface="Helvetica" pitchFamily="34" charset="0"/>
              </a:rPr>
              <a:t>Using color-coded chopping boards</a:t>
            </a:r>
          </a:p>
          <a:p>
            <a:pPr marL="360000" indent="-360000">
              <a:spcBef>
                <a:spcPts val="600"/>
              </a:spcBef>
              <a:spcAft>
                <a:spcPts val="1200"/>
              </a:spcAft>
            </a:pPr>
            <a:r>
              <a:rPr lang="en-US" sz="2200" dirty="0" smtClean="0">
                <a:latin typeface="Helvetica" pitchFamily="34" charset="0"/>
              </a:rPr>
              <a:t>Implementing all personal hygiene protocols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13314" name="Picture 2" descr="C:\Documents and Settings\danielc\Desktop\Apply safety proc handling food images\LCCBS001.jpg"/>
          <p:cNvPicPr>
            <a:picLocks noChangeAspect="1" noChangeArrowheads="1"/>
          </p:cNvPicPr>
          <p:nvPr/>
        </p:nvPicPr>
        <p:blipFill>
          <a:blip r:embed="rId3" cstate="print"/>
          <a:srcRect/>
          <a:stretch>
            <a:fillRect/>
          </a:stretch>
        </p:blipFill>
        <p:spPr bwMode="auto">
          <a:xfrm>
            <a:off x="6629400" y="2743200"/>
            <a:ext cx="1676400" cy="1676400"/>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Separating chemicals from food</a:t>
            </a:r>
          </a:p>
          <a:p>
            <a:pPr marL="360000" indent="-360000">
              <a:spcBef>
                <a:spcPts val="600"/>
              </a:spcBef>
              <a:spcAft>
                <a:spcPts val="1200"/>
              </a:spcAft>
            </a:pPr>
            <a:r>
              <a:rPr lang="en-US" sz="2200" dirty="0" smtClean="0">
                <a:latin typeface="Helvetica" pitchFamily="34" charset="0"/>
              </a:rPr>
              <a:t>Using clean containers for food storage</a:t>
            </a:r>
          </a:p>
          <a:p>
            <a:pPr marL="360000" indent="-360000">
              <a:spcBef>
                <a:spcPts val="600"/>
              </a:spcBef>
              <a:spcAft>
                <a:spcPts val="1200"/>
              </a:spcAft>
            </a:pPr>
            <a:r>
              <a:rPr lang="en-US" sz="2200" dirty="0" smtClean="0">
                <a:latin typeface="Helvetica" pitchFamily="34" charset="0"/>
              </a:rPr>
              <a:t>Using clean items for service of food</a:t>
            </a:r>
          </a:p>
          <a:p>
            <a:pPr marL="360000" indent="-360000">
              <a:spcBef>
                <a:spcPts val="600"/>
              </a:spcBef>
              <a:spcAft>
                <a:spcPts val="1200"/>
              </a:spcAft>
            </a:pPr>
            <a:r>
              <a:rPr lang="en-US" sz="2200" dirty="0" smtClean="0">
                <a:latin typeface="Helvetica" pitchFamily="34" charset="0"/>
              </a:rPr>
              <a:t>Using disposable paper towels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14338" name="Picture 2" descr="C:\Documents and Settings\danielc\Desktop\Apply safety proc handling food images\freeimage-5280770.jpg"/>
          <p:cNvPicPr>
            <a:picLocks noChangeAspect="1" noChangeArrowheads="1"/>
          </p:cNvPicPr>
          <p:nvPr/>
        </p:nvPicPr>
        <p:blipFill>
          <a:blip r:embed="rId3" cstate="print"/>
          <a:srcRect/>
          <a:stretch>
            <a:fillRect/>
          </a:stretch>
        </p:blipFill>
        <p:spPr bwMode="auto">
          <a:xfrm>
            <a:off x="6172199" y="1981200"/>
            <a:ext cx="2400171" cy="160020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Storing raw food below cooked or ready-to-eat food</a:t>
            </a:r>
          </a:p>
          <a:p>
            <a:pPr marL="360000" indent="-360000">
              <a:spcBef>
                <a:spcPts val="600"/>
              </a:spcBef>
              <a:spcAft>
                <a:spcPts val="1200"/>
              </a:spcAft>
            </a:pPr>
            <a:r>
              <a:rPr lang="en-US" sz="2200" dirty="0" smtClean="0">
                <a:latin typeface="Helvetica" pitchFamily="34" charset="0"/>
              </a:rPr>
              <a:t>Never storing food on the floor</a:t>
            </a:r>
          </a:p>
          <a:p>
            <a:pPr marL="360000" indent="-360000">
              <a:spcBef>
                <a:spcPts val="600"/>
              </a:spcBef>
              <a:spcAft>
                <a:spcPts val="1200"/>
              </a:spcAft>
            </a:pPr>
            <a:r>
              <a:rPr lang="en-US" sz="2200" dirty="0" smtClean="0">
                <a:latin typeface="Helvetica" pitchFamily="34" charset="0"/>
              </a:rPr>
              <a:t>Only using designated hand washing sinks for washing hands</a:t>
            </a:r>
          </a:p>
          <a:p>
            <a:pPr marL="360000" indent="-360000">
              <a:spcBef>
                <a:spcPts val="600"/>
              </a:spcBef>
              <a:spcAft>
                <a:spcPts val="1200"/>
              </a:spcAft>
            </a:pPr>
            <a:r>
              <a:rPr lang="en-US" sz="2200" dirty="0" smtClean="0">
                <a:latin typeface="Helvetica" pitchFamily="34" charset="0"/>
              </a:rPr>
              <a:t>Cleaning and </a:t>
            </a:r>
            <a:r>
              <a:rPr lang="en-US" sz="2200" dirty="0" err="1" smtClean="0">
                <a:latin typeface="Helvetica" pitchFamily="34" charset="0"/>
              </a:rPr>
              <a:t>sanitising</a:t>
            </a:r>
            <a:r>
              <a:rPr lang="en-US" sz="2200" dirty="0" smtClean="0">
                <a:latin typeface="Helvetica" pitchFamily="34" charset="0"/>
              </a:rPr>
              <a:t> food thermometers between uses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descr="DSC_0149 (chosen).jpg"/>
          <p:cNvPicPr/>
          <p:nvPr/>
        </p:nvPicPr>
        <p:blipFill>
          <a:blip r:embed="rId3" cstate="print"/>
          <a:stretch>
            <a:fillRect/>
          </a:stretch>
        </p:blipFill>
        <p:spPr>
          <a:xfrm>
            <a:off x="3505200" y="4267200"/>
            <a:ext cx="2133227" cy="14478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Cleaning low-risk areas before cleaning high-risk areas</a:t>
            </a:r>
          </a:p>
          <a:p>
            <a:pPr marL="360000" indent="-360000">
              <a:spcBef>
                <a:spcPts val="600"/>
              </a:spcBef>
              <a:spcAft>
                <a:spcPts val="1200"/>
              </a:spcAft>
            </a:pPr>
            <a:r>
              <a:rPr lang="en-US" sz="2200" dirty="0" smtClean="0">
                <a:latin typeface="Helvetica" pitchFamily="34" charset="0"/>
              </a:rPr>
              <a:t>Washing fruit and vegetables in sanitizing solution</a:t>
            </a:r>
          </a:p>
          <a:p>
            <a:pPr marL="360000" indent="-360000">
              <a:spcBef>
                <a:spcPts val="600"/>
              </a:spcBef>
              <a:spcAft>
                <a:spcPts val="1200"/>
              </a:spcAft>
            </a:pPr>
            <a:r>
              <a:rPr lang="en-US" sz="2200" dirty="0" smtClean="0">
                <a:latin typeface="Helvetica" pitchFamily="34" charset="0"/>
              </a:rPr>
              <a:t>Wearing clean clothes</a:t>
            </a:r>
          </a:p>
          <a:p>
            <a:pPr marL="360000" indent="-360000">
              <a:spcBef>
                <a:spcPts val="600"/>
              </a:spcBef>
              <a:spcAft>
                <a:spcPts val="1200"/>
              </a:spcAft>
            </a:pPr>
            <a:r>
              <a:rPr lang="en-US" sz="2200" dirty="0" smtClean="0">
                <a:latin typeface="Helvetica" pitchFamily="34" charset="0"/>
              </a:rPr>
              <a:t>Implementing requirements of cleaning schedules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15362" name="Picture 2" descr="C:\Documents and Settings\danielc\Desktop\Apply safety proc handling food images\freeimage-3216502.jpg"/>
          <p:cNvPicPr>
            <a:picLocks noChangeAspect="1" noChangeArrowheads="1"/>
          </p:cNvPicPr>
          <p:nvPr/>
        </p:nvPicPr>
        <p:blipFill>
          <a:blip r:embed="rId3" cstate="print"/>
          <a:srcRect/>
          <a:stretch>
            <a:fillRect/>
          </a:stretch>
        </p:blipFill>
        <p:spPr bwMode="auto">
          <a:xfrm>
            <a:off x="3581400" y="4038600"/>
            <a:ext cx="2743200" cy="1828986"/>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Using waterproof bandages and colored band aids</a:t>
            </a:r>
          </a:p>
          <a:p>
            <a:pPr marL="360000" indent="-360000">
              <a:spcBef>
                <a:spcPts val="600"/>
              </a:spcBef>
              <a:spcAft>
                <a:spcPts val="1200"/>
              </a:spcAft>
            </a:pPr>
            <a:r>
              <a:rPr lang="en-US" sz="2200" dirty="0" smtClean="0">
                <a:latin typeface="Helvetica" pitchFamily="34" charset="0"/>
              </a:rPr>
              <a:t>Following correct hand washing protocols</a:t>
            </a:r>
          </a:p>
          <a:p>
            <a:pPr marL="360000" indent="-360000">
              <a:spcBef>
                <a:spcPts val="600"/>
              </a:spcBef>
              <a:spcAft>
                <a:spcPts val="1200"/>
              </a:spcAft>
            </a:pPr>
            <a:r>
              <a:rPr lang="en-US" sz="2200" dirty="0" smtClean="0">
                <a:latin typeface="Helvetica" pitchFamily="34" charset="0"/>
              </a:rPr>
              <a:t>Separating storage of raw and cooked or ready-to-eat foods</a:t>
            </a:r>
          </a:p>
          <a:p>
            <a:pPr marL="360000" indent="-360000">
              <a:spcBef>
                <a:spcPts val="600"/>
              </a:spcBef>
              <a:spcAft>
                <a:spcPts val="1200"/>
              </a:spcAft>
            </a:pPr>
            <a:r>
              <a:rPr lang="en-US" sz="2200" dirty="0" smtClean="0">
                <a:latin typeface="Helvetica" pitchFamily="34" charset="0"/>
              </a:rPr>
              <a:t>Covering foods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16386" name="Picture 2" descr="I:\Overseas Projects\PHOTOS\2012\Culinary 2011\HandwashCCSnowfire11Ro.jpg"/>
          <p:cNvPicPr>
            <a:picLocks noChangeAspect="1" noChangeArrowheads="1"/>
          </p:cNvPicPr>
          <p:nvPr/>
        </p:nvPicPr>
        <p:blipFill>
          <a:blip r:embed="rId3" cstate="print">
            <a:lum contrast="10000"/>
          </a:blip>
          <a:srcRect/>
          <a:stretch>
            <a:fillRect/>
          </a:stretch>
        </p:blipFill>
        <p:spPr bwMode="auto">
          <a:xfrm>
            <a:off x="3810000" y="3505200"/>
            <a:ext cx="2089150" cy="2667000"/>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Using separate sinks for different food-related activities</a:t>
            </a:r>
          </a:p>
          <a:p>
            <a:pPr marL="360000" indent="-360000">
              <a:spcBef>
                <a:spcPts val="600"/>
              </a:spcBef>
              <a:spcAft>
                <a:spcPts val="1200"/>
              </a:spcAft>
            </a:pPr>
            <a:r>
              <a:rPr lang="en-US" sz="2200" dirty="0" smtClean="0">
                <a:latin typeface="Helvetica" pitchFamily="34" charset="0"/>
              </a:rPr>
              <a:t>Changing disposable gloves as required</a:t>
            </a:r>
          </a:p>
          <a:p>
            <a:pPr marL="360000" indent="-360000">
              <a:spcBef>
                <a:spcPts val="600"/>
              </a:spcBef>
              <a:spcAft>
                <a:spcPts val="1200"/>
              </a:spcAft>
            </a:pPr>
            <a:r>
              <a:rPr lang="en-US" sz="2200" dirty="0" smtClean="0">
                <a:latin typeface="Helvetica" pitchFamily="34" charset="0"/>
              </a:rPr>
              <a:t>Never mixing batches of food</a:t>
            </a:r>
          </a:p>
          <a:p>
            <a:pPr marL="360000" indent="-360000">
              <a:spcBef>
                <a:spcPts val="600"/>
              </a:spcBef>
              <a:spcAft>
                <a:spcPts val="1200"/>
              </a:spcAft>
            </a:pPr>
            <a:r>
              <a:rPr lang="en-US" sz="2200" dirty="0" smtClean="0">
                <a:latin typeface="Helvetica" pitchFamily="34" charset="0"/>
              </a:rPr>
              <a:t>Not replacing tasting spoons into food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17410" name="Picture 2" descr="C:\Documents and Settings\danielc\Local Settings\Temporary Internet Files\Content.IE5\3Y3SDCJX\MC900290946[1].wmf"/>
          <p:cNvPicPr>
            <a:picLocks noChangeAspect="1" noChangeArrowheads="1"/>
          </p:cNvPicPr>
          <p:nvPr/>
        </p:nvPicPr>
        <p:blipFill>
          <a:blip r:embed="rId3" cstate="print"/>
          <a:srcRect/>
          <a:stretch>
            <a:fillRect/>
          </a:stretch>
        </p:blipFill>
        <p:spPr bwMode="auto">
          <a:xfrm>
            <a:off x="5926182" y="2667000"/>
            <a:ext cx="2126875" cy="990600"/>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Not coughing or sneezing over food and food surfaces</a:t>
            </a:r>
          </a:p>
          <a:p>
            <a:pPr marL="360000" indent="-360000">
              <a:spcBef>
                <a:spcPts val="600"/>
              </a:spcBef>
              <a:spcAft>
                <a:spcPts val="1200"/>
              </a:spcAft>
            </a:pPr>
            <a:r>
              <a:rPr lang="en-US" sz="2200" dirty="0" smtClean="0">
                <a:latin typeface="Helvetica" pitchFamily="34" charset="0"/>
              </a:rPr>
              <a:t>Cleaning and sanitizing knives in between use on raw and cooked or ready-to-eat foods</a:t>
            </a:r>
          </a:p>
          <a:p>
            <a:pPr marL="360000" indent="-360000">
              <a:spcBef>
                <a:spcPts val="600"/>
              </a:spcBef>
              <a:spcAft>
                <a:spcPts val="1200"/>
              </a:spcAft>
            </a:pPr>
            <a:r>
              <a:rPr lang="en-US" sz="2200" dirty="0" smtClean="0">
                <a:latin typeface="Helvetica" pitchFamily="34" charset="0"/>
              </a:rPr>
              <a:t>Cleaning and sanitizing prep benches every 4 hours</a:t>
            </a:r>
          </a:p>
          <a:p>
            <a:pPr marL="360000" indent="-360000">
              <a:spcBef>
                <a:spcPts val="600"/>
              </a:spcBef>
              <a:spcAft>
                <a:spcPts val="1200"/>
              </a:spcAft>
            </a:pPr>
            <a:r>
              <a:rPr lang="en-US" sz="2200" dirty="0" smtClean="0">
                <a:latin typeface="Helvetica" pitchFamily="34" charset="0"/>
              </a:rPr>
              <a:t>Separating kitchen cleaning equipment from items used to clean other areas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18434" name="Picture 2" descr="C:\Documents and Settings\danielc\Desktop\Apply safety proc handling food images\freeimage-2258576.jpg"/>
          <p:cNvPicPr>
            <a:picLocks noChangeAspect="1" noChangeArrowheads="1"/>
          </p:cNvPicPr>
          <p:nvPr/>
        </p:nvPicPr>
        <p:blipFill>
          <a:blip r:embed="rId3" cstate="print"/>
          <a:srcRect/>
          <a:stretch>
            <a:fillRect/>
          </a:stretch>
        </p:blipFill>
        <p:spPr bwMode="auto">
          <a:xfrm>
            <a:off x="3499282" y="4495800"/>
            <a:ext cx="2145436" cy="1600200"/>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Making immediate repairs to food areas when required</a:t>
            </a:r>
          </a:p>
          <a:p>
            <a:pPr marL="360000" indent="-360000">
              <a:spcBef>
                <a:spcPts val="600"/>
              </a:spcBef>
              <a:spcAft>
                <a:spcPts val="1200"/>
              </a:spcAft>
            </a:pPr>
            <a:r>
              <a:rPr lang="en-US" sz="2200" dirty="0" smtClean="0">
                <a:latin typeface="Helvetica" pitchFamily="34" charset="0"/>
              </a:rPr>
              <a:t>Excluding pests, vermin and animals from food prep areas</a:t>
            </a:r>
          </a:p>
          <a:p>
            <a:pPr marL="360000" indent="-360000">
              <a:spcBef>
                <a:spcPts val="600"/>
              </a:spcBef>
              <a:spcAft>
                <a:spcPts val="1200"/>
              </a:spcAft>
            </a:pPr>
            <a:r>
              <a:rPr lang="en-US" sz="2200" dirty="0" smtClean="0">
                <a:latin typeface="Helvetica" pitchFamily="34" charset="0"/>
              </a:rPr>
              <a:t>Discarding food known to be, or suspected of being, contaminated</a:t>
            </a:r>
          </a:p>
          <a:p>
            <a:pPr marL="360000" indent="-360000">
              <a:spcBef>
                <a:spcPts val="600"/>
              </a:spcBef>
              <a:spcAft>
                <a:spcPts val="1200"/>
              </a:spcAft>
            </a:pPr>
            <a:r>
              <a:rPr lang="en-US" sz="2200" dirty="0" smtClean="0">
                <a:latin typeface="Helvetica" pitchFamily="34" charset="0"/>
              </a:rPr>
              <a:t>Excluding sick employees from food handling activities</a:t>
            </a:r>
          </a:p>
          <a:p>
            <a:pPr marL="360000" indent="-360000">
              <a:spcBef>
                <a:spcPts val="600"/>
              </a:spcBef>
              <a:spcAft>
                <a:spcPts val="1200"/>
              </a:spcAft>
            </a:pPr>
            <a:r>
              <a:rPr lang="en-US" sz="2200" dirty="0" smtClean="0">
                <a:latin typeface="Helvetica" pitchFamily="34" charset="0"/>
              </a:rPr>
              <a:t>Using workplace signage about preventing cross contamination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Protecting displayed food from contamination</a:t>
            </a:r>
          </a:p>
          <a:p>
            <a:pPr marL="360000" indent="-360000">
              <a:spcBef>
                <a:spcPts val="600"/>
              </a:spcBef>
              <a:spcAft>
                <a:spcPts val="1200"/>
              </a:spcAft>
            </a:pPr>
            <a:r>
              <a:rPr lang="en-US" sz="2200" dirty="0" smtClean="0">
                <a:latin typeface="Helvetica" pitchFamily="34" charset="0"/>
              </a:rPr>
              <a:t>Discarding all food dropped on the floor</a:t>
            </a:r>
          </a:p>
          <a:p>
            <a:pPr marL="360000" indent="-360000">
              <a:spcBef>
                <a:spcPts val="600"/>
              </a:spcBef>
              <a:spcAft>
                <a:spcPts val="1200"/>
              </a:spcAft>
            </a:pPr>
            <a:r>
              <a:rPr lang="en-US" sz="2200" dirty="0" smtClean="0">
                <a:latin typeface="Helvetica" pitchFamily="34" charset="0"/>
              </a:rPr>
              <a:t>Throwing out food returned on plates</a:t>
            </a:r>
          </a:p>
          <a:p>
            <a:pPr marL="360000" indent="-360000">
              <a:spcBef>
                <a:spcPts val="600"/>
              </a:spcBef>
              <a:spcAft>
                <a:spcPts val="1200"/>
              </a:spcAft>
            </a:pPr>
            <a:r>
              <a:rPr lang="en-US" sz="2200" dirty="0" smtClean="0">
                <a:latin typeface="Helvetica" pitchFamily="34" charset="0"/>
              </a:rPr>
              <a:t>Not re-using single-use items once</a:t>
            </a:r>
          </a:p>
          <a:p>
            <a:pPr marL="360000" indent="-360000">
              <a:spcBef>
                <a:spcPts val="600"/>
              </a:spcBef>
              <a:spcAft>
                <a:spcPts val="1200"/>
              </a:spcAft>
            </a:pPr>
            <a:r>
              <a:rPr lang="en-US" sz="2200" dirty="0" smtClean="0">
                <a:latin typeface="Helvetica" pitchFamily="34" charset="0"/>
              </a:rPr>
              <a:t>Inspecting food delivery vehicles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grpSp>
        <p:nvGrpSpPr>
          <p:cNvPr id="7" name="Group 6"/>
          <p:cNvGrpSpPr/>
          <p:nvPr/>
        </p:nvGrpSpPr>
        <p:grpSpPr>
          <a:xfrm>
            <a:off x="2667000" y="4419600"/>
            <a:ext cx="2438400" cy="2029721"/>
            <a:chOff x="2667000" y="4419600"/>
            <a:chExt cx="2438400" cy="2029721"/>
          </a:xfrm>
        </p:grpSpPr>
        <p:pic>
          <p:nvPicPr>
            <p:cNvPr id="6" name="Picture 5" descr="C:\Documents and Settings\danielc\Desktop\Apply safety proc handling food images\paper dinnerware.jpg"/>
            <p:cNvPicPr/>
            <p:nvPr/>
          </p:nvPicPr>
          <p:blipFill>
            <a:blip r:embed="rId3" cstate="print">
              <a:grayscl/>
            </a:blip>
            <a:srcRect/>
            <a:stretch>
              <a:fillRect/>
            </a:stretch>
          </p:blipFill>
          <p:spPr bwMode="auto">
            <a:xfrm>
              <a:off x="2667000" y="4419600"/>
              <a:ext cx="2438400" cy="2029721"/>
            </a:xfrm>
            <a:prstGeom prst="rect">
              <a:avLst/>
            </a:prstGeom>
            <a:noFill/>
            <a:ln w="9525">
              <a:noFill/>
              <a:miter lim="800000"/>
              <a:headEnd/>
              <a:tailEnd/>
            </a:ln>
          </p:spPr>
        </p:pic>
        <p:pic>
          <p:nvPicPr>
            <p:cNvPr id="5" name="Picture 4" descr="C:\Documents and Settings\danielc\Desktop\Apply safety proc handling food images\05_singleuseitems.gif"/>
            <p:cNvPicPr/>
            <p:nvPr/>
          </p:nvPicPr>
          <p:blipFill>
            <a:blip r:embed="rId4" cstate="print"/>
            <a:srcRect l="7666" t="8905" r="9748" b="6833"/>
            <a:stretch>
              <a:fillRect/>
            </a:stretch>
          </p:blipFill>
          <p:spPr bwMode="auto">
            <a:xfrm>
              <a:off x="3189111" y="4800600"/>
              <a:ext cx="1358488" cy="1377537"/>
            </a:xfrm>
            <a:prstGeom prst="rect">
              <a:avLst/>
            </a:prstGeom>
            <a:noFill/>
            <a:ln w="9525">
              <a:noFill/>
              <a:miter lim="800000"/>
              <a:headEnd/>
              <a:tailEnd/>
            </a:ln>
          </p:spPr>
        </p:pic>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Ways to prevent direct contact with ready-to-eat foods:</a:t>
            </a:r>
          </a:p>
          <a:p>
            <a:pPr marL="360000" indent="-360000">
              <a:spcBef>
                <a:spcPts val="600"/>
              </a:spcBef>
              <a:spcAft>
                <a:spcPts val="1200"/>
              </a:spcAft>
            </a:pPr>
            <a:r>
              <a:rPr lang="en-US" sz="2200" dirty="0" smtClean="0">
                <a:latin typeface="Helvetica" pitchFamily="34" charset="0"/>
              </a:rPr>
              <a:t>Wearing disposable gloves</a:t>
            </a:r>
          </a:p>
          <a:p>
            <a:pPr marL="360000" indent="-360000">
              <a:spcBef>
                <a:spcPts val="600"/>
              </a:spcBef>
              <a:spcAft>
                <a:spcPts val="1200"/>
              </a:spcAft>
            </a:pPr>
            <a:r>
              <a:rPr lang="en-US" sz="2200" dirty="0" smtClean="0">
                <a:latin typeface="Helvetica" pitchFamily="34" charset="0"/>
              </a:rPr>
              <a:t>Using utensils</a:t>
            </a:r>
          </a:p>
          <a:p>
            <a:pPr marL="360000" indent="-360000">
              <a:spcBef>
                <a:spcPts val="600"/>
              </a:spcBef>
              <a:spcAft>
                <a:spcPts val="1200"/>
              </a:spcAft>
            </a:pPr>
            <a:r>
              <a:rPr lang="en-US" sz="2200" dirty="0" smtClean="0">
                <a:latin typeface="Helvetica" pitchFamily="34" charset="0"/>
              </a:rPr>
              <a:t>Using paper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19458" name="Picture 2" descr="I:\Overseas Projects\PHOTOS\2012\Culinary 2011\Hygiene.jpg"/>
          <p:cNvPicPr>
            <a:picLocks noChangeAspect="1" noChangeArrowheads="1"/>
          </p:cNvPicPr>
          <p:nvPr/>
        </p:nvPicPr>
        <p:blipFill>
          <a:blip r:embed="rId3" cstate="print"/>
          <a:srcRect r="47381"/>
          <a:stretch>
            <a:fillRect/>
          </a:stretch>
        </p:blipFill>
        <p:spPr bwMode="auto">
          <a:xfrm>
            <a:off x="5791200" y="2514600"/>
            <a:ext cx="1600200" cy="1994694"/>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Use disposable gloves when handling food:</a:t>
            </a:r>
          </a:p>
          <a:p>
            <a:pPr marL="360000" indent="-360000">
              <a:spcBef>
                <a:spcPts val="600"/>
              </a:spcBef>
              <a:spcAft>
                <a:spcPts val="1200"/>
              </a:spcAft>
            </a:pPr>
            <a:r>
              <a:rPr lang="en-US" sz="2200" dirty="0" smtClean="0">
                <a:latin typeface="Helvetica" pitchFamily="34" charset="0"/>
              </a:rPr>
              <a:t>Replace when torn</a:t>
            </a:r>
          </a:p>
          <a:p>
            <a:pPr marL="360000" indent="-360000">
              <a:spcBef>
                <a:spcPts val="600"/>
              </a:spcBef>
              <a:spcAft>
                <a:spcPts val="1200"/>
              </a:spcAft>
            </a:pPr>
            <a:r>
              <a:rPr lang="en-US" sz="2200" dirty="0" smtClean="0">
                <a:latin typeface="Helvetica" pitchFamily="34" charset="0"/>
              </a:rPr>
              <a:t>Change in between handling raw high-risk food and cooked or ready-to-eat food</a:t>
            </a:r>
          </a:p>
          <a:p>
            <a:pPr marL="360000" indent="-360000">
              <a:spcBef>
                <a:spcPts val="600"/>
              </a:spcBef>
              <a:spcAft>
                <a:spcPts val="1200"/>
              </a:spcAft>
            </a:pPr>
            <a:r>
              <a:rPr lang="en-US" sz="2200" dirty="0" smtClean="0">
                <a:latin typeface="Helvetica" pitchFamily="34" charset="0"/>
              </a:rPr>
              <a:t>Change every hour</a:t>
            </a:r>
          </a:p>
          <a:p>
            <a:pPr marL="360000" indent="-360000">
              <a:spcBef>
                <a:spcPts val="600"/>
              </a:spcBef>
              <a:spcAft>
                <a:spcPts val="1200"/>
              </a:spcAft>
            </a:pPr>
            <a:r>
              <a:rPr lang="en-US" sz="2200" dirty="0" smtClean="0">
                <a:latin typeface="Helvetica" pitchFamily="34" charset="0"/>
              </a:rPr>
              <a:t>Change if they are used to handle money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20482" name="Picture 2" descr="C:\Documents and Settings\danielc\Local Settings\Temporary Internet Files\Content.IE5\3Y3SDCJX\MC900290946[1].wmf"/>
          <p:cNvPicPr>
            <a:picLocks noChangeAspect="1" noChangeArrowheads="1"/>
          </p:cNvPicPr>
          <p:nvPr/>
        </p:nvPicPr>
        <p:blipFill>
          <a:blip r:embed="rId3" cstate="print"/>
          <a:srcRect/>
          <a:stretch>
            <a:fillRect/>
          </a:stretch>
        </p:blipFill>
        <p:spPr bwMode="auto">
          <a:xfrm>
            <a:off x="6477000" y="3276600"/>
            <a:ext cx="1652257" cy="769545"/>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Do not remove over or above food</a:t>
            </a:r>
          </a:p>
          <a:p>
            <a:pPr marL="360000" indent="-360000">
              <a:spcBef>
                <a:spcPts val="600"/>
              </a:spcBef>
              <a:spcAft>
                <a:spcPts val="1200"/>
              </a:spcAft>
            </a:pPr>
            <a:r>
              <a:rPr lang="en-US" sz="2200" dirty="0" smtClean="0">
                <a:latin typeface="Helvetica" pitchFamily="34" charset="0"/>
              </a:rPr>
              <a:t>Do not re-use disposable gloves</a:t>
            </a:r>
          </a:p>
          <a:p>
            <a:pPr marL="360000" indent="-360000">
              <a:spcBef>
                <a:spcPts val="600"/>
              </a:spcBef>
              <a:spcAft>
                <a:spcPts val="1200"/>
              </a:spcAft>
            </a:pPr>
            <a:r>
              <a:rPr lang="en-US" sz="2200" dirty="0" smtClean="0">
                <a:latin typeface="Helvetica" pitchFamily="34" charset="0"/>
              </a:rPr>
              <a:t>Do not turn inside-out and wear again</a:t>
            </a:r>
          </a:p>
          <a:p>
            <a:pPr marL="360000" indent="-360000">
              <a:spcBef>
                <a:spcPts val="600"/>
              </a:spcBef>
              <a:spcAft>
                <a:spcPts val="1200"/>
              </a:spcAft>
            </a:pPr>
            <a:r>
              <a:rPr lang="en-US" sz="2200" dirty="0" smtClean="0">
                <a:latin typeface="Helvetica" pitchFamily="34" charset="0"/>
              </a:rPr>
              <a:t>Change whenever they become contaminated</a:t>
            </a:r>
          </a:p>
          <a:p>
            <a:pPr marL="360000" indent="-360000">
              <a:spcBef>
                <a:spcPts val="600"/>
              </a:spcBef>
              <a:spcAft>
                <a:spcPts val="1200"/>
              </a:spcAft>
            </a:pPr>
            <a:r>
              <a:rPr lang="en-US" sz="2200" dirty="0" smtClean="0">
                <a:latin typeface="Helvetica" pitchFamily="34" charset="0"/>
              </a:rPr>
              <a:t>Change gloves whenever you would have a need to wash hands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Single-use items:</a:t>
            </a:r>
          </a:p>
          <a:p>
            <a:pPr marL="360000" indent="-360000">
              <a:spcBef>
                <a:spcPts val="600"/>
              </a:spcBef>
              <a:spcAft>
                <a:spcPts val="1200"/>
              </a:spcAft>
            </a:pPr>
            <a:r>
              <a:rPr lang="en-US" sz="2200" dirty="0" smtClean="0">
                <a:latin typeface="Helvetica" pitchFamily="34" charset="0"/>
              </a:rPr>
              <a:t>Must not be used more than once</a:t>
            </a:r>
          </a:p>
          <a:p>
            <a:pPr marL="360000" indent="-360000">
              <a:spcBef>
                <a:spcPts val="600"/>
              </a:spcBef>
              <a:spcAft>
                <a:spcPts val="1200"/>
              </a:spcAft>
            </a:pPr>
            <a:r>
              <a:rPr lang="en-US" sz="2200" dirty="0" smtClean="0">
                <a:latin typeface="Helvetica" pitchFamily="34" charset="0"/>
              </a:rPr>
              <a:t>Must be stored to protect against contamination</a:t>
            </a:r>
          </a:p>
          <a:p>
            <a:pPr marL="360000" indent="-360000">
              <a:spcBef>
                <a:spcPts val="600"/>
              </a:spcBef>
              <a:spcAft>
                <a:spcPts val="1200"/>
              </a:spcAft>
            </a:pPr>
            <a:r>
              <a:rPr lang="en-US" sz="2200" dirty="0" smtClean="0">
                <a:latin typeface="Helvetica" pitchFamily="34" charset="0"/>
              </a:rPr>
              <a:t>Must not be used if contaminated</a:t>
            </a:r>
          </a:p>
          <a:p>
            <a:pPr marL="360000" indent="-360000">
              <a:spcBef>
                <a:spcPts val="600"/>
              </a:spcBef>
              <a:spcAft>
                <a:spcPts val="1200"/>
              </a:spcAft>
            </a:pPr>
            <a:r>
              <a:rPr lang="en-US" sz="2200" dirty="0" smtClean="0">
                <a:latin typeface="Helvetica" pitchFamily="34" charset="0"/>
              </a:rPr>
              <a:t>Must be ‘clean’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grpSp>
        <p:nvGrpSpPr>
          <p:cNvPr id="5" name="Group 4"/>
          <p:cNvGrpSpPr/>
          <p:nvPr/>
        </p:nvGrpSpPr>
        <p:grpSpPr>
          <a:xfrm>
            <a:off x="4495800" y="3499263"/>
            <a:ext cx="3779744" cy="2139537"/>
            <a:chOff x="4572000" y="3429000"/>
            <a:chExt cx="3779744" cy="2139537"/>
          </a:xfrm>
        </p:grpSpPr>
        <p:pic>
          <p:nvPicPr>
            <p:cNvPr id="21506" name="Picture 2" descr="C:\Documents and Settings\danielc\Desktop\Apply safety proc handling food images\freeimage-5328545.jpg"/>
            <p:cNvPicPr>
              <a:picLocks noChangeAspect="1" noChangeArrowheads="1"/>
            </p:cNvPicPr>
            <p:nvPr/>
          </p:nvPicPr>
          <p:blipFill>
            <a:blip r:embed="rId3" cstate="print"/>
            <a:srcRect/>
            <a:stretch>
              <a:fillRect/>
            </a:stretch>
          </p:blipFill>
          <p:spPr bwMode="auto">
            <a:xfrm>
              <a:off x="5943600" y="3429000"/>
              <a:ext cx="2408144" cy="1600200"/>
            </a:xfrm>
            <a:prstGeom prst="rect">
              <a:avLst/>
            </a:prstGeom>
            <a:noFill/>
          </p:spPr>
        </p:pic>
        <p:pic>
          <p:nvPicPr>
            <p:cNvPr id="6" name="Picture 5" descr="C:\Documents and Settings\danielc\Desktop\Apply safety proc handling food images\05_singleuseitems.gif"/>
            <p:cNvPicPr/>
            <p:nvPr/>
          </p:nvPicPr>
          <p:blipFill>
            <a:blip r:embed="rId4" cstate="print"/>
            <a:srcRect l="7666" t="8905" r="9748" b="6833"/>
            <a:stretch>
              <a:fillRect/>
            </a:stretch>
          </p:blipFill>
          <p:spPr bwMode="auto">
            <a:xfrm>
              <a:off x="4572000" y="4191000"/>
              <a:ext cx="1358488" cy="1377537"/>
            </a:xfrm>
            <a:prstGeom prst="rect">
              <a:avLst/>
            </a:prstGeom>
            <a:noFill/>
            <a:ln w="9525">
              <a:noFill/>
              <a:miter lim="800000"/>
              <a:headEnd/>
              <a:tailEnd/>
            </a:ln>
          </p:spPr>
        </p:pic>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Practical action related to single-use items:</a:t>
            </a:r>
          </a:p>
          <a:p>
            <a:pPr marL="360000" indent="-360000">
              <a:spcBef>
                <a:spcPts val="600"/>
              </a:spcBef>
              <a:spcAft>
                <a:spcPts val="1200"/>
              </a:spcAft>
            </a:pPr>
            <a:r>
              <a:rPr lang="en-US" sz="2200" dirty="0" smtClean="0">
                <a:latin typeface="Helvetica" pitchFamily="34" charset="0"/>
              </a:rPr>
              <a:t>Do not ‘build’ or prepare in advance</a:t>
            </a:r>
          </a:p>
          <a:p>
            <a:pPr marL="360000" indent="-360000">
              <a:spcBef>
                <a:spcPts val="600"/>
              </a:spcBef>
              <a:spcAft>
                <a:spcPts val="1200"/>
              </a:spcAft>
            </a:pPr>
            <a:r>
              <a:rPr lang="en-US" sz="2200" dirty="0" smtClean="0">
                <a:latin typeface="Helvetica" pitchFamily="34" charset="0"/>
              </a:rPr>
              <a:t>Use proper containers to dispense drinking straws</a:t>
            </a:r>
          </a:p>
          <a:p>
            <a:pPr marL="360000" indent="-360000">
              <a:spcBef>
                <a:spcPts val="600"/>
              </a:spcBef>
              <a:spcAft>
                <a:spcPts val="1200"/>
              </a:spcAft>
            </a:pPr>
            <a:r>
              <a:rPr lang="en-US" sz="2200" dirty="0" smtClean="0">
                <a:latin typeface="Helvetica" pitchFamily="34" charset="0"/>
              </a:rPr>
              <a:t>Store take-away containers upside down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22530" name="Picture 2" descr="C:\Documents and Settings\danielc\Desktop\Apply safety proc handling food images\xlarge.jpg"/>
          <p:cNvPicPr>
            <a:picLocks noChangeAspect="1" noChangeArrowheads="1"/>
          </p:cNvPicPr>
          <p:nvPr/>
        </p:nvPicPr>
        <p:blipFill>
          <a:blip r:embed="rId3" cstate="print"/>
          <a:srcRect/>
          <a:stretch>
            <a:fillRect/>
          </a:stretch>
        </p:blipFill>
        <p:spPr bwMode="auto">
          <a:xfrm>
            <a:off x="3276600" y="3733800"/>
            <a:ext cx="2514600" cy="2259787"/>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Store take-away lids for containers safely </a:t>
            </a:r>
          </a:p>
          <a:p>
            <a:pPr marL="360000" indent="-360000">
              <a:spcBef>
                <a:spcPts val="600"/>
              </a:spcBef>
              <a:spcAft>
                <a:spcPts val="1200"/>
              </a:spcAft>
            </a:pPr>
            <a:r>
              <a:rPr lang="en-US" sz="2200" dirty="0" smtClean="0">
                <a:latin typeface="Helvetica" pitchFamily="34" charset="0"/>
              </a:rPr>
              <a:t>Cover or wrap take-away cutlery</a:t>
            </a:r>
          </a:p>
          <a:p>
            <a:pPr marL="360000" indent="-360000">
              <a:spcBef>
                <a:spcPts val="600"/>
              </a:spcBef>
              <a:spcAft>
                <a:spcPts val="1200"/>
              </a:spcAft>
            </a:pPr>
            <a:r>
              <a:rPr lang="en-US" sz="2200" dirty="0" smtClean="0">
                <a:latin typeface="Helvetica" pitchFamily="34" charset="0"/>
              </a:rPr>
              <a:t>Use wrapped toothpicks</a:t>
            </a:r>
          </a:p>
          <a:p>
            <a:pPr marL="360000" indent="-360000">
              <a:spcBef>
                <a:spcPts val="600"/>
              </a:spcBef>
              <a:spcAft>
                <a:spcPts val="1200"/>
              </a:spcAft>
            </a:pPr>
            <a:r>
              <a:rPr lang="en-US" sz="2200" dirty="0" smtClean="0">
                <a:latin typeface="Helvetica" pitchFamily="34" charset="0"/>
              </a:rPr>
              <a:t>Dispose of damaged PC units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23554" name="Picture 2" descr="C:\Documents and Settings\danielc\Desktop\Apply safety proc handling food images\Toothpick_Plain.jpg"/>
          <p:cNvPicPr>
            <a:picLocks noChangeAspect="1" noChangeArrowheads="1"/>
          </p:cNvPicPr>
          <p:nvPr/>
        </p:nvPicPr>
        <p:blipFill>
          <a:blip r:embed="rId3" cstate="print">
            <a:lum bright="10000" contrast="20000"/>
          </a:blip>
          <a:srcRect/>
          <a:stretch>
            <a:fillRect/>
          </a:stretch>
        </p:blipFill>
        <p:spPr bwMode="auto">
          <a:xfrm>
            <a:off x="5943600" y="2209800"/>
            <a:ext cx="2028825" cy="2028825"/>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following enterprise hygiene standards, procedures and practices:</a:t>
            </a:r>
          </a:p>
          <a:p>
            <a:pPr>
              <a:spcBef>
                <a:spcPts val="600"/>
              </a:spcBef>
              <a:spcAft>
                <a:spcPts val="1200"/>
              </a:spcAft>
            </a:pPr>
            <a:r>
              <a:rPr lang="en-AU" sz="2200" dirty="0" smtClean="0">
                <a:latin typeface="Helvetica" pitchFamily="34" charset="0"/>
              </a:rPr>
              <a:t>Implement all necessary personal hygiene practices</a:t>
            </a:r>
          </a:p>
          <a:p>
            <a:pPr>
              <a:spcBef>
                <a:spcPts val="600"/>
              </a:spcBef>
              <a:spcAft>
                <a:spcPts val="1200"/>
              </a:spcAft>
            </a:pPr>
            <a:r>
              <a:rPr lang="en-AU" sz="2200" dirty="0" smtClean="0">
                <a:latin typeface="Helvetica" pitchFamily="34" charset="0"/>
              </a:rPr>
              <a:t>Wash hands properly and when required</a:t>
            </a:r>
          </a:p>
          <a:p>
            <a:pPr>
              <a:spcBef>
                <a:spcPts val="600"/>
              </a:spcBef>
              <a:spcAft>
                <a:spcPts val="1200"/>
              </a:spcAft>
            </a:pPr>
            <a:r>
              <a:rPr lang="en-AU" sz="2200" dirty="0" smtClean="0">
                <a:latin typeface="Helvetica" pitchFamily="34" charset="0"/>
              </a:rPr>
              <a:t>Use and wear PPE as required</a:t>
            </a:r>
          </a:p>
          <a:p>
            <a:pPr>
              <a:spcBef>
                <a:spcPts val="600"/>
              </a:spcBef>
              <a:spcAft>
                <a:spcPts val="1200"/>
              </a:spcAft>
            </a:pPr>
            <a:r>
              <a:rPr lang="en-AU" sz="2200" dirty="0" smtClean="0">
                <a:latin typeface="Helvetica" pitchFamily="34" charset="0"/>
              </a:rPr>
              <a:t>Avoid cross contamination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2" descr="C:\Documents and Settings\danielc\Local Settings\Temporary Internet Files\Content.IE5\3Y3SDCJX\MC900442036[1].wmf"/>
          <p:cNvPicPr>
            <a:picLocks noChangeAspect="1" noChangeArrowheads="1"/>
          </p:cNvPicPr>
          <p:nvPr/>
        </p:nvPicPr>
        <p:blipFill>
          <a:blip r:embed="rId3" cstate="print"/>
          <a:srcRect/>
          <a:stretch>
            <a:fillRect/>
          </a:stretch>
        </p:blipFill>
        <p:spPr bwMode="auto">
          <a:xfrm>
            <a:off x="6553200" y="3352800"/>
            <a:ext cx="1857375" cy="1838325"/>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Consider using colour-coded chopping boards</a:t>
            </a:r>
          </a:p>
          <a:p>
            <a:pPr>
              <a:spcBef>
                <a:spcPts val="600"/>
              </a:spcBef>
              <a:spcAft>
                <a:spcPts val="1200"/>
              </a:spcAft>
            </a:pPr>
            <a:r>
              <a:rPr lang="en-AU" sz="2200" dirty="0" smtClean="0">
                <a:latin typeface="Helvetica" pitchFamily="34" charset="0"/>
              </a:rPr>
              <a:t>Prevent unnecessary direct contact with ready-to-eat food</a:t>
            </a:r>
          </a:p>
          <a:p>
            <a:pPr>
              <a:spcBef>
                <a:spcPts val="600"/>
              </a:spcBef>
              <a:spcAft>
                <a:spcPts val="1200"/>
              </a:spcAft>
            </a:pPr>
            <a:r>
              <a:rPr lang="en-AU" sz="2200" dirty="0" smtClean="0">
                <a:latin typeface="Helvetica" pitchFamily="34" charset="0"/>
              </a:rPr>
              <a:t>Use disposable gloves</a:t>
            </a:r>
          </a:p>
          <a:p>
            <a:pPr>
              <a:spcBef>
                <a:spcPts val="600"/>
              </a:spcBef>
              <a:spcAft>
                <a:spcPts val="1200"/>
              </a:spcAft>
            </a:pPr>
            <a:r>
              <a:rPr lang="en-AU" sz="2200" dirty="0" smtClean="0">
                <a:latin typeface="Helvetica" pitchFamily="34" charset="0"/>
              </a:rPr>
              <a:t>Do not re-use single serve items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2" descr="C:\Documents and Settings\danielc\Local Settings\Temporary Internet Files\Content.IE5\3Y3SDCJX\MC900442036[1].wmf"/>
          <p:cNvPicPr>
            <a:picLocks noChangeAspect="1" noChangeArrowheads="1"/>
          </p:cNvPicPr>
          <p:nvPr/>
        </p:nvPicPr>
        <p:blipFill>
          <a:blip r:embed="rId3" cstate="print"/>
          <a:srcRect/>
          <a:stretch>
            <a:fillRect/>
          </a:stretch>
        </p:blipFill>
        <p:spPr bwMode="auto">
          <a:xfrm>
            <a:off x="6553200" y="3367093"/>
            <a:ext cx="1857375" cy="1838325"/>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foodstuffs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Handle and store foodstuffs according to enterprise guidelines</a:t>
            </a:r>
          </a:p>
          <a:p>
            <a:pPr marL="360000" indent="-360000">
              <a:spcBef>
                <a:spcPts val="600"/>
              </a:spcBef>
              <a:spcAft>
                <a:spcPts val="1200"/>
              </a:spcAft>
            </a:pPr>
            <a:r>
              <a:rPr lang="en-US" sz="2200" dirty="0" smtClean="0">
                <a:latin typeface="Helvetica" pitchFamily="34" charset="0"/>
              </a:rPr>
              <a:t>Handle and store foodstuffs in a manner that avoids damage and contamination, meets hygiene standards and maintains quality</a:t>
            </a:r>
          </a:p>
          <a:p>
            <a:pPr marL="360000" indent="-360000">
              <a:spcBef>
                <a:spcPts val="600"/>
              </a:spcBef>
              <a:spcAft>
                <a:spcPts val="1200"/>
              </a:spcAft>
            </a:pPr>
            <a:r>
              <a:rPr lang="en-US" sz="2200" dirty="0" smtClean="0">
                <a:latin typeface="Helvetica" pitchFamily="34" charset="0"/>
              </a:rPr>
              <a:t>Store foodstuffs at the correct temperature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830446" y="1987554"/>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848600" y="3124200"/>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830446" y="4038600"/>
            <a:ext cx="399154" cy="527046"/>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52600"/>
            <a:ext cx="7467600" cy="4330155"/>
          </a:xfrm>
        </p:spPr>
        <p:txBody>
          <a:bodyPr>
            <a:normAutofit/>
          </a:bodyPr>
          <a:lstStyle/>
          <a:p>
            <a:pPr marL="0" indent="0">
              <a:spcBef>
                <a:spcPts val="600"/>
              </a:spcBef>
              <a:spcAft>
                <a:spcPts val="1200"/>
              </a:spcAft>
              <a:buNone/>
            </a:pPr>
            <a:r>
              <a:rPr lang="en-US" sz="2200" dirty="0" smtClean="0">
                <a:latin typeface="Helvetica" pitchFamily="34" charset="0"/>
              </a:rPr>
              <a:t>There are three storage options for food:</a:t>
            </a:r>
          </a:p>
          <a:p>
            <a:pPr marL="360000" indent="-360000">
              <a:spcBef>
                <a:spcPts val="600"/>
              </a:spcBef>
              <a:spcAft>
                <a:spcPts val="1200"/>
              </a:spcAft>
            </a:pPr>
            <a:r>
              <a:rPr lang="en-US" sz="2200" dirty="0" smtClean="0">
                <a:latin typeface="Helvetica" pitchFamily="34" charset="0"/>
              </a:rPr>
              <a:t>Dry goods storage</a:t>
            </a:r>
          </a:p>
          <a:p>
            <a:pPr marL="360000" indent="-360000">
              <a:spcBef>
                <a:spcPts val="600"/>
              </a:spcBef>
              <a:spcAft>
                <a:spcPts val="1200"/>
              </a:spcAft>
            </a:pPr>
            <a:r>
              <a:rPr lang="en-US" sz="2200" dirty="0" smtClean="0">
                <a:latin typeface="Helvetica" pitchFamily="34" charset="0"/>
              </a:rPr>
              <a:t>Refrigerated goods storage</a:t>
            </a:r>
          </a:p>
          <a:p>
            <a:pPr marL="360000" indent="-360000">
              <a:spcBef>
                <a:spcPts val="600"/>
              </a:spcBef>
              <a:spcAft>
                <a:spcPts val="1200"/>
              </a:spcAft>
            </a:pPr>
            <a:r>
              <a:rPr lang="en-US" sz="2200" dirty="0" smtClean="0">
                <a:latin typeface="Helvetica" pitchFamily="34" charset="0"/>
              </a:rPr>
              <a:t>Frozen goods storage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descr="I:\Overseas Projects\PHOTOS\2012\Culinary 2012\Others\DSC_0078.jpg"/>
          <p:cNvPicPr/>
          <p:nvPr/>
        </p:nvPicPr>
        <p:blipFill>
          <a:blip r:embed="rId3" cstate="print">
            <a:lum bright="10000" contrast="20000"/>
          </a:blip>
          <a:srcRect/>
          <a:stretch>
            <a:fillRect/>
          </a:stretch>
        </p:blipFill>
        <p:spPr bwMode="auto">
          <a:xfrm>
            <a:off x="6400800" y="1854316"/>
            <a:ext cx="1950851" cy="1297593"/>
          </a:xfrm>
          <a:prstGeom prst="rect">
            <a:avLst/>
          </a:prstGeom>
          <a:noFill/>
          <a:ln w="9525">
            <a:noFill/>
            <a:miter lim="800000"/>
            <a:headEnd/>
            <a:tailEnd/>
          </a:ln>
        </p:spPr>
      </p:pic>
      <p:pic>
        <p:nvPicPr>
          <p:cNvPr id="6" name="Picture 5" descr="I:\Overseas Projects\PHOTOS\2012\Culinary 2012\Others\FridgeandFreezer.jpg"/>
          <p:cNvPicPr/>
          <p:nvPr/>
        </p:nvPicPr>
        <p:blipFill>
          <a:blip r:embed="rId4" cstate="print"/>
          <a:srcRect l="4067" t="5120" r="28978"/>
          <a:stretch>
            <a:fillRect/>
          </a:stretch>
        </p:blipFill>
        <p:spPr bwMode="auto">
          <a:xfrm>
            <a:off x="6400800" y="3429000"/>
            <a:ext cx="1928503" cy="1828800"/>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Basic food storage requirements:</a:t>
            </a:r>
          </a:p>
          <a:p>
            <a:pPr marL="360000" indent="-360000">
              <a:spcBef>
                <a:spcPts val="600"/>
              </a:spcBef>
              <a:spcAft>
                <a:spcPts val="1200"/>
              </a:spcAft>
            </a:pPr>
            <a:r>
              <a:rPr lang="en-US" sz="2200" dirty="0" smtClean="0">
                <a:latin typeface="Helvetica" pitchFamily="34" charset="0"/>
              </a:rPr>
              <a:t>Use food grade storage equipment</a:t>
            </a:r>
          </a:p>
          <a:p>
            <a:pPr marL="360000" indent="-360000">
              <a:spcBef>
                <a:spcPts val="600"/>
              </a:spcBef>
              <a:spcAft>
                <a:spcPts val="1200"/>
              </a:spcAft>
            </a:pPr>
            <a:r>
              <a:rPr lang="en-US" sz="2200" dirty="0" smtClean="0">
                <a:latin typeface="Helvetica" pitchFamily="34" charset="0"/>
              </a:rPr>
              <a:t>Cover food</a:t>
            </a:r>
          </a:p>
          <a:p>
            <a:pPr marL="360000" indent="-360000">
              <a:spcBef>
                <a:spcPts val="600"/>
              </a:spcBef>
              <a:spcAft>
                <a:spcPts val="1200"/>
              </a:spcAft>
            </a:pPr>
            <a:r>
              <a:rPr lang="en-US" sz="2200" dirty="0" smtClean="0">
                <a:latin typeface="Helvetica" pitchFamily="34" charset="0"/>
              </a:rPr>
              <a:t>Rotate stock</a:t>
            </a:r>
          </a:p>
          <a:p>
            <a:pPr marL="360000" indent="-360000">
              <a:spcBef>
                <a:spcPts val="600"/>
              </a:spcBef>
              <a:spcAft>
                <a:spcPts val="1200"/>
              </a:spcAft>
            </a:pPr>
            <a:r>
              <a:rPr lang="en-US" sz="2200" dirty="0" smtClean="0">
                <a:latin typeface="Helvetica" pitchFamily="34" charset="0"/>
              </a:rPr>
              <a:t>Keep areas clean</a:t>
            </a:r>
          </a:p>
          <a:p>
            <a:pPr marL="360000" indent="-360000">
              <a:spcBef>
                <a:spcPts val="600"/>
              </a:spcBef>
              <a:spcAft>
                <a:spcPts val="1200"/>
              </a:spcAft>
            </a:pPr>
            <a:r>
              <a:rPr lang="en-US" sz="2200" dirty="0" smtClean="0">
                <a:latin typeface="Helvetica" pitchFamily="34" charset="0"/>
              </a:rPr>
              <a:t>Never store food on the floor</a:t>
            </a:r>
          </a:p>
          <a:p>
            <a:pPr marL="360000" indent="-360000">
              <a:spcBef>
                <a:spcPts val="600"/>
              </a:spcBef>
              <a:spcAft>
                <a:spcPts val="1200"/>
              </a:spcAft>
            </a:pPr>
            <a:r>
              <a:rPr lang="en-US" sz="2200" dirty="0" smtClean="0">
                <a:latin typeface="Helvetica" pitchFamily="34" charset="0"/>
              </a:rPr>
              <a:t>Prevent pest infestation</a:t>
            </a:r>
          </a:p>
          <a:p>
            <a:pPr marL="360000" indent="-360000" algn="ctr">
              <a:spcBef>
                <a:spcPts val="600"/>
              </a:spcBef>
              <a:spcAft>
                <a:spcPts val="1200"/>
              </a:spcAft>
              <a:buNone/>
            </a:pPr>
            <a:r>
              <a:rPr lang="en-US" sz="2200" dirty="0" smtClean="0">
                <a:latin typeface="Helvetica" pitchFamily="34" charset="0"/>
              </a:rPr>
              <a:t>‘Beverages’ are ‘food’.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grpSp>
        <p:nvGrpSpPr>
          <p:cNvPr id="5" name="Group 4"/>
          <p:cNvGrpSpPr/>
          <p:nvPr/>
        </p:nvGrpSpPr>
        <p:grpSpPr>
          <a:xfrm>
            <a:off x="5215467" y="2819400"/>
            <a:ext cx="3087175" cy="1981200"/>
            <a:chOff x="5215467" y="2819400"/>
            <a:chExt cx="3087175" cy="1981200"/>
          </a:xfrm>
        </p:grpSpPr>
        <p:pic>
          <p:nvPicPr>
            <p:cNvPr id="1026" name="Picture 2" descr="I:\Overseas Projects\PHOTOS\2012\Culinary 2011\Foodstorage2CCLinda&amp;Clark.jpg"/>
            <p:cNvPicPr>
              <a:picLocks noChangeAspect="1" noChangeArrowheads="1"/>
            </p:cNvPicPr>
            <p:nvPr/>
          </p:nvPicPr>
          <p:blipFill>
            <a:blip r:embed="rId3" cstate="print"/>
            <a:srcRect/>
            <a:stretch>
              <a:fillRect/>
            </a:stretch>
          </p:blipFill>
          <p:spPr bwMode="auto">
            <a:xfrm>
              <a:off x="5215467" y="2819400"/>
              <a:ext cx="1449388" cy="1981200"/>
            </a:xfrm>
            <a:prstGeom prst="rect">
              <a:avLst/>
            </a:prstGeom>
            <a:noFill/>
          </p:spPr>
        </p:pic>
        <p:pic>
          <p:nvPicPr>
            <p:cNvPr id="1027" name="Picture 3" descr="I:\Overseas Projects\PHOTOS\2012\Culinary 2011\FoodstorageCCLinda&amp;Clark.jpg"/>
            <p:cNvPicPr>
              <a:picLocks noChangeAspect="1" noChangeArrowheads="1"/>
            </p:cNvPicPr>
            <p:nvPr/>
          </p:nvPicPr>
          <p:blipFill>
            <a:blip r:embed="rId4" cstate="print"/>
            <a:srcRect/>
            <a:stretch>
              <a:fillRect/>
            </a:stretch>
          </p:blipFill>
          <p:spPr bwMode="auto">
            <a:xfrm>
              <a:off x="6815667" y="2819400"/>
              <a:ext cx="1486975" cy="1981200"/>
            </a:xfrm>
            <a:prstGeom prst="rect">
              <a:avLst/>
            </a:prstGeom>
            <a:noFill/>
          </p:spPr>
        </p:pic>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Safe food handling practices when receiving food:</a:t>
            </a:r>
          </a:p>
          <a:p>
            <a:pPr marL="360000" indent="-360000">
              <a:spcBef>
                <a:spcPts val="600"/>
              </a:spcBef>
              <a:spcAft>
                <a:spcPts val="1200"/>
              </a:spcAft>
            </a:pPr>
            <a:r>
              <a:rPr lang="en-US" sz="2200" dirty="0" smtClean="0">
                <a:latin typeface="Helvetica" pitchFamily="34" charset="0"/>
              </a:rPr>
              <a:t>Inspect the food delivered</a:t>
            </a:r>
          </a:p>
          <a:p>
            <a:pPr marL="360000" indent="-360000">
              <a:spcBef>
                <a:spcPts val="600"/>
              </a:spcBef>
              <a:spcAft>
                <a:spcPts val="1200"/>
              </a:spcAft>
            </a:pPr>
            <a:r>
              <a:rPr lang="en-US" sz="2200" dirty="0" smtClean="0">
                <a:latin typeface="Helvetica" pitchFamily="34" charset="0"/>
              </a:rPr>
              <a:t>Inspect the delivery vehicle</a:t>
            </a:r>
          </a:p>
          <a:p>
            <a:pPr marL="360000" indent="-360000">
              <a:spcBef>
                <a:spcPts val="600"/>
              </a:spcBef>
              <a:spcAft>
                <a:spcPts val="1200"/>
              </a:spcAft>
            </a:pPr>
            <a:r>
              <a:rPr lang="en-US" sz="2200" dirty="0" smtClean="0">
                <a:latin typeface="Helvetica" pitchFamily="34" charset="0"/>
              </a:rPr>
              <a:t>Check the practices of the delivery driver</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2051" name="Picture 3" descr="C:\Documents and Settings\danielc\Local Settings\Temporary Internet Files\Content.IE5\V9A2RTT8\MC900230996[1].wmf"/>
          <p:cNvPicPr>
            <a:picLocks noChangeAspect="1" noChangeArrowheads="1"/>
          </p:cNvPicPr>
          <p:nvPr/>
        </p:nvPicPr>
        <p:blipFill>
          <a:blip r:embed="rId3" cstate="print"/>
          <a:srcRect/>
          <a:stretch>
            <a:fillRect/>
          </a:stretch>
        </p:blipFill>
        <p:spPr bwMode="auto">
          <a:xfrm>
            <a:off x="6781800" y="2131626"/>
            <a:ext cx="1761653" cy="1738845"/>
          </a:xfrm>
          <a:prstGeom prst="rect">
            <a:avLst/>
          </a:prstGeom>
          <a:noFill/>
        </p:spPr>
      </p:pic>
      <p:pic>
        <p:nvPicPr>
          <p:cNvPr id="2052" name="Picture 4" descr="C:\Documents and Settings\danielc\Local Settings\Temporary Internet Files\Content.IE5\3Y3SDCJX\MC900230994[1].wmf"/>
          <p:cNvPicPr>
            <a:picLocks noChangeAspect="1" noChangeArrowheads="1"/>
          </p:cNvPicPr>
          <p:nvPr/>
        </p:nvPicPr>
        <p:blipFill>
          <a:blip r:embed="rId4" cstate="print"/>
          <a:srcRect/>
          <a:stretch>
            <a:fillRect/>
          </a:stretch>
        </p:blipFill>
        <p:spPr bwMode="auto">
          <a:xfrm>
            <a:off x="6477000" y="4114800"/>
            <a:ext cx="2033257" cy="1445154"/>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52600"/>
            <a:ext cx="7467600" cy="4330155"/>
          </a:xfrm>
        </p:spPr>
        <p:txBody>
          <a:bodyPr>
            <a:normAutofit/>
          </a:bodyPr>
          <a:lstStyle/>
          <a:p>
            <a:pPr marL="360000" indent="-360000">
              <a:spcBef>
                <a:spcPts val="600"/>
              </a:spcBef>
              <a:spcAft>
                <a:spcPts val="1200"/>
              </a:spcAft>
            </a:pPr>
            <a:r>
              <a:rPr lang="en-US" sz="2200" dirty="0" smtClean="0">
                <a:latin typeface="Helvetica" pitchFamily="34" charset="0"/>
              </a:rPr>
              <a:t>Make sure someone is available to receive all deliveries</a:t>
            </a:r>
          </a:p>
          <a:p>
            <a:pPr marL="360000" indent="-360000">
              <a:spcBef>
                <a:spcPts val="600"/>
              </a:spcBef>
              <a:spcAft>
                <a:spcPts val="1200"/>
              </a:spcAft>
            </a:pPr>
            <a:r>
              <a:rPr lang="en-US" sz="2200" dirty="0" smtClean="0">
                <a:latin typeface="Helvetica" pitchFamily="34" charset="0"/>
              </a:rPr>
              <a:t>Check food temperature</a:t>
            </a:r>
          </a:p>
          <a:p>
            <a:pPr marL="360000" indent="-360000">
              <a:spcBef>
                <a:spcPts val="600"/>
              </a:spcBef>
              <a:spcAft>
                <a:spcPts val="1200"/>
              </a:spcAft>
            </a:pPr>
            <a:r>
              <a:rPr lang="en-US" sz="2200" dirty="0" smtClean="0">
                <a:latin typeface="Helvetica" pitchFamily="34" charset="0"/>
              </a:rPr>
              <a:t>Check packaging and labels</a:t>
            </a:r>
          </a:p>
          <a:p>
            <a:pPr marL="360000" indent="-360000">
              <a:spcBef>
                <a:spcPts val="600"/>
              </a:spcBef>
              <a:spcAft>
                <a:spcPts val="1200"/>
              </a:spcAft>
            </a:pPr>
            <a:r>
              <a:rPr lang="en-US" sz="2200" dirty="0" smtClean="0">
                <a:latin typeface="Helvetica" pitchFamily="34" charset="0"/>
              </a:rPr>
              <a:t>Store food promptly after delivery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descr="I:\Overseas Projects\PHOTOS\2012\Culinary 2012\Others\DSC_0073.jpg"/>
          <p:cNvPicPr/>
          <p:nvPr/>
        </p:nvPicPr>
        <p:blipFill>
          <a:blip r:embed="rId3" cstate="print">
            <a:lum bright="10000" contrast="20000"/>
          </a:blip>
          <a:srcRect/>
          <a:stretch>
            <a:fillRect/>
          </a:stretch>
        </p:blipFill>
        <p:spPr bwMode="auto">
          <a:xfrm>
            <a:off x="6096000" y="2895600"/>
            <a:ext cx="2056221" cy="1371600"/>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‘Potentially hazardous’ food:</a:t>
            </a:r>
          </a:p>
          <a:p>
            <a:pPr marL="360000" indent="-360000">
              <a:spcBef>
                <a:spcPts val="600"/>
              </a:spcBef>
              <a:spcAft>
                <a:spcPts val="1200"/>
              </a:spcAft>
            </a:pPr>
            <a:r>
              <a:rPr lang="en-US" sz="2200" dirty="0" smtClean="0">
                <a:latin typeface="Helvetica" pitchFamily="34" charset="0"/>
              </a:rPr>
              <a:t>Also known as ‘high-risk’ food</a:t>
            </a:r>
          </a:p>
          <a:p>
            <a:pPr marL="360000" indent="-360000">
              <a:spcBef>
                <a:spcPts val="600"/>
              </a:spcBef>
              <a:spcAft>
                <a:spcPts val="1200"/>
              </a:spcAft>
            </a:pPr>
            <a:r>
              <a:rPr lang="en-US" sz="2200" dirty="0" smtClean="0">
                <a:latin typeface="Helvetica" pitchFamily="34" charset="0"/>
              </a:rPr>
              <a:t>Must be stored under temperature-controlled </a:t>
            </a:r>
            <a:br>
              <a:rPr lang="en-US" sz="2200" dirty="0" smtClean="0">
                <a:latin typeface="Helvetica" pitchFamily="34" charset="0"/>
              </a:rPr>
            </a:br>
            <a:r>
              <a:rPr lang="en-US" sz="2200" dirty="0" smtClean="0">
                <a:latin typeface="Helvetica" pitchFamily="34" charset="0"/>
              </a:rPr>
              <a:t>conditions</a:t>
            </a:r>
          </a:p>
          <a:p>
            <a:pPr marL="360000" indent="-360000">
              <a:spcBef>
                <a:spcPts val="600"/>
              </a:spcBef>
              <a:spcAft>
                <a:spcPts val="1200"/>
              </a:spcAft>
            </a:pPr>
            <a:r>
              <a:rPr lang="en-US" sz="2200" dirty="0" smtClean="0">
                <a:latin typeface="Helvetica" pitchFamily="34" charset="0"/>
              </a:rPr>
              <a:t>Range of these foods is potentially endless</a:t>
            </a:r>
          </a:p>
          <a:p>
            <a:pPr marL="360000" indent="-360000">
              <a:spcBef>
                <a:spcPts val="600"/>
              </a:spcBef>
              <a:spcAft>
                <a:spcPts val="1200"/>
              </a:spcAft>
            </a:pPr>
            <a:r>
              <a:rPr lang="en-US" sz="2200" dirty="0" smtClean="0">
                <a:latin typeface="Helvetica" pitchFamily="34" charset="0"/>
              </a:rPr>
              <a:t>High-risk food is mainly</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High in protein and moisture</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Low acid</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6" name="Picture 5" descr="GibleChicken.jpg"/>
          <p:cNvPicPr/>
          <p:nvPr/>
        </p:nvPicPr>
        <p:blipFill>
          <a:blip r:embed="rId3" cstate="print"/>
          <a:stretch>
            <a:fillRect/>
          </a:stretch>
        </p:blipFill>
        <p:spPr>
          <a:xfrm>
            <a:off x="6781800" y="2819400"/>
            <a:ext cx="1560368" cy="1555668"/>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615408"/>
          </a:xfrm>
        </p:spPr>
        <p:txBody>
          <a:bodyPr>
            <a:normAutofit lnSpcReduction="10000"/>
          </a:bodyPr>
          <a:lstStyle/>
          <a:p>
            <a:pPr marL="0" indent="0">
              <a:spcBef>
                <a:spcPts val="600"/>
              </a:spcBef>
              <a:spcAft>
                <a:spcPts val="1200"/>
              </a:spcAft>
              <a:buNone/>
            </a:pPr>
            <a:r>
              <a:rPr lang="en-US" sz="2200" dirty="0" smtClean="0">
                <a:latin typeface="Helvetica" pitchFamily="34" charset="0"/>
              </a:rPr>
              <a:t>Potentially hazardous foods include:</a:t>
            </a:r>
          </a:p>
          <a:p>
            <a:pPr marL="360000" indent="-360000">
              <a:spcBef>
                <a:spcPts val="600"/>
              </a:spcBef>
              <a:spcAft>
                <a:spcPts val="1200"/>
              </a:spcAft>
            </a:pPr>
            <a:r>
              <a:rPr lang="en-US" sz="2200" dirty="0" smtClean="0">
                <a:latin typeface="Helvetica" pitchFamily="34" charset="0"/>
              </a:rPr>
              <a:t>Milk, milk products, cheese</a:t>
            </a:r>
          </a:p>
          <a:p>
            <a:pPr marL="360000" indent="-360000">
              <a:spcBef>
                <a:spcPts val="600"/>
              </a:spcBef>
              <a:spcAft>
                <a:spcPts val="1200"/>
              </a:spcAft>
            </a:pPr>
            <a:r>
              <a:rPr lang="en-US" sz="2200" dirty="0" smtClean="0">
                <a:latin typeface="Helvetica" pitchFamily="34" charset="0"/>
              </a:rPr>
              <a:t>Eggs and egg products</a:t>
            </a:r>
          </a:p>
          <a:p>
            <a:pPr marL="360000" indent="-360000">
              <a:spcBef>
                <a:spcPts val="600"/>
              </a:spcBef>
              <a:spcAft>
                <a:spcPts val="1200"/>
              </a:spcAft>
            </a:pPr>
            <a:r>
              <a:rPr lang="en-US" sz="2200" dirty="0" smtClean="0">
                <a:latin typeface="Helvetica" pitchFamily="34" charset="0"/>
              </a:rPr>
              <a:t>Meat and poultry – all types; all cuts</a:t>
            </a:r>
          </a:p>
          <a:p>
            <a:pPr marL="360000" indent="-360000">
              <a:spcBef>
                <a:spcPts val="600"/>
              </a:spcBef>
              <a:spcAft>
                <a:spcPts val="1200"/>
              </a:spcAft>
            </a:pPr>
            <a:r>
              <a:rPr lang="en-US" sz="2200" dirty="0" smtClean="0">
                <a:latin typeface="Helvetica" pitchFamily="34" charset="0"/>
              </a:rPr>
              <a:t>Smallgoods</a:t>
            </a:r>
          </a:p>
          <a:p>
            <a:pPr marL="360000" indent="-360000">
              <a:spcBef>
                <a:spcPts val="600"/>
              </a:spcBef>
              <a:spcAft>
                <a:spcPts val="1200"/>
              </a:spcAft>
            </a:pPr>
            <a:r>
              <a:rPr lang="en-US" sz="2200" dirty="0" smtClean="0">
                <a:latin typeface="Helvetica" pitchFamily="34" charset="0"/>
              </a:rPr>
              <a:t>Processed meat products</a:t>
            </a:r>
          </a:p>
          <a:p>
            <a:pPr marL="360000" indent="-360000">
              <a:spcBef>
                <a:spcPts val="600"/>
              </a:spcBef>
              <a:spcAft>
                <a:spcPts val="1200"/>
              </a:spcAft>
            </a:pPr>
            <a:r>
              <a:rPr lang="en-US" sz="2200" dirty="0" smtClean="0">
                <a:latin typeface="Helvetica" pitchFamily="34" charset="0"/>
              </a:rPr>
              <a:t>Fish, shellfish and seafood</a:t>
            </a:r>
          </a:p>
          <a:p>
            <a:pPr marL="360000" indent="-360000">
              <a:spcBef>
                <a:spcPts val="600"/>
              </a:spcBef>
              <a:spcAft>
                <a:spcPts val="1200"/>
              </a:spcAft>
            </a:pPr>
            <a:r>
              <a:rPr lang="en-US" sz="2200" dirty="0" smtClean="0">
                <a:latin typeface="Helvetica" pitchFamily="34" charset="0"/>
              </a:rPr>
              <a:t>Pizza, prepared meals, filled sandwiches and rolls, cooked rice and pasta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descr="Meat chart1.jpg"/>
          <p:cNvPicPr/>
          <p:nvPr/>
        </p:nvPicPr>
        <p:blipFill>
          <a:blip r:embed="rId3" cstate="print"/>
          <a:srcRect r="5159"/>
          <a:stretch>
            <a:fillRect/>
          </a:stretch>
        </p:blipFill>
        <p:spPr>
          <a:xfrm>
            <a:off x="6324600" y="1524000"/>
            <a:ext cx="1702872" cy="1793174"/>
          </a:xfrm>
          <a:prstGeom prst="rect">
            <a:avLst/>
          </a:prstGeom>
        </p:spPr>
      </p:pic>
      <p:pic>
        <p:nvPicPr>
          <p:cNvPr id="6" name="Picture 5" descr="shutterstock_81162511.jpg"/>
          <p:cNvPicPr/>
          <p:nvPr/>
        </p:nvPicPr>
        <p:blipFill>
          <a:blip r:embed="rId4" cstate="print"/>
          <a:stretch>
            <a:fillRect/>
          </a:stretch>
        </p:blipFill>
        <p:spPr>
          <a:xfrm>
            <a:off x="6400800" y="3733800"/>
            <a:ext cx="1702872" cy="130628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Temperature Danger Zone:</a:t>
            </a:r>
          </a:p>
          <a:p>
            <a:pPr marL="360000" indent="-360000">
              <a:spcBef>
                <a:spcPts val="600"/>
              </a:spcBef>
              <a:spcAft>
                <a:spcPts val="1200"/>
              </a:spcAft>
            </a:pPr>
            <a:r>
              <a:rPr lang="en-US" sz="2200" dirty="0" smtClean="0">
                <a:latin typeface="Helvetica" pitchFamily="34" charset="0"/>
              </a:rPr>
              <a:t>The temperature range in which food poisoning bacteria multiply most rapidly</a:t>
            </a:r>
          </a:p>
          <a:p>
            <a:pPr marL="360000" indent="-360000">
              <a:spcBef>
                <a:spcPts val="600"/>
              </a:spcBef>
              <a:spcAft>
                <a:spcPts val="1200"/>
              </a:spcAft>
            </a:pPr>
            <a:r>
              <a:rPr lang="en-US" sz="2200" dirty="0" smtClean="0">
                <a:latin typeface="Helvetica" pitchFamily="34" charset="0"/>
              </a:rPr>
              <a:t>This is 5˚C to 60 ˚C</a:t>
            </a:r>
          </a:p>
          <a:p>
            <a:pPr marL="360000" indent="-360000">
              <a:spcBef>
                <a:spcPts val="600"/>
              </a:spcBef>
              <a:spcAft>
                <a:spcPts val="1200"/>
              </a:spcAft>
            </a:pPr>
            <a:r>
              <a:rPr lang="en-US" sz="2200" dirty="0" smtClean="0">
                <a:latin typeface="Helvetica" pitchFamily="34" charset="0"/>
              </a:rPr>
              <a:t>Keep food out of this range OR minimize </a:t>
            </a:r>
            <a:br>
              <a:rPr lang="en-US" sz="2200" dirty="0" smtClean="0">
                <a:latin typeface="Helvetica" pitchFamily="34" charset="0"/>
              </a:rPr>
            </a:br>
            <a:r>
              <a:rPr lang="en-US" sz="2200" dirty="0" smtClean="0">
                <a:latin typeface="Helvetica" pitchFamily="34" charset="0"/>
              </a:rPr>
              <a:t>time food spends in this range</a:t>
            </a:r>
          </a:p>
          <a:p>
            <a:pPr marL="360000" indent="-360000">
              <a:spcBef>
                <a:spcPts val="600"/>
              </a:spcBef>
              <a:spcAft>
                <a:spcPts val="1200"/>
              </a:spcAft>
            </a:pPr>
            <a:r>
              <a:rPr lang="en-US" sz="2200" dirty="0" smtClean="0">
                <a:latin typeface="Helvetica" pitchFamily="34" charset="0"/>
              </a:rPr>
              <a:t>All time food spends in this temperature </a:t>
            </a:r>
            <a:br>
              <a:rPr lang="en-US" sz="2200" dirty="0" smtClean="0">
                <a:latin typeface="Helvetica" pitchFamily="34" charset="0"/>
              </a:rPr>
            </a:br>
            <a:r>
              <a:rPr lang="en-US" sz="2200" dirty="0" smtClean="0">
                <a:latin typeface="Helvetica" pitchFamily="34" charset="0"/>
              </a:rPr>
              <a:t>range is cumulative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6" name="Picture 5" descr="temperature.gif"/>
          <p:cNvPicPr>
            <a:picLocks noChangeAspect="1"/>
          </p:cNvPicPr>
          <p:nvPr/>
        </p:nvPicPr>
        <p:blipFill>
          <a:blip r:embed="rId3" cstate="print"/>
          <a:stretch>
            <a:fillRect/>
          </a:stretch>
        </p:blipFill>
        <p:spPr>
          <a:xfrm>
            <a:off x="6934200" y="3296356"/>
            <a:ext cx="1543050" cy="2105025"/>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The ‘2/4 rule’:</a:t>
            </a:r>
          </a:p>
          <a:p>
            <a:pPr marL="360000" indent="-360000">
              <a:spcBef>
                <a:spcPts val="600"/>
              </a:spcBef>
              <a:spcAft>
                <a:spcPts val="1200"/>
              </a:spcAft>
            </a:pPr>
            <a:r>
              <a:rPr lang="en-US" sz="2200" dirty="0" smtClean="0">
                <a:latin typeface="Helvetica" pitchFamily="34" charset="0"/>
              </a:rPr>
              <a:t>Potentially hazardous food which has been in the Temperature Danger Zone for 4 hours or more must be thrown out</a:t>
            </a:r>
          </a:p>
          <a:p>
            <a:pPr marL="360000" indent="-360000">
              <a:spcBef>
                <a:spcPts val="600"/>
              </a:spcBef>
              <a:spcAft>
                <a:spcPts val="1200"/>
              </a:spcAft>
            </a:pPr>
            <a:r>
              <a:rPr lang="en-US" sz="2200" dirty="0" smtClean="0">
                <a:latin typeface="Helvetica" pitchFamily="34" charset="0"/>
              </a:rPr>
              <a:t>Potentially hazardous food which has been in the Temperature Danger Zone for 2 hours can be refrigerated and then returned to the Temperature Danger Zone for another 2 hours</a:t>
            </a:r>
          </a:p>
          <a:p>
            <a:pPr marL="360000" indent="-360000">
              <a:spcBef>
                <a:spcPts val="600"/>
              </a:spcBef>
              <a:spcAft>
                <a:spcPts val="1200"/>
              </a:spcAft>
            </a:pPr>
            <a:r>
              <a:rPr lang="en-US" sz="2200" dirty="0" smtClean="0">
                <a:latin typeface="Helvetica" pitchFamily="34" charset="0"/>
              </a:rPr>
              <a:t>High-risk food which has been in the Temperature Danger Zone for 2 hours must be cooked or eaten within next 2 hours or be thrown out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48808"/>
          </a:xfrm>
        </p:spPr>
        <p:txBody>
          <a:bodyPr>
            <a:normAutofit/>
          </a:bodyPr>
          <a:lstStyle/>
          <a:p>
            <a:pPr marL="0" indent="0">
              <a:spcBef>
                <a:spcPts val="600"/>
              </a:spcBef>
              <a:spcAft>
                <a:spcPts val="1200"/>
              </a:spcAft>
              <a:buNone/>
            </a:pPr>
            <a:r>
              <a:rPr lang="en-US" sz="2200" dirty="0" smtClean="0">
                <a:latin typeface="Helvetica" pitchFamily="34" charset="0"/>
              </a:rPr>
              <a:t>‘Two-step’ rule for cooling hot high-risk food:</a:t>
            </a:r>
          </a:p>
          <a:p>
            <a:pPr marL="360000" indent="-360000">
              <a:spcBef>
                <a:spcPts val="600"/>
              </a:spcBef>
              <a:spcAft>
                <a:spcPts val="1200"/>
              </a:spcAft>
            </a:pPr>
            <a:r>
              <a:rPr lang="en-US" sz="2200" dirty="0" smtClean="0">
                <a:latin typeface="Helvetica" pitchFamily="34" charset="0"/>
              </a:rPr>
              <a:t>Step 1:</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Cool hot food to 21˚C within 2 hours</a:t>
            </a:r>
          </a:p>
          <a:p>
            <a:pPr marL="360000" indent="-360000">
              <a:spcBef>
                <a:spcPts val="600"/>
              </a:spcBef>
              <a:spcAft>
                <a:spcPts val="1200"/>
              </a:spcAft>
            </a:pPr>
            <a:r>
              <a:rPr lang="en-US" sz="2200" dirty="0" smtClean="0">
                <a:latin typeface="Helvetica" pitchFamily="34" charset="0"/>
              </a:rPr>
              <a:t>Step 2:</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Once it has reached 21˚C it must reach 5˚C (or less) within a further 4 hours</a:t>
            </a:r>
          </a:p>
          <a:p>
            <a:pPr marL="360000" indent="-360000">
              <a:spcBef>
                <a:spcPts val="600"/>
              </a:spcBef>
              <a:spcAft>
                <a:spcPts val="1200"/>
              </a:spcAft>
            </a:pPr>
            <a:r>
              <a:rPr lang="en-US" sz="2200" dirty="0" smtClean="0">
                <a:latin typeface="Helvetica" pitchFamily="34" charset="0"/>
              </a:rPr>
              <a:t>High-risk not conforming to these requirements must be thrown out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3074" name="Picture 2" descr="C:\Documents and Settings\danielc\Desktop\Apply safety proc handling food images\freeimage-3003908.jpg"/>
          <p:cNvPicPr>
            <a:picLocks noChangeAspect="1" noChangeArrowheads="1"/>
          </p:cNvPicPr>
          <p:nvPr/>
        </p:nvPicPr>
        <p:blipFill>
          <a:blip r:embed="rId3" cstate="print"/>
          <a:srcRect/>
          <a:stretch>
            <a:fillRect/>
          </a:stretch>
        </p:blipFill>
        <p:spPr bwMode="auto">
          <a:xfrm>
            <a:off x="6172200" y="2057400"/>
            <a:ext cx="2308225" cy="1534820"/>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48808"/>
          </a:xfrm>
        </p:spPr>
        <p:txBody>
          <a:bodyPr>
            <a:normAutofit/>
          </a:bodyPr>
          <a:lstStyle/>
          <a:p>
            <a:pPr marL="0" indent="0">
              <a:spcBef>
                <a:spcPts val="600"/>
              </a:spcBef>
              <a:spcAft>
                <a:spcPts val="1200"/>
              </a:spcAft>
              <a:buNone/>
            </a:pPr>
            <a:r>
              <a:rPr lang="en-US" sz="2200" dirty="0" smtClean="0">
                <a:latin typeface="Helvetica" pitchFamily="34" charset="0"/>
              </a:rPr>
              <a:t>Thawing or defrosting frozen food:</a:t>
            </a:r>
          </a:p>
          <a:p>
            <a:pPr marL="360000" indent="-360000">
              <a:spcBef>
                <a:spcPts val="600"/>
              </a:spcBef>
              <a:spcAft>
                <a:spcPts val="1200"/>
              </a:spcAft>
            </a:pPr>
            <a:r>
              <a:rPr lang="en-US" sz="2200" dirty="0" smtClean="0">
                <a:latin typeface="Helvetica" pitchFamily="34" charset="0"/>
              </a:rPr>
              <a:t>Must occur:</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Under refrigeration, or</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In a microwave, or</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Under cold running water</a:t>
            </a:r>
          </a:p>
          <a:p>
            <a:pPr marL="360000" indent="-360000">
              <a:spcBef>
                <a:spcPts val="600"/>
              </a:spcBef>
              <a:spcAft>
                <a:spcPts val="1200"/>
              </a:spcAft>
            </a:pPr>
            <a:r>
              <a:rPr lang="en-US" sz="2200" dirty="0" smtClean="0">
                <a:latin typeface="Helvetica" pitchFamily="34" charset="0"/>
              </a:rPr>
              <a:t>Must not occur by:</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Placing into sink of water or bowl of water, or</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Leaving items on bench for prolonged period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4098" name="Picture 2" descr="C:\Documents and Settings\danielc\Desktop\Apply safety proc handling food images\freeimage-3330145.jpg"/>
          <p:cNvPicPr>
            <a:picLocks noChangeAspect="1" noChangeArrowheads="1"/>
          </p:cNvPicPr>
          <p:nvPr/>
        </p:nvPicPr>
        <p:blipFill>
          <a:blip r:embed="rId3" cstate="print"/>
          <a:srcRect/>
          <a:stretch>
            <a:fillRect/>
          </a:stretch>
        </p:blipFill>
        <p:spPr bwMode="auto">
          <a:xfrm>
            <a:off x="5029200" y="2286000"/>
            <a:ext cx="3048000" cy="2032000"/>
          </a:xfrm>
          <a:prstGeom prst="rect">
            <a:avLst/>
          </a:prstGeom>
          <a:noFill/>
        </p:spPr>
      </p:pic>
      <p:sp>
        <p:nvSpPr>
          <p:cNvPr id="6" name="Multiply 5"/>
          <p:cNvSpPr/>
          <p:nvPr/>
        </p:nvSpPr>
        <p:spPr>
          <a:xfrm>
            <a:off x="5562600" y="2590800"/>
            <a:ext cx="1981200" cy="1981200"/>
          </a:xfrm>
          <a:prstGeom prst="mathMultiply">
            <a:avLst>
              <a:gd name="adj1" fmla="val 1431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76400"/>
            <a:ext cx="7467600" cy="4406355"/>
          </a:xfrm>
        </p:spPr>
        <p:txBody>
          <a:bodyPr>
            <a:normAutofit/>
          </a:bodyPr>
          <a:lstStyle/>
          <a:p>
            <a:pPr marL="0" indent="0">
              <a:spcBef>
                <a:spcPts val="600"/>
              </a:spcBef>
              <a:spcAft>
                <a:spcPts val="1200"/>
              </a:spcAft>
              <a:buNone/>
            </a:pPr>
            <a:r>
              <a:rPr lang="en-US" sz="2200" dirty="0" smtClean="0">
                <a:latin typeface="Helvetica" pitchFamily="34" charset="0"/>
              </a:rPr>
              <a:t>‘Clean’ means:</a:t>
            </a:r>
          </a:p>
          <a:p>
            <a:pPr marL="360000" indent="-360000">
              <a:spcBef>
                <a:spcPts val="600"/>
              </a:spcBef>
              <a:spcAft>
                <a:spcPts val="1200"/>
              </a:spcAft>
            </a:pPr>
            <a:r>
              <a:rPr lang="en-US" sz="2200" dirty="0" smtClean="0">
                <a:latin typeface="Helvetica" pitchFamily="34" charset="0"/>
              </a:rPr>
              <a:t>Free from visible contamination</a:t>
            </a:r>
          </a:p>
          <a:p>
            <a:pPr marL="720000" indent="-360000">
              <a:spcBef>
                <a:spcPts val="600"/>
              </a:spcBef>
              <a:spcAft>
                <a:spcPts val="1200"/>
              </a:spcAft>
              <a:buClr>
                <a:schemeClr val="accent1">
                  <a:lumMod val="75000"/>
                </a:schemeClr>
              </a:buClr>
              <a:buSzPct val="100000"/>
              <a:buNone/>
            </a:pPr>
            <a:r>
              <a:rPr lang="en-US" sz="2200" dirty="0" smtClean="0">
                <a:latin typeface="Helvetica" pitchFamily="34" charset="0"/>
              </a:rPr>
              <a:t>and</a:t>
            </a:r>
          </a:p>
          <a:p>
            <a:pPr marL="360000" indent="-360000">
              <a:spcBef>
                <a:spcPts val="600"/>
              </a:spcBef>
              <a:spcAft>
                <a:spcPts val="1200"/>
              </a:spcAft>
            </a:pPr>
            <a:r>
              <a:rPr lang="en-US" sz="2200" dirty="0" smtClean="0">
                <a:latin typeface="Helvetica" pitchFamily="34" charset="0"/>
              </a:rPr>
              <a:t>Free from odor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122" name="Picture 2" descr="C:\Documents and Settings\danielc\Local Settings\Temporary Internet Files\Content.IE5\Y88G682L\MC900230809[1].wmf"/>
          <p:cNvPicPr>
            <a:picLocks noChangeAspect="1" noChangeArrowheads="1"/>
          </p:cNvPicPr>
          <p:nvPr/>
        </p:nvPicPr>
        <p:blipFill>
          <a:blip r:embed="rId3" cstate="print"/>
          <a:srcRect/>
          <a:stretch>
            <a:fillRect/>
          </a:stretch>
        </p:blipFill>
        <p:spPr bwMode="auto">
          <a:xfrm>
            <a:off x="5791200" y="2182978"/>
            <a:ext cx="2541216" cy="2248277"/>
          </a:xfrm>
          <a:prstGeom prst="rect">
            <a:avLst/>
          </a:prstGeom>
          <a:noFill/>
        </p:spPr>
      </p:pic>
      <p:pic>
        <p:nvPicPr>
          <p:cNvPr id="5123" name="Picture 3" descr="I:\Overseas Projects\PHOTOS\2012\Culinary 2011\KitchenHygienCCRovingI.jpg"/>
          <p:cNvPicPr>
            <a:picLocks noChangeAspect="1" noChangeArrowheads="1"/>
          </p:cNvPicPr>
          <p:nvPr/>
        </p:nvPicPr>
        <p:blipFill>
          <a:blip r:embed="rId4" cstate="print"/>
          <a:srcRect/>
          <a:stretch>
            <a:fillRect/>
          </a:stretch>
        </p:blipFill>
        <p:spPr bwMode="auto">
          <a:xfrm>
            <a:off x="3352800" y="3935578"/>
            <a:ext cx="2573899" cy="1931822"/>
          </a:xfrm>
          <a:prstGeom prst="rect">
            <a:avLst/>
          </a:prstGeom>
          <a:noFill/>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57200" y="1556792"/>
            <a:ext cx="7924800" cy="4525963"/>
          </a:xfrm>
        </p:spPr>
        <p:txBody>
          <a:bodyPr>
            <a:normAutofit/>
          </a:bodyPr>
          <a:lstStyle/>
          <a:p>
            <a:pPr marL="0" indent="0">
              <a:spcBef>
                <a:spcPts val="600"/>
              </a:spcBef>
              <a:spcAft>
                <a:spcPts val="1200"/>
              </a:spcAft>
              <a:buNone/>
            </a:pPr>
            <a:r>
              <a:rPr lang="en-US" sz="2200" dirty="0" smtClean="0">
                <a:latin typeface="Helvetica" pitchFamily="34" charset="0"/>
              </a:rPr>
              <a:t>Safe food handling practices when preparing food:</a:t>
            </a:r>
          </a:p>
          <a:p>
            <a:pPr marL="360000" indent="-360000">
              <a:spcBef>
                <a:spcPts val="600"/>
              </a:spcBef>
              <a:spcAft>
                <a:spcPts val="1200"/>
              </a:spcAft>
            </a:pPr>
            <a:r>
              <a:rPr lang="en-US" sz="2200" dirty="0" smtClean="0">
                <a:latin typeface="Helvetica" pitchFamily="34" charset="0"/>
              </a:rPr>
              <a:t>Ensure all food used is safe and fit for consumption</a:t>
            </a:r>
          </a:p>
          <a:p>
            <a:pPr marL="360000" indent="-360000">
              <a:spcBef>
                <a:spcPts val="600"/>
              </a:spcBef>
              <a:spcAft>
                <a:spcPts val="1200"/>
              </a:spcAft>
            </a:pPr>
            <a:r>
              <a:rPr lang="en-US" sz="2200" dirty="0" smtClean="0">
                <a:latin typeface="Helvetica" pitchFamily="34" charset="0"/>
              </a:rPr>
              <a:t>Protect food </a:t>
            </a:r>
            <a:r>
              <a:rPr lang="en-US" sz="2200" i="1" dirty="0" smtClean="0">
                <a:latin typeface="Helvetica" pitchFamily="34" charset="0"/>
              </a:rPr>
              <a:t>during </a:t>
            </a:r>
            <a:r>
              <a:rPr lang="en-US" sz="2200" dirty="0" smtClean="0">
                <a:latin typeface="Helvetica" pitchFamily="34" charset="0"/>
              </a:rPr>
              <a:t>preparation</a:t>
            </a:r>
          </a:p>
          <a:p>
            <a:pPr marL="360000" indent="-360000">
              <a:spcBef>
                <a:spcPts val="600"/>
              </a:spcBef>
              <a:spcAft>
                <a:spcPts val="1200"/>
              </a:spcAft>
            </a:pPr>
            <a:r>
              <a:rPr lang="en-US" sz="2200" dirty="0" smtClean="0">
                <a:latin typeface="Helvetica" pitchFamily="34" charset="0"/>
              </a:rPr>
              <a:t>Wash and sanitize fruit and vegetables</a:t>
            </a:r>
          </a:p>
          <a:p>
            <a:pPr marL="360000" indent="-360000">
              <a:spcBef>
                <a:spcPts val="600"/>
              </a:spcBef>
              <a:spcAft>
                <a:spcPts val="1200"/>
              </a:spcAft>
            </a:pPr>
            <a:r>
              <a:rPr lang="en-US" sz="2200" dirty="0" smtClean="0">
                <a:latin typeface="Helvetica" pitchFamily="34" charset="0"/>
              </a:rPr>
              <a:t>Excluding unhealthy staff from food prep areas and duties</a:t>
            </a: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5" name="Picture 4" descr="C:\Documents and Settings\danielc\Desktop\Apply safety proc handling food images\freeimage-2990975.jpg"/>
          <p:cNvPicPr/>
          <p:nvPr/>
        </p:nvPicPr>
        <p:blipFill>
          <a:blip r:embed="rId3" cstate="print"/>
          <a:srcRect b="7964"/>
          <a:stretch>
            <a:fillRect/>
          </a:stretch>
        </p:blipFill>
        <p:spPr bwMode="auto">
          <a:xfrm>
            <a:off x="3352800" y="4495800"/>
            <a:ext cx="2694605" cy="1828800"/>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Use only clean and sanitized equipment and utensils</a:t>
            </a:r>
          </a:p>
          <a:p>
            <a:pPr marL="360000" indent="-360000">
              <a:spcBef>
                <a:spcPts val="600"/>
              </a:spcBef>
              <a:spcAft>
                <a:spcPts val="1200"/>
              </a:spcAft>
            </a:pPr>
            <a:r>
              <a:rPr lang="en-US" sz="2200" dirty="0" smtClean="0">
                <a:latin typeface="Helvetica" pitchFamily="34" charset="0"/>
              </a:rPr>
              <a:t>Separate chemicals from food</a:t>
            </a:r>
          </a:p>
          <a:p>
            <a:pPr marL="360000" indent="-360000">
              <a:spcBef>
                <a:spcPts val="600"/>
              </a:spcBef>
              <a:spcAft>
                <a:spcPts val="1200"/>
              </a:spcAft>
            </a:pPr>
            <a:r>
              <a:rPr lang="en-US" sz="2200" dirty="0" smtClean="0">
                <a:latin typeface="Helvetica" pitchFamily="34" charset="0"/>
              </a:rPr>
              <a:t>Keep batches separate </a:t>
            </a:r>
          </a:p>
          <a:p>
            <a:pPr marL="360000" indent="-360000">
              <a:spcBef>
                <a:spcPts val="600"/>
              </a:spcBef>
              <a:spcAft>
                <a:spcPts val="1200"/>
              </a:spcAft>
            </a:pPr>
            <a:r>
              <a:rPr lang="en-US" sz="2200" dirty="0" smtClean="0">
                <a:latin typeface="Helvetica" pitchFamily="34" charset="0"/>
              </a:rPr>
              <a:t>Do not touch cooked or ready-to-eat food with bare hands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6146" name="Picture 2" descr="C:\Documents and Settings\danielc\Local Settings\Temporary Internet Files\Content.IE5\XGIII3N1\MP900305932[1].jpg"/>
          <p:cNvPicPr>
            <a:picLocks noChangeAspect="1" noChangeArrowheads="1"/>
          </p:cNvPicPr>
          <p:nvPr/>
        </p:nvPicPr>
        <p:blipFill>
          <a:blip r:embed="rId3" cstate="print"/>
          <a:srcRect/>
          <a:stretch>
            <a:fillRect/>
          </a:stretch>
        </p:blipFill>
        <p:spPr bwMode="auto">
          <a:xfrm>
            <a:off x="3352800" y="3962400"/>
            <a:ext cx="1685544" cy="2362912"/>
          </a:xfrm>
          <a:prstGeom prst="rect">
            <a:avLst/>
          </a:prstGeom>
          <a:noFill/>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Throw out all food dropped on the floor</a:t>
            </a:r>
          </a:p>
          <a:p>
            <a:pPr marL="360000" indent="-360000">
              <a:spcBef>
                <a:spcPts val="600"/>
              </a:spcBef>
              <a:spcAft>
                <a:spcPts val="1200"/>
              </a:spcAft>
            </a:pPr>
            <a:r>
              <a:rPr lang="en-US" sz="2200" dirty="0" smtClean="0">
                <a:latin typeface="Helvetica" pitchFamily="34" charset="0"/>
              </a:rPr>
              <a:t>Wash and sanitize utensils dropped on the floor before using them</a:t>
            </a:r>
          </a:p>
          <a:p>
            <a:pPr marL="360000" indent="-360000">
              <a:spcBef>
                <a:spcPts val="600"/>
              </a:spcBef>
              <a:spcAft>
                <a:spcPts val="1200"/>
              </a:spcAft>
            </a:pPr>
            <a:r>
              <a:rPr lang="en-US" sz="2200" dirty="0" smtClean="0">
                <a:latin typeface="Helvetica" pitchFamily="34" charset="0"/>
              </a:rPr>
              <a:t>Do not cough or sneeze over food or food surfaces</a:t>
            </a:r>
          </a:p>
          <a:p>
            <a:pPr marL="360000" indent="-360000">
              <a:spcBef>
                <a:spcPts val="600"/>
              </a:spcBef>
              <a:spcAft>
                <a:spcPts val="1200"/>
              </a:spcAft>
            </a:pPr>
            <a:r>
              <a:rPr lang="en-US" sz="2200" dirty="0" smtClean="0">
                <a:latin typeface="Helvetica" pitchFamily="34" charset="0"/>
              </a:rPr>
              <a:t>Use a tasting spoon (correctly)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5" name="Picture 4" descr="Washing knife.jpg"/>
          <p:cNvPicPr/>
          <p:nvPr/>
        </p:nvPicPr>
        <p:blipFill>
          <a:blip r:embed="rId3" cstate="print">
            <a:lum contrast="10000"/>
          </a:blip>
          <a:stretch>
            <a:fillRect/>
          </a:stretch>
        </p:blipFill>
        <p:spPr>
          <a:xfrm>
            <a:off x="3886200" y="4114800"/>
            <a:ext cx="1541838" cy="2126673"/>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57200" y="1556792"/>
            <a:ext cx="8229600" cy="4525963"/>
          </a:xfrm>
        </p:spPr>
        <p:txBody>
          <a:bodyPr>
            <a:normAutofit/>
          </a:bodyPr>
          <a:lstStyle/>
          <a:p>
            <a:pPr marL="0" indent="0">
              <a:spcBef>
                <a:spcPts val="600"/>
              </a:spcBef>
              <a:spcAft>
                <a:spcPts val="1200"/>
              </a:spcAft>
              <a:buNone/>
            </a:pPr>
            <a:r>
              <a:rPr lang="en-US" sz="2200" dirty="0" smtClean="0">
                <a:latin typeface="Helvetica" pitchFamily="34" charset="0"/>
              </a:rPr>
              <a:t>Safe food handling practices when using cold display units:</a:t>
            </a:r>
          </a:p>
          <a:p>
            <a:pPr marL="360000" indent="-360000">
              <a:spcBef>
                <a:spcPts val="600"/>
              </a:spcBef>
              <a:spcAft>
                <a:spcPts val="1200"/>
              </a:spcAft>
            </a:pPr>
            <a:r>
              <a:rPr lang="en-US" sz="2200" dirty="0" smtClean="0">
                <a:latin typeface="Helvetica" pitchFamily="34" charset="0"/>
              </a:rPr>
              <a:t>Food must be at 5˚C or below</a:t>
            </a:r>
          </a:p>
          <a:p>
            <a:pPr marL="360000" indent="-360000">
              <a:spcBef>
                <a:spcPts val="600"/>
              </a:spcBef>
              <a:spcAft>
                <a:spcPts val="1200"/>
              </a:spcAft>
            </a:pPr>
            <a:r>
              <a:rPr lang="en-US" sz="2200" dirty="0" smtClean="0">
                <a:latin typeface="Helvetica" pitchFamily="34" charset="0"/>
              </a:rPr>
              <a:t>Keep food covered and protected</a:t>
            </a:r>
          </a:p>
          <a:p>
            <a:pPr marL="360000" indent="-360000">
              <a:spcBef>
                <a:spcPts val="600"/>
              </a:spcBef>
              <a:spcAft>
                <a:spcPts val="1200"/>
              </a:spcAft>
            </a:pPr>
            <a:r>
              <a:rPr lang="en-US" sz="2200" dirty="0" smtClean="0">
                <a:latin typeface="Helvetica" pitchFamily="34" charset="0"/>
              </a:rPr>
              <a:t>Use FIFO principles </a:t>
            </a:r>
          </a:p>
          <a:p>
            <a:pPr marL="360000" indent="-360000">
              <a:spcBef>
                <a:spcPts val="600"/>
              </a:spcBef>
              <a:spcAft>
                <a:spcPts val="1200"/>
              </a:spcAft>
            </a:pPr>
            <a:r>
              <a:rPr lang="en-US" sz="2200" dirty="0" smtClean="0">
                <a:latin typeface="Helvetica" pitchFamily="34" charset="0"/>
              </a:rPr>
              <a:t>Check and record temperature of food at least daily</a:t>
            </a:r>
          </a:p>
          <a:p>
            <a:pPr marL="360000" indent="-360000">
              <a:spcBef>
                <a:spcPts val="600"/>
              </a:spcBef>
              <a:spcAft>
                <a:spcPts val="1200"/>
              </a:spcAft>
              <a:buNone/>
            </a:pPr>
            <a:r>
              <a:rPr lang="en-US" sz="2200" dirty="0" smtClean="0">
                <a:latin typeface="Helvetica" pitchFamily="34" charset="0"/>
              </a:rPr>
              <a:t>If refrigerated units are not used there must be another control – such as color-coding or writing times on labels on food.</a:t>
            </a:r>
          </a:p>
          <a:p>
            <a:pPr marL="360000" indent="-360000" algn="ctr">
              <a:spcBef>
                <a:spcPts val="600"/>
              </a:spcBef>
              <a:spcAft>
                <a:spcPts val="1200"/>
              </a:spcAft>
              <a:buNone/>
            </a:pPr>
            <a:r>
              <a:rPr lang="en-US" sz="2200" dirty="0" smtClean="0">
                <a:latin typeface="Helvetica" pitchFamily="34" charset="0"/>
              </a:rPr>
              <a:t>Frozen food must be displayed so it remains ‘hard frozen’.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7170" name="Picture 2" descr="I:\Overseas Projects\PHOTOS\2012\Culinary 2011\Hygiene.jpg"/>
          <p:cNvPicPr>
            <a:picLocks noChangeAspect="1" noChangeArrowheads="1"/>
          </p:cNvPicPr>
          <p:nvPr/>
        </p:nvPicPr>
        <p:blipFill>
          <a:blip r:embed="rId3" cstate="print"/>
          <a:srcRect/>
          <a:stretch>
            <a:fillRect/>
          </a:stretch>
        </p:blipFill>
        <p:spPr bwMode="auto">
          <a:xfrm>
            <a:off x="5943600" y="2286000"/>
            <a:ext cx="2028825" cy="1330722"/>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Safe food handling practices when using hot display units:</a:t>
            </a:r>
          </a:p>
          <a:p>
            <a:pPr marL="360000" indent="-360000">
              <a:spcBef>
                <a:spcPts val="600"/>
              </a:spcBef>
              <a:spcAft>
                <a:spcPts val="1200"/>
              </a:spcAft>
            </a:pPr>
            <a:r>
              <a:rPr lang="en-US" sz="2200" dirty="0" smtClean="0">
                <a:latin typeface="Helvetica" pitchFamily="34" charset="0"/>
              </a:rPr>
              <a:t>Food must be 60˚C minimum</a:t>
            </a:r>
          </a:p>
          <a:p>
            <a:pPr marL="360000" indent="-360000">
              <a:spcBef>
                <a:spcPts val="600"/>
              </a:spcBef>
              <a:spcAft>
                <a:spcPts val="1200"/>
              </a:spcAft>
            </a:pPr>
            <a:r>
              <a:rPr lang="en-US" sz="2200" dirty="0" smtClean="0">
                <a:latin typeface="Helvetica" pitchFamily="34" charset="0"/>
              </a:rPr>
              <a:t>Pre-heat food before placing into pre-heated unit</a:t>
            </a:r>
          </a:p>
          <a:p>
            <a:pPr marL="360000" indent="-360000">
              <a:spcBef>
                <a:spcPts val="600"/>
              </a:spcBef>
              <a:spcAft>
                <a:spcPts val="1200"/>
              </a:spcAft>
            </a:pPr>
            <a:r>
              <a:rPr lang="en-US" sz="2200" dirty="0" smtClean="0">
                <a:latin typeface="Helvetica" pitchFamily="34" charset="0"/>
              </a:rPr>
              <a:t>Use FIFO stock rotation</a:t>
            </a:r>
          </a:p>
          <a:p>
            <a:pPr marL="360000" indent="-360000">
              <a:spcBef>
                <a:spcPts val="600"/>
              </a:spcBef>
              <a:spcAft>
                <a:spcPts val="1200"/>
              </a:spcAft>
            </a:pPr>
            <a:r>
              <a:rPr lang="en-US" sz="2200" dirty="0" smtClean="0">
                <a:latin typeface="Helvetica" pitchFamily="34" charset="0"/>
              </a:rPr>
              <a:t>Check and record temperatures at least daily</a:t>
            </a:r>
          </a:p>
          <a:p>
            <a:pPr marL="360000" indent="-360000">
              <a:spcBef>
                <a:spcPts val="600"/>
              </a:spcBef>
              <a:spcAft>
                <a:spcPts val="1200"/>
              </a:spcAft>
            </a:pPr>
            <a:r>
              <a:rPr lang="en-US" sz="2200" dirty="0" smtClean="0">
                <a:latin typeface="Helvetica" pitchFamily="34" charset="0"/>
              </a:rPr>
              <a:t>Do not mix batches or top-up up service trays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8194" name="Picture 2" descr="I:\Overseas Projects\PHOTOS\2012\Culinary 2012\Others\calibrated probe thermometer.png"/>
          <p:cNvPicPr>
            <a:picLocks noChangeAspect="1" noChangeArrowheads="1"/>
          </p:cNvPicPr>
          <p:nvPr/>
        </p:nvPicPr>
        <p:blipFill>
          <a:blip r:embed="rId3" cstate="print"/>
          <a:srcRect/>
          <a:stretch>
            <a:fillRect/>
          </a:stretch>
        </p:blipFill>
        <p:spPr bwMode="auto">
          <a:xfrm rot="5400000">
            <a:off x="6851356" y="2673644"/>
            <a:ext cx="1771222" cy="2367534"/>
          </a:xfrm>
          <a:prstGeom prst="rect">
            <a:avLst/>
          </a:prstGeo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Safe food handling practices for self-service situations:</a:t>
            </a:r>
          </a:p>
          <a:p>
            <a:pPr marL="360000" indent="-360000">
              <a:spcBef>
                <a:spcPts val="600"/>
              </a:spcBef>
              <a:spcAft>
                <a:spcPts val="1200"/>
              </a:spcAft>
            </a:pPr>
            <a:r>
              <a:rPr lang="en-US" sz="2200" dirty="0" smtClean="0">
                <a:latin typeface="Helvetica" pitchFamily="34" charset="0"/>
              </a:rPr>
              <a:t>Monitor customers</a:t>
            </a:r>
          </a:p>
          <a:p>
            <a:pPr marL="360000" indent="-360000">
              <a:spcBef>
                <a:spcPts val="600"/>
              </a:spcBef>
              <a:spcAft>
                <a:spcPts val="1200"/>
              </a:spcAft>
            </a:pPr>
            <a:r>
              <a:rPr lang="en-US" sz="2200" dirty="0" smtClean="0">
                <a:latin typeface="Helvetica" pitchFamily="34" charset="0"/>
              </a:rPr>
              <a:t>Pay special attention to children</a:t>
            </a:r>
          </a:p>
          <a:p>
            <a:pPr marL="360000" indent="-360000">
              <a:spcBef>
                <a:spcPts val="600"/>
              </a:spcBef>
              <a:spcAft>
                <a:spcPts val="1200"/>
              </a:spcAft>
            </a:pPr>
            <a:r>
              <a:rPr lang="en-US" sz="2200" dirty="0" smtClean="0">
                <a:latin typeface="Helvetica" pitchFamily="34" charset="0"/>
              </a:rPr>
              <a:t>Ensure hot food stays hot and cold food stays cold</a:t>
            </a:r>
          </a:p>
          <a:p>
            <a:pPr marL="360000" indent="-360000">
              <a:spcBef>
                <a:spcPts val="600"/>
              </a:spcBef>
              <a:spcAft>
                <a:spcPts val="1200"/>
              </a:spcAft>
            </a:pPr>
            <a:r>
              <a:rPr lang="en-US" sz="2200" dirty="0" smtClean="0">
                <a:latin typeface="Helvetica" pitchFamily="34" charset="0"/>
              </a:rPr>
              <a:t>Clean and sanitize or replace any dropped service utensils</a:t>
            </a:r>
          </a:p>
          <a:p>
            <a:pPr marL="360000" indent="-360000">
              <a:spcBef>
                <a:spcPts val="600"/>
              </a:spcBef>
              <a:spcAft>
                <a:spcPts val="1200"/>
              </a:spcAft>
            </a:pPr>
            <a:r>
              <a:rPr lang="en-US" sz="2200" dirty="0" smtClean="0">
                <a:latin typeface="Helvetica" pitchFamily="34" charset="0"/>
              </a:rPr>
              <a:t>Clean spills up immediately</a:t>
            </a: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9218" name="Picture 2" descr="C:\Documents and Settings\danielc\Desktop\Apply safety proc handling food images\freeimage-4688212.jpg"/>
          <p:cNvPicPr>
            <a:picLocks noChangeAspect="1" noChangeArrowheads="1"/>
          </p:cNvPicPr>
          <p:nvPr/>
        </p:nvPicPr>
        <p:blipFill>
          <a:blip r:embed="rId3" cstate="print"/>
          <a:srcRect l="26087" b="22826"/>
          <a:stretch>
            <a:fillRect/>
          </a:stretch>
        </p:blipFill>
        <p:spPr bwMode="auto">
          <a:xfrm>
            <a:off x="5257800" y="4495800"/>
            <a:ext cx="2408349" cy="1676400"/>
          </a:xfrm>
          <a:prstGeom prst="rect">
            <a:avLst/>
          </a:prstGeom>
          <a:noFill/>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2243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Discard contaminated food</a:t>
            </a:r>
          </a:p>
          <a:p>
            <a:pPr marL="360000" indent="-360000">
              <a:spcBef>
                <a:spcPts val="600"/>
              </a:spcBef>
              <a:spcAft>
                <a:spcPts val="1200"/>
              </a:spcAft>
            </a:pPr>
            <a:r>
              <a:rPr lang="en-US" sz="2200" dirty="0" smtClean="0">
                <a:latin typeface="Helvetica" pitchFamily="34" charset="0"/>
              </a:rPr>
              <a:t>Use advisory signs</a:t>
            </a:r>
          </a:p>
          <a:p>
            <a:pPr marL="360000" indent="-360000">
              <a:spcBef>
                <a:spcPts val="600"/>
              </a:spcBef>
              <a:spcAft>
                <a:spcPts val="1200"/>
              </a:spcAft>
            </a:pPr>
            <a:r>
              <a:rPr lang="en-US" sz="2200" dirty="0" smtClean="0">
                <a:latin typeface="Helvetica" pitchFamily="34" charset="0"/>
              </a:rPr>
              <a:t>Cover and protect foods</a:t>
            </a:r>
          </a:p>
          <a:p>
            <a:pPr marL="360000" indent="-360000">
              <a:spcBef>
                <a:spcPts val="600"/>
              </a:spcBef>
              <a:spcAft>
                <a:spcPts val="1200"/>
              </a:spcAft>
            </a:pPr>
            <a:r>
              <a:rPr lang="en-US" sz="2200" dirty="0" smtClean="0">
                <a:latin typeface="Helvetica" pitchFamily="34" charset="0"/>
              </a:rPr>
              <a:t>Provide separate utensils for each food type</a:t>
            </a:r>
          </a:p>
          <a:p>
            <a:pPr marL="360000" indent="-360000">
              <a:spcBef>
                <a:spcPts val="600"/>
              </a:spcBef>
              <a:spcAft>
                <a:spcPts val="1200"/>
              </a:spcAft>
            </a:pPr>
            <a:r>
              <a:rPr lang="en-US" sz="2200" dirty="0" smtClean="0">
                <a:latin typeface="Helvetica" pitchFamily="34" charset="0"/>
              </a:rPr>
              <a:t>Use sneeze-guards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10242" name="Picture 2" descr="C:\Documents and Settings\danielc\Desktop\Apply safety proc handling food images\sneeze guard.jpg"/>
          <p:cNvPicPr>
            <a:picLocks noChangeAspect="1" noChangeArrowheads="1"/>
          </p:cNvPicPr>
          <p:nvPr/>
        </p:nvPicPr>
        <p:blipFill>
          <a:blip r:embed="rId3" cstate="print"/>
          <a:srcRect/>
          <a:stretch>
            <a:fillRect/>
          </a:stretch>
        </p:blipFill>
        <p:spPr bwMode="auto">
          <a:xfrm>
            <a:off x="6019800" y="1295400"/>
            <a:ext cx="2000250" cy="1973698"/>
          </a:xfrm>
          <a:prstGeom prst="rect">
            <a:avLst/>
          </a:prstGeom>
          <a:noFill/>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4623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Do not mix food batches</a:t>
            </a:r>
          </a:p>
          <a:p>
            <a:pPr marL="360000" indent="-360000">
              <a:spcBef>
                <a:spcPts val="600"/>
              </a:spcBef>
              <a:spcAft>
                <a:spcPts val="1200"/>
              </a:spcAft>
            </a:pPr>
            <a:r>
              <a:rPr lang="en-US" sz="2200" dirty="0" smtClean="0">
                <a:latin typeface="Helvetica" pitchFamily="34" charset="0"/>
              </a:rPr>
              <a:t>Throw out ‘plate waste’</a:t>
            </a:r>
          </a:p>
          <a:p>
            <a:pPr marL="360000" indent="-360000">
              <a:spcBef>
                <a:spcPts val="600"/>
              </a:spcBef>
              <a:spcAft>
                <a:spcPts val="1200"/>
              </a:spcAft>
            </a:pPr>
            <a:r>
              <a:rPr lang="en-US" sz="2200" dirty="0" smtClean="0">
                <a:latin typeface="Helvetica" pitchFamily="34" charset="0"/>
              </a:rPr>
              <a:t>Display small amounts of food</a:t>
            </a:r>
          </a:p>
          <a:p>
            <a:pPr marL="360000" indent="-360000">
              <a:spcBef>
                <a:spcPts val="600"/>
              </a:spcBef>
              <a:spcAft>
                <a:spcPts val="1200"/>
              </a:spcAft>
            </a:pPr>
            <a:r>
              <a:rPr lang="en-US" sz="2200" dirty="0" smtClean="0">
                <a:latin typeface="Helvetica" pitchFamily="34" charset="0"/>
              </a:rPr>
              <a:t>Provide extra service utensils</a:t>
            </a:r>
          </a:p>
          <a:p>
            <a:pPr marL="360000" indent="-360000">
              <a:spcBef>
                <a:spcPts val="600"/>
              </a:spcBef>
              <a:spcAft>
                <a:spcPts val="1200"/>
              </a:spcAft>
            </a:pPr>
            <a:r>
              <a:rPr lang="en-US" sz="2200" dirty="0" smtClean="0">
                <a:latin typeface="Helvetica" pitchFamily="34" charset="0"/>
              </a:rPr>
              <a:t>Provide ‘rests’ for service gear</a:t>
            </a:r>
          </a:p>
          <a:p>
            <a:pPr marL="360000" indent="-360000">
              <a:spcBef>
                <a:spcPts val="600"/>
              </a:spcBef>
              <a:spcAft>
                <a:spcPts val="1200"/>
              </a:spcAft>
            </a:pPr>
            <a:r>
              <a:rPr lang="en-US" sz="2200" dirty="0" smtClean="0">
                <a:latin typeface="Helvetica" pitchFamily="34" charset="0"/>
              </a:rPr>
              <a:t>Apply 2/4 rule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11266" name="Picture 2" descr="C:\Documents and Settings\danielc\Desktop\Apply safety proc handling food images\freeimage-6800826.jpg"/>
          <p:cNvPicPr>
            <a:picLocks noChangeAspect="1" noChangeArrowheads="1"/>
          </p:cNvPicPr>
          <p:nvPr/>
        </p:nvPicPr>
        <p:blipFill>
          <a:blip r:embed="rId3" cstate="print"/>
          <a:srcRect/>
          <a:stretch>
            <a:fillRect/>
          </a:stretch>
        </p:blipFill>
        <p:spPr bwMode="auto">
          <a:xfrm>
            <a:off x="5791200" y="1905000"/>
            <a:ext cx="1940560" cy="2910840"/>
          </a:xfrm>
          <a:prstGeom prst="rect">
            <a:avLst/>
          </a:prstGeo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Safe food handling practices when transporting food:</a:t>
            </a:r>
          </a:p>
          <a:p>
            <a:pPr marL="360000" indent="-360000">
              <a:spcBef>
                <a:spcPts val="600"/>
              </a:spcBef>
              <a:spcAft>
                <a:spcPts val="1200"/>
              </a:spcAft>
            </a:pPr>
            <a:r>
              <a:rPr lang="en-US" sz="2200" dirty="0" smtClean="0">
                <a:latin typeface="Helvetica" pitchFamily="34" charset="0"/>
              </a:rPr>
              <a:t>Use a food transport vehicle</a:t>
            </a:r>
          </a:p>
          <a:p>
            <a:pPr marL="360000" indent="-360000">
              <a:spcBef>
                <a:spcPts val="600"/>
              </a:spcBef>
              <a:spcAft>
                <a:spcPts val="1200"/>
              </a:spcAft>
            </a:pPr>
            <a:r>
              <a:rPr lang="en-US" sz="2200" dirty="0" smtClean="0">
                <a:latin typeface="Helvetica" pitchFamily="34" charset="0"/>
              </a:rPr>
              <a:t>Maintain vehicle and food containers in clean condition</a:t>
            </a:r>
          </a:p>
          <a:p>
            <a:pPr marL="360000" indent="-360000">
              <a:spcBef>
                <a:spcPts val="600"/>
              </a:spcBef>
              <a:spcAft>
                <a:spcPts val="1200"/>
              </a:spcAft>
            </a:pPr>
            <a:r>
              <a:rPr lang="en-US" sz="2200" dirty="0" smtClean="0">
                <a:latin typeface="Helvetica" pitchFamily="34" charset="0"/>
              </a:rPr>
              <a:t>Keep raw and cooked foods separate</a:t>
            </a:r>
          </a:p>
          <a:p>
            <a:pPr marL="360000" indent="-360000">
              <a:spcBef>
                <a:spcPts val="600"/>
              </a:spcBef>
              <a:spcAft>
                <a:spcPts val="1200"/>
              </a:spcAft>
            </a:pPr>
            <a:r>
              <a:rPr lang="en-US" sz="2200" dirty="0" smtClean="0">
                <a:latin typeface="Helvetica" pitchFamily="34" charset="0"/>
              </a:rPr>
              <a:t>Keep hot food at 60˚C+ or deliver within 2 hours</a:t>
            </a:r>
          </a:p>
          <a:p>
            <a:pPr marL="360000" indent="-360000">
              <a:spcBef>
                <a:spcPts val="600"/>
              </a:spcBef>
              <a:spcAft>
                <a:spcPts val="1200"/>
              </a:spcAft>
            </a:pPr>
            <a:r>
              <a:rPr lang="en-US" sz="2200" dirty="0" smtClean="0">
                <a:latin typeface="Helvetica" pitchFamily="34" charset="0"/>
              </a:rPr>
              <a:t>Keep cold food at 5˚C (or below) or deliver within 2 hours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descr="C:\Documents and Settings\danielc\Local Settings\Temporary Internet Files\Content.IE5\XGIII3N1\MC900232513[1].wmf"/>
          <p:cNvPicPr/>
          <p:nvPr/>
        </p:nvPicPr>
        <p:blipFill>
          <a:blip r:embed="rId3" cstate="print"/>
          <a:srcRect/>
          <a:stretch>
            <a:fillRect/>
          </a:stretch>
        </p:blipFill>
        <p:spPr bwMode="auto">
          <a:xfrm>
            <a:off x="7315200" y="2971800"/>
            <a:ext cx="1643496" cy="1520041"/>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18040" cy="4525963"/>
          </a:xfrm>
        </p:spPr>
        <p:txBody>
          <a:bodyPr>
            <a:normAutofit/>
          </a:bodyPr>
          <a:lstStyle/>
          <a:p>
            <a:pPr marL="360000" indent="-360000">
              <a:spcBef>
                <a:spcPts val="600"/>
              </a:spcBef>
              <a:spcAft>
                <a:spcPts val="1200"/>
              </a:spcAft>
            </a:pPr>
            <a:r>
              <a:rPr lang="en-US" sz="2200" dirty="0" smtClean="0">
                <a:latin typeface="Helvetica" pitchFamily="34" charset="0"/>
              </a:rPr>
              <a:t>Pre-cool vehicle before loading refrigerated food</a:t>
            </a:r>
          </a:p>
          <a:p>
            <a:pPr marL="360000" indent="-360000">
              <a:spcBef>
                <a:spcPts val="600"/>
              </a:spcBef>
              <a:spcAft>
                <a:spcPts val="1200"/>
              </a:spcAft>
            </a:pPr>
            <a:r>
              <a:rPr lang="en-US" sz="2200" dirty="0" smtClean="0">
                <a:latin typeface="Helvetica" pitchFamily="34" charset="0"/>
              </a:rPr>
              <a:t>Load refrigerated food at 5˚C or below</a:t>
            </a:r>
          </a:p>
          <a:p>
            <a:pPr marL="360000" indent="-360000">
              <a:spcBef>
                <a:spcPts val="600"/>
              </a:spcBef>
              <a:spcAft>
                <a:spcPts val="1200"/>
              </a:spcAft>
            </a:pPr>
            <a:r>
              <a:rPr lang="en-US" sz="2200" dirty="0" smtClean="0">
                <a:latin typeface="Helvetica" pitchFamily="34" charset="0"/>
              </a:rPr>
              <a:t>Monitor and record times and temperatures of food and vehicle</a:t>
            </a:r>
          </a:p>
          <a:p>
            <a:pPr marL="360000" indent="-360000">
              <a:spcBef>
                <a:spcPts val="600"/>
              </a:spcBef>
              <a:spcAft>
                <a:spcPts val="1200"/>
              </a:spcAft>
            </a:pPr>
            <a:r>
              <a:rPr lang="en-US" sz="2200" dirty="0" smtClean="0">
                <a:latin typeface="Helvetica" pitchFamily="34" charset="0"/>
              </a:rPr>
              <a:t>Load food immediately prior to delivery</a:t>
            </a:r>
          </a:p>
          <a:p>
            <a:pPr marL="360000" indent="-360000">
              <a:spcBef>
                <a:spcPts val="600"/>
              </a:spcBef>
              <a:spcAft>
                <a:spcPts val="1200"/>
              </a:spcAft>
            </a:pPr>
            <a:r>
              <a:rPr lang="en-US" sz="2200" dirty="0" smtClean="0">
                <a:latin typeface="Helvetica" pitchFamily="34" charset="0"/>
              </a:rPr>
              <a:t>Cover and protect food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descr="C:\Documents and Settings\danielc\Local Settings\Temporary Internet Files\Content.IE5\XGIII3N1\MC900232513[1].wmf"/>
          <p:cNvPicPr/>
          <p:nvPr/>
        </p:nvPicPr>
        <p:blipFill>
          <a:blip r:embed="rId3" cstate="print"/>
          <a:srcRect/>
          <a:stretch>
            <a:fillRect/>
          </a:stretch>
        </p:blipFill>
        <p:spPr bwMode="auto">
          <a:xfrm>
            <a:off x="6324600" y="3657600"/>
            <a:ext cx="1643496" cy="1520041"/>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Maintain and service the vehicle regularly</a:t>
            </a:r>
          </a:p>
          <a:p>
            <a:pPr marL="360000" indent="-360000">
              <a:spcBef>
                <a:spcPts val="600"/>
              </a:spcBef>
              <a:spcAft>
                <a:spcPts val="1200"/>
              </a:spcAft>
            </a:pPr>
            <a:r>
              <a:rPr lang="en-US" sz="2200" dirty="0" smtClean="0">
                <a:latin typeface="Helvetica" pitchFamily="34" charset="0"/>
              </a:rPr>
              <a:t>Do not load food along with chemicals</a:t>
            </a:r>
          </a:p>
          <a:p>
            <a:pPr marL="360000" indent="-360000">
              <a:spcBef>
                <a:spcPts val="600"/>
              </a:spcBef>
              <a:spcAft>
                <a:spcPts val="1200"/>
              </a:spcAft>
            </a:pPr>
            <a:r>
              <a:rPr lang="en-US" sz="2200" dirty="0" smtClean="0">
                <a:latin typeface="Helvetica" pitchFamily="34" charset="0"/>
              </a:rPr>
              <a:t>Pets or animals are not permitted in the vehicle</a:t>
            </a:r>
          </a:p>
          <a:p>
            <a:pPr marL="360000" indent="-360000">
              <a:spcBef>
                <a:spcPts val="600"/>
              </a:spcBef>
              <a:spcAft>
                <a:spcPts val="1200"/>
              </a:spcAft>
            </a:pPr>
            <a:r>
              <a:rPr lang="en-US" sz="2200" dirty="0" smtClean="0">
                <a:latin typeface="Helvetica" pitchFamily="34" charset="0"/>
              </a:rPr>
              <a:t>Lock vehicle doors when it is unattended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12290" name="Picture 2" descr="C:\Documents and Settings\danielc\Local Settings\Temporary Internet Files\Content.IE5\3DV3UKH9\MC900230994[1].wmf"/>
          <p:cNvPicPr>
            <a:picLocks noChangeAspect="1" noChangeArrowheads="1"/>
          </p:cNvPicPr>
          <p:nvPr/>
        </p:nvPicPr>
        <p:blipFill>
          <a:blip r:embed="rId3" cstate="print"/>
          <a:srcRect/>
          <a:stretch>
            <a:fillRect/>
          </a:stretch>
        </p:blipFill>
        <p:spPr bwMode="auto">
          <a:xfrm>
            <a:off x="6096000" y="3581400"/>
            <a:ext cx="2566657" cy="1824273"/>
          </a:xfrm>
          <a:prstGeom prst="rect">
            <a:avLst/>
          </a:prstGeom>
          <a:noFill/>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working in a bar:</a:t>
            </a:r>
          </a:p>
          <a:p>
            <a:pPr marL="360000" indent="-360000">
              <a:spcBef>
                <a:spcPts val="600"/>
              </a:spcBef>
              <a:spcAft>
                <a:spcPts val="1200"/>
              </a:spcAft>
            </a:pPr>
            <a:r>
              <a:rPr lang="en-US" sz="2200" dirty="0" smtClean="0">
                <a:latin typeface="Helvetica" pitchFamily="34" charset="0"/>
              </a:rPr>
              <a:t>Use fork or tongs to add fruit and ice to drinks</a:t>
            </a:r>
          </a:p>
          <a:p>
            <a:pPr marL="360000" indent="-360000">
              <a:spcBef>
                <a:spcPts val="600"/>
              </a:spcBef>
              <a:spcAft>
                <a:spcPts val="1200"/>
              </a:spcAft>
            </a:pPr>
            <a:r>
              <a:rPr lang="en-US" sz="2200" dirty="0" smtClean="0">
                <a:latin typeface="Helvetica" pitchFamily="34" charset="0"/>
              </a:rPr>
              <a:t>Never re-use ‘plate waste’</a:t>
            </a:r>
          </a:p>
          <a:p>
            <a:pPr marL="360000" indent="-360000">
              <a:spcBef>
                <a:spcPts val="600"/>
              </a:spcBef>
              <a:spcAft>
                <a:spcPts val="1200"/>
              </a:spcAft>
            </a:pPr>
            <a:r>
              <a:rPr lang="en-US" sz="2200" dirty="0" smtClean="0">
                <a:latin typeface="Helvetica" pitchFamily="34" charset="0"/>
              </a:rPr>
              <a:t>Store drinking straws correctly</a:t>
            </a:r>
          </a:p>
          <a:p>
            <a:pPr marL="360000" indent="-360000">
              <a:spcBef>
                <a:spcPts val="600"/>
              </a:spcBef>
              <a:spcAft>
                <a:spcPts val="1200"/>
              </a:spcAft>
            </a:pPr>
            <a:r>
              <a:rPr lang="en-US" sz="2200" dirty="0" smtClean="0">
                <a:latin typeface="Helvetica" pitchFamily="34" charset="0"/>
              </a:rPr>
              <a:t>Verify glass washer has detergent</a:t>
            </a:r>
          </a:p>
          <a:p>
            <a:pPr marL="360000" indent="-360000">
              <a:spcBef>
                <a:spcPts val="600"/>
              </a:spcBef>
              <a:spcAft>
                <a:spcPts val="1200"/>
              </a:spcAft>
            </a:pPr>
            <a:r>
              <a:rPr lang="en-US" sz="2200" dirty="0" smtClean="0">
                <a:latin typeface="Helvetica" pitchFamily="34" charset="0"/>
              </a:rPr>
              <a:t>Use de-naturing agent in beer trays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13314" name="Picture 2" descr="C:\Documents and Settings\danielc\Local Settings\Temporary Internet Files\Content.IE5\112MAXTI\MP900175486[1].jpg"/>
          <p:cNvPicPr>
            <a:picLocks noChangeAspect="1" noChangeArrowheads="1"/>
          </p:cNvPicPr>
          <p:nvPr/>
        </p:nvPicPr>
        <p:blipFill>
          <a:blip r:embed="rId3" cstate="print"/>
          <a:srcRect/>
          <a:stretch>
            <a:fillRect/>
          </a:stretch>
        </p:blipFill>
        <p:spPr bwMode="auto">
          <a:xfrm>
            <a:off x="5867400" y="3048000"/>
            <a:ext cx="2362200" cy="1562989"/>
          </a:xfrm>
          <a:prstGeom prst="rect">
            <a:avLst/>
          </a:prstGeom>
          <a:noFill/>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according to enterprise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No smoking or spitting</a:t>
            </a:r>
          </a:p>
          <a:p>
            <a:pPr marL="360000" indent="-360000">
              <a:spcBef>
                <a:spcPts val="600"/>
              </a:spcBef>
              <a:spcAft>
                <a:spcPts val="1200"/>
              </a:spcAft>
            </a:pPr>
            <a:r>
              <a:rPr lang="en-US" sz="2200" dirty="0" smtClean="0">
                <a:latin typeface="Helvetica" pitchFamily="34" charset="0"/>
              </a:rPr>
              <a:t>Wash hands</a:t>
            </a:r>
          </a:p>
          <a:p>
            <a:pPr marL="360000" indent="-360000">
              <a:spcBef>
                <a:spcPts val="600"/>
              </a:spcBef>
              <a:spcAft>
                <a:spcPts val="1200"/>
              </a:spcAft>
            </a:pPr>
            <a:r>
              <a:rPr lang="en-US" sz="2200" dirty="0" smtClean="0">
                <a:latin typeface="Helvetica" pitchFamily="34" charset="0"/>
              </a:rPr>
              <a:t>Wear clean clothes</a:t>
            </a:r>
          </a:p>
          <a:p>
            <a:pPr marL="360000" indent="-360000">
              <a:spcBef>
                <a:spcPts val="600"/>
              </a:spcBef>
              <a:spcAft>
                <a:spcPts val="1200"/>
              </a:spcAft>
            </a:pPr>
            <a:r>
              <a:rPr lang="en-US" sz="2200" dirty="0" smtClean="0">
                <a:latin typeface="Helvetica" pitchFamily="34" charset="0"/>
              </a:rPr>
              <a:t>Stay away from work when ill</a:t>
            </a:r>
          </a:p>
          <a:p>
            <a:pPr marL="360000" indent="-360000">
              <a:spcBef>
                <a:spcPts val="600"/>
              </a:spcBef>
              <a:spcAft>
                <a:spcPts val="1200"/>
              </a:spcAft>
            </a:pPr>
            <a:r>
              <a:rPr lang="en-US" sz="2200" dirty="0" smtClean="0">
                <a:latin typeface="Helvetica" pitchFamily="34" charset="0"/>
              </a:rPr>
              <a:t>Ensure all glassware is clean</a:t>
            </a:r>
          </a:p>
          <a:p>
            <a:pPr marL="360000" indent="-360000">
              <a:spcBef>
                <a:spcPts val="600"/>
              </a:spcBef>
              <a:spcAft>
                <a:spcPts val="1200"/>
              </a:spcAft>
            </a:pPr>
            <a:r>
              <a:rPr lang="en-US" sz="2200" dirty="0" smtClean="0">
                <a:latin typeface="Helvetica" pitchFamily="34" charset="0"/>
              </a:rPr>
              <a:t>Ensure all utensils are clean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14338" name="Picture 2" descr="C:\Documents and Settings\danielc\Desktop\Apply safety proc handling food images\1007703_take_washing.jpg"/>
          <p:cNvPicPr>
            <a:picLocks noChangeAspect="1" noChangeArrowheads="1"/>
          </p:cNvPicPr>
          <p:nvPr/>
        </p:nvPicPr>
        <p:blipFill>
          <a:blip r:embed="rId3" cstate="print"/>
          <a:srcRect/>
          <a:stretch>
            <a:fillRect/>
          </a:stretch>
        </p:blipFill>
        <p:spPr bwMode="auto">
          <a:xfrm>
            <a:off x="5410200" y="1828800"/>
            <a:ext cx="2133600" cy="2857500"/>
          </a:xfrm>
          <a:prstGeom prst="rect">
            <a:avLst/>
          </a:prstGeom>
          <a:noFill/>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Requirements for dry goods store:</a:t>
            </a:r>
          </a:p>
          <a:p>
            <a:pPr marL="360000" indent="-360000">
              <a:spcBef>
                <a:spcPts val="600"/>
              </a:spcBef>
              <a:spcAft>
                <a:spcPts val="1200"/>
              </a:spcAft>
            </a:pPr>
            <a:r>
              <a:rPr lang="en-US" sz="2200" dirty="0" smtClean="0">
                <a:latin typeface="Helvetica" pitchFamily="34" charset="0"/>
              </a:rPr>
              <a:t>Fly and vermin-proof</a:t>
            </a:r>
          </a:p>
          <a:p>
            <a:pPr marL="360000" indent="-360000">
              <a:spcBef>
                <a:spcPts val="600"/>
              </a:spcBef>
              <a:spcAft>
                <a:spcPts val="1200"/>
              </a:spcAft>
            </a:pPr>
            <a:r>
              <a:rPr lang="en-US" sz="2200" dirty="0" smtClean="0">
                <a:latin typeface="Helvetica" pitchFamily="34" charset="0"/>
              </a:rPr>
              <a:t>Well lit and ventilated</a:t>
            </a:r>
          </a:p>
          <a:p>
            <a:pPr marL="360000" indent="-360000">
              <a:spcBef>
                <a:spcPts val="600"/>
              </a:spcBef>
              <a:spcAft>
                <a:spcPts val="1200"/>
              </a:spcAft>
            </a:pPr>
            <a:r>
              <a:rPr lang="en-US" sz="2200" dirty="0" smtClean="0">
                <a:latin typeface="Helvetica" pitchFamily="34" charset="0"/>
              </a:rPr>
              <a:t>Not crowded or over-stocked</a:t>
            </a:r>
          </a:p>
          <a:p>
            <a:pPr marL="360000" indent="-360000">
              <a:spcBef>
                <a:spcPts val="600"/>
              </a:spcBef>
              <a:spcAft>
                <a:spcPts val="1200"/>
              </a:spcAft>
            </a:pPr>
            <a:r>
              <a:rPr lang="en-US" sz="2200" dirty="0" smtClean="0">
                <a:latin typeface="Helvetica" pitchFamily="34" charset="0"/>
              </a:rPr>
              <a:t>Tight-fitting doors</a:t>
            </a:r>
          </a:p>
          <a:p>
            <a:pPr marL="360000" indent="-360000">
              <a:spcBef>
                <a:spcPts val="600"/>
              </a:spcBef>
              <a:spcAft>
                <a:spcPts val="1200"/>
              </a:spcAft>
            </a:pPr>
            <a:r>
              <a:rPr lang="en-US" sz="2200" dirty="0" smtClean="0">
                <a:latin typeface="Helvetica" pitchFamily="34" charset="0"/>
              </a:rPr>
              <a:t>Bottom shelf allows broom and mop access</a:t>
            </a: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15362" name="Picture 2" descr="I:\Overseas Projects\PHOTOS\2012\Culinary 2011\FoodstorageCCLinda&amp;Clark.jpg"/>
          <p:cNvPicPr>
            <a:picLocks noChangeAspect="1" noChangeArrowheads="1"/>
          </p:cNvPicPr>
          <p:nvPr/>
        </p:nvPicPr>
        <p:blipFill>
          <a:blip r:embed="rId3" cstate="print"/>
          <a:srcRect/>
          <a:stretch>
            <a:fillRect/>
          </a:stretch>
        </p:blipFill>
        <p:spPr bwMode="auto">
          <a:xfrm>
            <a:off x="6019800" y="2057400"/>
            <a:ext cx="1658938" cy="2210320"/>
          </a:xfrm>
          <a:prstGeom prst="rect">
            <a:avLst/>
          </a:prstGeom>
          <a:noFill/>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Use proper food containers:</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Made from food-grade materials</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With tight-fitting lids</a:t>
            </a:r>
          </a:p>
          <a:p>
            <a:pPr marL="360000" indent="-360000">
              <a:spcBef>
                <a:spcPts val="600"/>
              </a:spcBef>
              <a:spcAft>
                <a:spcPts val="1200"/>
              </a:spcAft>
            </a:pPr>
            <a:r>
              <a:rPr lang="en-US" sz="2200" dirty="0" smtClean="0">
                <a:latin typeface="Helvetica" pitchFamily="34" charset="0"/>
              </a:rPr>
              <a:t>Clean and sanitize containers</a:t>
            </a:r>
          </a:p>
          <a:p>
            <a:pPr marL="360000" indent="-360000">
              <a:spcBef>
                <a:spcPts val="600"/>
              </a:spcBef>
              <a:spcAft>
                <a:spcPts val="1200"/>
              </a:spcAft>
            </a:pPr>
            <a:r>
              <a:rPr lang="en-US" sz="2200" dirty="0" smtClean="0">
                <a:latin typeface="Helvetica" pitchFamily="34" charset="0"/>
              </a:rPr>
              <a:t>Transfer food from open cans to suitable containers and refrigerate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16386" name="Picture 2" descr="I:\Overseas Projects\PHOTOS\2012\Culinary 2012\1097510833_4240353410_thumbnail.jpg"/>
          <p:cNvPicPr>
            <a:picLocks noChangeAspect="1" noChangeArrowheads="1"/>
          </p:cNvPicPr>
          <p:nvPr/>
        </p:nvPicPr>
        <p:blipFill>
          <a:blip r:embed="rId3" cstate="print"/>
          <a:srcRect/>
          <a:stretch>
            <a:fillRect/>
          </a:stretch>
        </p:blipFill>
        <p:spPr bwMode="auto">
          <a:xfrm>
            <a:off x="5791200" y="1524000"/>
            <a:ext cx="1920875" cy="1920875"/>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Requirements for refrigerated storage:</a:t>
            </a:r>
          </a:p>
          <a:p>
            <a:pPr marL="360000" indent="-360000">
              <a:spcBef>
                <a:spcPts val="600"/>
              </a:spcBef>
              <a:spcAft>
                <a:spcPts val="1200"/>
              </a:spcAft>
            </a:pPr>
            <a:r>
              <a:rPr lang="en-US" sz="2200" dirty="0" smtClean="0">
                <a:latin typeface="Helvetica" pitchFamily="34" charset="0"/>
              </a:rPr>
              <a:t>Keep temperature at or below 5˚C</a:t>
            </a:r>
          </a:p>
          <a:p>
            <a:pPr marL="360000" indent="-360000">
              <a:spcBef>
                <a:spcPts val="600"/>
              </a:spcBef>
              <a:spcAft>
                <a:spcPts val="1200"/>
              </a:spcAft>
            </a:pPr>
            <a:r>
              <a:rPr lang="en-US" sz="2200" dirty="0" smtClean="0">
                <a:latin typeface="Helvetica" pitchFamily="34" charset="0"/>
              </a:rPr>
              <a:t>Check and record temperature at least daily</a:t>
            </a:r>
          </a:p>
          <a:p>
            <a:pPr marL="360000" indent="-360000">
              <a:spcBef>
                <a:spcPts val="600"/>
              </a:spcBef>
              <a:spcAft>
                <a:spcPts val="1200"/>
              </a:spcAft>
            </a:pPr>
            <a:r>
              <a:rPr lang="en-US" sz="2200" dirty="0" smtClean="0">
                <a:latin typeface="Helvetica" pitchFamily="34" charset="0"/>
              </a:rPr>
              <a:t>Close doors between use</a:t>
            </a:r>
          </a:p>
          <a:p>
            <a:pPr marL="360000" indent="-360000">
              <a:spcBef>
                <a:spcPts val="600"/>
              </a:spcBef>
              <a:spcAft>
                <a:spcPts val="1200"/>
              </a:spcAft>
            </a:pPr>
            <a:r>
              <a:rPr lang="en-US" sz="2200" dirty="0" smtClean="0">
                <a:latin typeface="Helvetica" pitchFamily="34" charset="0"/>
              </a:rPr>
              <a:t>Do not crowd or overstock</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17410" name="Picture 2" descr="I:\Overseas Projects\PHOTOS\2012\Culinary 2012\Fridge 2011.jpg"/>
          <p:cNvPicPr>
            <a:picLocks noChangeAspect="1" noChangeArrowheads="1"/>
          </p:cNvPicPr>
          <p:nvPr/>
        </p:nvPicPr>
        <p:blipFill>
          <a:blip r:embed="rId3" cstate="print"/>
          <a:srcRect/>
          <a:stretch>
            <a:fillRect/>
          </a:stretch>
        </p:blipFill>
        <p:spPr bwMode="auto">
          <a:xfrm>
            <a:off x="6553200" y="2362200"/>
            <a:ext cx="1845972" cy="2457450"/>
          </a:xfrm>
          <a:prstGeom prst="rect">
            <a:avLst/>
          </a:prstGeom>
          <a:noFill/>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Store hot food in small amounts to facilitate cooling</a:t>
            </a:r>
          </a:p>
          <a:p>
            <a:pPr marL="360000" indent="-360000">
              <a:spcBef>
                <a:spcPts val="600"/>
              </a:spcBef>
              <a:spcAft>
                <a:spcPts val="1200"/>
              </a:spcAft>
            </a:pPr>
            <a:r>
              <a:rPr lang="en-US" sz="2200" dirty="0" smtClean="0">
                <a:latin typeface="Helvetica" pitchFamily="34" charset="0"/>
              </a:rPr>
              <a:t>Cover and protect food</a:t>
            </a:r>
          </a:p>
          <a:p>
            <a:pPr marL="360000" indent="-360000">
              <a:spcBef>
                <a:spcPts val="600"/>
              </a:spcBef>
              <a:spcAft>
                <a:spcPts val="1200"/>
              </a:spcAft>
            </a:pPr>
            <a:r>
              <a:rPr lang="en-US" sz="2200" dirty="0" smtClean="0">
                <a:latin typeface="Helvetica" pitchFamily="34" charset="0"/>
              </a:rPr>
              <a:t>Label food – where required</a:t>
            </a:r>
          </a:p>
          <a:p>
            <a:pPr marL="360000" indent="-360000">
              <a:spcBef>
                <a:spcPts val="600"/>
              </a:spcBef>
              <a:spcAft>
                <a:spcPts val="1200"/>
              </a:spcAft>
            </a:pPr>
            <a:r>
              <a:rPr lang="en-US" sz="2200" dirty="0" smtClean="0">
                <a:latin typeface="Helvetica" pitchFamily="34" charset="0"/>
              </a:rPr>
              <a:t>Separate raw high-risk food from </a:t>
            </a:r>
            <a:br>
              <a:rPr lang="en-US" sz="2200" dirty="0" smtClean="0">
                <a:latin typeface="Helvetica" pitchFamily="34" charset="0"/>
              </a:rPr>
            </a:br>
            <a:r>
              <a:rPr lang="en-US" sz="2200" dirty="0" smtClean="0">
                <a:latin typeface="Helvetica" pitchFamily="34" charset="0"/>
              </a:rPr>
              <a:t>cooked or ready-to-eat food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18434" name="Picture 2" descr="C:\Documents and Settings\danielc\Local Settings\Temporary Internet Files\Content.IE5\3DV3UKH9\MC900413680[1].wmf"/>
          <p:cNvPicPr>
            <a:picLocks noChangeAspect="1" noChangeArrowheads="1"/>
          </p:cNvPicPr>
          <p:nvPr/>
        </p:nvPicPr>
        <p:blipFill>
          <a:blip r:embed="rId3" cstate="print"/>
          <a:srcRect/>
          <a:stretch>
            <a:fillRect/>
          </a:stretch>
        </p:blipFill>
        <p:spPr bwMode="auto">
          <a:xfrm>
            <a:off x="5715000" y="2514600"/>
            <a:ext cx="2525917" cy="1840725"/>
          </a:xfrm>
          <a:prstGeom prst="rect">
            <a:avLst/>
          </a:prstGeom>
          <a:noFill/>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Frozen food storage requirements:</a:t>
            </a:r>
          </a:p>
          <a:p>
            <a:pPr marL="360000" indent="-360000">
              <a:spcBef>
                <a:spcPts val="600"/>
              </a:spcBef>
              <a:spcAft>
                <a:spcPts val="1200"/>
              </a:spcAft>
            </a:pPr>
            <a:r>
              <a:rPr lang="en-US" sz="2200" dirty="0" smtClean="0">
                <a:latin typeface="Helvetica" pitchFamily="34" charset="0"/>
              </a:rPr>
              <a:t>Operate at -15˚C or below</a:t>
            </a:r>
          </a:p>
          <a:p>
            <a:pPr marL="360000" indent="-360000">
              <a:spcBef>
                <a:spcPts val="600"/>
              </a:spcBef>
              <a:spcAft>
                <a:spcPts val="1200"/>
              </a:spcAft>
            </a:pPr>
            <a:r>
              <a:rPr lang="en-US" sz="2200" dirty="0" smtClean="0">
                <a:latin typeface="Helvetica" pitchFamily="34" charset="0"/>
              </a:rPr>
              <a:t>Do not freeze hot food</a:t>
            </a:r>
          </a:p>
          <a:p>
            <a:pPr marL="360000" indent="-360000">
              <a:spcBef>
                <a:spcPts val="600"/>
              </a:spcBef>
              <a:spcAft>
                <a:spcPts val="1200"/>
              </a:spcAft>
            </a:pPr>
            <a:r>
              <a:rPr lang="en-US" sz="2200" dirty="0" smtClean="0">
                <a:latin typeface="Helvetica" pitchFamily="34" charset="0"/>
              </a:rPr>
              <a:t>Never re-freeze thawed items</a:t>
            </a:r>
          </a:p>
          <a:p>
            <a:pPr marL="360000" indent="-360000">
              <a:spcBef>
                <a:spcPts val="600"/>
              </a:spcBef>
              <a:spcAft>
                <a:spcPts val="1200"/>
              </a:spcAft>
            </a:pPr>
            <a:r>
              <a:rPr lang="en-US" sz="2200" dirty="0" smtClean="0">
                <a:latin typeface="Helvetica" pitchFamily="34" charset="0"/>
              </a:rPr>
              <a:t>Defrost freezers regularly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19458" name="Picture 2" descr="I:\Overseas Projects\PHOTOS\2012\Culinary 2012\Freezer.jpg"/>
          <p:cNvPicPr>
            <a:picLocks noChangeAspect="1" noChangeArrowheads="1"/>
          </p:cNvPicPr>
          <p:nvPr/>
        </p:nvPicPr>
        <p:blipFill>
          <a:blip r:embed="rId3" cstate="print"/>
          <a:srcRect/>
          <a:stretch>
            <a:fillRect/>
          </a:stretch>
        </p:blipFill>
        <p:spPr bwMode="auto">
          <a:xfrm>
            <a:off x="5867400" y="2209800"/>
            <a:ext cx="1395479" cy="1835150"/>
          </a:xfrm>
          <a:prstGeom prst="rect">
            <a:avLst/>
          </a:prstGeom>
          <a:noFill/>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4623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Close freezer doors between uses</a:t>
            </a:r>
          </a:p>
          <a:p>
            <a:pPr marL="360000" indent="-360000">
              <a:spcBef>
                <a:spcPts val="600"/>
              </a:spcBef>
              <a:spcAft>
                <a:spcPts val="1200"/>
              </a:spcAft>
            </a:pPr>
            <a:r>
              <a:rPr lang="en-US" sz="2200" dirty="0" smtClean="0">
                <a:latin typeface="Helvetica" pitchFamily="34" charset="0"/>
              </a:rPr>
              <a:t>Check and record temperature at least daily</a:t>
            </a:r>
          </a:p>
          <a:p>
            <a:pPr marL="360000" indent="-360000">
              <a:spcBef>
                <a:spcPts val="600"/>
              </a:spcBef>
              <a:spcAft>
                <a:spcPts val="1200"/>
              </a:spcAft>
            </a:pPr>
            <a:r>
              <a:rPr lang="en-US" sz="2200" dirty="0" smtClean="0">
                <a:latin typeface="Helvetica" pitchFamily="34" charset="0"/>
              </a:rPr>
              <a:t>Freeze ‘small’ not ‘large’ amounts</a:t>
            </a:r>
          </a:p>
          <a:p>
            <a:pPr marL="360000" indent="-360000">
              <a:spcBef>
                <a:spcPts val="600"/>
              </a:spcBef>
              <a:spcAft>
                <a:spcPts val="1200"/>
              </a:spcAft>
            </a:pPr>
            <a:r>
              <a:rPr lang="en-US" sz="2200" dirty="0" smtClean="0">
                <a:latin typeface="Helvetica" pitchFamily="34" charset="0"/>
              </a:rPr>
              <a:t>Follow manufacturers’ instructions regarding freezing of food products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FIFO stock rotation:</a:t>
            </a:r>
          </a:p>
          <a:p>
            <a:pPr marL="360000" indent="-360000">
              <a:spcBef>
                <a:spcPts val="600"/>
              </a:spcBef>
              <a:spcAft>
                <a:spcPts val="1200"/>
              </a:spcAft>
            </a:pPr>
            <a:r>
              <a:rPr lang="en-US" sz="2200" dirty="0" smtClean="0">
                <a:latin typeface="Helvetica" pitchFamily="34" charset="0"/>
              </a:rPr>
              <a:t>First In, First Out</a:t>
            </a:r>
          </a:p>
          <a:p>
            <a:pPr marL="360000" indent="-360000">
              <a:spcBef>
                <a:spcPts val="600"/>
              </a:spcBef>
              <a:spcAft>
                <a:spcPts val="1200"/>
              </a:spcAft>
            </a:pPr>
            <a:r>
              <a:rPr lang="en-US" sz="2200" dirty="0" smtClean="0">
                <a:latin typeface="Helvetica" pitchFamily="34" charset="0"/>
              </a:rPr>
              <a:t>Common practice for rotating food and </a:t>
            </a:r>
            <a:br>
              <a:rPr lang="en-US" sz="2200" dirty="0" smtClean="0">
                <a:latin typeface="Helvetica" pitchFamily="34" charset="0"/>
              </a:rPr>
            </a:br>
            <a:r>
              <a:rPr lang="en-US" sz="2200" dirty="0" smtClean="0">
                <a:latin typeface="Helvetica" pitchFamily="34" charset="0"/>
              </a:rPr>
              <a:t>beverage stock</a:t>
            </a:r>
          </a:p>
          <a:p>
            <a:pPr marL="360000" indent="-360000">
              <a:spcBef>
                <a:spcPts val="600"/>
              </a:spcBef>
              <a:spcAft>
                <a:spcPts val="1200"/>
              </a:spcAft>
            </a:pPr>
            <a:r>
              <a:rPr lang="en-US" sz="2200" dirty="0" smtClean="0">
                <a:latin typeface="Helvetica" pitchFamily="34" charset="0"/>
              </a:rPr>
              <a:t>Move old stock forward on shelf and place </a:t>
            </a:r>
            <a:br>
              <a:rPr lang="en-US" sz="2200" dirty="0" smtClean="0">
                <a:latin typeface="Helvetica" pitchFamily="34" charset="0"/>
              </a:rPr>
            </a:br>
            <a:r>
              <a:rPr lang="en-US" sz="2200" dirty="0" smtClean="0">
                <a:latin typeface="Helvetica" pitchFamily="34" charset="0"/>
              </a:rPr>
              <a:t>new stock behind existing stock</a:t>
            </a:r>
          </a:p>
          <a:p>
            <a:pPr marL="360000" indent="-360000">
              <a:spcBef>
                <a:spcPts val="600"/>
              </a:spcBef>
              <a:spcAft>
                <a:spcPts val="1200"/>
              </a:spcAft>
            </a:pPr>
            <a:r>
              <a:rPr lang="en-US" sz="2200" dirty="0" smtClean="0">
                <a:latin typeface="Helvetica" pitchFamily="34" charset="0"/>
              </a:rPr>
              <a:t>Put new stock below or beneath existing stock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20482" name="Picture 2" descr="I:\Overseas Projects\PHOTOS\2012\Culinary 2012\Foodstorage2CCLinda&amp;Clark.jpg"/>
          <p:cNvPicPr>
            <a:picLocks noChangeAspect="1" noChangeArrowheads="1"/>
          </p:cNvPicPr>
          <p:nvPr/>
        </p:nvPicPr>
        <p:blipFill>
          <a:blip r:embed="rId3" cstate="print"/>
          <a:srcRect/>
          <a:stretch>
            <a:fillRect/>
          </a:stretch>
        </p:blipFill>
        <p:spPr bwMode="auto">
          <a:xfrm>
            <a:off x="6629400" y="2286000"/>
            <a:ext cx="1397000" cy="1905000"/>
          </a:xfrm>
          <a:prstGeom prst="rect">
            <a:avLst/>
          </a:prstGeom>
          <a:noFill/>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76400"/>
            <a:ext cx="7467600" cy="4406355"/>
          </a:xfrm>
        </p:spPr>
        <p:txBody>
          <a:bodyPr>
            <a:normAutofit/>
          </a:bodyPr>
          <a:lstStyle/>
          <a:p>
            <a:pPr marL="0" indent="0">
              <a:spcBef>
                <a:spcPts val="600"/>
              </a:spcBef>
              <a:spcAft>
                <a:spcPts val="1200"/>
              </a:spcAft>
              <a:buNone/>
            </a:pPr>
            <a:r>
              <a:rPr lang="en-US" sz="2200" dirty="0" smtClean="0">
                <a:latin typeface="Helvetica" pitchFamily="34" charset="0"/>
              </a:rPr>
              <a:t>Cleaning requirements:</a:t>
            </a:r>
          </a:p>
          <a:p>
            <a:pPr marL="360000" indent="-360000">
              <a:spcBef>
                <a:spcPts val="600"/>
              </a:spcBef>
              <a:spcAft>
                <a:spcPts val="1200"/>
              </a:spcAft>
            </a:pPr>
            <a:r>
              <a:rPr lang="en-US" sz="2200" dirty="0" smtClean="0">
                <a:latin typeface="Helvetica" pitchFamily="34" charset="0"/>
              </a:rPr>
              <a:t>Premises need to be kept clean</a:t>
            </a:r>
          </a:p>
          <a:p>
            <a:pPr marL="360000" indent="-360000">
              <a:spcBef>
                <a:spcPts val="600"/>
              </a:spcBef>
              <a:spcAft>
                <a:spcPts val="1200"/>
              </a:spcAft>
            </a:pPr>
            <a:r>
              <a:rPr lang="en-US" sz="2200" dirty="0" smtClean="0">
                <a:latin typeface="Helvetica" pitchFamily="34" charset="0"/>
              </a:rPr>
              <a:t>Fixtures and fittings must be kept clean</a:t>
            </a:r>
          </a:p>
          <a:p>
            <a:pPr marL="360000" indent="-360000">
              <a:spcBef>
                <a:spcPts val="600"/>
              </a:spcBef>
              <a:spcAft>
                <a:spcPts val="1200"/>
              </a:spcAft>
            </a:pPr>
            <a:r>
              <a:rPr lang="en-US" sz="2200" dirty="0" smtClean="0">
                <a:latin typeface="Helvetica" pitchFamily="34" charset="0"/>
              </a:rPr>
              <a:t>Cleaning equipment must be cleaned after use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4" descr="C:\Documents and Settings\jirayut\Local Settings\Temporary Internet Files\Content.IE5\733Z9TJI\MC900241319[1].wmf"/>
          <p:cNvPicPr/>
          <p:nvPr/>
        </p:nvPicPr>
        <p:blipFill>
          <a:blip r:embed="rId3" cstate="print"/>
          <a:srcRect/>
          <a:stretch>
            <a:fillRect/>
          </a:stretch>
        </p:blipFill>
        <p:spPr bwMode="auto">
          <a:xfrm>
            <a:off x="3429000" y="4267200"/>
            <a:ext cx="1212256" cy="1344023"/>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Cleaning tools and equipment: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420809054"/>
              </p:ext>
            </p:extLst>
          </p:nvPr>
        </p:nvGraphicFramePr>
        <p:xfrm>
          <a:off x="609600" y="2209799"/>
          <a:ext cx="7391400" cy="2362200"/>
        </p:xfrm>
        <a:graphic>
          <a:graphicData uri="http://schemas.openxmlformats.org/drawingml/2006/table">
            <a:tbl>
              <a:tblPr firstRow="1" bandRow="1">
                <a:tableStyleId>{5C22544A-7EE6-4342-B048-85BDC9FD1C3A}</a:tableStyleId>
              </a:tblPr>
              <a:tblGrid>
                <a:gridCol w="2463800"/>
                <a:gridCol w="2463800"/>
                <a:gridCol w="2463800"/>
              </a:tblGrid>
              <a:tr h="787400">
                <a:tc>
                  <a:txBody>
                    <a:bodyPr/>
                    <a:lstStyle/>
                    <a:p>
                      <a:pPr marL="342900" lvl="0" indent="-342900">
                        <a:spcBef>
                          <a:spcPts val="400"/>
                        </a:spcBef>
                        <a:spcAft>
                          <a:spcPts val="600"/>
                        </a:spcAft>
                        <a:buClr>
                          <a:srgbClr val="7FD13B"/>
                        </a:buClr>
                        <a:buFont typeface="Symbol"/>
                        <a:buChar char=""/>
                      </a:pPr>
                      <a:r>
                        <a:rPr kumimoji="0" lang="en-AU" sz="2200" b="0" kern="1200" dirty="0">
                          <a:solidFill>
                            <a:schemeClr val="dk1"/>
                          </a:solidFill>
                          <a:latin typeface="Helvetica"/>
                          <a:ea typeface="Calibri"/>
                          <a:cs typeface="Calibri"/>
                        </a:rPr>
                        <a:t>Clothes</a:t>
                      </a:r>
                    </a:p>
                  </a:txBody>
                  <a:tcPr marL="68580" marR="68580" marT="0" marB="0">
                    <a:noFill/>
                  </a:tcPr>
                </a:tc>
                <a:tc>
                  <a:txBody>
                    <a:bodyPr/>
                    <a:lstStyle/>
                    <a:p>
                      <a:pPr marL="342900" lvl="0" indent="-342900">
                        <a:spcBef>
                          <a:spcPts val="400"/>
                        </a:spcBef>
                        <a:spcAft>
                          <a:spcPts val="600"/>
                        </a:spcAft>
                        <a:buClr>
                          <a:srgbClr val="7FD13B"/>
                        </a:buClr>
                        <a:buFont typeface="Symbol"/>
                        <a:buChar char=""/>
                      </a:pPr>
                      <a:r>
                        <a:rPr kumimoji="0" lang="en-AU" sz="2200" b="0" kern="1200" dirty="0">
                          <a:solidFill>
                            <a:schemeClr val="dk1"/>
                          </a:solidFill>
                          <a:latin typeface="Helvetica"/>
                          <a:ea typeface="Calibri"/>
                          <a:cs typeface="Calibri"/>
                        </a:rPr>
                        <a:t>Brushes</a:t>
                      </a:r>
                    </a:p>
                  </a:txBody>
                  <a:tcPr marL="68580" marR="68580" marT="0" marB="0">
                    <a:noFill/>
                  </a:tcPr>
                </a:tc>
                <a:tc>
                  <a:txBody>
                    <a:bodyPr/>
                    <a:lstStyle/>
                    <a:p>
                      <a:pPr marL="342900" lvl="0" indent="-342900">
                        <a:spcBef>
                          <a:spcPts val="400"/>
                        </a:spcBef>
                        <a:spcAft>
                          <a:spcPts val="600"/>
                        </a:spcAft>
                        <a:buClr>
                          <a:srgbClr val="7FD13B"/>
                        </a:buClr>
                        <a:buFont typeface="Symbol"/>
                        <a:buChar char=""/>
                      </a:pPr>
                      <a:r>
                        <a:rPr kumimoji="0" lang="en-AU" sz="2200" b="0" kern="1200" dirty="0">
                          <a:solidFill>
                            <a:schemeClr val="dk1"/>
                          </a:solidFill>
                          <a:latin typeface="Helvetica"/>
                          <a:ea typeface="Calibri"/>
                          <a:cs typeface="Calibri"/>
                        </a:rPr>
                        <a:t>Sponges</a:t>
                      </a:r>
                    </a:p>
                  </a:txBody>
                  <a:tcPr marL="68580" marR="68580" marT="0" marB="0">
                    <a:noFill/>
                  </a:tcPr>
                </a:tc>
              </a:tr>
              <a:tr h="787400">
                <a:tc>
                  <a:txBody>
                    <a:bodyPr/>
                    <a:lstStyle/>
                    <a:p>
                      <a:pPr marL="342900" lvl="0" indent="-342900">
                        <a:spcBef>
                          <a:spcPts val="400"/>
                        </a:spcBef>
                        <a:spcAft>
                          <a:spcPts val="600"/>
                        </a:spcAft>
                        <a:buClr>
                          <a:srgbClr val="7FD13B"/>
                        </a:buClr>
                        <a:buFont typeface="Symbol"/>
                        <a:buChar char=""/>
                      </a:pPr>
                      <a:r>
                        <a:rPr lang="en-AU" sz="2200" dirty="0">
                          <a:latin typeface="Helvetica"/>
                          <a:ea typeface="Calibri"/>
                          <a:cs typeface="Calibri"/>
                        </a:rPr>
                        <a:t>Towels</a:t>
                      </a:r>
                    </a:p>
                  </a:txBody>
                  <a:tcPr marL="68580" marR="68580" marT="0" marB="0">
                    <a:noFill/>
                  </a:tcPr>
                </a:tc>
                <a:tc>
                  <a:txBody>
                    <a:bodyPr/>
                    <a:lstStyle/>
                    <a:p>
                      <a:pPr marL="342900" lvl="0" indent="-342900">
                        <a:spcBef>
                          <a:spcPts val="400"/>
                        </a:spcBef>
                        <a:spcAft>
                          <a:spcPts val="600"/>
                        </a:spcAft>
                        <a:buClr>
                          <a:srgbClr val="7FD13B"/>
                        </a:buClr>
                        <a:buFont typeface="Symbol"/>
                        <a:buChar char=""/>
                      </a:pPr>
                      <a:r>
                        <a:rPr lang="en-AU" sz="2200" dirty="0">
                          <a:latin typeface="Helvetica"/>
                          <a:ea typeface="Calibri"/>
                          <a:cs typeface="Calibri"/>
                        </a:rPr>
                        <a:t>Spray bottles</a:t>
                      </a:r>
                    </a:p>
                  </a:txBody>
                  <a:tcPr marL="68580" marR="68580" marT="0" marB="0">
                    <a:noFill/>
                  </a:tcPr>
                </a:tc>
                <a:tc>
                  <a:txBody>
                    <a:bodyPr/>
                    <a:lstStyle/>
                    <a:p>
                      <a:pPr marL="342900" lvl="0" indent="-342900">
                        <a:spcBef>
                          <a:spcPts val="400"/>
                        </a:spcBef>
                        <a:spcAft>
                          <a:spcPts val="600"/>
                        </a:spcAft>
                        <a:buClr>
                          <a:srgbClr val="7FD13B"/>
                        </a:buClr>
                        <a:buFont typeface="Symbol"/>
                        <a:buChar char=""/>
                      </a:pPr>
                      <a:r>
                        <a:rPr lang="en-AU" sz="2200" dirty="0">
                          <a:latin typeface="Helvetica"/>
                          <a:ea typeface="Calibri"/>
                          <a:cs typeface="Calibri"/>
                        </a:rPr>
                        <a:t>Grill cloths</a:t>
                      </a:r>
                    </a:p>
                  </a:txBody>
                  <a:tcPr marL="68580" marR="68580" marT="0" marB="0">
                    <a:noFill/>
                  </a:tcPr>
                </a:tc>
              </a:tr>
              <a:tr h="787400">
                <a:tc>
                  <a:txBody>
                    <a:bodyPr/>
                    <a:lstStyle/>
                    <a:p>
                      <a:pPr marL="342900" lvl="0" indent="-342900">
                        <a:spcBef>
                          <a:spcPts val="400"/>
                        </a:spcBef>
                        <a:spcAft>
                          <a:spcPts val="600"/>
                        </a:spcAft>
                        <a:buClr>
                          <a:srgbClr val="7FD13B"/>
                        </a:buClr>
                        <a:buFont typeface="Symbol"/>
                        <a:buChar char=""/>
                      </a:pPr>
                      <a:r>
                        <a:rPr lang="en-AU" sz="2200" dirty="0">
                          <a:latin typeface="Helvetica"/>
                          <a:ea typeface="Calibri"/>
                          <a:cs typeface="Calibri"/>
                        </a:rPr>
                        <a:t>Abrasive pads</a:t>
                      </a:r>
                    </a:p>
                  </a:txBody>
                  <a:tcPr marL="68580" marR="68580" marT="0" marB="0">
                    <a:noFill/>
                  </a:tcPr>
                </a:tc>
                <a:tc>
                  <a:txBody>
                    <a:bodyPr/>
                    <a:lstStyle/>
                    <a:p>
                      <a:pPr marL="342900" lvl="0" indent="-342900">
                        <a:spcBef>
                          <a:spcPts val="400"/>
                        </a:spcBef>
                        <a:spcAft>
                          <a:spcPts val="600"/>
                        </a:spcAft>
                        <a:buClr>
                          <a:srgbClr val="7FD13B"/>
                        </a:buClr>
                        <a:buFont typeface="Symbol"/>
                        <a:buChar char=""/>
                      </a:pPr>
                      <a:r>
                        <a:rPr lang="en-AU" sz="2200" dirty="0">
                          <a:latin typeface="Helvetica"/>
                          <a:ea typeface="Calibri"/>
                          <a:cs typeface="Calibri"/>
                        </a:rPr>
                        <a:t>Scrapers</a:t>
                      </a:r>
                    </a:p>
                  </a:txBody>
                  <a:tcPr marL="68580" marR="68580" marT="0" marB="0">
                    <a:noFill/>
                  </a:tcPr>
                </a:tc>
                <a:tc>
                  <a:txBody>
                    <a:bodyPr/>
                    <a:lstStyle/>
                    <a:p>
                      <a:pPr marL="342900" lvl="0" indent="-342900">
                        <a:spcBef>
                          <a:spcPts val="400"/>
                        </a:spcBef>
                        <a:spcAft>
                          <a:spcPts val="600"/>
                        </a:spcAft>
                        <a:buClr>
                          <a:srgbClr val="7FD13B"/>
                        </a:buClr>
                        <a:buFont typeface="Symbol"/>
                        <a:buChar char=""/>
                      </a:pPr>
                      <a:r>
                        <a:rPr lang="en-AU" sz="2200" dirty="0">
                          <a:latin typeface="Helvetica"/>
                          <a:ea typeface="Calibri"/>
                          <a:cs typeface="Calibri"/>
                        </a:rPr>
                        <a:t>Paper towel</a:t>
                      </a:r>
                    </a:p>
                  </a:txBody>
                  <a:tcPr marL="68580" marR="68580" marT="0" marB="0">
                    <a:noFill/>
                  </a:tcPr>
                </a:tc>
              </a:tr>
            </a:tbl>
          </a:graphicData>
        </a:graphic>
      </p:graphicFrame>
      <p:pic>
        <p:nvPicPr>
          <p:cNvPr id="21506" name="Picture 2" descr="C:\Documents and Settings\danielc\Desktop\Apply safety proc handling food images\freeimage-3040599.jpg"/>
          <p:cNvPicPr>
            <a:picLocks noChangeAspect="1" noChangeArrowheads="1"/>
          </p:cNvPicPr>
          <p:nvPr/>
        </p:nvPicPr>
        <p:blipFill>
          <a:blip r:embed="rId3" cstate="print"/>
          <a:srcRect/>
          <a:stretch>
            <a:fillRect/>
          </a:stretch>
        </p:blipFill>
        <p:spPr bwMode="auto">
          <a:xfrm>
            <a:off x="2590800" y="4447557"/>
            <a:ext cx="2362200" cy="1771827"/>
          </a:xfrm>
          <a:prstGeom prst="rect">
            <a:avLst/>
          </a:prstGeom>
          <a:noFill/>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Cleaning agents and chemicals: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501285982"/>
              </p:ext>
            </p:extLst>
          </p:nvPr>
        </p:nvGraphicFramePr>
        <p:xfrm>
          <a:off x="609600" y="2209800"/>
          <a:ext cx="7772400" cy="2895600"/>
        </p:xfrm>
        <a:graphic>
          <a:graphicData uri="http://schemas.openxmlformats.org/drawingml/2006/table">
            <a:tbl>
              <a:tblPr firstRow="1" bandRow="1">
                <a:tableStyleId>{5C22544A-7EE6-4342-B048-85BDC9FD1C3A}</a:tableStyleId>
              </a:tblPr>
              <a:tblGrid>
                <a:gridCol w="2590800"/>
                <a:gridCol w="2590800"/>
                <a:gridCol w="2590800"/>
              </a:tblGrid>
              <a:tr h="666166">
                <a:tc>
                  <a:txBody>
                    <a:bodyPr/>
                    <a:lstStyle/>
                    <a:p>
                      <a:pPr marL="342900" lvl="0" indent="-342900">
                        <a:spcBef>
                          <a:spcPts val="400"/>
                        </a:spcBef>
                        <a:spcAft>
                          <a:spcPts val="600"/>
                        </a:spcAft>
                        <a:buClr>
                          <a:srgbClr val="92D050"/>
                        </a:buClr>
                        <a:buFont typeface="Symbol"/>
                        <a:buChar char=""/>
                      </a:pPr>
                      <a:r>
                        <a:rPr kumimoji="0" lang="en-AU" sz="2200" b="0" kern="1200" dirty="0">
                          <a:solidFill>
                            <a:schemeClr val="dk1"/>
                          </a:solidFill>
                          <a:latin typeface="Helvetica"/>
                          <a:ea typeface="Calibri"/>
                          <a:cs typeface="Calibri"/>
                        </a:rPr>
                        <a:t>Detergents</a:t>
                      </a:r>
                    </a:p>
                  </a:txBody>
                  <a:tcPr marL="68580" marR="68580" marT="0" marB="0">
                    <a:noFill/>
                  </a:tcPr>
                </a:tc>
                <a:tc>
                  <a:txBody>
                    <a:bodyPr/>
                    <a:lstStyle/>
                    <a:p>
                      <a:pPr marL="342900" lvl="0" indent="-342900">
                        <a:spcBef>
                          <a:spcPts val="400"/>
                        </a:spcBef>
                        <a:spcAft>
                          <a:spcPts val="600"/>
                        </a:spcAft>
                        <a:buClr>
                          <a:srgbClr val="92D050"/>
                        </a:buClr>
                        <a:buFont typeface="Symbol"/>
                        <a:buChar char=""/>
                      </a:pPr>
                      <a:r>
                        <a:rPr kumimoji="0" lang="en-AU" sz="2200" b="0" kern="1200" dirty="0">
                          <a:solidFill>
                            <a:schemeClr val="dk1"/>
                          </a:solidFill>
                          <a:latin typeface="Helvetica"/>
                          <a:ea typeface="Calibri"/>
                          <a:cs typeface="Calibri"/>
                        </a:rPr>
                        <a:t>Sanitizers</a:t>
                      </a:r>
                    </a:p>
                  </a:txBody>
                  <a:tcPr marL="68580" marR="68580" marT="0" marB="0">
                    <a:noFill/>
                  </a:tcPr>
                </a:tc>
                <a:tc>
                  <a:txBody>
                    <a:bodyPr/>
                    <a:lstStyle/>
                    <a:p>
                      <a:pPr marL="342900" lvl="0" indent="-342900">
                        <a:spcBef>
                          <a:spcPts val="400"/>
                        </a:spcBef>
                        <a:spcAft>
                          <a:spcPts val="600"/>
                        </a:spcAft>
                        <a:buClr>
                          <a:srgbClr val="92D050"/>
                        </a:buClr>
                        <a:buFont typeface="Symbol"/>
                        <a:buChar char=""/>
                      </a:pPr>
                      <a:r>
                        <a:rPr kumimoji="0" lang="en-AU" sz="2200" b="0" kern="1200" dirty="0">
                          <a:solidFill>
                            <a:schemeClr val="dk1"/>
                          </a:solidFill>
                          <a:latin typeface="Helvetica"/>
                          <a:ea typeface="Calibri"/>
                          <a:cs typeface="Calibri"/>
                        </a:rPr>
                        <a:t>Degreasers</a:t>
                      </a:r>
                    </a:p>
                  </a:txBody>
                  <a:tcPr marL="68580" marR="68580" marT="0" marB="0">
                    <a:noFill/>
                  </a:tcPr>
                </a:tc>
              </a:tr>
              <a:tr h="666166">
                <a:tc>
                  <a:txBody>
                    <a:bodyPr/>
                    <a:lstStyle/>
                    <a:p>
                      <a:pPr marL="342900" lvl="0" indent="-342900">
                        <a:spcBef>
                          <a:spcPts val="400"/>
                        </a:spcBef>
                        <a:spcAft>
                          <a:spcPts val="600"/>
                        </a:spcAft>
                        <a:buClr>
                          <a:srgbClr val="92D050"/>
                        </a:buClr>
                        <a:buFont typeface="Symbol"/>
                        <a:buChar char=""/>
                      </a:pPr>
                      <a:r>
                        <a:rPr lang="en-AU" sz="2200" dirty="0">
                          <a:latin typeface="Helvetica"/>
                          <a:ea typeface="Calibri"/>
                          <a:cs typeface="Calibri"/>
                        </a:rPr>
                        <a:t>Oven cleaners</a:t>
                      </a:r>
                    </a:p>
                  </a:txBody>
                  <a:tcPr marL="68580" marR="68580" marT="0" marB="0">
                    <a:noFill/>
                  </a:tcPr>
                </a:tc>
                <a:tc>
                  <a:txBody>
                    <a:bodyPr/>
                    <a:lstStyle/>
                    <a:p>
                      <a:pPr marL="342900" lvl="0" indent="-342900">
                        <a:spcBef>
                          <a:spcPts val="400"/>
                        </a:spcBef>
                        <a:spcAft>
                          <a:spcPts val="600"/>
                        </a:spcAft>
                        <a:buClr>
                          <a:srgbClr val="92D050"/>
                        </a:buClr>
                        <a:buFont typeface="Symbol"/>
                        <a:buChar char=""/>
                      </a:pPr>
                      <a:r>
                        <a:rPr lang="en-AU" sz="2200" dirty="0">
                          <a:latin typeface="Helvetica"/>
                          <a:ea typeface="Calibri"/>
                          <a:cs typeface="Calibri"/>
                        </a:rPr>
                        <a:t>Grill cleaners</a:t>
                      </a:r>
                    </a:p>
                  </a:txBody>
                  <a:tcPr marL="68580" marR="68580" marT="0" marB="0">
                    <a:noFill/>
                  </a:tcPr>
                </a:tc>
                <a:tc>
                  <a:txBody>
                    <a:bodyPr/>
                    <a:lstStyle/>
                    <a:p>
                      <a:pPr marL="342900" lvl="0" indent="-342900">
                        <a:spcBef>
                          <a:spcPts val="400"/>
                        </a:spcBef>
                        <a:spcAft>
                          <a:spcPts val="600"/>
                        </a:spcAft>
                        <a:buClr>
                          <a:srgbClr val="92D050"/>
                        </a:buClr>
                        <a:buFont typeface="Symbol"/>
                        <a:buChar char=""/>
                      </a:pPr>
                      <a:r>
                        <a:rPr lang="en-AU" sz="2200" dirty="0" smtClean="0">
                          <a:latin typeface="Helvetica"/>
                          <a:ea typeface="Calibri"/>
                          <a:cs typeface="Calibri"/>
                        </a:rPr>
                        <a:t>Rinse aids</a:t>
                      </a:r>
                      <a:endParaRPr lang="en-AU" sz="2200" dirty="0">
                        <a:latin typeface="Helvetica"/>
                        <a:ea typeface="Calibri"/>
                        <a:cs typeface="Calibri"/>
                      </a:endParaRPr>
                    </a:p>
                  </a:txBody>
                  <a:tcPr marL="68580" marR="68580" marT="0" marB="0">
                    <a:noFill/>
                  </a:tcPr>
                </a:tc>
              </a:tr>
              <a:tr h="781634">
                <a:tc>
                  <a:txBody>
                    <a:bodyPr/>
                    <a:lstStyle/>
                    <a:p>
                      <a:pPr marL="342900" lvl="0" indent="-342900">
                        <a:spcBef>
                          <a:spcPts val="400"/>
                        </a:spcBef>
                        <a:spcAft>
                          <a:spcPts val="600"/>
                        </a:spcAft>
                        <a:buClr>
                          <a:srgbClr val="92D050"/>
                        </a:buClr>
                        <a:buFont typeface="Symbol"/>
                        <a:buChar char=""/>
                      </a:pPr>
                      <a:r>
                        <a:rPr lang="en-AU" sz="2200" dirty="0">
                          <a:latin typeface="Helvetica"/>
                          <a:ea typeface="Calibri"/>
                          <a:cs typeface="Calibri"/>
                        </a:rPr>
                        <a:t>Combi-oven cleaners</a:t>
                      </a:r>
                    </a:p>
                  </a:txBody>
                  <a:tcPr marL="68580" marR="68580" marT="0" marB="0">
                    <a:noFill/>
                  </a:tcPr>
                </a:tc>
                <a:tc>
                  <a:txBody>
                    <a:bodyPr/>
                    <a:lstStyle/>
                    <a:p>
                      <a:pPr marL="342900" lvl="0" indent="-342900">
                        <a:spcBef>
                          <a:spcPts val="400"/>
                        </a:spcBef>
                        <a:spcAft>
                          <a:spcPts val="600"/>
                        </a:spcAft>
                        <a:buClr>
                          <a:srgbClr val="92D050"/>
                        </a:buClr>
                        <a:buFont typeface="Symbol"/>
                        <a:buChar char=""/>
                      </a:pPr>
                      <a:r>
                        <a:rPr lang="en-AU" sz="2200" dirty="0">
                          <a:latin typeface="Helvetica"/>
                          <a:ea typeface="Calibri"/>
                          <a:cs typeface="Calibri"/>
                        </a:rPr>
                        <a:t>Glass cleaners</a:t>
                      </a:r>
                    </a:p>
                  </a:txBody>
                  <a:tcPr marL="68580" marR="68580" marT="0" marB="0">
                    <a:noFill/>
                  </a:tcPr>
                </a:tc>
                <a:tc>
                  <a:txBody>
                    <a:bodyPr/>
                    <a:lstStyle/>
                    <a:p>
                      <a:pPr marL="342900" lvl="0" indent="-342900">
                        <a:spcBef>
                          <a:spcPts val="400"/>
                        </a:spcBef>
                        <a:spcAft>
                          <a:spcPts val="600"/>
                        </a:spcAft>
                        <a:buClr>
                          <a:srgbClr val="92D050"/>
                        </a:buClr>
                        <a:buFont typeface="Symbol"/>
                        <a:buChar char=""/>
                      </a:pPr>
                      <a:r>
                        <a:rPr lang="en-AU" sz="2200" dirty="0" smtClean="0">
                          <a:latin typeface="Helvetica"/>
                          <a:ea typeface="Calibri"/>
                          <a:cs typeface="Calibri"/>
                        </a:rPr>
                        <a:t>Descalers</a:t>
                      </a:r>
                      <a:endParaRPr lang="en-AU" sz="2200" dirty="0">
                        <a:latin typeface="Helvetica"/>
                        <a:ea typeface="Calibri"/>
                        <a:cs typeface="Calibri"/>
                      </a:endParaRPr>
                    </a:p>
                  </a:txBody>
                  <a:tcPr marL="68580" marR="68580" marT="0" marB="0">
                    <a:noFill/>
                  </a:tcPr>
                </a:tc>
              </a:tr>
              <a:tr h="781634">
                <a:tc>
                  <a:txBody>
                    <a:bodyPr/>
                    <a:lstStyle/>
                    <a:p>
                      <a:pPr marL="342900" lvl="0" indent="-342900">
                        <a:spcBef>
                          <a:spcPts val="400"/>
                        </a:spcBef>
                        <a:spcAft>
                          <a:spcPts val="600"/>
                        </a:spcAft>
                        <a:buClr>
                          <a:srgbClr val="92D050"/>
                        </a:buClr>
                        <a:buFont typeface="Symbol"/>
                        <a:buChar char=""/>
                      </a:pPr>
                      <a:r>
                        <a:rPr lang="en-AU" sz="2200" dirty="0">
                          <a:latin typeface="Helvetica"/>
                          <a:ea typeface="Calibri"/>
                          <a:cs typeface="Calibri"/>
                        </a:rPr>
                        <a:t>Dishwashing detergents</a:t>
                      </a:r>
                    </a:p>
                  </a:txBody>
                  <a:tcPr marL="68580" marR="68580" marT="0" marB="0">
                    <a:noFill/>
                  </a:tcPr>
                </a:tc>
                <a:tc>
                  <a:txBody>
                    <a:bodyPr/>
                    <a:lstStyle/>
                    <a:p>
                      <a:pPr marL="342900" lvl="0" indent="-342900">
                        <a:spcBef>
                          <a:spcPts val="400"/>
                        </a:spcBef>
                        <a:spcAft>
                          <a:spcPts val="600"/>
                        </a:spcAft>
                        <a:buClr>
                          <a:srgbClr val="92D050"/>
                        </a:buClr>
                        <a:buFont typeface="Symbol"/>
                        <a:buChar char=""/>
                      </a:pPr>
                      <a:r>
                        <a:rPr lang="en-AU" sz="2200" dirty="0" smtClean="0">
                          <a:latin typeface="Helvetica"/>
                          <a:ea typeface="Calibri"/>
                          <a:cs typeface="Calibri"/>
                        </a:rPr>
                        <a:t>Multi-purpose cleaners</a:t>
                      </a:r>
                      <a:endParaRPr lang="en-AU" sz="2200" dirty="0">
                        <a:latin typeface="Helvetica"/>
                        <a:ea typeface="Calibri"/>
                        <a:cs typeface="Calibri"/>
                      </a:endParaRPr>
                    </a:p>
                  </a:txBody>
                  <a:tcPr marL="68580" marR="68580" marT="0" marB="0">
                    <a:noFill/>
                  </a:tcPr>
                </a:tc>
                <a:tc>
                  <a:txBody>
                    <a:bodyPr/>
                    <a:lstStyle/>
                    <a:p>
                      <a:pPr marL="342900" lvl="0" indent="-342900">
                        <a:spcBef>
                          <a:spcPts val="400"/>
                        </a:spcBef>
                        <a:spcAft>
                          <a:spcPts val="600"/>
                        </a:spcAft>
                        <a:buClr>
                          <a:srgbClr val="92D050"/>
                        </a:buClr>
                        <a:buFont typeface="Symbol"/>
                        <a:buChar char=""/>
                      </a:pPr>
                      <a:r>
                        <a:rPr lang="en-AU" sz="2200" dirty="0" smtClean="0">
                          <a:latin typeface="Helvetica"/>
                          <a:ea typeface="Calibri"/>
                          <a:cs typeface="Calibri"/>
                        </a:rPr>
                        <a:t>Cooktop cleaners</a:t>
                      </a:r>
                      <a:endParaRPr lang="en-AU" sz="2200" dirty="0">
                        <a:latin typeface="Helvetica"/>
                        <a:ea typeface="Calibri"/>
                        <a:cs typeface="Calibri"/>
                      </a:endParaRPr>
                    </a:p>
                  </a:txBody>
                  <a:tcPr marL="68580" marR="68580" marT="0" marB="0">
                    <a:noFill/>
                  </a:tcPr>
                </a:tc>
              </a:tr>
            </a:tbl>
          </a:graphicData>
        </a:graphic>
      </p:graphicFrame>
      <p:pic>
        <p:nvPicPr>
          <p:cNvPr id="22530" name="Picture 2" descr="C:\Documents and Settings\danielc\Local Settings\Temporary Internet Files\Content.IE5\SIQ5KRQ3\MP900439278[1].jpg"/>
          <p:cNvPicPr>
            <a:picLocks noChangeAspect="1" noChangeArrowheads="1"/>
          </p:cNvPicPr>
          <p:nvPr/>
        </p:nvPicPr>
        <p:blipFill>
          <a:blip r:embed="rId3" cstate="print"/>
          <a:srcRect/>
          <a:stretch>
            <a:fillRect/>
          </a:stretch>
        </p:blipFill>
        <p:spPr bwMode="auto">
          <a:xfrm>
            <a:off x="3124200" y="5334000"/>
            <a:ext cx="1828800" cy="1215716"/>
          </a:xfrm>
          <a:prstGeom prst="rect">
            <a:avLst/>
          </a:prstGeom>
          <a:noFill/>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marL="0" indent="0">
              <a:spcBef>
                <a:spcPts val="600"/>
              </a:spcBef>
              <a:spcAft>
                <a:spcPts val="1200"/>
              </a:spcAft>
              <a:buNone/>
            </a:pPr>
            <a:r>
              <a:rPr lang="en-US" sz="2100" dirty="0" smtClean="0">
                <a:latin typeface="Helvetica" pitchFamily="34" charset="0"/>
              </a:rPr>
              <a:t>General cleaning procedure for food equipment:</a:t>
            </a:r>
          </a:p>
          <a:p>
            <a:pPr marL="360000" indent="-360000">
              <a:spcBef>
                <a:spcPts val="600"/>
              </a:spcBef>
              <a:spcAft>
                <a:spcPts val="1200"/>
              </a:spcAft>
            </a:pPr>
            <a:r>
              <a:rPr lang="en-US" sz="2100" dirty="0" smtClean="0">
                <a:latin typeface="Helvetica" pitchFamily="34" charset="0"/>
              </a:rPr>
              <a:t>Allowing items to cool before cleaning them</a:t>
            </a:r>
          </a:p>
          <a:p>
            <a:pPr marL="360000" indent="-360000">
              <a:spcBef>
                <a:spcPts val="600"/>
              </a:spcBef>
              <a:spcAft>
                <a:spcPts val="1200"/>
              </a:spcAft>
            </a:pPr>
            <a:r>
              <a:rPr lang="en-US" sz="2100" dirty="0" smtClean="0">
                <a:latin typeface="Helvetica" pitchFamily="34" charset="0"/>
              </a:rPr>
              <a:t>Checking with other staff</a:t>
            </a:r>
          </a:p>
          <a:p>
            <a:pPr marL="360000" indent="-360000">
              <a:spcBef>
                <a:spcPts val="600"/>
              </a:spcBef>
              <a:spcAft>
                <a:spcPts val="1200"/>
              </a:spcAft>
            </a:pPr>
            <a:r>
              <a:rPr lang="en-US" sz="2100" dirty="0" smtClean="0">
                <a:latin typeface="Helvetica" pitchFamily="34" charset="0"/>
              </a:rPr>
              <a:t>Gathering required tools and chemicals</a:t>
            </a:r>
          </a:p>
          <a:p>
            <a:pPr marL="360000" indent="-360000">
              <a:spcBef>
                <a:spcPts val="600"/>
              </a:spcBef>
              <a:spcAft>
                <a:spcPts val="1200"/>
              </a:spcAft>
            </a:pPr>
            <a:r>
              <a:rPr lang="en-US" sz="2100" dirty="0" smtClean="0">
                <a:latin typeface="Helvetica" pitchFamily="34" charset="0"/>
              </a:rPr>
              <a:t>Knowing the specific procedure for individual items</a:t>
            </a:r>
          </a:p>
          <a:p>
            <a:pPr marL="360000" indent="-360000">
              <a:spcBef>
                <a:spcPts val="600"/>
              </a:spcBef>
              <a:spcAft>
                <a:spcPts val="1200"/>
              </a:spcAft>
            </a:pPr>
            <a:r>
              <a:rPr lang="en-US" sz="2100" dirty="0" smtClean="0">
                <a:latin typeface="Helvetica" pitchFamily="34" charset="0"/>
              </a:rPr>
              <a:t>Cleaning ‘in place’ or moving to sink</a:t>
            </a:r>
          </a:p>
          <a:p>
            <a:pPr marL="360000" indent="-360000">
              <a:spcBef>
                <a:spcPts val="600"/>
              </a:spcBef>
              <a:spcAft>
                <a:spcPts val="1200"/>
              </a:spcAft>
            </a:pPr>
            <a:r>
              <a:rPr lang="en-US" sz="2100" dirty="0" smtClean="0">
                <a:latin typeface="Helvetica" pitchFamily="34" charset="0"/>
              </a:rPr>
              <a:t>Pre-cleaning then washing</a:t>
            </a:r>
          </a:p>
          <a:p>
            <a:pPr marL="360000" indent="-360000">
              <a:spcBef>
                <a:spcPts val="600"/>
              </a:spcBef>
              <a:spcAft>
                <a:spcPts val="1200"/>
              </a:spcAft>
            </a:pPr>
            <a:r>
              <a:rPr lang="en-US" sz="2100" dirty="0" smtClean="0">
                <a:latin typeface="Helvetica" pitchFamily="34" charset="0"/>
              </a:rPr>
              <a:t>Rinsing</a:t>
            </a:r>
          </a:p>
          <a:p>
            <a:pPr marL="360000" indent="-360000">
              <a:spcBef>
                <a:spcPts val="600"/>
              </a:spcBef>
              <a:spcAft>
                <a:spcPts val="1200"/>
              </a:spcAft>
            </a:pPr>
            <a:r>
              <a:rPr lang="en-US" sz="2100" dirty="0" smtClean="0">
                <a:latin typeface="Helvetica" pitchFamily="34" charset="0"/>
              </a:rPr>
              <a:t>Sanitizing</a:t>
            </a: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23554" name="Picture 2" descr="C:\Documents and Settings\danielc\Local Settings\Temporary Internet Files\Content.IE5\XGIII3N1\MC900232935[1].wmf"/>
          <p:cNvPicPr>
            <a:picLocks noChangeAspect="1" noChangeArrowheads="1"/>
          </p:cNvPicPr>
          <p:nvPr/>
        </p:nvPicPr>
        <p:blipFill>
          <a:blip r:embed="rId3" cstate="print"/>
          <a:srcRect/>
          <a:stretch>
            <a:fillRect/>
          </a:stretch>
        </p:blipFill>
        <p:spPr bwMode="auto">
          <a:xfrm>
            <a:off x="6172200" y="2057400"/>
            <a:ext cx="2441418" cy="1662820"/>
          </a:xfrm>
          <a:prstGeom prst="rect">
            <a:avLst/>
          </a:prstGeom>
          <a:noFill/>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Cleaning instructions – may be available and will detail:</a:t>
            </a:r>
          </a:p>
          <a:p>
            <a:pPr marL="360000" indent="-360000">
              <a:spcBef>
                <a:spcPts val="600"/>
              </a:spcBef>
              <a:spcAft>
                <a:spcPts val="1200"/>
              </a:spcAft>
            </a:pPr>
            <a:r>
              <a:rPr lang="en-US" sz="2200" dirty="0" smtClean="0">
                <a:latin typeface="Helvetica" pitchFamily="34" charset="0"/>
              </a:rPr>
              <a:t>Item or area to be cleaned</a:t>
            </a:r>
          </a:p>
          <a:p>
            <a:pPr marL="360000" indent="-360000">
              <a:spcBef>
                <a:spcPts val="600"/>
              </a:spcBef>
              <a:spcAft>
                <a:spcPts val="1200"/>
              </a:spcAft>
            </a:pPr>
            <a:r>
              <a:rPr lang="en-US" sz="2200" dirty="0" smtClean="0">
                <a:latin typeface="Helvetica" pitchFamily="34" charset="0"/>
              </a:rPr>
              <a:t>When cleaning is required</a:t>
            </a:r>
          </a:p>
          <a:p>
            <a:pPr marL="360000" indent="-360000">
              <a:spcBef>
                <a:spcPts val="600"/>
              </a:spcBef>
              <a:spcAft>
                <a:spcPts val="1200"/>
              </a:spcAft>
            </a:pPr>
            <a:r>
              <a:rPr lang="en-US" sz="2200" dirty="0" smtClean="0">
                <a:latin typeface="Helvetica" pitchFamily="34" charset="0"/>
              </a:rPr>
              <a:t>Cleaning equipment and </a:t>
            </a:r>
            <a:br>
              <a:rPr lang="en-US" sz="2200" dirty="0" smtClean="0">
                <a:latin typeface="Helvetica" pitchFamily="34" charset="0"/>
              </a:rPr>
            </a:br>
            <a:r>
              <a:rPr lang="en-US" sz="2200" dirty="0" smtClean="0">
                <a:latin typeface="Helvetica" pitchFamily="34" charset="0"/>
              </a:rPr>
              <a:t>chemicals required</a:t>
            </a:r>
          </a:p>
          <a:p>
            <a:pPr marL="360000" indent="-360000">
              <a:spcBef>
                <a:spcPts val="600"/>
              </a:spcBef>
              <a:spcAft>
                <a:spcPts val="1200"/>
              </a:spcAft>
            </a:pPr>
            <a:r>
              <a:rPr lang="en-US" sz="2200" dirty="0" smtClean="0">
                <a:latin typeface="Helvetica" pitchFamily="34" charset="0"/>
              </a:rPr>
              <a:t>Cleaning procedure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24578" name="Picture 2" descr="C:\Documents and Settings\danielc\Local Settings\Temporary Internet Files\Content.IE5\Y88G682L\MP900439279[1].jpg"/>
          <p:cNvPicPr>
            <a:picLocks noChangeAspect="1" noChangeArrowheads="1"/>
          </p:cNvPicPr>
          <p:nvPr/>
        </p:nvPicPr>
        <p:blipFill>
          <a:blip r:embed="rId3" cstate="print"/>
          <a:srcRect/>
          <a:stretch>
            <a:fillRect/>
          </a:stretch>
        </p:blipFill>
        <p:spPr bwMode="auto">
          <a:xfrm>
            <a:off x="6096000" y="2133600"/>
            <a:ext cx="1828800" cy="2731008"/>
          </a:xfrm>
          <a:prstGeom prst="rect">
            <a:avLst/>
          </a:prstGeom>
          <a:noFill/>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Sample cleaning instruction: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639187990"/>
              </p:ext>
            </p:extLst>
          </p:nvPr>
        </p:nvGraphicFramePr>
        <p:xfrm>
          <a:off x="762000" y="2133600"/>
          <a:ext cx="7162800" cy="3581400"/>
        </p:xfrm>
        <a:graphic>
          <a:graphicData uri="http://schemas.openxmlformats.org/drawingml/2006/table">
            <a:tbl>
              <a:tblPr firstRow="1" bandRow="1">
                <a:tableStyleId>{5C22544A-7EE6-4342-B048-85BDC9FD1C3A}</a:tableStyleId>
              </a:tblPr>
              <a:tblGrid>
                <a:gridCol w="2596515"/>
                <a:gridCol w="4566285"/>
              </a:tblGrid>
              <a:tr h="419479">
                <a:tc>
                  <a:txBody>
                    <a:bodyPr/>
                    <a:lstStyle/>
                    <a:p>
                      <a:pPr algn="ctr">
                        <a:spcBef>
                          <a:spcPts val="400"/>
                        </a:spcBef>
                        <a:spcAft>
                          <a:spcPts val="800"/>
                        </a:spcAft>
                      </a:pPr>
                      <a:r>
                        <a:rPr kumimoji="0" lang="en-AU" sz="2100" kern="1200" dirty="0">
                          <a:solidFill>
                            <a:schemeClr val="bg1"/>
                          </a:solidFill>
                          <a:latin typeface="Helvetica"/>
                          <a:ea typeface="Calibri"/>
                          <a:cs typeface="Calibri"/>
                        </a:rPr>
                        <a:t>Job</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spcBef>
                          <a:spcPts val="400"/>
                        </a:spcBef>
                        <a:spcAft>
                          <a:spcPts val="800"/>
                        </a:spcAft>
                      </a:pPr>
                      <a:r>
                        <a:rPr kumimoji="0" lang="en-AU" sz="2100" kern="1200" dirty="0">
                          <a:solidFill>
                            <a:schemeClr val="bg1"/>
                          </a:solidFill>
                          <a:latin typeface="Helvetica"/>
                          <a:ea typeface="Calibri"/>
                          <a:cs typeface="Calibri"/>
                        </a:rPr>
                        <a:t>Description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r>
              <a:tr h="3161921">
                <a:tc>
                  <a:txBody>
                    <a:bodyPr/>
                    <a:lstStyle/>
                    <a:p>
                      <a:pPr>
                        <a:spcBef>
                          <a:spcPts val="400"/>
                        </a:spcBef>
                        <a:spcAft>
                          <a:spcPts val="800"/>
                        </a:spcAft>
                      </a:pPr>
                      <a:r>
                        <a:rPr lang="en-AU" sz="2100" dirty="0">
                          <a:latin typeface="Helvetica"/>
                          <a:ea typeface="Calibri"/>
                          <a:cs typeface="Calibri"/>
                        </a:rPr>
                        <a:t>Utensils and cutting boards – Daily</a:t>
                      </a:r>
                    </a:p>
                  </a:txBody>
                  <a:tcPr marL="68580" marR="6858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0" indent="-342900">
                        <a:spcBef>
                          <a:spcPts val="400"/>
                        </a:spcBef>
                        <a:spcAft>
                          <a:spcPts val="600"/>
                        </a:spcAft>
                        <a:buClr>
                          <a:srgbClr val="7FD13B"/>
                        </a:buClr>
                        <a:buFont typeface="Arial" pitchFamily="34" charset="0"/>
                        <a:buChar char="•"/>
                      </a:pPr>
                      <a:r>
                        <a:rPr lang="en-AU" sz="2100" dirty="0">
                          <a:latin typeface="Helvetica"/>
                          <a:ea typeface="Calibri"/>
                          <a:cs typeface="Calibri"/>
                        </a:rPr>
                        <a:t>Clean utensils and cutting boards as required during trade </a:t>
                      </a:r>
                      <a:r>
                        <a:rPr lang="en-AU" sz="2100" dirty="0" smtClean="0">
                          <a:latin typeface="Helvetica"/>
                          <a:ea typeface="Calibri"/>
                          <a:cs typeface="Calibri"/>
                        </a:rPr>
                        <a:t>and </a:t>
                      </a:r>
                      <a:r>
                        <a:rPr lang="en-AU" sz="2100" dirty="0">
                          <a:latin typeface="Helvetica"/>
                          <a:ea typeface="Calibri"/>
                          <a:cs typeface="Calibri"/>
                        </a:rPr>
                        <a:t>at the end of each day’s </a:t>
                      </a:r>
                      <a:r>
                        <a:rPr lang="en-AU" sz="2100" dirty="0" smtClean="0">
                          <a:latin typeface="Helvetica"/>
                          <a:ea typeface="Calibri"/>
                          <a:cs typeface="Calibri"/>
                        </a:rPr>
                        <a:t>trade</a:t>
                      </a:r>
                    </a:p>
                    <a:p>
                      <a:pPr marL="342900" lvl="0" indent="-342900">
                        <a:spcBef>
                          <a:spcPts val="400"/>
                        </a:spcBef>
                        <a:spcAft>
                          <a:spcPts val="600"/>
                        </a:spcAft>
                        <a:buClr>
                          <a:srgbClr val="7FD13B"/>
                        </a:buClr>
                        <a:buFont typeface="Arial" pitchFamily="34" charset="0"/>
                        <a:buChar char="•"/>
                      </a:pPr>
                      <a:r>
                        <a:rPr lang="en-AU" sz="2100" dirty="0" smtClean="0">
                          <a:latin typeface="Helvetica"/>
                          <a:ea typeface="Calibri"/>
                          <a:cs typeface="Calibri"/>
                        </a:rPr>
                        <a:t>Remove </a:t>
                      </a:r>
                      <a:r>
                        <a:rPr lang="en-AU" sz="2100" dirty="0">
                          <a:latin typeface="Helvetica"/>
                          <a:ea typeface="Calibri"/>
                          <a:cs typeface="Calibri"/>
                        </a:rPr>
                        <a:t>dry </a:t>
                      </a:r>
                      <a:r>
                        <a:rPr lang="en-AU" sz="2100" dirty="0" smtClean="0">
                          <a:latin typeface="Helvetica"/>
                          <a:ea typeface="Calibri"/>
                          <a:cs typeface="Calibri"/>
                        </a:rPr>
                        <a:t>soil</a:t>
                      </a:r>
                      <a:r>
                        <a:rPr lang="en-AU" sz="2100" baseline="0" dirty="0" smtClean="0">
                          <a:latin typeface="Helvetica"/>
                          <a:ea typeface="Calibri"/>
                          <a:cs typeface="Calibri"/>
                        </a:rPr>
                        <a:t> and </a:t>
                      </a:r>
                      <a:r>
                        <a:rPr lang="en-AU" sz="2100" dirty="0" smtClean="0">
                          <a:latin typeface="Helvetica"/>
                          <a:ea typeface="Calibri"/>
                          <a:cs typeface="Calibri"/>
                        </a:rPr>
                        <a:t>debris </a:t>
                      </a:r>
                      <a:r>
                        <a:rPr lang="en-AU" sz="2100" dirty="0">
                          <a:latin typeface="Helvetica"/>
                          <a:ea typeface="Calibri"/>
                          <a:cs typeface="Calibri"/>
                        </a:rPr>
                        <a:t>and rinse with warm water</a:t>
                      </a:r>
                    </a:p>
                    <a:p>
                      <a:pPr marL="342900" indent="-342900">
                        <a:spcBef>
                          <a:spcPts val="400"/>
                        </a:spcBef>
                        <a:spcAft>
                          <a:spcPts val="800"/>
                        </a:spcAft>
                        <a:buClr>
                          <a:srgbClr val="7FD13B"/>
                        </a:buClr>
                        <a:buFont typeface="Arial" pitchFamily="34" charset="0"/>
                        <a:buChar char="•"/>
                      </a:pPr>
                      <a:r>
                        <a:rPr lang="en-AU" sz="2100" dirty="0">
                          <a:latin typeface="Helvetica"/>
                          <a:ea typeface="Calibri"/>
                          <a:cs typeface="Calibri"/>
                        </a:rPr>
                        <a:t>Wash with </a:t>
                      </a:r>
                      <a:r>
                        <a:rPr lang="en-AU" sz="2100" dirty="0">
                          <a:latin typeface="Helvetica"/>
                          <a:ea typeface="Calibri"/>
                          <a:cs typeface="Times New Roman"/>
                        </a:rPr>
                        <a:t>XYZ </a:t>
                      </a:r>
                      <a:r>
                        <a:rPr lang="en-AU" sz="2100" dirty="0">
                          <a:latin typeface="Helvetica"/>
                          <a:ea typeface="Calibri"/>
                          <a:cs typeface="Calibri"/>
                        </a:rPr>
                        <a:t>detergent, soaking as </a:t>
                      </a:r>
                      <a:r>
                        <a:rPr lang="en-AU" sz="2100" dirty="0" smtClean="0">
                          <a:latin typeface="Helvetica"/>
                          <a:ea typeface="Calibri"/>
                          <a:cs typeface="Calibri"/>
                        </a:rPr>
                        <a:t>required; </a:t>
                      </a:r>
                      <a:r>
                        <a:rPr lang="en-AU" sz="2100" dirty="0">
                          <a:latin typeface="Helvetica"/>
                          <a:ea typeface="Calibri"/>
                          <a:cs typeface="Calibri"/>
                        </a:rPr>
                        <a:t>rinse and sanitize</a:t>
                      </a:r>
                    </a:p>
                    <a:p>
                      <a:pPr marL="342900" indent="-342900">
                        <a:spcBef>
                          <a:spcPts val="400"/>
                        </a:spcBef>
                        <a:spcAft>
                          <a:spcPts val="800"/>
                        </a:spcAft>
                        <a:buClr>
                          <a:srgbClr val="7FD13B"/>
                        </a:buClr>
                        <a:buFont typeface="Arial" pitchFamily="34" charset="0"/>
                        <a:buChar char="•"/>
                      </a:pPr>
                      <a:r>
                        <a:rPr lang="en-AU" sz="2100" dirty="0">
                          <a:latin typeface="Helvetica"/>
                          <a:ea typeface="Calibri"/>
                          <a:cs typeface="Calibri"/>
                        </a:rPr>
                        <a:t>Rinse and allow to air dry</a:t>
                      </a:r>
                    </a:p>
                  </a:txBody>
                  <a:tcPr marL="68580" marR="6858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Sample cleaning instruction: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954237013"/>
              </p:ext>
            </p:extLst>
          </p:nvPr>
        </p:nvGraphicFramePr>
        <p:xfrm>
          <a:off x="685800" y="2209800"/>
          <a:ext cx="7315200" cy="3886200"/>
        </p:xfrm>
        <a:graphic>
          <a:graphicData uri="http://schemas.openxmlformats.org/drawingml/2006/table">
            <a:tbl>
              <a:tblPr firstRow="1" bandRow="1">
                <a:tableStyleId>{5C22544A-7EE6-4342-B048-85BDC9FD1C3A}</a:tableStyleId>
              </a:tblPr>
              <a:tblGrid>
                <a:gridCol w="2103120"/>
                <a:gridCol w="5212080"/>
              </a:tblGrid>
              <a:tr h="382246">
                <a:tc>
                  <a:txBody>
                    <a:bodyPr/>
                    <a:lstStyle/>
                    <a:p>
                      <a:pPr algn="ctr">
                        <a:spcBef>
                          <a:spcPts val="400"/>
                        </a:spcBef>
                        <a:spcAft>
                          <a:spcPts val="800"/>
                        </a:spcAft>
                      </a:pPr>
                      <a:r>
                        <a:rPr kumimoji="0" lang="en-AU" sz="2000" kern="1200" dirty="0">
                          <a:solidFill>
                            <a:schemeClr val="bg1"/>
                          </a:solidFill>
                          <a:latin typeface="Helvetica"/>
                          <a:ea typeface="Calibri"/>
                          <a:cs typeface="Calibri"/>
                        </a:rPr>
                        <a:t>Job</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spcBef>
                          <a:spcPts val="400"/>
                        </a:spcBef>
                        <a:spcAft>
                          <a:spcPts val="800"/>
                        </a:spcAft>
                      </a:pPr>
                      <a:r>
                        <a:rPr kumimoji="0" lang="en-AU" sz="2000" kern="1200" dirty="0">
                          <a:solidFill>
                            <a:schemeClr val="bg1"/>
                          </a:solidFill>
                          <a:latin typeface="Helvetica"/>
                          <a:ea typeface="Calibri"/>
                          <a:cs typeface="Calibri"/>
                        </a:rPr>
                        <a:t>Description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r>
              <a:tr h="3503954">
                <a:tc>
                  <a:txBody>
                    <a:bodyPr/>
                    <a:lstStyle/>
                    <a:p>
                      <a:pPr>
                        <a:spcBef>
                          <a:spcPts val="400"/>
                        </a:spcBef>
                        <a:spcAft>
                          <a:spcPts val="800"/>
                        </a:spcAft>
                      </a:pPr>
                      <a:r>
                        <a:rPr lang="en-AU" sz="2000" dirty="0">
                          <a:latin typeface="Helvetica"/>
                          <a:ea typeface="Calibri"/>
                          <a:cs typeface="Calibri"/>
                        </a:rPr>
                        <a:t>Microwave – Daily </a:t>
                      </a:r>
                    </a:p>
                  </a:txBody>
                  <a:tcPr marL="68580" marR="6858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0" indent="-342900">
                        <a:spcBef>
                          <a:spcPts val="400"/>
                        </a:spcBef>
                        <a:spcAft>
                          <a:spcPts val="600"/>
                        </a:spcAft>
                        <a:buClr>
                          <a:srgbClr val="7FD13B"/>
                        </a:buClr>
                        <a:buFont typeface="Arial" pitchFamily="34" charset="0"/>
                        <a:buChar char="•"/>
                      </a:pPr>
                      <a:r>
                        <a:rPr lang="en-AU" sz="2000" dirty="0">
                          <a:latin typeface="Helvetica"/>
                          <a:ea typeface="Calibri"/>
                          <a:cs typeface="Calibri"/>
                        </a:rPr>
                        <a:t>Clean the microwave as required during trade </a:t>
                      </a:r>
                      <a:r>
                        <a:rPr lang="en-AU" sz="2000" dirty="0" smtClean="0">
                          <a:latin typeface="Helvetica"/>
                          <a:ea typeface="Calibri"/>
                          <a:cs typeface="Calibri"/>
                        </a:rPr>
                        <a:t>and </a:t>
                      </a:r>
                      <a:r>
                        <a:rPr lang="en-AU" sz="2000" dirty="0">
                          <a:latin typeface="Helvetica"/>
                          <a:ea typeface="Calibri"/>
                          <a:cs typeface="Calibri"/>
                        </a:rPr>
                        <a:t>at the end of each day’s </a:t>
                      </a:r>
                      <a:r>
                        <a:rPr lang="en-AU" sz="2000" dirty="0" smtClean="0">
                          <a:latin typeface="Helvetica"/>
                          <a:ea typeface="Calibri"/>
                          <a:cs typeface="Calibri"/>
                        </a:rPr>
                        <a:t>trade</a:t>
                      </a:r>
                    </a:p>
                    <a:p>
                      <a:pPr marL="342900" lvl="0" indent="-342900">
                        <a:spcBef>
                          <a:spcPts val="400"/>
                        </a:spcBef>
                        <a:spcAft>
                          <a:spcPts val="600"/>
                        </a:spcAft>
                        <a:buClr>
                          <a:srgbClr val="7FD13B"/>
                        </a:buClr>
                        <a:buFont typeface="Arial" pitchFamily="34" charset="0"/>
                        <a:buChar char="•"/>
                      </a:pPr>
                      <a:r>
                        <a:rPr lang="en-AU" sz="2000" dirty="0" smtClean="0">
                          <a:latin typeface="Helvetica"/>
                          <a:ea typeface="Calibri"/>
                          <a:cs typeface="Calibri"/>
                        </a:rPr>
                        <a:t>Wipe </a:t>
                      </a:r>
                      <a:r>
                        <a:rPr lang="en-AU" sz="2000" dirty="0">
                          <a:latin typeface="Helvetica"/>
                          <a:ea typeface="Calibri"/>
                          <a:cs typeface="Calibri"/>
                        </a:rPr>
                        <a:t>away loose </a:t>
                      </a:r>
                      <a:r>
                        <a:rPr lang="en-AU" sz="2000" dirty="0" smtClean="0">
                          <a:latin typeface="Helvetica"/>
                          <a:ea typeface="Calibri"/>
                          <a:cs typeface="Calibri"/>
                        </a:rPr>
                        <a:t>debris</a:t>
                      </a:r>
                      <a:r>
                        <a:rPr lang="en-AU" sz="2000" baseline="0" dirty="0" smtClean="0">
                          <a:latin typeface="Helvetica"/>
                          <a:ea typeface="Calibri"/>
                          <a:cs typeface="Calibri"/>
                        </a:rPr>
                        <a:t> and </a:t>
                      </a:r>
                      <a:r>
                        <a:rPr lang="en-AU" sz="2000" dirty="0" smtClean="0">
                          <a:latin typeface="Helvetica"/>
                          <a:ea typeface="Calibri"/>
                          <a:cs typeface="Calibri"/>
                        </a:rPr>
                        <a:t>dirt </a:t>
                      </a:r>
                      <a:r>
                        <a:rPr lang="en-AU" sz="2000" dirty="0">
                          <a:latin typeface="Helvetica"/>
                          <a:ea typeface="Calibri"/>
                          <a:cs typeface="Calibri"/>
                        </a:rPr>
                        <a:t>with a clean </a:t>
                      </a:r>
                      <a:r>
                        <a:rPr lang="en-AU" sz="2000" dirty="0" smtClean="0">
                          <a:latin typeface="Helvetica"/>
                          <a:ea typeface="Calibri"/>
                          <a:cs typeface="Calibri"/>
                        </a:rPr>
                        <a:t>cloth</a:t>
                      </a:r>
                    </a:p>
                    <a:p>
                      <a:pPr marL="342900" lvl="0" indent="-342900">
                        <a:spcBef>
                          <a:spcPts val="400"/>
                        </a:spcBef>
                        <a:spcAft>
                          <a:spcPts val="600"/>
                        </a:spcAft>
                        <a:buClr>
                          <a:srgbClr val="7FD13B"/>
                        </a:buClr>
                        <a:buFont typeface="Arial" pitchFamily="34" charset="0"/>
                        <a:buChar char="•"/>
                      </a:pPr>
                      <a:r>
                        <a:rPr lang="en-AU" sz="2000" dirty="0" smtClean="0">
                          <a:latin typeface="Helvetica"/>
                          <a:ea typeface="Calibri"/>
                          <a:cs typeface="Calibri"/>
                        </a:rPr>
                        <a:t>Spot-clean</a:t>
                      </a:r>
                      <a:r>
                        <a:rPr lang="en-AU" sz="2000" baseline="0" dirty="0" smtClean="0">
                          <a:latin typeface="Helvetica"/>
                          <a:ea typeface="Calibri"/>
                          <a:cs typeface="Calibri"/>
                        </a:rPr>
                        <a:t> or </a:t>
                      </a:r>
                      <a:r>
                        <a:rPr lang="en-AU" sz="2000" dirty="0" smtClean="0">
                          <a:latin typeface="Helvetica"/>
                          <a:ea typeface="Calibri"/>
                          <a:cs typeface="Calibri"/>
                        </a:rPr>
                        <a:t>scrape </a:t>
                      </a:r>
                      <a:r>
                        <a:rPr lang="en-AU" sz="2000" dirty="0">
                          <a:latin typeface="Helvetica"/>
                          <a:ea typeface="Calibri"/>
                          <a:cs typeface="Calibri"/>
                        </a:rPr>
                        <a:t>identifiable </a:t>
                      </a:r>
                      <a:r>
                        <a:rPr lang="en-AU" sz="2000" dirty="0" smtClean="0">
                          <a:latin typeface="Helvetica"/>
                          <a:ea typeface="Calibri"/>
                          <a:cs typeface="Calibri"/>
                        </a:rPr>
                        <a:t>problem areas</a:t>
                      </a:r>
                    </a:p>
                    <a:p>
                      <a:pPr marL="342900" lvl="0" indent="-342900">
                        <a:spcBef>
                          <a:spcPts val="400"/>
                        </a:spcBef>
                        <a:spcAft>
                          <a:spcPts val="600"/>
                        </a:spcAft>
                        <a:buClr>
                          <a:srgbClr val="7FD13B"/>
                        </a:buClr>
                        <a:buFont typeface="Arial" pitchFamily="34" charset="0"/>
                        <a:buChar char="•"/>
                      </a:pPr>
                      <a:r>
                        <a:rPr lang="en-AU" sz="2000" dirty="0" smtClean="0">
                          <a:latin typeface="Helvetica"/>
                          <a:ea typeface="Calibri"/>
                          <a:cs typeface="Calibri"/>
                        </a:rPr>
                        <a:t>Wash </a:t>
                      </a:r>
                      <a:r>
                        <a:rPr lang="en-AU" sz="2000" dirty="0">
                          <a:latin typeface="Helvetica"/>
                          <a:ea typeface="Calibri"/>
                          <a:cs typeface="Calibri"/>
                        </a:rPr>
                        <a:t>with detergent and hot water, rinse and </a:t>
                      </a:r>
                      <a:r>
                        <a:rPr lang="en-AU" sz="2000" dirty="0" smtClean="0">
                          <a:latin typeface="Helvetica"/>
                          <a:ea typeface="Calibri"/>
                          <a:cs typeface="Calibri"/>
                        </a:rPr>
                        <a:t>sanitize</a:t>
                      </a:r>
                    </a:p>
                    <a:p>
                      <a:pPr marL="342900" lvl="0" indent="-342900">
                        <a:spcBef>
                          <a:spcPts val="400"/>
                        </a:spcBef>
                        <a:spcAft>
                          <a:spcPts val="600"/>
                        </a:spcAft>
                        <a:buClr>
                          <a:srgbClr val="7FD13B"/>
                        </a:buClr>
                        <a:buFont typeface="Arial" pitchFamily="34" charset="0"/>
                        <a:buChar char="•"/>
                      </a:pPr>
                      <a:r>
                        <a:rPr lang="en-AU" sz="2000" dirty="0" smtClean="0">
                          <a:latin typeface="Helvetica"/>
                          <a:ea typeface="Calibri"/>
                          <a:cs typeface="Calibri"/>
                        </a:rPr>
                        <a:t>Rinse </a:t>
                      </a:r>
                      <a:r>
                        <a:rPr lang="en-AU" sz="2000" dirty="0">
                          <a:latin typeface="Helvetica"/>
                          <a:ea typeface="Calibri"/>
                          <a:cs typeface="Calibri"/>
                        </a:rPr>
                        <a:t>and allow to air dry</a:t>
                      </a:r>
                    </a:p>
                  </a:txBody>
                  <a:tcPr marL="68580" marR="6858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Sample cleaning instruction: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305972497"/>
              </p:ext>
            </p:extLst>
          </p:nvPr>
        </p:nvGraphicFramePr>
        <p:xfrm>
          <a:off x="761999" y="2133600"/>
          <a:ext cx="7315201" cy="4191000"/>
        </p:xfrm>
        <a:graphic>
          <a:graphicData uri="http://schemas.openxmlformats.org/drawingml/2006/table">
            <a:tbl>
              <a:tblPr firstRow="1" bandRow="1">
                <a:tableStyleId>{5C22544A-7EE6-4342-B048-85BDC9FD1C3A}</a:tableStyleId>
              </a:tblPr>
              <a:tblGrid>
                <a:gridCol w="2103121"/>
                <a:gridCol w="5212080"/>
              </a:tblGrid>
              <a:tr h="403618">
                <a:tc>
                  <a:txBody>
                    <a:bodyPr/>
                    <a:lstStyle/>
                    <a:p>
                      <a:pPr algn="ctr">
                        <a:spcBef>
                          <a:spcPts val="400"/>
                        </a:spcBef>
                        <a:spcAft>
                          <a:spcPts val="800"/>
                        </a:spcAft>
                      </a:pPr>
                      <a:r>
                        <a:rPr kumimoji="0" lang="en-AU" sz="2100" kern="1200" dirty="0">
                          <a:solidFill>
                            <a:schemeClr val="bg1"/>
                          </a:solidFill>
                          <a:latin typeface="Helvetica"/>
                          <a:ea typeface="Calibri"/>
                          <a:cs typeface="Calibri"/>
                        </a:rPr>
                        <a:t>Job</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spcBef>
                          <a:spcPts val="400"/>
                        </a:spcBef>
                        <a:spcAft>
                          <a:spcPts val="800"/>
                        </a:spcAft>
                      </a:pPr>
                      <a:r>
                        <a:rPr kumimoji="0" lang="en-AU" sz="2100" kern="1200" dirty="0">
                          <a:solidFill>
                            <a:schemeClr val="bg1"/>
                          </a:solidFill>
                          <a:latin typeface="Helvetica"/>
                          <a:ea typeface="Calibri"/>
                          <a:cs typeface="Calibri"/>
                        </a:rPr>
                        <a:t>Description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r>
              <a:tr h="3787382">
                <a:tc>
                  <a:txBody>
                    <a:bodyPr/>
                    <a:lstStyle/>
                    <a:p>
                      <a:pPr>
                        <a:spcBef>
                          <a:spcPts val="400"/>
                        </a:spcBef>
                        <a:spcAft>
                          <a:spcPts val="800"/>
                        </a:spcAft>
                      </a:pPr>
                      <a:r>
                        <a:rPr lang="en-AU" sz="2100" dirty="0">
                          <a:latin typeface="Helvetica"/>
                          <a:ea typeface="Calibri"/>
                          <a:cs typeface="Calibri"/>
                        </a:rPr>
                        <a:t>Bain Marie – Daily</a:t>
                      </a:r>
                    </a:p>
                  </a:txBody>
                  <a:tcPr marL="68580" marR="6858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0" indent="-342900">
                        <a:spcBef>
                          <a:spcPts val="400"/>
                        </a:spcBef>
                        <a:spcAft>
                          <a:spcPts val="600"/>
                        </a:spcAft>
                        <a:buClr>
                          <a:srgbClr val="7FD13B"/>
                        </a:buClr>
                        <a:buFont typeface="Arial" pitchFamily="34" charset="0"/>
                        <a:buChar char="•"/>
                      </a:pPr>
                      <a:r>
                        <a:rPr lang="en-AU" sz="2100" dirty="0">
                          <a:latin typeface="Helvetica"/>
                          <a:ea typeface="Calibri"/>
                          <a:cs typeface="Calibri"/>
                        </a:rPr>
                        <a:t>Clean the </a:t>
                      </a:r>
                      <a:r>
                        <a:rPr lang="en-AU" sz="2100" dirty="0" smtClean="0">
                          <a:latin typeface="Helvetica"/>
                          <a:ea typeface="Calibri"/>
                          <a:cs typeface="Calibri"/>
                        </a:rPr>
                        <a:t>Bain </a:t>
                      </a:r>
                      <a:r>
                        <a:rPr lang="en-AU" sz="2100" dirty="0">
                          <a:latin typeface="Helvetica"/>
                          <a:ea typeface="Calibri"/>
                          <a:cs typeface="Calibri"/>
                        </a:rPr>
                        <a:t>M</a:t>
                      </a:r>
                      <a:r>
                        <a:rPr lang="en-AU" sz="2100" dirty="0" smtClean="0">
                          <a:latin typeface="Helvetica"/>
                          <a:ea typeface="Calibri"/>
                          <a:cs typeface="Calibri"/>
                        </a:rPr>
                        <a:t>arie </a:t>
                      </a:r>
                      <a:r>
                        <a:rPr lang="en-AU" sz="2100" dirty="0">
                          <a:latin typeface="Helvetica"/>
                          <a:ea typeface="Calibri"/>
                          <a:cs typeface="Calibri"/>
                        </a:rPr>
                        <a:t>at the end of each day’s </a:t>
                      </a:r>
                      <a:r>
                        <a:rPr lang="en-AU" sz="2100" dirty="0" smtClean="0">
                          <a:latin typeface="Helvetica"/>
                          <a:ea typeface="Calibri"/>
                          <a:cs typeface="Calibri"/>
                        </a:rPr>
                        <a:t>trade</a:t>
                      </a:r>
                    </a:p>
                    <a:p>
                      <a:pPr marL="342900" lvl="0" indent="-342900">
                        <a:spcBef>
                          <a:spcPts val="400"/>
                        </a:spcBef>
                        <a:spcAft>
                          <a:spcPts val="600"/>
                        </a:spcAft>
                        <a:buClr>
                          <a:srgbClr val="7FD13B"/>
                        </a:buClr>
                        <a:buFont typeface="Arial" pitchFamily="34" charset="0"/>
                        <a:buChar char="•"/>
                      </a:pPr>
                      <a:r>
                        <a:rPr lang="en-AU" sz="2100" dirty="0" smtClean="0">
                          <a:latin typeface="Helvetica"/>
                          <a:ea typeface="Calibri"/>
                          <a:cs typeface="Calibri"/>
                        </a:rPr>
                        <a:t>Remove Bain </a:t>
                      </a:r>
                      <a:r>
                        <a:rPr lang="en-AU" sz="2100" dirty="0">
                          <a:latin typeface="Helvetica"/>
                          <a:ea typeface="Calibri"/>
                          <a:cs typeface="Calibri"/>
                        </a:rPr>
                        <a:t>M</a:t>
                      </a:r>
                      <a:r>
                        <a:rPr lang="en-AU" sz="2100" dirty="0" smtClean="0">
                          <a:latin typeface="Helvetica"/>
                          <a:ea typeface="Calibri"/>
                          <a:cs typeface="Calibri"/>
                        </a:rPr>
                        <a:t>arie </a:t>
                      </a:r>
                      <a:r>
                        <a:rPr lang="en-AU" sz="2100" dirty="0">
                          <a:latin typeface="Helvetica"/>
                          <a:ea typeface="Calibri"/>
                          <a:cs typeface="Calibri"/>
                        </a:rPr>
                        <a:t>trays </a:t>
                      </a:r>
                      <a:r>
                        <a:rPr lang="en-AU" sz="2100" dirty="0" smtClean="0">
                          <a:latin typeface="Helvetica"/>
                          <a:ea typeface="Calibri"/>
                          <a:cs typeface="Calibri"/>
                        </a:rPr>
                        <a:t>and </a:t>
                      </a:r>
                      <a:r>
                        <a:rPr lang="en-AU" sz="2100" dirty="0">
                          <a:latin typeface="Helvetica"/>
                          <a:ea typeface="Calibri"/>
                          <a:cs typeface="Calibri"/>
                        </a:rPr>
                        <a:t>wash them in sink using detergent and hot water, rinse and sanitize </a:t>
                      </a:r>
                      <a:endParaRPr lang="en-AU" sz="2100" dirty="0" smtClean="0">
                        <a:latin typeface="Helvetica"/>
                        <a:ea typeface="Calibri"/>
                        <a:cs typeface="Calibri"/>
                      </a:endParaRPr>
                    </a:p>
                    <a:p>
                      <a:pPr marL="342900" lvl="0" indent="-342900">
                        <a:spcBef>
                          <a:spcPts val="400"/>
                        </a:spcBef>
                        <a:spcAft>
                          <a:spcPts val="600"/>
                        </a:spcAft>
                        <a:buClr>
                          <a:srgbClr val="7FD13B"/>
                        </a:buClr>
                        <a:buFont typeface="Arial" pitchFamily="34" charset="0"/>
                        <a:buChar char="•"/>
                      </a:pPr>
                      <a:r>
                        <a:rPr lang="en-AU" sz="2100" dirty="0" smtClean="0">
                          <a:latin typeface="Helvetica"/>
                          <a:ea typeface="Calibri"/>
                          <a:cs typeface="Calibri"/>
                        </a:rPr>
                        <a:t>Rinse </a:t>
                      </a:r>
                      <a:r>
                        <a:rPr lang="en-AU" sz="2100" dirty="0">
                          <a:latin typeface="Helvetica"/>
                          <a:ea typeface="Calibri"/>
                          <a:cs typeface="Calibri"/>
                        </a:rPr>
                        <a:t>and allow to air </a:t>
                      </a:r>
                      <a:r>
                        <a:rPr lang="en-AU" sz="2100" dirty="0" smtClean="0">
                          <a:latin typeface="Helvetica"/>
                          <a:ea typeface="Calibri"/>
                          <a:cs typeface="Calibri"/>
                        </a:rPr>
                        <a:t>dry</a:t>
                      </a:r>
                    </a:p>
                    <a:p>
                      <a:pPr marL="342900" lvl="0" indent="-342900">
                        <a:spcBef>
                          <a:spcPts val="400"/>
                        </a:spcBef>
                        <a:spcAft>
                          <a:spcPts val="600"/>
                        </a:spcAft>
                        <a:buClr>
                          <a:srgbClr val="7FD13B"/>
                        </a:buClr>
                        <a:buFont typeface="Arial" pitchFamily="34" charset="0"/>
                        <a:buChar char="•"/>
                      </a:pPr>
                      <a:r>
                        <a:rPr lang="en-AU" sz="2100" dirty="0" smtClean="0">
                          <a:latin typeface="Helvetica"/>
                          <a:ea typeface="Calibri"/>
                          <a:cs typeface="Calibri"/>
                        </a:rPr>
                        <a:t>Wash </a:t>
                      </a:r>
                      <a:r>
                        <a:rPr lang="en-AU" sz="2100" dirty="0">
                          <a:latin typeface="Helvetica"/>
                          <a:ea typeface="Calibri"/>
                          <a:cs typeface="Calibri"/>
                        </a:rPr>
                        <a:t>main unit (including any hot press and plate warmer cabinet) using detergent and hot water, rinse and sanitize:  rinse and allow to air dry</a:t>
                      </a:r>
                    </a:p>
                  </a:txBody>
                  <a:tcPr marL="68580" marR="6858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Handle and store food to protect it and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 relation to cleaning in kitchen and food areas:</a:t>
            </a:r>
          </a:p>
          <a:p>
            <a:pPr marL="360000" indent="-360000">
              <a:spcBef>
                <a:spcPts val="600"/>
              </a:spcBef>
              <a:spcAft>
                <a:spcPts val="1200"/>
              </a:spcAft>
            </a:pPr>
            <a:r>
              <a:rPr lang="en-US" sz="2200" dirty="0" smtClean="0">
                <a:latin typeface="Helvetica" pitchFamily="34" charset="0"/>
              </a:rPr>
              <a:t>Cleaning instructions MUST be adhered to</a:t>
            </a:r>
          </a:p>
          <a:p>
            <a:pPr marL="360000" indent="-360000">
              <a:spcBef>
                <a:spcPts val="600"/>
              </a:spcBef>
              <a:spcAft>
                <a:spcPts val="1200"/>
              </a:spcAft>
            </a:pPr>
            <a:r>
              <a:rPr lang="en-US" sz="2200" dirty="0" smtClean="0">
                <a:latin typeface="Helvetica" pitchFamily="34" charset="0"/>
              </a:rPr>
              <a:t>A ‘cleaning schedule’ will identify individual staff with responsibility for cleaning items at nominated times and days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25602" name="Picture 2" descr="C:\Documents and Settings\danielc\Desktop\Apply safety proc handling food images\freeimage-11724371.jpg"/>
          <p:cNvPicPr>
            <a:picLocks noChangeAspect="1" noChangeArrowheads="1"/>
          </p:cNvPicPr>
          <p:nvPr/>
        </p:nvPicPr>
        <p:blipFill>
          <a:blip r:embed="rId3" cstate="print"/>
          <a:srcRect/>
          <a:stretch>
            <a:fillRect/>
          </a:stretch>
        </p:blipFill>
        <p:spPr bwMode="auto">
          <a:xfrm>
            <a:off x="3048000" y="3733800"/>
            <a:ext cx="2801112" cy="2100682"/>
          </a:xfrm>
          <a:prstGeom prst="rect">
            <a:avLst/>
          </a:prstGeom>
          <a:noFill/>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food at correct temperature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Dry goods store:</a:t>
            </a:r>
          </a:p>
          <a:p>
            <a:pPr marL="360000" indent="-360000">
              <a:spcBef>
                <a:spcPts val="600"/>
              </a:spcBef>
              <a:spcAft>
                <a:spcPts val="1200"/>
              </a:spcAft>
            </a:pPr>
            <a:r>
              <a:rPr lang="en-US" sz="2200" dirty="0" smtClean="0">
                <a:latin typeface="Helvetica" pitchFamily="34" charset="0"/>
              </a:rPr>
              <a:t>Non-refrigerated</a:t>
            </a:r>
          </a:p>
          <a:p>
            <a:pPr marL="360000" indent="-360000">
              <a:spcBef>
                <a:spcPts val="600"/>
              </a:spcBef>
              <a:spcAft>
                <a:spcPts val="1200"/>
              </a:spcAft>
            </a:pPr>
            <a:r>
              <a:rPr lang="en-US" sz="2200" dirty="0" smtClean="0">
                <a:latin typeface="Helvetica" pitchFamily="34" charset="0"/>
              </a:rPr>
              <a:t>For canned, bottled and dried food</a:t>
            </a:r>
          </a:p>
          <a:p>
            <a:pPr marL="360000" indent="-360000">
              <a:spcBef>
                <a:spcPts val="600"/>
              </a:spcBef>
              <a:spcAft>
                <a:spcPts val="1200"/>
              </a:spcAft>
            </a:pPr>
            <a:r>
              <a:rPr lang="en-US" sz="2200" dirty="0" smtClean="0">
                <a:latin typeface="Helvetica" pitchFamily="34" charset="0"/>
              </a:rPr>
              <a:t>May be room-size or cupboards </a:t>
            </a:r>
            <a:br>
              <a:rPr lang="en-US" sz="2200" dirty="0" smtClean="0">
                <a:latin typeface="Helvetica" pitchFamily="34" charset="0"/>
              </a:rPr>
            </a:br>
            <a:r>
              <a:rPr lang="en-US" sz="2200" dirty="0" smtClean="0">
                <a:latin typeface="Helvetica" pitchFamily="34" charset="0"/>
              </a:rPr>
              <a:t>or shelves</a:t>
            </a:r>
          </a:p>
          <a:p>
            <a:pPr marL="360000" indent="-360000">
              <a:spcBef>
                <a:spcPts val="600"/>
              </a:spcBef>
              <a:spcAft>
                <a:spcPts val="1200"/>
              </a:spcAft>
            </a:pPr>
            <a:r>
              <a:rPr lang="en-US" sz="2200" dirty="0" smtClean="0">
                <a:latin typeface="Helvetica" pitchFamily="34" charset="0"/>
              </a:rPr>
              <a:t>15˚C to 20 ˚C</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26626" name="Picture 2" descr="C:\Documents and Settings\danielc\Desktop\Apply safety proc handling food images\food-storage-shelves-300x199.jpg"/>
          <p:cNvPicPr>
            <a:picLocks noChangeAspect="1" noChangeArrowheads="1"/>
          </p:cNvPicPr>
          <p:nvPr/>
        </p:nvPicPr>
        <p:blipFill>
          <a:blip r:embed="rId3" cstate="print">
            <a:lum bright="10000"/>
          </a:blip>
          <a:srcRect/>
          <a:stretch>
            <a:fillRect/>
          </a:stretch>
        </p:blipFill>
        <p:spPr bwMode="auto">
          <a:xfrm>
            <a:off x="5867400" y="2209800"/>
            <a:ext cx="2400300" cy="1592199"/>
          </a:xfrm>
          <a:prstGeom prst="rect">
            <a:avLst/>
          </a:prstGeom>
          <a:noFill/>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food at correct temperature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Refrigerated stores -</a:t>
            </a:r>
          </a:p>
          <a:p>
            <a:pPr marL="360000" indent="-360000">
              <a:spcBef>
                <a:spcPts val="600"/>
              </a:spcBef>
              <a:spcAft>
                <a:spcPts val="1200"/>
              </a:spcAft>
              <a:buNone/>
            </a:pPr>
            <a:r>
              <a:rPr lang="en-US" sz="2200" dirty="0" smtClean="0">
                <a:latin typeface="Helvetica" pitchFamily="34" charset="0"/>
              </a:rPr>
              <a:t>Cool rooms and other units</a:t>
            </a:r>
          </a:p>
          <a:p>
            <a:pPr marL="360000" indent="-360000">
              <a:spcBef>
                <a:spcPts val="600"/>
              </a:spcBef>
              <a:spcAft>
                <a:spcPts val="1200"/>
              </a:spcAft>
            </a:pPr>
            <a:r>
              <a:rPr lang="en-US" sz="2200" dirty="0" smtClean="0">
                <a:latin typeface="Helvetica" pitchFamily="34" charset="0"/>
              </a:rPr>
              <a:t>General requirements is 5˚C or below </a:t>
            </a:r>
          </a:p>
          <a:p>
            <a:pPr marL="360000" indent="-360000">
              <a:spcBef>
                <a:spcPts val="600"/>
              </a:spcBef>
              <a:spcAft>
                <a:spcPts val="1200"/>
              </a:spcAft>
            </a:pPr>
            <a:r>
              <a:rPr lang="en-US" sz="2200" dirty="0" smtClean="0">
                <a:latin typeface="Helvetica" pitchFamily="34" charset="0"/>
              </a:rPr>
              <a:t>Many operate at lower temperature</a:t>
            </a:r>
          </a:p>
          <a:p>
            <a:pPr marL="360000" indent="-360000">
              <a:spcBef>
                <a:spcPts val="600"/>
              </a:spcBef>
              <a:spcAft>
                <a:spcPts val="1200"/>
              </a:spcAft>
            </a:pPr>
            <a:r>
              <a:rPr lang="en-US" sz="2200" dirty="0" smtClean="0">
                <a:latin typeface="Helvetica" pitchFamily="34" charset="0"/>
              </a:rPr>
              <a:t>Meat and seafood – best at 1˚C to 2˚C</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27650" name="Picture 2" descr="C:\Documents and Settings\danielc\Local Settings\Temporary Internet Files\Content.IE5\Y88G682L\MC900311292[1].wmf"/>
          <p:cNvPicPr>
            <a:picLocks noChangeAspect="1" noChangeArrowheads="1"/>
          </p:cNvPicPr>
          <p:nvPr/>
        </p:nvPicPr>
        <p:blipFill>
          <a:blip r:embed="rId3" cstate="print"/>
          <a:srcRect/>
          <a:stretch>
            <a:fillRect/>
          </a:stretch>
        </p:blipFill>
        <p:spPr bwMode="auto">
          <a:xfrm>
            <a:off x="6324600" y="2362200"/>
            <a:ext cx="1307592" cy="1814170"/>
          </a:xfrm>
          <a:prstGeom prst="rect">
            <a:avLst/>
          </a:prstGeom>
          <a:noFill/>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food at correct temperature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Freezers:</a:t>
            </a:r>
          </a:p>
          <a:p>
            <a:pPr marL="360000" indent="-360000">
              <a:spcBef>
                <a:spcPts val="600"/>
              </a:spcBef>
              <a:spcAft>
                <a:spcPts val="1200"/>
              </a:spcAft>
            </a:pPr>
            <a:r>
              <a:rPr lang="en-US" sz="2200" dirty="0" smtClean="0">
                <a:latin typeface="Helvetica" pitchFamily="34" charset="0"/>
              </a:rPr>
              <a:t>Store frozen food</a:t>
            </a:r>
          </a:p>
          <a:p>
            <a:pPr marL="360000" indent="-360000">
              <a:spcBef>
                <a:spcPts val="600"/>
              </a:spcBef>
              <a:spcAft>
                <a:spcPts val="1200"/>
              </a:spcAft>
            </a:pPr>
            <a:r>
              <a:rPr lang="en-US" sz="2200" dirty="0" smtClean="0">
                <a:latin typeface="Helvetica" pitchFamily="34" charset="0"/>
              </a:rPr>
              <a:t>May be walk-in, upright or chest type</a:t>
            </a:r>
          </a:p>
          <a:p>
            <a:pPr marL="360000" indent="-360000">
              <a:spcBef>
                <a:spcPts val="600"/>
              </a:spcBef>
              <a:spcAft>
                <a:spcPts val="1200"/>
              </a:spcAft>
            </a:pPr>
            <a:r>
              <a:rPr lang="en-US" sz="2200" dirty="0" smtClean="0">
                <a:latin typeface="Helvetica" pitchFamily="34" charset="0"/>
              </a:rPr>
              <a:t>Must keep food ‘hard frozen’</a:t>
            </a:r>
          </a:p>
          <a:p>
            <a:pPr marL="360000" indent="-360000">
              <a:spcBef>
                <a:spcPts val="600"/>
              </a:spcBef>
              <a:spcAft>
                <a:spcPts val="1200"/>
              </a:spcAft>
            </a:pPr>
            <a:r>
              <a:rPr lang="en-US" sz="2200" dirty="0" smtClean="0">
                <a:latin typeface="Helvetica" pitchFamily="34" charset="0"/>
              </a:rPr>
              <a:t>-15˚C to -18 ˚C.</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28674" name="Picture 2" descr="C:\Documents and Settings\danielc\Desktop\Apply safety proc handling food images\Frozen Storage.jpg"/>
          <p:cNvPicPr>
            <a:picLocks noChangeAspect="1" noChangeArrowheads="1"/>
          </p:cNvPicPr>
          <p:nvPr/>
        </p:nvPicPr>
        <p:blipFill>
          <a:blip r:embed="rId3" cstate="print"/>
          <a:srcRect/>
          <a:stretch>
            <a:fillRect/>
          </a:stretch>
        </p:blipFill>
        <p:spPr bwMode="auto">
          <a:xfrm>
            <a:off x="5181600" y="3124200"/>
            <a:ext cx="2847973" cy="1898649"/>
          </a:xfrm>
          <a:prstGeom prst="rect">
            <a:avLst/>
          </a:prstGeom>
          <a:noFill/>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food at correct temperature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Temperatures for displaying potentially hazardous food:</a:t>
            </a:r>
          </a:p>
          <a:p>
            <a:pPr marL="360000" indent="-360000">
              <a:spcBef>
                <a:spcPts val="600"/>
              </a:spcBef>
              <a:spcAft>
                <a:spcPts val="1200"/>
              </a:spcAft>
            </a:pPr>
            <a:r>
              <a:rPr lang="en-US" sz="2200" dirty="0" smtClean="0">
                <a:latin typeface="Helvetica" pitchFamily="34" charset="0"/>
              </a:rPr>
              <a:t>Cold food: at or below 5˚C</a:t>
            </a:r>
          </a:p>
          <a:p>
            <a:pPr marL="360000" indent="-360000">
              <a:spcBef>
                <a:spcPts val="600"/>
              </a:spcBef>
              <a:spcAft>
                <a:spcPts val="1200"/>
              </a:spcAft>
            </a:pPr>
            <a:r>
              <a:rPr lang="en-US" sz="2200" dirty="0" smtClean="0">
                <a:latin typeface="Helvetica" pitchFamily="34" charset="0"/>
              </a:rPr>
              <a:t>Hot food: at or above 60˚C</a:t>
            </a:r>
          </a:p>
          <a:p>
            <a:pPr marL="360000" indent="-360000">
              <a:spcBef>
                <a:spcPts val="600"/>
              </a:spcBef>
              <a:spcAft>
                <a:spcPts val="1200"/>
              </a:spcAft>
            </a:pPr>
            <a:r>
              <a:rPr lang="en-US" sz="2200" dirty="0" smtClean="0">
                <a:latin typeface="Helvetica" pitchFamily="34" charset="0"/>
              </a:rPr>
              <a:t>Frozen food: kept ‘hard frozen’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29698" name="Picture 2" descr="C:\Documents and Settings\danielc\Desktop\Apply safety proc handling food images\freeimage-707223.jpg"/>
          <p:cNvPicPr>
            <a:picLocks noChangeAspect="1" noChangeArrowheads="1"/>
          </p:cNvPicPr>
          <p:nvPr/>
        </p:nvPicPr>
        <p:blipFill>
          <a:blip r:embed="rId3" cstate="print">
            <a:grayscl/>
            <a:lum bright="20000"/>
          </a:blip>
          <a:srcRect/>
          <a:stretch>
            <a:fillRect/>
          </a:stretch>
        </p:blipFill>
        <p:spPr bwMode="auto">
          <a:xfrm>
            <a:off x="6019800" y="2209800"/>
            <a:ext cx="1524000" cy="2292096"/>
          </a:xfrm>
          <a:prstGeom prst="rect">
            <a:avLst/>
          </a:prstGeom>
          <a:noFill/>
        </p:spPr>
      </p:pic>
      <p:pic>
        <p:nvPicPr>
          <p:cNvPr id="29700" name="Picture 4" descr="C:\Documents and Settings\danielc\Desktop\Apply safety proc handling food images\Bain-Marie.jpg"/>
          <p:cNvPicPr>
            <a:picLocks noChangeAspect="1" noChangeArrowheads="1"/>
          </p:cNvPicPr>
          <p:nvPr/>
        </p:nvPicPr>
        <p:blipFill>
          <a:blip r:embed="rId4" cstate="print"/>
          <a:srcRect/>
          <a:stretch>
            <a:fillRect/>
          </a:stretch>
        </p:blipFill>
        <p:spPr bwMode="auto">
          <a:xfrm>
            <a:off x="3124200" y="3962400"/>
            <a:ext cx="2417763" cy="1614029"/>
          </a:xfrm>
          <a:prstGeom prst="rect">
            <a:avLst/>
          </a:prstGeom>
          <a:noFill/>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food at correct temperature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Probe thermometer (not infra-red):</a:t>
            </a:r>
          </a:p>
          <a:p>
            <a:pPr marL="360000" indent="-360000">
              <a:spcBef>
                <a:spcPts val="600"/>
              </a:spcBef>
              <a:spcAft>
                <a:spcPts val="1200"/>
              </a:spcAft>
            </a:pPr>
            <a:r>
              <a:rPr lang="en-US" sz="2200" dirty="0" smtClean="0">
                <a:latin typeface="Helvetica" pitchFamily="34" charset="0"/>
              </a:rPr>
              <a:t>Should be available for use when required</a:t>
            </a:r>
          </a:p>
          <a:p>
            <a:pPr marL="360000" indent="-360000">
              <a:spcBef>
                <a:spcPts val="600"/>
              </a:spcBef>
              <a:spcAft>
                <a:spcPts val="1200"/>
              </a:spcAft>
            </a:pPr>
            <a:r>
              <a:rPr lang="en-US" sz="2200" dirty="0" smtClean="0">
                <a:latin typeface="Helvetica" pitchFamily="34" charset="0"/>
              </a:rPr>
              <a:t>Calibrate at least every 6 months</a:t>
            </a:r>
          </a:p>
          <a:p>
            <a:pPr marL="360000" indent="-360000">
              <a:spcBef>
                <a:spcPts val="600"/>
              </a:spcBef>
              <a:spcAft>
                <a:spcPts val="1200"/>
              </a:spcAft>
            </a:pPr>
            <a:r>
              <a:rPr lang="en-US" sz="2200" dirty="0" smtClean="0">
                <a:latin typeface="Helvetica" pitchFamily="34" charset="0"/>
              </a:rPr>
              <a:t>Must be accurate to +/-1˚C</a:t>
            </a:r>
          </a:p>
          <a:p>
            <a:pPr marL="360000" indent="-360000">
              <a:spcBef>
                <a:spcPts val="600"/>
              </a:spcBef>
              <a:spcAft>
                <a:spcPts val="1200"/>
              </a:spcAft>
            </a:pPr>
            <a:r>
              <a:rPr lang="en-US" sz="2200" dirty="0" smtClean="0">
                <a:latin typeface="Helvetica" pitchFamily="34" charset="0"/>
              </a:rPr>
              <a:t>Clean and sanitize between uses</a:t>
            </a:r>
          </a:p>
          <a:p>
            <a:pPr marL="360000" indent="-360000">
              <a:spcBef>
                <a:spcPts val="600"/>
              </a:spcBef>
              <a:spcAft>
                <a:spcPts val="1200"/>
              </a:spcAft>
            </a:pPr>
            <a:r>
              <a:rPr lang="en-US" sz="2200" dirty="0" smtClean="0">
                <a:latin typeface="Helvetica" pitchFamily="34" charset="0"/>
              </a:rPr>
              <a:t>Allow to reach room temperature in between use on hot and cold foods</a:t>
            </a:r>
          </a:p>
          <a:p>
            <a:pPr marL="360000" indent="-360000">
              <a:spcBef>
                <a:spcPts val="600"/>
              </a:spcBef>
              <a:spcAft>
                <a:spcPts val="1200"/>
              </a:spcAft>
            </a:pPr>
            <a:r>
              <a:rPr lang="en-US" sz="2200" dirty="0" smtClean="0">
                <a:latin typeface="Helvetica" pitchFamily="34" charset="0"/>
              </a:rPr>
              <a:t>Treat with care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descr="calibrated hermometer.jpg"/>
          <p:cNvPicPr/>
          <p:nvPr/>
        </p:nvPicPr>
        <p:blipFill>
          <a:blip r:embed="rId3" cstate="print"/>
          <a:stretch>
            <a:fillRect/>
          </a:stretch>
        </p:blipFill>
        <p:spPr>
          <a:xfrm>
            <a:off x="6858000" y="2133600"/>
            <a:ext cx="1235924" cy="1864426"/>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food at correct temperature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Cold calibration:</a:t>
            </a:r>
          </a:p>
          <a:p>
            <a:pPr marL="360000" indent="-360000">
              <a:spcBef>
                <a:spcPts val="600"/>
              </a:spcBef>
              <a:spcAft>
                <a:spcPts val="1200"/>
              </a:spcAft>
            </a:pPr>
            <a:r>
              <a:rPr lang="en-US" sz="2200" dirty="0" smtClean="0">
                <a:latin typeface="Helvetica" pitchFamily="34" charset="0"/>
              </a:rPr>
              <a:t>Make/mix ice slurry (50% water 50% ice) and allow to stand for 5 minutes</a:t>
            </a:r>
          </a:p>
          <a:p>
            <a:pPr marL="360000" indent="-360000">
              <a:spcBef>
                <a:spcPts val="600"/>
              </a:spcBef>
              <a:spcAft>
                <a:spcPts val="1200"/>
              </a:spcAft>
            </a:pPr>
            <a:r>
              <a:rPr lang="en-US" sz="2200" dirty="0" smtClean="0">
                <a:latin typeface="Helvetica" pitchFamily="34" charset="0"/>
              </a:rPr>
              <a:t>Insert probe into mixture</a:t>
            </a:r>
          </a:p>
          <a:p>
            <a:pPr marL="360000" indent="-360000">
              <a:spcBef>
                <a:spcPts val="600"/>
              </a:spcBef>
              <a:spcAft>
                <a:spcPts val="1200"/>
              </a:spcAft>
            </a:pPr>
            <a:r>
              <a:rPr lang="en-US" sz="2200" dirty="0" smtClean="0">
                <a:latin typeface="Helvetica" pitchFamily="34" charset="0"/>
              </a:rPr>
              <a:t>Record reading – should be 0˚C</a:t>
            </a:r>
          </a:p>
          <a:p>
            <a:pPr marL="360000" indent="-360000">
              <a:spcBef>
                <a:spcPts val="600"/>
              </a:spcBef>
              <a:spcAft>
                <a:spcPts val="1200"/>
              </a:spcAft>
            </a:pPr>
            <a:r>
              <a:rPr lang="en-US" sz="2200" dirty="0" smtClean="0">
                <a:latin typeface="Helvetica" pitchFamily="34" charset="0"/>
              </a:rPr>
              <a:t>Repair or replace if reading is outside +/-1˚C</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descr="Calibrating a Thermometer"/>
          <p:cNvPicPr/>
          <p:nvPr/>
        </p:nvPicPr>
        <p:blipFill>
          <a:blip r:embed="rId3" cstate="print"/>
          <a:srcRect l="30940" t="25160" r="15614" b="35131"/>
          <a:stretch>
            <a:fillRect/>
          </a:stretch>
        </p:blipFill>
        <p:spPr bwMode="auto">
          <a:xfrm>
            <a:off x="6172200" y="2819400"/>
            <a:ext cx="2085232" cy="1175657"/>
          </a:xfrm>
          <a:prstGeom prst="rect">
            <a:avLst/>
          </a:prstGeom>
          <a:noFill/>
          <a:ln w="12700">
            <a:noFill/>
            <a:miter lim="800000"/>
            <a:headEnd/>
            <a:tailEnd/>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food at correct temperature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Hot calibration:</a:t>
            </a:r>
          </a:p>
          <a:p>
            <a:pPr marL="360000" indent="-360000">
              <a:spcBef>
                <a:spcPts val="600"/>
              </a:spcBef>
              <a:spcAft>
                <a:spcPts val="1200"/>
              </a:spcAft>
            </a:pPr>
            <a:r>
              <a:rPr lang="en-US" sz="2200" dirty="0" smtClean="0">
                <a:latin typeface="Helvetica" pitchFamily="34" charset="0"/>
              </a:rPr>
              <a:t>Boil water</a:t>
            </a:r>
          </a:p>
          <a:p>
            <a:pPr marL="360000" indent="-360000">
              <a:spcBef>
                <a:spcPts val="600"/>
              </a:spcBef>
              <a:spcAft>
                <a:spcPts val="1200"/>
              </a:spcAft>
            </a:pPr>
            <a:r>
              <a:rPr lang="en-US" sz="2200" dirty="0" smtClean="0">
                <a:latin typeface="Helvetica" pitchFamily="34" charset="0"/>
              </a:rPr>
              <a:t>Insert probe into water</a:t>
            </a:r>
          </a:p>
          <a:p>
            <a:pPr marL="360000" indent="-360000">
              <a:spcBef>
                <a:spcPts val="600"/>
              </a:spcBef>
              <a:spcAft>
                <a:spcPts val="1200"/>
              </a:spcAft>
            </a:pPr>
            <a:r>
              <a:rPr lang="en-US" sz="2200" dirty="0" smtClean="0">
                <a:latin typeface="Helvetica" pitchFamily="34" charset="0"/>
              </a:rPr>
              <a:t>Record reading – should be 100˚C</a:t>
            </a:r>
          </a:p>
          <a:p>
            <a:pPr marL="360000" indent="-360000">
              <a:spcBef>
                <a:spcPts val="600"/>
              </a:spcBef>
              <a:spcAft>
                <a:spcPts val="1200"/>
              </a:spcAft>
            </a:pPr>
            <a:r>
              <a:rPr lang="en-US" sz="2200" dirty="0" smtClean="0">
                <a:latin typeface="Helvetica" pitchFamily="34" charset="0"/>
              </a:rPr>
              <a:t>Repair or replace if reading is outside +/-1˚C</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descr="732685_11311401.jpg"/>
          <p:cNvPicPr/>
          <p:nvPr/>
        </p:nvPicPr>
        <p:blipFill>
          <a:blip r:embed="rId3" cstate="print"/>
          <a:stretch>
            <a:fillRect/>
          </a:stretch>
        </p:blipFill>
        <p:spPr>
          <a:xfrm>
            <a:off x="5943600" y="2209800"/>
            <a:ext cx="2201636" cy="144879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handling and storing foodstuffs:</a:t>
            </a:r>
          </a:p>
          <a:p>
            <a:pPr>
              <a:spcBef>
                <a:spcPts val="600"/>
              </a:spcBef>
              <a:spcAft>
                <a:spcPts val="1200"/>
              </a:spcAft>
            </a:pPr>
            <a:r>
              <a:rPr lang="en-AU" sz="2200" dirty="0" smtClean="0">
                <a:latin typeface="Helvetica" pitchFamily="34" charset="0"/>
              </a:rPr>
              <a:t>Inspect all food deliveries and reject unsafe or unsatisfactory food</a:t>
            </a:r>
          </a:p>
          <a:p>
            <a:pPr>
              <a:spcBef>
                <a:spcPts val="600"/>
              </a:spcBef>
              <a:spcAft>
                <a:spcPts val="1200"/>
              </a:spcAft>
            </a:pPr>
            <a:r>
              <a:rPr lang="en-AU" sz="2200" dirty="0" smtClean="0">
                <a:latin typeface="Helvetica" pitchFamily="34" charset="0"/>
              </a:rPr>
              <a:t>Store food promptly under the correct conditions</a:t>
            </a:r>
          </a:p>
          <a:p>
            <a:pPr>
              <a:spcBef>
                <a:spcPts val="600"/>
              </a:spcBef>
              <a:spcAft>
                <a:spcPts val="1200"/>
              </a:spcAft>
            </a:pPr>
            <a:r>
              <a:rPr lang="en-AU" sz="2200" dirty="0" smtClean="0">
                <a:latin typeface="Helvetica" pitchFamily="34" charset="0"/>
              </a:rPr>
              <a:t>Apply FIFO stock rotation</a:t>
            </a:r>
          </a:p>
          <a:p>
            <a:pPr>
              <a:spcBef>
                <a:spcPts val="600"/>
              </a:spcBef>
              <a:spcAft>
                <a:spcPts val="1200"/>
              </a:spcAft>
            </a:pPr>
            <a:r>
              <a:rPr lang="en-AU" sz="2200" dirty="0" smtClean="0">
                <a:latin typeface="Helvetica" pitchFamily="34" charset="0"/>
              </a:rPr>
              <a:t>Keep stores neat and clean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2" descr="C:\Documents and Settings\danielc\Local Settings\Temporary Internet Files\Content.IE5\3Y3SDCJX\MC900442036[1].wmf"/>
          <p:cNvPicPr>
            <a:picLocks noChangeAspect="1" noChangeArrowheads="1"/>
          </p:cNvPicPr>
          <p:nvPr/>
        </p:nvPicPr>
        <p:blipFill>
          <a:blip r:embed="rId3" cstate="print"/>
          <a:srcRect/>
          <a:stretch>
            <a:fillRect/>
          </a:stretch>
        </p:blipFill>
        <p:spPr bwMode="auto">
          <a:xfrm>
            <a:off x="6553200" y="3429000"/>
            <a:ext cx="1857375" cy="1838325"/>
          </a:xfrm>
          <a:prstGeom prst="rect">
            <a:avLst/>
          </a:prstGeom>
          <a:noFill/>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Take special care with potentially hazardous foods</a:t>
            </a:r>
          </a:p>
          <a:p>
            <a:pPr>
              <a:spcBef>
                <a:spcPts val="600"/>
              </a:spcBef>
              <a:spcAft>
                <a:spcPts val="1200"/>
              </a:spcAft>
            </a:pPr>
            <a:r>
              <a:rPr lang="en-AU" sz="2200" dirty="0" smtClean="0">
                <a:latin typeface="Helvetica" pitchFamily="34" charset="0"/>
              </a:rPr>
              <a:t>Keep time food spends in the Temperature Danger Zone to a minimum</a:t>
            </a:r>
          </a:p>
          <a:p>
            <a:pPr>
              <a:spcBef>
                <a:spcPts val="600"/>
              </a:spcBef>
              <a:spcAft>
                <a:spcPts val="1200"/>
              </a:spcAft>
            </a:pPr>
            <a:r>
              <a:rPr lang="en-AU" sz="2200" dirty="0" smtClean="0">
                <a:latin typeface="Helvetica" pitchFamily="34" charset="0"/>
              </a:rPr>
              <a:t>Apply the 2/4 rule at all times</a:t>
            </a:r>
          </a:p>
          <a:p>
            <a:pPr>
              <a:spcBef>
                <a:spcPts val="600"/>
              </a:spcBef>
              <a:spcAft>
                <a:spcPts val="1200"/>
              </a:spcAft>
            </a:pPr>
            <a:r>
              <a:rPr lang="en-AU" sz="2200" dirty="0" smtClean="0">
                <a:latin typeface="Helvetica" pitchFamily="34" charset="0"/>
              </a:rPr>
              <a:t>Follow the two-step rule for cooling hot food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5" name="Picture 2" descr="C:\Documents and Settings\danielc\Local Settings\Temporary Internet Files\Content.IE5\3Y3SDCJX\MC900442036[1].wmf"/>
          <p:cNvPicPr>
            <a:picLocks noChangeAspect="1" noChangeArrowheads="1"/>
          </p:cNvPicPr>
          <p:nvPr/>
        </p:nvPicPr>
        <p:blipFill>
          <a:blip r:embed="rId3" cstate="print"/>
          <a:srcRect/>
          <a:stretch>
            <a:fillRect/>
          </a:stretch>
        </p:blipFill>
        <p:spPr bwMode="auto">
          <a:xfrm>
            <a:off x="6524625" y="3419475"/>
            <a:ext cx="1857375" cy="1838325"/>
          </a:xfrm>
          <a:prstGeom prst="rect">
            <a:avLst/>
          </a:prstGeom>
          <a:noFill/>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Do not thaw food by leaving it on a bench or in a sink or bowl of water</a:t>
            </a:r>
          </a:p>
          <a:p>
            <a:pPr>
              <a:spcBef>
                <a:spcPts val="600"/>
              </a:spcBef>
              <a:spcAft>
                <a:spcPts val="1200"/>
              </a:spcAft>
            </a:pPr>
            <a:r>
              <a:rPr lang="en-AU" sz="2200" dirty="0" smtClean="0">
                <a:latin typeface="Helvetica" pitchFamily="34" charset="0"/>
              </a:rPr>
              <a:t>Protect food and food surfaces against contamination</a:t>
            </a:r>
          </a:p>
          <a:p>
            <a:pPr>
              <a:spcBef>
                <a:spcPts val="600"/>
              </a:spcBef>
              <a:spcAft>
                <a:spcPts val="1200"/>
              </a:spcAft>
            </a:pPr>
            <a:r>
              <a:rPr lang="en-AU" sz="2200" dirty="0" smtClean="0">
                <a:latin typeface="Helvetica" pitchFamily="34" charset="0"/>
              </a:rPr>
              <a:t>Follow standard protocols for re-heating previously cooked food</a:t>
            </a:r>
          </a:p>
          <a:p>
            <a:pPr>
              <a:spcBef>
                <a:spcPts val="600"/>
              </a:spcBef>
              <a:spcAft>
                <a:spcPts val="1200"/>
              </a:spcAft>
            </a:pPr>
            <a:r>
              <a:rPr lang="en-AU" sz="2200" dirty="0" smtClean="0">
                <a:latin typeface="Helvetica" pitchFamily="34" charset="0"/>
              </a:rPr>
              <a:t>Closely monitor all self-serve food </a:t>
            </a:r>
            <a:br>
              <a:rPr lang="en-AU" sz="2200" dirty="0" smtClean="0">
                <a:latin typeface="Helvetica" pitchFamily="34" charset="0"/>
              </a:rPr>
            </a:br>
            <a:r>
              <a:rPr lang="en-AU" sz="2200" dirty="0" smtClean="0">
                <a:latin typeface="Helvetica" pitchFamily="34" charset="0"/>
              </a:rPr>
              <a:t>situations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5" name="Picture 2" descr="C:\Documents and Settings\danielc\Local Settings\Temporary Internet Files\Content.IE5\3Y3SDCJX\MC900442036[1].wmf"/>
          <p:cNvPicPr>
            <a:picLocks noChangeAspect="1" noChangeArrowheads="1"/>
          </p:cNvPicPr>
          <p:nvPr/>
        </p:nvPicPr>
        <p:blipFill>
          <a:blip r:embed="rId3" cstate="print"/>
          <a:srcRect/>
          <a:stretch>
            <a:fillRect/>
          </a:stretch>
        </p:blipFill>
        <p:spPr bwMode="auto">
          <a:xfrm>
            <a:off x="6553200" y="3419475"/>
            <a:ext cx="1857375" cy="1838325"/>
          </a:xfrm>
          <a:prstGeom prst="rect">
            <a:avLst/>
          </a:prstGeom>
          <a:noFill/>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Remember beverages are classified as food</a:t>
            </a:r>
          </a:p>
          <a:p>
            <a:pPr>
              <a:spcBef>
                <a:spcPts val="600"/>
              </a:spcBef>
              <a:spcAft>
                <a:spcPts val="1200"/>
              </a:spcAft>
            </a:pPr>
            <a:r>
              <a:rPr lang="en-AU" sz="2200" dirty="0" smtClean="0">
                <a:latin typeface="Helvetica" pitchFamily="34" charset="0"/>
              </a:rPr>
              <a:t>Check and maintain storage areas in good condition at required temperatures</a:t>
            </a:r>
          </a:p>
          <a:p>
            <a:pPr>
              <a:spcBef>
                <a:spcPts val="600"/>
              </a:spcBef>
              <a:spcAft>
                <a:spcPts val="1200"/>
              </a:spcAft>
            </a:pPr>
            <a:r>
              <a:rPr lang="en-AU" sz="2200" dirty="0" smtClean="0">
                <a:latin typeface="Helvetica" pitchFamily="34" charset="0"/>
              </a:rPr>
              <a:t>Apply organizational requirements for cleaning food items and food areas</a:t>
            </a:r>
          </a:p>
          <a:p>
            <a:pPr>
              <a:spcBef>
                <a:spcPts val="600"/>
              </a:spcBef>
              <a:spcAft>
                <a:spcPts val="1200"/>
              </a:spcAft>
            </a:pPr>
            <a:r>
              <a:rPr lang="en-AU" sz="2200" dirty="0" smtClean="0">
                <a:latin typeface="Helvetica" pitchFamily="34" charset="0"/>
              </a:rPr>
              <a:t>Use PPE when handling chemicals</a:t>
            </a:r>
          </a:p>
          <a:p>
            <a:pPr>
              <a:spcBef>
                <a:spcPts val="600"/>
              </a:spcBef>
              <a:spcAft>
                <a:spcPts val="1200"/>
              </a:spcAft>
            </a:pPr>
            <a:r>
              <a:rPr lang="en-AU" sz="2200" dirty="0" smtClean="0">
                <a:latin typeface="Helvetica" pitchFamily="34" charset="0"/>
              </a:rPr>
              <a:t>Calibrate food thermometers at least </a:t>
            </a:r>
            <a:br>
              <a:rPr lang="en-AU" sz="2200" dirty="0" smtClean="0">
                <a:latin typeface="Helvetica" pitchFamily="34" charset="0"/>
              </a:rPr>
            </a:br>
            <a:r>
              <a:rPr lang="en-AU" sz="2200" dirty="0" smtClean="0">
                <a:latin typeface="Helvetica" pitchFamily="34" charset="0"/>
              </a:rPr>
              <a:t>every six months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5" name="Picture 2" descr="C:\Documents and Settings\danielc\Local Settings\Temporary Internet Files\Content.IE5\3Y3SDCJX\MC900442036[1].wmf"/>
          <p:cNvPicPr>
            <a:picLocks noChangeAspect="1" noChangeArrowheads="1"/>
          </p:cNvPicPr>
          <p:nvPr/>
        </p:nvPicPr>
        <p:blipFill>
          <a:blip r:embed="rId3" cstate="print"/>
          <a:srcRect/>
          <a:stretch>
            <a:fillRect/>
          </a:stretch>
        </p:blipFill>
        <p:spPr bwMode="auto">
          <a:xfrm>
            <a:off x="6553200" y="3419475"/>
            <a:ext cx="1857375" cy="1838325"/>
          </a:xfrm>
          <a:prstGeom prst="rect">
            <a:avLst/>
          </a:prstGeom>
          <a:noFill/>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program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389440" cy="4525963"/>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Ensure work activities conform with enterprise food safety program</a:t>
            </a:r>
          </a:p>
          <a:p>
            <a:pPr marL="360000" indent="-360000">
              <a:spcBef>
                <a:spcPts val="600"/>
              </a:spcBef>
              <a:spcAft>
                <a:spcPts val="1200"/>
              </a:spcAft>
            </a:pPr>
            <a:r>
              <a:rPr lang="en-US" sz="2200" dirty="0" smtClean="0">
                <a:latin typeface="Helvetica" pitchFamily="34" charset="0"/>
              </a:rPr>
              <a:t>Identify and monitor areas of risk in individual work area</a:t>
            </a:r>
          </a:p>
          <a:p>
            <a:pPr marL="360000" indent="-360000">
              <a:spcBef>
                <a:spcPts val="600"/>
              </a:spcBef>
              <a:spcAft>
                <a:spcPts val="1200"/>
              </a:spcAft>
            </a:pPr>
            <a:r>
              <a:rPr lang="en-US" sz="2200" dirty="0" smtClean="0">
                <a:latin typeface="Helvetica" pitchFamily="34" charset="0"/>
              </a:rPr>
              <a:t>Take corrective actions within individual scope of responsibilities to minimize risk in accordance with the enterprise food safety program</a:t>
            </a:r>
          </a:p>
          <a:p>
            <a:pPr marL="360000" indent="-360000">
              <a:spcBef>
                <a:spcPts val="600"/>
              </a:spcBef>
              <a:spcAft>
                <a:spcPts val="1200"/>
              </a:spcAft>
            </a:pPr>
            <a:r>
              <a:rPr lang="en-US" sz="2200" dirty="0" smtClean="0">
                <a:latin typeface="Helvetica" pitchFamily="34" charset="0"/>
              </a:rPr>
              <a:t>Report risks beyond the control of the individual to the appropriate person/s</a:t>
            </a:r>
          </a:p>
          <a:p>
            <a:pPr marL="360000" indent="-360000">
              <a:spcBef>
                <a:spcPts val="600"/>
              </a:spcBef>
              <a:spcAft>
                <a:spcPts val="1200"/>
              </a:spcAft>
            </a:pPr>
            <a:r>
              <a:rPr lang="en-US" sz="2200" dirty="0" smtClean="0">
                <a:latin typeface="Helvetica" pitchFamily="34" charset="0"/>
              </a:rPr>
              <a:t>Complete records according to enterprise requirements and work responsibility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8001000" y="1905000"/>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8001000" y="2679345"/>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992533" y="3429000"/>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992533" y="4191000"/>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972777" y="4965708"/>
            <a:ext cx="399154" cy="527046"/>
          </a:xfrm>
          <a:prstGeom prst="rect">
            <a:avLst/>
          </a:prstGeom>
          <a:noFill/>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work conforms with food safety program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Venues may have an FSP:</a:t>
            </a:r>
          </a:p>
          <a:p>
            <a:pPr marL="360000" indent="-360000">
              <a:spcBef>
                <a:spcPts val="600"/>
              </a:spcBef>
              <a:spcAft>
                <a:spcPts val="1200"/>
              </a:spcAft>
            </a:pPr>
            <a:r>
              <a:rPr lang="en-US" sz="2200" dirty="0" smtClean="0">
                <a:latin typeface="Helvetica" pitchFamily="34" charset="0"/>
              </a:rPr>
              <a:t>‘Food Safety Plan’ or ‘Food Safety Program – two names for the same thing</a:t>
            </a:r>
          </a:p>
          <a:p>
            <a:pPr marL="360000" indent="-360000">
              <a:spcBef>
                <a:spcPts val="600"/>
              </a:spcBef>
              <a:spcAft>
                <a:spcPts val="1200"/>
              </a:spcAft>
            </a:pPr>
            <a:r>
              <a:rPr lang="en-US" sz="2200" dirty="0" smtClean="0">
                <a:latin typeface="Helvetica" pitchFamily="34" charset="0"/>
              </a:rPr>
              <a:t>FSP may be a legal requirement or may </a:t>
            </a:r>
            <a:br>
              <a:rPr lang="en-US" sz="2200" dirty="0" smtClean="0">
                <a:latin typeface="Helvetica" pitchFamily="34" charset="0"/>
              </a:rPr>
            </a:br>
            <a:r>
              <a:rPr lang="en-US" sz="2200" dirty="0" smtClean="0">
                <a:latin typeface="Helvetica" pitchFamily="34" charset="0"/>
              </a:rPr>
              <a:t>be put in place voluntarily</a:t>
            </a:r>
          </a:p>
          <a:p>
            <a:pPr marL="360000" indent="-360000">
              <a:spcBef>
                <a:spcPts val="600"/>
              </a:spcBef>
              <a:spcAft>
                <a:spcPts val="1200"/>
              </a:spcAft>
            </a:pPr>
            <a:r>
              <a:rPr lang="en-US" sz="2200" dirty="0" smtClean="0">
                <a:latin typeface="Helvetica" pitchFamily="34" charset="0"/>
              </a:rPr>
              <a:t>The FSP provides direction for </a:t>
            </a:r>
            <a:br>
              <a:rPr lang="en-US" sz="2200" dirty="0" smtClean="0">
                <a:latin typeface="Helvetica" pitchFamily="34" charset="0"/>
              </a:rPr>
            </a:br>
            <a:r>
              <a:rPr lang="en-US" sz="2200" dirty="0" smtClean="0">
                <a:latin typeface="Helvetica" pitchFamily="34" charset="0"/>
              </a:rPr>
              <a:t>safe food handling practices at the venue </a:t>
            </a:r>
            <a:br>
              <a:rPr lang="en-US" sz="2200" dirty="0" smtClean="0">
                <a:latin typeface="Helvetica" pitchFamily="34" charset="0"/>
              </a:rPr>
            </a:br>
            <a:r>
              <a:rPr lang="en-US" sz="2200" dirty="0" smtClean="0">
                <a:latin typeface="Helvetica" pitchFamily="34" charset="0"/>
              </a:rPr>
              <a:t>based on an analysis of their operations </a:t>
            </a:r>
            <a:br>
              <a:rPr lang="en-US" sz="2200" dirty="0" smtClean="0">
                <a:latin typeface="Helvetica" pitchFamily="34" charset="0"/>
              </a:rPr>
            </a:br>
            <a:r>
              <a:rPr lang="en-US" sz="2200" dirty="0" smtClean="0">
                <a:latin typeface="Helvetica" pitchFamily="34" charset="0"/>
              </a:rPr>
              <a:t>(products and processes)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5" name="Picture 4" descr="C:\Documents and Settings\danielc\Desktop\Apply safety proc handling food images\restaurant food safety.jpg"/>
          <p:cNvPicPr/>
          <p:nvPr/>
        </p:nvPicPr>
        <p:blipFill>
          <a:blip r:embed="rId3" cstate="print">
            <a:grayscl/>
          </a:blip>
          <a:srcRect/>
          <a:stretch>
            <a:fillRect/>
          </a:stretch>
        </p:blipFill>
        <p:spPr bwMode="auto">
          <a:xfrm>
            <a:off x="6208889" y="2819400"/>
            <a:ext cx="2118509" cy="2113808"/>
          </a:xfrm>
          <a:prstGeom prst="rect">
            <a:avLst/>
          </a:prstGeom>
          <a:noFill/>
          <a:ln w="9525">
            <a:noFill/>
            <a:miter lim="800000"/>
            <a:headEnd/>
            <a:tailEnd/>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work conforms with food safety program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767808"/>
          </a:xfrm>
        </p:spPr>
        <p:txBody>
          <a:bodyPr>
            <a:normAutofit/>
          </a:bodyPr>
          <a:lstStyle/>
          <a:p>
            <a:pPr marL="0" indent="0">
              <a:spcBef>
                <a:spcPts val="600"/>
              </a:spcBef>
              <a:spcAft>
                <a:spcPts val="1200"/>
              </a:spcAft>
              <a:buNone/>
            </a:pPr>
            <a:r>
              <a:rPr lang="en-US" sz="2200" dirty="0" smtClean="0">
                <a:latin typeface="Helvetica" pitchFamily="34" charset="0"/>
              </a:rPr>
              <a:t>FSP may contain:</a:t>
            </a:r>
          </a:p>
          <a:p>
            <a:pPr marL="360000" indent="-360000">
              <a:spcBef>
                <a:spcPts val="600"/>
              </a:spcBef>
              <a:spcAft>
                <a:spcPts val="1200"/>
              </a:spcAft>
            </a:pPr>
            <a:r>
              <a:rPr lang="en-US" sz="2200" dirty="0" smtClean="0">
                <a:latin typeface="Helvetica" pitchFamily="34" charset="0"/>
              </a:rPr>
              <a:t>Support information and direction in relation to:</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Cleaning and sanitizing items and areas</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Personal hygiene including health</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Equipment and property maintenance</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Pest control </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Waste disposal</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30722" name="Picture 2" descr="I:\Overseas Projects\PHOTOS\2012\Culinary 2011\KitchenHygienCCCarmen_Seaby.jpg"/>
          <p:cNvPicPr>
            <a:picLocks noChangeAspect="1" noChangeArrowheads="1"/>
          </p:cNvPicPr>
          <p:nvPr/>
        </p:nvPicPr>
        <p:blipFill>
          <a:blip r:embed="rId3" cstate="print">
            <a:grayscl/>
            <a:lum contrast="30000"/>
          </a:blip>
          <a:srcRect/>
          <a:stretch>
            <a:fillRect/>
          </a:stretch>
        </p:blipFill>
        <p:spPr bwMode="auto">
          <a:xfrm>
            <a:off x="6172200" y="3886200"/>
            <a:ext cx="2320925" cy="1682671"/>
          </a:xfrm>
          <a:prstGeom prst="rect">
            <a:avLst/>
          </a:prstGeom>
          <a:noFill/>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work conforms with food safety program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Safety records which need to be established and maintained:</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By name and title</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When they need to be completed and by whom</a:t>
            </a:r>
          </a:p>
          <a:p>
            <a:pPr marL="360000" indent="-360000">
              <a:spcBef>
                <a:spcPts val="600"/>
              </a:spcBef>
              <a:spcAft>
                <a:spcPts val="1200"/>
              </a:spcAft>
            </a:pPr>
            <a:r>
              <a:rPr lang="en-US" sz="2200" dirty="0" smtClean="0">
                <a:latin typeface="Helvetica" pitchFamily="34" charset="0"/>
              </a:rPr>
              <a:t>The training food handlers must receive:</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Local and mandatory</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Extra in-house training</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Refresher training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31746" name="Picture 2" descr="I:\Overseas Projects\PHOTOS\2012\Culinary 2011\KitchenCCJonratcliffe.jpg"/>
          <p:cNvPicPr>
            <a:picLocks noChangeAspect="1" noChangeArrowheads="1"/>
          </p:cNvPicPr>
          <p:nvPr/>
        </p:nvPicPr>
        <p:blipFill>
          <a:blip r:embed="rId3" cstate="print">
            <a:lum bright="20000" contrast="20000"/>
          </a:blip>
          <a:srcRect/>
          <a:stretch>
            <a:fillRect/>
          </a:stretch>
        </p:blipFill>
        <p:spPr bwMode="auto">
          <a:xfrm>
            <a:off x="5715000" y="3962400"/>
            <a:ext cx="2540000" cy="1905000"/>
          </a:xfrm>
          <a:prstGeom prst="rect">
            <a:avLst/>
          </a:prstGeom>
          <a:noFill/>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work conforms with food safety program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An effective pest control program comprises three elements:</a:t>
            </a:r>
          </a:p>
          <a:p>
            <a:pPr marL="360000" indent="-360000">
              <a:spcBef>
                <a:spcPts val="600"/>
              </a:spcBef>
              <a:spcAft>
                <a:spcPts val="1200"/>
              </a:spcAft>
            </a:pPr>
            <a:r>
              <a:rPr lang="en-US" sz="2200" dirty="0" smtClean="0">
                <a:latin typeface="Helvetica" pitchFamily="34" charset="0"/>
              </a:rPr>
              <a:t>Physical exclusion</a:t>
            </a:r>
          </a:p>
          <a:p>
            <a:pPr marL="360000" indent="-360000">
              <a:spcBef>
                <a:spcPts val="600"/>
              </a:spcBef>
              <a:spcAft>
                <a:spcPts val="1200"/>
              </a:spcAft>
            </a:pPr>
            <a:r>
              <a:rPr lang="en-US" sz="2200" dirty="0" smtClean="0">
                <a:latin typeface="Helvetica" pitchFamily="34" charset="0"/>
              </a:rPr>
              <a:t>Chemical and mechanical control of pests</a:t>
            </a:r>
          </a:p>
          <a:p>
            <a:pPr marL="360000" indent="-360000">
              <a:spcBef>
                <a:spcPts val="600"/>
              </a:spcBef>
              <a:spcAft>
                <a:spcPts val="1200"/>
              </a:spcAft>
            </a:pPr>
            <a:r>
              <a:rPr lang="en-US" sz="2200" dirty="0" smtClean="0">
                <a:latin typeface="Helvetica" pitchFamily="34" charset="0"/>
              </a:rPr>
              <a:t>Sound housekeeping practices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5" name="Picture 4" descr="C:\Documents and Settings\danielc\Desktop\Apply safety proc handling food images\freeimage-1992931.jpg"/>
          <p:cNvPicPr/>
          <p:nvPr/>
        </p:nvPicPr>
        <p:blipFill>
          <a:blip r:embed="rId3" cstate="print">
            <a:lum contrast="10000"/>
          </a:blip>
          <a:srcRect l="5860" t="21083" r="25338" b="8212"/>
          <a:stretch>
            <a:fillRect/>
          </a:stretch>
        </p:blipFill>
        <p:spPr bwMode="auto">
          <a:xfrm>
            <a:off x="6028267" y="3429000"/>
            <a:ext cx="2213512" cy="1698171"/>
          </a:xfrm>
          <a:prstGeom prst="rect">
            <a:avLst/>
          </a:prstGeom>
          <a:noFill/>
          <a:ln w="9525">
            <a:noFill/>
            <a:miter lim="800000"/>
            <a:headEnd/>
            <a:tailEnd/>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work conforms with food safety program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Physical exclusion involves:</a:t>
            </a:r>
          </a:p>
          <a:p>
            <a:pPr marL="360000" indent="-360000">
              <a:spcBef>
                <a:spcPts val="600"/>
              </a:spcBef>
              <a:spcAft>
                <a:spcPts val="1200"/>
              </a:spcAft>
            </a:pPr>
            <a:r>
              <a:rPr lang="en-US" sz="2200" dirty="0" smtClean="0">
                <a:latin typeface="Helvetica" pitchFamily="34" charset="0"/>
              </a:rPr>
              <a:t>Checking deliveries into the venue and kitchen</a:t>
            </a:r>
          </a:p>
          <a:p>
            <a:pPr marL="360000" indent="-360000">
              <a:spcBef>
                <a:spcPts val="600"/>
              </a:spcBef>
              <a:spcAft>
                <a:spcPts val="1200"/>
              </a:spcAft>
            </a:pPr>
            <a:r>
              <a:rPr lang="en-US" sz="2200" dirty="0" smtClean="0">
                <a:latin typeface="Helvetica" pitchFamily="34" charset="0"/>
              </a:rPr>
              <a:t>Fly wire on doors and windows</a:t>
            </a:r>
          </a:p>
          <a:p>
            <a:pPr marL="360000" indent="-360000">
              <a:spcBef>
                <a:spcPts val="600"/>
              </a:spcBef>
              <a:spcAft>
                <a:spcPts val="1200"/>
              </a:spcAft>
            </a:pPr>
            <a:r>
              <a:rPr lang="en-US" sz="2200" dirty="0" smtClean="0">
                <a:latin typeface="Helvetica" pitchFamily="34" charset="0"/>
              </a:rPr>
              <a:t>Sealing of holes in food area</a:t>
            </a:r>
          </a:p>
          <a:p>
            <a:pPr marL="360000" indent="-360000">
              <a:spcBef>
                <a:spcPts val="600"/>
              </a:spcBef>
              <a:spcAft>
                <a:spcPts val="1200"/>
              </a:spcAft>
            </a:pPr>
            <a:r>
              <a:rPr lang="en-US" sz="2200" dirty="0" smtClean="0">
                <a:latin typeface="Helvetica" pitchFamily="34" charset="0"/>
              </a:rPr>
              <a:t>Exclusion of animals from food areas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32770" name="Picture 2" descr="C:\Documents and Settings\danielc\Desktop\Apply safety proc handling food images\Fly_Screen_Material_Charcoal_White_Grey.jpg"/>
          <p:cNvPicPr>
            <a:picLocks noChangeAspect="1" noChangeArrowheads="1"/>
          </p:cNvPicPr>
          <p:nvPr/>
        </p:nvPicPr>
        <p:blipFill>
          <a:blip r:embed="rId3" cstate="print"/>
          <a:srcRect t="52245"/>
          <a:stretch>
            <a:fillRect/>
          </a:stretch>
        </p:blipFill>
        <p:spPr bwMode="auto">
          <a:xfrm>
            <a:off x="6019800" y="2895600"/>
            <a:ext cx="2333625" cy="1114425"/>
          </a:xfrm>
          <a:prstGeom prst="rect">
            <a:avLst/>
          </a:prstGeom>
          <a:noFill/>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work conforms with food safety program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Chemical and mechanical control can include:</a:t>
            </a:r>
          </a:p>
          <a:p>
            <a:pPr marL="360000" indent="-360000">
              <a:spcBef>
                <a:spcPts val="600"/>
              </a:spcBef>
              <a:spcAft>
                <a:spcPts val="1200"/>
              </a:spcAft>
            </a:pPr>
            <a:r>
              <a:rPr lang="en-US" sz="2200" dirty="0" smtClean="0">
                <a:latin typeface="Helvetica" pitchFamily="34" charset="0"/>
              </a:rPr>
              <a:t>Electronic fly zappers</a:t>
            </a:r>
          </a:p>
          <a:p>
            <a:pPr marL="360000" indent="-360000">
              <a:spcBef>
                <a:spcPts val="600"/>
              </a:spcBef>
              <a:spcAft>
                <a:spcPts val="1200"/>
              </a:spcAft>
            </a:pPr>
            <a:r>
              <a:rPr lang="en-US" sz="2200" dirty="0" smtClean="0">
                <a:latin typeface="Helvetica" pitchFamily="34" charset="0"/>
              </a:rPr>
              <a:t>Air curtains</a:t>
            </a:r>
          </a:p>
          <a:p>
            <a:pPr marL="360000" indent="-360000">
              <a:spcBef>
                <a:spcPts val="600"/>
              </a:spcBef>
              <a:spcAft>
                <a:spcPts val="1200"/>
              </a:spcAft>
            </a:pPr>
            <a:r>
              <a:rPr lang="en-US" sz="2200" dirty="0" smtClean="0">
                <a:latin typeface="Helvetica" pitchFamily="34" charset="0"/>
              </a:rPr>
              <a:t>Traps</a:t>
            </a:r>
          </a:p>
          <a:p>
            <a:pPr marL="360000" indent="-360000">
              <a:spcBef>
                <a:spcPts val="600"/>
              </a:spcBef>
              <a:spcAft>
                <a:spcPts val="1200"/>
              </a:spcAft>
            </a:pPr>
            <a:r>
              <a:rPr lang="en-US" sz="2200" dirty="0" smtClean="0">
                <a:latin typeface="Helvetica" pitchFamily="34" charset="0"/>
              </a:rPr>
              <a:t>Bait stations</a:t>
            </a:r>
          </a:p>
          <a:p>
            <a:pPr marL="360000" indent="-360000">
              <a:spcBef>
                <a:spcPts val="600"/>
              </a:spcBef>
              <a:spcAft>
                <a:spcPts val="1200"/>
              </a:spcAft>
            </a:pPr>
            <a:r>
              <a:rPr lang="en-US" sz="2200" dirty="0" smtClean="0">
                <a:latin typeface="Helvetica" pitchFamily="34" charset="0"/>
              </a:rPr>
              <a:t>Sprays</a:t>
            </a:r>
          </a:p>
          <a:p>
            <a:pPr marL="360000" indent="-360000">
              <a:spcBef>
                <a:spcPts val="600"/>
              </a:spcBef>
              <a:spcAft>
                <a:spcPts val="1200"/>
              </a:spcAft>
            </a:pPr>
            <a:r>
              <a:rPr lang="en-US" sz="2200" dirty="0" smtClean="0">
                <a:latin typeface="Helvetica" pitchFamily="34" charset="0"/>
              </a:rPr>
              <a:t>Fogging</a:t>
            </a:r>
          </a:p>
          <a:p>
            <a:pPr marL="360000" indent="-360000">
              <a:spcBef>
                <a:spcPts val="600"/>
              </a:spcBef>
              <a:spcAft>
                <a:spcPts val="1200"/>
              </a:spcAft>
            </a:pPr>
            <a:r>
              <a:rPr lang="en-US" sz="2200" dirty="0" smtClean="0">
                <a:latin typeface="Helvetica" pitchFamily="34" charset="0"/>
              </a:rPr>
              <a:t>Professional pest control companies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33794" name="Picture 2" descr="C:\Documents and Settings\danielc\Desktop\Apply safety proc handling food images\41hzlbwtgbl__sl500_aa280_.jpg"/>
          <p:cNvPicPr>
            <a:picLocks noChangeAspect="1" noChangeArrowheads="1"/>
          </p:cNvPicPr>
          <p:nvPr/>
        </p:nvPicPr>
        <p:blipFill>
          <a:blip r:embed="rId3" cstate="print"/>
          <a:srcRect/>
          <a:stretch>
            <a:fillRect/>
          </a:stretch>
        </p:blipFill>
        <p:spPr bwMode="auto">
          <a:xfrm>
            <a:off x="5867400" y="2590800"/>
            <a:ext cx="2286000" cy="2286000"/>
          </a:xfrm>
          <a:prstGeom prst="rect">
            <a:avLst/>
          </a:prstGeom>
          <a:noFill/>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work conforms with food safety program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Sound housekeeping practices:</a:t>
            </a:r>
          </a:p>
          <a:p>
            <a:pPr marL="360000" indent="-360000">
              <a:spcBef>
                <a:spcPts val="600"/>
              </a:spcBef>
              <a:spcAft>
                <a:spcPts val="1200"/>
              </a:spcAft>
            </a:pPr>
            <a:r>
              <a:rPr lang="en-US" sz="2200" dirty="0" smtClean="0">
                <a:latin typeface="Helvetica" pitchFamily="34" charset="0"/>
              </a:rPr>
              <a:t>Clean and dry environment at end-of-day or shift</a:t>
            </a:r>
          </a:p>
          <a:p>
            <a:pPr marL="360000" indent="-360000">
              <a:spcBef>
                <a:spcPts val="600"/>
              </a:spcBef>
              <a:spcAft>
                <a:spcPts val="1200"/>
              </a:spcAft>
            </a:pPr>
            <a:r>
              <a:rPr lang="en-US" sz="2200" dirty="0" smtClean="0">
                <a:latin typeface="Helvetica" pitchFamily="34" charset="0"/>
              </a:rPr>
              <a:t>Inspect at end-of-shift to ensure no scraps under equipment</a:t>
            </a:r>
          </a:p>
          <a:p>
            <a:pPr marL="360000" indent="-360000">
              <a:spcBef>
                <a:spcPts val="600"/>
              </a:spcBef>
              <a:spcAft>
                <a:spcPts val="1200"/>
              </a:spcAft>
            </a:pPr>
            <a:r>
              <a:rPr lang="en-US" sz="2200" dirty="0" smtClean="0">
                <a:latin typeface="Helvetica" pitchFamily="34" charset="0"/>
              </a:rPr>
              <a:t>No water sources for pests to drink</a:t>
            </a:r>
          </a:p>
          <a:p>
            <a:pPr marL="360000" indent="-360000">
              <a:spcBef>
                <a:spcPts val="600"/>
              </a:spcBef>
              <a:spcAft>
                <a:spcPts val="1200"/>
              </a:spcAft>
            </a:pPr>
            <a:r>
              <a:rPr lang="en-US" sz="2200" dirty="0" smtClean="0">
                <a:latin typeface="Helvetica" pitchFamily="34" charset="0"/>
              </a:rPr>
              <a:t>Remove potential shelter </a:t>
            </a:r>
          </a:p>
          <a:p>
            <a:pPr marL="360000" indent="-360000">
              <a:spcBef>
                <a:spcPts val="600"/>
              </a:spcBef>
              <a:spcAft>
                <a:spcPts val="1200"/>
              </a:spcAft>
            </a:pPr>
            <a:r>
              <a:rPr lang="en-US" sz="2200" dirty="0" smtClean="0">
                <a:latin typeface="Helvetica" pitchFamily="34" charset="0"/>
              </a:rPr>
              <a:t>Store food in vermin-proof containers</a:t>
            </a:r>
          </a:p>
          <a:p>
            <a:pPr marL="360000" indent="-360000">
              <a:spcBef>
                <a:spcPts val="600"/>
              </a:spcBef>
              <a:spcAft>
                <a:spcPts val="1200"/>
              </a:spcAft>
            </a:pPr>
            <a:r>
              <a:rPr lang="en-US" sz="2200" dirty="0" smtClean="0">
                <a:latin typeface="Helvetica" pitchFamily="34" charset="0"/>
              </a:rPr>
              <a:t>Repairs cracked tiles and surfaces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34818" name="Picture 2" descr="C:\Documents and Settings\danielc\Local Settings\Temporary Internet Files\Content.IE5\V9A2RTT8\MC900332712[1].wmf"/>
          <p:cNvPicPr>
            <a:picLocks noChangeAspect="1" noChangeArrowheads="1"/>
          </p:cNvPicPr>
          <p:nvPr/>
        </p:nvPicPr>
        <p:blipFill>
          <a:blip r:embed="rId3" cstate="print"/>
          <a:srcRect/>
          <a:stretch>
            <a:fillRect/>
          </a:stretch>
        </p:blipFill>
        <p:spPr bwMode="auto">
          <a:xfrm>
            <a:off x="7086600" y="3581400"/>
            <a:ext cx="1373429" cy="1823314"/>
          </a:xfrm>
          <a:prstGeom prst="rect">
            <a:avLst/>
          </a:prstGeom>
          <a:noFill/>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work conforms with food safety program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94240" cy="4525963"/>
          </a:xfrm>
        </p:spPr>
        <p:txBody>
          <a:bodyPr>
            <a:normAutofit/>
          </a:bodyPr>
          <a:lstStyle/>
          <a:p>
            <a:pPr marL="0" indent="0">
              <a:spcBef>
                <a:spcPts val="600"/>
              </a:spcBef>
              <a:spcAft>
                <a:spcPts val="1200"/>
              </a:spcAft>
              <a:buNone/>
            </a:pPr>
            <a:r>
              <a:rPr lang="en-US" sz="2200" dirty="0" smtClean="0">
                <a:latin typeface="Helvetica" pitchFamily="34" charset="0"/>
              </a:rPr>
              <a:t>In relation to waste disposal:</a:t>
            </a:r>
          </a:p>
          <a:p>
            <a:pPr marL="360000" indent="-360000">
              <a:spcBef>
                <a:spcPts val="600"/>
              </a:spcBef>
              <a:spcAft>
                <a:spcPts val="1200"/>
              </a:spcAft>
            </a:pPr>
            <a:r>
              <a:rPr lang="en-US" sz="2200" dirty="0" smtClean="0">
                <a:latin typeface="Helvetica" pitchFamily="34" charset="0"/>
              </a:rPr>
              <a:t>Always wear disposable gloves when handling waste/garbage/rubbish</a:t>
            </a:r>
          </a:p>
          <a:p>
            <a:pPr marL="360000" indent="-360000">
              <a:spcBef>
                <a:spcPts val="600"/>
              </a:spcBef>
              <a:spcAft>
                <a:spcPts val="1200"/>
              </a:spcAft>
            </a:pPr>
            <a:r>
              <a:rPr lang="en-US" sz="2200" dirty="0" smtClean="0">
                <a:latin typeface="Helvetica" pitchFamily="34" charset="0"/>
              </a:rPr>
              <a:t>Always wash hands after handling waste/garbage/rubbish or bins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35842" name="Picture 2" descr="C:\Documents and Settings\danielc\Desktop\Apply safety proc handling food images\disposal gloves.jpg"/>
          <p:cNvPicPr>
            <a:picLocks noChangeAspect="1" noChangeArrowheads="1"/>
          </p:cNvPicPr>
          <p:nvPr/>
        </p:nvPicPr>
        <p:blipFill>
          <a:blip r:embed="rId3" cstate="print"/>
          <a:srcRect/>
          <a:stretch>
            <a:fillRect/>
          </a:stretch>
        </p:blipFill>
        <p:spPr bwMode="auto">
          <a:xfrm>
            <a:off x="1981200" y="4545430"/>
            <a:ext cx="2107794" cy="1398170"/>
          </a:xfrm>
          <a:prstGeom prst="rect">
            <a:avLst/>
          </a:prstGeom>
          <a:noFill/>
        </p:spPr>
      </p:pic>
      <p:pic>
        <p:nvPicPr>
          <p:cNvPr id="35843" name="Picture 3" descr="C:\Documents and Settings\danielc\Desktop\Apply safety proc handling food images\freeimage-6640705.jpg"/>
          <p:cNvPicPr>
            <a:picLocks noChangeAspect="1" noChangeArrowheads="1"/>
          </p:cNvPicPr>
          <p:nvPr/>
        </p:nvPicPr>
        <p:blipFill>
          <a:blip r:embed="rId4" cstate="print"/>
          <a:srcRect t="31964"/>
          <a:stretch>
            <a:fillRect/>
          </a:stretch>
        </p:blipFill>
        <p:spPr bwMode="auto">
          <a:xfrm>
            <a:off x="4267200" y="3766191"/>
            <a:ext cx="2133600" cy="2177409"/>
          </a:xfrm>
          <a:prstGeom prst="rect">
            <a:avLst/>
          </a:prstGeom>
          <a:noFill/>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work conforms with food safety program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0440" cy="4525963"/>
          </a:xfrm>
        </p:spPr>
        <p:txBody>
          <a:bodyPr>
            <a:normAutofit/>
          </a:bodyPr>
          <a:lstStyle/>
          <a:p>
            <a:pPr marL="0" indent="0">
              <a:spcBef>
                <a:spcPts val="600"/>
              </a:spcBef>
              <a:spcAft>
                <a:spcPts val="1200"/>
              </a:spcAft>
              <a:buNone/>
            </a:pPr>
            <a:r>
              <a:rPr lang="en-US" sz="2200" dirty="0" smtClean="0">
                <a:latin typeface="Helvetica" pitchFamily="34" charset="0"/>
              </a:rPr>
              <a:t>Requirements relating to handling waste within the kitchen:</a:t>
            </a:r>
          </a:p>
          <a:p>
            <a:pPr marL="360000" indent="-360000">
              <a:spcBef>
                <a:spcPts val="600"/>
              </a:spcBef>
              <a:spcAft>
                <a:spcPts val="1200"/>
              </a:spcAft>
            </a:pPr>
            <a:r>
              <a:rPr lang="en-US" sz="2200" dirty="0" smtClean="0">
                <a:latin typeface="Helvetica" pitchFamily="34" charset="0"/>
              </a:rPr>
              <a:t>Empty bins regularly</a:t>
            </a:r>
          </a:p>
          <a:p>
            <a:pPr marL="360000" indent="-360000">
              <a:spcBef>
                <a:spcPts val="600"/>
              </a:spcBef>
              <a:spcAft>
                <a:spcPts val="1200"/>
              </a:spcAft>
            </a:pPr>
            <a:r>
              <a:rPr lang="en-US" sz="2200" dirty="0" smtClean="0">
                <a:latin typeface="Helvetica" pitchFamily="34" charset="0"/>
              </a:rPr>
              <a:t>Empty bins when three-quarters full</a:t>
            </a:r>
          </a:p>
          <a:p>
            <a:pPr marL="360000" indent="-360000">
              <a:spcBef>
                <a:spcPts val="600"/>
              </a:spcBef>
              <a:spcAft>
                <a:spcPts val="1200"/>
              </a:spcAft>
            </a:pPr>
            <a:r>
              <a:rPr lang="en-US" sz="2200" dirty="0" smtClean="0">
                <a:latin typeface="Helvetica" pitchFamily="34" charset="0"/>
              </a:rPr>
              <a:t>Always empty bins at end-of-day or shift</a:t>
            </a:r>
          </a:p>
          <a:p>
            <a:pPr marL="360000" indent="-360000">
              <a:spcBef>
                <a:spcPts val="600"/>
              </a:spcBef>
              <a:spcAft>
                <a:spcPts val="1200"/>
              </a:spcAft>
            </a:pPr>
            <a:r>
              <a:rPr lang="en-US" sz="2200" dirty="0" smtClean="0">
                <a:latin typeface="Helvetica" pitchFamily="34" charset="0"/>
              </a:rPr>
              <a:t>Fit bins with bin liners</a:t>
            </a:r>
          </a:p>
          <a:p>
            <a:pPr marL="360000" indent="-360000">
              <a:spcBef>
                <a:spcPts val="600"/>
              </a:spcBef>
              <a:spcAft>
                <a:spcPts val="1200"/>
              </a:spcAft>
            </a:pPr>
            <a:r>
              <a:rPr lang="en-US" sz="2200" dirty="0" smtClean="0">
                <a:latin typeface="Helvetica" pitchFamily="34" charset="0"/>
              </a:rPr>
              <a:t>Clean in and around bins</a:t>
            </a:r>
          </a:p>
          <a:p>
            <a:pPr marL="360000" indent="-360000">
              <a:spcBef>
                <a:spcPts val="600"/>
              </a:spcBef>
              <a:spcAft>
                <a:spcPts val="1200"/>
              </a:spcAft>
            </a:pPr>
            <a:r>
              <a:rPr lang="en-US" sz="2200" dirty="0" smtClean="0">
                <a:latin typeface="Helvetica" pitchFamily="34" charset="0"/>
              </a:rPr>
              <a:t>Clean bins at end-of-shift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36866" name="Picture 2" descr="C:\Documents and Settings\danielc\Desktop\Apply safety proc handling food images\freeimage-5466202.jpg"/>
          <p:cNvPicPr>
            <a:picLocks noChangeAspect="1" noChangeArrowheads="1"/>
          </p:cNvPicPr>
          <p:nvPr/>
        </p:nvPicPr>
        <p:blipFill>
          <a:blip r:embed="rId3" cstate="print">
            <a:lum contrast="10000"/>
          </a:blip>
          <a:srcRect t="15200" b="24800"/>
          <a:stretch>
            <a:fillRect/>
          </a:stretch>
        </p:blipFill>
        <p:spPr bwMode="auto">
          <a:xfrm>
            <a:off x="6324600" y="3124200"/>
            <a:ext cx="1972733" cy="1775460"/>
          </a:xfrm>
          <a:prstGeom prst="rect">
            <a:avLst/>
          </a:prstGeom>
          <a:noFill/>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work conforms with food safety program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External waste bins and dumpers:</a:t>
            </a:r>
          </a:p>
          <a:p>
            <a:pPr marL="360000" indent="-360000">
              <a:spcBef>
                <a:spcPts val="600"/>
              </a:spcBef>
              <a:spcAft>
                <a:spcPts val="1200"/>
              </a:spcAft>
            </a:pPr>
            <a:r>
              <a:rPr lang="en-US" sz="2200" dirty="0" smtClean="0">
                <a:latin typeface="Helvetica" pitchFamily="34" charset="0"/>
              </a:rPr>
              <a:t>Must be ‘sufficient’ in numbers</a:t>
            </a:r>
          </a:p>
          <a:p>
            <a:pPr marL="360000" indent="-360000">
              <a:spcBef>
                <a:spcPts val="600"/>
              </a:spcBef>
              <a:spcAft>
                <a:spcPts val="1200"/>
              </a:spcAft>
            </a:pPr>
            <a:r>
              <a:rPr lang="en-US" sz="2200" dirty="0" smtClean="0">
                <a:latin typeface="Helvetica" pitchFamily="34" charset="0"/>
              </a:rPr>
              <a:t>Must have tight-fitting lids</a:t>
            </a:r>
          </a:p>
          <a:p>
            <a:pPr marL="360000" indent="-360000">
              <a:spcBef>
                <a:spcPts val="600"/>
              </a:spcBef>
              <a:spcAft>
                <a:spcPts val="1200"/>
              </a:spcAft>
            </a:pPr>
            <a:r>
              <a:rPr lang="en-US" sz="2200" dirty="0" smtClean="0">
                <a:latin typeface="Helvetica" pitchFamily="34" charset="0"/>
              </a:rPr>
              <a:t>Must be kept in good condition</a:t>
            </a:r>
          </a:p>
          <a:p>
            <a:pPr marL="360000" indent="-360000">
              <a:spcBef>
                <a:spcPts val="600"/>
              </a:spcBef>
              <a:spcAft>
                <a:spcPts val="1200"/>
              </a:spcAft>
            </a:pPr>
            <a:r>
              <a:rPr lang="en-US" sz="2200" dirty="0" smtClean="0">
                <a:latin typeface="Helvetica" pitchFamily="34" charset="0"/>
              </a:rPr>
              <a:t>Must be kept clean</a:t>
            </a:r>
          </a:p>
          <a:p>
            <a:pPr marL="360000" indent="-360000">
              <a:spcBef>
                <a:spcPts val="600"/>
              </a:spcBef>
              <a:spcAft>
                <a:spcPts val="1200"/>
              </a:spcAft>
            </a:pPr>
            <a:r>
              <a:rPr lang="en-US" sz="2200" dirty="0" smtClean="0">
                <a:latin typeface="Helvetica" pitchFamily="34" charset="0"/>
              </a:rPr>
              <a:t>Must be emptied regularly</a:t>
            </a:r>
          </a:p>
          <a:p>
            <a:pPr marL="360000" indent="-360000">
              <a:spcBef>
                <a:spcPts val="600"/>
              </a:spcBef>
              <a:spcAft>
                <a:spcPts val="1200"/>
              </a:spcAft>
            </a:pPr>
            <a:r>
              <a:rPr lang="en-US" sz="2200" dirty="0" smtClean="0">
                <a:latin typeface="Helvetica" pitchFamily="34" charset="0"/>
              </a:rPr>
              <a:t>Apply appropriate recycling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37890" name="Picture 2" descr="C:\Documents and Settings\danielc\Desktop\Apply safety proc handling food images\359290_trash.jpg"/>
          <p:cNvPicPr>
            <a:picLocks noChangeAspect="1" noChangeArrowheads="1"/>
          </p:cNvPicPr>
          <p:nvPr/>
        </p:nvPicPr>
        <p:blipFill>
          <a:blip r:embed="rId3" cstate="print"/>
          <a:srcRect/>
          <a:stretch>
            <a:fillRect/>
          </a:stretch>
        </p:blipFill>
        <p:spPr bwMode="auto">
          <a:xfrm>
            <a:off x="5410200" y="2667000"/>
            <a:ext cx="2857500" cy="1895475"/>
          </a:xfrm>
          <a:prstGeom prst="rect">
            <a:avLst/>
          </a:prstGeom>
          <a:noFill/>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monitor areas of risk in individual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Basics for identifying and monitoring your work area in relation to food safety:</a:t>
            </a:r>
          </a:p>
          <a:p>
            <a:pPr marL="360000" indent="-360000">
              <a:spcBef>
                <a:spcPts val="600"/>
              </a:spcBef>
              <a:spcAft>
                <a:spcPts val="1200"/>
              </a:spcAft>
            </a:pPr>
            <a:r>
              <a:rPr lang="en-US" sz="2200" dirty="0" smtClean="0">
                <a:latin typeface="Helvetica" pitchFamily="34" charset="0"/>
              </a:rPr>
              <a:t>‘Poor </a:t>
            </a:r>
            <a:r>
              <a:rPr lang="en-US" sz="2200" dirty="0" err="1" smtClean="0">
                <a:latin typeface="Helvetica" pitchFamily="34" charset="0"/>
              </a:rPr>
              <a:t>organisational</a:t>
            </a:r>
            <a:r>
              <a:rPr lang="en-US" sz="2200" dirty="0" smtClean="0">
                <a:latin typeface="Helvetica" pitchFamily="34" charset="0"/>
              </a:rPr>
              <a:t> practices’ are often the cause of problems</a:t>
            </a:r>
          </a:p>
          <a:p>
            <a:pPr marL="360000" indent="-360000">
              <a:spcBef>
                <a:spcPts val="600"/>
              </a:spcBef>
              <a:spcAft>
                <a:spcPts val="1200"/>
              </a:spcAft>
            </a:pPr>
            <a:r>
              <a:rPr lang="en-US" sz="2200" dirty="0" smtClean="0">
                <a:latin typeface="Helvetica" pitchFamily="34" charset="0"/>
              </a:rPr>
              <a:t>All food handlers have responsibility for </a:t>
            </a:r>
            <a:br>
              <a:rPr lang="en-US" sz="2200" dirty="0" smtClean="0">
                <a:latin typeface="Helvetica" pitchFamily="34" charset="0"/>
              </a:rPr>
            </a:br>
            <a:r>
              <a:rPr lang="en-US" sz="2200" dirty="0" smtClean="0">
                <a:latin typeface="Helvetica" pitchFamily="34" charset="0"/>
              </a:rPr>
              <a:t>identifying, monitoring and reporting issues</a:t>
            </a:r>
          </a:p>
          <a:p>
            <a:pPr marL="360000" indent="-360000">
              <a:spcBef>
                <a:spcPts val="600"/>
              </a:spcBef>
              <a:spcAft>
                <a:spcPts val="1200"/>
              </a:spcAft>
            </a:pPr>
            <a:r>
              <a:rPr lang="en-US" sz="2200" dirty="0" smtClean="0">
                <a:latin typeface="Helvetica" pitchFamily="34" charset="0"/>
              </a:rPr>
              <a:t>‘Poor </a:t>
            </a:r>
            <a:r>
              <a:rPr lang="en-US" sz="2200" dirty="0" err="1" smtClean="0">
                <a:latin typeface="Helvetica" pitchFamily="34" charset="0"/>
              </a:rPr>
              <a:t>organisational</a:t>
            </a:r>
            <a:r>
              <a:rPr lang="en-US" sz="2200" dirty="0" smtClean="0">
                <a:latin typeface="Helvetica" pitchFamily="34" charset="0"/>
              </a:rPr>
              <a:t> practices’ include </a:t>
            </a:r>
            <a:br>
              <a:rPr lang="en-US" sz="2200" dirty="0" smtClean="0">
                <a:latin typeface="Helvetica" pitchFamily="34" charset="0"/>
              </a:rPr>
            </a:br>
            <a:r>
              <a:rPr lang="en-US" sz="2200" dirty="0" smtClean="0">
                <a:latin typeface="Helvetica" pitchFamily="34" charset="0"/>
              </a:rPr>
              <a:t>sub-standard staff performance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6" name="Picture 5" descr="I:\Overseas Projects\PHOTOS\2012\Office\Kitcxhen_Hygiene_Poster.jpg"/>
          <p:cNvPicPr/>
          <p:nvPr/>
        </p:nvPicPr>
        <p:blipFill>
          <a:blip r:embed="rId3" cstate="print"/>
          <a:srcRect/>
          <a:stretch>
            <a:fillRect/>
          </a:stretch>
        </p:blipFill>
        <p:spPr bwMode="auto">
          <a:xfrm>
            <a:off x="6400800" y="3276600"/>
            <a:ext cx="2386926" cy="1752600"/>
          </a:xfrm>
          <a:prstGeom prst="rect">
            <a:avLst/>
          </a:prstGeom>
          <a:noFill/>
          <a:ln w="9525">
            <a:noFill/>
            <a:miter lim="800000"/>
            <a:headEnd/>
            <a:tailEnd/>
          </a:ln>
        </p:spPr>
      </p:pic>
      <p:pic>
        <p:nvPicPr>
          <p:cNvPr id="7" name="Picture 6" descr="C:\Documents and Settings\danielc\Desktop\Apply safety proc handling food images\1282502_magnifying_glass.jpg"/>
          <p:cNvPicPr/>
          <p:nvPr/>
        </p:nvPicPr>
        <p:blipFill>
          <a:blip r:embed="rId4" cstate="print"/>
          <a:srcRect/>
          <a:stretch>
            <a:fillRect/>
          </a:stretch>
        </p:blipFill>
        <p:spPr bwMode="auto">
          <a:xfrm>
            <a:off x="5257800" y="4800600"/>
            <a:ext cx="1014103" cy="1009403"/>
          </a:xfrm>
          <a:prstGeom prst="rect">
            <a:avLst/>
          </a:prstGeom>
          <a:noFill/>
          <a:ln w="9525">
            <a:noFill/>
            <a:miter lim="800000"/>
            <a:headEnd/>
            <a:tailEnd/>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monitor areas of risk in individual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Poor organizational practices :</a:t>
            </a:r>
          </a:p>
          <a:p>
            <a:pPr marL="360000" indent="-360000">
              <a:spcBef>
                <a:spcPts val="600"/>
              </a:spcBef>
              <a:spcAft>
                <a:spcPts val="1200"/>
              </a:spcAft>
            </a:pPr>
            <a:r>
              <a:rPr lang="en-US" sz="2200" dirty="0" smtClean="0">
                <a:latin typeface="Helvetica" pitchFamily="34" charset="0"/>
              </a:rPr>
              <a:t>Poor personal hygiene practices</a:t>
            </a:r>
          </a:p>
          <a:p>
            <a:pPr marL="360000" indent="-360000">
              <a:spcBef>
                <a:spcPts val="600"/>
              </a:spcBef>
              <a:spcAft>
                <a:spcPts val="1200"/>
              </a:spcAft>
            </a:pPr>
            <a:r>
              <a:rPr lang="en-US" sz="2200" dirty="0" smtClean="0">
                <a:latin typeface="Helvetica" pitchFamily="34" charset="0"/>
              </a:rPr>
              <a:t>Poor food handling practices</a:t>
            </a:r>
          </a:p>
          <a:p>
            <a:pPr marL="360000" indent="-360000">
              <a:spcBef>
                <a:spcPts val="600"/>
              </a:spcBef>
              <a:spcAft>
                <a:spcPts val="1200"/>
              </a:spcAft>
            </a:pPr>
            <a:r>
              <a:rPr lang="en-US" sz="2200" dirty="0" smtClean="0">
                <a:latin typeface="Helvetica" pitchFamily="34" charset="0"/>
              </a:rPr>
              <a:t>Poor cleaning practices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5" name="Picture 4" descr="C:\Documents and Settings\danielc\Desktop\Apply safety proc handling food images\316936_kitchen.jpg"/>
          <p:cNvPicPr/>
          <p:nvPr/>
        </p:nvPicPr>
        <p:blipFill>
          <a:blip r:embed="rId3" cstate="print"/>
          <a:srcRect/>
          <a:stretch>
            <a:fillRect/>
          </a:stretch>
        </p:blipFill>
        <p:spPr bwMode="auto">
          <a:xfrm>
            <a:off x="5375128" y="1828800"/>
            <a:ext cx="2346554" cy="1752600"/>
          </a:xfrm>
          <a:prstGeom prst="rect">
            <a:avLst/>
          </a:prstGeom>
          <a:noFill/>
          <a:ln w="9525">
            <a:noFill/>
            <a:miter lim="800000"/>
            <a:headEnd/>
            <a:tailEnd/>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monitor areas of risk in individual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Practices which do not align or comply with FSP requirements</a:t>
            </a:r>
          </a:p>
          <a:p>
            <a:pPr marL="360000" indent="-360000">
              <a:spcBef>
                <a:spcPts val="600"/>
              </a:spcBef>
              <a:spcAft>
                <a:spcPts val="1200"/>
              </a:spcAft>
            </a:pPr>
            <a:r>
              <a:rPr lang="en-US" sz="2200" dirty="0" smtClean="0">
                <a:latin typeface="Helvetica" pitchFamily="34" charset="0"/>
              </a:rPr>
              <a:t>Out-of-date practices</a:t>
            </a:r>
          </a:p>
          <a:p>
            <a:pPr marL="360000" indent="-360000">
              <a:spcBef>
                <a:spcPts val="600"/>
              </a:spcBef>
              <a:spcAft>
                <a:spcPts val="1200"/>
              </a:spcAft>
            </a:pPr>
            <a:r>
              <a:rPr lang="en-US" sz="2200" dirty="0" smtClean="0">
                <a:latin typeface="Helvetica" pitchFamily="34" charset="0"/>
              </a:rPr>
              <a:t>Use of damaged equipment</a:t>
            </a:r>
          </a:p>
          <a:p>
            <a:pPr marL="360000" indent="-360000">
              <a:spcBef>
                <a:spcPts val="600"/>
              </a:spcBef>
              <a:spcAft>
                <a:spcPts val="1200"/>
              </a:spcAft>
            </a:pPr>
            <a:r>
              <a:rPr lang="en-US" sz="2200" dirty="0" smtClean="0">
                <a:latin typeface="Helvetica" pitchFamily="34" charset="0"/>
              </a:rPr>
              <a:t>Staff without proper training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38914" name="Picture 2" descr="C:\Documents and Settings\danielc\Desktop\Apply safety proc handling food images\clip_image0043.jpg"/>
          <p:cNvPicPr>
            <a:picLocks noChangeAspect="1" noChangeArrowheads="1"/>
          </p:cNvPicPr>
          <p:nvPr/>
        </p:nvPicPr>
        <p:blipFill>
          <a:blip r:embed="rId3" cstate="print">
            <a:grayscl/>
          </a:blip>
          <a:srcRect/>
          <a:stretch>
            <a:fillRect/>
          </a:stretch>
        </p:blipFill>
        <p:spPr bwMode="auto">
          <a:xfrm>
            <a:off x="5562600" y="2362200"/>
            <a:ext cx="2235201" cy="1676400"/>
          </a:xfrm>
          <a:prstGeom prst="rect">
            <a:avLst/>
          </a:prstGeom>
          <a:noFill/>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monitor areas of risk in individual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Possible impact of poor food handling practices on customers:</a:t>
            </a:r>
          </a:p>
          <a:p>
            <a:pPr marL="360000" indent="-360000">
              <a:spcBef>
                <a:spcPts val="600"/>
              </a:spcBef>
              <a:spcAft>
                <a:spcPts val="1200"/>
              </a:spcAft>
            </a:pPr>
            <a:r>
              <a:rPr lang="en-US" sz="2200" dirty="0" smtClean="0">
                <a:latin typeface="Helvetica" pitchFamily="34" charset="0"/>
              </a:rPr>
              <a:t>Food poisoning</a:t>
            </a:r>
          </a:p>
          <a:p>
            <a:pPr marL="360000" indent="-360000">
              <a:spcBef>
                <a:spcPts val="600"/>
              </a:spcBef>
              <a:spcAft>
                <a:spcPts val="1200"/>
              </a:spcAft>
            </a:pPr>
            <a:r>
              <a:rPr lang="en-US" sz="2200" dirty="0" smtClean="0">
                <a:latin typeface="Helvetica" pitchFamily="34" charset="0"/>
              </a:rPr>
              <a:t>Death</a:t>
            </a:r>
          </a:p>
          <a:p>
            <a:pPr marL="360000" indent="-360000">
              <a:spcBef>
                <a:spcPts val="600"/>
              </a:spcBef>
              <a:spcAft>
                <a:spcPts val="1200"/>
              </a:spcAft>
              <a:buNone/>
            </a:pPr>
            <a:r>
              <a:rPr lang="en-US" sz="2200" dirty="0" smtClean="0">
                <a:latin typeface="Helvetica" pitchFamily="34" charset="0"/>
              </a:rPr>
              <a:t>People most ‘at risk’ are:</a:t>
            </a:r>
          </a:p>
          <a:p>
            <a:pPr marL="360000" indent="-360000">
              <a:spcBef>
                <a:spcPts val="600"/>
              </a:spcBef>
              <a:spcAft>
                <a:spcPts val="1200"/>
              </a:spcAft>
            </a:pPr>
            <a:r>
              <a:rPr lang="en-US" sz="2200" dirty="0" smtClean="0">
                <a:latin typeface="Helvetica" pitchFamily="34" charset="0"/>
              </a:rPr>
              <a:t>The very young</a:t>
            </a:r>
          </a:p>
          <a:p>
            <a:pPr marL="360000" indent="-360000">
              <a:spcBef>
                <a:spcPts val="600"/>
              </a:spcBef>
              <a:spcAft>
                <a:spcPts val="1200"/>
              </a:spcAft>
            </a:pPr>
            <a:r>
              <a:rPr lang="en-US" sz="2200" dirty="0" smtClean="0">
                <a:latin typeface="Helvetica" pitchFamily="34" charset="0"/>
              </a:rPr>
              <a:t>The very old</a:t>
            </a:r>
          </a:p>
          <a:p>
            <a:pPr marL="360000" indent="-360000">
              <a:spcBef>
                <a:spcPts val="600"/>
              </a:spcBef>
              <a:spcAft>
                <a:spcPts val="1200"/>
              </a:spcAft>
            </a:pPr>
            <a:r>
              <a:rPr lang="en-US" sz="2200" dirty="0" smtClean="0">
                <a:latin typeface="Helvetica" pitchFamily="34" charset="0"/>
              </a:rPr>
              <a:t>Those who are already sick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39938" name="Picture 2" descr="C:\Documents and Settings\danielc\Desktop\Apply safety proc handling food images\stomach-ache-t14815.jpg"/>
          <p:cNvPicPr>
            <a:picLocks noChangeAspect="1" noChangeArrowheads="1"/>
          </p:cNvPicPr>
          <p:nvPr/>
        </p:nvPicPr>
        <p:blipFill>
          <a:blip r:embed="rId3" cstate="print">
            <a:duotone>
              <a:schemeClr val="accent2">
                <a:shade val="45000"/>
                <a:satMod val="135000"/>
              </a:schemeClr>
              <a:prstClr val="white"/>
            </a:duotone>
          </a:blip>
          <a:srcRect/>
          <a:stretch>
            <a:fillRect/>
          </a:stretch>
        </p:blipFill>
        <p:spPr bwMode="auto">
          <a:xfrm rot="5400000">
            <a:off x="5845431" y="2384169"/>
            <a:ext cx="1974186" cy="2844648"/>
          </a:xfrm>
          <a:prstGeom prst="rect">
            <a:avLst/>
          </a:prstGeom>
          <a:noFill/>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monitor areas of risk in individual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Impact of poor organizational practice on business:</a:t>
            </a:r>
          </a:p>
          <a:p>
            <a:pPr marL="360000" indent="-360000">
              <a:spcBef>
                <a:spcPts val="600"/>
              </a:spcBef>
              <a:spcAft>
                <a:spcPts val="1200"/>
              </a:spcAft>
            </a:pPr>
            <a:r>
              <a:rPr lang="en-US" sz="2200" dirty="0" smtClean="0">
                <a:latin typeface="Helvetica" pitchFamily="34" charset="0"/>
              </a:rPr>
              <a:t>Fines</a:t>
            </a:r>
          </a:p>
          <a:p>
            <a:pPr marL="360000" indent="-360000">
              <a:spcBef>
                <a:spcPts val="600"/>
              </a:spcBef>
              <a:spcAft>
                <a:spcPts val="1200"/>
              </a:spcAft>
            </a:pPr>
            <a:r>
              <a:rPr lang="en-US" sz="2200" dirty="0" smtClean="0">
                <a:latin typeface="Helvetica" pitchFamily="34" charset="0"/>
              </a:rPr>
              <a:t>Temporary or permanent closure</a:t>
            </a:r>
          </a:p>
          <a:p>
            <a:pPr marL="360000" indent="-360000">
              <a:spcBef>
                <a:spcPts val="600"/>
              </a:spcBef>
              <a:spcAft>
                <a:spcPts val="1200"/>
              </a:spcAft>
            </a:pPr>
            <a:r>
              <a:rPr lang="en-US" sz="2200" dirty="0" smtClean="0">
                <a:latin typeface="Helvetica" pitchFamily="34" charset="0"/>
              </a:rPr>
              <a:t>Jail</a:t>
            </a:r>
          </a:p>
          <a:p>
            <a:pPr marL="360000" indent="-360000">
              <a:spcBef>
                <a:spcPts val="600"/>
              </a:spcBef>
              <a:spcAft>
                <a:spcPts val="1200"/>
              </a:spcAft>
            </a:pPr>
            <a:r>
              <a:rPr lang="en-US" sz="2200" dirty="0" smtClean="0">
                <a:latin typeface="Helvetica" pitchFamily="34" charset="0"/>
              </a:rPr>
              <a:t>Being sued</a:t>
            </a:r>
          </a:p>
          <a:p>
            <a:pPr marL="360000" indent="-360000">
              <a:spcBef>
                <a:spcPts val="600"/>
              </a:spcBef>
              <a:spcAft>
                <a:spcPts val="1200"/>
              </a:spcAft>
            </a:pPr>
            <a:r>
              <a:rPr lang="en-US" sz="2200" dirty="0" smtClean="0">
                <a:latin typeface="Helvetica" pitchFamily="34" charset="0"/>
              </a:rPr>
              <a:t>Bad media exposure</a:t>
            </a:r>
          </a:p>
          <a:p>
            <a:pPr marL="360000" indent="-360000">
              <a:spcBef>
                <a:spcPts val="600"/>
              </a:spcBef>
              <a:spcAft>
                <a:spcPts val="1200"/>
              </a:spcAft>
            </a:pPr>
            <a:r>
              <a:rPr lang="en-US" sz="2200" dirty="0" smtClean="0">
                <a:latin typeface="Helvetica" pitchFamily="34" charset="0"/>
              </a:rPr>
              <a:t>Loss of jobs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40962" name="Picture 2" descr="C:\Documents and Settings\danielc\Local Settings\Temporary Internet Files\Content.IE5\SIQ5KRQ3\MC900391034[1].wmf"/>
          <p:cNvPicPr>
            <a:picLocks noChangeAspect="1" noChangeArrowheads="1"/>
          </p:cNvPicPr>
          <p:nvPr/>
        </p:nvPicPr>
        <p:blipFill>
          <a:blip r:embed="rId3" cstate="print"/>
          <a:srcRect/>
          <a:stretch>
            <a:fillRect/>
          </a:stretch>
        </p:blipFill>
        <p:spPr bwMode="auto">
          <a:xfrm>
            <a:off x="6400800" y="2667000"/>
            <a:ext cx="1438784" cy="1752600"/>
          </a:xfrm>
          <a:prstGeom prst="rect">
            <a:avLst/>
          </a:prstGeom>
          <a:noFill/>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monitor areas of risk in individual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4623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Ways to identify ‘out of control’ situations:</a:t>
            </a:r>
          </a:p>
          <a:p>
            <a:pPr marL="360000" indent="-360000">
              <a:spcBef>
                <a:spcPts val="600"/>
              </a:spcBef>
              <a:spcAft>
                <a:spcPts val="1200"/>
              </a:spcAft>
            </a:pPr>
            <a:r>
              <a:rPr lang="en-US" sz="2200" dirty="0" smtClean="0">
                <a:latin typeface="Helvetica" pitchFamily="34" charset="0"/>
              </a:rPr>
              <a:t>Constant vigilance</a:t>
            </a:r>
          </a:p>
          <a:p>
            <a:pPr marL="360000" indent="-360000">
              <a:spcBef>
                <a:spcPts val="600"/>
              </a:spcBef>
              <a:spcAft>
                <a:spcPts val="1200"/>
              </a:spcAft>
            </a:pPr>
            <a:r>
              <a:rPr lang="en-US" sz="2200" dirty="0" smtClean="0">
                <a:latin typeface="Helvetica" pitchFamily="34" charset="0"/>
              </a:rPr>
              <a:t>Regular workplace inspections</a:t>
            </a:r>
          </a:p>
          <a:p>
            <a:pPr marL="360000" indent="-360000">
              <a:spcBef>
                <a:spcPts val="600"/>
              </a:spcBef>
              <a:spcAft>
                <a:spcPts val="1200"/>
              </a:spcAft>
            </a:pPr>
            <a:r>
              <a:rPr lang="en-US" sz="2200" dirty="0" smtClean="0">
                <a:latin typeface="Helvetica" pitchFamily="34" charset="0"/>
              </a:rPr>
              <a:t>Raising and maintaining awareness</a:t>
            </a:r>
          </a:p>
          <a:p>
            <a:pPr marL="360000" indent="-360000">
              <a:spcBef>
                <a:spcPts val="600"/>
              </a:spcBef>
              <a:spcAft>
                <a:spcPts val="1200"/>
              </a:spcAft>
            </a:pPr>
            <a:r>
              <a:rPr lang="en-US" sz="2200" dirty="0" smtClean="0">
                <a:latin typeface="Helvetica" pitchFamily="34" charset="0"/>
              </a:rPr>
              <a:t>Personal observation</a:t>
            </a:r>
          </a:p>
          <a:p>
            <a:pPr marL="360000" indent="-360000">
              <a:spcBef>
                <a:spcPts val="600"/>
              </a:spcBef>
              <a:spcAft>
                <a:spcPts val="1200"/>
              </a:spcAft>
            </a:pPr>
            <a:r>
              <a:rPr lang="en-US" sz="2200" dirty="0" smtClean="0">
                <a:latin typeface="Helvetica" pitchFamily="34" charset="0"/>
              </a:rPr>
              <a:t>Undertaking formal audits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41986" name="Picture 2" descr="C:\Documents and Settings\danielc\Desktop\Apply safety proc handling food images\freeimage-1359153.jpg"/>
          <p:cNvPicPr>
            <a:picLocks noChangeAspect="1" noChangeArrowheads="1"/>
          </p:cNvPicPr>
          <p:nvPr/>
        </p:nvPicPr>
        <p:blipFill>
          <a:blip r:embed="rId3" cstate="print"/>
          <a:srcRect l="8076"/>
          <a:stretch>
            <a:fillRect/>
          </a:stretch>
        </p:blipFill>
        <p:spPr bwMode="auto">
          <a:xfrm>
            <a:off x="5562600" y="2133600"/>
            <a:ext cx="2601996" cy="1882775"/>
          </a:xfrm>
          <a:prstGeom prst="rect">
            <a:avLst/>
          </a:prstGeom>
          <a:noFill/>
        </p:spPr>
      </p:pic>
      <p:pic>
        <p:nvPicPr>
          <p:cNvPr id="6" name="Picture 5" descr="shutterstock_92612761.jpg"/>
          <p:cNvPicPr/>
          <p:nvPr/>
        </p:nvPicPr>
        <p:blipFill>
          <a:blip r:embed="rId4" cstate="print"/>
          <a:stretch>
            <a:fillRect/>
          </a:stretch>
        </p:blipFill>
        <p:spPr>
          <a:xfrm>
            <a:off x="5562600" y="2133600"/>
            <a:ext cx="914400" cy="904763"/>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a:t>
            </a:r>
          </a:p>
          <a:p>
            <a:pPr marL="360000" indent="-360000">
              <a:spcBef>
                <a:spcPts val="600"/>
              </a:spcBef>
              <a:spcAft>
                <a:spcPts val="1200"/>
              </a:spcAft>
            </a:pPr>
            <a:r>
              <a:rPr lang="en-US" sz="2200" dirty="0" smtClean="0">
                <a:latin typeface="Helvetica" pitchFamily="34" charset="0"/>
              </a:rPr>
              <a:t>Will depend on the identified risk or hazard</a:t>
            </a:r>
          </a:p>
          <a:p>
            <a:pPr marL="360000" indent="-360000">
              <a:spcBef>
                <a:spcPts val="600"/>
              </a:spcBef>
              <a:spcAft>
                <a:spcPts val="1200"/>
              </a:spcAft>
            </a:pPr>
            <a:r>
              <a:rPr lang="en-US" sz="2200" dirty="0" smtClean="0">
                <a:latin typeface="Helvetica" pitchFamily="34" charset="0"/>
              </a:rPr>
              <a:t>Must be taken to address out-of-control situations </a:t>
            </a:r>
          </a:p>
          <a:p>
            <a:pPr marL="360000" indent="-360000">
              <a:spcBef>
                <a:spcPts val="600"/>
              </a:spcBef>
              <a:spcAft>
                <a:spcPts val="1200"/>
              </a:spcAft>
            </a:pPr>
            <a:r>
              <a:rPr lang="en-US" sz="2200" dirty="0" smtClean="0">
                <a:latin typeface="Helvetica" pitchFamily="34" charset="0"/>
              </a:rPr>
              <a:t>Must be recorded on a CAR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43010" name="Picture 2" descr="C:\Documents and Settings\danielc\Local Settings\Temporary Internet Files\Content.IE5\SIQ5KRQ3\MC900047792[1].wmf"/>
          <p:cNvPicPr>
            <a:picLocks noChangeAspect="1" noChangeArrowheads="1"/>
          </p:cNvPicPr>
          <p:nvPr/>
        </p:nvPicPr>
        <p:blipFill>
          <a:blip r:embed="rId3" cstate="print"/>
          <a:srcRect/>
          <a:stretch>
            <a:fillRect/>
          </a:stretch>
        </p:blipFill>
        <p:spPr bwMode="auto">
          <a:xfrm>
            <a:off x="5638800" y="3429000"/>
            <a:ext cx="1830629" cy="1830629"/>
          </a:xfrm>
          <a:prstGeom prst="rect">
            <a:avLst/>
          </a:prstGeom>
          <a:noFill/>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CARs:</a:t>
            </a:r>
          </a:p>
          <a:p>
            <a:pPr marL="360000" indent="-360000">
              <a:spcBef>
                <a:spcPts val="600"/>
              </a:spcBef>
              <a:spcAft>
                <a:spcPts val="1200"/>
              </a:spcAft>
            </a:pPr>
            <a:r>
              <a:rPr lang="en-US" sz="2200" dirty="0" smtClean="0">
                <a:latin typeface="Helvetica" pitchFamily="34" charset="0"/>
              </a:rPr>
              <a:t>Will contain all details of the out-of-control situation which was addressed</a:t>
            </a:r>
          </a:p>
          <a:p>
            <a:pPr marL="360000" indent="-360000">
              <a:spcBef>
                <a:spcPts val="600"/>
              </a:spcBef>
              <a:spcAft>
                <a:spcPts val="1200"/>
              </a:spcAft>
            </a:pPr>
            <a:r>
              <a:rPr lang="en-US" sz="2200" dirty="0" smtClean="0">
                <a:latin typeface="Helvetica" pitchFamily="34" charset="0"/>
              </a:rPr>
              <a:t>Will identify any food products involved</a:t>
            </a:r>
          </a:p>
          <a:p>
            <a:pPr marL="360000" indent="-360000">
              <a:spcBef>
                <a:spcPts val="600"/>
              </a:spcBef>
              <a:spcAft>
                <a:spcPts val="1200"/>
              </a:spcAft>
            </a:pPr>
            <a:r>
              <a:rPr lang="en-US" sz="2200" dirty="0" smtClean="0">
                <a:latin typeface="Helvetica" pitchFamily="34" charset="0"/>
              </a:rPr>
              <a:t>Will list the corrective action taken</a:t>
            </a:r>
          </a:p>
          <a:p>
            <a:pPr marL="360000" indent="-360000">
              <a:spcBef>
                <a:spcPts val="600"/>
              </a:spcBef>
              <a:spcAft>
                <a:spcPts val="1200"/>
              </a:spcAft>
            </a:pPr>
            <a:r>
              <a:rPr lang="en-US" sz="2200" dirty="0" smtClean="0">
                <a:latin typeface="Helvetica" pitchFamily="34" charset="0"/>
              </a:rPr>
              <a:t>Must not be seen as an admission of guilt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44034" name="Picture 2" descr="C:\Documents and Settings\danielc\Local Settings\Temporary Internet Files\Content.IE5\UMECW9PM\MC900105192[1].wmf"/>
          <p:cNvPicPr>
            <a:picLocks noChangeAspect="1" noChangeArrowheads="1"/>
          </p:cNvPicPr>
          <p:nvPr/>
        </p:nvPicPr>
        <p:blipFill>
          <a:blip r:embed="rId3" cstate="print"/>
          <a:srcRect/>
          <a:stretch>
            <a:fillRect/>
          </a:stretch>
        </p:blipFill>
        <p:spPr bwMode="auto">
          <a:xfrm>
            <a:off x="6553200" y="2895600"/>
            <a:ext cx="1814170" cy="1376172"/>
          </a:xfrm>
          <a:prstGeom prst="rect">
            <a:avLst/>
          </a:prstGeom>
          <a:noFill/>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‘Scope of authority’:</a:t>
            </a:r>
          </a:p>
          <a:p>
            <a:pPr marL="360000" indent="-360000">
              <a:spcBef>
                <a:spcPts val="600"/>
              </a:spcBef>
              <a:spcAft>
                <a:spcPts val="1200"/>
              </a:spcAft>
            </a:pPr>
            <a:r>
              <a:rPr lang="en-US" sz="2200" dirty="0" smtClean="0">
                <a:latin typeface="Helvetica" pitchFamily="34" charset="0"/>
              </a:rPr>
              <a:t>Your ability to make decisions and take action without needing to refer to anyone else</a:t>
            </a:r>
          </a:p>
          <a:p>
            <a:pPr marL="360000" indent="-360000">
              <a:spcBef>
                <a:spcPts val="600"/>
              </a:spcBef>
              <a:spcAft>
                <a:spcPts val="1200"/>
              </a:spcAft>
            </a:pPr>
            <a:r>
              <a:rPr lang="en-US" sz="2200" dirty="0" smtClean="0">
                <a:latin typeface="Helvetica" pitchFamily="34" charset="0"/>
              </a:rPr>
              <a:t>If you identify a hazard, risk or out-of-control situation which is outside your personal scope of authority you must report and refer it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45058" name="Picture 2" descr="C:\Documents and Settings\danielc\Desktop\Apply safety proc handling food images\1348197_self.jpg"/>
          <p:cNvPicPr>
            <a:picLocks noChangeAspect="1" noChangeArrowheads="1"/>
          </p:cNvPicPr>
          <p:nvPr/>
        </p:nvPicPr>
        <p:blipFill>
          <a:blip r:embed="rId3" cstate="print"/>
          <a:srcRect/>
          <a:stretch>
            <a:fillRect/>
          </a:stretch>
        </p:blipFill>
        <p:spPr bwMode="auto">
          <a:xfrm>
            <a:off x="3886200" y="4114800"/>
            <a:ext cx="1422400" cy="2133600"/>
          </a:xfrm>
          <a:prstGeom prst="rect">
            <a:avLst/>
          </a:prstGeom>
          <a:noFill/>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9424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purchasing of food may include:</a:t>
            </a:r>
          </a:p>
          <a:p>
            <a:pPr marL="360000" indent="-360000">
              <a:spcBef>
                <a:spcPts val="600"/>
              </a:spcBef>
              <a:spcAft>
                <a:spcPts val="1200"/>
              </a:spcAft>
            </a:pPr>
            <a:r>
              <a:rPr lang="en-US" sz="2200" dirty="0" smtClean="0">
                <a:latin typeface="Helvetica" pitchFamily="34" charset="0"/>
              </a:rPr>
              <a:t>Ensuring and obtaining proof suppliers are legitimate food suppliers</a:t>
            </a:r>
          </a:p>
          <a:p>
            <a:pPr marL="360000" indent="-360000">
              <a:spcBef>
                <a:spcPts val="600"/>
              </a:spcBef>
              <a:spcAft>
                <a:spcPts val="1200"/>
              </a:spcAft>
            </a:pPr>
            <a:r>
              <a:rPr lang="en-US" sz="2200" dirty="0" smtClean="0">
                <a:latin typeface="Helvetica" pitchFamily="34" charset="0"/>
              </a:rPr>
              <a:t>Adding new suppliers to your ‘Approved Suppliers List’</a:t>
            </a:r>
          </a:p>
          <a:p>
            <a:pPr marL="360000" indent="-360000">
              <a:spcBef>
                <a:spcPts val="600"/>
              </a:spcBef>
              <a:spcAft>
                <a:spcPts val="1200"/>
              </a:spcAft>
            </a:pPr>
            <a:r>
              <a:rPr lang="en-US" sz="2200" dirty="0" smtClean="0">
                <a:latin typeface="Helvetica" pitchFamily="34" charset="0"/>
              </a:rPr>
              <a:t>Preparing purchasing specifications for foodstuffs which suppliers must conform to</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46082" name="Picture 2" descr="C:\Documents and Settings\danielc\Local Settings\Temporary Internet Files\Content.IE5\3DV3UKH9\MP900448480[1].jpg"/>
          <p:cNvPicPr>
            <a:picLocks noChangeAspect="1" noChangeArrowheads="1"/>
          </p:cNvPicPr>
          <p:nvPr/>
        </p:nvPicPr>
        <p:blipFill>
          <a:blip r:embed="rId3" cstate="print"/>
          <a:srcRect/>
          <a:stretch>
            <a:fillRect/>
          </a:stretch>
        </p:blipFill>
        <p:spPr bwMode="auto">
          <a:xfrm>
            <a:off x="3028950" y="4495800"/>
            <a:ext cx="3086100" cy="2057400"/>
          </a:xfrm>
          <a:prstGeom prst="rect">
            <a:avLst/>
          </a:prstGeom>
          <a:noFill/>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20208"/>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receiving food may include:</a:t>
            </a:r>
          </a:p>
          <a:p>
            <a:pPr marL="360000" indent="-360000">
              <a:spcBef>
                <a:spcPts val="600"/>
              </a:spcBef>
              <a:spcAft>
                <a:spcPts val="1200"/>
              </a:spcAft>
            </a:pPr>
            <a:r>
              <a:rPr lang="en-US" sz="2200" dirty="0" smtClean="0">
                <a:latin typeface="Helvetica" pitchFamily="34" charset="0"/>
              </a:rPr>
              <a:t>Refuse or reject food:</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Which is not at the correct temperature unless supplier can prove to your satisfaction it has been at this temperature for 2 hours or less</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Not properly marked or identified</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Delivered in an unclean vehicle</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Mixed in with chemicals when delivered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5" name="Picture 4" descr="Delivery man.jpg"/>
          <p:cNvPicPr/>
          <p:nvPr/>
        </p:nvPicPr>
        <p:blipFill>
          <a:blip r:embed="rId3" cstate="print"/>
          <a:stretch>
            <a:fillRect/>
          </a:stretch>
        </p:blipFill>
        <p:spPr>
          <a:xfrm>
            <a:off x="6934200" y="3733800"/>
            <a:ext cx="1432447" cy="1828800"/>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9424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storage of dry food may include:</a:t>
            </a:r>
          </a:p>
          <a:p>
            <a:pPr marL="360000" indent="-360000">
              <a:spcBef>
                <a:spcPts val="600"/>
              </a:spcBef>
              <a:spcAft>
                <a:spcPts val="1200"/>
              </a:spcAft>
            </a:pPr>
            <a:r>
              <a:rPr lang="en-US" sz="2200" dirty="0" smtClean="0">
                <a:latin typeface="Helvetica" pitchFamily="34" charset="0"/>
              </a:rPr>
              <a:t>Respond to evidence of pest infestation</a:t>
            </a:r>
          </a:p>
          <a:p>
            <a:pPr marL="360000" indent="-360000">
              <a:spcBef>
                <a:spcPts val="600"/>
              </a:spcBef>
              <a:spcAft>
                <a:spcPts val="1200"/>
              </a:spcAft>
            </a:pPr>
            <a:r>
              <a:rPr lang="en-US" sz="2200" dirty="0" smtClean="0">
                <a:latin typeface="Helvetica" pitchFamily="34" charset="0"/>
              </a:rPr>
              <a:t>Discard contaminated food</a:t>
            </a:r>
          </a:p>
          <a:p>
            <a:pPr marL="360000" indent="-360000">
              <a:spcBef>
                <a:spcPts val="600"/>
              </a:spcBef>
              <a:spcAft>
                <a:spcPts val="1200"/>
              </a:spcAft>
            </a:pPr>
            <a:r>
              <a:rPr lang="en-US" sz="2200" dirty="0" smtClean="0">
                <a:latin typeface="Helvetica" pitchFamily="34" charset="0"/>
              </a:rPr>
              <a:t>Fix lighting, where required</a:t>
            </a:r>
          </a:p>
          <a:p>
            <a:pPr marL="360000" indent="-360000">
              <a:spcBef>
                <a:spcPts val="600"/>
              </a:spcBef>
              <a:spcAft>
                <a:spcPts val="1200"/>
              </a:spcAft>
            </a:pPr>
            <a:r>
              <a:rPr lang="en-US" sz="2200" dirty="0" smtClean="0">
                <a:latin typeface="Helvetica" pitchFamily="34" charset="0"/>
              </a:rPr>
              <a:t>Revamp stock control where out-of-date stock is found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47106" name="Picture 2" descr="I:\Overseas Projects\PHOTOS\2012\Culinary 2012\old_cans_on_a_shelf.jpg"/>
          <p:cNvPicPr>
            <a:picLocks noChangeAspect="1" noChangeArrowheads="1"/>
          </p:cNvPicPr>
          <p:nvPr/>
        </p:nvPicPr>
        <p:blipFill>
          <a:blip r:embed="rId3" cstate="print"/>
          <a:srcRect/>
          <a:stretch>
            <a:fillRect/>
          </a:stretch>
        </p:blipFill>
        <p:spPr bwMode="auto">
          <a:xfrm>
            <a:off x="3352800" y="4572000"/>
            <a:ext cx="2857500" cy="1704975"/>
          </a:xfrm>
          <a:prstGeom prst="rect">
            <a:avLst/>
          </a:prstGeom>
          <a:noFill/>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Allocate more space for dry goods storage</a:t>
            </a:r>
          </a:p>
          <a:p>
            <a:pPr marL="360000" indent="-360000">
              <a:spcBef>
                <a:spcPts val="600"/>
              </a:spcBef>
              <a:spcAft>
                <a:spcPts val="1200"/>
              </a:spcAft>
            </a:pPr>
            <a:r>
              <a:rPr lang="en-US" sz="2200" dirty="0" smtClean="0">
                <a:latin typeface="Helvetica" pitchFamily="34" charset="0"/>
              </a:rPr>
              <a:t>Train staff</a:t>
            </a:r>
          </a:p>
          <a:p>
            <a:pPr marL="360000" indent="-360000">
              <a:spcBef>
                <a:spcPts val="600"/>
              </a:spcBef>
              <a:spcAft>
                <a:spcPts val="1200"/>
              </a:spcAft>
            </a:pPr>
            <a:r>
              <a:rPr lang="en-US" sz="2200" dirty="0" smtClean="0">
                <a:latin typeface="Helvetica" pitchFamily="34" charset="0"/>
              </a:rPr>
              <a:t>Discard food with damaged packaging</a:t>
            </a:r>
          </a:p>
          <a:p>
            <a:pPr marL="360000" indent="-360000">
              <a:spcBef>
                <a:spcPts val="600"/>
              </a:spcBef>
              <a:spcAft>
                <a:spcPts val="1200"/>
              </a:spcAft>
            </a:pPr>
            <a:r>
              <a:rPr lang="en-US" sz="2200" dirty="0" smtClean="0">
                <a:latin typeface="Helvetica" pitchFamily="34" charset="0"/>
              </a:rPr>
              <a:t>Revise cleaning protocols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48130" name="Picture 2" descr="C:\Documents and Settings\danielc\Desktop\Apply safety proc handling food images\787340_cardboad_1.jpg"/>
          <p:cNvPicPr>
            <a:picLocks noChangeAspect="1" noChangeArrowheads="1"/>
          </p:cNvPicPr>
          <p:nvPr/>
        </p:nvPicPr>
        <p:blipFill>
          <a:blip r:embed="rId3" cstate="print">
            <a:lum contrast="20000"/>
          </a:blip>
          <a:srcRect/>
          <a:stretch>
            <a:fillRect/>
          </a:stretch>
        </p:blipFill>
        <p:spPr bwMode="auto">
          <a:xfrm>
            <a:off x="5791200" y="3221736"/>
            <a:ext cx="2476500" cy="1882140"/>
          </a:xfrm>
          <a:prstGeom prst="rect">
            <a:avLst/>
          </a:prstGeom>
          <a:noFill/>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storage of refrigerated food may include:</a:t>
            </a:r>
          </a:p>
          <a:p>
            <a:pPr marL="360000" indent="-360000">
              <a:spcBef>
                <a:spcPts val="600"/>
              </a:spcBef>
              <a:spcAft>
                <a:spcPts val="1200"/>
              </a:spcAft>
            </a:pPr>
            <a:r>
              <a:rPr lang="en-US" sz="2200" dirty="0" smtClean="0">
                <a:latin typeface="Helvetica" pitchFamily="34" charset="0"/>
              </a:rPr>
              <a:t>Discard food exceeding 2/4 rule</a:t>
            </a:r>
          </a:p>
          <a:p>
            <a:pPr marL="360000" indent="-360000">
              <a:spcBef>
                <a:spcPts val="600"/>
              </a:spcBef>
              <a:spcAft>
                <a:spcPts val="1200"/>
              </a:spcAft>
            </a:pPr>
            <a:r>
              <a:rPr lang="en-US" sz="2200" dirty="0" smtClean="0">
                <a:latin typeface="Helvetica" pitchFamily="34" charset="0"/>
              </a:rPr>
              <a:t>Discard food beyond ‘use by’ dates</a:t>
            </a:r>
          </a:p>
          <a:p>
            <a:pPr marL="360000" indent="-360000">
              <a:spcBef>
                <a:spcPts val="600"/>
              </a:spcBef>
              <a:spcAft>
                <a:spcPts val="1200"/>
              </a:spcAft>
            </a:pPr>
            <a:r>
              <a:rPr lang="en-US" sz="2200" dirty="0" smtClean="0">
                <a:latin typeface="Helvetica" pitchFamily="34" charset="0"/>
              </a:rPr>
              <a:t>Train staff</a:t>
            </a:r>
          </a:p>
          <a:p>
            <a:pPr marL="360000" indent="-360000">
              <a:spcBef>
                <a:spcPts val="600"/>
              </a:spcBef>
              <a:spcAft>
                <a:spcPts val="1200"/>
              </a:spcAft>
            </a:pPr>
            <a:r>
              <a:rPr lang="en-US" sz="2200" dirty="0" smtClean="0">
                <a:latin typeface="Helvetica" pitchFamily="34" charset="0"/>
              </a:rPr>
              <a:t>Call in refrigeration mechanic</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5427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6400800" y="2438400"/>
            <a:ext cx="1671638" cy="1337310"/>
          </a:xfrm>
          <a:prstGeom prst="rect">
            <a:avLst/>
          </a:prstGeom>
          <a:noFill/>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Discard contaminated food</a:t>
            </a:r>
          </a:p>
          <a:p>
            <a:pPr marL="360000" indent="-360000">
              <a:spcBef>
                <a:spcPts val="600"/>
              </a:spcBef>
              <a:spcAft>
                <a:spcPts val="1200"/>
              </a:spcAft>
            </a:pPr>
            <a:r>
              <a:rPr lang="en-US" sz="2200" dirty="0" smtClean="0">
                <a:latin typeface="Helvetica" pitchFamily="34" charset="0"/>
              </a:rPr>
              <a:t>Revamp stock control</a:t>
            </a:r>
          </a:p>
          <a:p>
            <a:pPr marL="360000" indent="-360000">
              <a:spcBef>
                <a:spcPts val="600"/>
              </a:spcBef>
              <a:spcAft>
                <a:spcPts val="1200"/>
              </a:spcAft>
            </a:pPr>
            <a:r>
              <a:rPr lang="en-US" sz="2200" dirty="0" smtClean="0">
                <a:latin typeface="Helvetica" pitchFamily="34" charset="0"/>
              </a:rPr>
              <a:t>Revamp cleaning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5410200" y="1752600"/>
            <a:ext cx="1671638" cy="1337310"/>
          </a:xfrm>
          <a:prstGeom prst="rect">
            <a:avLst/>
          </a:prstGeom>
          <a:noFill/>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Corrective action relating to storage of frozen food may include:</a:t>
            </a:r>
          </a:p>
          <a:p>
            <a:pPr marL="360000" indent="-360000">
              <a:spcBef>
                <a:spcPts val="600"/>
              </a:spcBef>
              <a:spcAft>
                <a:spcPts val="1200"/>
              </a:spcAft>
            </a:pPr>
            <a:r>
              <a:rPr lang="en-US" sz="2200" dirty="0" smtClean="0">
                <a:latin typeface="Helvetica" pitchFamily="34" charset="0"/>
              </a:rPr>
              <a:t>Thawed food  below 5˚C can be treated as refrigerated food</a:t>
            </a:r>
          </a:p>
          <a:p>
            <a:pPr marL="360000" indent="-360000">
              <a:spcBef>
                <a:spcPts val="600"/>
              </a:spcBef>
              <a:spcAft>
                <a:spcPts val="1200"/>
              </a:spcAft>
            </a:pPr>
            <a:r>
              <a:rPr lang="en-US" sz="2200" dirty="0" smtClean="0">
                <a:latin typeface="Helvetica" pitchFamily="34" charset="0"/>
              </a:rPr>
              <a:t>Food at 5˚C for 4 hours or less can be used if used immediately</a:t>
            </a:r>
          </a:p>
          <a:p>
            <a:pPr marL="360000" indent="-360000">
              <a:spcBef>
                <a:spcPts val="600"/>
              </a:spcBef>
              <a:spcAft>
                <a:spcPts val="1200"/>
              </a:spcAft>
            </a:pPr>
            <a:r>
              <a:rPr lang="en-US" sz="2200" dirty="0" smtClean="0">
                <a:latin typeface="Helvetica" pitchFamily="34" charset="0"/>
              </a:rPr>
              <a:t>Food at 5˚C+ for over 4 hours (or an indeterminate time) must be thrown out</a:t>
            </a:r>
          </a:p>
          <a:p>
            <a:pPr marL="360000" indent="-360000">
              <a:spcBef>
                <a:spcPts val="600"/>
              </a:spcBef>
              <a:spcAft>
                <a:spcPts val="1200"/>
              </a:spcAft>
            </a:pPr>
            <a:r>
              <a:rPr lang="en-US" sz="2200" dirty="0" smtClean="0">
                <a:latin typeface="Helvetica" pitchFamily="34" charset="0"/>
              </a:rPr>
              <a:t>Discard all food exceeding 2/4 rule</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6172200" y="4495800"/>
            <a:ext cx="1671638" cy="1337310"/>
          </a:xfrm>
          <a:prstGeom prst="rect">
            <a:avLst/>
          </a:prstGeom>
          <a:noFill/>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Discard food beyond use-by dates</a:t>
            </a:r>
          </a:p>
          <a:p>
            <a:pPr marL="360000" indent="-360000">
              <a:spcBef>
                <a:spcPts val="600"/>
              </a:spcBef>
              <a:spcAft>
                <a:spcPts val="1200"/>
              </a:spcAft>
            </a:pPr>
            <a:r>
              <a:rPr lang="en-US" sz="2200" dirty="0" smtClean="0">
                <a:latin typeface="Helvetica" pitchFamily="34" charset="0"/>
              </a:rPr>
              <a:t>Train staff as required</a:t>
            </a:r>
          </a:p>
          <a:p>
            <a:pPr marL="360000" indent="-360000">
              <a:spcBef>
                <a:spcPts val="600"/>
              </a:spcBef>
              <a:spcAft>
                <a:spcPts val="1200"/>
              </a:spcAft>
            </a:pPr>
            <a:r>
              <a:rPr lang="en-US" sz="2200" dirty="0" smtClean="0">
                <a:latin typeface="Helvetica" pitchFamily="34" charset="0"/>
              </a:rPr>
              <a:t>Call refrigeration mechanic</a:t>
            </a:r>
          </a:p>
          <a:p>
            <a:pPr marL="360000" indent="-360000">
              <a:spcBef>
                <a:spcPts val="600"/>
              </a:spcBef>
              <a:spcAft>
                <a:spcPts val="1200"/>
              </a:spcAft>
            </a:pPr>
            <a:r>
              <a:rPr lang="en-US" sz="2200" dirty="0" smtClean="0">
                <a:latin typeface="Helvetica" pitchFamily="34" charset="0"/>
              </a:rPr>
              <a:t>Discard contaminated food</a:t>
            </a:r>
          </a:p>
          <a:p>
            <a:pPr marL="360000" indent="-360000">
              <a:spcBef>
                <a:spcPts val="600"/>
              </a:spcBef>
              <a:spcAft>
                <a:spcPts val="1200"/>
              </a:spcAft>
            </a:pPr>
            <a:r>
              <a:rPr lang="en-US" sz="2200" dirty="0" smtClean="0">
                <a:latin typeface="Helvetica" pitchFamily="34" charset="0"/>
              </a:rPr>
              <a:t>Revamp cleaning and stock control and rotation procedures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6"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6096000" y="1905000"/>
            <a:ext cx="1671638" cy="1337310"/>
          </a:xfrm>
          <a:prstGeom prst="rect">
            <a:avLst/>
          </a:prstGeom>
          <a:noFill/>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044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thawing frozen food may include:</a:t>
            </a:r>
          </a:p>
          <a:p>
            <a:pPr marL="360000" indent="-360000">
              <a:spcBef>
                <a:spcPts val="600"/>
              </a:spcBef>
              <a:spcAft>
                <a:spcPts val="1200"/>
              </a:spcAft>
            </a:pPr>
            <a:r>
              <a:rPr lang="en-US" sz="2200" dirty="0" smtClean="0">
                <a:latin typeface="Helvetica" pitchFamily="34" charset="0"/>
              </a:rPr>
              <a:t>Train staff to thaw food before cooking</a:t>
            </a:r>
          </a:p>
          <a:p>
            <a:pPr marL="360000" indent="-360000">
              <a:spcBef>
                <a:spcPts val="600"/>
              </a:spcBef>
              <a:spcAft>
                <a:spcPts val="1200"/>
              </a:spcAft>
            </a:pPr>
            <a:r>
              <a:rPr lang="en-US" sz="2200" dirty="0" smtClean="0">
                <a:latin typeface="Helvetica" pitchFamily="34" charset="0"/>
              </a:rPr>
              <a:t>Train staff in acceptable thawing procedure options</a:t>
            </a:r>
          </a:p>
          <a:p>
            <a:pPr marL="360000" indent="-360000">
              <a:spcBef>
                <a:spcPts val="600"/>
              </a:spcBef>
              <a:spcAft>
                <a:spcPts val="1200"/>
              </a:spcAft>
            </a:pPr>
            <a:r>
              <a:rPr lang="en-US" sz="2200" dirty="0" smtClean="0">
                <a:latin typeface="Helvetica" pitchFamily="34" charset="0"/>
              </a:rPr>
              <a:t>Discard food exceeding 2/4 rule</a:t>
            </a:r>
          </a:p>
          <a:p>
            <a:pPr marL="360000" indent="-360000">
              <a:spcBef>
                <a:spcPts val="600"/>
              </a:spcBef>
              <a:spcAft>
                <a:spcPts val="1200"/>
              </a:spcAft>
            </a:pPr>
            <a:r>
              <a:rPr lang="en-US" sz="2200" dirty="0" smtClean="0">
                <a:latin typeface="Helvetica" pitchFamily="34" charset="0"/>
              </a:rPr>
              <a:t>Throw out food defrosted in unprotected</a:t>
            </a:r>
            <a:br>
              <a:rPr lang="en-US" sz="2200" dirty="0" smtClean="0">
                <a:latin typeface="Helvetica" pitchFamily="34" charset="0"/>
              </a:rPr>
            </a:br>
            <a:r>
              <a:rPr lang="en-US" sz="2200" dirty="0" smtClean="0">
                <a:latin typeface="Helvetica" pitchFamily="34" charset="0"/>
              </a:rPr>
              <a:t> condition</a:t>
            </a:r>
          </a:p>
          <a:p>
            <a:pPr marL="360000" indent="-360000">
              <a:spcBef>
                <a:spcPts val="600"/>
              </a:spcBef>
              <a:spcAft>
                <a:spcPts val="1200"/>
              </a:spcAft>
            </a:pPr>
            <a:r>
              <a:rPr lang="en-US" sz="2200" dirty="0" smtClean="0">
                <a:latin typeface="Helvetica" pitchFamily="34" charset="0"/>
              </a:rPr>
              <a:t>Train staff not to re-freeze product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6"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6553200" y="3810000"/>
            <a:ext cx="1671638" cy="1337310"/>
          </a:xfrm>
          <a:prstGeom prst="rect">
            <a:avLst/>
          </a:prstGeom>
          <a:noFill/>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preparing food may include:</a:t>
            </a:r>
          </a:p>
          <a:p>
            <a:pPr marL="360000" indent="-360000">
              <a:spcBef>
                <a:spcPts val="600"/>
              </a:spcBef>
              <a:spcAft>
                <a:spcPts val="1200"/>
              </a:spcAft>
            </a:pPr>
            <a:r>
              <a:rPr lang="en-US" sz="2200" dirty="0" smtClean="0">
                <a:latin typeface="Helvetica" pitchFamily="34" charset="0"/>
              </a:rPr>
              <a:t>Provide more time and resources</a:t>
            </a:r>
          </a:p>
          <a:p>
            <a:pPr marL="360000" indent="-360000">
              <a:spcBef>
                <a:spcPts val="600"/>
              </a:spcBef>
              <a:spcAft>
                <a:spcPts val="1200"/>
              </a:spcAft>
            </a:pPr>
            <a:r>
              <a:rPr lang="en-US" sz="2200" dirty="0" smtClean="0">
                <a:latin typeface="Helvetica" pitchFamily="34" charset="0"/>
              </a:rPr>
              <a:t>Place advisory reminder signs in workplace</a:t>
            </a:r>
          </a:p>
          <a:p>
            <a:pPr marL="360000" indent="-360000">
              <a:spcBef>
                <a:spcPts val="600"/>
              </a:spcBef>
              <a:spcAft>
                <a:spcPts val="1200"/>
              </a:spcAft>
            </a:pPr>
            <a:r>
              <a:rPr lang="en-US" sz="2200" dirty="0" smtClean="0">
                <a:latin typeface="Helvetica" pitchFamily="34" charset="0"/>
              </a:rPr>
              <a:t>Revamp procedures to reduce time food spends in Temperature Danger Zone</a:t>
            </a:r>
          </a:p>
          <a:p>
            <a:pPr marL="360000" indent="-360000">
              <a:spcBef>
                <a:spcPts val="600"/>
              </a:spcBef>
              <a:spcAft>
                <a:spcPts val="1200"/>
              </a:spcAft>
            </a:pPr>
            <a:r>
              <a:rPr lang="en-US" sz="2200" dirty="0" smtClean="0">
                <a:latin typeface="Helvetica" pitchFamily="34" charset="0"/>
              </a:rPr>
              <a:t>Improve stock rotation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4572000" y="4191000"/>
            <a:ext cx="1671638" cy="1337310"/>
          </a:xfrm>
          <a:prstGeom prst="rect">
            <a:avLst/>
          </a:prstGeom>
          <a:noFill/>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Apply 2/4 rule</a:t>
            </a:r>
          </a:p>
          <a:p>
            <a:pPr marL="360000" indent="-360000">
              <a:spcBef>
                <a:spcPts val="600"/>
              </a:spcBef>
              <a:spcAft>
                <a:spcPts val="1200"/>
              </a:spcAft>
            </a:pPr>
            <a:r>
              <a:rPr lang="en-US" sz="2200" dirty="0" smtClean="0">
                <a:latin typeface="Helvetica" pitchFamily="34" charset="0"/>
              </a:rPr>
              <a:t>Change cloths and swabs regularly</a:t>
            </a:r>
          </a:p>
          <a:p>
            <a:pPr marL="360000" indent="-360000">
              <a:spcBef>
                <a:spcPts val="600"/>
              </a:spcBef>
              <a:spcAft>
                <a:spcPts val="1200"/>
              </a:spcAft>
            </a:pPr>
            <a:r>
              <a:rPr lang="en-US" sz="2200" dirty="0" smtClean="0">
                <a:latin typeface="Helvetica" pitchFamily="34" charset="0"/>
              </a:rPr>
              <a:t>Monitor staff performance and actions</a:t>
            </a:r>
          </a:p>
          <a:p>
            <a:pPr marL="360000" indent="-360000">
              <a:spcBef>
                <a:spcPts val="600"/>
              </a:spcBef>
              <a:spcAft>
                <a:spcPts val="1200"/>
              </a:spcAft>
            </a:pPr>
            <a:r>
              <a:rPr lang="en-US" sz="2200" dirty="0" smtClean="0">
                <a:latin typeface="Helvetica" pitchFamily="34" charset="0"/>
              </a:rPr>
              <a:t>Train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6"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6172200" y="2057400"/>
            <a:ext cx="1671638" cy="1337310"/>
          </a:xfrm>
          <a:prstGeom prst="rect">
            <a:avLst/>
          </a:prstGeom>
          <a:noFill/>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cooking food may include:</a:t>
            </a:r>
          </a:p>
          <a:p>
            <a:pPr marL="360000" indent="-360000">
              <a:spcBef>
                <a:spcPts val="600"/>
              </a:spcBef>
              <a:spcAft>
                <a:spcPts val="1200"/>
              </a:spcAft>
            </a:pPr>
            <a:r>
              <a:rPr lang="en-US" sz="2200" dirty="0" smtClean="0">
                <a:latin typeface="Helvetica" pitchFamily="34" charset="0"/>
              </a:rPr>
              <a:t>Repair equipment when required</a:t>
            </a:r>
          </a:p>
          <a:p>
            <a:pPr marL="360000" indent="-360000">
              <a:spcBef>
                <a:spcPts val="600"/>
              </a:spcBef>
              <a:spcAft>
                <a:spcPts val="1200"/>
              </a:spcAft>
            </a:pPr>
            <a:r>
              <a:rPr lang="en-US" sz="2200" dirty="0" smtClean="0">
                <a:latin typeface="Helvetica" pitchFamily="34" charset="0"/>
              </a:rPr>
              <a:t>Cook smaller batches of food</a:t>
            </a:r>
          </a:p>
          <a:p>
            <a:pPr marL="360000" indent="-360000">
              <a:spcBef>
                <a:spcPts val="600"/>
              </a:spcBef>
              <a:spcAft>
                <a:spcPts val="1200"/>
              </a:spcAft>
            </a:pPr>
            <a:r>
              <a:rPr lang="en-US" sz="2200" dirty="0" smtClean="0">
                <a:latin typeface="Helvetica" pitchFamily="34" charset="0"/>
              </a:rPr>
              <a:t>Provide ‘tasting spoons’</a:t>
            </a:r>
          </a:p>
          <a:p>
            <a:pPr marL="360000" indent="-360000">
              <a:spcBef>
                <a:spcPts val="600"/>
              </a:spcBef>
              <a:spcAft>
                <a:spcPts val="1200"/>
              </a:spcAft>
            </a:pPr>
            <a:r>
              <a:rPr lang="en-US" sz="2200" dirty="0" smtClean="0">
                <a:latin typeface="Helvetica" pitchFamily="34" charset="0"/>
              </a:rPr>
              <a:t>Calibrate food thermometers regularly</a:t>
            </a:r>
          </a:p>
          <a:p>
            <a:pPr marL="360000" indent="-360000">
              <a:spcBef>
                <a:spcPts val="600"/>
              </a:spcBef>
              <a:spcAft>
                <a:spcPts val="1200"/>
              </a:spcAft>
            </a:pPr>
            <a:r>
              <a:rPr lang="en-US" sz="2200" dirty="0" smtClean="0">
                <a:latin typeface="Helvetica" pitchFamily="34" charset="0"/>
              </a:rPr>
              <a:t>Train staff</a:t>
            </a:r>
          </a:p>
          <a:p>
            <a:pPr marL="360000" indent="-360000">
              <a:spcBef>
                <a:spcPts val="600"/>
              </a:spcBef>
              <a:spcAft>
                <a:spcPts val="1200"/>
              </a:spcAft>
            </a:pPr>
            <a:r>
              <a:rPr lang="en-US" sz="2200" dirty="0" smtClean="0">
                <a:latin typeface="Helvetica" pitchFamily="34" charset="0"/>
              </a:rPr>
              <a:t>Cover food during cooking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6553200" y="3124200"/>
            <a:ext cx="1671638" cy="1337310"/>
          </a:xfrm>
          <a:prstGeom prst="rect">
            <a:avLst/>
          </a:prstGeom>
          <a:noFill/>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cooling hot food may include:</a:t>
            </a:r>
          </a:p>
          <a:p>
            <a:pPr marL="360000" indent="-360000">
              <a:spcBef>
                <a:spcPts val="600"/>
              </a:spcBef>
              <a:spcAft>
                <a:spcPts val="1200"/>
              </a:spcAft>
            </a:pPr>
            <a:r>
              <a:rPr lang="en-US" sz="2200" dirty="0" smtClean="0">
                <a:latin typeface="Helvetica" pitchFamily="34" charset="0"/>
              </a:rPr>
              <a:t>Use ice baths</a:t>
            </a:r>
          </a:p>
          <a:p>
            <a:pPr marL="360000" indent="-360000">
              <a:spcBef>
                <a:spcPts val="600"/>
              </a:spcBef>
              <a:spcAft>
                <a:spcPts val="1200"/>
              </a:spcAft>
            </a:pPr>
            <a:r>
              <a:rPr lang="en-US" sz="2200" dirty="0" smtClean="0">
                <a:latin typeface="Helvetica" pitchFamily="34" charset="0"/>
              </a:rPr>
              <a:t>Stir food</a:t>
            </a:r>
          </a:p>
          <a:p>
            <a:pPr marL="360000" indent="-360000">
              <a:spcBef>
                <a:spcPts val="600"/>
              </a:spcBef>
              <a:spcAft>
                <a:spcPts val="1200"/>
              </a:spcAft>
            </a:pPr>
            <a:r>
              <a:rPr lang="en-US" sz="2200" dirty="0" smtClean="0">
                <a:latin typeface="Helvetica" pitchFamily="34" charset="0"/>
              </a:rPr>
              <a:t>Cover food while cooling</a:t>
            </a:r>
          </a:p>
          <a:p>
            <a:pPr marL="360000" indent="-360000">
              <a:spcBef>
                <a:spcPts val="600"/>
              </a:spcBef>
              <a:spcAft>
                <a:spcPts val="1200"/>
              </a:spcAft>
            </a:pPr>
            <a:r>
              <a:rPr lang="en-US" sz="2200" dirty="0" smtClean="0">
                <a:latin typeface="Helvetica" pitchFamily="34" charset="0"/>
              </a:rPr>
              <a:t>Set alarms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6096000" y="2438400"/>
            <a:ext cx="1671638" cy="1337310"/>
          </a:xfrm>
          <a:prstGeom prst="rect">
            <a:avLst/>
          </a:prstGeom>
          <a:noFill/>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Notify other staff of products which are cooling at end-of-shift when “handing over”</a:t>
            </a:r>
          </a:p>
          <a:p>
            <a:pPr marL="360000" indent="-360000">
              <a:spcBef>
                <a:spcPts val="600"/>
              </a:spcBef>
              <a:spcAft>
                <a:spcPts val="1200"/>
              </a:spcAft>
            </a:pPr>
            <a:r>
              <a:rPr lang="en-US" sz="2200" dirty="0" smtClean="0">
                <a:latin typeface="Helvetica" pitchFamily="34" charset="0"/>
              </a:rPr>
              <a:t>Calibrate food thermometers regularly </a:t>
            </a:r>
          </a:p>
          <a:p>
            <a:pPr marL="360000" indent="-360000">
              <a:spcBef>
                <a:spcPts val="600"/>
              </a:spcBef>
              <a:spcAft>
                <a:spcPts val="1200"/>
              </a:spcAft>
            </a:pPr>
            <a:r>
              <a:rPr lang="en-US" sz="2200" dirty="0" smtClean="0">
                <a:latin typeface="Helvetica" pitchFamily="34" charset="0"/>
              </a:rPr>
              <a:t>Train staff</a:t>
            </a:r>
          </a:p>
          <a:p>
            <a:pPr marL="360000" indent="-360000">
              <a:spcBef>
                <a:spcPts val="600"/>
              </a:spcBef>
              <a:spcAft>
                <a:spcPts val="1200"/>
              </a:spcAft>
            </a:pPr>
            <a:r>
              <a:rPr lang="en-US" sz="2200" dirty="0" smtClean="0">
                <a:latin typeface="Helvetica" pitchFamily="34" charset="0"/>
              </a:rPr>
              <a:t>Use workplace signs to advise and remind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3657600" y="4419600"/>
            <a:ext cx="1671638" cy="1337310"/>
          </a:xfrm>
          <a:prstGeom prst="rect">
            <a:avLst/>
          </a:prstGeom>
          <a:noFill/>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storing and holding hot food may include:</a:t>
            </a:r>
          </a:p>
          <a:p>
            <a:pPr marL="360000" indent="-360000">
              <a:spcBef>
                <a:spcPts val="600"/>
              </a:spcBef>
              <a:spcAft>
                <a:spcPts val="1200"/>
              </a:spcAft>
            </a:pPr>
            <a:r>
              <a:rPr lang="en-US" sz="2200" dirty="0" smtClean="0">
                <a:latin typeface="Helvetica" pitchFamily="34" charset="0"/>
              </a:rPr>
              <a:t>Train staff</a:t>
            </a:r>
          </a:p>
          <a:p>
            <a:pPr marL="360000" indent="-360000">
              <a:spcBef>
                <a:spcPts val="600"/>
              </a:spcBef>
              <a:spcAft>
                <a:spcPts val="1200"/>
              </a:spcAft>
            </a:pPr>
            <a:r>
              <a:rPr lang="en-US" sz="2200" dirty="0" smtClean="0">
                <a:latin typeface="Helvetica" pitchFamily="34" charset="0"/>
              </a:rPr>
              <a:t>Revamp holding procedures to keep temperature above 60˚C</a:t>
            </a:r>
          </a:p>
          <a:p>
            <a:pPr marL="360000" indent="-360000">
              <a:spcBef>
                <a:spcPts val="600"/>
              </a:spcBef>
              <a:spcAft>
                <a:spcPts val="1200"/>
              </a:spcAft>
            </a:pPr>
            <a:r>
              <a:rPr lang="en-US" sz="2200" dirty="0" smtClean="0">
                <a:latin typeface="Helvetica" pitchFamily="34" charset="0"/>
              </a:rPr>
              <a:t>Check and service food holding units</a:t>
            </a:r>
          </a:p>
          <a:p>
            <a:pPr marL="360000" indent="-360000">
              <a:spcBef>
                <a:spcPts val="600"/>
              </a:spcBef>
              <a:spcAft>
                <a:spcPts val="1200"/>
              </a:spcAft>
            </a:pPr>
            <a:r>
              <a:rPr lang="en-US" sz="2200" dirty="0" smtClean="0">
                <a:latin typeface="Helvetica" pitchFamily="34" charset="0"/>
              </a:rPr>
              <a:t>Pre-heat food before placement into pre-heated display units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5867400" y="609600"/>
            <a:ext cx="985838" cy="788670"/>
          </a:xfrm>
          <a:prstGeom prst="rect">
            <a:avLst/>
          </a:prstGeom>
          <a:noFill/>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Check temperatures of food using calibrated food thermometer</a:t>
            </a:r>
          </a:p>
          <a:p>
            <a:pPr marL="360000" indent="-360000">
              <a:spcBef>
                <a:spcPts val="600"/>
              </a:spcBef>
              <a:spcAft>
                <a:spcPts val="1200"/>
              </a:spcAft>
            </a:pPr>
            <a:r>
              <a:rPr lang="en-US" sz="2200" dirty="0" smtClean="0">
                <a:latin typeface="Helvetica" pitchFamily="34" charset="0"/>
              </a:rPr>
              <a:t>Revise display protocols for food </a:t>
            </a:r>
          </a:p>
          <a:p>
            <a:pPr marL="360000" indent="-360000">
              <a:spcBef>
                <a:spcPts val="600"/>
              </a:spcBef>
              <a:spcAft>
                <a:spcPts val="1200"/>
              </a:spcAft>
            </a:pPr>
            <a:r>
              <a:rPr lang="en-US" sz="2200" dirty="0" smtClean="0">
                <a:latin typeface="Helvetica" pitchFamily="34" charset="0"/>
              </a:rPr>
              <a:t>Revamp times when holding units are switched ‘on’</a:t>
            </a:r>
          </a:p>
          <a:p>
            <a:pPr marL="360000" indent="-360000">
              <a:spcBef>
                <a:spcPts val="600"/>
              </a:spcBef>
              <a:spcAft>
                <a:spcPts val="1200"/>
              </a:spcAft>
            </a:pPr>
            <a:r>
              <a:rPr lang="en-US" sz="2200" dirty="0" smtClean="0">
                <a:latin typeface="Helvetica" pitchFamily="34" charset="0"/>
              </a:rPr>
              <a:t>Operate units at higher temperatures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6096000" y="3962400"/>
            <a:ext cx="1671638" cy="1337310"/>
          </a:xfrm>
          <a:prstGeom prst="rect">
            <a:avLst/>
          </a:prstGeom>
          <a:noFill/>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storing and holding cold food may include:</a:t>
            </a:r>
          </a:p>
          <a:p>
            <a:pPr marL="360000" indent="-360000">
              <a:spcBef>
                <a:spcPts val="600"/>
              </a:spcBef>
              <a:spcAft>
                <a:spcPts val="1200"/>
              </a:spcAft>
            </a:pPr>
            <a:r>
              <a:rPr lang="en-US" sz="2200" dirty="0" smtClean="0">
                <a:latin typeface="Helvetica" pitchFamily="34" charset="0"/>
              </a:rPr>
              <a:t>Train staff</a:t>
            </a:r>
          </a:p>
          <a:p>
            <a:pPr marL="360000" indent="-360000">
              <a:spcBef>
                <a:spcPts val="600"/>
              </a:spcBef>
              <a:spcAft>
                <a:spcPts val="1200"/>
              </a:spcAft>
            </a:pPr>
            <a:r>
              <a:rPr lang="en-US" sz="2200" dirty="0" smtClean="0">
                <a:latin typeface="Helvetica" pitchFamily="34" charset="0"/>
              </a:rPr>
              <a:t>Revamp holding procedures to keep temperature at or below 5˚C</a:t>
            </a:r>
          </a:p>
          <a:p>
            <a:pPr marL="360000" indent="-360000">
              <a:spcBef>
                <a:spcPts val="600"/>
              </a:spcBef>
              <a:spcAft>
                <a:spcPts val="1200"/>
              </a:spcAft>
            </a:pPr>
            <a:r>
              <a:rPr lang="en-US" sz="2200" dirty="0" smtClean="0">
                <a:latin typeface="Helvetica" pitchFamily="34" charset="0"/>
              </a:rPr>
              <a:t>Check and service food holding units</a:t>
            </a:r>
          </a:p>
          <a:p>
            <a:pPr marL="360000" indent="-360000">
              <a:spcBef>
                <a:spcPts val="600"/>
              </a:spcBef>
              <a:spcAft>
                <a:spcPts val="1200"/>
              </a:spcAft>
            </a:pPr>
            <a:r>
              <a:rPr lang="en-US" sz="2200" dirty="0" smtClean="0">
                <a:latin typeface="Helvetica" pitchFamily="34" charset="0"/>
              </a:rPr>
              <a:t>Ensure food is below 5˚C before placement into pre-chilled display units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5638800" y="457200"/>
            <a:ext cx="1138238" cy="910590"/>
          </a:xfrm>
          <a:prstGeom prst="rect">
            <a:avLst/>
          </a:prstGeom>
          <a:noFill/>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Check temperatures of food using calibrated food thermometer</a:t>
            </a:r>
          </a:p>
          <a:p>
            <a:pPr marL="360000" indent="-360000">
              <a:spcBef>
                <a:spcPts val="600"/>
              </a:spcBef>
              <a:spcAft>
                <a:spcPts val="1200"/>
              </a:spcAft>
            </a:pPr>
            <a:r>
              <a:rPr lang="en-US" sz="2200" dirty="0" smtClean="0">
                <a:latin typeface="Helvetica" pitchFamily="34" charset="0"/>
              </a:rPr>
              <a:t>Revise display protocols for food </a:t>
            </a:r>
          </a:p>
          <a:p>
            <a:pPr marL="360000" indent="-360000">
              <a:spcBef>
                <a:spcPts val="600"/>
              </a:spcBef>
              <a:spcAft>
                <a:spcPts val="1200"/>
              </a:spcAft>
            </a:pPr>
            <a:r>
              <a:rPr lang="en-US" sz="2200" dirty="0" smtClean="0">
                <a:latin typeface="Helvetica" pitchFamily="34" charset="0"/>
              </a:rPr>
              <a:t>Revamp times when holding units are switched ‘on’</a:t>
            </a:r>
          </a:p>
          <a:p>
            <a:pPr marL="360000" indent="-360000">
              <a:spcBef>
                <a:spcPts val="600"/>
              </a:spcBef>
              <a:spcAft>
                <a:spcPts val="1200"/>
              </a:spcAft>
            </a:pPr>
            <a:r>
              <a:rPr lang="en-US" sz="2200" dirty="0" smtClean="0">
                <a:latin typeface="Helvetica" pitchFamily="34" charset="0"/>
              </a:rPr>
              <a:t>Operate units at lower temperatures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3733800" y="4419600"/>
            <a:ext cx="1671638" cy="1337310"/>
          </a:xfrm>
          <a:prstGeom prst="rect">
            <a:avLst/>
          </a:prstGeom>
          <a:noFill/>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re-heating previously cooked  food may include:</a:t>
            </a:r>
          </a:p>
          <a:p>
            <a:pPr marL="360000" indent="-360000">
              <a:spcBef>
                <a:spcPts val="600"/>
              </a:spcBef>
              <a:spcAft>
                <a:spcPts val="1200"/>
              </a:spcAft>
            </a:pPr>
            <a:r>
              <a:rPr lang="en-US" sz="2200" dirty="0" smtClean="0">
                <a:latin typeface="Helvetica" pitchFamily="34" charset="0"/>
              </a:rPr>
              <a:t>Revamp re-heating procedures</a:t>
            </a:r>
          </a:p>
          <a:p>
            <a:pPr marL="360000" indent="-360000">
              <a:spcBef>
                <a:spcPts val="600"/>
              </a:spcBef>
              <a:spcAft>
                <a:spcPts val="1200"/>
              </a:spcAft>
            </a:pPr>
            <a:r>
              <a:rPr lang="en-US" sz="2200" dirty="0" smtClean="0">
                <a:latin typeface="Helvetica" pitchFamily="34" charset="0"/>
              </a:rPr>
              <a:t>Heat faster</a:t>
            </a:r>
          </a:p>
          <a:p>
            <a:pPr marL="360000" indent="-360000">
              <a:spcBef>
                <a:spcPts val="600"/>
              </a:spcBef>
              <a:spcAft>
                <a:spcPts val="1200"/>
              </a:spcAft>
            </a:pPr>
            <a:r>
              <a:rPr lang="en-US" sz="2200" dirty="0" smtClean="0">
                <a:latin typeface="Helvetica" pitchFamily="34" charset="0"/>
              </a:rPr>
              <a:t>Heat smaller portions</a:t>
            </a:r>
          </a:p>
          <a:p>
            <a:pPr marL="360000" indent="-360000">
              <a:spcBef>
                <a:spcPts val="600"/>
              </a:spcBef>
              <a:spcAft>
                <a:spcPts val="1200"/>
              </a:spcAft>
            </a:pPr>
            <a:r>
              <a:rPr lang="en-US" sz="2200" dirty="0" smtClean="0">
                <a:latin typeface="Helvetica" pitchFamily="34" charset="0"/>
              </a:rPr>
              <a:t>Discard incorrectly re-heated food</a:t>
            </a:r>
          </a:p>
          <a:p>
            <a:pPr marL="360000" indent="-360000">
              <a:spcBef>
                <a:spcPts val="600"/>
              </a:spcBef>
              <a:spcAft>
                <a:spcPts val="1200"/>
              </a:spcAft>
            </a:pPr>
            <a:r>
              <a:rPr lang="en-US" sz="2200" dirty="0" smtClean="0">
                <a:latin typeface="Helvetica" pitchFamily="34" charset="0"/>
              </a:rPr>
              <a:t>Train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6400800" y="2438400"/>
            <a:ext cx="1671638" cy="1337310"/>
          </a:xfrm>
          <a:prstGeom prst="rect">
            <a:avLst/>
          </a:prstGeom>
          <a:noFill/>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Corrective action relating to packaging food may include:</a:t>
            </a:r>
          </a:p>
          <a:p>
            <a:pPr marL="360000" indent="-360000">
              <a:spcBef>
                <a:spcPts val="600"/>
              </a:spcBef>
              <a:spcAft>
                <a:spcPts val="1200"/>
              </a:spcAft>
            </a:pPr>
            <a:r>
              <a:rPr lang="en-US" sz="2200" dirty="0" smtClean="0">
                <a:latin typeface="Helvetica" pitchFamily="34" charset="0"/>
              </a:rPr>
              <a:t>Discard dirty or damaged packaging</a:t>
            </a:r>
          </a:p>
          <a:p>
            <a:pPr marL="360000" indent="-360000">
              <a:spcBef>
                <a:spcPts val="600"/>
              </a:spcBef>
              <a:spcAft>
                <a:spcPts val="1200"/>
              </a:spcAft>
            </a:pPr>
            <a:r>
              <a:rPr lang="en-US" sz="2200" dirty="0" smtClean="0">
                <a:latin typeface="Helvetica" pitchFamily="34" charset="0"/>
              </a:rPr>
              <a:t>Service packaging equipment</a:t>
            </a:r>
          </a:p>
          <a:p>
            <a:pPr marL="360000" indent="-360000">
              <a:spcBef>
                <a:spcPts val="600"/>
              </a:spcBef>
              <a:spcAft>
                <a:spcPts val="1200"/>
              </a:spcAft>
            </a:pPr>
            <a:r>
              <a:rPr lang="en-US" sz="2200" dirty="0" smtClean="0">
                <a:latin typeface="Helvetica" pitchFamily="34" charset="0"/>
              </a:rPr>
              <a:t>Keep area clean</a:t>
            </a:r>
          </a:p>
          <a:p>
            <a:pPr marL="360000" indent="-360000">
              <a:spcBef>
                <a:spcPts val="600"/>
              </a:spcBef>
              <a:spcAft>
                <a:spcPts val="1200"/>
              </a:spcAft>
            </a:pPr>
            <a:r>
              <a:rPr lang="en-US" sz="2200" dirty="0" smtClean="0">
                <a:latin typeface="Helvetica" pitchFamily="34" charset="0"/>
              </a:rPr>
              <a:t>Ensure required cleaning of equipment is undertaken</a:t>
            </a:r>
          </a:p>
          <a:p>
            <a:pPr marL="360000" indent="-360000">
              <a:spcBef>
                <a:spcPts val="600"/>
              </a:spcBef>
              <a:spcAft>
                <a:spcPts val="1200"/>
              </a:spcAft>
            </a:pPr>
            <a:r>
              <a:rPr lang="en-US" sz="2200" dirty="0" smtClean="0">
                <a:latin typeface="Helvetica" pitchFamily="34" charset="0"/>
              </a:rPr>
              <a:t>Train staff</a:t>
            </a:r>
          </a:p>
          <a:p>
            <a:pPr marL="360000" indent="-360000">
              <a:spcBef>
                <a:spcPts val="600"/>
              </a:spcBef>
              <a:spcAft>
                <a:spcPts val="1200"/>
              </a:spcAft>
            </a:pPr>
            <a:r>
              <a:rPr lang="en-US" sz="2200" dirty="0" smtClean="0">
                <a:latin typeface="Helvetica" pitchFamily="34" charset="0"/>
              </a:rPr>
              <a:t>Modify labeling</a:t>
            </a:r>
          </a:p>
          <a:p>
            <a:pPr marL="360000" indent="-360000">
              <a:spcBef>
                <a:spcPts val="600"/>
              </a:spcBef>
              <a:spcAft>
                <a:spcPts val="1200"/>
              </a:spcAft>
            </a:pPr>
            <a:r>
              <a:rPr lang="en-US" sz="2200" dirty="0" smtClean="0">
                <a:latin typeface="Helvetica" pitchFamily="34" charset="0"/>
              </a:rPr>
              <a:t>Discard contaminated food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6324600" y="2209800"/>
            <a:ext cx="1524000" cy="1219200"/>
          </a:xfrm>
          <a:prstGeom prst="rect">
            <a:avLst/>
          </a:prstGeom>
          <a:noFill/>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food service may include:</a:t>
            </a:r>
          </a:p>
          <a:p>
            <a:pPr marL="360000" indent="-360000">
              <a:spcBef>
                <a:spcPts val="600"/>
              </a:spcBef>
              <a:spcAft>
                <a:spcPts val="1200"/>
              </a:spcAft>
            </a:pPr>
            <a:r>
              <a:rPr lang="en-US" sz="2200" dirty="0" smtClean="0">
                <a:latin typeface="Helvetica" pitchFamily="34" charset="0"/>
              </a:rPr>
              <a:t>Discard food exceeding 2/4 rule</a:t>
            </a:r>
          </a:p>
          <a:p>
            <a:pPr marL="360000" indent="-360000">
              <a:spcBef>
                <a:spcPts val="600"/>
              </a:spcBef>
              <a:spcAft>
                <a:spcPts val="1200"/>
              </a:spcAft>
            </a:pPr>
            <a:r>
              <a:rPr lang="en-US" sz="2200" dirty="0" smtClean="0">
                <a:latin typeface="Helvetica" pitchFamily="34" charset="0"/>
              </a:rPr>
              <a:t>Train staff</a:t>
            </a:r>
          </a:p>
          <a:p>
            <a:pPr marL="360000" indent="-360000">
              <a:spcBef>
                <a:spcPts val="600"/>
              </a:spcBef>
              <a:spcAft>
                <a:spcPts val="1200"/>
              </a:spcAft>
            </a:pPr>
            <a:r>
              <a:rPr lang="en-US" sz="2200" dirty="0" smtClean="0">
                <a:latin typeface="Helvetica" pitchFamily="34" charset="0"/>
              </a:rPr>
              <a:t>Purchase sufficient equipment and utensils</a:t>
            </a:r>
          </a:p>
          <a:p>
            <a:pPr marL="360000" indent="-360000">
              <a:spcBef>
                <a:spcPts val="600"/>
              </a:spcBef>
              <a:spcAft>
                <a:spcPts val="1200"/>
              </a:spcAft>
            </a:pPr>
            <a:r>
              <a:rPr lang="en-US" sz="2200" dirty="0" smtClean="0">
                <a:latin typeface="Helvetica" pitchFamily="34" charset="0"/>
              </a:rPr>
              <a:t>Maintain and service holding equipment</a:t>
            </a:r>
          </a:p>
          <a:p>
            <a:pPr marL="360000" indent="-360000">
              <a:spcBef>
                <a:spcPts val="600"/>
              </a:spcBef>
              <a:spcAft>
                <a:spcPts val="1200"/>
              </a:spcAft>
            </a:pPr>
            <a:r>
              <a:rPr lang="en-US" sz="2200" dirty="0" smtClean="0">
                <a:latin typeface="Helvetica" pitchFamily="34" charset="0"/>
              </a:rPr>
              <a:t>Alter holding temperatures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151</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6400800" y="2438400"/>
            <a:ext cx="1671638" cy="1337310"/>
          </a:xfrm>
          <a:prstGeom prst="rect">
            <a:avLst/>
          </a:prstGeom>
          <a:noFill/>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self-service of food may include:</a:t>
            </a:r>
          </a:p>
          <a:p>
            <a:pPr marL="360000" indent="-360000">
              <a:spcBef>
                <a:spcPts val="600"/>
              </a:spcBef>
              <a:spcAft>
                <a:spcPts val="1200"/>
              </a:spcAft>
            </a:pPr>
            <a:r>
              <a:rPr lang="en-US" sz="2200" dirty="0" smtClean="0">
                <a:latin typeface="Helvetica" pitchFamily="34" charset="0"/>
              </a:rPr>
              <a:t>Put public advice signage in place</a:t>
            </a:r>
          </a:p>
          <a:p>
            <a:pPr marL="360000" indent="-360000">
              <a:spcBef>
                <a:spcPts val="600"/>
              </a:spcBef>
              <a:spcAft>
                <a:spcPts val="1200"/>
              </a:spcAft>
            </a:pPr>
            <a:r>
              <a:rPr lang="en-US" sz="2200" dirty="0" smtClean="0">
                <a:latin typeface="Helvetica" pitchFamily="34" charset="0"/>
              </a:rPr>
              <a:t>Consider alternative service options</a:t>
            </a:r>
          </a:p>
          <a:p>
            <a:pPr marL="360000" indent="-360000">
              <a:spcBef>
                <a:spcPts val="600"/>
              </a:spcBef>
              <a:spcAft>
                <a:spcPts val="1200"/>
              </a:spcAft>
            </a:pPr>
            <a:r>
              <a:rPr lang="en-US" sz="2200" dirty="0" smtClean="0">
                <a:latin typeface="Helvetica" pitchFamily="34" charset="0"/>
              </a:rPr>
              <a:t>Allocate extra staff to monitor the area</a:t>
            </a:r>
          </a:p>
          <a:p>
            <a:pPr marL="360000" indent="-360000">
              <a:spcBef>
                <a:spcPts val="600"/>
              </a:spcBef>
              <a:spcAft>
                <a:spcPts val="1200"/>
              </a:spcAft>
            </a:pPr>
            <a:r>
              <a:rPr lang="en-US" sz="2200" dirty="0" smtClean="0">
                <a:latin typeface="Helvetica" pitchFamily="34" charset="0"/>
              </a:rPr>
              <a:t>Discard food exceeding 2/4 rule</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152</a:t>
            </a:fld>
            <a:endParaRPr lang="en-US" dirty="0">
              <a:latin typeface="Helvetica" pitchFamily="34" charset="0"/>
            </a:endParaRPr>
          </a:p>
        </p:txBody>
      </p:sp>
      <p:pic>
        <p:nvPicPr>
          <p:cNvPr id="5"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6400800" y="2438400"/>
            <a:ext cx="1671638" cy="1337310"/>
          </a:xfrm>
          <a:prstGeom prst="rect">
            <a:avLst/>
          </a:prstGeom>
          <a:noFill/>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Train staff</a:t>
            </a:r>
          </a:p>
          <a:p>
            <a:pPr marL="360000" indent="-360000">
              <a:spcBef>
                <a:spcPts val="600"/>
              </a:spcBef>
              <a:spcAft>
                <a:spcPts val="1200"/>
              </a:spcAft>
            </a:pPr>
            <a:r>
              <a:rPr lang="en-US" sz="2200" dirty="0" smtClean="0">
                <a:latin typeface="Helvetica" pitchFamily="34" charset="0"/>
              </a:rPr>
              <a:t>Ensure sufficient utensils for service</a:t>
            </a:r>
          </a:p>
          <a:p>
            <a:pPr marL="360000" indent="-360000">
              <a:spcBef>
                <a:spcPts val="600"/>
              </a:spcBef>
              <a:spcAft>
                <a:spcPts val="1200"/>
              </a:spcAft>
            </a:pPr>
            <a:r>
              <a:rPr lang="en-US" sz="2200" dirty="0" smtClean="0">
                <a:latin typeface="Helvetica" pitchFamily="34" charset="0"/>
              </a:rPr>
              <a:t>Maintain food holding and display units</a:t>
            </a:r>
          </a:p>
          <a:p>
            <a:pPr marL="360000" indent="-360000">
              <a:spcBef>
                <a:spcPts val="600"/>
              </a:spcBef>
              <a:spcAft>
                <a:spcPts val="1200"/>
              </a:spcAft>
            </a:pPr>
            <a:r>
              <a:rPr lang="en-US" sz="2200" dirty="0" smtClean="0">
                <a:latin typeface="Helvetica" pitchFamily="34" charset="0"/>
              </a:rPr>
              <a:t>Alter setting to hold food at correct temperatures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153</a:t>
            </a:fld>
            <a:endParaRPr lang="en-US" dirty="0">
              <a:latin typeface="Helvetica" pitchFamily="34" charset="0"/>
            </a:endParaRPr>
          </a:p>
        </p:txBody>
      </p:sp>
      <p:pic>
        <p:nvPicPr>
          <p:cNvPr id="7"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3352800" y="4191000"/>
            <a:ext cx="1671638" cy="1337310"/>
          </a:xfrm>
          <a:prstGeom prst="rect">
            <a:avLst/>
          </a:prstGeom>
          <a:noFill/>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corrective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Corrective action relating to food transportation may include:</a:t>
            </a:r>
          </a:p>
          <a:p>
            <a:pPr marL="360000" indent="-360000">
              <a:spcBef>
                <a:spcPts val="600"/>
              </a:spcBef>
              <a:spcAft>
                <a:spcPts val="1200"/>
              </a:spcAft>
            </a:pPr>
            <a:r>
              <a:rPr lang="en-US" sz="2200" dirty="0" smtClean="0">
                <a:latin typeface="Helvetica" pitchFamily="34" charset="0"/>
              </a:rPr>
              <a:t>Use ‘food transport vehicles’</a:t>
            </a:r>
          </a:p>
          <a:p>
            <a:pPr marL="360000" indent="-360000">
              <a:spcBef>
                <a:spcPts val="600"/>
              </a:spcBef>
              <a:spcAft>
                <a:spcPts val="1200"/>
              </a:spcAft>
            </a:pPr>
            <a:r>
              <a:rPr lang="en-US" sz="2200" dirty="0" smtClean="0">
                <a:latin typeface="Helvetica" pitchFamily="34" charset="0"/>
              </a:rPr>
              <a:t>Service vehicles regularly</a:t>
            </a:r>
          </a:p>
          <a:p>
            <a:pPr marL="360000" indent="-360000">
              <a:spcBef>
                <a:spcPts val="600"/>
              </a:spcBef>
              <a:spcAft>
                <a:spcPts val="1200"/>
              </a:spcAft>
            </a:pPr>
            <a:r>
              <a:rPr lang="en-US" sz="2200" dirty="0" smtClean="0">
                <a:latin typeface="Helvetica" pitchFamily="34" charset="0"/>
              </a:rPr>
              <a:t>Deliver food within 2 hours</a:t>
            </a:r>
          </a:p>
          <a:p>
            <a:pPr marL="360000" indent="-360000">
              <a:spcBef>
                <a:spcPts val="600"/>
              </a:spcBef>
              <a:spcAft>
                <a:spcPts val="1200"/>
              </a:spcAft>
            </a:pPr>
            <a:r>
              <a:rPr lang="en-US" sz="2200" dirty="0" smtClean="0">
                <a:latin typeface="Helvetica" pitchFamily="34" charset="0"/>
              </a:rPr>
              <a:t>Discard food exceeding 2/4 rule</a:t>
            </a:r>
          </a:p>
          <a:p>
            <a:pPr marL="360000" indent="-360000">
              <a:spcBef>
                <a:spcPts val="600"/>
              </a:spcBef>
              <a:spcAft>
                <a:spcPts val="1200"/>
              </a:spcAft>
            </a:pPr>
            <a:r>
              <a:rPr lang="en-US" sz="2200" dirty="0" smtClean="0">
                <a:latin typeface="Helvetica" pitchFamily="34" charset="0"/>
              </a:rPr>
              <a:t>Discard contaminated food</a:t>
            </a:r>
          </a:p>
          <a:p>
            <a:pPr marL="360000" indent="-360000">
              <a:spcBef>
                <a:spcPts val="600"/>
              </a:spcBef>
              <a:spcAft>
                <a:spcPts val="1200"/>
              </a:spcAft>
            </a:pPr>
            <a:r>
              <a:rPr lang="en-US" sz="2200" dirty="0" smtClean="0">
                <a:latin typeface="Helvetica" pitchFamily="34" charset="0"/>
              </a:rPr>
              <a:t>Train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154</a:t>
            </a:fld>
            <a:endParaRPr lang="en-US" dirty="0">
              <a:latin typeface="Helvetica" pitchFamily="34" charset="0"/>
            </a:endParaRPr>
          </a:p>
        </p:txBody>
      </p:sp>
      <p:pic>
        <p:nvPicPr>
          <p:cNvPr id="6" name="Picture 3" descr="C:\Documents and Settings\danielc\Desktop\Apply safety proc handling food images\1131446_red_check_sign_in_3d.jpg"/>
          <p:cNvPicPr>
            <a:picLocks noChangeAspect="1" noChangeArrowheads="1"/>
          </p:cNvPicPr>
          <p:nvPr/>
        </p:nvPicPr>
        <p:blipFill>
          <a:blip r:embed="rId3" cstate="print"/>
          <a:srcRect/>
          <a:stretch>
            <a:fillRect/>
          </a:stretch>
        </p:blipFill>
        <p:spPr bwMode="auto">
          <a:xfrm>
            <a:off x="6096000" y="2819400"/>
            <a:ext cx="1671638" cy="1337310"/>
          </a:xfrm>
          <a:prstGeom prst="rect">
            <a:avLst/>
          </a:prstGeom>
          <a:noFill/>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Report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524000"/>
            <a:ext cx="7848600" cy="4525963"/>
          </a:xfrm>
        </p:spPr>
        <p:txBody>
          <a:bodyPr>
            <a:normAutofit/>
          </a:bodyPr>
          <a:lstStyle/>
          <a:p>
            <a:pPr marL="0" indent="0">
              <a:spcBef>
                <a:spcPts val="600"/>
              </a:spcBef>
              <a:spcAft>
                <a:spcPts val="1200"/>
              </a:spcAft>
              <a:buNone/>
            </a:pPr>
            <a:r>
              <a:rPr lang="en-US" sz="2200" dirty="0" smtClean="0">
                <a:latin typeface="Helvetica" pitchFamily="34" charset="0"/>
              </a:rPr>
              <a:t>If you cannot fix a problem you must report it to (for example):</a:t>
            </a:r>
          </a:p>
          <a:p>
            <a:pPr marL="360000" indent="-360000">
              <a:spcBef>
                <a:spcPts val="600"/>
              </a:spcBef>
              <a:spcAft>
                <a:spcPts val="1200"/>
              </a:spcAft>
            </a:pPr>
            <a:r>
              <a:rPr lang="en-US" sz="2200" dirty="0" smtClean="0">
                <a:latin typeface="Helvetica" pitchFamily="34" charset="0"/>
              </a:rPr>
              <a:t>Food Safety Supervisor</a:t>
            </a:r>
          </a:p>
          <a:p>
            <a:pPr marL="360000" indent="-360000">
              <a:spcBef>
                <a:spcPts val="600"/>
              </a:spcBef>
              <a:spcAft>
                <a:spcPts val="1200"/>
              </a:spcAft>
            </a:pPr>
            <a:r>
              <a:rPr lang="en-US" sz="2200" dirty="0" smtClean="0">
                <a:latin typeface="Helvetica" pitchFamily="34" charset="0"/>
              </a:rPr>
              <a:t>Supervisor</a:t>
            </a:r>
          </a:p>
          <a:p>
            <a:pPr marL="360000" indent="-360000">
              <a:spcBef>
                <a:spcPts val="600"/>
              </a:spcBef>
              <a:spcAft>
                <a:spcPts val="1200"/>
              </a:spcAft>
            </a:pPr>
            <a:r>
              <a:rPr lang="en-US" sz="2200" dirty="0" smtClean="0">
                <a:latin typeface="Helvetica" pitchFamily="34" charset="0"/>
              </a:rPr>
              <a:t>Manager</a:t>
            </a:r>
          </a:p>
          <a:p>
            <a:pPr marL="360000" indent="-360000">
              <a:spcBef>
                <a:spcPts val="600"/>
              </a:spcBef>
              <a:spcAft>
                <a:spcPts val="1200"/>
              </a:spcAft>
            </a:pPr>
            <a:r>
              <a:rPr lang="en-US" sz="2200" dirty="0" smtClean="0">
                <a:latin typeface="Helvetica" pitchFamily="34" charset="0"/>
              </a:rPr>
              <a:t>Owner</a:t>
            </a:r>
          </a:p>
          <a:p>
            <a:pPr marL="360000" indent="-360000">
              <a:spcBef>
                <a:spcPts val="600"/>
              </a:spcBef>
              <a:spcAft>
                <a:spcPts val="1200"/>
              </a:spcAft>
            </a:pPr>
            <a:r>
              <a:rPr lang="en-US" sz="2200" dirty="0" smtClean="0">
                <a:latin typeface="Helvetica" pitchFamily="34" charset="0"/>
              </a:rPr>
              <a:t>Food safety committee</a:t>
            </a:r>
          </a:p>
          <a:p>
            <a:pPr marL="360000" indent="-360000">
              <a:spcBef>
                <a:spcPts val="600"/>
              </a:spcBef>
              <a:spcAft>
                <a:spcPts val="1200"/>
              </a:spcAft>
            </a:pPr>
            <a:r>
              <a:rPr lang="en-US" sz="2200" dirty="0" smtClean="0">
                <a:latin typeface="Helvetica" pitchFamily="34" charset="0"/>
              </a:rPr>
              <a:t>Head office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155</a:t>
            </a:fld>
            <a:endParaRPr lang="en-US" dirty="0">
              <a:latin typeface="Helvetica" pitchFamily="34" charset="0"/>
            </a:endParaRPr>
          </a:p>
        </p:txBody>
      </p:sp>
      <p:pic>
        <p:nvPicPr>
          <p:cNvPr id="53251" name="Picture 3" descr="I:\Overseas Projects\PHOTOS\2011\Culinary\cocoa_045.jpg"/>
          <p:cNvPicPr>
            <a:picLocks noChangeAspect="1" noChangeArrowheads="1"/>
          </p:cNvPicPr>
          <p:nvPr/>
        </p:nvPicPr>
        <p:blipFill>
          <a:blip r:embed="rId3" cstate="print"/>
          <a:srcRect/>
          <a:stretch>
            <a:fillRect/>
          </a:stretch>
        </p:blipFill>
        <p:spPr bwMode="auto">
          <a:xfrm>
            <a:off x="6172200" y="2286000"/>
            <a:ext cx="1981200" cy="2752165"/>
          </a:xfrm>
          <a:prstGeom prst="rect">
            <a:avLst/>
          </a:prstGeom>
          <a:noFill/>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Report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Reports on hazards, risks and issues:</a:t>
            </a:r>
          </a:p>
          <a:p>
            <a:pPr marL="360000" indent="-360000">
              <a:spcBef>
                <a:spcPts val="600"/>
              </a:spcBef>
              <a:spcAft>
                <a:spcPts val="1200"/>
              </a:spcAft>
            </a:pPr>
            <a:r>
              <a:rPr lang="en-US" sz="2200" dirty="0" smtClean="0">
                <a:latin typeface="Helvetica" pitchFamily="34" charset="0"/>
              </a:rPr>
              <a:t>Must be made immediately</a:t>
            </a:r>
          </a:p>
          <a:p>
            <a:pPr marL="360000" indent="-360000">
              <a:spcBef>
                <a:spcPts val="600"/>
              </a:spcBef>
              <a:spcAft>
                <a:spcPts val="1200"/>
              </a:spcAft>
            </a:pPr>
            <a:r>
              <a:rPr lang="en-US" sz="2200" dirty="0" smtClean="0">
                <a:latin typeface="Helvetica" pitchFamily="34" charset="0"/>
              </a:rPr>
              <a:t>Can be made:</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Face-to-face</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Via telephone</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Using email</a:t>
            </a:r>
          </a:p>
          <a:p>
            <a:pPr marL="720000" indent="-360000">
              <a:spcBef>
                <a:spcPts val="600"/>
              </a:spcBef>
              <a:spcAft>
                <a:spcPts val="1200"/>
              </a:spcAft>
              <a:buClr>
                <a:srgbClr val="7FD13B"/>
              </a:buClr>
              <a:buSzPct val="100000"/>
              <a:buFont typeface="Wingdings" pitchFamily="2" charset="2"/>
              <a:buChar char="§"/>
            </a:pPr>
            <a:r>
              <a:rPr lang="en-US" sz="2200" dirty="0" smtClean="0">
                <a:latin typeface="Helvetica" pitchFamily="34" charset="0"/>
              </a:rPr>
              <a:t>Completing nominated form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156</a:t>
            </a:fld>
            <a:endParaRPr lang="en-US" dirty="0">
              <a:latin typeface="Helvetica" pitchFamily="34" charset="0"/>
            </a:endParaRPr>
          </a:p>
        </p:txBody>
      </p:sp>
      <p:pic>
        <p:nvPicPr>
          <p:cNvPr id="52226" name="Picture 2" descr="C:\Documents and Settings\danielc\Local Settings\Temporary Internet Files\Content.IE5\3Y3SDCJX\MC900439818[1].png"/>
          <p:cNvPicPr>
            <a:picLocks noChangeAspect="1" noChangeArrowheads="1"/>
          </p:cNvPicPr>
          <p:nvPr/>
        </p:nvPicPr>
        <p:blipFill>
          <a:blip r:embed="rId3" cstate="print"/>
          <a:srcRect/>
          <a:stretch>
            <a:fillRect/>
          </a:stretch>
        </p:blipFill>
        <p:spPr bwMode="auto">
          <a:xfrm>
            <a:off x="4800600" y="2590800"/>
            <a:ext cx="2057400" cy="2057400"/>
          </a:xfrm>
          <a:prstGeom prst="rect">
            <a:avLst/>
          </a:prstGeom>
          <a:noFill/>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Report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reporting:</a:t>
            </a:r>
          </a:p>
          <a:p>
            <a:pPr marL="360000" indent="-360000">
              <a:spcBef>
                <a:spcPts val="600"/>
              </a:spcBef>
              <a:spcAft>
                <a:spcPts val="1200"/>
              </a:spcAft>
            </a:pPr>
            <a:r>
              <a:rPr lang="en-US" sz="2200" dirty="0" smtClean="0">
                <a:latin typeface="Helvetica" pitchFamily="34" charset="0"/>
              </a:rPr>
              <a:t>State the facts – as opposed to beliefs or ‘opinion’</a:t>
            </a:r>
          </a:p>
          <a:p>
            <a:pPr marL="360000" indent="-360000">
              <a:spcBef>
                <a:spcPts val="600"/>
              </a:spcBef>
              <a:spcAft>
                <a:spcPts val="1200"/>
              </a:spcAft>
            </a:pPr>
            <a:r>
              <a:rPr lang="en-US" sz="2200" dirty="0" smtClean="0">
                <a:latin typeface="Helvetica" pitchFamily="34" charset="0"/>
              </a:rPr>
              <a:t>Be comprehensive</a:t>
            </a:r>
          </a:p>
          <a:p>
            <a:pPr marL="360000" indent="-360000">
              <a:spcBef>
                <a:spcPts val="600"/>
              </a:spcBef>
              <a:spcAft>
                <a:spcPts val="1200"/>
              </a:spcAft>
            </a:pPr>
            <a:r>
              <a:rPr lang="en-US" sz="2200" dirty="0" smtClean="0">
                <a:latin typeface="Helvetica" pitchFamily="34" charset="0"/>
              </a:rPr>
              <a:t>Be specific</a:t>
            </a:r>
          </a:p>
          <a:p>
            <a:pPr marL="360000" indent="-360000">
              <a:spcBef>
                <a:spcPts val="600"/>
              </a:spcBef>
              <a:spcAft>
                <a:spcPts val="1200"/>
              </a:spcAft>
            </a:pPr>
            <a:r>
              <a:rPr lang="en-US" sz="2200" dirty="0" smtClean="0">
                <a:latin typeface="Helvetica" pitchFamily="34" charset="0"/>
              </a:rPr>
              <a:t>Be prompt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157</a:t>
            </a:fld>
            <a:endParaRPr lang="en-US" dirty="0">
              <a:latin typeface="Helvetica" pitchFamily="34" charset="0"/>
            </a:endParaRPr>
          </a:p>
        </p:txBody>
      </p:sp>
      <p:pic>
        <p:nvPicPr>
          <p:cNvPr id="51202" name="Picture 2" descr="C:\Documents and Settings\danielc\Desktop\Apply safety proc handling food images\freeimage-3734295.jpg"/>
          <p:cNvPicPr>
            <a:picLocks noChangeAspect="1" noChangeArrowheads="1"/>
          </p:cNvPicPr>
          <p:nvPr/>
        </p:nvPicPr>
        <p:blipFill>
          <a:blip r:embed="rId3" cstate="print"/>
          <a:srcRect l="19553" t="8668" r="21787"/>
          <a:stretch>
            <a:fillRect/>
          </a:stretch>
        </p:blipFill>
        <p:spPr bwMode="auto">
          <a:xfrm>
            <a:off x="4267200" y="2743200"/>
            <a:ext cx="1371600" cy="3211513"/>
          </a:xfrm>
          <a:prstGeom prst="rect">
            <a:avLst/>
          </a:prstGeom>
          <a:noFill/>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records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FSPs may require the following records to be completed:</a:t>
            </a:r>
          </a:p>
          <a:p>
            <a:pPr marL="360000" indent="-360000">
              <a:spcBef>
                <a:spcPts val="600"/>
              </a:spcBef>
              <a:spcAft>
                <a:spcPts val="1200"/>
              </a:spcAft>
            </a:pPr>
            <a:r>
              <a:rPr lang="en-US" sz="2200" dirty="0" smtClean="0">
                <a:latin typeface="Helvetica" pitchFamily="34" charset="0"/>
              </a:rPr>
              <a:t>‘Approved Suppliers List’</a:t>
            </a:r>
          </a:p>
          <a:p>
            <a:pPr marL="360000" indent="-360000">
              <a:spcBef>
                <a:spcPts val="600"/>
              </a:spcBef>
              <a:spcAft>
                <a:spcPts val="1200"/>
              </a:spcAft>
            </a:pPr>
            <a:r>
              <a:rPr lang="en-US" sz="2200" dirty="0" smtClean="0">
                <a:latin typeface="Helvetica" pitchFamily="34" charset="0"/>
              </a:rPr>
              <a:t>‘Goods Receiving Form’</a:t>
            </a:r>
          </a:p>
          <a:p>
            <a:pPr marL="360000" indent="-360000">
              <a:spcBef>
                <a:spcPts val="600"/>
              </a:spcBef>
              <a:spcAft>
                <a:spcPts val="1200"/>
              </a:spcAft>
            </a:pPr>
            <a:r>
              <a:rPr lang="en-US" sz="2200" dirty="0" smtClean="0">
                <a:latin typeface="Helvetica" pitchFamily="34" charset="0"/>
              </a:rPr>
              <a:t>‘Goods Rejected or Returned Form’</a:t>
            </a:r>
          </a:p>
          <a:p>
            <a:pPr marL="360000" indent="-360000">
              <a:spcBef>
                <a:spcPts val="600"/>
              </a:spcBef>
              <a:spcAft>
                <a:spcPts val="1200"/>
              </a:spcAft>
            </a:pPr>
            <a:r>
              <a:rPr lang="en-US" sz="2200" dirty="0" smtClean="0">
                <a:latin typeface="Helvetica" pitchFamily="34" charset="0"/>
              </a:rPr>
              <a:t>‘Cold Storage Temperature Log’</a:t>
            </a:r>
          </a:p>
          <a:p>
            <a:pPr marL="360000" indent="-360000">
              <a:spcBef>
                <a:spcPts val="600"/>
              </a:spcBef>
              <a:spcAft>
                <a:spcPts val="1200"/>
              </a:spcAft>
            </a:pPr>
            <a:r>
              <a:rPr lang="en-US" sz="2200" dirty="0" smtClean="0">
                <a:latin typeface="Helvetica" pitchFamily="34" charset="0"/>
              </a:rPr>
              <a:t>‘Ready-To-Eat Food On Display Log’</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158</a:t>
            </a:fld>
            <a:endParaRPr lang="en-US" dirty="0">
              <a:latin typeface="Helvetica" pitchFamily="34" charset="0"/>
            </a:endParaRPr>
          </a:p>
        </p:txBody>
      </p:sp>
      <p:pic>
        <p:nvPicPr>
          <p:cNvPr id="50178" name="Picture 2" descr="C:\Documents and Settings\danielc\Desktop\Apply safety proc handling food images\freeimage-3578061.jpg"/>
          <p:cNvPicPr>
            <a:picLocks noChangeAspect="1" noChangeArrowheads="1"/>
          </p:cNvPicPr>
          <p:nvPr/>
        </p:nvPicPr>
        <p:blipFill>
          <a:blip r:embed="rId3" cstate="print"/>
          <a:srcRect/>
          <a:stretch>
            <a:fillRect/>
          </a:stretch>
        </p:blipFill>
        <p:spPr bwMode="auto">
          <a:xfrm>
            <a:off x="5410200" y="2438400"/>
            <a:ext cx="2890838" cy="1927225"/>
          </a:xfrm>
          <a:prstGeom prst="rect">
            <a:avLst/>
          </a:prstGeom>
          <a:noFill/>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records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‘Hot Display Temperature Log’</a:t>
            </a:r>
          </a:p>
          <a:p>
            <a:pPr marL="360000" indent="-360000">
              <a:spcBef>
                <a:spcPts val="600"/>
              </a:spcBef>
              <a:spcAft>
                <a:spcPts val="1200"/>
              </a:spcAft>
            </a:pPr>
            <a:r>
              <a:rPr lang="en-US" sz="2200" dirty="0" smtClean="0">
                <a:latin typeface="Helvetica" pitchFamily="34" charset="0"/>
              </a:rPr>
              <a:t>‘Cold Display Temperature Log’</a:t>
            </a:r>
          </a:p>
          <a:p>
            <a:pPr marL="360000" indent="-360000">
              <a:spcBef>
                <a:spcPts val="600"/>
              </a:spcBef>
              <a:spcAft>
                <a:spcPts val="1200"/>
              </a:spcAft>
            </a:pPr>
            <a:r>
              <a:rPr lang="en-US" sz="2200" dirty="0" smtClean="0">
                <a:latin typeface="Helvetica" pitchFamily="34" charset="0"/>
              </a:rPr>
              <a:t>‘Equipment Calibration Log’</a:t>
            </a:r>
          </a:p>
          <a:p>
            <a:pPr marL="360000" indent="-360000">
              <a:spcBef>
                <a:spcPts val="600"/>
              </a:spcBef>
              <a:spcAft>
                <a:spcPts val="1200"/>
              </a:spcAft>
            </a:pPr>
            <a:r>
              <a:rPr lang="en-US" sz="2200" dirty="0" smtClean="0">
                <a:latin typeface="Helvetica" pitchFamily="34" charset="0"/>
              </a:rPr>
              <a:t>‘Internal Review – Process </a:t>
            </a:r>
            <a:br>
              <a:rPr lang="en-US" sz="2200" dirty="0" smtClean="0">
                <a:latin typeface="Helvetica" pitchFamily="34" charset="0"/>
              </a:rPr>
            </a:br>
            <a:r>
              <a:rPr lang="en-US" sz="2200" dirty="0" smtClean="0">
                <a:latin typeface="Helvetica" pitchFamily="34" charset="0"/>
              </a:rPr>
              <a:t>Temperature Log’</a:t>
            </a:r>
          </a:p>
          <a:p>
            <a:pPr marL="360000" indent="-360000">
              <a:spcBef>
                <a:spcPts val="600"/>
              </a:spcBef>
              <a:spcAft>
                <a:spcPts val="1200"/>
              </a:spcAft>
            </a:pPr>
            <a:r>
              <a:rPr lang="en-US" sz="2200" dirty="0" smtClean="0">
                <a:latin typeface="Helvetica" pitchFamily="34" charset="0"/>
              </a:rPr>
              <a:t>CAR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159</a:t>
            </a:fld>
            <a:endParaRPr lang="en-US" dirty="0">
              <a:latin typeface="Helvetica" pitchFamily="34" charset="0"/>
            </a:endParaRPr>
          </a:p>
        </p:txBody>
      </p:sp>
      <p:pic>
        <p:nvPicPr>
          <p:cNvPr id="49154" name="Picture 2" descr="C:\Documents and Settings\danielc\Desktop\Apply safety proc handling food images\freeimage-3584021.jpg"/>
          <p:cNvPicPr>
            <a:picLocks noChangeAspect="1" noChangeArrowheads="1"/>
          </p:cNvPicPr>
          <p:nvPr/>
        </p:nvPicPr>
        <p:blipFill>
          <a:blip r:embed="rId3" cstate="print"/>
          <a:srcRect/>
          <a:stretch>
            <a:fillRect/>
          </a:stretch>
        </p:blipFill>
        <p:spPr bwMode="auto">
          <a:xfrm>
            <a:off x="5257800" y="2438400"/>
            <a:ext cx="2968625" cy="1979083"/>
          </a:xfrm>
          <a:prstGeom prst="rect">
            <a:avLst/>
          </a:prstGeom>
          <a:noFill/>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48808"/>
          </a:xfrm>
        </p:spPr>
        <p:txBody>
          <a:bodyPr>
            <a:normAutofit/>
          </a:bodyPr>
          <a:lstStyle/>
          <a:p>
            <a:pPr marL="360000" indent="-360000">
              <a:spcBef>
                <a:spcPts val="600"/>
              </a:spcBef>
              <a:spcAft>
                <a:spcPts val="1200"/>
              </a:spcAft>
              <a:buNone/>
            </a:pPr>
            <a:r>
              <a:rPr lang="en-US" sz="2200" dirty="0" smtClean="0">
                <a:latin typeface="Helvetica" pitchFamily="34" charset="0"/>
              </a:rPr>
              <a:t>When following food safety program:</a:t>
            </a:r>
          </a:p>
          <a:p>
            <a:pPr marL="382588" indent="-382588">
              <a:spcBef>
                <a:spcPts val="600"/>
              </a:spcBef>
              <a:spcAft>
                <a:spcPts val="1200"/>
              </a:spcAft>
            </a:pPr>
            <a:r>
              <a:rPr lang="en-AU" sz="2200" dirty="0" smtClean="0">
                <a:latin typeface="Helvetica" pitchFamily="34" charset="0"/>
              </a:rPr>
              <a:t>Obtain, read and understand the venue-specific FSP</a:t>
            </a:r>
          </a:p>
          <a:p>
            <a:pPr marL="382588" indent="-382588">
              <a:spcBef>
                <a:spcPts val="600"/>
              </a:spcBef>
              <a:spcAft>
                <a:spcPts val="1200"/>
              </a:spcAft>
            </a:pPr>
            <a:r>
              <a:rPr lang="en-AU" sz="2200" dirty="0" smtClean="0">
                <a:latin typeface="Helvetica" pitchFamily="34" charset="0"/>
              </a:rPr>
              <a:t>Identify personal responsibilities under the plan</a:t>
            </a:r>
          </a:p>
          <a:p>
            <a:pPr marL="382588" indent="-382588">
              <a:spcBef>
                <a:spcPts val="600"/>
              </a:spcBef>
              <a:spcAft>
                <a:spcPts val="1200"/>
              </a:spcAft>
            </a:pPr>
            <a:r>
              <a:rPr lang="en-AU" sz="2200" dirty="0" smtClean="0">
                <a:latin typeface="Helvetica" pitchFamily="34" charset="0"/>
              </a:rPr>
              <a:t>Implement required pest control procedures</a:t>
            </a:r>
          </a:p>
          <a:p>
            <a:pPr marL="382588" indent="-382588">
              <a:spcBef>
                <a:spcPts val="600"/>
              </a:spcBef>
              <a:spcAft>
                <a:spcPts val="1200"/>
              </a:spcAft>
            </a:pPr>
            <a:r>
              <a:rPr lang="en-AU" sz="2200" dirty="0" smtClean="0">
                <a:latin typeface="Helvetica" pitchFamily="34" charset="0"/>
              </a:rPr>
              <a:t>Handle waste in accordance with </a:t>
            </a:r>
            <a:br>
              <a:rPr lang="en-AU" sz="2200" dirty="0" smtClean="0">
                <a:latin typeface="Helvetica" pitchFamily="34" charset="0"/>
              </a:rPr>
            </a:br>
            <a:r>
              <a:rPr lang="en-AU" sz="2200" dirty="0" smtClean="0">
                <a:latin typeface="Helvetica" pitchFamily="34" charset="0"/>
              </a:rPr>
              <a:t>requirements</a:t>
            </a:r>
            <a:endParaRPr lang="en-US" sz="2200" dirty="0" smtClean="0">
              <a:latin typeface="Helvetica" pitchFamily="34" charset="0"/>
            </a:endParaRPr>
          </a:p>
          <a:p>
            <a:pPr marL="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160</a:t>
            </a:fld>
            <a:endParaRPr lang="en-US" dirty="0">
              <a:latin typeface="Helvetica" pitchFamily="34" charset="0"/>
            </a:endParaRPr>
          </a:p>
        </p:txBody>
      </p:sp>
      <p:pic>
        <p:nvPicPr>
          <p:cNvPr id="5" name="Picture 2" descr="C:\Documents and Settings\danielc\Local Settings\Temporary Internet Files\Content.IE5\3Y3SDCJX\MC900442036[1].wmf"/>
          <p:cNvPicPr>
            <a:picLocks noChangeAspect="1" noChangeArrowheads="1"/>
          </p:cNvPicPr>
          <p:nvPr/>
        </p:nvPicPr>
        <p:blipFill>
          <a:blip r:embed="rId3" cstate="print"/>
          <a:srcRect/>
          <a:stretch>
            <a:fillRect/>
          </a:stretch>
        </p:blipFill>
        <p:spPr bwMode="auto">
          <a:xfrm>
            <a:off x="6553200" y="3429000"/>
            <a:ext cx="1857375" cy="1838325"/>
          </a:xfrm>
          <a:prstGeom prst="rect">
            <a:avLst/>
          </a:prstGeom>
          <a:noFill/>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Be alert to potential for poor organizational practices</a:t>
            </a:r>
          </a:p>
          <a:p>
            <a:pPr>
              <a:spcBef>
                <a:spcPts val="600"/>
              </a:spcBef>
              <a:spcAft>
                <a:spcPts val="1200"/>
              </a:spcAft>
            </a:pPr>
            <a:r>
              <a:rPr lang="en-AU" sz="2200" dirty="0" smtClean="0">
                <a:latin typeface="Helvetica" pitchFamily="34" charset="0"/>
              </a:rPr>
              <a:t>Implement strategies to identify non-compliance with FSP requirements and poor organizational practices</a:t>
            </a:r>
          </a:p>
          <a:p>
            <a:pPr>
              <a:spcBef>
                <a:spcPts val="600"/>
              </a:spcBef>
              <a:spcAft>
                <a:spcPts val="1200"/>
              </a:spcAft>
            </a:pPr>
            <a:r>
              <a:rPr lang="en-AU" sz="2200" dirty="0" smtClean="0">
                <a:latin typeface="Helvetica" pitchFamily="34" charset="0"/>
              </a:rPr>
              <a:t>Realise impact of non-compliance on people and the business</a:t>
            </a:r>
          </a:p>
          <a:p>
            <a:pPr>
              <a:spcBef>
                <a:spcPts val="600"/>
              </a:spcBef>
              <a:spcAft>
                <a:spcPts val="1200"/>
              </a:spcAft>
            </a:pPr>
            <a:r>
              <a:rPr lang="en-AU" sz="2200" dirty="0" smtClean="0">
                <a:latin typeface="Helvetica" pitchFamily="34" charset="0"/>
              </a:rPr>
              <a:t>Determine personal scope of responsibility </a:t>
            </a:r>
            <a:br>
              <a:rPr lang="en-AU" sz="2200" dirty="0" smtClean="0">
                <a:latin typeface="Helvetica" pitchFamily="34" charset="0"/>
              </a:rPr>
            </a:br>
            <a:r>
              <a:rPr lang="en-AU" sz="2200" dirty="0" smtClean="0">
                <a:latin typeface="Helvetica" pitchFamily="34" charset="0"/>
              </a:rPr>
              <a:t>for food safety action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161</a:t>
            </a:fld>
            <a:endParaRPr lang="en-US" dirty="0">
              <a:latin typeface="Helvetica" pitchFamily="34" charset="0"/>
            </a:endParaRPr>
          </a:p>
        </p:txBody>
      </p:sp>
      <p:pic>
        <p:nvPicPr>
          <p:cNvPr id="5" name="Picture 2" descr="C:\Documents and Settings\danielc\Local Settings\Temporary Internet Files\Content.IE5\3Y3SDCJX\MC900442036[1].wmf"/>
          <p:cNvPicPr>
            <a:picLocks noChangeAspect="1" noChangeArrowheads="1"/>
          </p:cNvPicPr>
          <p:nvPr/>
        </p:nvPicPr>
        <p:blipFill>
          <a:blip r:embed="rId3" cstate="print"/>
          <a:srcRect/>
          <a:stretch>
            <a:fillRect/>
          </a:stretch>
        </p:blipFill>
        <p:spPr bwMode="auto">
          <a:xfrm>
            <a:off x="6705600" y="3581400"/>
            <a:ext cx="1666887" cy="1649791"/>
          </a:xfrm>
          <a:prstGeom prst="rect">
            <a:avLst/>
          </a:prstGeom>
          <a:noFill/>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Take suitable corrective action to effectively address identified out-of-control situations</a:t>
            </a:r>
          </a:p>
          <a:p>
            <a:pPr>
              <a:spcBef>
                <a:spcPts val="600"/>
              </a:spcBef>
              <a:spcAft>
                <a:spcPts val="1200"/>
              </a:spcAft>
            </a:pPr>
            <a:r>
              <a:rPr lang="en-AU" sz="2200" dirty="0" smtClean="0">
                <a:latin typeface="Helvetica" pitchFamily="34" charset="0"/>
              </a:rPr>
              <a:t>Refer or report issues you cannot remedy</a:t>
            </a:r>
          </a:p>
          <a:p>
            <a:pPr>
              <a:spcBef>
                <a:spcPts val="600"/>
              </a:spcBef>
              <a:spcAft>
                <a:spcPts val="1200"/>
              </a:spcAft>
            </a:pPr>
            <a:r>
              <a:rPr lang="en-AU" sz="2200" dirty="0" smtClean="0">
                <a:latin typeface="Helvetica" pitchFamily="34" charset="0"/>
              </a:rPr>
              <a:t>Complete food safety records as and when required</a:t>
            </a:r>
            <a:r>
              <a:rPr lang="en-AU" sz="2400" dirty="0" smtClean="0"/>
              <a:t/>
            </a:r>
            <a:br>
              <a:rPr lang="en-AU" sz="2400" dirty="0" smtClean="0"/>
            </a:b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162</a:t>
            </a:fld>
            <a:endParaRPr lang="en-US" dirty="0">
              <a:latin typeface="Helvetica" pitchFamily="34" charset="0"/>
            </a:endParaRPr>
          </a:p>
        </p:txBody>
      </p:sp>
      <p:pic>
        <p:nvPicPr>
          <p:cNvPr id="5" name="Picture 2" descr="C:\Documents and Settings\danielc\Local Settings\Temporary Internet Files\Content.IE5\3Y3SDCJX\MC900442036[1].wmf"/>
          <p:cNvPicPr>
            <a:picLocks noChangeAspect="1" noChangeArrowheads="1"/>
          </p:cNvPicPr>
          <p:nvPr/>
        </p:nvPicPr>
        <p:blipFill>
          <a:blip r:embed="rId3" cstate="print"/>
          <a:srcRect/>
          <a:stretch>
            <a:fillRect/>
          </a:stretch>
        </p:blipFill>
        <p:spPr bwMode="auto">
          <a:xfrm>
            <a:off x="6755594" y="3648075"/>
            <a:ext cx="1626406" cy="1609725"/>
          </a:xfrm>
          <a:prstGeom prst="rect">
            <a:avLst/>
          </a:prstGeom>
          <a:noFill/>
        </p:spPr>
      </p:pic>
    </p:spTree>
  </p:cSld>
  <p:clrMapOvr>
    <a:masterClrMapping/>
  </p:clrMapOvr>
</p:sld>
</file>

<file path=ppt/theme/theme1.xml><?xml version="1.0" encoding="utf-8"?>
<a:theme xmlns:a="http://schemas.openxmlformats.org/drawingml/2006/main" name="PPT_FO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PPT_FO_template_250612</Template>
  <TotalTime>2222</TotalTime>
  <Words>25705</Words>
  <Application>Microsoft Office PowerPoint</Application>
  <PresentationFormat>On-screen Show (4:3)</PresentationFormat>
  <Paragraphs>2670</Paragraphs>
  <Slides>162</Slides>
  <Notes>162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162</vt:i4>
      </vt:variant>
    </vt:vector>
  </HeadingPairs>
  <TitlesOfParts>
    <vt:vector size="171" baseType="lpstr">
      <vt:lpstr>Arial</vt:lpstr>
      <vt:lpstr>Calibri</vt:lpstr>
      <vt:lpstr>Franklin Gothic Book</vt:lpstr>
      <vt:lpstr>Helvetica</vt:lpstr>
      <vt:lpstr>Symbol</vt:lpstr>
      <vt:lpstr>Times New Roman</vt:lpstr>
      <vt:lpstr>Wingdings</vt:lpstr>
      <vt:lpstr>Wingdings 2</vt:lpstr>
      <vt:lpstr>PPT_FO_template_250612</vt:lpstr>
      <vt:lpstr>Apply standard safety procedures for handling foodstuffs</vt:lpstr>
      <vt:lpstr>Apply standard safety procedures for handling foodstuffs</vt:lpstr>
      <vt:lpstr>Assessment</vt:lpstr>
      <vt:lpstr>Identify hazards and risks</vt:lpstr>
      <vt:lpstr>Identify key hazards and risks</vt:lpstr>
      <vt:lpstr>Identify key hazards and risks</vt:lpstr>
      <vt:lpstr>Identify key hazards and risks</vt:lpstr>
      <vt:lpstr>Identify key hazards and risks</vt:lpstr>
      <vt:lpstr>Identify key hazards and risks</vt:lpstr>
      <vt:lpstr>Identify key hazards and risks</vt:lpstr>
      <vt:lpstr>Identify key hazards and risks</vt:lpstr>
      <vt:lpstr>Identify key hazards and risks</vt:lpstr>
      <vt:lpstr>Identify key hazards and risks</vt:lpstr>
      <vt:lpstr>Check own work area </vt:lpstr>
      <vt:lpstr>Check own work area </vt:lpstr>
      <vt:lpstr>Check own work area </vt:lpstr>
      <vt:lpstr>Check own work area </vt:lpstr>
      <vt:lpstr>Check own work area </vt:lpstr>
      <vt:lpstr>Summary – Element 1</vt:lpstr>
      <vt:lpstr>Summary – Element 1</vt:lpstr>
      <vt:lpstr>Summary – Element 1</vt:lpstr>
      <vt:lpstr>Summary – Element 1</vt:lpstr>
      <vt:lpstr>Follow enterprise hygiene standards, procedures and practices</vt:lpstr>
      <vt:lpstr>Implement required personal hygiene practices</vt:lpstr>
      <vt:lpstr>Implement required personal hygiene practices</vt:lpstr>
      <vt:lpstr>Implement required personal hygiene practices</vt:lpstr>
      <vt:lpstr>Implement required personal hygiene practices</vt:lpstr>
      <vt:lpstr>Implement required personal hygiene practices</vt:lpstr>
      <vt:lpstr>Implement required personal hygiene practices</vt:lpstr>
      <vt:lpstr>Implement required personal hygiene practices</vt:lpstr>
      <vt:lpstr>Implement required personal hygiene practices</vt:lpstr>
      <vt:lpstr>Implement required personal hygiene practices</vt:lpstr>
      <vt:lpstr>Implement required personal hygiene practices</vt:lpstr>
      <vt:lpstr>Implement required personal hygiene practices</vt:lpstr>
      <vt:lpstr>Maintain clothing</vt:lpstr>
      <vt:lpstr>Maintain clothing</vt:lpstr>
      <vt:lpstr>Maintain clothing</vt:lpstr>
      <vt:lpstr>Maintain clothing</vt:lpstr>
      <vt:lpstr>Follow hygiene procedures</vt:lpstr>
      <vt:lpstr>Follow hygiene procedures</vt:lpstr>
      <vt:lpstr>Follow hygiene procedures</vt:lpstr>
      <vt:lpstr>Follow hygiene procedures</vt:lpstr>
      <vt:lpstr>Follow hygiene procedures</vt:lpstr>
      <vt:lpstr>Follow hygiene procedures</vt:lpstr>
      <vt:lpstr>Follow hygiene procedures</vt:lpstr>
      <vt:lpstr>Follow hygiene procedures</vt:lpstr>
      <vt:lpstr>Follow hygiene procedures</vt:lpstr>
      <vt:lpstr>Follow hygiene procedures</vt:lpstr>
      <vt:lpstr>Follow hygiene procedures</vt:lpstr>
      <vt:lpstr>Follow hygiene procedures</vt:lpstr>
      <vt:lpstr>Follow hygiene procedures</vt:lpstr>
      <vt:lpstr>Follow hygiene procedures</vt:lpstr>
      <vt:lpstr>Follow hygiene procedures</vt:lpstr>
      <vt:lpstr>Follow hygiene procedures</vt:lpstr>
      <vt:lpstr>Follow hygiene procedures</vt:lpstr>
      <vt:lpstr>Follow hygiene procedures</vt:lpstr>
      <vt:lpstr>Summary – Element 2</vt:lpstr>
      <vt:lpstr>Summary – Element 2</vt:lpstr>
      <vt:lpstr>Handle and store foodstuffs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according to enterprise guidelines</vt:lpstr>
      <vt:lpstr>Handle and store food to protect it and maintain quality</vt:lpstr>
      <vt:lpstr>Handle and store food to protect it and maintain quality</vt:lpstr>
      <vt:lpstr>Handle and store food to protect it and maintain quality</vt:lpstr>
      <vt:lpstr>Handle and store food to protect it and maintain quality</vt:lpstr>
      <vt:lpstr>Handle and store food to protect it and maintain quality</vt:lpstr>
      <vt:lpstr>Handle and store food to protect it and maintain quality</vt:lpstr>
      <vt:lpstr>Handle and store food to protect it and maintain quality</vt:lpstr>
      <vt:lpstr>Handle and store food to protect it and maintain quality</vt:lpstr>
      <vt:lpstr>Handle and store food to protect it and maintain quality</vt:lpstr>
      <vt:lpstr>Handle and store food to protect it and maintain quality</vt:lpstr>
      <vt:lpstr>Handle and store food to protect it and maintain quality</vt:lpstr>
      <vt:lpstr>Handle and store food to protect it and maintain quality</vt:lpstr>
      <vt:lpstr>Handle and store food to protect it and maintain quality</vt:lpstr>
      <vt:lpstr>Handle and store food to protect it and maintain quality</vt:lpstr>
      <vt:lpstr>Handle and store food to protect it and maintain quality</vt:lpstr>
      <vt:lpstr>Handle and store food to protect it and maintain quality</vt:lpstr>
      <vt:lpstr>Store food at correct temperature</vt:lpstr>
      <vt:lpstr>Store food at correct temperature</vt:lpstr>
      <vt:lpstr>Store food at correct temperature</vt:lpstr>
      <vt:lpstr>Store food at correct temperature</vt:lpstr>
      <vt:lpstr>Store food at correct temperature</vt:lpstr>
      <vt:lpstr>Store food at correct temperature</vt:lpstr>
      <vt:lpstr>Store food at correct temperature</vt:lpstr>
      <vt:lpstr>Summary – Element 3</vt:lpstr>
      <vt:lpstr>Summary – Element 3</vt:lpstr>
      <vt:lpstr>Summary – Element 3</vt:lpstr>
      <vt:lpstr>Summary – Element 3</vt:lpstr>
      <vt:lpstr>Follow food safety program</vt:lpstr>
      <vt:lpstr>Ensure work conforms with food safety program</vt:lpstr>
      <vt:lpstr>Ensure work conforms with food safety program</vt:lpstr>
      <vt:lpstr>Ensure work conforms with food safety program</vt:lpstr>
      <vt:lpstr>Ensure work conforms with food safety program</vt:lpstr>
      <vt:lpstr>Ensure work conforms with food safety program</vt:lpstr>
      <vt:lpstr>Ensure work conforms with food safety program</vt:lpstr>
      <vt:lpstr>Ensure work conforms with food safety program</vt:lpstr>
      <vt:lpstr>Ensure work conforms with food safety program</vt:lpstr>
      <vt:lpstr>Ensure work conforms with food safety program</vt:lpstr>
      <vt:lpstr>Ensure work conforms with food safety program</vt:lpstr>
      <vt:lpstr>Identify and monitor areas of risk in individual work area</vt:lpstr>
      <vt:lpstr>Identify and monitor areas of risk in individual work area</vt:lpstr>
      <vt:lpstr>Identify and monitor areas of risk in individual work area</vt:lpstr>
      <vt:lpstr>Identify and monitor areas of risk in individual work area</vt:lpstr>
      <vt:lpstr>Identify and monitor areas of risk in individual work area</vt:lpstr>
      <vt:lpstr>Identify and monitor areas of risk in individual work area</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Take corrective actions</vt:lpstr>
      <vt:lpstr>Report risks</vt:lpstr>
      <vt:lpstr>Report risks</vt:lpstr>
      <vt:lpstr>Report risks</vt:lpstr>
      <vt:lpstr>Complete records</vt:lpstr>
      <vt:lpstr>Complete records</vt:lpstr>
      <vt:lpstr>Summary – Element 4</vt:lpstr>
      <vt:lpstr>Summary – Element 4</vt:lpstr>
      <vt:lpstr>Summary – Element 4</vt:lpstr>
    </vt:vector>
  </TitlesOfParts>
  <Company>SINGOV</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Apply standard safety procedures for handling foodstuffs</dc:title>
  <dc:creator>Daniel James Chee</dc:creator>
  <cp:lastModifiedBy>Carla Angelica Co</cp:lastModifiedBy>
  <cp:revision>190</cp:revision>
  <dcterms:created xsi:type="dcterms:W3CDTF">2012-10-13T22:08:37Z</dcterms:created>
  <dcterms:modified xsi:type="dcterms:W3CDTF">2015-03-11T07:24:51Z</dcterms:modified>
</cp:coreProperties>
</file>