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7"/>
  </p:notesMasterIdLst>
  <p:handoutMasterIdLst>
    <p:handoutMasterId r:id="rId208"/>
  </p:handoutMasterIdLst>
  <p:sldIdLst>
    <p:sldId id="256" r:id="rId2"/>
    <p:sldId id="257" r:id="rId3"/>
    <p:sldId id="258" r:id="rId4"/>
    <p:sldId id="259" r:id="rId5"/>
    <p:sldId id="260" r:id="rId6"/>
    <p:sldId id="402" r:id="rId7"/>
    <p:sldId id="427" r:id="rId8"/>
    <p:sldId id="428" r:id="rId9"/>
    <p:sldId id="429" r:id="rId10"/>
    <p:sldId id="430" r:id="rId11"/>
    <p:sldId id="431" r:id="rId12"/>
    <p:sldId id="432" r:id="rId13"/>
    <p:sldId id="433" r:id="rId14"/>
    <p:sldId id="434" r:id="rId15"/>
    <p:sldId id="435" r:id="rId16"/>
    <p:sldId id="405" r:id="rId17"/>
    <p:sldId id="406" r:id="rId18"/>
    <p:sldId id="407" r:id="rId19"/>
    <p:sldId id="437" r:id="rId20"/>
    <p:sldId id="409" r:id="rId21"/>
    <p:sldId id="438" r:id="rId22"/>
    <p:sldId id="439" r:id="rId23"/>
    <p:sldId id="440" r:id="rId24"/>
    <p:sldId id="441" r:id="rId25"/>
    <p:sldId id="442" r:id="rId26"/>
    <p:sldId id="443" r:id="rId27"/>
    <p:sldId id="444" r:id="rId28"/>
    <p:sldId id="445" r:id="rId29"/>
    <p:sldId id="446" r:id="rId30"/>
    <p:sldId id="447" r:id="rId31"/>
    <p:sldId id="304" r:id="rId32"/>
    <p:sldId id="305" r:id="rId33"/>
    <p:sldId id="448" r:id="rId34"/>
    <p:sldId id="449" r:id="rId35"/>
    <p:sldId id="309" r:id="rId36"/>
    <p:sldId id="450" r:id="rId37"/>
    <p:sldId id="451" r:id="rId38"/>
    <p:sldId id="452" r:id="rId39"/>
    <p:sldId id="453" r:id="rId40"/>
    <p:sldId id="454" r:id="rId41"/>
    <p:sldId id="455" r:id="rId42"/>
    <p:sldId id="456" r:id="rId43"/>
    <p:sldId id="457" r:id="rId44"/>
    <p:sldId id="458" r:id="rId45"/>
    <p:sldId id="459" r:id="rId46"/>
    <p:sldId id="460" r:id="rId47"/>
    <p:sldId id="461" r:id="rId48"/>
    <p:sldId id="462" r:id="rId49"/>
    <p:sldId id="463" r:id="rId50"/>
    <p:sldId id="464" r:id="rId51"/>
    <p:sldId id="465" r:id="rId52"/>
    <p:sldId id="466" r:id="rId53"/>
    <p:sldId id="467" r:id="rId54"/>
    <p:sldId id="468" r:id="rId55"/>
    <p:sldId id="469" r:id="rId56"/>
    <p:sldId id="470" r:id="rId57"/>
    <p:sldId id="354" r:id="rId58"/>
    <p:sldId id="471" r:id="rId59"/>
    <p:sldId id="472" r:id="rId60"/>
    <p:sldId id="269" r:id="rId61"/>
    <p:sldId id="270" r:id="rId62"/>
    <p:sldId id="313" r:id="rId63"/>
    <p:sldId id="314"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7" r:id="rId102"/>
    <p:sldId id="358" r:id="rId103"/>
    <p:sldId id="359" r:id="rId104"/>
    <p:sldId id="360" r:id="rId105"/>
    <p:sldId id="361" r:id="rId106"/>
    <p:sldId id="419" r:id="rId107"/>
    <p:sldId id="473" r:id="rId108"/>
    <p:sldId id="420" r:id="rId109"/>
    <p:sldId id="421" r:id="rId110"/>
    <p:sldId id="422" r:id="rId111"/>
    <p:sldId id="423" r:id="rId112"/>
    <p:sldId id="424" r:id="rId113"/>
    <p:sldId id="425" r:id="rId114"/>
    <p:sldId id="474" r:id="rId115"/>
    <p:sldId id="475" r:id="rId116"/>
    <p:sldId id="426" r:id="rId117"/>
    <p:sldId id="476" r:id="rId118"/>
    <p:sldId id="477" r:id="rId119"/>
    <p:sldId id="479" r:id="rId120"/>
    <p:sldId id="480" r:id="rId121"/>
    <p:sldId id="478" r:id="rId122"/>
    <p:sldId id="411" r:id="rId123"/>
    <p:sldId id="414" r:id="rId124"/>
    <p:sldId id="415" r:id="rId125"/>
    <p:sldId id="416" r:id="rId126"/>
    <p:sldId id="487" r:id="rId127"/>
    <p:sldId id="488" r:id="rId128"/>
    <p:sldId id="489" r:id="rId129"/>
    <p:sldId id="491" r:id="rId130"/>
    <p:sldId id="490" r:id="rId131"/>
    <p:sldId id="481" r:id="rId132"/>
    <p:sldId id="493" r:id="rId133"/>
    <p:sldId id="492" r:id="rId134"/>
    <p:sldId id="482" r:id="rId135"/>
    <p:sldId id="483" r:id="rId136"/>
    <p:sldId id="484" r:id="rId137"/>
    <p:sldId id="485" r:id="rId138"/>
    <p:sldId id="486" r:id="rId139"/>
    <p:sldId id="276" r:id="rId140"/>
    <p:sldId id="277" r:id="rId141"/>
    <p:sldId id="301" r:id="rId142"/>
    <p:sldId id="494" r:id="rId143"/>
    <p:sldId id="497" r:id="rId144"/>
    <p:sldId id="496" r:id="rId145"/>
    <p:sldId id="495" r:id="rId146"/>
    <p:sldId id="498" r:id="rId147"/>
    <p:sldId id="499" r:id="rId148"/>
    <p:sldId id="500" r:id="rId149"/>
    <p:sldId id="501" r:id="rId150"/>
    <p:sldId id="502" r:id="rId151"/>
    <p:sldId id="503" r:id="rId152"/>
    <p:sldId id="504" r:id="rId153"/>
    <p:sldId id="505" r:id="rId154"/>
    <p:sldId id="506" r:id="rId155"/>
    <p:sldId id="507" r:id="rId156"/>
    <p:sldId id="508" r:id="rId157"/>
    <p:sldId id="509" r:id="rId158"/>
    <p:sldId id="510" r:id="rId159"/>
    <p:sldId id="511" r:id="rId160"/>
    <p:sldId id="368" r:id="rId161"/>
    <p:sldId id="369" r:id="rId162"/>
    <p:sldId id="370" r:id="rId163"/>
    <p:sldId id="512" r:id="rId164"/>
    <p:sldId id="371" r:id="rId165"/>
    <p:sldId id="372" r:id="rId166"/>
    <p:sldId id="513" r:id="rId167"/>
    <p:sldId id="373" r:id="rId168"/>
    <p:sldId id="514" r:id="rId169"/>
    <p:sldId id="374" r:id="rId170"/>
    <p:sldId id="375" r:id="rId171"/>
    <p:sldId id="376" r:id="rId172"/>
    <p:sldId id="377" r:id="rId173"/>
    <p:sldId id="378" r:id="rId174"/>
    <p:sldId id="379" r:id="rId175"/>
    <p:sldId id="380" r:id="rId176"/>
    <p:sldId id="515" r:id="rId177"/>
    <p:sldId id="516" r:id="rId178"/>
    <p:sldId id="517" r:id="rId179"/>
    <p:sldId id="518" r:id="rId180"/>
    <p:sldId id="381" r:id="rId181"/>
    <p:sldId id="382" r:id="rId182"/>
    <p:sldId id="383" r:id="rId183"/>
    <p:sldId id="388" r:id="rId184"/>
    <p:sldId id="389" r:id="rId185"/>
    <p:sldId id="519" r:id="rId186"/>
    <p:sldId id="520" r:id="rId187"/>
    <p:sldId id="392" r:id="rId188"/>
    <p:sldId id="521" r:id="rId189"/>
    <p:sldId id="522" r:id="rId190"/>
    <p:sldId id="539" r:id="rId191"/>
    <p:sldId id="523" r:id="rId192"/>
    <p:sldId id="524" r:id="rId193"/>
    <p:sldId id="525" r:id="rId194"/>
    <p:sldId id="526" r:id="rId195"/>
    <p:sldId id="527" r:id="rId196"/>
    <p:sldId id="528" r:id="rId197"/>
    <p:sldId id="529" r:id="rId198"/>
    <p:sldId id="530" r:id="rId199"/>
    <p:sldId id="531" r:id="rId200"/>
    <p:sldId id="532" r:id="rId201"/>
    <p:sldId id="533" r:id="rId202"/>
    <p:sldId id="534" r:id="rId203"/>
    <p:sldId id="535" r:id="rId204"/>
    <p:sldId id="536" r:id="rId205"/>
    <p:sldId id="537" r:id="rId20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5407" autoAdjust="0"/>
  </p:normalViewPr>
  <p:slideViewPr>
    <p:cSldViewPr>
      <p:cViewPr>
        <p:scale>
          <a:sx n="103" d="100"/>
          <a:sy n="103" d="100"/>
        </p:scale>
        <p:origin x="-1398" y="2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1"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tableStyles" Target="tableStyle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presProps" Target="presProps.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4/23/2015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4/23/2015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three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t>
            </a:r>
            <a:r>
              <a:rPr lang="en-US" sz="1200" kern="1200" baseline="0" dirty="0" smtClean="0">
                <a:solidFill>
                  <a:schemeClr val="tx1"/>
                </a:solidFill>
                <a:latin typeface="+mn-lt"/>
                <a:ea typeface="+mn-ea"/>
                <a:cs typeface="+mn-cs"/>
              </a:rPr>
              <a:t>a ‘package’?</a:t>
            </a:r>
          </a:p>
          <a:p>
            <a:pPr>
              <a:buFont typeface="Arial" pitchFamily="34" charset="0"/>
              <a:buChar char="•"/>
            </a:pPr>
            <a:r>
              <a:rPr lang="en-US" sz="1200" kern="1200" baseline="0" dirty="0" smtClean="0">
                <a:solidFill>
                  <a:schemeClr val="tx1"/>
                </a:solidFill>
                <a:latin typeface="+mn-lt"/>
                <a:ea typeface="+mn-ea"/>
                <a:cs typeface="+mn-cs"/>
              </a:rPr>
              <a:t>What is included in a package?</a:t>
            </a:r>
          </a:p>
          <a:p>
            <a:pPr>
              <a:buFont typeface="Arial" pitchFamily="34" charset="0"/>
              <a:buChar char="•"/>
            </a:pPr>
            <a:r>
              <a:rPr lang="en-US" sz="1200" kern="1200" baseline="0" dirty="0" smtClean="0">
                <a:solidFill>
                  <a:schemeClr val="tx1"/>
                </a:solidFill>
                <a:latin typeface="+mn-lt"/>
                <a:ea typeface="+mn-ea"/>
                <a:cs typeface="+mn-cs"/>
              </a:rPr>
              <a:t>What are the benefits of packages?</a:t>
            </a:r>
          </a:p>
          <a:p>
            <a:pPr>
              <a:buFont typeface="Arial" pitchFamily="34" charset="0"/>
              <a:buNone/>
            </a:pPr>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Who provides tour packages?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types of packages exist?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Personal reflection of tour packages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Audience to reflect on tour packages they have taken in the past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types of packages in today’s world</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is included in a tourism package?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Provide examples of each type of component</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&amp;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Provide examples of each type of component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Provide examples of each type of client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their needs?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do these tourism operators make packages?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examples of different market segments?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characteristics of these segments?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examples of subcategories for these different market segments?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examples of subcategories for these different market segments?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their needs?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How can you identifying client requirements?</a:t>
            </a:r>
            <a:endParaRPr lang="en-AU"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Discuss the questions in the slide.</a:t>
            </a:r>
            <a:endParaRPr lang="en-AU" sz="1200" b="0" dirty="0">
              <a:latin typeface="+mn-lt"/>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mn-lt"/>
              </a:rPr>
              <a:t>Provide</a:t>
            </a:r>
            <a:r>
              <a:rPr lang="en-AU" sz="1200" b="0" baseline="0" dirty="0" smtClean="0">
                <a:latin typeface="+mn-lt"/>
              </a:rPr>
              <a:t> examples of each.</a:t>
            </a:r>
            <a:endParaRPr lang="en-AU"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needs?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cater to these?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needs?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cater to these?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are the needs for each of these customer types?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needs?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cater to these?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&amp;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accommodate these needs when designing packages?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2</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Discuss the questions in the slide.</a:t>
            </a:r>
            <a:endParaRPr lang="en-AU"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What are examples of trends for each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How can these</a:t>
            </a:r>
            <a:r>
              <a:rPr lang="en-AU" sz="1200" b="0" baseline="0" dirty="0" smtClean="0">
                <a:latin typeface="Helvetica" pitchFamily="34" charset="0"/>
              </a:rPr>
              <a:t> trends affect tour packages that may be created?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latin typeface="Helvetica" pitchFamily="34" charset="0"/>
              </a:rPr>
              <a:t>Identify packages based on these trends?</a:t>
            </a:r>
            <a:endParaRPr lang="en-AU"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What are examples of trends for each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How can these</a:t>
            </a:r>
            <a:r>
              <a:rPr lang="en-AU" sz="1200" b="0" baseline="0" dirty="0" smtClean="0">
                <a:latin typeface="Helvetica" pitchFamily="34" charset="0"/>
              </a:rPr>
              <a:t> trends affect tour packages that may be created?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latin typeface="Helvetica" pitchFamily="34" charset="0"/>
              </a:rPr>
              <a:t>Identify packages based on these trends?</a:t>
            </a:r>
            <a:endParaRPr lang="en-AU"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statistics</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Discuss questions in the slide</a:t>
            </a:r>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industry statistics</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How can you gather this information?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industry statistics</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How can you gather this information?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industry statistics</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How can you gather this information?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industry statistics</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How can you gather this information?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importance of tourism industry statistics &amp; Activity</a:t>
            </a:r>
            <a:endParaRPr lang="en-US" sz="1200" b="1" dirty="0" smtClean="0"/>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latin typeface="+mn-lt"/>
                <a:ea typeface="+mn-ea"/>
                <a:cs typeface="+mn-cs"/>
              </a:rPr>
              <a:t>How can you gather information using these methods?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3</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Demonstration and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audience copies of a planner.</a:t>
            </a:r>
          </a:p>
          <a:p>
            <a:pPr>
              <a:buFont typeface="Arial" pitchFamily="34" charset="0"/>
              <a:buChar char="•"/>
            </a:pPr>
            <a:r>
              <a:rPr lang="en-AU" sz="1200" kern="1200" baseline="0" dirty="0" smtClean="0">
                <a:solidFill>
                  <a:schemeClr val="tx1"/>
                </a:solidFill>
                <a:latin typeface="+mn-lt"/>
                <a:ea typeface="+mn-ea"/>
                <a:cs typeface="+mn-cs"/>
              </a:rPr>
              <a:t>Audience to create their own planners or think of questions they would include in their own planners.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4</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Why is it important?</a:t>
            </a:r>
          </a:p>
          <a:p>
            <a:pPr>
              <a:buFont typeface="Arial" pitchFamily="34" charset="0"/>
              <a:buChar char="•"/>
            </a:pPr>
            <a:r>
              <a:rPr lang="en-AU" sz="1200" kern="1200" baseline="0" dirty="0" smtClean="0">
                <a:solidFill>
                  <a:schemeClr val="tx1"/>
                </a:solidFill>
                <a:latin typeface="+mn-lt"/>
                <a:ea typeface="+mn-ea"/>
                <a:cs typeface="+mn-cs"/>
              </a:rPr>
              <a:t>What needs to be considered?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requirements under each point?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requirements under each point?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requirements under each point?</a:t>
            </a:r>
          </a:p>
          <a:p>
            <a:pPr>
              <a:buFont typeface="Arial" pitchFamily="34" charset="0"/>
              <a:buChar char="•"/>
            </a:pPr>
            <a:r>
              <a:rPr lang="en-AU" sz="1200" kern="1200" baseline="0" dirty="0" smtClean="0">
                <a:solidFill>
                  <a:schemeClr val="tx1"/>
                </a:solidFill>
                <a:latin typeface="+mn-lt"/>
                <a:ea typeface="+mn-ea"/>
                <a:cs typeface="+mn-cs"/>
              </a:rPr>
              <a:t>Complete Activity 5</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spcBef>
                <a:spcPts val="600"/>
              </a:spcBef>
              <a:spcAft>
                <a:spcPts val="1200"/>
              </a:spcAft>
              <a:buFont typeface="Arial" pitchFamily="34" charset="0"/>
              <a:buChar char="•"/>
            </a:pPr>
            <a:r>
              <a:rPr lang="en-US" sz="1200" dirty="0" smtClean="0">
                <a:latin typeface="Helvetica" pitchFamily="34" charset="0"/>
              </a:rPr>
              <a:t>What are examples of these tours?</a:t>
            </a:r>
          </a:p>
          <a:p>
            <a:pPr>
              <a:spcBef>
                <a:spcPts val="600"/>
              </a:spcBef>
              <a:spcAft>
                <a:spcPts val="1200"/>
              </a:spcAft>
              <a:buFont typeface="Arial" pitchFamily="34" charset="0"/>
              <a:buChar char="•"/>
            </a:pPr>
            <a:r>
              <a:rPr lang="en-US" sz="1200" dirty="0" smtClean="0">
                <a:latin typeface="Helvetica" pitchFamily="34" charset="0"/>
              </a:rPr>
              <a:t>What are the advantages / disadvantages of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inclusions for these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popular locations for tours in your country?</a:t>
            </a:r>
          </a:p>
          <a:p>
            <a:pPr>
              <a:buFont typeface="Arial" pitchFamily="34" charset="0"/>
              <a:buChar char="•"/>
            </a:pPr>
            <a:r>
              <a:rPr lang="en-AU" sz="1200" kern="1200" baseline="0" dirty="0" smtClean="0">
                <a:solidFill>
                  <a:schemeClr val="tx1"/>
                </a:solidFill>
                <a:latin typeface="+mn-lt"/>
                <a:ea typeface="+mn-ea"/>
                <a:cs typeface="+mn-cs"/>
              </a:rPr>
              <a:t>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6</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considerations.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considerations.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 under each category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 under each category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 &amp;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 under each category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7</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US" sz="1200" kern="1200" baseline="0" dirty="0" smtClean="0">
                <a:solidFill>
                  <a:schemeClr val="tx1"/>
                </a:solidFill>
                <a:latin typeface="+mn-lt"/>
                <a:ea typeface="+mn-ea"/>
                <a:cs typeface="+mn-cs"/>
              </a:rPr>
              <a:t>How can you source products and services for packages?</a:t>
            </a:r>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examples for each of these points.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 in the slide.</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businesses for each type of business &amp;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Identify actual companies for each type of tourism business</a:t>
            </a:r>
          </a:p>
          <a:p>
            <a:pPr>
              <a:buFont typeface="Arial" pitchFamily="34" charset="0"/>
              <a:buChar char="•"/>
            </a:pPr>
            <a:r>
              <a:rPr lang="en-AU" sz="1200" kern="1200" baseline="0" dirty="0" smtClean="0">
                <a:solidFill>
                  <a:schemeClr val="tx1"/>
                </a:solidFill>
                <a:latin typeface="+mn-lt"/>
                <a:ea typeface="+mn-ea"/>
                <a:cs typeface="+mn-cs"/>
              </a:rPr>
              <a:t>Complete Activity 8</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latin typeface="+mn-lt"/>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latin typeface="+mn-lt"/>
                <a:ea typeface="+mn-ea"/>
                <a:cs typeface="+mn-cs"/>
              </a:rPr>
              <a:t>What format would you like it in?</a:t>
            </a: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Describe</a:t>
            </a:r>
            <a:r>
              <a:rPr lang="en-US" sz="1200" b="0" kern="1200" baseline="0" dirty="0" smtClean="0">
                <a:solidFill>
                  <a:schemeClr val="tx1"/>
                </a:solidFill>
                <a:latin typeface="+mn-lt"/>
                <a:ea typeface="+mn-ea"/>
                <a:cs typeface="+mn-cs"/>
              </a:rPr>
              <a:t> the process that you have used in the past when conducting research.</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the activities and benefits for each of these steps?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None/>
            </a:pPr>
            <a:r>
              <a:rPr lang="en-US" sz="1200" b="0" kern="1200" dirty="0" smtClean="0">
                <a:solidFill>
                  <a:schemeClr val="tx1"/>
                </a:solidFill>
                <a:latin typeface="+mn-lt"/>
                <a:ea typeface="+mn-ea"/>
                <a:cs typeface="+mn-cs"/>
              </a:rPr>
              <a:t>For</a:t>
            </a:r>
            <a:r>
              <a:rPr lang="en-US" sz="1200" b="0" kern="1200" baseline="0" dirty="0" smtClean="0">
                <a:solidFill>
                  <a:schemeClr val="tx1"/>
                </a:solidFill>
                <a:latin typeface="+mn-lt"/>
                <a:ea typeface="+mn-ea"/>
                <a:cs typeface="+mn-cs"/>
              </a:rPr>
              <a:t> a case study of your choice, identify:</a:t>
            </a:r>
          </a:p>
          <a:p>
            <a:pPr>
              <a:spcBef>
                <a:spcPts val="600"/>
              </a:spcBef>
              <a:spcAft>
                <a:spcPts val="1200"/>
              </a:spcAft>
              <a:buFont typeface="Arial" pitchFamily="34" charset="0"/>
              <a:buChar char="•"/>
            </a:pPr>
            <a:r>
              <a:rPr lang="en-AU" sz="1200" b="0" dirty="0" smtClean="0">
                <a:latin typeface="Helvetica" pitchFamily="34" charset="0"/>
              </a:rPr>
              <a:t>Research topics</a:t>
            </a:r>
            <a:endParaRPr lang="en-US" sz="1200" b="0" dirty="0" smtClean="0">
              <a:latin typeface="Helvetica" pitchFamily="34" charset="0"/>
            </a:endParaRPr>
          </a:p>
          <a:p>
            <a:pPr>
              <a:spcBef>
                <a:spcPts val="600"/>
              </a:spcBef>
              <a:spcAft>
                <a:spcPts val="1200"/>
              </a:spcAft>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examples of each?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other examples of primary data?</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is the difference between these two types of research?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examples of each?</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questions in the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the benefits</a:t>
            </a:r>
            <a:r>
              <a:rPr lang="en-US" sz="1200" b="0" kern="1200" baseline="0" dirty="0" smtClean="0">
                <a:solidFill>
                  <a:schemeClr val="tx1"/>
                </a:solidFill>
                <a:latin typeface="+mn-lt"/>
                <a:ea typeface="+mn-ea"/>
                <a:cs typeface="+mn-cs"/>
              </a:rPr>
              <a:t> of collecting these pieces of data?</a:t>
            </a:r>
            <a:endParaRPr lang="en-US" sz="1200" b="0" kern="120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other types of secondary data would you collect?</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the benefits</a:t>
            </a:r>
            <a:r>
              <a:rPr lang="en-US" sz="1200" b="0" kern="1200" baseline="0" dirty="0" smtClean="0">
                <a:solidFill>
                  <a:schemeClr val="tx1"/>
                </a:solidFill>
                <a:latin typeface="+mn-lt"/>
                <a:ea typeface="+mn-ea"/>
                <a:cs typeface="+mn-cs"/>
              </a:rPr>
              <a:t> of collecting these pieces of data?</a:t>
            </a:r>
            <a:endParaRPr lang="en-US" sz="1200" b="0" kern="120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other types of secondary data would you collect?</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information is found from these sources?</a:t>
            </a:r>
          </a:p>
          <a:p>
            <a:pPr>
              <a:buFont typeface="Arial" pitchFamily="34" charset="0"/>
              <a:buChar char="•"/>
            </a:pPr>
            <a:r>
              <a:rPr lang="en-US" sz="1200" b="0" kern="1200" dirty="0" smtClean="0">
                <a:solidFill>
                  <a:schemeClr val="tx1"/>
                </a:solidFill>
                <a:latin typeface="+mn-lt"/>
                <a:ea typeface="+mn-ea"/>
                <a:cs typeface="+mn-cs"/>
              </a:rPr>
              <a:t>What types of secondary data</a:t>
            </a:r>
            <a:r>
              <a:rPr lang="en-US" sz="1200" b="0" kern="1200" baseline="0" dirty="0" smtClean="0">
                <a:solidFill>
                  <a:schemeClr val="tx1"/>
                </a:solidFill>
                <a:latin typeface="+mn-lt"/>
                <a:ea typeface="+mn-ea"/>
                <a:cs typeface="+mn-cs"/>
              </a:rPr>
              <a:t> would you seek?</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Why</a:t>
            </a:r>
            <a:r>
              <a:rPr lang="en-US" sz="1200" b="0" kern="1200" baseline="0" dirty="0" smtClean="0">
                <a:solidFill>
                  <a:schemeClr val="tx1"/>
                </a:solidFill>
                <a:latin typeface="+mn-lt"/>
                <a:ea typeface="+mn-ea"/>
                <a:cs typeface="+mn-cs"/>
              </a:rPr>
              <a:t> is this source of information often the most effective?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a:t>
            </a:r>
            <a:r>
              <a:rPr lang="en-US" sz="1200" b="0" kern="1200" baseline="0" dirty="0" smtClean="0">
                <a:solidFill>
                  <a:schemeClr val="tx1"/>
                </a:solidFill>
                <a:latin typeface="+mn-lt"/>
                <a:ea typeface="+mn-ea"/>
                <a:cs typeface="+mn-cs"/>
              </a:rPr>
              <a:t> question in the slide.</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information can come from each of these 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methods of receiving feedback</a:t>
            </a:r>
          </a:p>
          <a:p>
            <a:pPr>
              <a:buFont typeface="Arial" pitchFamily="34" charset="0"/>
              <a:buChar char="•"/>
            </a:pPr>
            <a:r>
              <a:rPr lang="en-AU" sz="1200" kern="1200" baseline="0" dirty="0" smtClean="0">
                <a:solidFill>
                  <a:schemeClr val="tx1"/>
                </a:solidFill>
                <a:latin typeface="+mn-lt"/>
                <a:ea typeface="+mn-ea"/>
                <a:cs typeface="+mn-cs"/>
              </a:rPr>
              <a:t>What are the advantages of getting feedback in this manner?</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activities associated with these points</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are the benefits of visiting identified sources?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these benefits of visiting identified sources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these benefits of visiting identified sources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these benefits of setting up networks?</a:t>
            </a:r>
          </a:p>
          <a:p>
            <a:pPr>
              <a:buFont typeface="Arial" pitchFamily="34" charset="0"/>
              <a:buChar char="•"/>
            </a:pPr>
            <a:r>
              <a:rPr lang="en-AU" sz="1200" b="0" kern="1200" dirty="0" smtClean="0">
                <a:solidFill>
                  <a:schemeClr val="tx1"/>
                </a:solidFill>
                <a:latin typeface="+mn-lt"/>
                <a:ea typeface="+mn-ea"/>
                <a:cs typeface="+mn-cs"/>
              </a:rPr>
              <a:t>Who would you have in your network?</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activities associated with each point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activities associated with each point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activities associated with each point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activities associated with each point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activities associated with each point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suppliers &amp; Research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discuss the different types of companies under each point</a:t>
            </a:r>
          </a:p>
          <a:p>
            <a:pPr>
              <a:buFont typeface="Arial" pitchFamily="34" charset="0"/>
              <a:buChar char="•"/>
            </a:pPr>
            <a:r>
              <a:rPr lang="en-AU" sz="1200" kern="1200" baseline="0" dirty="0" smtClean="0">
                <a:solidFill>
                  <a:schemeClr val="tx1"/>
                </a:solidFill>
                <a:latin typeface="+mn-lt"/>
                <a:ea typeface="+mn-ea"/>
                <a:cs typeface="+mn-cs"/>
              </a:rPr>
              <a:t>Audience to research companies under each of these points and identify the services they provide to travel agents and customers.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preferred supplier agreement</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example of a preferred supplier agreement.</a:t>
            </a:r>
          </a:p>
          <a:p>
            <a:pPr>
              <a:buFont typeface="Arial" pitchFamily="34" charset="0"/>
              <a:buChar char="•"/>
            </a:pPr>
            <a:r>
              <a:rPr lang="en-AU" sz="1200" kern="1200" baseline="0" dirty="0" smtClean="0">
                <a:solidFill>
                  <a:schemeClr val="tx1"/>
                </a:solidFill>
                <a:latin typeface="+mn-lt"/>
                <a:ea typeface="+mn-ea"/>
                <a:cs typeface="+mn-cs"/>
              </a:rPr>
              <a:t>What needs to be considered when developing a preferred supplier agreement?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activities are performed under each of these points?</a:t>
            </a:r>
          </a:p>
          <a:p>
            <a:pPr>
              <a:buFont typeface="Arial" pitchFamily="34" charset="0"/>
              <a:buChar char="•"/>
            </a:pPr>
            <a:r>
              <a:rPr lang="en-AU" sz="1200" kern="1200" baseline="0" dirty="0" smtClean="0">
                <a:solidFill>
                  <a:schemeClr val="tx1"/>
                </a:solidFill>
                <a:latin typeface="+mn-lt"/>
                <a:ea typeface="+mn-ea"/>
                <a:cs typeface="+mn-cs"/>
              </a:rPr>
              <a:t>How can you improve these individual roles?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activities are performed under each of these points?</a:t>
            </a:r>
          </a:p>
          <a:p>
            <a:pPr>
              <a:buFont typeface="Arial" pitchFamily="34" charset="0"/>
              <a:buChar char="•"/>
            </a:pPr>
            <a:r>
              <a:rPr lang="en-AU" sz="1200" kern="1200" baseline="0" dirty="0" smtClean="0">
                <a:solidFill>
                  <a:schemeClr val="tx1"/>
                </a:solidFill>
                <a:latin typeface="+mn-lt"/>
                <a:ea typeface="+mn-ea"/>
                <a:cs typeface="+mn-cs"/>
              </a:rPr>
              <a:t>How can you improve these individual roles?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identifying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selecting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identifying suppliers </a:t>
            </a:r>
            <a:r>
              <a:rPr lang="en-AU" sz="1200" b="1" kern="1200" baseline="0" dirty="0" smtClean="0">
                <a:solidFill>
                  <a:schemeClr val="tx1"/>
                </a:solidFill>
                <a:latin typeface="+mn-lt"/>
                <a:ea typeface="+mn-ea"/>
                <a:cs typeface="+mn-cs"/>
              </a:rPr>
              <a:t>&amp;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selecting suppliers.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9</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t>
            </a:r>
            <a:r>
              <a:rPr lang="en-US" sz="1200" kern="1200" baseline="0" dirty="0" smtClean="0">
                <a:solidFill>
                  <a:schemeClr val="tx1"/>
                </a:solidFill>
                <a:latin typeface="+mn-lt"/>
                <a:ea typeface="+mn-ea"/>
                <a:cs typeface="+mn-cs"/>
              </a:rPr>
              <a:t>associated with creating packages?</a:t>
            </a:r>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questions in the slide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Briefly introduce the concept of quotations and itineraries.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can information be recorded?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and Questions &amp;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considerations.</a:t>
            </a:r>
          </a:p>
          <a:p>
            <a:pPr>
              <a:buFont typeface="Arial" pitchFamily="34" charset="0"/>
              <a:buChar char="•"/>
            </a:pPr>
            <a:r>
              <a:rPr lang="en-AU" sz="1200" kern="1200" baseline="0" dirty="0" smtClean="0">
                <a:solidFill>
                  <a:schemeClr val="tx1"/>
                </a:solidFill>
                <a:latin typeface="+mn-lt"/>
                <a:ea typeface="+mn-ea"/>
                <a:cs typeface="+mn-cs"/>
              </a:rPr>
              <a:t>How would they affect the construction of a quotation?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10</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considerations.</a:t>
            </a:r>
          </a:p>
          <a:p>
            <a:pPr>
              <a:buFont typeface="Arial" pitchFamily="34" charset="0"/>
              <a:buChar char="•"/>
            </a:pPr>
            <a:r>
              <a:rPr lang="en-AU" sz="1200" kern="1200" baseline="0" dirty="0" smtClean="0">
                <a:solidFill>
                  <a:schemeClr val="tx1"/>
                </a:solidFill>
                <a:latin typeface="+mn-lt"/>
                <a:ea typeface="+mn-ea"/>
                <a:cs typeface="+mn-cs"/>
              </a:rPr>
              <a:t>What other considerations would you take into account?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steps</a:t>
            </a:r>
          </a:p>
          <a:p>
            <a:pPr>
              <a:buFont typeface="Arial" pitchFamily="34" charset="0"/>
              <a:buChar char="•"/>
            </a:pPr>
            <a:r>
              <a:rPr lang="en-AU" sz="1200" kern="1200" baseline="0" dirty="0" smtClean="0">
                <a:solidFill>
                  <a:schemeClr val="tx1"/>
                </a:solidFill>
                <a:latin typeface="+mn-lt"/>
                <a:ea typeface="+mn-ea"/>
                <a:cs typeface="+mn-cs"/>
              </a:rPr>
              <a:t>They will be described in more detail in later sections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steps</a:t>
            </a:r>
          </a:p>
          <a:p>
            <a:pPr>
              <a:buFont typeface="Arial" pitchFamily="34" charset="0"/>
              <a:buChar char="•"/>
            </a:pPr>
            <a:r>
              <a:rPr lang="en-AU" sz="1200" kern="1200" baseline="0" dirty="0" smtClean="0">
                <a:solidFill>
                  <a:schemeClr val="tx1"/>
                </a:solidFill>
                <a:latin typeface="+mn-lt"/>
                <a:ea typeface="+mn-ea"/>
                <a:cs typeface="+mn-cs"/>
              </a:rPr>
              <a:t>They will be described in more detail in later sections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points for consideration for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Why are images so powerful in selling tourism packages?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each?</a:t>
            </a:r>
          </a:p>
          <a:p>
            <a:pPr>
              <a:buFont typeface="Arial" pitchFamily="34" charset="0"/>
              <a:buChar char="•"/>
            </a:pPr>
            <a:r>
              <a:rPr lang="en-AU" sz="1200" kern="1200" baseline="0" dirty="0" smtClean="0">
                <a:solidFill>
                  <a:schemeClr val="tx1"/>
                </a:solidFill>
                <a:latin typeface="+mn-lt"/>
                <a:ea typeface="+mn-ea"/>
                <a:cs typeface="+mn-cs"/>
              </a:rPr>
              <a:t>What are essential inclusions for you when you travel?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11</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factors for each of these points?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Provide examples of how these factors affect the duration of a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Provide examples of how these factors affect the duration of a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Provide examples of how these factors affect the duration of a tour</a:t>
            </a:r>
          </a:p>
          <a:p>
            <a:pPr>
              <a:buFont typeface="Arial" pitchFamily="34" charset="0"/>
              <a:buChar char="•"/>
            </a:pPr>
            <a:r>
              <a:rPr lang="en-AU" sz="1200" kern="1200" baseline="0" dirty="0" smtClean="0">
                <a:solidFill>
                  <a:schemeClr val="tx1"/>
                </a:solidFill>
                <a:latin typeface="+mn-lt"/>
                <a:ea typeface="+mn-ea"/>
                <a:cs typeface="+mn-cs"/>
              </a:rPr>
              <a:t>What are other examples?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processes associated with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12</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costs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costs must be taken into account when developing proposals?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 costs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calculating costs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 costs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calculating costs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Why are these considerations important?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negotiate costs with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negotiating costs with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negotiate costs with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negotiating costs with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negotiate costs with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other examples of direct costs?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a:t>
            </a:r>
            <a:r>
              <a:rPr lang="en-AU" sz="1200" b="1" baseline="0" dirty="0" smtClean="0">
                <a:latin typeface="Helvetica" pitchFamily="34" charset="0"/>
              </a:rPr>
              <a:t> mark ups and commissions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explain how to mark up costs</a:t>
            </a:r>
          </a:p>
          <a:p>
            <a:pPr>
              <a:buFont typeface="Arial" pitchFamily="34" charset="0"/>
              <a:buChar char="•"/>
            </a:pPr>
            <a:r>
              <a:rPr lang="en-AU" sz="1200" kern="1200" baseline="0" dirty="0" smtClean="0">
                <a:solidFill>
                  <a:schemeClr val="tx1"/>
                </a:solidFill>
                <a:latin typeface="+mn-lt"/>
                <a:ea typeface="+mn-ea"/>
                <a:cs typeface="+mn-cs"/>
              </a:rPr>
              <a:t>Trainer to show and demonstrate costing software or tools</a:t>
            </a:r>
          </a:p>
          <a:p>
            <a:pPr>
              <a:buFont typeface="Arial" pitchFamily="34" charset="0"/>
              <a:buChar char="•"/>
            </a:pPr>
            <a:r>
              <a:rPr lang="en-AU" sz="1200" kern="1200" baseline="0" dirty="0" smtClean="0">
                <a:solidFill>
                  <a:schemeClr val="tx1"/>
                </a:solidFill>
                <a:latin typeface="+mn-lt"/>
                <a:ea typeface="+mn-ea"/>
                <a:cs typeface="+mn-cs"/>
              </a:rPr>
              <a:t>Trainer to discuss the procedures associated with arranging and collecting commissions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the cost of these services in your country?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accurately calculate</a:t>
            </a:r>
            <a:r>
              <a:rPr lang="en-AU" sz="1200" b="1" baseline="0" dirty="0" smtClean="0">
                <a:latin typeface="Helvetica" pitchFamily="34" charset="0"/>
              </a:rPr>
              <a:t> and check </a:t>
            </a:r>
            <a:r>
              <a:rPr lang="en-AU" sz="1200" b="1" dirty="0" smtClean="0">
                <a:latin typeface="Helvetica" pitchFamily="34" charset="0"/>
              </a:rPr>
              <a:t>all product and service cost</a:t>
            </a:r>
            <a:r>
              <a:rPr lang="en-AU" sz="1200" b="1" baseline="0" dirty="0" smtClean="0">
                <a:latin typeface="Helvetica" pitchFamily="34" charset="0"/>
              </a:rPr>
              <a:t> </a:t>
            </a:r>
            <a:r>
              <a:rPr lang="en-AU" sz="1200" b="1" dirty="0" smtClean="0">
                <a:latin typeface="Helvetica" pitchFamily="34" charset="0"/>
              </a:rPr>
              <a:t>components </a:t>
            </a:r>
            <a:r>
              <a:rPr lang="en-AU" sz="1200" b="1" kern="1200" baseline="0" dirty="0" smtClean="0">
                <a:solidFill>
                  <a:schemeClr val="tx1"/>
                </a:solidFill>
                <a:latin typeface="+mn-lt"/>
                <a:ea typeface="+mn-ea"/>
                <a:cs typeface="+mn-cs"/>
              </a:rPr>
              <a:t>&amp;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explain how to check costs</a:t>
            </a:r>
          </a:p>
          <a:p>
            <a:pPr>
              <a:buFont typeface="Arial" pitchFamily="34" charset="0"/>
              <a:buChar char="•"/>
            </a:pPr>
            <a:r>
              <a:rPr lang="en-AU" sz="1200" kern="1200" baseline="0" dirty="0" smtClean="0">
                <a:solidFill>
                  <a:schemeClr val="tx1"/>
                </a:solidFill>
                <a:latin typeface="+mn-lt"/>
                <a:ea typeface="+mn-ea"/>
                <a:cs typeface="+mn-cs"/>
              </a:rPr>
              <a:t>Trainer to show and demonstrate costing software or tools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13</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List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Audience to prepare list of all possible terms and conditions affecting travel bookings and arrangements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 </a:t>
            </a:r>
            <a:r>
              <a:rPr lang="en-AU" sz="1200" b="1" kern="1200" baseline="0" dirty="0" smtClean="0">
                <a:solidFill>
                  <a:schemeClr val="tx1"/>
                </a:solidFill>
                <a:latin typeface="+mn-lt"/>
                <a:ea typeface="+mn-ea"/>
                <a:cs typeface="+mn-cs"/>
              </a:rPr>
              <a:t>&amp;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14</a:t>
            </a:r>
          </a:p>
          <a:p>
            <a:pPr>
              <a:buFont typeface="Arial" pitchFamily="34" charset="0"/>
              <a:buChar char="•"/>
            </a:pP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  (relevant for Slides 58-62)</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these documents?</a:t>
            </a:r>
          </a:p>
          <a:p>
            <a:pPr>
              <a:buFont typeface="Arial" pitchFamily="34" charset="0"/>
              <a:buChar char="•"/>
            </a:pPr>
            <a:r>
              <a:rPr lang="en-AU" sz="1200" b="0" kern="1200" baseline="0" noProof="0" dirty="0" smtClean="0">
                <a:solidFill>
                  <a:schemeClr val="tx1"/>
                </a:solidFill>
                <a:latin typeface="+mn-lt"/>
                <a:ea typeface="+mn-ea"/>
                <a:cs typeface="+mn-cs"/>
              </a:rPr>
              <a:t>How do these two documents differ?</a:t>
            </a:r>
          </a:p>
          <a:p>
            <a:pPr>
              <a:buFont typeface="Arial" pitchFamily="34" charset="0"/>
              <a:buChar char="•"/>
            </a:pPr>
            <a:r>
              <a:rPr lang="en-AU" sz="1200" b="0" kern="1200" baseline="0" noProof="0" dirty="0" smtClean="0">
                <a:solidFill>
                  <a:schemeClr val="tx1"/>
                </a:solidFill>
                <a:latin typeface="+mn-lt"/>
                <a:ea typeface="+mn-ea"/>
                <a:cs typeface="+mn-cs"/>
              </a:rPr>
              <a:t>What is included in these documents?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quotations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quotations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quotations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quotations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quotations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quotations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quotations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quotations</a:t>
            </a:r>
            <a:endParaRPr lang="en-AU" b="0" noProof="0" dirty="0" smtClean="0"/>
          </a:p>
          <a:p>
            <a:pPr>
              <a:buFont typeface="Arial" pitchFamily="34" charset="0"/>
              <a:buChar char="•"/>
            </a:pPr>
            <a:r>
              <a:rPr lang="en-AU" noProof="0" dirty="0" smtClean="0"/>
              <a:t>Discuss the question in the slide</a:t>
            </a:r>
          </a:p>
          <a:p>
            <a:pPr>
              <a:buFont typeface="Arial" pitchFamily="34" charset="0"/>
              <a:buChar char="•"/>
            </a:pPr>
            <a:r>
              <a:rPr lang="en-AU" noProof="0" dirty="0" smtClean="0"/>
              <a:t>Examples</a:t>
            </a:r>
            <a:r>
              <a:rPr lang="en-AU" baseline="0" noProof="0" dirty="0" smtClean="0"/>
              <a:t> on TM </a:t>
            </a:r>
            <a:r>
              <a:rPr lang="en-AU" baseline="0" noProof="0" smtClean="0"/>
              <a:t>Pages </a:t>
            </a:r>
            <a:r>
              <a:rPr lang="en-AU" baseline="0" noProof="0" smtClean="0"/>
              <a:t>127-129</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information is contained in an itinerary?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itineraries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itineraries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itineraries</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View  &amp; research itineraries &amp;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Trainer to show examples of itineraries</a:t>
            </a:r>
          </a:p>
          <a:p>
            <a:pPr>
              <a:buFont typeface="Arial" pitchFamily="34" charset="0"/>
              <a:buChar char="•"/>
            </a:pPr>
            <a:r>
              <a:rPr lang="en-AU" sz="1200" b="0" kern="1200" baseline="0" noProof="0" dirty="0" smtClean="0">
                <a:solidFill>
                  <a:schemeClr val="tx1"/>
                </a:solidFill>
                <a:latin typeface="+mn-lt"/>
                <a:ea typeface="+mn-ea"/>
                <a:cs typeface="+mn-cs"/>
              </a:rPr>
              <a:t>Participants can conduct internet research and download examples of itineraries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15</a:t>
            </a:r>
          </a:p>
          <a:p>
            <a:pPr>
              <a:buFont typeface="Arial" pitchFamily="34" charset="0"/>
              <a:buChar char="•"/>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How can you monitor sales?</a:t>
            </a:r>
          </a:p>
          <a:p>
            <a:pPr>
              <a:buFont typeface="Arial" pitchFamily="34" charset="0"/>
              <a:buChar char="•"/>
            </a:pPr>
            <a:r>
              <a:rPr lang="en-AU" sz="1200" kern="1200" baseline="0" dirty="0" smtClean="0">
                <a:solidFill>
                  <a:schemeClr val="tx1"/>
                </a:solidFill>
                <a:latin typeface="+mn-lt"/>
                <a:ea typeface="+mn-ea"/>
                <a:cs typeface="+mn-cs"/>
              </a:rPr>
              <a:t>What do you want to monitor?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the purpose of these activities?</a:t>
            </a:r>
          </a:p>
          <a:p>
            <a:pPr>
              <a:buFont typeface="Arial" pitchFamily="34" charset="0"/>
              <a:buChar char="•"/>
            </a:pPr>
            <a:r>
              <a:rPr lang="en-AU" sz="1200" kern="1200" baseline="0" dirty="0" smtClean="0">
                <a:solidFill>
                  <a:schemeClr val="tx1"/>
                </a:solidFill>
                <a:latin typeface="+mn-lt"/>
                <a:ea typeface="+mn-ea"/>
                <a:cs typeface="+mn-cs"/>
              </a:rPr>
              <a:t>What are associated with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information you would collect for each type of data?</a:t>
            </a:r>
          </a:p>
          <a:p>
            <a:pPr>
              <a:buFont typeface="Arial" pitchFamily="34" charset="0"/>
              <a:buChar char="•"/>
            </a:pPr>
            <a:r>
              <a:rPr lang="en-AU" sz="1200" kern="1200" baseline="0" dirty="0" smtClean="0">
                <a:solidFill>
                  <a:schemeClr val="tx1"/>
                </a:solidFill>
                <a:latin typeface="+mn-lt"/>
                <a:ea typeface="+mn-ea"/>
                <a:cs typeface="+mn-cs"/>
              </a:rPr>
              <a:t>How can you collect it?</a:t>
            </a:r>
          </a:p>
          <a:p>
            <a:pPr>
              <a:buFont typeface="Arial" pitchFamily="34" charset="0"/>
              <a:buChar char="•"/>
            </a:pPr>
            <a:r>
              <a:rPr lang="en-AU" sz="1200" kern="1200" baseline="0" dirty="0" smtClean="0">
                <a:solidFill>
                  <a:schemeClr val="tx1"/>
                </a:solidFill>
                <a:latin typeface="+mn-lt"/>
                <a:ea typeface="+mn-ea"/>
                <a:cs typeface="+mn-cs"/>
              </a:rPr>
              <a:t>Complete Activity 16</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Char char="•"/>
            </a:pPr>
            <a:r>
              <a:rPr lang="en-AU" sz="1200" kern="1200" baseline="0" dirty="0" smtClean="0">
                <a:solidFill>
                  <a:schemeClr val="tx1"/>
                </a:solidFill>
                <a:latin typeface="+mn-lt"/>
                <a:ea typeface="+mn-ea"/>
                <a:cs typeface="+mn-cs"/>
              </a:rPr>
              <a:t>Refer to TM Page 134 for examples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None/>
            </a:pPr>
            <a:r>
              <a:rPr lang="en-AU" sz="1200" kern="1200" baseline="0" dirty="0" smtClean="0">
                <a:solidFill>
                  <a:schemeClr val="tx1"/>
                </a:solidFill>
                <a:latin typeface="+mn-lt"/>
                <a:ea typeface="+mn-ea"/>
                <a:cs typeface="+mn-cs"/>
              </a:rPr>
              <a:t>For each type of promotional method discuss:</a:t>
            </a:r>
          </a:p>
          <a:p>
            <a:pPr>
              <a:buFont typeface="Arial" pitchFamily="34" charset="0"/>
              <a:buChar char="•"/>
            </a:pPr>
            <a:r>
              <a:rPr lang="en-AU" sz="1200" kern="1200" baseline="0" dirty="0" smtClean="0">
                <a:solidFill>
                  <a:schemeClr val="tx1"/>
                </a:solidFill>
                <a:latin typeface="+mn-lt"/>
                <a:ea typeface="+mn-ea"/>
                <a:cs typeface="+mn-cs"/>
              </a:rPr>
              <a:t>Its purpose</a:t>
            </a:r>
          </a:p>
          <a:p>
            <a:pPr>
              <a:buFont typeface="Arial" pitchFamily="34" charset="0"/>
              <a:buChar char="•"/>
            </a:pPr>
            <a:r>
              <a:rPr lang="en-AU" sz="1200" kern="1200" baseline="0" dirty="0" smtClean="0">
                <a:solidFill>
                  <a:schemeClr val="tx1"/>
                </a:solidFill>
                <a:latin typeface="+mn-lt"/>
                <a:ea typeface="+mn-ea"/>
                <a:cs typeface="+mn-cs"/>
              </a:rPr>
              <a:t>Advantages / disadvantages</a:t>
            </a:r>
          </a:p>
          <a:p>
            <a:pPr>
              <a:buFont typeface="Arial" pitchFamily="34" charset="0"/>
              <a:buChar char="•"/>
            </a:pPr>
            <a:r>
              <a:rPr lang="en-AU" sz="1200" kern="1200" baseline="0" dirty="0" smtClean="0">
                <a:solidFill>
                  <a:schemeClr val="tx1"/>
                </a:solidFill>
                <a:latin typeface="+mn-lt"/>
                <a:ea typeface="+mn-ea"/>
                <a:cs typeface="+mn-cs"/>
              </a:rPr>
              <a:t>Activities associated with it</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pPr>
              <a:buFont typeface="Arial" pitchFamily="34" charset="0"/>
              <a:buNone/>
            </a:pPr>
            <a:r>
              <a:rPr lang="en-AU" sz="1200" kern="1200" baseline="0" dirty="0" smtClean="0">
                <a:solidFill>
                  <a:schemeClr val="tx1"/>
                </a:solidFill>
                <a:latin typeface="+mn-lt"/>
                <a:ea typeface="+mn-ea"/>
                <a:cs typeface="+mn-cs"/>
              </a:rPr>
              <a:t>For each type of promotional method discuss:</a:t>
            </a:r>
          </a:p>
          <a:p>
            <a:pPr>
              <a:buFont typeface="Arial" pitchFamily="34" charset="0"/>
              <a:buChar char="•"/>
            </a:pPr>
            <a:r>
              <a:rPr lang="en-AU" sz="1200" kern="1200" baseline="0" dirty="0" smtClean="0">
                <a:solidFill>
                  <a:schemeClr val="tx1"/>
                </a:solidFill>
                <a:latin typeface="+mn-lt"/>
                <a:ea typeface="+mn-ea"/>
                <a:cs typeface="+mn-cs"/>
              </a:rPr>
              <a:t>Its purpose</a:t>
            </a:r>
          </a:p>
          <a:p>
            <a:pPr>
              <a:buFont typeface="Arial" pitchFamily="34" charset="0"/>
              <a:buChar char="•"/>
            </a:pPr>
            <a:r>
              <a:rPr lang="en-AU" sz="1200" kern="1200" baseline="0" dirty="0" smtClean="0">
                <a:solidFill>
                  <a:schemeClr val="tx1"/>
                </a:solidFill>
                <a:latin typeface="+mn-lt"/>
                <a:ea typeface="+mn-ea"/>
                <a:cs typeface="+mn-cs"/>
              </a:rPr>
              <a:t>Advantages / disadvantages</a:t>
            </a:r>
          </a:p>
          <a:p>
            <a:pPr>
              <a:buFont typeface="Arial" pitchFamily="34" charset="0"/>
              <a:buChar char="•"/>
            </a:pPr>
            <a:r>
              <a:rPr lang="en-AU" sz="1200" kern="1200" baseline="0" dirty="0" smtClean="0">
                <a:solidFill>
                  <a:schemeClr val="tx1"/>
                </a:solidFill>
                <a:latin typeface="+mn-lt"/>
                <a:ea typeface="+mn-ea"/>
                <a:cs typeface="+mn-cs"/>
              </a:rPr>
              <a:t>Activities associated with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17</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training activities can take place?</a:t>
            </a:r>
            <a:endParaRPr lang="en-AU" noProof="0" dirty="0" smtClean="0"/>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else dictates the need for training?</a:t>
            </a:r>
          </a:p>
          <a:p>
            <a:pPr>
              <a:buFont typeface="Arial" pitchFamily="34" charset="0"/>
              <a:buChar char="•"/>
            </a:pPr>
            <a:r>
              <a:rPr lang="en-AU" sz="1200" b="0" kern="1200" baseline="0" noProof="0" dirty="0" smtClean="0">
                <a:solidFill>
                  <a:schemeClr val="tx1"/>
                </a:solidFill>
                <a:latin typeface="+mn-lt"/>
                <a:ea typeface="+mn-ea"/>
                <a:cs typeface="+mn-cs"/>
              </a:rPr>
              <a:t>Is there any scheduled training that takes place each day, month, year?</a:t>
            </a:r>
            <a:endParaRPr lang="en-AU" noProof="0" dirty="0" smtClean="0"/>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 in the slide</a:t>
            </a:r>
          </a:p>
          <a:p>
            <a:pPr>
              <a:buFont typeface="Arial" pitchFamily="34" charset="0"/>
              <a:buChar char="•"/>
            </a:pPr>
            <a:r>
              <a:rPr lang="en-AU" sz="1200" kern="1200" baseline="0" dirty="0" smtClean="0">
                <a:solidFill>
                  <a:schemeClr val="tx1"/>
                </a:solidFill>
                <a:latin typeface="+mn-lt"/>
                <a:ea typeface="+mn-ea"/>
                <a:cs typeface="+mn-cs"/>
              </a:rPr>
              <a:t>Refer to TM Page 146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Complete Activity 18</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Activity</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Discuss the questions in the slide</a:t>
            </a:r>
          </a:p>
          <a:p>
            <a:pPr>
              <a:buFont typeface="Arial" pitchFamily="34" charset="0"/>
              <a:buChar char="•"/>
            </a:pPr>
            <a:r>
              <a:rPr lang="en-AU" sz="1200" kern="1200" baseline="0" dirty="0" smtClean="0">
                <a:solidFill>
                  <a:schemeClr val="tx1"/>
                </a:solidFill>
                <a:latin typeface="+mn-lt"/>
                <a:ea typeface="+mn-ea"/>
                <a:cs typeface="+mn-cs"/>
              </a:rPr>
              <a:t>Complete Activity 19</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4/23/2015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4/23/2015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4/23/2015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4/23/2015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4/23/2015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4/23/2015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4/23/2015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4/23/2015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4/23/2015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4/23/2015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4/23/2015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4/23/2015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6192" cy="1080120"/>
          </a:xfrm>
        </p:spPr>
        <p:txBody>
          <a:bodyPr>
            <a:normAutofit fontScale="90000"/>
          </a:bodyPr>
          <a:lstStyle/>
          <a:p>
            <a:r>
              <a:rPr lang="en-AU" sz="4000" dirty="0">
                <a:ln w="5000" cmpd="sng">
                  <a:noFill/>
                  <a:prstDash val="solid"/>
                </a:ln>
                <a:solidFill>
                  <a:srgbClr val="FF6600"/>
                </a:solidFill>
                <a:latin typeface="Helvetica" pitchFamily="34" charset="0"/>
              </a:rPr>
              <a:t>SOURCE </a:t>
            </a:r>
            <a:r>
              <a:rPr lang="en-AU" sz="4000" smtClean="0">
                <a:ln w="5000" cmpd="sng">
                  <a:noFill/>
                  <a:prstDash val="solid"/>
                </a:ln>
                <a:solidFill>
                  <a:srgbClr val="FF6600"/>
                </a:solidFill>
                <a:latin typeface="Helvetica" pitchFamily="34" charset="0"/>
              </a:rPr>
              <a:t>AnD</a:t>
            </a:r>
            <a:r>
              <a:rPr lang="en-AU" sz="4000" dirty="0" smtClean="0">
                <a:ln w="5000" cmpd="sng">
                  <a:noFill/>
                  <a:prstDash val="solid"/>
                </a:ln>
                <a:solidFill>
                  <a:srgbClr val="FF6600"/>
                </a:solidFill>
                <a:latin typeface="Helvetica" pitchFamily="34" charset="0"/>
              </a:rPr>
              <a:t> </a:t>
            </a:r>
            <a:r>
              <a:rPr lang="en-AU" sz="4000" dirty="0">
                <a:ln w="5000" cmpd="sng">
                  <a:noFill/>
                  <a:prstDash val="solid"/>
                </a:ln>
                <a:solidFill>
                  <a:srgbClr val="FF6600"/>
                </a:solidFill>
                <a:latin typeface="Helvetica" pitchFamily="34" charset="0"/>
              </a:rPr>
              <a:t>PACKAGE TOURISM PRODUCTS AND </a:t>
            </a:r>
            <a:r>
              <a:rPr lang="en-AU" sz="4000" dirty="0" smtClean="0">
                <a:ln w="5000" cmpd="sng">
                  <a:noFill/>
                  <a:prstDash val="solid"/>
                </a:ln>
                <a:solidFill>
                  <a:srgbClr val="FF6600"/>
                </a:solidFill>
                <a:latin typeface="Helvetica" pitchFamily="34" charset="0"/>
              </a:rPr>
              <a:t>SERVICES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62880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264989" y="1627090"/>
            <a:ext cx="3123435" cy="627908"/>
          </a:xfrm>
        </p:spPr>
        <p:txBody>
          <a:bodyPr>
            <a:noAutofit/>
          </a:bodyPr>
          <a:lstStyle/>
          <a:p>
            <a:r>
              <a:rPr lang="en-AU" b="1" dirty="0" smtClean="0">
                <a:latin typeface="Helvetica" pitchFamily="34" charset="0"/>
              </a:rPr>
              <a:t>D2.TCS.CL5.22</a:t>
            </a:r>
            <a:br>
              <a:rPr lang="en-AU" b="1" dirty="0" smtClean="0">
                <a:latin typeface="Helvetica" pitchFamily="34" charset="0"/>
              </a:rPr>
            </a:br>
            <a:r>
              <a:rPr lang="en-AU" b="1" dirty="0" smtClean="0">
                <a:latin typeface="Helvetica" pitchFamily="34" charset="0"/>
              </a:rPr>
              <a:t>D2.TTA.CL2.18</a:t>
            </a: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Describe the context for packages </a:t>
            </a:r>
          </a:p>
          <a:p>
            <a:pPr>
              <a:spcBef>
                <a:spcPts val="600"/>
              </a:spcBef>
              <a:spcAft>
                <a:spcPts val="1200"/>
              </a:spcAft>
            </a:pPr>
            <a:r>
              <a:rPr lang="en-AU" sz="2200" dirty="0" smtClean="0">
                <a:latin typeface="Helvetica" pitchFamily="34" charset="0"/>
              </a:rPr>
              <a:t>Source products and services for packages</a:t>
            </a:r>
          </a:p>
          <a:p>
            <a:pPr>
              <a:spcBef>
                <a:spcPts val="600"/>
              </a:spcBef>
              <a:spcAft>
                <a:spcPts val="1200"/>
              </a:spcAft>
            </a:pPr>
            <a:r>
              <a:rPr lang="en-AU" sz="2200" dirty="0" smtClean="0">
                <a:latin typeface="Helvetica" pitchFamily="34" charset="0"/>
              </a:rPr>
              <a:t>Create packages of products and services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Best Tour_129392636.jpg"/>
          <p:cNvPicPr>
            <a:picLocks noChangeAspect="1"/>
          </p:cNvPicPr>
          <p:nvPr/>
        </p:nvPicPr>
        <p:blipFill>
          <a:blip r:embed="rId3" cstate="print"/>
          <a:stretch>
            <a:fillRect/>
          </a:stretch>
        </p:blipFill>
        <p:spPr>
          <a:xfrm>
            <a:off x="6516216" y="2745736"/>
            <a:ext cx="1755042" cy="164096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80169094.jpg"/>
          <p:cNvPicPr>
            <a:picLocks noChangeAspect="1"/>
          </p:cNvPicPr>
          <p:nvPr/>
        </p:nvPicPr>
        <p:blipFill>
          <a:blip r:embed="rId3" cstate="print"/>
          <a:stretch>
            <a:fillRect/>
          </a:stretch>
        </p:blipFill>
        <p:spPr>
          <a:xfrm>
            <a:off x="6084168" y="3429000"/>
            <a:ext cx="2095504" cy="140189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12776"/>
            <a:ext cx="7237040" cy="4824536"/>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AU" sz="4000" b="1" i="1" dirty="0">
                <a:solidFill>
                  <a:srgbClr val="FF6600"/>
                </a:solidFill>
                <a:latin typeface="Helvetica" pitchFamily="34" charset="0"/>
              </a:rPr>
              <a:t>Describe the context for packages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Globe Lugg Plan Boat Bus in yellow colour_85552621.jpg"/>
          <p:cNvPicPr>
            <a:picLocks noChangeAspect="1"/>
          </p:cNvPicPr>
          <p:nvPr/>
        </p:nvPicPr>
        <p:blipFill>
          <a:blip r:embed="rId3" cstate="print"/>
          <a:stretch>
            <a:fillRect/>
          </a:stretch>
        </p:blipFill>
        <p:spPr>
          <a:xfrm>
            <a:off x="3491880" y="3068960"/>
            <a:ext cx="2448272" cy="183620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AU" sz="3400" b="1" dirty="0" smtClean="0">
                <a:solidFill>
                  <a:srgbClr val="FF6600"/>
                </a:solidFill>
                <a:latin typeface="Helvetica" pitchFamily="34" charset="0"/>
              </a:rPr>
              <a:t>Describe the context for packages</a:t>
            </a:r>
          </a:p>
        </p:txBody>
      </p:sp>
      <p:sp>
        <p:nvSpPr>
          <p:cNvPr id="3" name="Content Placeholder 2"/>
          <p:cNvSpPr>
            <a:spLocks noGrp="1"/>
          </p:cNvSpPr>
          <p:nvPr>
            <p:ph idx="1"/>
          </p:nvPr>
        </p:nvSpPr>
        <p:spPr>
          <a:xfrm>
            <a:off x="611560" y="1412776"/>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the clients for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client requirements</a:t>
            </a:r>
            <a:r>
              <a:rPr lang="en-AU" sz="2200" b="1" dirty="0" smtClean="0">
                <a:latin typeface="Helvetica" pitchFamily="34" charset="0"/>
              </a:rPr>
              <a:t> </a:t>
            </a:r>
            <a:r>
              <a:rPr lang="en-AU" sz="2200" dirty="0" smtClean="0">
                <a:latin typeface="Helvetica" pitchFamily="34" charset="0"/>
              </a:rPr>
              <a:t>in relation to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host enterprise requirements in relation to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purposes of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products and services</a:t>
            </a:r>
            <a:r>
              <a:rPr lang="en-AU" sz="2200" b="1" dirty="0" smtClean="0">
                <a:latin typeface="Helvetica" pitchFamily="34" charset="0"/>
              </a:rPr>
              <a:t> </a:t>
            </a:r>
            <a:r>
              <a:rPr lang="en-AU" sz="2200" dirty="0" smtClean="0">
                <a:latin typeface="Helvetica" pitchFamily="34" charset="0"/>
              </a:rPr>
              <a:t>for inclusion                             in packages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shutterstock_123035896.jpg"/>
          <p:cNvPicPr>
            <a:picLocks noChangeAspect="1"/>
          </p:cNvPicPr>
          <p:nvPr/>
        </p:nvPicPr>
        <p:blipFill>
          <a:blip r:embed="rId3" cstate="print"/>
          <a:stretch>
            <a:fillRect/>
          </a:stretch>
        </p:blipFill>
        <p:spPr>
          <a:xfrm>
            <a:off x="6516216" y="4312840"/>
            <a:ext cx="1884040" cy="125665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Tourism packages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6</a:t>
            </a:fld>
            <a:endParaRPr lang="en-US" dirty="0">
              <a:solidFill>
                <a:srgbClr val="FFFFFF"/>
              </a:solidFill>
            </a:endParaRPr>
          </a:p>
        </p:txBody>
      </p:sp>
      <p:sp>
        <p:nvSpPr>
          <p:cNvPr id="4" name="Content Placeholder 3"/>
          <p:cNvSpPr>
            <a:spLocks noGrp="1"/>
          </p:cNvSpPr>
          <p:nvPr>
            <p:ph sz="quarter" idx="4294967295"/>
          </p:nvPr>
        </p:nvSpPr>
        <p:spPr>
          <a:xfrm>
            <a:off x="612648" y="1412776"/>
            <a:ext cx="8153400" cy="4683224"/>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Importance of tourism packages</a:t>
            </a:r>
          </a:p>
          <a:p>
            <a:pPr>
              <a:spcBef>
                <a:spcPts val="600"/>
              </a:spcBef>
              <a:spcAft>
                <a:spcPts val="1200"/>
              </a:spcAft>
            </a:pPr>
            <a:r>
              <a:rPr lang="en-AU" sz="2200" dirty="0" smtClean="0">
                <a:latin typeface="Helvetica" pitchFamily="34" charset="0"/>
              </a:rPr>
              <a:t>Tourism packages are an integral part of the travel and tourism industry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ever increasing rise in popularity in tourism packages demonstrates that it still is an attractive option for many clients in meeting their travel needs</a:t>
            </a:r>
            <a:endParaRPr lang="en-US" sz="2200" dirty="0" smtClean="0">
              <a:latin typeface="Helvetica" pitchFamily="34" charset="0"/>
            </a:endParaRP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5" name="Picture 4" descr="shutterstock_2433437.jpg"/>
          <p:cNvPicPr>
            <a:picLocks noChangeAspect="1"/>
          </p:cNvPicPr>
          <p:nvPr/>
        </p:nvPicPr>
        <p:blipFill>
          <a:blip r:embed="rId3" cstate="print"/>
          <a:stretch>
            <a:fillRect/>
          </a:stretch>
        </p:blipFill>
        <p:spPr>
          <a:xfrm>
            <a:off x="6372200" y="4221088"/>
            <a:ext cx="2065414" cy="1373500"/>
          </a:xfrm>
          <a:prstGeom prst="rect">
            <a:avLst/>
          </a:prstGeom>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Tourism packages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7</a:t>
            </a:fld>
            <a:endParaRPr lang="en-US" dirty="0">
              <a:solidFill>
                <a:srgbClr val="FFFFFF"/>
              </a:solidFill>
            </a:endParaRPr>
          </a:p>
        </p:txBody>
      </p:sp>
      <p:sp>
        <p:nvSpPr>
          <p:cNvPr id="4" name="Content Placeholder 3"/>
          <p:cNvSpPr>
            <a:spLocks noGrp="1"/>
          </p:cNvSpPr>
          <p:nvPr>
            <p:ph sz="quarter" idx="4294967295"/>
          </p:nvPr>
        </p:nvSpPr>
        <p:spPr>
          <a:xfrm>
            <a:off x="612648" y="1412776"/>
            <a:ext cx="8153400" cy="4683224"/>
          </a:xfrm>
          <a:prstGeom prst="rect">
            <a:avLst/>
          </a:prstGeom>
        </p:spPr>
        <p:txBody>
          <a:bodyPr>
            <a:normAutofit/>
          </a:bodyPr>
          <a:lstStyle/>
          <a:p>
            <a:pPr>
              <a:spcBef>
                <a:spcPts val="600"/>
              </a:spcBef>
              <a:spcAft>
                <a:spcPts val="1200"/>
              </a:spcAft>
              <a:buNone/>
            </a:pPr>
            <a:r>
              <a:rPr lang="en-AU" sz="2200" b="1" dirty="0" smtClean="0">
                <a:latin typeface="Helvetica" pitchFamily="34" charset="0"/>
              </a:rPr>
              <a:t>Variety of tourism packages</a:t>
            </a:r>
          </a:p>
          <a:p>
            <a:pPr>
              <a:spcBef>
                <a:spcPts val="600"/>
              </a:spcBef>
              <a:spcAft>
                <a:spcPts val="1200"/>
              </a:spcAft>
              <a:buNone/>
            </a:pPr>
            <a:r>
              <a:rPr lang="en-AU" sz="2200" dirty="0" smtClean="0">
                <a:latin typeface="Helvetica" pitchFamily="34" charset="0"/>
              </a:rPr>
              <a:t>Today, travel packages are aimed at: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Different clients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With different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Seeking different experiences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For different durations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 all corners of the world</a:t>
            </a:r>
            <a:endParaRPr lang="en-US" sz="2200" dirty="0" smtClean="0">
              <a:latin typeface="Helvetica" pitchFamily="34" charset="0"/>
            </a:endParaRP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A12 shutterstock_159357962.jpg"/>
          <p:cNvPicPr/>
          <p:nvPr/>
        </p:nvPicPr>
        <p:blipFill>
          <a:blip r:embed="rId3" cstate="print"/>
          <a:stretch>
            <a:fillRect/>
          </a:stretch>
        </p:blipFill>
        <p:spPr>
          <a:xfrm>
            <a:off x="5364088" y="2924944"/>
            <a:ext cx="2664296" cy="1800200"/>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Tourism packages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8</a:t>
            </a:fld>
            <a:endParaRPr lang="en-US" dirty="0">
              <a:solidFill>
                <a:srgbClr val="FFFFFF"/>
              </a:solidFill>
            </a:endParaRPr>
          </a:p>
        </p:txBody>
      </p:sp>
      <p:sp>
        <p:nvSpPr>
          <p:cNvPr id="4" name="Content Placeholder 3"/>
          <p:cNvSpPr>
            <a:spLocks noGrp="1"/>
          </p:cNvSpPr>
          <p:nvPr>
            <p:ph sz="quarter" idx="4294967295"/>
          </p:nvPr>
        </p:nvSpPr>
        <p:spPr>
          <a:xfrm>
            <a:off x="612648" y="1412776"/>
            <a:ext cx="8153400" cy="4683224"/>
          </a:xfrm>
          <a:prstGeom prst="rect">
            <a:avLst/>
          </a:prstGeom>
        </p:spPr>
        <p:txBody>
          <a:bodyPr>
            <a:normAutofit/>
          </a:bodyPr>
          <a:lstStyle/>
          <a:p>
            <a:pPr>
              <a:spcBef>
                <a:spcPts val="600"/>
              </a:spcBef>
              <a:spcAft>
                <a:spcPts val="1200"/>
              </a:spcAft>
              <a:buNone/>
            </a:pPr>
            <a:r>
              <a:rPr lang="en-AU" sz="2200" b="1" dirty="0" smtClean="0">
                <a:latin typeface="Helvetica" pitchFamily="34" charset="0"/>
              </a:rPr>
              <a:t>What is packaging?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Many tourism businesses package various tourism products and present them as a combined product to their client</a:t>
            </a:r>
          </a:p>
          <a:p>
            <a:pPr>
              <a:spcBef>
                <a:spcPts val="600"/>
              </a:spcBef>
              <a:spcAft>
                <a:spcPts val="1200"/>
              </a:spcAft>
            </a:pPr>
            <a:r>
              <a:rPr lang="en-AU" sz="2200" dirty="0" smtClean="0">
                <a:latin typeface="Helvetica" pitchFamily="34" charset="0"/>
              </a:rPr>
              <a:t>This is called packaging</a:t>
            </a:r>
          </a:p>
          <a:p>
            <a:pPr>
              <a:spcBef>
                <a:spcPts val="600"/>
              </a:spcBef>
              <a:spcAft>
                <a:spcPts val="1200"/>
              </a:spcAft>
            </a:pPr>
            <a:r>
              <a:rPr lang="en-AU" sz="2200" dirty="0" smtClean="0">
                <a:latin typeface="Helvetica" pitchFamily="34" charset="0"/>
              </a:rPr>
              <a:t>Any type of tourism component can be packaged with another</a:t>
            </a:r>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shutterstock_82771591.jpg"/>
          <p:cNvPicPr/>
          <p:nvPr/>
        </p:nvPicPr>
        <p:blipFill>
          <a:blip r:embed="rId3" cstate="print"/>
          <a:stretch>
            <a:fillRect/>
          </a:stretch>
        </p:blipFill>
        <p:spPr>
          <a:xfrm>
            <a:off x="2915816" y="4149080"/>
            <a:ext cx="2448272" cy="1728192"/>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Tourism packages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9</a:t>
            </a:fld>
            <a:endParaRPr lang="en-US" dirty="0">
              <a:solidFill>
                <a:srgbClr val="FFFFFF"/>
              </a:solidFill>
            </a:endParaRPr>
          </a:p>
        </p:txBody>
      </p:sp>
      <p:sp>
        <p:nvSpPr>
          <p:cNvPr id="4" name="Content Placeholder 3"/>
          <p:cNvSpPr>
            <a:spLocks noGrp="1"/>
          </p:cNvSpPr>
          <p:nvPr>
            <p:ph sz="quarter" idx="4294967295"/>
          </p:nvPr>
        </p:nvSpPr>
        <p:spPr>
          <a:xfrm>
            <a:off x="612648" y="1412776"/>
            <a:ext cx="8153400" cy="4683224"/>
          </a:xfrm>
          <a:prstGeom prst="rect">
            <a:avLst/>
          </a:prstGeom>
        </p:spPr>
        <p:txBody>
          <a:bodyPr>
            <a:normAutofit/>
          </a:bodyPr>
          <a:lstStyle/>
          <a:p>
            <a:pPr>
              <a:spcBef>
                <a:spcPts val="600"/>
              </a:spcBef>
              <a:spcAft>
                <a:spcPts val="1200"/>
              </a:spcAft>
              <a:buNone/>
            </a:pPr>
            <a:r>
              <a:rPr lang="en-AU" sz="2000" b="1" dirty="0" smtClean="0">
                <a:latin typeface="Helvetica" pitchFamily="34" charset="0"/>
              </a:rPr>
              <a:t>Tour component products and services</a:t>
            </a:r>
            <a:endParaRPr lang="en-US" sz="2000" b="1" dirty="0" smtClean="0">
              <a:latin typeface="Helvetica" pitchFamily="34" charset="0"/>
            </a:endParaRPr>
          </a:p>
          <a:p>
            <a:pPr lvl="0">
              <a:spcBef>
                <a:spcPts val="600"/>
              </a:spcBef>
              <a:spcAft>
                <a:spcPts val="1200"/>
              </a:spcAft>
            </a:pPr>
            <a:r>
              <a:rPr lang="en-US" sz="2000" dirty="0" smtClean="0">
                <a:latin typeface="Helvetica" pitchFamily="34" charset="0"/>
              </a:rPr>
              <a:t>Single or multiple products and services</a:t>
            </a:r>
          </a:p>
          <a:p>
            <a:pPr lvl="0">
              <a:spcBef>
                <a:spcPts val="600"/>
              </a:spcBef>
              <a:spcAft>
                <a:spcPts val="1200"/>
              </a:spcAft>
            </a:pPr>
            <a:r>
              <a:rPr lang="en-US" sz="2000" dirty="0" smtClean="0">
                <a:latin typeface="Helvetica" pitchFamily="34" charset="0"/>
              </a:rPr>
              <a:t>Accommodation</a:t>
            </a:r>
          </a:p>
          <a:p>
            <a:pPr lvl="0">
              <a:spcBef>
                <a:spcPts val="600"/>
              </a:spcBef>
              <a:spcAft>
                <a:spcPts val="1200"/>
              </a:spcAft>
            </a:pPr>
            <a:r>
              <a:rPr lang="en-US" sz="2000" dirty="0" smtClean="0">
                <a:latin typeface="Helvetica" pitchFamily="34" charset="0"/>
              </a:rPr>
              <a:t>Meals</a:t>
            </a:r>
          </a:p>
          <a:p>
            <a:pPr lvl="0">
              <a:spcBef>
                <a:spcPts val="600"/>
              </a:spcBef>
              <a:spcAft>
                <a:spcPts val="1200"/>
              </a:spcAft>
            </a:pPr>
            <a:r>
              <a:rPr lang="en-US" sz="2000" dirty="0" smtClean="0">
                <a:latin typeface="Helvetica" pitchFamily="34" charset="0"/>
              </a:rPr>
              <a:t>Transfers and transport, for example air, sea, rail, car hire</a:t>
            </a:r>
          </a:p>
          <a:p>
            <a:pPr lvl="0">
              <a:spcBef>
                <a:spcPts val="600"/>
              </a:spcBef>
              <a:spcAft>
                <a:spcPts val="1200"/>
              </a:spcAft>
            </a:pPr>
            <a:r>
              <a:rPr lang="en-US" sz="2000" dirty="0" smtClean="0">
                <a:latin typeface="Helvetica" pitchFamily="34" charset="0"/>
              </a:rPr>
              <a:t>Entrances to attractions for example wildlife parks,                                                              theme parks, national parks, museums</a:t>
            </a:r>
          </a:p>
          <a:p>
            <a:pPr lvl="0"/>
            <a:endParaRPr lang="en-US" sz="2000" dirty="0" smtClean="0"/>
          </a:p>
          <a:p>
            <a:pPr>
              <a:lnSpc>
                <a:spcPct val="110000"/>
              </a:lnSpc>
              <a:spcBef>
                <a:spcPts val="600"/>
              </a:spcBef>
              <a:spcAft>
                <a:spcPts val="1200"/>
              </a:spcAft>
            </a:pP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7" name="Picture 6" descr="shutterstock_35558536.jpg"/>
          <p:cNvPicPr>
            <a:picLocks noChangeAspect="1"/>
          </p:cNvPicPr>
          <p:nvPr/>
        </p:nvPicPr>
        <p:blipFill>
          <a:blip r:embed="rId3" cstate="print"/>
          <a:stretch>
            <a:fillRect/>
          </a:stretch>
        </p:blipFill>
        <p:spPr>
          <a:xfrm>
            <a:off x="5868144" y="1844824"/>
            <a:ext cx="2277361" cy="1512168"/>
          </a:xfrm>
          <a:prstGeom prst="rect">
            <a:avLst/>
          </a:prstGeo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Tourism packages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10</a:t>
            </a:fld>
            <a:endParaRPr lang="en-US" dirty="0">
              <a:solidFill>
                <a:srgbClr val="FFFFFF"/>
              </a:solidFill>
            </a:endParaRPr>
          </a:p>
        </p:txBody>
      </p:sp>
      <p:sp>
        <p:nvSpPr>
          <p:cNvPr id="4" name="Content Placeholder 3"/>
          <p:cNvSpPr>
            <a:spLocks noGrp="1"/>
          </p:cNvSpPr>
          <p:nvPr>
            <p:ph sz="quarter" idx="4294967295"/>
          </p:nvPr>
        </p:nvSpPr>
        <p:spPr>
          <a:xfrm>
            <a:off x="612648" y="1484784"/>
            <a:ext cx="8153400" cy="4611216"/>
          </a:xfrm>
          <a:prstGeom prst="rect">
            <a:avLst/>
          </a:prstGeom>
        </p:spPr>
        <p:txBody>
          <a:bodyPr>
            <a:normAutofit/>
          </a:bodyPr>
          <a:lstStyle/>
          <a:p>
            <a:pPr>
              <a:spcBef>
                <a:spcPts val="600"/>
              </a:spcBef>
              <a:spcAft>
                <a:spcPts val="1200"/>
              </a:spcAft>
              <a:buNone/>
            </a:pPr>
            <a:r>
              <a:rPr lang="en-AU" sz="2000" b="1" dirty="0" smtClean="0"/>
              <a:t>Tour component products and services</a:t>
            </a:r>
            <a:endParaRPr lang="en-US" sz="2000" b="1" dirty="0" smtClean="0"/>
          </a:p>
          <a:p>
            <a:pPr lvl="0">
              <a:spcBef>
                <a:spcPts val="600"/>
              </a:spcBef>
              <a:spcAft>
                <a:spcPts val="1200"/>
              </a:spcAft>
            </a:pPr>
            <a:r>
              <a:rPr lang="en-US" sz="2000" dirty="0" smtClean="0"/>
              <a:t>Tourist guiding services &amp; tours</a:t>
            </a:r>
          </a:p>
          <a:p>
            <a:pPr lvl="0">
              <a:spcBef>
                <a:spcPts val="600"/>
              </a:spcBef>
              <a:spcAft>
                <a:spcPts val="1200"/>
              </a:spcAft>
            </a:pPr>
            <a:r>
              <a:rPr lang="en-US" sz="2000" dirty="0" smtClean="0"/>
              <a:t>Tickets to entertainment, events or adventure activities</a:t>
            </a:r>
          </a:p>
          <a:p>
            <a:pPr lvl="0">
              <a:spcBef>
                <a:spcPts val="600"/>
              </a:spcBef>
              <a:spcAft>
                <a:spcPts val="1200"/>
              </a:spcAft>
            </a:pPr>
            <a:r>
              <a:rPr lang="en-AU" sz="2000" dirty="0" smtClean="0"/>
              <a:t>Venue and equipment hire</a:t>
            </a:r>
            <a:endParaRPr lang="en-US" sz="2000" dirty="0" smtClean="0"/>
          </a:p>
          <a:p>
            <a:pPr lvl="0">
              <a:spcBef>
                <a:spcPts val="600"/>
              </a:spcBef>
              <a:spcAft>
                <a:spcPts val="1200"/>
              </a:spcAft>
            </a:pPr>
            <a:r>
              <a:rPr lang="en-AU" sz="2000" dirty="0" smtClean="0"/>
              <a:t>Meetings, events, functions and conferences</a:t>
            </a:r>
          </a:p>
          <a:p>
            <a:pPr>
              <a:spcBef>
                <a:spcPts val="600"/>
              </a:spcBef>
              <a:spcAft>
                <a:spcPts val="1200"/>
              </a:spcAft>
              <a:buNone/>
            </a:pPr>
            <a:endParaRPr lang="en-AU" sz="2000" b="1" i="1" dirty="0">
              <a:solidFill>
                <a:srgbClr val="FF6600"/>
              </a:solidFill>
            </a:endParaRPr>
          </a:p>
          <a:p>
            <a:pPr>
              <a:spcBef>
                <a:spcPts val="600"/>
              </a:spcBef>
              <a:spcAft>
                <a:spcPts val="1200"/>
              </a:spcAft>
              <a:buNone/>
            </a:pPr>
            <a:r>
              <a:rPr lang="en-AU" sz="2000" b="1" i="1" dirty="0" smtClean="0">
                <a:solidFill>
                  <a:srgbClr val="FF6600"/>
                </a:solidFill>
              </a:rPr>
              <a:t>COMPLETE ACTIVITY 1</a:t>
            </a:r>
          </a:p>
          <a:p>
            <a:pPr lvl="0">
              <a:spcBef>
                <a:spcPts val="600"/>
              </a:spcBef>
              <a:spcAft>
                <a:spcPts val="1200"/>
              </a:spcAft>
            </a:pPr>
            <a:endParaRPr lang="en-US" sz="2000" dirty="0" smtClean="0"/>
          </a:p>
          <a:p>
            <a:pPr>
              <a:lnSpc>
                <a:spcPct val="110000"/>
              </a:lnSpc>
              <a:spcBef>
                <a:spcPts val="600"/>
              </a:spcBef>
              <a:spcAft>
                <a:spcPts val="1200"/>
              </a:spcAft>
            </a:pPr>
            <a:endParaRPr lang="en-US" sz="2000" dirty="0" smtClean="0"/>
          </a:p>
          <a:p>
            <a:pPr>
              <a:lnSpc>
                <a:spcPct val="110000"/>
              </a:lnSpc>
              <a:spcBef>
                <a:spcPts val="600"/>
              </a:spcBef>
              <a:spcAft>
                <a:spcPts val="1200"/>
              </a:spcAft>
            </a:pPr>
            <a:endParaRPr lang="en-US" sz="2000" dirty="0"/>
          </a:p>
        </p:txBody>
      </p:sp>
      <p:pic>
        <p:nvPicPr>
          <p:cNvPr id="5" name="Picture 4" descr="Happy Smile_171862868.jpg"/>
          <p:cNvPicPr>
            <a:picLocks noChangeAspect="1"/>
          </p:cNvPicPr>
          <p:nvPr/>
        </p:nvPicPr>
        <p:blipFill>
          <a:blip r:embed="rId3" cstate="print"/>
          <a:stretch>
            <a:fillRect/>
          </a:stretch>
        </p:blipFill>
        <p:spPr>
          <a:xfrm>
            <a:off x="5979260" y="4293096"/>
            <a:ext cx="2387664" cy="1592572"/>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Types of clients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11</a:t>
            </a:fld>
            <a:endParaRPr lang="en-US" dirty="0">
              <a:solidFill>
                <a:srgbClr val="FFFFFF"/>
              </a:solidFill>
            </a:endParaRPr>
          </a:p>
        </p:txBody>
      </p:sp>
      <p:sp>
        <p:nvSpPr>
          <p:cNvPr id="4" name="Content Placeholder 3"/>
          <p:cNvSpPr>
            <a:spLocks noGrp="1"/>
          </p:cNvSpPr>
          <p:nvPr>
            <p:ph sz="quarter" idx="4294967295"/>
          </p:nvPr>
        </p:nvSpPr>
        <p:spPr>
          <a:xfrm>
            <a:off x="612648" y="1484784"/>
            <a:ext cx="8153400" cy="4968552"/>
          </a:xfrm>
          <a:prstGeom prst="rect">
            <a:avLst/>
          </a:prstGeom>
        </p:spPr>
        <p:txBody>
          <a:bodyPr>
            <a:normAutofit/>
          </a:bodyPr>
          <a:lstStyle/>
          <a:p>
            <a:pPr>
              <a:spcBef>
                <a:spcPts val="600"/>
              </a:spcBef>
              <a:spcAft>
                <a:spcPts val="1200"/>
              </a:spcAft>
              <a:buNone/>
            </a:pPr>
            <a:r>
              <a:rPr lang="en-US" sz="2000" b="1" dirty="0" smtClean="0">
                <a:latin typeface="Helvetica" pitchFamily="34" charset="0"/>
              </a:rPr>
              <a:t>Types of clients</a:t>
            </a:r>
          </a:p>
          <a:p>
            <a:pPr lvl="0">
              <a:spcBef>
                <a:spcPts val="600"/>
              </a:spcBef>
              <a:spcAft>
                <a:spcPts val="1200"/>
              </a:spcAft>
            </a:pPr>
            <a:r>
              <a:rPr lang="en-AU" sz="2000" dirty="0" smtClean="0">
                <a:latin typeface="Helvetica" pitchFamily="34" charset="0"/>
              </a:rPr>
              <a:t>Domestic and international people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Males and females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People from different age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interest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needs clients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Open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Homogenous target market groups as defined by various demographic characteristics</a:t>
            </a:r>
            <a:endParaRPr lang="en-US" sz="2000" dirty="0" smtClean="0">
              <a:latin typeface="Helvetica" pitchFamily="34" charset="0"/>
            </a:endParaRPr>
          </a:p>
          <a:p>
            <a:pPr>
              <a:lnSpc>
                <a:spcPct val="110000"/>
              </a:lnSpc>
              <a:spcBef>
                <a:spcPts val="600"/>
              </a:spcBef>
              <a:spcAft>
                <a:spcPts val="1200"/>
              </a:spcAft>
            </a:pP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6" name="Picture 5" descr="shutterstock_97356959.jpg"/>
          <p:cNvPicPr/>
          <p:nvPr/>
        </p:nvPicPr>
        <p:blipFill>
          <a:blip r:embed="rId3" cstate="print"/>
          <a:stretch>
            <a:fillRect/>
          </a:stretch>
        </p:blipFill>
        <p:spPr>
          <a:xfrm>
            <a:off x="5580112" y="2780928"/>
            <a:ext cx="2281039" cy="1728192"/>
          </a:xfrm>
          <a:prstGeom prst="rect">
            <a:avLst/>
          </a:prstGeom>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Types of tour operators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12</a:t>
            </a:fld>
            <a:endParaRPr lang="en-US" dirty="0">
              <a:solidFill>
                <a:srgbClr val="FFFFFF"/>
              </a:solidFill>
            </a:endParaRPr>
          </a:p>
        </p:txBody>
      </p:sp>
      <p:sp>
        <p:nvSpPr>
          <p:cNvPr id="4" name="Content Placeholder 3"/>
          <p:cNvSpPr>
            <a:spLocks noGrp="1"/>
          </p:cNvSpPr>
          <p:nvPr>
            <p:ph sz="quarter" idx="4294967295"/>
          </p:nvPr>
        </p:nvSpPr>
        <p:spPr>
          <a:xfrm>
            <a:off x="612648" y="1600200"/>
            <a:ext cx="8153400" cy="4853136"/>
          </a:xfrm>
          <a:prstGeom prst="rect">
            <a:avLst/>
          </a:prstGeom>
        </p:spPr>
        <p:txBody>
          <a:bodyPr>
            <a:normAutofit/>
          </a:bodyPr>
          <a:lstStyle/>
          <a:p>
            <a:pPr marL="0">
              <a:spcBef>
                <a:spcPts val="600"/>
              </a:spcBef>
              <a:spcAft>
                <a:spcPts val="1200"/>
              </a:spcAft>
              <a:buNone/>
            </a:pPr>
            <a:r>
              <a:rPr lang="en-AU" sz="2000" b="1" dirty="0" smtClean="0">
                <a:latin typeface="Helvetica" pitchFamily="34" charset="0"/>
              </a:rPr>
              <a:t>Types of tour operators</a:t>
            </a:r>
          </a:p>
          <a:p>
            <a:pPr marL="0">
              <a:spcBef>
                <a:spcPts val="600"/>
              </a:spcBef>
              <a:spcAft>
                <a:spcPts val="1200"/>
              </a:spcAft>
              <a:buNone/>
            </a:pPr>
            <a:r>
              <a:rPr lang="en-AU" sz="2000" dirty="0" smtClean="0">
                <a:latin typeface="Helvetica" pitchFamily="34" charset="0"/>
              </a:rPr>
              <a:t>Almost every tourism operator gets involved with combining individual components and selling them as a package:</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Travel agents</a:t>
            </a:r>
          </a:p>
          <a:p>
            <a:pPr>
              <a:spcBef>
                <a:spcPts val="600"/>
              </a:spcBef>
              <a:spcAft>
                <a:spcPts val="1200"/>
              </a:spcAft>
            </a:pPr>
            <a:r>
              <a:rPr lang="en-US" sz="2000" dirty="0" smtClean="0">
                <a:latin typeface="Helvetica" pitchFamily="34" charset="0"/>
              </a:rPr>
              <a:t>Day tour operators</a:t>
            </a:r>
          </a:p>
          <a:p>
            <a:pPr>
              <a:spcBef>
                <a:spcPts val="600"/>
              </a:spcBef>
              <a:spcAft>
                <a:spcPts val="1200"/>
              </a:spcAft>
            </a:pPr>
            <a:r>
              <a:rPr lang="en-US" sz="2000" dirty="0" smtClean="0">
                <a:latin typeface="Helvetica" pitchFamily="34" charset="0"/>
              </a:rPr>
              <a:t>Hotels</a:t>
            </a:r>
          </a:p>
          <a:p>
            <a:pPr>
              <a:spcBef>
                <a:spcPts val="600"/>
              </a:spcBef>
              <a:spcAft>
                <a:spcPts val="1200"/>
              </a:spcAft>
            </a:pPr>
            <a:r>
              <a:rPr lang="en-US" sz="2000" dirty="0" smtClean="0">
                <a:latin typeface="Helvetica" pitchFamily="34" charset="0"/>
              </a:rPr>
              <a:t>Outbound tour wholesalers</a:t>
            </a:r>
          </a:p>
          <a:p>
            <a:pPr>
              <a:spcBef>
                <a:spcPts val="600"/>
              </a:spcBef>
              <a:spcAft>
                <a:spcPts val="1200"/>
              </a:spcAft>
            </a:pPr>
            <a:r>
              <a:rPr lang="en-US" sz="2000" dirty="0" smtClean="0">
                <a:latin typeface="Helvetica" pitchFamily="34" charset="0"/>
              </a:rPr>
              <a:t>Inbound tour operators</a:t>
            </a:r>
          </a:p>
          <a:p>
            <a:pPr>
              <a:spcBef>
                <a:spcPts val="600"/>
              </a:spcBef>
              <a:spcAft>
                <a:spcPts val="1200"/>
              </a:spcAft>
            </a:pPr>
            <a:r>
              <a:rPr lang="en-AU" sz="2000" dirty="0" smtClean="0">
                <a:latin typeface="Helvetica" pitchFamily="34" charset="0"/>
              </a:rPr>
              <a:t>Conference organisers </a:t>
            </a: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7" name="Picture 6" descr="shutterstock_156813770.jpg"/>
          <p:cNvPicPr/>
          <p:nvPr/>
        </p:nvPicPr>
        <p:blipFill>
          <a:blip r:embed="rId3" cstate="print"/>
          <a:stretch>
            <a:fillRect/>
          </a:stretch>
        </p:blipFill>
        <p:spPr>
          <a:xfrm>
            <a:off x="4644008" y="3573016"/>
            <a:ext cx="2016224" cy="1800200"/>
          </a:xfrm>
          <a:prstGeom prst="rect">
            <a:avLst/>
          </a:prstGeom>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Characteristics of clients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13</a:t>
            </a:fld>
            <a:endParaRPr lang="en-US" dirty="0">
              <a:solidFill>
                <a:srgbClr val="FFFFFF"/>
              </a:solidFill>
            </a:endParaRPr>
          </a:p>
        </p:txBody>
      </p:sp>
      <p:sp>
        <p:nvSpPr>
          <p:cNvPr id="4" name="Content Placeholder 3"/>
          <p:cNvSpPr>
            <a:spLocks noGrp="1"/>
          </p:cNvSpPr>
          <p:nvPr>
            <p:ph sz="quarter" idx="4294967295"/>
          </p:nvPr>
        </p:nvSpPr>
        <p:spPr>
          <a:xfrm>
            <a:off x="612648" y="1600200"/>
            <a:ext cx="7487744" cy="4853136"/>
          </a:xfrm>
          <a:prstGeom prst="rect">
            <a:avLst/>
          </a:prstGeom>
        </p:spPr>
        <p:txBody>
          <a:bodyPr>
            <a:normAutofit/>
          </a:bodyPr>
          <a:lstStyle/>
          <a:p>
            <a:pPr>
              <a:spcBef>
                <a:spcPts val="600"/>
              </a:spcBef>
              <a:spcAft>
                <a:spcPts val="1200"/>
              </a:spcAft>
              <a:buNone/>
            </a:pPr>
            <a:r>
              <a:rPr lang="en-AU" sz="2000" b="1" dirty="0" smtClean="0">
                <a:latin typeface="Helvetica" pitchFamily="34" charset="0"/>
              </a:rPr>
              <a:t>Understanding characteristics of market segments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There are many ways to identify different segments of clients seeking tourism packages</a:t>
            </a:r>
          </a:p>
          <a:p>
            <a:pPr>
              <a:spcBef>
                <a:spcPts val="600"/>
              </a:spcBef>
              <a:spcAft>
                <a:spcPts val="1200"/>
              </a:spcAft>
            </a:pPr>
            <a:r>
              <a:rPr lang="en-AU" sz="2000" dirty="0" smtClean="0">
                <a:latin typeface="Helvetica" pitchFamily="34" charset="0"/>
              </a:rPr>
              <a:t>Each organisation will breakdown the potential market to suit the needs and to help identify the potential of each group</a:t>
            </a: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6" name="Picture 5" descr="shutterstock_179213330.jpg"/>
          <p:cNvPicPr/>
          <p:nvPr/>
        </p:nvPicPr>
        <p:blipFill>
          <a:blip r:embed="rId3" cstate="print"/>
          <a:stretch>
            <a:fillRect/>
          </a:stretch>
        </p:blipFill>
        <p:spPr>
          <a:xfrm>
            <a:off x="2912050" y="4077072"/>
            <a:ext cx="2448272" cy="1584176"/>
          </a:xfrm>
          <a:prstGeom prst="rect">
            <a:avLst/>
          </a:prstGeo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Characteristics of clients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14</a:t>
            </a:fld>
            <a:endParaRPr lang="en-US" dirty="0">
              <a:solidFill>
                <a:srgbClr val="FFFFFF"/>
              </a:solidFill>
            </a:endParaRPr>
          </a:p>
        </p:txBody>
      </p:sp>
      <p:sp>
        <p:nvSpPr>
          <p:cNvPr id="4" name="Content Placeholder 3"/>
          <p:cNvSpPr>
            <a:spLocks noGrp="1"/>
          </p:cNvSpPr>
          <p:nvPr>
            <p:ph sz="quarter" idx="4294967295"/>
          </p:nvPr>
        </p:nvSpPr>
        <p:spPr>
          <a:xfrm>
            <a:off x="612648" y="1484784"/>
            <a:ext cx="8153400" cy="4968552"/>
          </a:xfrm>
          <a:prstGeom prst="rect">
            <a:avLst/>
          </a:prstGeom>
        </p:spPr>
        <p:txBody>
          <a:bodyPr>
            <a:normAutofit/>
          </a:bodyPr>
          <a:lstStyle/>
          <a:p>
            <a:pPr>
              <a:spcBef>
                <a:spcPts val="600"/>
              </a:spcBef>
              <a:spcAft>
                <a:spcPts val="1200"/>
              </a:spcAft>
              <a:buNone/>
            </a:pPr>
            <a:r>
              <a:rPr lang="en-AU" sz="2200" b="1" dirty="0" smtClean="0">
                <a:latin typeface="Helvetica" pitchFamily="34" charset="0"/>
              </a:rPr>
              <a:t>Generic market segments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Age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Social background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Economic background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Cultural background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Special interests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Physical and mental abilities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Dietary needs</a:t>
            </a:r>
            <a:endParaRPr lang="en-US" sz="22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7" name="Picture 6" descr="shutterstock_161663417.jpg"/>
          <p:cNvPicPr>
            <a:picLocks noChangeAspect="1"/>
          </p:cNvPicPr>
          <p:nvPr/>
        </p:nvPicPr>
        <p:blipFill>
          <a:blip r:embed="rId3" cstate="print"/>
          <a:stretch>
            <a:fillRect/>
          </a:stretch>
        </p:blipFill>
        <p:spPr>
          <a:xfrm>
            <a:off x="5067633" y="2708920"/>
            <a:ext cx="2923633" cy="1944216"/>
          </a:xfrm>
          <a:prstGeom prst="rect">
            <a:avLst/>
          </a:prstGeom>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Characteristics of clients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15</a:t>
            </a:fld>
            <a:endParaRPr lang="en-US" dirty="0">
              <a:solidFill>
                <a:srgbClr val="FFFFFF"/>
              </a:solidFill>
            </a:endParaRPr>
          </a:p>
        </p:txBody>
      </p:sp>
      <p:sp>
        <p:nvSpPr>
          <p:cNvPr id="4" name="Content Placeholder 3"/>
          <p:cNvSpPr>
            <a:spLocks noGrp="1"/>
          </p:cNvSpPr>
          <p:nvPr>
            <p:ph sz="quarter" idx="4294967295"/>
          </p:nvPr>
        </p:nvSpPr>
        <p:spPr>
          <a:xfrm>
            <a:off x="612648" y="1484784"/>
            <a:ext cx="7559752" cy="5373216"/>
          </a:xfrm>
          <a:prstGeom prst="rect">
            <a:avLst/>
          </a:prstGeom>
        </p:spPr>
        <p:txBody>
          <a:bodyPr>
            <a:normAutofit/>
          </a:bodyPr>
          <a:lstStyle/>
          <a:p>
            <a:pPr>
              <a:spcBef>
                <a:spcPts val="600"/>
              </a:spcBef>
              <a:spcAft>
                <a:spcPts val="900"/>
              </a:spcAft>
              <a:buNone/>
            </a:pPr>
            <a:r>
              <a:rPr lang="en-AU" sz="2000" b="1" dirty="0" smtClean="0">
                <a:latin typeface="Helvetica" pitchFamily="34" charset="0"/>
              </a:rPr>
              <a:t>Specialised market segments</a:t>
            </a:r>
            <a:endParaRPr lang="en-US" sz="2000" dirty="0" smtClean="0">
              <a:latin typeface="Helvetica" pitchFamily="34" charset="0"/>
            </a:endParaRPr>
          </a:p>
          <a:p>
            <a:pPr>
              <a:spcBef>
                <a:spcPts val="600"/>
              </a:spcBef>
              <a:spcAft>
                <a:spcPts val="900"/>
              </a:spcAft>
            </a:pPr>
            <a:r>
              <a:rPr lang="en-AU" sz="2000" dirty="0" smtClean="0">
                <a:latin typeface="Helvetica" pitchFamily="34" charset="0"/>
              </a:rPr>
              <a:t>Business</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Leisure</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Religious</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Sporting </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Outbound Tourists</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Inbound Tourists</a:t>
            </a:r>
          </a:p>
          <a:p>
            <a:pPr>
              <a:lnSpc>
                <a:spcPct val="110000"/>
              </a:lnSpc>
              <a:spcBef>
                <a:spcPts val="600"/>
              </a:spcBef>
              <a:spcAft>
                <a:spcPts val="900"/>
              </a:spcAft>
            </a:pPr>
            <a:r>
              <a:rPr lang="en-AU" sz="2000" dirty="0" smtClean="0">
                <a:latin typeface="Helvetica" pitchFamily="34" charset="0"/>
              </a:rPr>
              <a:t>Domestic Tourists</a:t>
            </a:r>
            <a:endParaRPr lang="en-US" sz="2000" dirty="0" smtClean="0">
              <a:latin typeface="Helvetica" pitchFamily="34" charset="0"/>
            </a:endParaRPr>
          </a:p>
          <a:p>
            <a:pPr>
              <a:lnSpc>
                <a:spcPct val="110000"/>
              </a:lnSpc>
              <a:spcBef>
                <a:spcPts val="600"/>
              </a:spcBef>
              <a:spcAft>
                <a:spcPts val="900"/>
              </a:spcAft>
            </a:pPr>
            <a:r>
              <a:rPr lang="en-AU" sz="2000" dirty="0" smtClean="0">
                <a:latin typeface="Helvetica" pitchFamily="34" charset="0"/>
              </a:rPr>
              <a:t>International Tourists</a:t>
            </a: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8" name="Picture 7" descr="shutterstock_156692717.jpg"/>
          <p:cNvPicPr/>
          <p:nvPr/>
        </p:nvPicPr>
        <p:blipFill>
          <a:blip r:embed="rId3" cstate="print"/>
          <a:stretch>
            <a:fillRect/>
          </a:stretch>
        </p:blipFill>
        <p:spPr>
          <a:xfrm>
            <a:off x="4499992" y="2996952"/>
            <a:ext cx="2664296" cy="1872208"/>
          </a:xfrm>
          <a:prstGeom prst="rect">
            <a:avLst/>
          </a:prstGeom>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16</a:t>
            </a:fld>
            <a:endParaRPr lang="en-US" dirty="0">
              <a:solidFill>
                <a:srgbClr val="FFFFFF"/>
              </a:solidFill>
            </a:endParaRPr>
          </a:p>
        </p:txBody>
      </p:sp>
      <p:sp>
        <p:nvSpPr>
          <p:cNvPr id="4" name="Content Placeholder 3"/>
          <p:cNvSpPr>
            <a:spLocks noGrp="1"/>
          </p:cNvSpPr>
          <p:nvPr>
            <p:ph sz="quarter" idx="4294967295"/>
          </p:nvPr>
        </p:nvSpPr>
        <p:spPr>
          <a:xfrm>
            <a:off x="467544" y="1484784"/>
            <a:ext cx="7559752" cy="4611216"/>
          </a:xfrm>
          <a:prstGeom prst="rect">
            <a:avLst/>
          </a:prstGeom>
        </p:spPr>
        <p:txBody>
          <a:bodyPr>
            <a:normAutofit/>
          </a:bodyPr>
          <a:lstStyle/>
          <a:p>
            <a:pPr>
              <a:spcBef>
                <a:spcPts val="600"/>
              </a:spcBef>
              <a:spcAft>
                <a:spcPts val="1200"/>
              </a:spcAft>
              <a:buNone/>
            </a:pPr>
            <a:r>
              <a:rPr lang="en-AU" sz="2000" b="1" dirty="0" smtClean="0"/>
              <a:t>Importance of identifying client requirements</a:t>
            </a:r>
          </a:p>
          <a:p>
            <a:pPr>
              <a:spcBef>
                <a:spcPts val="600"/>
              </a:spcBef>
              <a:spcAft>
                <a:spcPts val="1200"/>
              </a:spcAft>
            </a:pPr>
            <a:r>
              <a:rPr lang="en-AU" sz="2000" dirty="0" smtClean="0"/>
              <a:t>Once different types of clients and market segments have been indentified, it is essential to understand what their needs may be, when seeking appropriate tourism packages</a:t>
            </a:r>
            <a:endParaRPr lang="en-US" sz="2000" b="1" dirty="0" smtClean="0"/>
          </a:p>
          <a:p>
            <a:pPr>
              <a:spcBef>
                <a:spcPts val="600"/>
              </a:spcBef>
              <a:spcAft>
                <a:spcPts val="1200"/>
              </a:spcAft>
            </a:pPr>
            <a:r>
              <a:rPr lang="en-AU" sz="2000" dirty="0" smtClean="0"/>
              <a:t>Whilst there will be generic needs that all clients will have, each market segment will also have their own specialised needs that must be addressed</a:t>
            </a:r>
          </a:p>
          <a:p>
            <a:pPr>
              <a:lnSpc>
                <a:spcPct val="110000"/>
              </a:lnSpc>
              <a:spcBef>
                <a:spcPts val="600"/>
              </a:spcBef>
              <a:spcAft>
                <a:spcPts val="1200"/>
              </a:spcAft>
            </a:pPr>
            <a:endParaRPr lang="en-US" sz="2000" dirty="0" smtClean="0"/>
          </a:p>
          <a:p>
            <a:pPr>
              <a:lnSpc>
                <a:spcPct val="110000"/>
              </a:lnSpc>
              <a:spcBef>
                <a:spcPts val="600"/>
              </a:spcBef>
              <a:spcAft>
                <a:spcPts val="1200"/>
              </a:spcAft>
            </a:pPr>
            <a:endParaRPr lang="en-US" sz="2000" dirty="0"/>
          </a:p>
        </p:txBody>
      </p:sp>
      <p:pic>
        <p:nvPicPr>
          <p:cNvPr id="6" name="Picture 5" descr="Assessment_115352104.jpg"/>
          <p:cNvPicPr/>
          <p:nvPr/>
        </p:nvPicPr>
        <p:blipFill>
          <a:blip r:embed="rId3" cstate="print"/>
          <a:stretch>
            <a:fillRect/>
          </a:stretch>
        </p:blipFill>
        <p:spPr>
          <a:xfrm>
            <a:off x="2843808" y="4509120"/>
            <a:ext cx="2160240" cy="158913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17</a:t>
            </a:fld>
            <a:endParaRPr lang="en-US" dirty="0">
              <a:solidFill>
                <a:srgbClr val="FFFFFF"/>
              </a:solidFill>
            </a:endParaRPr>
          </a:p>
        </p:txBody>
      </p:sp>
      <p:sp>
        <p:nvSpPr>
          <p:cNvPr id="4" name="Content Placeholder 3"/>
          <p:cNvSpPr>
            <a:spLocks noGrp="1"/>
          </p:cNvSpPr>
          <p:nvPr>
            <p:ph sz="quarter" idx="4294967295"/>
          </p:nvPr>
        </p:nvSpPr>
        <p:spPr>
          <a:xfrm>
            <a:off x="467544" y="1600200"/>
            <a:ext cx="8153400" cy="4495800"/>
          </a:xfrm>
          <a:prstGeom prst="rect">
            <a:avLst/>
          </a:prstGeom>
        </p:spPr>
        <p:txBody>
          <a:bodyPr>
            <a:normAutofit/>
          </a:bodyPr>
          <a:lstStyle/>
          <a:p>
            <a:pPr>
              <a:spcBef>
                <a:spcPts val="600"/>
              </a:spcBef>
              <a:spcAft>
                <a:spcPts val="1200"/>
              </a:spcAft>
              <a:buNone/>
            </a:pPr>
            <a:r>
              <a:rPr lang="en-GB" sz="2200" b="1" dirty="0" smtClean="0">
                <a:latin typeface="Helvetica" pitchFamily="34" charset="0"/>
              </a:rPr>
              <a:t>Understanding needs, wishes and expectations</a:t>
            </a:r>
            <a:endParaRPr lang="en-US" sz="2200" dirty="0" smtClean="0">
              <a:latin typeface="Helvetica" pitchFamily="34" charset="0"/>
            </a:endParaRPr>
          </a:p>
          <a:p>
            <a:pPr lvl="0">
              <a:spcBef>
                <a:spcPts val="600"/>
              </a:spcBef>
              <a:spcAft>
                <a:spcPts val="1200"/>
              </a:spcAft>
              <a:buNone/>
            </a:pPr>
            <a:r>
              <a:rPr lang="en-US" sz="2200" dirty="0" smtClean="0">
                <a:latin typeface="Helvetica" pitchFamily="34" charset="0"/>
              </a:rPr>
              <a:t>What is the difference between:</a:t>
            </a:r>
          </a:p>
          <a:p>
            <a:pPr lvl="0">
              <a:spcBef>
                <a:spcPts val="600"/>
              </a:spcBef>
              <a:spcAft>
                <a:spcPts val="1200"/>
              </a:spcAft>
            </a:pPr>
            <a:r>
              <a:rPr lang="en-GB" sz="2200" dirty="0" smtClean="0">
                <a:latin typeface="Helvetica" pitchFamily="34" charset="0"/>
              </a:rPr>
              <a:t>Needs</a:t>
            </a:r>
          </a:p>
          <a:p>
            <a:pPr lvl="0">
              <a:spcBef>
                <a:spcPts val="600"/>
              </a:spcBef>
              <a:spcAft>
                <a:spcPts val="1200"/>
              </a:spcAft>
            </a:pPr>
            <a:r>
              <a:rPr lang="en-GB" sz="2200" dirty="0" smtClean="0">
                <a:latin typeface="Helvetica" pitchFamily="34" charset="0"/>
              </a:rPr>
              <a:t>Wishes</a:t>
            </a:r>
          </a:p>
          <a:p>
            <a:pPr lvl="0">
              <a:spcBef>
                <a:spcPts val="600"/>
              </a:spcBef>
              <a:spcAft>
                <a:spcPts val="1200"/>
              </a:spcAft>
            </a:pPr>
            <a:r>
              <a:rPr lang="en-GB" sz="2200" dirty="0" smtClean="0">
                <a:latin typeface="Helvetica" pitchFamily="34" charset="0"/>
              </a:rPr>
              <a:t>Expectations</a:t>
            </a:r>
          </a:p>
          <a:p>
            <a:pPr marL="706320" lvl="2" indent="-453600">
              <a:lnSpc>
                <a:spcPct val="110000"/>
              </a:lnSpc>
              <a:spcBef>
                <a:spcPts val="600"/>
              </a:spcBef>
              <a:spcAft>
                <a:spcPts val="1200"/>
              </a:spcAft>
              <a:buClr>
                <a:srgbClr val="EB7125"/>
              </a:buClr>
            </a:pPr>
            <a:endParaRPr lang="en-AU" sz="21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shutterstock_104238854.jpg"/>
          <p:cNvPicPr>
            <a:picLocks noChangeAspect="1"/>
          </p:cNvPicPr>
          <p:nvPr/>
        </p:nvPicPr>
        <p:blipFill>
          <a:blip r:embed="rId3" cstate="print"/>
          <a:stretch>
            <a:fillRect/>
          </a:stretch>
        </p:blipFill>
        <p:spPr>
          <a:xfrm>
            <a:off x="3779912" y="2780928"/>
            <a:ext cx="2483034" cy="165618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18</a:t>
            </a:fld>
            <a:endParaRPr lang="en-US" dirty="0">
              <a:solidFill>
                <a:srgbClr val="FFFFFF"/>
              </a:solidFill>
            </a:endParaRPr>
          </a:p>
        </p:txBody>
      </p:sp>
      <p:sp>
        <p:nvSpPr>
          <p:cNvPr id="4" name="Content Placeholder 3"/>
          <p:cNvSpPr>
            <a:spLocks noGrp="1"/>
          </p:cNvSpPr>
          <p:nvPr>
            <p:ph sz="quarter" idx="4294967295"/>
          </p:nvPr>
        </p:nvSpPr>
        <p:spPr>
          <a:xfrm>
            <a:off x="467544" y="1484784"/>
            <a:ext cx="7775776" cy="4176464"/>
          </a:xfrm>
          <a:prstGeom prst="rect">
            <a:avLst/>
          </a:prstGeom>
        </p:spPr>
        <p:txBody>
          <a:bodyPr>
            <a:normAutofit/>
          </a:bodyPr>
          <a:lstStyle/>
          <a:p>
            <a:pPr marL="432000" lvl="1" indent="-453600">
              <a:lnSpc>
                <a:spcPct val="110000"/>
              </a:lnSpc>
              <a:spcBef>
                <a:spcPts val="600"/>
              </a:spcBef>
              <a:spcAft>
                <a:spcPts val="1200"/>
              </a:spcAft>
              <a:buClr>
                <a:srgbClr val="EB7125"/>
              </a:buClr>
              <a:buNone/>
            </a:pPr>
            <a:r>
              <a:rPr lang="en-AU" sz="2200" b="1" dirty="0" smtClean="0">
                <a:latin typeface="Helvetica" pitchFamily="34" charset="0"/>
              </a:rPr>
              <a:t>Generic needs</a:t>
            </a:r>
          </a:p>
          <a:p>
            <a:pPr lvl="0">
              <a:spcBef>
                <a:spcPts val="600"/>
              </a:spcBef>
              <a:spcAft>
                <a:spcPts val="1200"/>
              </a:spcAft>
            </a:pPr>
            <a:r>
              <a:rPr lang="en-GB" sz="2200" dirty="0" smtClean="0">
                <a:latin typeface="Helvetica" pitchFamily="34" charset="0"/>
              </a:rPr>
              <a:t>Value for money</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‘Offering’ reflecting what was advertised</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Expectations met / exceeded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To receive friendly service</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To be safe</a:t>
            </a:r>
            <a:endParaRPr lang="en-AU" sz="2200" dirty="0" smtClean="0">
              <a:latin typeface="Helvetica" pitchFamily="34" charset="0"/>
            </a:endParaRP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Happy Smile_142334158.jpg"/>
          <p:cNvPicPr/>
          <p:nvPr/>
        </p:nvPicPr>
        <p:blipFill>
          <a:blip r:embed="rId3" cstate="print"/>
          <a:stretch>
            <a:fillRect/>
          </a:stretch>
        </p:blipFill>
        <p:spPr>
          <a:xfrm>
            <a:off x="5796136" y="3789040"/>
            <a:ext cx="2664296" cy="187220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19</a:t>
            </a:fld>
            <a:endParaRPr lang="en-US" dirty="0">
              <a:solidFill>
                <a:srgbClr val="FFFFFF"/>
              </a:solidFill>
            </a:endParaRPr>
          </a:p>
        </p:txBody>
      </p:sp>
      <p:sp>
        <p:nvSpPr>
          <p:cNvPr id="4" name="Content Placeholder 3"/>
          <p:cNvSpPr>
            <a:spLocks noGrp="1"/>
          </p:cNvSpPr>
          <p:nvPr>
            <p:ph sz="quarter" idx="4294967295"/>
          </p:nvPr>
        </p:nvSpPr>
        <p:spPr>
          <a:xfrm>
            <a:off x="467544" y="1484784"/>
            <a:ext cx="7848872" cy="4176464"/>
          </a:xfrm>
          <a:prstGeom prst="rect">
            <a:avLst/>
          </a:prstGeom>
        </p:spPr>
        <p:txBody>
          <a:bodyPr>
            <a:normAutofit/>
          </a:bodyPr>
          <a:lstStyle/>
          <a:p>
            <a:pPr marL="432000" lvl="1" indent="-453600">
              <a:lnSpc>
                <a:spcPct val="110000"/>
              </a:lnSpc>
              <a:spcBef>
                <a:spcPts val="600"/>
              </a:spcBef>
              <a:spcAft>
                <a:spcPts val="1200"/>
              </a:spcAft>
              <a:buClr>
                <a:srgbClr val="EB7125"/>
              </a:buClr>
              <a:buNone/>
            </a:pPr>
            <a:r>
              <a:rPr lang="en-AU" sz="2200" b="1" dirty="0" smtClean="0">
                <a:latin typeface="Helvetica" pitchFamily="34" charset="0"/>
              </a:rPr>
              <a:t>Generic needs</a:t>
            </a:r>
          </a:p>
          <a:p>
            <a:pPr lvl="0">
              <a:spcBef>
                <a:spcPts val="600"/>
              </a:spcBef>
              <a:spcAft>
                <a:spcPts val="1200"/>
              </a:spcAft>
            </a:pPr>
            <a:r>
              <a:rPr lang="en-GB" sz="2200" dirty="0" smtClean="0">
                <a:latin typeface="Helvetica" pitchFamily="34" charset="0"/>
              </a:rPr>
              <a:t>To be dealt with in a prompt and courteous manner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To receive assistance when necessary</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To be in comfortable, clean surroundings </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To feel remembered and recognised</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To be heard and understood </a:t>
            </a:r>
            <a:endParaRPr lang="en-US" sz="2200" dirty="0" smtClean="0">
              <a:latin typeface="Helvetica" pitchFamily="34" charset="0"/>
            </a:endParaRP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7" name="Picture 6" descr="shutterstock_124217227.jpg"/>
          <p:cNvPicPr/>
          <p:nvPr/>
        </p:nvPicPr>
        <p:blipFill>
          <a:blip r:embed="rId3" cstate="print"/>
          <a:stretch>
            <a:fillRect/>
          </a:stretch>
        </p:blipFill>
        <p:spPr>
          <a:xfrm>
            <a:off x="6156176" y="4149080"/>
            <a:ext cx="2232248" cy="151216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20</a:t>
            </a:fld>
            <a:endParaRPr lang="en-US" dirty="0">
              <a:solidFill>
                <a:srgbClr val="FFFFFF"/>
              </a:solidFill>
            </a:endParaRPr>
          </a:p>
        </p:txBody>
      </p:sp>
      <p:sp>
        <p:nvSpPr>
          <p:cNvPr id="4" name="Content Placeholder 3"/>
          <p:cNvSpPr>
            <a:spLocks noGrp="1"/>
          </p:cNvSpPr>
          <p:nvPr>
            <p:ph sz="quarter" idx="4294967295"/>
          </p:nvPr>
        </p:nvSpPr>
        <p:spPr>
          <a:xfrm>
            <a:off x="467544" y="1600200"/>
            <a:ext cx="8153400" cy="5069160"/>
          </a:xfrm>
          <a:prstGeom prst="rect">
            <a:avLst/>
          </a:prstGeo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US" sz="2200" dirty="0" smtClean="0">
              <a:latin typeface="Helvetica" pitchFamily="34" charset="0"/>
            </a:endParaRPr>
          </a:p>
          <a:p>
            <a:pPr marL="432000" lvl="1" indent="-453600">
              <a:lnSpc>
                <a:spcPct val="110000"/>
              </a:lnSpc>
              <a:spcBef>
                <a:spcPts val="600"/>
              </a:spcBef>
              <a:spcAft>
                <a:spcPts val="1200"/>
              </a:spcAft>
              <a:buClr>
                <a:srgbClr val="EB7125"/>
              </a:buClr>
              <a:buNone/>
            </a:pPr>
            <a:r>
              <a:rPr lang="en-AU" sz="2200" dirty="0" smtClean="0">
                <a:latin typeface="Helvetica" pitchFamily="34" charset="0"/>
              </a:rPr>
              <a:t>What are the specific needs of these market segments?</a:t>
            </a:r>
          </a:p>
          <a:p>
            <a:pPr lvl="0">
              <a:spcBef>
                <a:spcPts val="600"/>
              </a:spcBef>
              <a:spcAft>
                <a:spcPts val="1200"/>
              </a:spcAft>
            </a:pPr>
            <a:r>
              <a:rPr lang="en-AU" sz="2200" dirty="0" smtClean="0">
                <a:latin typeface="Helvetica" pitchFamily="34" charset="0"/>
              </a:rPr>
              <a:t>Business</a:t>
            </a:r>
          </a:p>
          <a:p>
            <a:pPr lvl="0">
              <a:spcBef>
                <a:spcPts val="600"/>
              </a:spcBef>
              <a:spcAft>
                <a:spcPts val="1200"/>
              </a:spcAft>
            </a:pPr>
            <a:r>
              <a:rPr lang="en-AU" sz="2200" dirty="0" smtClean="0">
                <a:latin typeface="Helvetica" pitchFamily="34" charset="0"/>
              </a:rPr>
              <a:t>Women</a:t>
            </a:r>
          </a:p>
          <a:p>
            <a:pPr lvl="0">
              <a:spcBef>
                <a:spcPts val="600"/>
              </a:spcBef>
              <a:spcAft>
                <a:spcPts val="1200"/>
              </a:spcAft>
            </a:pPr>
            <a:r>
              <a:rPr lang="en-AU" sz="2200" dirty="0" smtClean="0">
                <a:latin typeface="Helvetica" pitchFamily="34" charset="0"/>
              </a:rPr>
              <a:t>Family</a:t>
            </a:r>
          </a:p>
          <a:p>
            <a:pPr lvl="0">
              <a:spcBef>
                <a:spcPts val="600"/>
              </a:spcBef>
              <a:spcAft>
                <a:spcPts val="1200"/>
              </a:spcAft>
            </a:pPr>
            <a:r>
              <a:rPr lang="en-AU" sz="2200" dirty="0" smtClean="0">
                <a:latin typeface="Helvetica" pitchFamily="34" charset="0"/>
              </a:rPr>
              <a:t>Leisure</a:t>
            </a:r>
          </a:p>
          <a:p>
            <a:pPr lvl="0">
              <a:spcBef>
                <a:spcPts val="600"/>
              </a:spcBef>
              <a:spcAft>
                <a:spcPts val="1200"/>
              </a:spcAft>
            </a:pPr>
            <a:r>
              <a:rPr lang="en-AU" sz="2200" dirty="0" smtClean="0">
                <a:latin typeface="Helvetica" pitchFamily="34" charset="0"/>
              </a:rPr>
              <a:t>Elderly</a:t>
            </a:r>
          </a:p>
          <a:p>
            <a:pPr lvl="0">
              <a:spcBef>
                <a:spcPts val="600"/>
              </a:spcBef>
              <a:spcAft>
                <a:spcPts val="1200"/>
              </a:spcAft>
            </a:pPr>
            <a:r>
              <a:rPr lang="en-AU" sz="2200" dirty="0" smtClean="0">
                <a:latin typeface="Helvetica" pitchFamily="34" charset="0"/>
              </a:rPr>
              <a:t>Others </a:t>
            </a: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shutterstock_123035896.jpg"/>
          <p:cNvPicPr/>
          <p:nvPr/>
        </p:nvPicPr>
        <p:blipFill>
          <a:blip r:embed="rId3" cstate="print"/>
          <a:stretch>
            <a:fillRect/>
          </a:stretch>
        </p:blipFill>
        <p:spPr>
          <a:xfrm>
            <a:off x="3419872" y="3429000"/>
            <a:ext cx="2232248" cy="158417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client requirements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21</a:t>
            </a:fld>
            <a:endParaRPr lang="en-US" dirty="0">
              <a:solidFill>
                <a:srgbClr val="FFFFFF"/>
              </a:solidFill>
            </a:endParaRPr>
          </a:p>
        </p:txBody>
      </p:sp>
      <p:sp>
        <p:nvSpPr>
          <p:cNvPr id="4" name="Content Placeholder 3"/>
          <p:cNvSpPr>
            <a:spLocks noGrp="1"/>
          </p:cNvSpPr>
          <p:nvPr>
            <p:ph sz="quarter" idx="4294967295"/>
          </p:nvPr>
        </p:nvSpPr>
        <p:spPr>
          <a:xfrm>
            <a:off x="467544" y="1412776"/>
            <a:ext cx="8153400" cy="5445224"/>
          </a:xfrm>
          <a:prstGeom prst="rect">
            <a:avLst/>
          </a:prstGeom>
        </p:spPr>
        <p:txBody>
          <a:bodyPr>
            <a:normAutofit/>
          </a:bodyPr>
          <a:lstStyle/>
          <a:p>
            <a:pPr>
              <a:spcBef>
                <a:spcPts val="600"/>
              </a:spcBef>
              <a:spcAft>
                <a:spcPts val="600"/>
              </a:spcAft>
              <a:buNone/>
            </a:pPr>
            <a:r>
              <a:rPr lang="en-AU" sz="2000" b="1" dirty="0" smtClean="0"/>
              <a:t>Tour client needs</a:t>
            </a:r>
            <a:endParaRPr lang="en-US" sz="2000" dirty="0" smtClean="0"/>
          </a:p>
          <a:p>
            <a:pPr lvl="0">
              <a:spcBef>
                <a:spcPts val="600"/>
              </a:spcBef>
              <a:spcAft>
                <a:spcPts val="600"/>
              </a:spcAft>
            </a:pPr>
            <a:r>
              <a:rPr lang="en-US" sz="2000" dirty="0" smtClean="0"/>
              <a:t>Quiet time </a:t>
            </a:r>
          </a:p>
          <a:p>
            <a:pPr lvl="0">
              <a:spcBef>
                <a:spcPts val="600"/>
              </a:spcBef>
              <a:spcAft>
                <a:spcPts val="600"/>
              </a:spcAft>
            </a:pPr>
            <a:r>
              <a:rPr lang="en-US" sz="2000" dirty="0" smtClean="0"/>
              <a:t>Free time </a:t>
            </a:r>
          </a:p>
          <a:p>
            <a:pPr lvl="0">
              <a:spcBef>
                <a:spcPts val="600"/>
              </a:spcBef>
              <a:spcAft>
                <a:spcPts val="600"/>
              </a:spcAft>
            </a:pPr>
            <a:r>
              <a:rPr lang="en-US" sz="2000" dirty="0" smtClean="0"/>
              <a:t>Personal enjoyment of site </a:t>
            </a:r>
          </a:p>
          <a:p>
            <a:pPr lvl="0">
              <a:spcBef>
                <a:spcPts val="600"/>
              </a:spcBef>
              <a:spcAft>
                <a:spcPts val="600"/>
              </a:spcAft>
            </a:pPr>
            <a:r>
              <a:rPr lang="en-US" sz="2000" dirty="0" smtClean="0"/>
              <a:t>Adequate rest time </a:t>
            </a:r>
          </a:p>
          <a:p>
            <a:pPr lvl="0">
              <a:spcBef>
                <a:spcPts val="600"/>
              </a:spcBef>
              <a:spcAft>
                <a:spcPts val="600"/>
              </a:spcAft>
            </a:pPr>
            <a:r>
              <a:rPr lang="en-US" sz="2000" dirty="0" smtClean="0"/>
              <a:t> ‘Up close and personal’ opportunities </a:t>
            </a:r>
          </a:p>
          <a:p>
            <a:pPr lvl="0">
              <a:spcBef>
                <a:spcPts val="600"/>
              </a:spcBef>
              <a:spcAft>
                <a:spcPts val="600"/>
              </a:spcAft>
            </a:pPr>
            <a:r>
              <a:rPr lang="en-US" sz="2000" dirty="0" smtClean="0"/>
              <a:t>Access to areas which are ‘off limits’ to other </a:t>
            </a:r>
            <a:br>
              <a:rPr lang="en-US" sz="2000" dirty="0" smtClean="0"/>
            </a:br>
            <a:r>
              <a:rPr lang="en-US" sz="2000" dirty="0" smtClean="0"/>
              <a:t>people or are not part of a tour</a:t>
            </a:r>
          </a:p>
          <a:p>
            <a:pPr lvl="0">
              <a:spcBef>
                <a:spcPts val="600"/>
              </a:spcBef>
              <a:spcAft>
                <a:spcPts val="600"/>
              </a:spcAft>
            </a:pPr>
            <a:r>
              <a:rPr lang="en-US" sz="2000" dirty="0" smtClean="0"/>
              <a:t>Special photo opportunities with animals,                           characters or unique sights</a:t>
            </a:r>
          </a:p>
          <a:p>
            <a:pPr lvl="0">
              <a:spcBef>
                <a:spcPts val="600"/>
              </a:spcBef>
              <a:spcAft>
                <a:spcPts val="600"/>
              </a:spcAft>
            </a:pPr>
            <a:endParaRPr lang="en-US" sz="2000" dirty="0" smtClean="0"/>
          </a:p>
          <a:p>
            <a:pPr>
              <a:spcBef>
                <a:spcPts val="600"/>
              </a:spcBef>
              <a:spcAft>
                <a:spcPts val="1200"/>
              </a:spcAft>
              <a:buNone/>
            </a:pPr>
            <a:r>
              <a:rPr lang="en-AU" sz="2000" b="1" i="1" dirty="0" smtClean="0">
                <a:solidFill>
                  <a:srgbClr val="FF6600"/>
                </a:solidFill>
              </a:rPr>
              <a:t>COMPLETE ACTIVITY 2</a:t>
            </a:r>
          </a:p>
          <a:p>
            <a:pPr marL="432000" lvl="1" indent="-453600">
              <a:lnSpc>
                <a:spcPct val="110000"/>
              </a:lnSpc>
              <a:spcBef>
                <a:spcPts val="600"/>
              </a:spcBef>
              <a:spcAft>
                <a:spcPts val="1200"/>
              </a:spcAft>
              <a:buClr>
                <a:srgbClr val="EB7125"/>
              </a:buClr>
            </a:pPr>
            <a:endParaRPr lang="en-AU" sz="2000" dirty="0" smtClean="0"/>
          </a:p>
          <a:p>
            <a:pPr>
              <a:lnSpc>
                <a:spcPct val="110000"/>
              </a:lnSpc>
              <a:spcBef>
                <a:spcPts val="600"/>
              </a:spcBef>
              <a:spcAft>
                <a:spcPts val="1200"/>
              </a:spcAft>
            </a:pPr>
            <a:endParaRPr lang="en-US" sz="2000" dirty="0" smtClean="0"/>
          </a:p>
          <a:p>
            <a:pPr>
              <a:lnSpc>
                <a:spcPct val="110000"/>
              </a:lnSpc>
              <a:spcBef>
                <a:spcPts val="600"/>
              </a:spcBef>
              <a:spcAft>
                <a:spcPts val="1200"/>
              </a:spcAft>
            </a:pPr>
            <a:endParaRPr lang="en-US" sz="2000" dirty="0"/>
          </a:p>
        </p:txBody>
      </p:sp>
      <p:pic>
        <p:nvPicPr>
          <p:cNvPr id="7" name="Picture 6" descr="shutterstock_164082314.jpg"/>
          <p:cNvPicPr/>
          <p:nvPr/>
        </p:nvPicPr>
        <p:blipFill>
          <a:blip r:embed="rId3" cstate="print"/>
          <a:stretch>
            <a:fillRect/>
          </a:stretch>
        </p:blipFill>
        <p:spPr>
          <a:xfrm>
            <a:off x="6422249" y="4145028"/>
            <a:ext cx="2016224" cy="144016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tourism trends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22</a:t>
            </a:fld>
            <a:endParaRPr lang="en-US" dirty="0">
              <a:solidFill>
                <a:srgbClr val="FFFFFF"/>
              </a:solidFill>
            </a:endParaRPr>
          </a:p>
        </p:txBody>
      </p:sp>
      <p:sp>
        <p:nvSpPr>
          <p:cNvPr id="4" name="Content Placeholder 3"/>
          <p:cNvSpPr>
            <a:spLocks noGrp="1"/>
          </p:cNvSpPr>
          <p:nvPr>
            <p:ph sz="quarter" idx="4294967295"/>
          </p:nvPr>
        </p:nvSpPr>
        <p:spPr>
          <a:xfrm>
            <a:off x="612648" y="1600200"/>
            <a:ext cx="7703768" cy="4495800"/>
          </a:xfrm>
          <a:prstGeom prst="rect">
            <a:avLst/>
          </a:prstGeom>
        </p:spPr>
        <p:txBody>
          <a:bodyPr>
            <a:normAutofit/>
          </a:bodyPr>
          <a:lstStyle/>
          <a:p>
            <a:pPr>
              <a:spcBef>
                <a:spcPts val="600"/>
              </a:spcBef>
              <a:spcAft>
                <a:spcPts val="1200"/>
              </a:spcAft>
              <a:buNone/>
            </a:pPr>
            <a:r>
              <a:rPr lang="en-AU" sz="2000" b="1" dirty="0" smtClean="0"/>
              <a:t>Importance of identifying industry trends</a:t>
            </a:r>
          </a:p>
          <a:p>
            <a:pPr marL="0">
              <a:spcBef>
                <a:spcPts val="600"/>
              </a:spcBef>
              <a:spcAft>
                <a:spcPts val="1200"/>
              </a:spcAft>
              <a:buNone/>
            </a:pPr>
            <a:r>
              <a:rPr lang="en-AU" sz="2000" dirty="0" smtClean="0"/>
              <a:t>Not only is it important to understanding of the needs of possible clients and market segments it is also important to understand the travel trends that are affecting the tourism industry:</a:t>
            </a:r>
          </a:p>
          <a:p>
            <a:pPr>
              <a:spcBef>
                <a:spcPts val="600"/>
              </a:spcBef>
              <a:spcAft>
                <a:spcPts val="1200"/>
              </a:spcAft>
            </a:pPr>
            <a:r>
              <a:rPr lang="en-AU" sz="2000" dirty="0" smtClean="0"/>
              <a:t>Why is it important to understand industry trends?</a:t>
            </a:r>
          </a:p>
          <a:p>
            <a:pPr>
              <a:spcBef>
                <a:spcPts val="600"/>
              </a:spcBef>
              <a:spcAft>
                <a:spcPts val="1200"/>
              </a:spcAft>
            </a:pPr>
            <a:r>
              <a:rPr lang="en-AU" sz="2000" dirty="0" smtClean="0"/>
              <a:t>How can you find out about industry trends?</a:t>
            </a:r>
          </a:p>
          <a:p>
            <a:pPr marL="432000" lvl="1" indent="-453600">
              <a:lnSpc>
                <a:spcPct val="110000"/>
              </a:lnSpc>
              <a:spcBef>
                <a:spcPts val="600"/>
              </a:spcBef>
              <a:spcAft>
                <a:spcPts val="1200"/>
              </a:spcAft>
              <a:buClr>
                <a:srgbClr val="EB7125"/>
              </a:buClr>
            </a:pPr>
            <a:endParaRPr lang="en-AU" sz="2000" dirty="0" smtClean="0"/>
          </a:p>
          <a:p>
            <a:pPr>
              <a:lnSpc>
                <a:spcPct val="110000"/>
              </a:lnSpc>
              <a:spcBef>
                <a:spcPts val="600"/>
              </a:spcBef>
              <a:spcAft>
                <a:spcPts val="1200"/>
              </a:spcAft>
            </a:pPr>
            <a:endParaRPr lang="en-US" sz="2000" dirty="0" smtClean="0"/>
          </a:p>
          <a:p>
            <a:pPr>
              <a:lnSpc>
                <a:spcPct val="110000"/>
              </a:lnSpc>
              <a:spcBef>
                <a:spcPts val="600"/>
              </a:spcBef>
              <a:spcAft>
                <a:spcPts val="1200"/>
              </a:spcAft>
            </a:pPr>
            <a:endParaRPr lang="en-US" sz="2000" dirty="0"/>
          </a:p>
        </p:txBody>
      </p:sp>
      <p:pic>
        <p:nvPicPr>
          <p:cNvPr id="7" name="Picture 6" descr="Asian girl with world on hand_34766518.jpg"/>
          <p:cNvPicPr>
            <a:picLocks noChangeAspect="1"/>
          </p:cNvPicPr>
          <p:nvPr/>
        </p:nvPicPr>
        <p:blipFill>
          <a:blip r:embed="rId3" cstate="print"/>
          <a:stretch>
            <a:fillRect/>
          </a:stretch>
        </p:blipFill>
        <p:spPr>
          <a:xfrm>
            <a:off x="6804248" y="2825366"/>
            <a:ext cx="1512168" cy="2267118"/>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tourism trends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23</a:t>
            </a:fld>
            <a:endParaRPr lang="en-US" dirty="0">
              <a:solidFill>
                <a:srgbClr val="FFFFFF"/>
              </a:solidFill>
            </a:endParaRPr>
          </a:p>
        </p:txBody>
      </p:sp>
      <p:sp>
        <p:nvSpPr>
          <p:cNvPr id="4" name="Content Placeholder 3"/>
          <p:cNvSpPr>
            <a:spLocks noGrp="1"/>
          </p:cNvSpPr>
          <p:nvPr>
            <p:ph sz="quarter" idx="4294967295"/>
          </p:nvPr>
        </p:nvSpPr>
        <p:spPr>
          <a:xfrm>
            <a:off x="467544" y="1484784"/>
            <a:ext cx="8153400" cy="4611216"/>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Current tourism trends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Leisure time</a:t>
            </a:r>
          </a:p>
          <a:p>
            <a:pPr lvl="0">
              <a:spcBef>
                <a:spcPts val="600"/>
              </a:spcBef>
              <a:spcAft>
                <a:spcPts val="1200"/>
              </a:spcAft>
            </a:pPr>
            <a:r>
              <a:rPr lang="en-US" sz="2200" dirty="0" smtClean="0">
                <a:latin typeface="Helvetica" pitchFamily="34" charset="0"/>
              </a:rPr>
              <a:t>Demographic factors</a:t>
            </a:r>
          </a:p>
          <a:p>
            <a:pPr lvl="0">
              <a:spcBef>
                <a:spcPts val="600"/>
              </a:spcBef>
              <a:spcAft>
                <a:spcPts val="1200"/>
              </a:spcAft>
            </a:pPr>
            <a:r>
              <a:rPr lang="en-US" sz="2200" dirty="0" smtClean="0">
                <a:latin typeface="Helvetica" pitchFamily="34" charset="0"/>
              </a:rPr>
              <a:t>Lifestyle</a:t>
            </a:r>
          </a:p>
          <a:p>
            <a:pPr lvl="0">
              <a:spcBef>
                <a:spcPts val="600"/>
              </a:spcBef>
              <a:spcAft>
                <a:spcPts val="1200"/>
              </a:spcAft>
            </a:pPr>
            <a:r>
              <a:rPr lang="en-US" sz="2200" dirty="0" smtClean="0">
                <a:latin typeface="Helvetica" pitchFamily="34" charset="0"/>
              </a:rPr>
              <a:t>Environmental tourism</a:t>
            </a:r>
          </a:p>
          <a:p>
            <a:pPr lvl="0">
              <a:spcBef>
                <a:spcPts val="600"/>
              </a:spcBef>
              <a:spcAft>
                <a:spcPts val="1200"/>
              </a:spcAft>
            </a:pPr>
            <a:r>
              <a:rPr lang="en-US" sz="2200" dirty="0" smtClean="0">
                <a:latin typeface="Helvetica" pitchFamily="34" charset="0"/>
              </a:rPr>
              <a:t>Sustainable tourism</a:t>
            </a: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shutterstock_99009233.jpg"/>
          <p:cNvPicPr/>
          <p:nvPr/>
        </p:nvPicPr>
        <p:blipFill>
          <a:blip r:embed="rId3" cstate="print"/>
          <a:stretch>
            <a:fillRect/>
          </a:stretch>
        </p:blipFill>
        <p:spPr>
          <a:xfrm>
            <a:off x="4644008" y="2492896"/>
            <a:ext cx="2592288" cy="187220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Identify tourism trends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24</a:t>
            </a:fld>
            <a:endParaRPr lang="en-US" dirty="0">
              <a:solidFill>
                <a:srgbClr val="FFFFFF"/>
              </a:solidFill>
            </a:endParaRPr>
          </a:p>
        </p:txBody>
      </p:sp>
      <p:sp>
        <p:nvSpPr>
          <p:cNvPr id="4" name="Content Placeholder 3"/>
          <p:cNvSpPr>
            <a:spLocks noGrp="1"/>
          </p:cNvSpPr>
          <p:nvPr>
            <p:ph sz="quarter" idx="4294967295"/>
          </p:nvPr>
        </p:nvSpPr>
        <p:spPr>
          <a:xfrm>
            <a:off x="467544" y="1556792"/>
            <a:ext cx="8153400" cy="4495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Current tourism trends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Changes in the way holidays are booked</a:t>
            </a:r>
          </a:p>
          <a:p>
            <a:pPr lvl="0">
              <a:spcBef>
                <a:spcPts val="600"/>
              </a:spcBef>
              <a:spcAft>
                <a:spcPts val="1200"/>
              </a:spcAft>
            </a:pPr>
            <a:r>
              <a:rPr lang="en-US" sz="2200" dirty="0" smtClean="0">
                <a:latin typeface="Helvetica" pitchFamily="34" charset="0"/>
              </a:rPr>
              <a:t>Growth in additional holidays and short breaks</a:t>
            </a:r>
          </a:p>
          <a:p>
            <a:pPr lvl="0">
              <a:spcBef>
                <a:spcPts val="600"/>
              </a:spcBef>
              <a:spcAft>
                <a:spcPts val="1200"/>
              </a:spcAft>
            </a:pPr>
            <a:r>
              <a:rPr lang="en-US" sz="2200" dirty="0" smtClean="0">
                <a:latin typeface="Helvetica" pitchFamily="34" charset="0"/>
              </a:rPr>
              <a:t>Destination choice</a:t>
            </a:r>
          </a:p>
          <a:p>
            <a:pPr lvl="0">
              <a:spcBef>
                <a:spcPts val="600"/>
              </a:spcBef>
              <a:spcAft>
                <a:spcPts val="1200"/>
              </a:spcAft>
            </a:pPr>
            <a:r>
              <a:rPr lang="en-US" sz="2200" dirty="0" smtClean="0">
                <a:latin typeface="Helvetica" pitchFamily="34" charset="0"/>
              </a:rPr>
              <a:t>Increased awareness of the needs of                                      disabled people</a:t>
            </a:r>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pic>
        <p:nvPicPr>
          <p:cNvPr id="6" name="Picture 5" descr="shutterstock_104718050.jpg"/>
          <p:cNvPicPr>
            <a:picLocks noChangeAspect="1"/>
          </p:cNvPicPr>
          <p:nvPr/>
        </p:nvPicPr>
        <p:blipFill>
          <a:blip r:embed="rId3" cstate="print"/>
          <a:stretch>
            <a:fillRect/>
          </a:stretch>
        </p:blipFill>
        <p:spPr>
          <a:xfrm>
            <a:off x="5868144" y="3429000"/>
            <a:ext cx="2171748" cy="1448556"/>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000" b="1" dirty="0" smtClean="0"/>
              <a:t>Statistics</a:t>
            </a:r>
            <a:endParaRPr lang="en-US" sz="2000" dirty="0" smtClean="0"/>
          </a:p>
          <a:p>
            <a:pPr marL="0">
              <a:spcBef>
                <a:spcPts val="600"/>
              </a:spcBef>
              <a:spcAft>
                <a:spcPts val="1200"/>
              </a:spcAft>
              <a:buNone/>
            </a:pPr>
            <a:r>
              <a:rPr lang="en-AU" sz="2000" dirty="0" smtClean="0"/>
              <a:t>Statistics is the study of the collection, analysis, interpretation, presentation, and organisation of data.</a:t>
            </a:r>
          </a:p>
          <a:p>
            <a:pPr lvl="0">
              <a:spcBef>
                <a:spcPts val="600"/>
              </a:spcBef>
              <a:spcAft>
                <a:spcPts val="1200"/>
              </a:spcAft>
            </a:pPr>
            <a:r>
              <a:rPr lang="en-US" sz="2000" dirty="0" smtClean="0"/>
              <a:t>Why is it important to gather statistics?</a:t>
            </a:r>
          </a:p>
          <a:p>
            <a:pPr lvl="0">
              <a:spcBef>
                <a:spcPts val="600"/>
              </a:spcBef>
              <a:spcAft>
                <a:spcPts val="1200"/>
              </a:spcAft>
            </a:pPr>
            <a:r>
              <a:rPr lang="en-US" sz="2000" dirty="0" smtClean="0"/>
              <a:t>How can it benefit customers?</a:t>
            </a:r>
          </a:p>
          <a:p>
            <a:pPr lvl="0">
              <a:spcBef>
                <a:spcPts val="600"/>
              </a:spcBef>
              <a:spcAft>
                <a:spcPts val="1200"/>
              </a:spcAft>
            </a:pPr>
            <a:r>
              <a:rPr lang="en-US" sz="2000" dirty="0" smtClean="0"/>
              <a:t>What information do you seek under each category?</a:t>
            </a:r>
          </a:p>
          <a:p>
            <a:pPr lvl="0">
              <a:spcBef>
                <a:spcPts val="600"/>
              </a:spcBef>
              <a:spcAft>
                <a:spcPts val="1200"/>
              </a:spcAft>
            </a:pPr>
            <a:r>
              <a:rPr lang="en-US" sz="2000" dirty="0" smtClean="0"/>
              <a:t>How can you gather this information?</a:t>
            </a:r>
          </a:p>
          <a:p>
            <a:pPr>
              <a:buNone/>
            </a:pPr>
            <a:endParaRPr lang="en-US" sz="2000" dirty="0" smtClean="0"/>
          </a:p>
          <a:p>
            <a:pPr>
              <a:spcBef>
                <a:spcPts val="600"/>
              </a:spcBef>
              <a:spcAft>
                <a:spcPts val="600"/>
              </a:spcAft>
              <a:buNone/>
            </a:pPr>
            <a:endParaRPr lang="en-AU" sz="2000" dirty="0" smtClean="0">
              <a:solidFill>
                <a:srgbClr val="FF6600"/>
              </a:solidFill>
            </a:endParaRPr>
          </a:p>
          <a:p>
            <a:pPr lvl="0">
              <a:spcBef>
                <a:spcPts val="600"/>
              </a:spcBef>
              <a:spcAft>
                <a:spcPts val="600"/>
              </a:spcAft>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A2 shutterstock_99180761.jpg"/>
          <p:cNvPicPr/>
          <p:nvPr/>
        </p:nvPicPr>
        <p:blipFill>
          <a:blip r:embed="rId3" cstate="print"/>
          <a:stretch>
            <a:fillRect/>
          </a:stretch>
        </p:blipFill>
        <p:spPr>
          <a:xfrm>
            <a:off x="6337239" y="4437112"/>
            <a:ext cx="2088232" cy="144016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776864" cy="5445224"/>
          </a:xfrm>
        </p:spPr>
        <p:txBody>
          <a:bodyPr>
            <a:normAutofit/>
          </a:bodyPr>
          <a:lstStyle/>
          <a:p>
            <a:pPr>
              <a:spcBef>
                <a:spcPts val="600"/>
              </a:spcBef>
              <a:spcAft>
                <a:spcPts val="1200"/>
              </a:spcAft>
              <a:buNone/>
            </a:pPr>
            <a:r>
              <a:rPr lang="en-AU" sz="2200" b="1" dirty="0" smtClean="0">
                <a:latin typeface="Helvetica" pitchFamily="34" charset="0"/>
              </a:rPr>
              <a:t>Industry statistics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Statistics produced by research organisations on visitor numbers and tourist origins</a:t>
            </a:r>
          </a:p>
          <a:p>
            <a:pPr lvl="0">
              <a:spcBef>
                <a:spcPts val="600"/>
              </a:spcBef>
              <a:spcAft>
                <a:spcPts val="1200"/>
              </a:spcAft>
            </a:pPr>
            <a:r>
              <a:rPr lang="en-US" sz="2200" dirty="0" smtClean="0">
                <a:latin typeface="Helvetica" pitchFamily="34" charset="0"/>
              </a:rPr>
              <a:t>Statistics available in reports from government on visitor number and tourist origins</a:t>
            </a:r>
          </a:p>
          <a:p>
            <a:pPr lvl="0">
              <a:spcBef>
                <a:spcPts val="600"/>
              </a:spcBef>
              <a:spcAft>
                <a:spcPts val="1200"/>
              </a:spcAft>
            </a:pPr>
            <a:r>
              <a:rPr lang="en-US" sz="2200" dirty="0" smtClean="0">
                <a:latin typeface="Helvetica" pitchFamily="34" charset="0"/>
              </a:rPr>
              <a:t>Statistics available in reports from industry on visitor numbers and tourist origins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shutterstock_84348874.jpg"/>
          <p:cNvPicPr/>
          <p:nvPr/>
        </p:nvPicPr>
        <p:blipFill>
          <a:blip r:embed="rId3" cstate="print"/>
          <a:stretch>
            <a:fillRect/>
          </a:stretch>
        </p:blipFill>
        <p:spPr>
          <a:xfrm>
            <a:off x="6588224" y="4365104"/>
            <a:ext cx="1838325" cy="128587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Industry statistics</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Internal figures</a:t>
            </a:r>
          </a:p>
          <a:p>
            <a:pPr lvl="0">
              <a:spcBef>
                <a:spcPts val="600"/>
              </a:spcBef>
              <a:spcAft>
                <a:spcPts val="1200"/>
              </a:spcAft>
            </a:pPr>
            <a:r>
              <a:rPr lang="en-US" sz="2000" dirty="0" smtClean="0">
                <a:latin typeface="Helvetica" pitchFamily="34" charset="0"/>
              </a:rPr>
              <a:t>Industry trends reports</a:t>
            </a:r>
          </a:p>
          <a:p>
            <a:pPr lvl="0">
              <a:spcBef>
                <a:spcPts val="600"/>
              </a:spcBef>
              <a:spcAft>
                <a:spcPts val="1200"/>
              </a:spcAft>
            </a:pPr>
            <a:r>
              <a:rPr lang="en-US" sz="2000" dirty="0" smtClean="0">
                <a:latin typeface="Helvetica" pitchFamily="34" charset="0"/>
              </a:rPr>
              <a:t>International visitor statistics on arrivals,                      departures, visitor nights</a:t>
            </a:r>
          </a:p>
          <a:p>
            <a:pPr lvl="0">
              <a:spcBef>
                <a:spcPts val="600"/>
              </a:spcBef>
              <a:spcAft>
                <a:spcPts val="1200"/>
              </a:spcAft>
            </a:pPr>
            <a:r>
              <a:rPr lang="en-US" sz="2000" dirty="0" smtClean="0">
                <a:latin typeface="Helvetica" pitchFamily="34" charset="0"/>
              </a:rPr>
              <a:t>Visitor profiles including tourist origins, volume</a:t>
            </a:r>
          </a:p>
          <a:p>
            <a:pPr lvl="0">
              <a:spcBef>
                <a:spcPts val="600"/>
              </a:spcBef>
              <a:spcAft>
                <a:spcPts val="1200"/>
              </a:spcAft>
            </a:pPr>
            <a:r>
              <a:rPr lang="en-US" sz="2000" dirty="0" smtClean="0">
                <a:latin typeface="Helvetica" pitchFamily="34" charset="0"/>
              </a:rPr>
              <a:t>Industry and government research reports on industry trends, current development activity, forecasts of future developments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6" descr="Generic_Plan and boarding.jpg"/>
          <p:cNvPicPr>
            <a:picLocks noChangeAspect="1"/>
          </p:cNvPicPr>
          <p:nvPr/>
        </p:nvPicPr>
        <p:blipFill>
          <a:blip r:embed="rId3" cstate="print"/>
          <a:stretch>
            <a:fillRect/>
          </a:stretch>
        </p:blipFill>
        <p:spPr>
          <a:xfrm>
            <a:off x="6588224" y="2192693"/>
            <a:ext cx="1584176" cy="211223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statistics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Types of tourism businesses</a:t>
            </a:r>
          </a:p>
          <a:p>
            <a:pPr lvl="0">
              <a:spcBef>
                <a:spcPts val="600"/>
              </a:spcBef>
              <a:spcAft>
                <a:spcPts val="1200"/>
              </a:spcAft>
            </a:pPr>
            <a:r>
              <a:rPr lang="en-US" sz="2200" dirty="0" smtClean="0">
                <a:latin typeface="Helvetica" pitchFamily="34" charset="0"/>
              </a:rPr>
              <a:t>Types and demographics of clients</a:t>
            </a:r>
          </a:p>
          <a:p>
            <a:pPr lvl="0">
              <a:spcBef>
                <a:spcPts val="600"/>
              </a:spcBef>
              <a:spcAft>
                <a:spcPts val="1200"/>
              </a:spcAft>
            </a:pPr>
            <a:r>
              <a:rPr lang="en-US" sz="2200" dirty="0" smtClean="0">
                <a:latin typeface="Helvetica" pitchFamily="34" charset="0"/>
              </a:rPr>
              <a:t>Top destinations</a:t>
            </a:r>
          </a:p>
          <a:p>
            <a:pPr lvl="0">
              <a:spcBef>
                <a:spcPts val="600"/>
              </a:spcBef>
              <a:spcAft>
                <a:spcPts val="1200"/>
              </a:spcAft>
            </a:pPr>
            <a:r>
              <a:rPr lang="en-US" sz="2200" dirty="0" smtClean="0">
                <a:latin typeface="Helvetica" pitchFamily="34" charset="0"/>
              </a:rPr>
              <a:t>Reasons for stays</a:t>
            </a:r>
          </a:p>
          <a:p>
            <a:pPr lvl="0">
              <a:spcBef>
                <a:spcPts val="600"/>
              </a:spcBef>
              <a:spcAft>
                <a:spcPts val="1200"/>
              </a:spcAft>
            </a:pPr>
            <a:r>
              <a:rPr lang="en-US" sz="2200" dirty="0" smtClean="0">
                <a:latin typeface="Helvetica" pitchFamily="34" charset="0"/>
              </a:rPr>
              <a:t>Current industry information</a:t>
            </a:r>
          </a:p>
          <a:p>
            <a:pPr>
              <a:spcBef>
                <a:spcPts val="600"/>
              </a:spcBef>
              <a:spcAft>
                <a:spcPts val="1200"/>
              </a:spcAft>
            </a:pPr>
            <a:r>
              <a:rPr lang="en-AU" sz="2200" dirty="0" smtClean="0">
                <a:latin typeface="Helvetica" pitchFamily="34" charset="0"/>
              </a:rPr>
              <a:t>Destination countries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shutterstock_133638233.jpg"/>
          <p:cNvPicPr/>
          <p:nvPr/>
        </p:nvPicPr>
        <p:blipFill>
          <a:blip r:embed="rId3" cstate="print"/>
          <a:stretch>
            <a:fillRect/>
          </a:stretch>
        </p:blipFill>
        <p:spPr>
          <a:xfrm>
            <a:off x="6178694" y="3968892"/>
            <a:ext cx="2239119" cy="1492746"/>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statistics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Departure months</a:t>
            </a:r>
          </a:p>
          <a:p>
            <a:pPr lvl="0">
              <a:spcBef>
                <a:spcPts val="600"/>
              </a:spcBef>
              <a:spcAft>
                <a:spcPts val="1200"/>
              </a:spcAft>
            </a:pPr>
            <a:r>
              <a:rPr lang="en-US" sz="2200" dirty="0" smtClean="0">
                <a:latin typeface="Helvetica" pitchFamily="34" charset="0"/>
              </a:rPr>
              <a:t>Length of stay</a:t>
            </a:r>
          </a:p>
          <a:p>
            <a:pPr lvl="0">
              <a:spcBef>
                <a:spcPts val="600"/>
              </a:spcBef>
              <a:spcAft>
                <a:spcPts val="1200"/>
              </a:spcAft>
            </a:pPr>
            <a:r>
              <a:rPr lang="en-US" sz="2200" dirty="0" smtClean="0">
                <a:latin typeface="Helvetica" pitchFamily="34" charset="0"/>
              </a:rPr>
              <a:t>Type of organisation for the trip</a:t>
            </a:r>
          </a:p>
          <a:p>
            <a:pPr lvl="0">
              <a:spcBef>
                <a:spcPts val="600"/>
              </a:spcBef>
              <a:spcAft>
                <a:spcPts val="1200"/>
              </a:spcAft>
            </a:pPr>
            <a:r>
              <a:rPr lang="en-AU" sz="2200" dirty="0" smtClean="0">
                <a:latin typeface="Helvetica" pitchFamily="34" charset="0"/>
              </a:rPr>
              <a:t>Spending patterns of consumers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Characteristics of consumers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shutterstock_185902403.jpg"/>
          <p:cNvPicPr>
            <a:picLocks noChangeAspect="1"/>
          </p:cNvPicPr>
          <p:nvPr/>
        </p:nvPicPr>
        <p:blipFill>
          <a:blip r:embed="rId3" cstate="print"/>
          <a:stretch>
            <a:fillRect/>
          </a:stretch>
        </p:blipFill>
        <p:spPr>
          <a:xfrm>
            <a:off x="6300192" y="4077072"/>
            <a:ext cx="2171748" cy="144855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tourism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Researching tourism trends and statistics</a:t>
            </a:r>
            <a:endParaRPr lang="en-US" sz="2000" dirty="0" smtClean="0"/>
          </a:p>
          <a:p>
            <a:pPr marL="0">
              <a:spcBef>
                <a:spcPts val="600"/>
              </a:spcBef>
              <a:spcAft>
                <a:spcPts val="1200"/>
              </a:spcAft>
              <a:buNone/>
            </a:pPr>
            <a:r>
              <a:rPr lang="en-AU" sz="2000" dirty="0" smtClean="0"/>
              <a:t>With this information you will be able to start researching for suitable products and services for packaging. </a:t>
            </a:r>
          </a:p>
          <a:p>
            <a:pPr marL="0">
              <a:spcBef>
                <a:spcPts val="600"/>
              </a:spcBef>
              <a:spcAft>
                <a:spcPts val="1200"/>
              </a:spcAft>
              <a:buNone/>
            </a:pPr>
            <a:r>
              <a:rPr lang="en-AU" sz="2000" dirty="0" smtClean="0"/>
              <a:t>Several methods should be used including:</a:t>
            </a:r>
            <a:endParaRPr lang="en-US" sz="2000" dirty="0" smtClean="0"/>
          </a:p>
          <a:p>
            <a:pPr>
              <a:spcBef>
                <a:spcPts val="600"/>
              </a:spcBef>
              <a:spcAft>
                <a:spcPts val="1200"/>
              </a:spcAft>
            </a:pPr>
            <a:r>
              <a:rPr lang="en-AU" sz="2000" dirty="0" smtClean="0"/>
              <a:t>Desk research</a:t>
            </a:r>
            <a:endParaRPr lang="en-US" sz="2000" dirty="0" smtClean="0"/>
          </a:p>
          <a:p>
            <a:pPr>
              <a:spcBef>
                <a:spcPts val="600"/>
              </a:spcBef>
              <a:spcAft>
                <a:spcPts val="1200"/>
              </a:spcAft>
            </a:pPr>
            <a:r>
              <a:rPr lang="en-AU" sz="2000" dirty="0" smtClean="0"/>
              <a:t>Personal contact</a:t>
            </a:r>
          </a:p>
          <a:p>
            <a:pPr>
              <a:spcBef>
                <a:spcPts val="600"/>
              </a:spcBef>
              <a:spcAft>
                <a:spcPts val="1200"/>
              </a:spcAft>
              <a:buNone/>
            </a:pPr>
            <a:endParaRPr lang="en-AU" sz="2000" dirty="0" smtClean="0"/>
          </a:p>
          <a:p>
            <a:pPr>
              <a:spcBef>
                <a:spcPts val="600"/>
              </a:spcBef>
              <a:spcAft>
                <a:spcPts val="1200"/>
              </a:spcAft>
              <a:buNone/>
            </a:pPr>
            <a:r>
              <a:rPr lang="en-AU" sz="2000" b="1" i="1" dirty="0" smtClean="0">
                <a:solidFill>
                  <a:srgbClr val="FF6600"/>
                </a:solidFill>
              </a:rPr>
              <a:t>COMPLETE ACTIVITY 3</a:t>
            </a:r>
          </a:p>
          <a:p>
            <a:pPr>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Picture 6" descr="A4 shutterstock_129113624.jpg"/>
          <p:cNvPicPr/>
          <p:nvPr/>
        </p:nvPicPr>
        <p:blipFill>
          <a:blip r:embed="rId3" cstate="print"/>
          <a:stretch>
            <a:fillRect/>
          </a:stretch>
        </p:blipFill>
        <p:spPr>
          <a:xfrm>
            <a:off x="6156176" y="4005064"/>
            <a:ext cx="2226940" cy="172819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Seek client personal information</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lvl="0">
              <a:spcBef>
                <a:spcPts val="600"/>
              </a:spcBef>
              <a:spcAft>
                <a:spcPts val="600"/>
              </a:spcAft>
            </a:pPr>
            <a:r>
              <a:rPr lang="en-AU" sz="2000" dirty="0" smtClean="0">
                <a:latin typeface="Helvetica" pitchFamily="34" charset="0"/>
              </a:rPr>
              <a:t>Name, initial and title</a:t>
            </a:r>
          </a:p>
          <a:p>
            <a:pPr lvl="0">
              <a:spcBef>
                <a:spcPts val="600"/>
              </a:spcBef>
              <a:spcAft>
                <a:spcPts val="600"/>
              </a:spcAft>
            </a:pPr>
            <a:r>
              <a:rPr lang="en-AU" sz="2000" dirty="0" smtClean="0">
                <a:latin typeface="Helvetica" pitchFamily="34" charset="0"/>
              </a:rPr>
              <a:t>Dates of birth for passengers, in particular children</a:t>
            </a:r>
          </a:p>
          <a:p>
            <a:pPr lvl="0">
              <a:spcBef>
                <a:spcPts val="600"/>
              </a:spcBef>
              <a:spcAft>
                <a:spcPts val="600"/>
              </a:spcAft>
            </a:pPr>
            <a:r>
              <a:rPr lang="en-AU" sz="2000" dirty="0" smtClean="0">
                <a:latin typeface="Helvetica" pitchFamily="34" charset="0"/>
              </a:rPr>
              <a:t>Contact details for home, work and mobiles</a:t>
            </a:r>
          </a:p>
          <a:p>
            <a:pPr lvl="0">
              <a:spcBef>
                <a:spcPts val="600"/>
              </a:spcBef>
              <a:spcAft>
                <a:spcPts val="600"/>
              </a:spcAft>
            </a:pPr>
            <a:r>
              <a:rPr lang="en-AU" sz="2000" dirty="0" smtClean="0">
                <a:latin typeface="Helvetica" pitchFamily="34" charset="0"/>
              </a:rPr>
              <a:t>Special meal requests or seating preferences</a:t>
            </a:r>
          </a:p>
          <a:p>
            <a:pPr lvl="0">
              <a:spcBef>
                <a:spcPts val="600"/>
              </a:spcBef>
              <a:spcAft>
                <a:spcPts val="600"/>
              </a:spcAft>
            </a:pPr>
            <a:r>
              <a:rPr lang="en-AU" sz="2000" dirty="0" smtClean="0">
                <a:latin typeface="Helvetica" pitchFamily="34" charset="0"/>
              </a:rPr>
              <a:t>Frequent flyer information and club memberships</a:t>
            </a:r>
          </a:p>
          <a:p>
            <a:pPr lvl="0">
              <a:spcBef>
                <a:spcPts val="600"/>
              </a:spcBef>
              <a:spcAft>
                <a:spcPts val="600"/>
              </a:spcAft>
            </a:pPr>
            <a:r>
              <a:rPr lang="en-AU" sz="2000" dirty="0" smtClean="0">
                <a:latin typeface="Helvetica" pitchFamily="34" charset="0"/>
              </a:rPr>
              <a:t>Details of travel such as dates, places and products</a:t>
            </a:r>
          </a:p>
          <a:p>
            <a:pPr lvl="0">
              <a:spcBef>
                <a:spcPts val="600"/>
              </a:spcBef>
              <a:spcAft>
                <a:spcPts val="600"/>
              </a:spcAft>
            </a:pPr>
            <a:r>
              <a:rPr lang="en-AU" sz="2000" dirty="0" smtClean="0">
                <a:latin typeface="Helvetica" pitchFamily="34" charset="0"/>
              </a:rPr>
              <a:t>Payment details</a:t>
            </a:r>
          </a:p>
          <a:p>
            <a:pPr lvl="0">
              <a:spcBef>
                <a:spcPts val="600"/>
              </a:spcBef>
              <a:spcAft>
                <a:spcPts val="600"/>
              </a:spcAft>
            </a:pPr>
            <a:r>
              <a:rPr lang="en-AU" sz="2000" dirty="0" smtClean="0">
                <a:latin typeface="Helvetica" pitchFamily="34" charset="0"/>
              </a:rPr>
              <a:t>Wholesaler or Consolidator used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shutterstock_95857066.jpg"/>
          <p:cNvPicPr>
            <a:picLocks noChangeAspect="1"/>
          </p:cNvPicPr>
          <p:nvPr/>
        </p:nvPicPr>
        <p:blipFill>
          <a:blip r:embed="rId3" cstate="print"/>
          <a:stretch>
            <a:fillRect/>
          </a:stretch>
        </p:blipFill>
        <p:spPr>
          <a:xfrm>
            <a:off x="6643844" y="4653136"/>
            <a:ext cx="1837386" cy="151216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client travel details and requirements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000" dirty="0" smtClean="0"/>
              <a:t>Name and contact details of the client including details of the traveller where the contact is not the user</a:t>
            </a:r>
            <a:endParaRPr lang="en-US" sz="2000" dirty="0" smtClean="0"/>
          </a:p>
          <a:p>
            <a:pPr lvl="0">
              <a:spcBef>
                <a:spcPts val="600"/>
              </a:spcBef>
              <a:spcAft>
                <a:spcPts val="1200"/>
              </a:spcAft>
            </a:pPr>
            <a:r>
              <a:rPr lang="en-AU" sz="2000" dirty="0" smtClean="0"/>
              <a:t>Proposed itinerary, including destinations (intermediary and final destinations), services and activities required, attractions to be visited </a:t>
            </a:r>
            <a:endParaRPr lang="en-US" sz="2000" dirty="0" smtClean="0"/>
          </a:p>
          <a:p>
            <a:pPr lvl="0">
              <a:spcBef>
                <a:spcPts val="600"/>
              </a:spcBef>
              <a:spcAft>
                <a:spcPts val="1200"/>
              </a:spcAft>
            </a:pPr>
            <a:r>
              <a:rPr lang="en-AU" sz="2000" dirty="0" smtClean="0"/>
              <a:t>Product and service preferences</a:t>
            </a:r>
            <a:endParaRPr lang="en-US" sz="2000" dirty="0" smtClean="0"/>
          </a:p>
          <a:p>
            <a:pPr lvl="0">
              <a:spcBef>
                <a:spcPts val="600"/>
              </a:spcBef>
              <a:spcAft>
                <a:spcPts val="1200"/>
              </a:spcAft>
            </a:pPr>
            <a:r>
              <a:rPr lang="en-AU" sz="2000" dirty="0" smtClean="0"/>
              <a:t>Practicality</a:t>
            </a:r>
            <a:endParaRPr lang="en-US" sz="2000" dirty="0" smtClean="0"/>
          </a:p>
          <a:p>
            <a:pPr lvl="0">
              <a:buNone/>
            </a:pPr>
            <a:endParaRPr lang="en-AU"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Looking at map_124805341.jpg"/>
          <p:cNvPicPr/>
          <p:nvPr/>
        </p:nvPicPr>
        <p:blipFill>
          <a:blip r:embed="rId3" cstate="print"/>
          <a:stretch>
            <a:fillRect/>
          </a:stretch>
        </p:blipFill>
        <p:spPr>
          <a:xfrm>
            <a:off x="6195961" y="4202781"/>
            <a:ext cx="2192463" cy="1458467"/>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client travel details and requirements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000" dirty="0" smtClean="0"/>
              <a:t>Service styles and standards</a:t>
            </a:r>
            <a:endParaRPr lang="en-US" sz="2000" dirty="0" smtClean="0"/>
          </a:p>
          <a:p>
            <a:pPr lvl="0">
              <a:spcBef>
                <a:spcPts val="600"/>
              </a:spcBef>
              <a:spcAft>
                <a:spcPts val="1200"/>
              </a:spcAft>
            </a:pPr>
            <a:r>
              <a:rPr lang="en-AU" sz="2000" dirty="0" smtClean="0"/>
              <a:t>Accommodation and dining/catering requirements</a:t>
            </a:r>
            <a:endParaRPr lang="en-US" sz="2000" dirty="0" smtClean="0"/>
          </a:p>
          <a:p>
            <a:pPr lvl="0">
              <a:spcBef>
                <a:spcPts val="600"/>
              </a:spcBef>
              <a:spcAft>
                <a:spcPts val="1200"/>
              </a:spcAft>
            </a:pPr>
            <a:r>
              <a:rPr lang="en-AU" sz="2000" dirty="0" smtClean="0"/>
              <a:t>Budget</a:t>
            </a:r>
            <a:endParaRPr lang="en-US" sz="2000" dirty="0" smtClean="0"/>
          </a:p>
          <a:p>
            <a:pPr lvl="0">
              <a:spcBef>
                <a:spcPts val="600"/>
              </a:spcBef>
              <a:spcAft>
                <a:spcPts val="1200"/>
              </a:spcAft>
            </a:pPr>
            <a:r>
              <a:rPr lang="en-AU" sz="2000" dirty="0" smtClean="0"/>
              <a:t>Dates and times, including specific days,                     seasonal imperatives and duration</a:t>
            </a:r>
            <a:endParaRPr lang="en-US" sz="2000" dirty="0" smtClean="0"/>
          </a:p>
          <a:p>
            <a:pPr lvl="0">
              <a:spcBef>
                <a:spcPts val="600"/>
              </a:spcBef>
              <a:spcAft>
                <a:spcPts val="1200"/>
              </a:spcAft>
            </a:pPr>
            <a:r>
              <a:rPr lang="en-AU" sz="2000" dirty="0" smtClean="0"/>
              <a:t>Timing and duration issues, including                       constraints and the need for integration                                 with an associated tour or travel program</a:t>
            </a:r>
            <a:endParaRPr lang="en-US" sz="2000" dirty="0" smtClean="0"/>
          </a:p>
          <a:p>
            <a:pPr lvl="0">
              <a:buNone/>
            </a:pPr>
            <a:endParaRPr lang="en-AU"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shutterstock_47996410.jpg"/>
          <p:cNvPicPr>
            <a:picLocks noChangeAspect="1"/>
          </p:cNvPicPr>
          <p:nvPr/>
        </p:nvPicPr>
        <p:blipFill>
          <a:blip r:embed="rId3" cstate="print"/>
          <a:stretch>
            <a:fillRect/>
          </a:stretch>
        </p:blipFill>
        <p:spPr>
          <a:xfrm>
            <a:off x="6228184" y="4149080"/>
            <a:ext cx="2172072" cy="145746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client travel details and requirements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lvl="0">
              <a:spcBef>
                <a:spcPts val="600"/>
              </a:spcBef>
              <a:spcAft>
                <a:spcPts val="1200"/>
              </a:spcAft>
            </a:pPr>
            <a:r>
              <a:rPr lang="en-AU" sz="2000" dirty="0" smtClean="0">
                <a:latin typeface="Helvetica" pitchFamily="34" charset="0"/>
              </a:rPr>
              <a:t>Client numbers and classification, including adults, children, babies and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Preferred travel options, including destination travel requirements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Reasons for trip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Non-negotiable elements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Previous history of the client in relation                                to bookings made</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Cultural and religious issues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shutterstock_161663417.jpg"/>
          <p:cNvPicPr/>
          <p:nvPr/>
        </p:nvPicPr>
        <p:blipFill>
          <a:blip r:embed="rId3" cstate="print"/>
          <a:stretch>
            <a:fillRect/>
          </a:stretch>
        </p:blipFill>
        <p:spPr>
          <a:xfrm>
            <a:off x="6300192" y="4365104"/>
            <a:ext cx="2143125" cy="142875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91170884.jpg"/>
          <p:cNvPicPr/>
          <p:nvPr/>
        </p:nvPicPr>
        <p:blipFill>
          <a:blip r:embed="rId3" cstate="print"/>
          <a:stretch>
            <a:fillRect/>
          </a:stretch>
        </p:blipFill>
        <p:spPr>
          <a:xfrm>
            <a:off x="6444208" y="3501008"/>
            <a:ext cx="1764858" cy="1512168"/>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GB" sz="3400" b="1" dirty="0" smtClean="0">
                <a:solidFill>
                  <a:srgbClr val="FF6600"/>
                </a:solidFill>
                <a:latin typeface="Helvetica" pitchFamily="34" charset="0"/>
              </a:rPr>
              <a:t>Understanding client needs, wants and expectations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Using a Quotation Planner</a:t>
            </a:r>
            <a:endParaRPr lang="en-AU" sz="2000" dirty="0" smtClean="0"/>
          </a:p>
          <a:p>
            <a:pPr marL="0">
              <a:spcBef>
                <a:spcPts val="600"/>
              </a:spcBef>
              <a:spcAft>
                <a:spcPts val="1200"/>
              </a:spcAft>
              <a:buNone/>
            </a:pPr>
            <a:r>
              <a:rPr lang="en-AU" sz="2000" dirty="0" smtClean="0"/>
              <a:t>Each organisation will have established pro-formas or documents which must be used by staff when collecting information from customers in which quotations can be based around.</a:t>
            </a:r>
          </a:p>
          <a:p>
            <a:pPr>
              <a:spcBef>
                <a:spcPts val="600"/>
              </a:spcBef>
              <a:spcAft>
                <a:spcPts val="1200"/>
              </a:spcAft>
            </a:pPr>
            <a:r>
              <a:rPr lang="en-AU" sz="2000" dirty="0" smtClean="0"/>
              <a:t>What is the benefit of using a quotation planner?</a:t>
            </a:r>
          </a:p>
          <a:p>
            <a:pPr>
              <a:spcBef>
                <a:spcPts val="600"/>
              </a:spcBef>
              <a:spcAft>
                <a:spcPts val="1200"/>
              </a:spcAft>
            </a:pPr>
            <a:r>
              <a:rPr lang="en-AU" sz="2000" dirty="0" smtClean="0"/>
              <a:t>What information do you wish to collect?</a:t>
            </a:r>
          </a:p>
          <a:p>
            <a:pPr>
              <a:spcBef>
                <a:spcPts val="600"/>
              </a:spcBef>
              <a:spcAft>
                <a:spcPts val="1200"/>
              </a:spcAft>
            </a:pPr>
            <a:endParaRPr lang="en-AU" sz="2000" dirty="0" smtClean="0"/>
          </a:p>
          <a:p>
            <a:pPr>
              <a:spcBef>
                <a:spcPts val="600"/>
              </a:spcBef>
              <a:spcAft>
                <a:spcPts val="1200"/>
              </a:spcAft>
              <a:buNone/>
            </a:pPr>
            <a:r>
              <a:rPr lang="en-AU" sz="2000" b="1" i="1" dirty="0" smtClean="0">
                <a:solidFill>
                  <a:srgbClr val="FF6600"/>
                </a:solidFill>
              </a:rPr>
              <a:t>COMPLETE ACTIVITY 4</a:t>
            </a:r>
          </a:p>
          <a:p>
            <a:pPr>
              <a:spcBef>
                <a:spcPts val="600"/>
              </a:spcBef>
              <a:spcAft>
                <a:spcPts val="1200"/>
              </a:spcAft>
              <a:buNone/>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host requirements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Importance of understanding host requirements</a:t>
            </a:r>
          </a:p>
          <a:p>
            <a:pPr>
              <a:spcBef>
                <a:spcPts val="600"/>
              </a:spcBef>
              <a:spcAft>
                <a:spcPts val="1200"/>
              </a:spcAft>
            </a:pPr>
            <a:r>
              <a:rPr lang="en-AU" sz="2000" dirty="0" smtClean="0">
                <a:latin typeface="Helvetica" pitchFamily="34" charset="0"/>
              </a:rPr>
              <a:t>Whilst the needs of the client are of primary concern when developing packages, it is essential that packages are researched and constructed in a manner that complies with your tourism organisation</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descr="W248_customer_service_1_shutterstock_136084034.jpg"/>
          <p:cNvPicPr/>
          <p:nvPr/>
        </p:nvPicPr>
        <p:blipFill>
          <a:blip r:embed="rId3" cstate="print"/>
          <a:stretch>
            <a:fillRect/>
          </a:stretch>
        </p:blipFill>
        <p:spPr>
          <a:xfrm>
            <a:off x="2616843" y="3717032"/>
            <a:ext cx="2448272" cy="1656184"/>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host requirements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1200"/>
              </a:spcAft>
              <a:buNone/>
            </a:pPr>
            <a:r>
              <a:rPr lang="en-AU" sz="2000" b="1" dirty="0" smtClean="0">
                <a:latin typeface="Helvetica" pitchFamily="34" charset="0"/>
              </a:rPr>
              <a:t>Review host enterprise requirements</a:t>
            </a:r>
            <a:endParaRPr lang="en-US" sz="2000" b="1" dirty="0" smtClean="0">
              <a:latin typeface="Helvetica" pitchFamily="34" charset="0"/>
            </a:endParaRPr>
          </a:p>
          <a:p>
            <a:pPr lvl="0">
              <a:spcBef>
                <a:spcPts val="600"/>
              </a:spcBef>
              <a:spcAft>
                <a:spcPts val="1200"/>
              </a:spcAft>
            </a:pPr>
            <a:r>
              <a:rPr lang="en-US" sz="2000" dirty="0" smtClean="0">
                <a:latin typeface="Helvetica" pitchFamily="34" charset="0"/>
              </a:rPr>
              <a:t>Business objectives</a:t>
            </a:r>
          </a:p>
          <a:p>
            <a:pPr lvl="0">
              <a:spcBef>
                <a:spcPts val="600"/>
              </a:spcBef>
              <a:spcAft>
                <a:spcPts val="1200"/>
              </a:spcAft>
            </a:pPr>
            <a:r>
              <a:rPr lang="en-US" sz="2000" dirty="0" smtClean="0">
                <a:latin typeface="Helvetica" pitchFamily="34" charset="0"/>
              </a:rPr>
              <a:t>Key market segments or clients</a:t>
            </a:r>
          </a:p>
          <a:p>
            <a:pPr lvl="0">
              <a:spcBef>
                <a:spcPts val="600"/>
              </a:spcBef>
              <a:spcAft>
                <a:spcPts val="1200"/>
              </a:spcAft>
            </a:pPr>
            <a:r>
              <a:rPr lang="en-US" sz="2000" dirty="0" smtClean="0">
                <a:latin typeface="Helvetica" pitchFamily="34" charset="0"/>
              </a:rPr>
              <a:t>Types and style of tourism activities and products current offered</a:t>
            </a:r>
          </a:p>
          <a:p>
            <a:pPr lvl="0">
              <a:spcBef>
                <a:spcPts val="600"/>
              </a:spcBef>
              <a:spcAft>
                <a:spcPts val="1200"/>
              </a:spcAft>
            </a:pPr>
            <a:r>
              <a:rPr lang="en-US" sz="2000" dirty="0" smtClean="0">
                <a:latin typeface="Helvetica" pitchFamily="34" charset="0"/>
              </a:rPr>
              <a:t>Types of products or services that could be combined with current activities and services</a:t>
            </a:r>
          </a:p>
          <a:p>
            <a:pPr lvl="0">
              <a:spcBef>
                <a:spcPts val="600"/>
              </a:spcBef>
              <a:spcAft>
                <a:spcPts val="1200"/>
              </a:spcAft>
            </a:pPr>
            <a:r>
              <a:rPr lang="en-US" sz="2000" dirty="0" smtClean="0">
                <a:latin typeface="Helvetica" pitchFamily="34" charset="0"/>
              </a:rPr>
              <a:t>How the packaging could be used to </a:t>
            </a:r>
            <a:br>
              <a:rPr lang="en-US" sz="2000" dirty="0" smtClean="0">
                <a:latin typeface="Helvetica" pitchFamily="34" charset="0"/>
              </a:rPr>
            </a:br>
            <a:r>
              <a:rPr lang="en-US" sz="2000" dirty="0" smtClean="0">
                <a:latin typeface="Helvetica" pitchFamily="34" charset="0"/>
              </a:rPr>
              <a:t>improve service</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shutterstock_141853249.jpg"/>
          <p:cNvPicPr/>
          <p:nvPr/>
        </p:nvPicPr>
        <p:blipFill>
          <a:blip r:embed="rId3" cstate="print"/>
          <a:stretch>
            <a:fillRect/>
          </a:stretch>
        </p:blipFill>
        <p:spPr>
          <a:xfrm>
            <a:off x="6228184" y="4437112"/>
            <a:ext cx="2160240" cy="1512168"/>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host requirements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AU" sz="2000" b="1" dirty="0" smtClean="0">
                <a:latin typeface="Helvetica" pitchFamily="34" charset="0"/>
              </a:rPr>
              <a:t>Review host enterprise requirements</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Enhancing and expanding product range including product initiatives that conform to business plan and marketing objectives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Movement into new target markets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Reputation and image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Business agreements, including franchise </a:t>
            </a:r>
            <a:br>
              <a:rPr lang="en-AU" sz="2000" dirty="0" smtClean="0">
                <a:latin typeface="Helvetica" pitchFamily="34" charset="0"/>
              </a:rPr>
            </a:br>
            <a:r>
              <a:rPr lang="en-AU" sz="2000" dirty="0" smtClean="0">
                <a:latin typeface="Helvetica" pitchFamily="34" charset="0"/>
              </a:rPr>
              <a:t>and other contractual arrangements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A22 shutterstock_182450381.jpg"/>
          <p:cNvPicPr>
            <a:picLocks noChangeAspect="1"/>
          </p:cNvPicPr>
          <p:nvPr/>
        </p:nvPicPr>
        <p:blipFill>
          <a:blip r:embed="rId3" cstate="print"/>
          <a:stretch>
            <a:fillRect/>
          </a:stretch>
        </p:blipFill>
        <p:spPr>
          <a:xfrm>
            <a:off x="6372200" y="4365104"/>
            <a:ext cx="2062982" cy="137807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Identify host requirements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AU" sz="2000" b="1" dirty="0" smtClean="0"/>
              <a:t>Review host enterprise requirements</a:t>
            </a:r>
            <a:endParaRPr lang="en-US" sz="2000" b="1" dirty="0" smtClean="0"/>
          </a:p>
          <a:p>
            <a:pPr lvl="0">
              <a:spcBef>
                <a:spcPts val="600"/>
              </a:spcBef>
              <a:spcAft>
                <a:spcPts val="1200"/>
              </a:spcAft>
            </a:pPr>
            <a:r>
              <a:rPr lang="en-AU" sz="2000" dirty="0" smtClean="0"/>
              <a:t>Meeting competition</a:t>
            </a:r>
            <a:endParaRPr lang="en-US" sz="2000" dirty="0" smtClean="0"/>
          </a:p>
          <a:p>
            <a:pPr lvl="0">
              <a:spcBef>
                <a:spcPts val="600"/>
              </a:spcBef>
              <a:spcAft>
                <a:spcPts val="1200"/>
              </a:spcAft>
            </a:pPr>
            <a:r>
              <a:rPr lang="en-AU" sz="2000" dirty="0" smtClean="0"/>
              <a:t>Involvement of colleagues in determining requirements</a:t>
            </a:r>
            <a:endParaRPr lang="en-US" sz="2000" dirty="0" smtClean="0"/>
          </a:p>
          <a:p>
            <a:pPr lvl="0">
              <a:spcBef>
                <a:spcPts val="600"/>
              </a:spcBef>
              <a:spcAft>
                <a:spcPts val="1200"/>
              </a:spcAft>
            </a:pPr>
            <a:r>
              <a:rPr lang="en-US" sz="2000" dirty="0" smtClean="0"/>
              <a:t>Potential increase in business and profitability</a:t>
            </a:r>
          </a:p>
          <a:p>
            <a:pPr lvl="0">
              <a:spcBef>
                <a:spcPts val="600"/>
              </a:spcBef>
              <a:spcAft>
                <a:spcPts val="1200"/>
              </a:spcAft>
            </a:pPr>
            <a:endParaRPr lang="en-US" sz="2000" dirty="0" smtClean="0"/>
          </a:p>
          <a:p>
            <a:pPr>
              <a:spcBef>
                <a:spcPts val="600"/>
              </a:spcBef>
              <a:spcAft>
                <a:spcPts val="1200"/>
              </a:spcAft>
              <a:buNone/>
            </a:pPr>
            <a:r>
              <a:rPr lang="en-AU" sz="2000" b="1" i="1" dirty="0" smtClean="0">
                <a:solidFill>
                  <a:srgbClr val="FF6600"/>
                </a:solidFill>
              </a:rPr>
              <a:t>COMPLETE ACTIVITY 5</a:t>
            </a:r>
          </a:p>
          <a:p>
            <a:pPr lvl="0">
              <a:spcBef>
                <a:spcPts val="600"/>
              </a:spcBef>
              <a:spcAft>
                <a:spcPts val="1200"/>
              </a:spcAft>
              <a:buNone/>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shutterstock_118921213.jpg"/>
          <p:cNvPicPr/>
          <p:nvPr/>
        </p:nvPicPr>
        <p:blipFill>
          <a:blip r:embed="rId3" cstate="print"/>
          <a:stretch>
            <a:fillRect/>
          </a:stretch>
        </p:blipFill>
        <p:spPr>
          <a:xfrm>
            <a:off x="6228184" y="4149080"/>
            <a:ext cx="2147947" cy="1454274"/>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est Tour_129392636.jpg"/>
          <p:cNvPicPr/>
          <p:nvPr/>
        </p:nvPicPr>
        <p:blipFill>
          <a:blip r:embed="rId3" cstate="print"/>
          <a:stretch>
            <a:fillRect/>
          </a:stretch>
        </p:blipFill>
        <p:spPr>
          <a:xfrm>
            <a:off x="5028983" y="3284984"/>
            <a:ext cx="2304256" cy="2160240"/>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tour packages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Variety of tour packages</a:t>
            </a:r>
          </a:p>
          <a:p>
            <a:pPr marL="0">
              <a:spcBef>
                <a:spcPts val="600"/>
              </a:spcBef>
              <a:spcAft>
                <a:spcPts val="1200"/>
              </a:spcAft>
              <a:buNone/>
            </a:pPr>
            <a:r>
              <a:rPr lang="en-US" sz="2000" dirty="0" smtClean="0">
                <a:latin typeface="Helvetica" pitchFamily="34" charset="0"/>
              </a:rPr>
              <a:t>Recently, the tourism industry has responded positively with ever expanding needs for new and variety of tour packages demanded by clients, in all corners of the world:</a:t>
            </a:r>
          </a:p>
          <a:p>
            <a:pPr>
              <a:spcBef>
                <a:spcPts val="600"/>
              </a:spcBef>
              <a:spcAft>
                <a:spcPts val="1200"/>
              </a:spcAft>
            </a:pPr>
            <a:r>
              <a:rPr lang="en-US" sz="2000" dirty="0" smtClean="0">
                <a:latin typeface="Helvetica" pitchFamily="34" charset="0"/>
              </a:rPr>
              <a:t>What diversity of tours are there?</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US" sz="2000" b="1" dirty="0" smtClean="0">
                <a:latin typeface="Helvetica" pitchFamily="34" charset="0"/>
              </a:rPr>
              <a:t>Independent Tours</a:t>
            </a:r>
            <a:endParaRPr lang="en-US" sz="2000" dirty="0" smtClean="0">
              <a:latin typeface="Helvetica" pitchFamily="34" charset="0"/>
            </a:endParaRPr>
          </a:p>
          <a:p>
            <a:pPr marL="0">
              <a:spcBef>
                <a:spcPts val="600"/>
              </a:spcBef>
              <a:spcAft>
                <a:spcPts val="1200"/>
              </a:spcAft>
              <a:buNone/>
            </a:pPr>
            <a:r>
              <a:rPr lang="en-US" sz="2000" dirty="0" smtClean="0">
                <a:latin typeface="Helvetica" pitchFamily="34" charset="0"/>
              </a:rPr>
              <a:t>An independent tour is prepared to meet the needs of an individual client's specification. In this tour, a traveler is free and independent to select any component for his journey</a:t>
            </a:r>
            <a:r>
              <a:rPr lang="en-US" sz="2000" dirty="0"/>
              <a:t>:</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What are examples of these tours?</a:t>
            </a:r>
          </a:p>
          <a:p>
            <a:pPr>
              <a:spcBef>
                <a:spcPts val="600"/>
              </a:spcBef>
              <a:spcAft>
                <a:spcPts val="1200"/>
              </a:spcAft>
            </a:pPr>
            <a:r>
              <a:rPr lang="en-US" sz="2000" dirty="0" smtClean="0">
                <a:latin typeface="Helvetica" pitchFamily="34" charset="0"/>
              </a:rPr>
              <a:t>What are the advantages / disadvantages of these tours?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descr="Lady_plan_world_train_96530158.jpg"/>
          <p:cNvPicPr/>
          <p:nvPr/>
        </p:nvPicPr>
        <p:blipFill>
          <a:blip r:embed="rId3" cstate="print"/>
          <a:stretch>
            <a:fillRect/>
          </a:stretch>
        </p:blipFill>
        <p:spPr>
          <a:xfrm>
            <a:off x="2339752" y="4221088"/>
            <a:ext cx="2232248" cy="158417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US" sz="2000" b="1" dirty="0" smtClean="0">
                <a:latin typeface="Helvetica" pitchFamily="34" charset="0"/>
              </a:rPr>
              <a:t>Inclusive Tours</a:t>
            </a:r>
            <a:endParaRPr lang="en-US" sz="2000" dirty="0" smtClean="0">
              <a:latin typeface="Helvetica" pitchFamily="34" charset="0"/>
            </a:endParaRPr>
          </a:p>
          <a:p>
            <a:pPr marL="0">
              <a:spcBef>
                <a:spcPts val="600"/>
              </a:spcBef>
              <a:spcAft>
                <a:spcPts val="1200"/>
              </a:spcAft>
              <a:buNone/>
            </a:pPr>
            <a:r>
              <a:rPr lang="en-US" sz="2000" dirty="0" smtClean="0">
                <a:latin typeface="Helvetica" pitchFamily="34" charset="0"/>
              </a:rPr>
              <a:t>Tour components are purchased, combined and sold as a package at an inclusive price to clients by a tour operator is known as an inclusive tour:</a:t>
            </a:r>
          </a:p>
          <a:p>
            <a:pPr>
              <a:spcBef>
                <a:spcPts val="600"/>
              </a:spcBef>
              <a:spcAft>
                <a:spcPts val="1200"/>
              </a:spcAft>
            </a:pPr>
            <a:r>
              <a:rPr lang="en-US" sz="2000" dirty="0" smtClean="0">
                <a:latin typeface="Helvetica" pitchFamily="34" charset="0"/>
              </a:rPr>
              <a:t>What are examples of these tours?</a:t>
            </a:r>
          </a:p>
          <a:p>
            <a:pPr>
              <a:spcBef>
                <a:spcPts val="600"/>
              </a:spcBef>
              <a:spcAft>
                <a:spcPts val="1200"/>
              </a:spcAft>
            </a:pPr>
            <a:r>
              <a:rPr lang="en-US" sz="2000" dirty="0" smtClean="0">
                <a:latin typeface="Helvetica" pitchFamily="34" charset="0"/>
              </a:rPr>
              <a:t>What are the advantages / disadvantages of these tours?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7" name="Picture 6" descr="shutterstock_114459544.jpg"/>
          <p:cNvPicPr/>
          <p:nvPr/>
        </p:nvPicPr>
        <p:blipFill>
          <a:blip r:embed="rId3" cstate="print"/>
          <a:stretch>
            <a:fillRect/>
          </a:stretch>
        </p:blipFill>
        <p:spPr>
          <a:xfrm>
            <a:off x="2483768" y="4293096"/>
            <a:ext cx="2304256" cy="1555229"/>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US" sz="2200" b="1" dirty="0" smtClean="0">
                <a:latin typeface="Helvetica" pitchFamily="34" charset="0"/>
              </a:rPr>
              <a:t>Escorted Tours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This type of tour is also known as a ‘Conducted Tour’.</a:t>
            </a:r>
          </a:p>
          <a:p>
            <a:pPr marL="0">
              <a:spcBef>
                <a:spcPts val="600"/>
              </a:spcBef>
              <a:spcAft>
                <a:spcPts val="1200"/>
              </a:spcAft>
              <a:buNone/>
            </a:pPr>
            <a:r>
              <a:rPr lang="en-US" sz="2200" dirty="0" smtClean="0">
                <a:latin typeface="Helvetica" pitchFamily="34" charset="0"/>
              </a:rPr>
              <a:t>A tour escort is provided from the starting point back to the point of return to accompany the tour members. </a:t>
            </a:r>
          </a:p>
          <a:p>
            <a:pPr>
              <a:spcBef>
                <a:spcPts val="600"/>
              </a:spcBef>
              <a:spcAft>
                <a:spcPts val="1200"/>
              </a:spcAft>
            </a:pPr>
            <a:r>
              <a:rPr lang="en-US" sz="2200" dirty="0" smtClean="0">
                <a:latin typeface="Helvetica" pitchFamily="34" charset="0"/>
              </a:rPr>
              <a:t>What are examples of these tours?</a:t>
            </a:r>
          </a:p>
          <a:p>
            <a:pPr>
              <a:spcBef>
                <a:spcPts val="600"/>
              </a:spcBef>
              <a:spcAft>
                <a:spcPts val="1200"/>
              </a:spcAft>
            </a:pPr>
            <a:r>
              <a:rPr lang="en-US" sz="2200" dirty="0" smtClean="0">
                <a:latin typeface="Helvetica" pitchFamily="34" charset="0"/>
              </a:rPr>
              <a:t>What are the advantages / disadvantages of these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6" name="Picture 5" descr="shutterstock_66962083.jpg"/>
          <p:cNvPicPr/>
          <p:nvPr/>
        </p:nvPicPr>
        <p:blipFill>
          <a:blip r:embed="rId3" cstate="print"/>
          <a:stretch>
            <a:fillRect/>
          </a:stretch>
        </p:blipFill>
        <p:spPr>
          <a:xfrm>
            <a:off x="2843808" y="4725144"/>
            <a:ext cx="2160240" cy="122413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US" sz="2000" b="1" dirty="0" smtClean="0">
                <a:latin typeface="Helvetica" pitchFamily="34" charset="0"/>
              </a:rPr>
              <a:t>Business Tours</a:t>
            </a:r>
            <a:endParaRPr lang="en-US" sz="2000" dirty="0" smtClean="0">
              <a:latin typeface="Helvetica" pitchFamily="34" charset="0"/>
            </a:endParaRPr>
          </a:p>
          <a:p>
            <a:pPr marL="0">
              <a:spcBef>
                <a:spcPts val="600"/>
              </a:spcBef>
              <a:spcAft>
                <a:spcPts val="1200"/>
              </a:spcAft>
              <a:buNone/>
            </a:pPr>
            <a:r>
              <a:rPr lang="en-US" sz="2000" dirty="0" smtClean="0">
                <a:latin typeface="Helvetica" pitchFamily="34" charset="0"/>
              </a:rPr>
              <a:t>Two forms of business tours have received a special attention from the tour operators. </a:t>
            </a:r>
          </a:p>
          <a:p>
            <a:pPr marL="0">
              <a:spcBef>
                <a:spcPts val="600"/>
              </a:spcBef>
              <a:spcAft>
                <a:spcPts val="1200"/>
              </a:spcAft>
              <a:buNone/>
            </a:pPr>
            <a:r>
              <a:rPr lang="en-US" sz="2000" dirty="0" smtClean="0">
                <a:latin typeface="Helvetica" pitchFamily="34" charset="0"/>
              </a:rPr>
              <a:t>These are:</a:t>
            </a:r>
          </a:p>
          <a:p>
            <a:pPr lvl="0">
              <a:spcBef>
                <a:spcPts val="600"/>
              </a:spcBef>
              <a:spcAft>
                <a:spcPts val="1200"/>
              </a:spcAft>
            </a:pPr>
            <a:r>
              <a:rPr lang="en-US" sz="2000" dirty="0" smtClean="0">
                <a:latin typeface="Helvetica" pitchFamily="34" charset="0"/>
              </a:rPr>
              <a:t>Conference Package</a:t>
            </a:r>
          </a:p>
          <a:p>
            <a:pPr lvl="0">
              <a:spcBef>
                <a:spcPts val="600"/>
              </a:spcBef>
              <a:spcAft>
                <a:spcPts val="1200"/>
              </a:spcAft>
            </a:pPr>
            <a:r>
              <a:rPr lang="en-US" sz="2000" dirty="0" smtClean="0">
                <a:latin typeface="Helvetica" pitchFamily="34" charset="0"/>
              </a:rPr>
              <a:t>Special Events Package</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7" name="Picture 6" descr="shutterstock_123665365.jpg"/>
          <p:cNvPicPr/>
          <p:nvPr/>
        </p:nvPicPr>
        <p:blipFill>
          <a:blip r:embed="rId3" cstate="print"/>
          <a:stretch>
            <a:fillRect/>
          </a:stretch>
        </p:blipFill>
        <p:spPr>
          <a:xfrm>
            <a:off x="5035192" y="2965725"/>
            <a:ext cx="2320082" cy="1617142"/>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1200"/>
              </a:spcAft>
              <a:buNone/>
            </a:pPr>
            <a:r>
              <a:rPr lang="en-US" sz="2000" b="1" dirty="0" smtClean="0"/>
              <a:t>Incentive tours</a:t>
            </a:r>
            <a:endParaRPr lang="en-US" sz="2000" dirty="0" smtClean="0"/>
          </a:p>
          <a:p>
            <a:pPr marL="0">
              <a:spcBef>
                <a:spcPts val="600"/>
              </a:spcBef>
              <a:spcAft>
                <a:spcPts val="1200"/>
              </a:spcAft>
              <a:buNone/>
            </a:pPr>
            <a:r>
              <a:rPr lang="en-US" sz="2000" dirty="0" smtClean="0"/>
              <a:t>Offered by a business organisation to its employees and their spouses as reward for some special endeavour or as a spur to achievement</a:t>
            </a:r>
            <a:r>
              <a:rPr lang="en-US" sz="2000" dirty="0"/>
              <a:t>:</a:t>
            </a:r>
            <a:endParaRPr lang="en-US" sz="2000" dirty="0" smtClean="0"/>
          </a:p>
          <a:p>
            <a:pPr>
              <a:spcBef>
                <a:spcPts val="600"/>
              </a:spcBef>
              <a:spcAft>
                <a:spcPts val="1200"/>
              </a:spcAft>
            </a:pPr>
            <a:r>
              <a:rPr lang="en-US" sz="2000" dirty="0" smtClean="0"/>
              <a:t>What are examples of these tours?</a:t>
            </a:r>
          </a:p>
          <a:p>
            <a:pPr>
              <a:spcBef>
                <a:spcPts val="600"/>
              </a:spcBef>
              <a:spcAft>
                <a:spcPts val="1200"/>
              </a:spcAft>
            </a:pPr>
            <a:r>
              <a:rPr lang="en-US" sz="2000" dirty="0" smtClean="0"/>
              <a:t>What are the advantages / disadvantages of these tours?</a:t>
            </a:r>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7" name="Picture 6" descr="shutterstock_71570392.jpg"/>
          <p:cNvPicPr/>
          <p:nvPr/>
        </p:nvPicPr>
        <p:blipFill>
          <a:blip r:embed="rId3" cstate="print"/>
          <a:stretch>
            <a:fillRect/>
          </a:stretch>
        </p:blipFill>
        <p:spPr>
          <a:xfrm>
            <a:off x="6300192" y="4293096"/>
            <a:ext cx="2088232" cy="151216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Types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US" sz="2000" b="1" dirty="0" smtClean="0">
                <a:latin typeface="Helvetica" pitchFamily="34" charset="0"/>
              </a:rPr>
              <a:t>Special interest tours</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Inbound Tour Operators and Outbound Tour Operators regularly design on-off itineraries.</a:t>
            </a:r>
          </a:p>
          <a:p>
            <a:pPr marL="0">
              <a:spcBef>
                <a:spcPts val="600"/>
              </a:spcBef>
              <a:spcAft>
                <a:spcPts val="1200"/>
              </a:spcAft>
              <a:buNone/>
            </a:pPr>
            <a:r>
              <a:rPr lang="en-AU" sz="2000" dirty="0" smtClean="0">
                <a:latin typeface="Helvetica" pitchFamily="34" charset="0"/>
              </a:rPr>
              <a:t>Special interest groups generally share a common interest and may want to book specialist products or services:</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What are examples of these tours?</a:t>
            </a:r>
          </a:p>
          <a:p>
            <a:pPr>
              <a:spcBef>
                <a:spcPts val="600"/>
              </a:spcBef>
              <a:spcAft>
                <a:spcPts val="1200"/>
              </a:spcAft>
            </a:pPr>
            <a:r>
              <a:rPr lang="en-US" sz="2000" dirty="0" smtClean="0">
                <a:latin typeface="Helvetica" pitchFamily="34" charset="0"/>
              </a:rPr>
              <a:t>What are the advantages / disadvantages </a:t>
            </a:r>
            <a:br>
              <a:rPr lang="en-US" sz="2000" dirty="0" smtClean="0">
                <a:latin typeface="Helvetica" pitchFamily="34" charset="0"/>
              </a:rPr>
            </a:br>
            <a:r>
              <a:rPr lang="en-US" sz="2000" dirty="0" smtClean="0">
                <a:latin typeface="Helvetica" pitchFamily="34" charset="0"/>
              </a:rPr>
              <a:t>of these tours?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Happy Smile_142334158.jpg"/>
          <p:cNvPicPr/>
          <p:nvPr/>
        </p:nvPicPr>
        <p:blipFill>
          <a:blip r:embed="rId3" cstate="print"/>
          <a:stretch>
            <a:fillRect/>
          </a:stretch>
        </p:blipFill>
        <p:spPr>
          <a:xfrm>
            <a:off x="6468609" y="4077072"/>
            <a:ext cx="1944216" cy="144016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000" dirty="0" smtClean="0">
                <a:latin typeface="Helvetica" pitchFamily="34" charset="0"/>
              </a:rPr>
              <a:t>Specific age holidays, packages and tours</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General interest</a:t>
            </a:r>
          </a:p>
          <a:p>
            <a:pPr lvl="0">
              <a:spcBef>
                <a:spcPts val="600"/>
              </a:spcBef>
              <a:spcAft>
                <a:spcPts val="1200"/>
              </a:spcAft>
            </a:pPr>
            <a:r>
              <a:rPr lang="en-AU" sz="2000" dirty="0" smtClean="0">
                <a:latin typeface="Helvetica" pitchFamily="34" charset="0"/>
              </a:rPr>
              <a:t>Conferences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Social events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Holidays and recreation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Tour programs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Incentives</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7" name="Picture 6" descr="shutterstock_34458541.jpg"/>
          <p:cNvPicPr>
            <a:picLocks noChangeAspect="1"/>
          </p:cNvPicPr>
          <p:nvPr/>
        </p:nvPicPr>
        <p:blipFill>
          <a:blip r:embed="rId3" cstate="print"/>
          <a:stretch>
            <a:fillRect/>
          </a:stretch>
        </p:blipFill>
        <p:spPr>
          <a:xfrm>
            <a:off x="4716016" y="3140968"/>
            <a:ext cx="2602699" cy="1728192"/>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lvl="0">
              <a:spcBef>
                <a:spcPts val="600"/>
              </a:spcBef>
              <a:spcAft>
                <a:spcPts val="1200"/>
              </a:spcAft>
            </a:pPr>
            <a:r>
              <a:rPr lang="en-AU" sz="2000" dirty="0" smtClean="0">
                <a:latin typeface="Helvetica" pitchFamily="34" charset="0"/>
              </a:rPr>
              <a:t>Series tours</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Eco-tours</a:t>
            </a:r>
          </a:p>
          <a:p>
            <a:pPr lvl="0">
              <a:spcBef>
                <a:spcPts val="600"/>
              </a:spcBef>
              <a:spcAft>
                <a:spcPts val="1200"/>
              </a:spcAft>
            </a:pPr>
            <a:r>
              <a:rPr lang="en-AU" sz="2000" dirty="0" smtClean="0">
                <a:latin typeface="Helvetica" pitchFamily="34" charset="0"/>
              </a:rPr>
              <a:t>Education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Experience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Fitness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Excitement / action experiences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Celebration of an event / historical date</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shutterstock_74897341.jpg"/>
          <p:cNvPicPr>
            <a:picLocks noChangeAspect="1"/>
          </p:cNvPicPr>
          <p:nvPr/>
        </p:nvPicPr>
        <p:blipFill>
          <a:blip r:embed="rId3" cstate="print"/>
          <a:stretch>
            <a:fillRect/>
          </a:stretch>
        </p:blipFill>
        <p:spPr>
          <a:xfrm>
            <a:off x="4211960" y="2284652"/>
            <a:ext cx="2600353" cy="173963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040560"/>
          </a:xfrm>
        </p:spPr>
        <p:txBody>
          <a:bodyPr>
            <a:normAutofit/>
          </a:bodyPr>
          <a:lstStyle/>
          <a:p>
            <a:pPr lvl="0">
              <a:spcBef>
                <a:spcPts val="600"/>
              </a:spcBef>
              <a:spcAft>
                <a:spcPts val="1200"/>
              </a:spcAft>
            </a:pPr>
            <a:r>
              <a:rPr lang="en-AU" sz="2000" dirty="0" smtClean="0">
                <a:latin typeface="Helvetica" pitchFamily="34" charset="0"/>
              </a:rPr>
              <a:t>Money raising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Language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Music</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Sports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The environment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Culture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Arts</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shutterstock_135636317.jpg"/>
          <p:cNvPicPr/>
          <p:nvPr/>
        </p:nvPicPr>
        <p:blipFill>
          <a:blip r:embed="rId3" cstate="print"/>
          <a:stretch>
            <a:fillRect/>
          </a:stretch>
        </p:blipFill>
        <p:spPr>
          <a:xfrm>
            <a:off x="4283968" y="2780928"/>
            <a:ext cx="2376264" cy="1656184"/>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544616"/>
          </a:xfrm>
        </p:spPr>
        <p:txBody>
          <a:bodyPr>
            <a:normAutofit/>
          </a:bodyPr>
          <a:lstStyle/>
          <a:p>
            <a:pPr lvl="0">
              <a:spcBef>
                <a:spcPts val="600"/>
              </a:spcBef>
              <a:spcAft>
                <a:spcPts val="1200"/>
              </a:spcAft>
            </a:pPr>
            <a:r>
              <a:rPr lang="en-AU" sz="2000" dirty="0" smtClean="0">
                <a:latin typeface="Helvetica" pitchFamily="34" charset="0"/>
              </a:rPr>
              <a:t>Animals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Food</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History</a:t>
            </a:r>
          </a:p>
          <a:p>
            <a:pPr lvl="0">
              <a:spcBef>
                <a:spcPts val="600"/>
              </a:spcBef>
              <a:spcAft>
                <a:spcPts val="1200"/>
              </a:spcAft>
            </a:pPr>
            <a:r>
              <a:rPr lang="en-US" sz="2000" dirty="0" smtClean="0">
                <a:latin typeface="Helvetica" pitchFamily="34" charset="0"/>
              </a:rPr>
              <a:t>Flora and fauna</a:t>
            </a:r>
          </a:p>
          <a:p>
            <a:pPr lvl="0">
              <a:spcBef>
                <a:spcPts val="600"/>
              </a:spcBef>
              <a:spcAft>
                <a:spcPts val="1200"/>
              </a:spcAft>
            </a:pPr>
            <a:r>
              <a:rPr lang="en-US" sz="2000" dirty="0" smtClean="0">
                <a:latin typeface="Helvetica" pitchFamily="34" charset="0"/>
              </a:rPr>
              <a:t>Natural attractions</a:t>
            </a:r>
          </a:p>
          <a:p>
            <a:pPr lvl="0">
              <a:spcBef>
                <a:spcPts val="600"/>
              </a:spcBef>
              <a:spcAft>
                <a:spcPts val="1200"/>
              </a:spcAft>
            </a:pPr>
            <a:r>
              <a:rPr lang="en-US" sz="2000" dirty="0" smtClean="0">
                <a:latin typeface="Helvetica" pitchFamily="34" charset="0"/>
              </a:rPr>
              <a:t>Shopping</a:t>
            </a:r>
          </a:p>
          <a:p>
            <a:pPr lvl="0">
              <a:spcBef>
                <a:spcPts val="600"/>
              </a:spcBef>
              <a:spcAft>
                <a:spcPts val="1200"/>
              </a:spcAft>
            </a:pPr>
            <a:r>
              <a:rPr lang="en-AU" sz="2000" dirty="0" smtClean="0">
                <a:latin typeface="Helvetica" pitchFamily="34" charset="0"/>
              </a:rPr>
              <a:t>Four wheel driving</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descr="shutterstock_73791184.jpg"/>
          <p:cNvPicPr/>
          <p:nvPr/>
        </p:nvPicPr>
        <p:blipFill>
          <a:blip r:embed="rId3" cstate="print"/>
          <a:stretch>
            <a:fillRect/>
          </a:stretch>
        </p:blipFill>
        <p:spPr>
          <a:xfrm>
            <a:off x="4355976" y="2780928"/>
            <a:ext cx="2520280" cy="168019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lvl="0">
              <a:spcBef>
                <a:spcPts val="600"/>
              </a:spcBef>
              <a:spcAft>
                <a:spcPts val="1200"/>
              </a:spcAft>
            </a:pPr>
            <a:r>
              <a:rPr lang="en-AU" sz="2000" dirty="0" smtClean="0">
                <a:latin typeface="Helvetica" pitchFamily="34" charset="0"/>
              </a:rPr>
              <a:t>Camping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Cruises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Luxury</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Budget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Snow skiing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Diving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Rail</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shutterstock_82449490.jpg"/>
          <p:cNvPicPr>
            <a:picLocks noChangeAspect="1"/>
          </p:cNvPicPr>
          <p:nvPr/>
        </p:nvPicPr>
        <p:blipFill>
          <a:blip r:embed="rId3" cstate="print"/>
          <a:stretch>
            <a:fillRect/>
          </a:stretch>
        </p:blipFill>
        <p:spPr>
          <a:xfrm>
            <a:off x="3923928" y="2852936"/>
            <a:ext cx="2520280" cy="1686068"/>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Purpose of tour packages </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544616"/>
          </a:xfrm>
        </p:spPr>
        <p:txBody>
          <a:bodyPr>
            <a:normAutofit/>
          </a:bodyPr>
          <a:lstStyle/>
          <a:p>
            <a:pPr lvl="0">
              <a:spcBef>
                <a:spcPts val="600"/>
              </a:spcBef>
              <a:spcAft>
                <a:spcPts val="1200"/>
              </a:spcAft>
            </a:pPr>
            <a:r>
              <a:rPr lang="en-AU" sz="2000" dirty="0" smtClean="0">
                <a:latin typeface="Helvetica" pitchFamily="34" charset="0"/>
              </a:rPr>
              <a:t>Coach</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Safaris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Family</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Overland treks / walking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Beach</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Wedding ceremonies </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shutterstock_127605302.jpg"/>
          <p:cNvPicPr>
            <a:picLocks noChangeAspect="1"/>
          </p:cNvPicPr>
          <p:nvPr/>
        </p:nvPicPr>
        <p:blipFill>
          <a:blip r:embed="rId3" cstate="print"/>
          <a:stretch>
            <a:fillRect/>
          </a:stretch>
        </p:blipFill>
        <p:spPr>
          <a:xfrm>
            <a:off x="5868144" y="2060846"/>
            <a:ext cx="2016224" cy="2621877"/>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Location of tours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1200"/>
              </a:spcAft>
              <a:buNone/>
            </a:pPr>
            <a:r>
              <a:rPr lang="en-US" sz="2200" dirty="0" smtClean="0">
                <a:latin typeface="Helvetica" pitchFamily="34" charset="0"/>
              </a:rPr>
              <a:t>Whilst tours can be conducted anywhere in the world, they are normally categorised as being held:</a:t>
            </a:r>
          </a:p>
          <a:p>
            <a:pPr lvl="0">
              <a:spcBef>
                <a:spcPts val="600"/>
              </a:spcBef>
              <a:spcAft>
                <a:spcPts val="1200"/>
              </a:spcAft>
            </a:pPr>
            <a:r>
              <a:rPr lang="en-US" sz="2200" dirty="0" smtClean="0">
                <a:latin typeface="Helvetica" pitchFamily="34" charset="0"/>
              </a:rPr>
              <a:t>On-site</a:t>
            </a:r>
          </a:p>
          <a:p>
            <a:pPr lvl="0">
              <a:spcBef>
                <a:spcPts val="600"/>
              </a:spcBef>
              <a:spcAft>
                <a:spcPts val="1200"/>
              </a:spcAft>
            </a:pPr>
            <a:r>
              <a:rPr lang="en-US" sz="2200" dirty="0" smtClean="0">
                <a:latin typeface="Helvetica" pitchFamily="34" charset="0"/>
              </a:rPr>
              <a:t>‘Elsewhere’</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b="1" i="1" dirty="0" smtClean="0">
                <a:solidFill>
                  <a:srgbClr val="FF6600"/>
                </a:solidFill>
              </a:rPr>
              <a:t>COMPLETE ACTIVITY 6</a:t>
            </a: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Picture 5" descr="shutterstock_100348943.jpg"/>
          <p:cNvPicPr/>
          <p:nvPr/>
        </p:nvPicPr>
        <p:blipFill>
          <a:blip r:embed="rId3" cstate="print"/>
          <a:stretch>
            <a:fillRect/>
          </a:stretch>
        </p:blipFill>
        <p:spPr>
          <a:xfrm>
            <a:off x="6012160" y="3789040"/>
            <a:ext cx="2345664" cy="1665953"/>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Identify package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1200"/>
              </a:spcAft>
              <a:buNone/>
            </a:pPr>
            <a:r>
              <a:rPr lang="en-US" sz="2200" b="1" dirty="0" smtClean="0">
                <a:latin typeface="Helvetica" pitchFamily="34" charset="0"/>
              </a:rPr>
              <a:t>Identify products and services for inclusions in packages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Identifying, sourcing and selecting product and services for inclusion in a package is reliant on finding a balance of meeting your client needs with understanding of what is possible:</a:t>
            </a:r>
          </a:p>
          <a:p>
            <a:pPr>
              <a:spcBef>
                <a:spcPts val="600"/>
              </a:spcBef>
              <a:spcAft>
                <a:spcPts val="1200"/>
              </a:spcAft>
            </a:pPr>
            <a:r>
              <a:rPr lang="en-AU" sz="2200" dirty="0" smtClean="0">
                <a:latin typeface="Helvetica" pitchFamily="34" charset="0"/>
              </a:rPr>
              <a:t>What needs to be considered?</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7" name="Picture 6" descr="shutterstock_157389404.jpg"/>
          <p:cNvPicPr/>
          <p:nvPr/>
        </p:nvPicPr>
        <p:blipFill>
          <a:blip r:embed="rId3" cstate="print"/>
          <a:stretch>
            <a:fillRect/>
          </a:stretch>
        </p:blipFill>
        <p:spPr>
          <a:xfrm>
            <a:off x="6084168" y="4060018"/>
            <a:ext cx="2304256" cy="160123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Identify package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1200"/>
              </a:spcAft>
              <a:buNone/>
            </a:pPr>
            <a:r>
              <a:rPr lang="en-US" sz="2000" b="1" dirty="0" smtClean="0">
                <a:latin typeface="Helvetica" pitchFamily="34" charset="0"/>
              </a:rPr>
              <a:t>Identify products and services for inclusions in packages</a:t>
            </a:r>
            <a:endParaRPr lang="en-US" sz="2000" dirty="0" smtClean="0">
              <a:latin typeface="Helvetica" pitchFamily="34" charset="0"/>
            </a:endParaRPr>
          </a:p>
          <a:p>
            <a:pPr>
              <a:spcBef>
                <a:spcPts val="600"/>
              </a:spcBef>
              <a:spcAft>
                <a:spcPts val="1200"/>
              </a:spcAft>
              <a:buNone/>
            </a:pPr>
            <a:r>
              <a:rPr lang="en-AU" sz="2000" dirty="0" smtClean="0">
                <a:latin typeface="Helvetica" pitchFamily="34" charset="0"/>
              </a:rPr>
              <a:t>It is also based on identifying:</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Availability of appropriate products and services to suit the stated or established client needs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Suitable suppliers or wholesalers that can provide these products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Prices that meet the passengers budget</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6" name="Picture 5" descr="shutterstock_157814315.jpg"/>
          <p:cNvPicPr>
            <a:picLocks noChangeAspect="1"/>
          </p:cNvPicPr>
          <p:nvPr/>
        </p:nvPicPr>
        <p:blipFill>
          <a:blip r:embed="rId3" cstate="print"/>
          <a:stretch>
            <a:fillRect/>
          </a:stretch>
        </p:blipFill>
        <p:spPr>
          <a:xfrm>
            <a:off x="6228184" y="4293096"/>
            <a:ext cx="2159160" cy="144016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Identify package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600"/>
              </a:spcAft>
              <a:buNone/>
            </a:pPr>
            <a:r>
              <a:rPr lang="en-AU" sz="1800" b="1" dirty="0" smtClean="0">
                <a:latin typeface="Helvetica" pitchFamily="34" charset="0"/>
              </a:rPr>
              <a:t>Importance of collecting information on products and services for packages</a:t>
            </a:r>
            <a:endParaRPr lang="en-US" sz="1800" dirty="0" smtClean="0">
              <a:latin typeface="Helvetica" pitchFamily="34" charset="0"/>
            </a:endParaRPr>
          </a:p>
          <a:p>
            <a:pPr>
              <a:spcBef>
                <a:spcPts val="600"/>
              </a:spcBef>
              <a:spcAft>
                <a:spcPts val="600"/>
              </a:spcAft>
              <a:buNone/>
            </a:pPr>
            <a:r>
              <a:rPr lang="en-AU" sz="1800" dirty="0" smtClean="0">
                <a:latin typeface="Helvetica" pitchFamily="34" charset="0"/>
              </a:rPr>
              <a:t>This includes finding the answers to questions such as: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What is it?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Where is it?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How do you get it?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How long does it take?</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What is included?</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What is excluded?</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What is it like?</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How much does it cost?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What would you recommend?</a:t>
            </a:r>
            <a:endParaRPr lang="en-US" sz="1800" dirty="0" smtClean="0">
              <a:latin typeface="Helvetica" pitchFamily="34" charset="0"/>
            </a:endParaRPr>
          </a:p>
          <a:p>
            <a:pPr>
              <a:spcBef>
                <a:spcPts val="600"/>
              </a:spcBef>
              <a:spcAft>
                <a:spcPts val="1200"/>
              </a:spcAft>
              <a:buNone/>
            </a:pPr>
            <a:endParaRPr lang="en-US" sz="1800" dirty="0" smtClean="0">
              <a:latin typeface="Helvetica" pitchFamily="34" charset="0"/>
            </a:endParaRPr>
          </a:p>
          <a:p>
            <a:pPr marL="360000" indent="-360000">
              <a:spcBef>
                <a:spcPts val="600"/>
              </a:spcBef>
              <a:spcAft>
                <a:spcPts val="12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7" name="Picture 6" descr="shutterstock_35558536.jpg"/>
          <p:cNvPicPr/>
          <p:nvPr/>
        </p:nvPicPr>
        <p:blipFill>
          <a:blip r:embed="rId3" cstate="print"/>
          <a:stretch>
            <a:fillRect/>
          </a:stretch>
        </p:blipFill>
        <p:spPr>
          <a:xfrm>
            <a:off x="5940152" y="3717032"/>
            <a:ext cx="2508672" cy="1790874"/>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Identify package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General products and services sought by clients</a:t>
            </a:r>
            <a:endParaRPr lang="en-AU" sz="2000" dirty="0" smtClean="0"/>
          </a:p>
          <a:p>
            <a:pPr marL="0">
              <a:spcBef>
                <a:spcPts val="600"/>
              </a:spcBef>
              <a:spcAft>
                <a:spcPts val="1200"/>
              </a:spcAft>
              <a:buNone/>
            </a:pPr>
            <a:r>
              <a:rPr lang="en-AU" sz="2000" dirty="0" smtClean="0"/>
              <a:t>Products and services can be divided into the main areas of :</a:t>
            </a:r>
            <a:endParaRPr lang="en-US" sz="2000" dirty="0" smtClean="0"/>
          </a:p>
          <a:p>
            <a:pPr lvl="0">
              <a:spcBef>
                <a:spcPts val="600"/>
              </a:spcBef>
              <a:spcAft>
                <a:spcPts val="1200"/>
              </a:spcAft>
            </a:pPr>
            <a:r>
              <a:rPr lang="en-AU" sz="2000" dirty="0" smtClean="0"/>
              <a:t>Air – air travel and associated taxes</a:t>
            </a:r>
            <a:endParaRPr lang="en-US" sz="2000" dirty="0" smtClean="0"/>
          </a:p>
          <a:p>
            <a:pPr lvl="0">
              <a:spcBef>
                <a:spcPts val="600"/>
              </a:spcBef>
              <a:spcAft>
                <a:spcPts val="1200"/>
              </a:spcAft>
            </a:pPr>
            <a:r>
              <a:rPr lang="en-AU" sz="2000" dirty="0" smtClean="0"/>
              <a:t>Land – anything that is not air travel or a cruise</a:t>
            </a:r>
            <a:endParaRPr lang="en-US" sz="2000" dirty="0" smtClean="0"/>
          </a:p>
          <a:p>
            <a:pPr lvl="0">
              <a:spcBef>
                <a:spcPts val="600"/>
              </a:spcBef>
              <a:spcAft>
                <a:spcPts val="1200"/>
              </a:spcAft>
            </a:pPr>
            <a:r>
              <a:rPr lang="en-AU" sz="2000" dirty="0" smtClean="0"/>
              <a:t>Sea – cruises, ferries etc</a:t>
            </a:r>
            <a:endParaRPr lang="en-US" sz="2000" dirty="0" smtClean="0"/>
          </a:p>
          <a:p>
            <a:pPr lvl="0">
              <a:spcBef>
                <a:spcPts val="600"/>
              </a:spcBef>
              <a:spcAft>
                <a:spcPts val="1200"/>
              </a:spcAft>
            </a:pPr>
            <a:r>
              <a:rPr lang="en-AU" sz="2000" dirty="0" smtClean="0"/>
              <a:t>Auxiliary – any product or service that                           supports the travel experience</a:t>
            </a:r>
            <a:endParaRPr lang="en-US" sz="2000" dirty="0" smtClean="0"/>
          </a:p>
          <a:p>
            <a:pPr lvl="0">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6" name="Picture 5" descr="Air plan flight itinerary map_148488614.jpg"/>
          <p:cNvPicPr/>
          <p:nvPr/>
        </p:nvPicPr>
        <p:blipFill>
          <a:blip r:embed="rId3" cstate="print"/>
          <a:stretch>
            <a:fillRect/>
          </a:stretch>
        </p:blipFill>
        <p:spPr>
          <a:xfrm>
            <a:off x="6156176" y="3933056"/>
            <a:ext cx="2304257" cy="1635994"/>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Identify package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Land arrangements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Accommodation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Transportation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Attractions, activities and entertainment</a:t>
            </a:r>
            <a:endParaRPr lang="en-US" sz="2200" dirty="0" smtClean="0">
              <a:latin typeface="Helvetica" pitchFamily="34" charset="0"/>
            </a:endParaRP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7" name="Picture 6" descr="Lady_man_at airport_174994439.jpg"/>
          <p:cNvPicPr>
            <a:picLocks noChangeAspect="1"/>
          </p:cNvPicPr>
          <p:nvPr/>
        </p:nvPicPr>
        <p:blipFill>
          <a:blip r:embed="rId3" cstate="print"/>
          <a:stretch>
            <a:fillRect/>
          </a:stretch>
        </p:blipFill>
        <p:spPr>
          <a:xfrm>
            <a:off x="3995936" y="2276872"/>
            <a:ext cx="2304256" cy="1659064"/>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Identify package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752528"/>
          </a:xfrm>
        </p:spPr>
        <p:txBody>
          <a:bodyPr>
            <a:normAutofit/>
          </a:bodyPr>
          <a:lstStyle/>
          <a:p>
            <a:pPr>
              <a:spcBef>
                <a:spcPts val="600"/>
              </a:spcBef>
              <a:spcAft>
                <a:spcPts val="1200"/>
              </a:spcAft>
              <a:buNone/>
            </a:pPr>
            <a:r>
              <a:rPr lang="en-AU" sz="2200" b="1" dirty="0" smtClean="0">
                <a:latin typeface="Helvetica" pitchFamily="34" charset="0"/>
              </a:rPr>
              <a:t>Auxiliary products and services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Travel Insurance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 and banking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Visas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Merchandise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Airport parking</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b="1" i="1" dirty="0" smtClean="0">
                <a:solidFill>
                  <a:srgbClr val="FF6600"/>
                </a:solidFill>
              </a:rPr>
              <a:t>COMPLETE ACTIVITY 7</a:t>
            </a:r>
          </a:p>
          <a:p>
            <a:pPr lvl="0">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shutterstock_195438947.jpg"/>
          <p:cNvPicPr>
            <a:picLocks noChangeAspect="1"/>
          </p:cNvPicPr>
          <p:nvPr/>
        </p:nvPicPr>
        <p:blipFill>
          <a:blip r:embed="rId3" cstate="print"/>
          <a:stretch>
            <a:fillRect/>
          </a:stretch>
        </p:blipFill>
        <p:spPr>
          <a:xfrm>
            <a:off x="5940152" y="3789040"/>
            <a:ext cx="2483034" cy="1656184"/>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1556792"/>
            <a:ext cx="6949008"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AU" sz="4000" b="1" i="1" dirty="0">
                <a:solidFill>
                  <a:srgbClr val="FF6600"/>
                </a:solidFill>
              </a:rPr>
              <a:t>Source products and services for packages</a:t>
            </a:r>
            <a:endParaRPr lang="en-US" sz="4000" b="1" i="1"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W616_shutterstock_74684551.jpg"/>
          <p:cNvPicPr>
            <a:picLocks noChangeAspect="1"/>
          </p:cNvPicPr>
          <p:nvPr/>
        </p:nvPicPr>
        <p:blipFill>
          <a:blip r:embed="rId3" cstate="print"/>
          <a:stretch>
            <a:fillRect/>
          </a:stretch>
        </p:blipFill>
        <p:spPr>
          <a:xfrm>
            <a:off x="1907704" y="3861048"/>
            <a:ext cx="2808312" cy="1872208"/>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Source products and services for packages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AU" sz="1800" dirty="0" smtClean="0">
                <a:latin typeface="Helvetica" pitchFamily="34" charset="0"/>
              </a:rPr>
              <a:t>Performance Criteria for this Element are: </a:t>
            </a:r>
          </a:p>
          <a:p>
            <a:pPr>
              <a:spcBef>
                <a:spcPts val="600"/>
              </a:spcBef>
              <a:spcAft>
                <a:spcPts val="1200"/>
              </a:spcAft>
            </a:pPr>
            <a:r>
              <a:rPr lang="en-AU" sz="1800" dirty="0" smtClean="0">
                <a:latin typeface="Helvetica" pitchFamily="34" charset="0"/>
              </a:rPr>
              <a:t>Identify sources of information</a:t>
            </a:r>
            <a:r>
              <a:rPr lang="en-AU" sz="1800" b="1" dirty="0" smtClean="0">
                <a:latin typeface="Helvetica" pitchFamily="34" charset="0"/>
              </a:rPr>
              <a:t> </a:t>
            </a:r>
            <a:r>
              <a:rPr lang="en-AU" sz="1800" dirty="0" smtClean="0">
                <a:latin typeface="Helvetica" pitchFamily="34" charset="0"/>
              </a:rPr>
              <a:t>for products and services</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Research information sources</a:t>
            </a:r>
            <a:r>
              <a:rPr lang="en-AU" sz="1800" b="1" dirty="0" smtClean="0">
                <a:latin typeface="Helvetica" pitchFamily="34" charset="0"/>
              </a:rPr>
              <a:t> </a:t>
            </a:r>
            <a:r>
              <a:rPr lang="en-AU" sz="1800" dirty="0" smtClean="0">
                <a:latin typeface="Helvetica" pitchFamily="34" charset="0"/>
              </a:rPr>
              <a:t>to obtain targeted information</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Assess applicability of identified products and services</a:t>
            </a:r>
            <a:r>
              <a:rPr lang="en-AU" sz="1800" b="1" dirty="0" smtClean="0">
                <a:latin typeface="Helvetica" pitchFamily="34" charset="0"/>
              </a:rPr>
              <a:t> </a:t>
            </a:r>
            <a:r>
              <a:rPr lang="en-AU" sz="1800" dirty="0" smtClean="0">
                <a:latin typeface="Helvetica" pitchFamily="34" charset="0"/>
              </a:rPr>
              <a:t>to proposed packages</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Select products and services</a:t>
            </a:r>
            <a:r>
              <a:rPr lang="en-AU" sz="1800" b="1" dirty="0" smtClean="0">
                <a:latin typeface="Helvetica" pitchFamily="34" charset="0"/>
              </a:rPr>
              <a:t> </a:t>
            </a:r>
            <a:r>
              <a:rPr lang="en-AU" sz="1800" dirty="0" smtClean="0">
                <a:latin typeface="Helvetica" pitchFamily="34" charset="0"/>
              </a:rPr>
              <a:t>for the package</a:t>
            </a:r>
            <a:endParaRPr lang="en-US" sz="1800" dirty="0" smtClean="0">
              <a:latin typeface="Helvetica" pitchFamily="34" charset="0"/>
            </a:endParaRPr>
          </a:p>
          <a:p>
            <a:pPr marL="360000" indent="-360000">
              <a:spcBef>
                <a:spcPts val="600"/>
              </a:spcBef>
              <a:spcAft>
                <a:spcPts val="12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shutterstock_148857527.jpg"/>
          <p:cNvPicPr>
            <a:picLocks noChangeAspect="1"/>
          </p:cNvPicPr>
          <p:nvPr/>
        </p:nvPicPr>
        <p:blipFill>
          <a:blip r:embed="rId3" cstate="print"/>
          <a:stretch>
            <a:fillRect/>
          </a:stretch>
        </p:blipFill>
        <p:spPr>
          <a:xfrm>
            <a:off x="6228184" y="4077072"/>
            <a:ext cx="2267118" cy="1512168"/>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1800" b="1" dirty="0" smtClean="0"/>
              <a:t>Identify </a:t>
            </a:r>
            <a:r>
              <a:rPr lang="en-AU" sz="1800" b="1" dirty="0" smtClean="0"/>
              <a:t>potential sources of information</a:t>
            </a:r>
          </a:p>
          <a:p>
            <a:pPr marL="0">
              <a:spcBef>
                <a:spcPts val="600"/>
              </a:spcBef>
              <a:spcAft>
                <a:spcPts val="1200"/>
              </a:spcAft>
              <a:buNone/>
            </a:pPr>
            <a:r>
              <a:rPr lang="en-AU" sz="1800" dirty="0" smtClean="0"/>
              <a:t>There are endless sources of information that can be collected, analysed and used by a travel and tourism organisation for the benefit of the organisation itself or to assist customers with potential travel plans.</a:t>
            </a:r>
            <a:endParaRPr lang="en-US" sz="1800" dirty="0" smtClean="0"/>
          </a:p>
          <a:p>
            <a:pPr>
              <a:spcBef>
                <a:spcPts val="600"/>
              </a:spcBef>
              <a:spcAft>
                <a:spcPts val="1200"/>
              </a:spcAft>
              <a:buNone/>
            </a:pPr>
            <a:r>
              <a:rPr lang="en-AU" sz="1800" dirty="0" smtClean="0"/>
              <a:t>This section will explore:</a:t>
            </a:r>
            <a:endParaRPr lang="en-US" sz="1800" dirty="0" smtClean="0"/>
          </a:p>
          <a:p>
            <a:pPr lvl="0">
              <a:spcBef>
                <a:spcPts val="600"/>
              </a:spcBef>
              <a:spcAft>
                <a:spcPts val="1200"/>
              </a:spcAft>
            </a:pPr>
            <a:r>
              <a:rPr lang="en-AU" sz="1800" dirty="0" smtClean="0"/>
              <a:t>Types of tourism industry organisations</a:t>
            </a:r>
            <a:endParaRPr lang="en-US" sz="1800" dirty="0" smtClean="0"/>
          </a:p>
          <a:p>
            <a:pPr lvl="0">
              <a:spcBef>
                <a:spcPts val="600"/>
              </a:spcBef>
              <a:spcAft>
                <a:spcPts val="1200"/>
              </a:spcAft>
            </a:pPr>
            <a:r>
              <a:rPr lang="en-AU" sz="1800" dirty="0" smtClean="0"/>
              <a:t>Identify types of product and services information</a:t>
            </a:r>
            <a:endParaRPr lang="en-US" sz="1800" dirty="0" smtClean="0"/>
          </a:p>
          <a:p>
            <a:pPr lvl="0">
              <a:spcBef>
                <a:spcPts val="600"/>
              </a:spcBef>
              <a:spcAft>
                <a:spcPts val="1200"/>
              </a:spcAft>
            </a:pPr>
            <a:r>
              <a:rPr lang="en-AU" sz="1800" dirty="0" smtClean="0"/>
              <a:t>Sources of product and services information</a:t>
            </a:r>
            <a:endParaRPr lang="en-US" sz="1800" dirty="0" smtClean="0"/>
          </a:p>
          <a:p>
            <a:pPr>
              <a:spcBef>
                <a:spcPts val="600"/>
              </a:spcBef>
              <a:spcAft>
                <a:spcPts val="1200"/>
              </a:spcAft>
              <a:buNone/>
            </a:pPr>
            <a:endParaRPr lang="en-AU" sz="1800" dirty="0" smtClean="0"/>
          </a:p>
          <a:p>
            <a:pPr>
              <a:buNone/>
            </a:pPr>
            <a:endParaRPr lang="en-AU" sz="18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7" name="Picture 6" descr="A18 shutterstock_181389116.jpg"/>
          <p:cNvPicPr/>
          <p:nvPr/>
        </p:nvPicPr>
        <p:blipFill>
          <a:blip r:embed="rId3" cstate="print"/>
          <a:stretch>
            <a:fillRect/>
          </a:stretch>
        </p:blipFill>
        <p:spPr>
          <a:xfrm>
            <a:off x="6589861" y="3225870"/>
            <a:ext cx="1803688" cy="216024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Identify travel and tourism businesses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compiling product information for inclusion in packages it is essential to identify the different types of businesses in which your potential customers may use:</a:t>
            </a:r>
          </a:p>
          <a:p>
            <a:pPr>
              <a:spcBef>
                <a:spcPts val="600"/>
              </a:spcBef>
              <a:spcAft>
                <a:spcPts val="1200"/>
              </a:spcAft>
            </a:pPr>
            <a:r>
              <a:rPr lang="en-AU" sz="2200" dirty="0" smtClean="0">
                <a:latin typeface="Helvetica" pitchFamily="34" charset="0"/>
              </a:rPr>
              <a:t>What types of businesses do you seek product information from?</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5" descr="Lady_plan_world_train_96530158.jpg"/>
          <p:cNvPicPr/>
          <p:nvPr/>
        </p:nvPicPr>
        <p:blipFill>
          <a:blip r:embed="rId3" cstate="print"/>
          <a:stretch>
            <a:fillRect/>
          </a:stretch>
        </p:blipFill>
        <p:spPr>
          <a:xfrm>
            <a:off x="2923704" y="4077072"/>
            <a:ext cx="2176507" cy="1618283"/>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lnSpcReduction="10000"/>
          </a:bodyPr>
          <a:lstStyle/>
          <a:p>
            <a:pPr>
              <a:spcBef>
                <a:spcPts val="600"/>
              </a:spcBef>
              <a:spcAft>
                <a:spcPts val="1200"/>
              </a:spcAft>
              <a:buNone/>
            </a:pPr>
            <a:r>
              <a:rPr lang="en-US" sz="2200" b="1" dirty="0" smtClean="0">
                <a:latin typeface="Helvetica" pitchFamily="34" charset="0"/>
              </a:rPr>
              <a:t>Transportation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Airlines</a:t>
            </a:r>
          </a:p>
          <a:p>
            <a:pPr lvl="0">
              <a:spcBef>
                <a:spcPts val="600"/>
              </a:spcBef>
              <a:spcAft>
                <a:spcPts val="1200"/>
              </a:spcAft>
            </a:pPr>
            <a:r>
              <a:rPr lang="en-AU" sz="2200" dirty="0" smtClean="0">
                <a:latin typeface="Helvetica" pitchFamily="34" charset="0"/>
              </a:rPr>
              <a:t>Cruise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Railway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 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Car rental businesses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Limousine hire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Taxis</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Globe Lugg Plan Boat Bus in red pink colour_85552621.jpg"/>
          <p:cNvPicPr/>
          <p:nvPr/>
        </p:nvPicPr>
        <p:blipFill>
          <a:blip r:embed="rId3" cstate="print"/>
          <a:stretch>
            <a:fillRect/>
          </a:stretch>
        </p:blipFill>
        <p:spPr>
          <a:xfrm>
            <a:off x="4283968" y="2636912"/>
            <a:ext cx="2736304" cy="18002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Suppliers and providers of support and ancillary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insurance providers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Finance providers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 exchange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Conference and similar venues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Interpreters</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shutterstock_156185711.jpg"/>
          <p:cNvPicPr/>
          <p:nvPr/>
        </p:nvPicPr>
        <p:blipFill>
          <a:blip r:embed="rId3" cstate="print"/>
          <a:stretch>
            <a:fillRect/>
          </a:stretch>
        </p:blipFill>
        <p:spPr>
          <a:xfrm>
            <a:off x="6084168" y="4076905"/>
            <a:ext cx="2376264" cy="1368152"/>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Accommodation</a:t>
            </a:r>
            <a:endParaRPr lang="en-US" sz="2000" dirty="0" smtClean="0"/>
          </a:p>
          <a:p>
            <a:pPr lvl="0">
              <a:spcBef>
                <a:spcPts val="600"/>
              </a:spcBef>
              <a:spcAft>
                <a:spcPts val="1200"/>
              </a:spcAft>
            </a:pPr>
            <a:r>
              <a:rPr lang="en-AU" sz="2000" dirty="0" smtClean="0"/>
              <a:t>Hotels and motels</a:t>
            </a:r>
            <a:endParaRPr lang="en-US" sz="2000" dirty="0" smtClean="0"/>
          </a:p>
          <a:p>
            <a:pPr lvl="0">
              <a:spcBef>
                <a:spcPts val="600"/>
              </a:spcBef>
              <a:spcAft>
                <a:spcPts val="1200"/>
              </a:spcAft>
            </a:pPr>
            <a:r>
              <a:rPr lang="en-AU" sz="2000" dirty="0" smtClean="0"/>
              <a:t>Guest houses</a:t>
            </a:r>
            <a:endParaRPr lang="en-US" sz="2000" dirty="0" smtClean="0"/>
          </a:p>
          <a:p>
            <a:pPr lvl="0">
              <a:spcBef>
                <a:spcPts val="600"/>
              </a:spcBef>
              <a:spcAft>
                <a:spcPts val="1200"/>
              </a:spcAft>
            </a:pPr>
            <a:r>
              <a:rPr lang="en-AU" sz="2000" dirty="0" smtClean="0"/>
              <a:t>Bed and breakfasts</a:t>
            </a:r>
            <a:endParaRPr lang="en-US" sz="2000" dirty="0" smtClean="0"/>
          </a:p>
          <a:p>
            <a:pPr lvl="0">
              <a:spcBef>
                <a:spcPts val="600"/>
              </a:spcBef>
              <a:spcAft>
                <a:spcPts val="1200"/>
              </a:spcAft>
            </a:pPr>
            <a:r>
              <a:rPr lang="en-AU" sz="2000" dirty="0" smtClean="0"/>
              <a:t>Caravan parks and camping grounds</a:t>
            </a:r>
            <a:endParaRPr lang="en-US" sz="2000" dirty="0" smtClean="0"/>
          </a:p>
          <a:p>
            <a:pPr lvl="0">
              <a:spcBef>
                <a:spcPts val="600"/>
              </a:spcBef>
              <a:spcAft>
                <a:spcPts val="1200"/>
              </a:spcAft>
            </a:pPr>
            <a:r>
              <a:rPr lang="en-AU" sz="2000" dirty="0" smtClean="0"/>
              <a:t>Resorts</a:t>
            </a:r>
            <a:endParaRPr lang="en-US" sz="2000" dirty="0" smtClean="0"/>
          </a:p>
          <a:p>
            <a:pPr lvl="0">
              <a:spcBef>
                <a:spcPts val="600"/>
              </a:spcBef>
              <a:spcAft>
                <a:spcPts val="1200"/>
              </a:spcAft>
            </a:pPr>
            <a:r>
              <a:rPr lang="en-AU" sz="2000" dirty="0" smtClean="0"/>
              <a:t>Time share properties</a:t>
            </a:r>
            <a:endParaRPr lang="en-US" sz="2000" dirty="0" smtClean="0"/>
          </a:p>
          <a:p>
            <a:pPr lvl="0">
              <a:spcBef>
                <a:spcPts val="600"/>
              </a:spcBef>
              <a:spcAft>
                <a:spcPts val="1200"/>
              </a:spcAft>
            </a:pPr>
            <a:r>
              <a:rPr lang="en-AU" sz="2000" dirty="0" smtClean="0"/>
              <a:t>Apartments, villas and cottages</a:t>
            </a:r>
            <a:endParaRPr lang="en-US" sz="2000" dirty="0" smtClean="0"/>
          </a:p>
          <a:p>
            <a:pPr lvl="0">
              <a:spcBef>
                <a:spcPts val="600"/>
              </a:spcBef>
              <a:spcAft>
                <a:spcPts val="1200"/>
              </a:spcAft>
            </a:pPr>
            <a:r>
              <a:rPr lang="en-AU" sz="2000" dirty="0" smtClean="0"/>
              <a:t>Conference and exhibition centres</a:t>
            </a: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shutterstock_41664772.jpg"/>
          <p:cNvPicPr/>
          <p:nvPr/>
        </p:nvPicPr>
        <p:blipFill>
          <a:blip r:embed="rId3" cstate="print"/>
          <a:stretch>
            <a:fillRect/>
          </a:stretch>
        </p:blipFill>
        <p:spPr>
          <a:xfrm>
            <a:off x="6156176" y="3933056"/>
            <a:ext cx="2232248" cy="1584176"/>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Attractions and Theme Parks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Museums and galleries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National parks, wildlife parks and gardens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Theme parks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Heritage sites and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Sport and activity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Aquarium and zoos</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IMG_1808.jpg"/>
          <p:cNvPicPr/>
          <p:nvPr/>
        </p:nvPicPr>
        <p:blipFill>
          <a:blip r:embed="rId3" cstate="print"/>
          <a:stretch>
            <a:fillRect/>
          </a:stretch>
        </p:blipFill>
        <p:spPr>
          <a:xfrm>
            <a:off x="6628273" y="3212976"/>
            <a:ext cx="1800200" cy="2232248"/>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Tour Operators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tour operator typically organises sightseeing tours and accommodation in a particular destination or region.</a:t>
            </a:r>
          </a:p>
          <a:p>
            <a:pPr>
              <a:spcBef>
                <a:spcPts val="600"/>
              </a:spcBef>
              <a:spcAft>
                <a:spcPts val="1200"/>
              </a:spcAft>
            </a:pPr>
            <a:r>
              <a:rPr lang="en-AU" sz="2200" dirty="0" smtClean="0">
                <a:latin typeface="Helvetica" pitchFamily="34" charset="0"/>
              </a:rPr>
              <a:t>They act as a middle person between the Wholesaler and the Principal or Supplier of the product</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IMG_2370.jpg"/>
          <p:cNvPicPr/>
          <p:nvPr/>
        </p:nvPicPr>
        <p:blipFill>
          <a:blip r:embed="rId3" cstate="print"/>
          <a:stretch>
            <a:fillRect/>
          </a:stretch>
        </p:blipFill>
        <p:spPr>
          <a:xfrm>
            <a:off x="2915816" y="4077072"/>
            <a:ext cx="2304256" cy="158417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Inbound Tour Wholesaler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 Inbound Tour Wholesaler packages products to form a trip for an overseas market travelling to a specific country</a:t>
            </a:r>
            <a:endParaRPr lang="en-US" sz="2200" dirty="0" smtClean="0">
              <a:latin typeface="Helvetica" pitchFamily="34" charset="0"/>
            </a:endParaRPr>
          </a:p>
          <a:p>
            <a:pPr>
              <a:spcBef>
                <a:spcPts val="600"/>
              </a:spcBef>
              <a:spcAft>
                <a:spcPts val="1200"/>
              </a:spcAft>
              <a:buNone/>
            </a:pPr>
            <a:r>
              <a:rPr lang="en-AU" sz="2200" b="1" dirty="0" smtClean="0">
                <a:latin typeface="Helvetica" pitchFamily="34" charset="0"/>
              </a:rPr>
              <a:t>Outbound Tour Wholesaler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 Outbound Tour Wholesaler negotiates </a:t>
            </a:r>
            <a:br>
              <a:rPr lang="en-AU" sz="2200" dirty="0" smtClean="0">
                <a:latin typeface="Helvetica" pitchFamily="34" charset="0"/>
              </a:rPr>
            </a:br>
            <a:r>
              <a:rPr lang="en-AU" sz="2200" dirty="0" smtClean="0">
                <a:latin typeface="Helvetica" pitchFamily="34" charset="0"/>
              </a:rPr>
              <a:t>product from International Suppliers for </a:t>
            </a:r>
            <a:br>
              <a:rPr lang="en-AU" sz="2200" dirty="0" smtClean="0">
                <a:latin typeface="Helvetica" pitchFamily="34" charset="0"/>
              </a:rPr>
            </a:br>
            <a:r>
              <a:rPr lang="en-AU" sz="2200" dirty="0" smtClean="0">
                <a:latin typeface="Helvetica" pitchFamily="34" charset="0"/>
              </a:rPr>
              <a:t>clients in a specific travelling to an </a:t>
            </a:r>
            <a:br>
              <a:rPr lang="en-AU" sz="2200" dirty="0" smtClean="0">
                <a:latin typeface="Helvetica" pitchFamily="34" charset="0"/>
              </a:rPr>
            </a:br>
            <a:r>
              <a:rPr lang="en-AU" sz="2200" dirty="0" smtClean="0">
                <a:latin typeface="Helvetica" pitchFamily="34" charset="0"/>
              </a:rPr>
              <a:t>international destination </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shutterstock_27777832.jpg"/>
          <p:cNvPicPr/>
          <p:nvPr/>
        </p:nvPicPr>
        <p:blipFill>
          <a:blip r:embed="rId3" cstate="print"/>
          <a:stretch>
            <a:fillRect/>
          </a:stretch>
        </p:blipFill>
        <p:spPr>
          <a:xfrm>
            <a:off x="6588224" y="2899188"/>
            <a:ext cx="1656184" cy="2219697"/>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Retail Travel Agents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Retail Travel agent is the go-between between the client and the Wholesaler</a:t>
            </a:r>
          </a:p>
          <a:p>
            <a:pPr>
              <a:spcBef>
                <a:spcPts val="600"/>
              </a:spcBef>
              <a:spcAft>
                <a:spcPts val="1200"/>
              </a:spcAft>
            </a:pPr>
            <a:r>
              <a:rPr lang="en-AU" sz="2200" dirty="0" smtClean="0">
                <a:latin typeface="Helvetica" pitchFamily="34" charset="0"/>
              </a:rPr>
              <a:t>It is the Retail agent who obtains all the relevant details from a client to enable them to make a booking through a Wholesaler</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shutterstock_140073586.jpg"/>
          <p:cNvPicPr/>
          <p:nvPr/>
        </p:nvPicPr>
        <p:blipFill>
          <a:blip r:embed="rId3" cstate="print"/>
          <a:stretch>
            <a:fillRect/>
          </a:stretch>
        </p:blipFill>
        <p:spPr>
          <a:xfrm>
            <a:off x="3371807" y="4115544"/>
            <a:ext cx="2088232" cy="1473696"/>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Local, regional and national information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These information services exist to assist the public and Travel agents in obtaining information on a particular region from the experts</a:t>
            </a:r>
          </a:p>
          <a:p>
            <a:pPr>
              <a:spcBef>
                <a:spcPts val="600"/>
              </a:spcBef>
              <a:spcAft>
                <a:spcPts val="1200"/>
              </a:spcAft>
            </a:pPr>
            <a:r>
              <a:rPr lang="en-AU" sz="2200" dirty="0" smtClean="0">
                <a:latin typeface="Helvetica" pitchFamily="34" charset="0"/>
              </a:rPr>
              <a:t>This can be at a local, regional or national level</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W258_info_shutterstock_156516218.jpg"/>
          <p:cNvPicPr/>
          <p:nvPr/>
        </p:nvPicPr>
        <p:blipFill>
          <a:blip r:embed="rId3" cstate="print"/>
          <a:stretch>
            <a:fillRect/>
          </a:stretch>
        </p:blipFill>
        <p:spPr>
          <a:xfrm>
            <a:off x="3563888" y="4293096"/>
            <a:ext cx="1438275" cy="143827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MICE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Meetings</a:t>
            </a:r>
          </a:p>
          <a:p>
            <a:pPr>
              <a:spcBef>
                <a:spcPts val="600"/>
              </a:spcBef>
              <a:spcAft>
                <a:spcPts val="1200"/>
              </a:spcAft>
            </a:pPr>
            <a:r>
              <a:rPr lang="en-US" sz="2200" dirty="0" smtClean="0">
                <a:latin typeface="Helvetica" pitchFamily="34" charset="0"/>
              </a:rPr>
              <a:t>Incentives</a:t>
            </a:r>
          </a:p>
          <a:p>
            <a:pPr>
              <a:spcBef>
                <a:spcPts val="600"/>
              </a:spcBef>
              <a:spcAft>
                <a:spcPts val="1200"/>
              </a:spcAft>
            </a:pPr>
            <a:r>
              <a:rPr lang="en-US" sz="2200" dirty="0" smtClean="0">
                <a:latin typeface="Helvetica" pitchFamily="34" charset="0"/>
              </a:rPr>
              <a:t>Conventions</a:t>
            </a:r>
          </a:p>
          <a:p>
            <a:pPr>
              <a:spcBef>
                <a:spcPts val="600"/>
              </a:spcBef>
              <a:spcAft>
                <a:spcPts val="1200"/>
              </a:spcAft>
            </a:pPr>
            <a:r>
              <a:rPr lang="en-US" sz="2200" dirty="0" smtClean="0">
                <a:latin typeface="Helvetica" pitchFamily="34" charset="0"/>
              </a:rPr>
              <a:t>Exhibitions</a:t>
            </a: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6" descr="967.jpg"/>
          <p:cNvPicPr/>
          <p:nvPr/>
        </p:nvPicPr>
        <p:blipFill>
          <a:blip r:embed="rId3" cstate="print"/>
          <a:stretch>
            <a:fillRect/>
          </a:stretch>
        </p:blipFill>
        <p:spPr>
          <a:xfrm>
            <a:off x="3635896" y="2204864"/>
            <a:ext cx="3168352" cy="201622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Ministries of Tourism </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Almost every country within the ASEAN region will have dedicated government ministry specifically focused on the tourism industry</a:t>
            </a:r>
          </a:p>
          <a:p>
            <a:pPr>
              <a:spcBef>
                <a:spcPts val="600"/>
              </a:spcBef>
              <a:spcAft>
                <a:spcPts val="1200"/>
              </a:spcAft>
            </a:pPr>
            <a:r>
              <a:rPr lang="en-AU" sz="2200" dirty="0" smtClean="0">
                <a:latin typeface="Helvetica" pitchFamily="34" charset="0"/>
              </a:rPr>
              <a:t>Their role is to regulate and manage the industry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shutterstock_136286858.jpg"/>
          <p:cNvPicPr/>
          <p:nvPr/>
        </p:nvPicPr>
        <p:blipFill>
          <a:blip r:embed="rId3" cstate="print"/>
          <a:stretch>
            <a:fillRect/>
          </a:stretch>
        </p:blipFill>
        <p:spPr>
          <a:xfrm>
            <a:off x="3059832" y="4077072"/>
            <a:ext cx="2520280" cy="165618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Tourism Boards</a:t>
            </a:r>
            <a:endParaRPr lang="en-US" sz="2000" b="1" dirty="0" smtClean="0"/>
          </a:p>
          <a:p>
            <a:pPr>
              <a:spcBef>
                <a:spcPts val="600"/>
              </a:spcBef>
              <a:spcAft>
                <a:spcPts val="1200"/>
              </a:spcAft>
            </a:pPr>
            <a:r>
              <a:rPr lang="en-AU" sz="2000" dirty="0" smtClean="0"/>
              <a:t>Coordinate the efforts of hotels, airlines and travel agents to develop the tourism industry of the country</a:t>
            </a:r>
            <a:endParaRPr lang="en-US" sz="2000" dirty="0" smtClean="0"/>
          </a:p>
          <a:p>
            <a:pPr>
              <a:spcBef>
                <a:spcPts val="600"/>
              </a:spcBef>
              <a:spcAft>
                <a:spcPts val="1200"/>
              </a:spcAft>
            </a:pPr>
            <a:r>
              <a:rPr lang="en-AU" sz="2000" dirty="0" smtClean="0"/>
              <a:t>Initiate new marketing ideas to promote image aboard</a:t>
            </a:r>
          </a:p>
          <a:p>
            <a:pPr>
              <a:spcBef>
                <a:spcPts val="600"/>
              </a:spcBef>
              <a:spcAft>
                <a:spcPts val="1200"/>
              </a:spcAft>
            </a:pPr>
            <a:r>
              <a:rPr lang="en-AU" sz="2000" dirty="0" smtClean="0"/>
              <a:t>Provide travel agent licensing and tourist guide training</a:t>
            </a:r>
            <a:endParaRPr lang="en-US" sz="2000" dirty="0" smtClean="0"/>
          </a:p>
          <a:p>
            <a:pPr>
              <a:spcBef>
                <a:spcPts val="600"/>
              </a:spcBef>
              <a:spcAft>
                <a:spcPts val="1200"/>
              </a:spcAft>
            </a:pPr>
            <a:r>
              <a:rPr lang="en-AU" sz="2000" dirty="0" smtClean="0"/>
              <a:t>Promote the development of infrastructure and tourist attractions </a:t>
            </a:r>
          </a:p>
          <a:p>
            <a:pPr>
              <a:spcBef>
                <a:spcPts val="600"/>
              </a:spcBef>
              <a:spcAft>
                <a:spcPts val="1200"/>
              </a:spcAft>
            </a:pPr>
            <a:r>
              <a:rPr lang="en-AU" sz="2000" dirty="0" smtClean="0"/>
              <a:t>Organise events to attract visitors</a:t>
            </a:r>
            <a:endParaRPr lang="en-US" sz="2000" dirty="0" smtClean="0"/>
          </a:p>
          <a:p>
            <a:pPr>
              <a:spcBef>
                <a:spcPts val="600"/>
              </a:spcBef>
              <a:spcAft>
                <a:spcPts val="1200"/>
              </a:spcAft>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shutterstock_117103420.jpg"/>
          <p:cNvPicPr/>
          <p:nvPr/>
        </p:nvPicPr>
        <p:blipFill>
          <a:blip r:embed="rId3" cstate="print"/>
          <a:stretch>
            <a:fillRect/>
          </a:stretch>
        </p:blipFill>
        <p:spPr>
          <a:xfrm>
            <a:off x="6252585" y="4482651"/>
            <a:ext cx="2160240" cy="15121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Authorities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Authorities are established, either by a government or working closely with government to provide services relating to the tourism industry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shutterstock_174310112.jpg"/>
          <p:cNvPicPr>
            <a:picLocks noChangeAspect="1"/>
          </p:cNvPicPr>
          <p:nvPr/>
        </p:nvPicPr>
        <p:blipFill>
          <a:blip r:embed="rId3" cstate="print"/>
          <a:stretch>
            <a:fillRect/>
          </a:stretch>
        </p:blipFill>
        <p:spPr>
          <a:xfrm>
            <a:off x="2771800" y="3573016"/>
            <a:ext cx="2736304" cy="181964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Associations</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Industry associations are bodies that all businesses can elect to join that serve specific and over-arching industry sectors. </a:t>
            </a:r>
          </a:p>
          <a:p>
            <a:pPr lvl="0">
              <a:spcBef>
                <a:spcPts val="600"/>
              </a:spcBef>
              <a:spcAft>
                <a:spcPts val="1200"/>
              </a:spcAft>
            </a:pPr>
            <a:r>
              <a:rPr lang="en-US" sz="2200" dirty="0" smtClean="0">
                <a:latin typeface="Helvetica" pitchFamily="34" charset="0"/>
              </a:rPr>
              <a:t>Representing the industry</a:t>
            </a:r>
          </a:p>
          <a:p>
            <a:pPr lvl="0">
              <a:spcBef>
                <a:spcPts val="600"/>
              </a:spcBef>
              <a:spcAft>
                <a:spcPts val="1200"/>
              </a:spcAft>
            </a:pPr>
            <a:r>
              <a:rPr lang="en-US" sz="2200" dirty="0" smtClean="0">
                <a:latin typeface="Helvetica" pitchFamily="34" charset="0"/>
              </a:rPr>
              <a:t>Offer legal advice</a:t>
            </a:r>
          </a:p>
          <a:p>
            <a:pPr lvl="0">
              <a:spcBef>
                <a:spcPts val="600"/>
              </a:spcBef>
              <a:spcAft>
                <a:spcPts val="1200"/>
              </a:spcAft>
            </a:pPr>
            <a:r>
              <a:rPr lang="en-US" sz="2200" dirty="0" smtClean="0">
                <a:latin typeface="Helvetica" pitchFamily="34" charset="0"/>
              </a:rPr>
              <a:t>Provide training </a:t>
            </a:r>
          </a:p>
          <a:p>
            <a:pPr lvl="0">
              <a:spcBef>
                <a:spcPts val="600"/>
              </a:spcBef>
              <a:spcAft>
                <a:spcPts val="1200"/>
              </a:spcAft>
            </a:pPr>
            <a:r>
              <a:rPr lang="en-US" sz="2200" dirty="0" smtClean="0">
                <a:latin typeface="Helvetica" pitchFamily="34" charset="0"/>
              </a:rPr>
              <a:t>Identify c</a:t>
            </a:r>
            <a:r>
              <a:rPr lang="en-AU" sz="2200" dirty="0" smtClean="0">
                <a:latin typeface="Helvetica" pitchFamily="34" charset="0"/>
              </a:rPr>
              <a:t>ost savings </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b="1" i="1" dirty="0" smtClean="0">
                <a:solidFill>
                  <a:srgbClr val="FF6600"/>
                </a:solidFill>
              </a:rPr>
              <a:t>COMPLETE ACTIVITY 8</a:t>
            </a: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A5 shutterstock_131103662.jpg"/>
          <p:cNvPicPr/>
          <p:nvPr/>
        </p:nvPicPr>
        <p:blipFill>
          <a:blip r:embed="rId3" cstate="print"/>
          <a:stretch>
            <a:fillRect/>
          </a:stretch>
        </p:blipFill>
        <p:spPr>
          <a:xfrm>
            <a:off x="4932040" y="3356992"/>
            <a:ext cx="2376264" cy="17281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Identify product information to gather</a:t>
            </a:r>
          </a:p>
          <a:p>
            <a:pPr marL="0">
              <a:spcBef>
                <a:spcPts val="600"/>
              </a:spcBef>
              <a:spcAft>
                <a:spcPts val="1200"/>
              </a:spcAft>
              <a:buNone/>
            </a:pPr>
            <a:r>
              <a:rPr lang="en-AU" sz="2200" dirty="0" smtClean="0">
                <a:latin typeface="Helvetica" pitchFamily="34" charset="0"/>
              </a:rPr>
              <a:t>Before seeking information from each of these types of businesses it is important to identify the types of information that you require from each to help you advise your clients in their future travel needs:</a:t>
            </a:r>
          </a:p>
          <a:p>
            <a:pPr>
              <a:spcBef>
                <a:spcPts val="600"/>
              </a:spcBef>
              <a:spcAft>
                <a:spcPts val="1200"/>
              </a:spcAft>
            </a:pPr>
            <a:r>
              <a:rPr lang="en-AU" sz="2200" dirty="0" smtClean="0">
                <a:latin typeface="Helvetica" pitchFamily="34" charset="0"/>
              </a:rPr>
              <a:t>What types of product information do you want to gather?</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8" name="Picture 7" descr="shutterstock_148377275.jpg"/>
          <p:cNvPicPr>
            <a:picLocks noChangeAspect="1"/>
          </p:cNvPicPr>
          <p:nvPr/>
        </p:nvPicPr>
        <p:blipFill rotWithShape="1">
          <a:blip r:embed="rId3" cstate="print"/>
          <a:srcRect l="7077"/>
          <a:stretch/>
        </p:blipFill>
        <p:spPr>
          <a:xfrm>
            <a:off x="3094182" y="4365103"/>
            <a:ext cx="2341914" cy="1681027"/>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Destination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General destination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Statistical information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Maps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guides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Events</a:t>
            </a:r>
            <a:endParaRPr lang="en-US" sz="2200" dirty="0" smtClean="0">
              <a:latin typeface="Helvetica" pitchFamily="34" charset="0"/>
            </a:endParaRPr>
          </a:p>
          <a:p>
            <a:pPr lvl="0">
              <a:spcBef>
                <a:spcPts val="600"/>
              </a:spcBef>
              <a:spcAft>
                <a:spcPts val="600"/>
              </a:spcAft>
              <a:buNone/>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6" name="Picture 5" descr="Asian girl with world on hand_34766518.jpg"/>
          <p:cNvPicPr/>
          <p:nvPr/>
        </p:nvPicPr>
        <p:blipFill>
          <a:blip r:embed="rId3" cstate="print"/>
          <a:stretch>
            <a:fillRect/>
          </a:stretch>
        </p:blipFill>
        <p:spPr>
          <a:xfrm>
            <a:off x="5076056" y="2780928"/>
            <a:ext cx="1517898" cy="1916807"/>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Destination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Languages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Safety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Government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zones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Communications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Looking at map_124805341.jpg"/>
          <p:cNvPicPr>
            <a:picLocks noChangeAspect="1"/>
          </p:cNvPicPr>
          <p:nvPr/>
        </p:nvPicPr>
        <p:blipFill>
          <a:blip r:embed="rId3" cstate="print"/>
          <a:stretch>
            <a:fillRect/>
          </a:stretch>
        </p:blipFill>
        <p:spPr>
          <a:xfrm>
            <a:off x="4716016" y="2420888"/>
            <a:ext cx="2914866" cy="1944216"/>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000" b="1" dirty="0" smtClean="0"/>
              <a:t>Local community information</a:t>
            </a:r>
            <a:endParaRPr lang="en-US" sz="2000" dirty="0" smtClean="0"/>
          </a:p>
          <a:p>
            <a:pPr lvl="0">
              <a:spcBef>
                <a:spcPts val="600"/>
              </a:spcBef>
              <a:spcAft>
                <a:spcPts val="1200"/>
              </a:spcAft>
            </a:pPr>
            <a:r>
              <a:rPr lang="en-US" sz="2000" dirty="0" smtClean="0"/>
              <a:t>Local attractions</a:t>
            </a:r>
          </a:p>
          <a:p>
            <a:pPr lvl="0">
              <a:spcBef>
                <a:spcPts val="600"/>
              </a:spcBef>
              <a:spcAft>
                <a:spcPts val="1200"/>
              </a:spcAft>
            </a:pPr>
            <a:r>
              <a:rPr lang="en-US" sz="2000" dirty="0" smtClean="0"/>
              <a:t>Shopping and retail areas</a:t>
            </a:r>
          </a:p>
          <a:p>
            <a:pPr lvl="0">
              <a:spcBef>
                <a:spcPts val="600"/>
              </a:spcBef>
              <a:spcAft>
                <a:spcPts val="1200"/>
              </a:spcAft>
            </a:pPr>
            <a:r>
              <a:rPr lang="en-US" sz="2000" dirty="0" smtClean="0"/>
              <a:t>Events and festivals</a:t>
            </a:r>
          </a:p>
          <a:p>
            <a:pPr lvl="0">
              <a:spcBef>
                <a:spcPts val="600"/>
              </a:spcBef>
              <a:spcAft>
                <a:spcPts val="1200"/>
              </a:spcAft>
            </a:pPr>
            <a:r>
              <a:rPr lang="en-US" sz="2000" dirty="0" smtClean="0"/>
              <a:t>Eateries</a:t>
            </a:r>
          </a:p>
          <a:p>
            <a:pPr lvl="0">
              <a:spcBef>
                <a:spcPts val="600"/>
              </a:spcBef>
              <a:spcAft>
                <a:spcPts val="1200"/>
              </a:spcAft>
            </a:pPr>
            <a:r>
              <a:rPr lang="en-US" sz="2000" dirty="0" smtClean="0"/>
              <a:t>Supermarkets</a:t>
            </a:r>
          </a:p>
          <a:p>
            <a:pPr lvl="0">
              <a:spcBef>
                <a:spcPts val="600"/>
              </a:spcBef>
              <a:spcAft>
                <a:spcPts val="1200"/>
              </a:spcAft>
            </a:pPr>
            <a:r>
              <a:rPr lang="en-US" sz="2000" dirty="0" smtClean="0"/>
              <a:t>Local transport</a:t>
            </a:r>
          </a:p>
          <a:p>
            <a:pPr lvl="0">
              <a:spcBef>
                <a:spcPts val="600"/>
              </a:spcBef>
              <a:spcAft>
                <a:spcPts val="1200"/>
              </a:spcAft>
            </a:pPr>
            <a:r>
              <a:rPr lang="en-US" sz="2000" dirty="0" smtClean="0"/>
              <a:t>Activities</a:t>
            </a:r>
          </a:p>
          <a:p>
            <a:pPr lvl="0">
              <a:spcBef>
                <a:spcPts val="600"/>
              </a:spcBef>
              <a:spcAft>
                <a:spcPts val="1200"/>
              </a:spcAft>
            </a:pPr>
            <a:r>
              <a:rPr lang="en-US" sz="2000" dirty="0" smtClean="0"/>
              <a:t>Places of worship </a:t>
            </a:r>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6" name="Picture 5" descr="shutterstock_158753825.jpg"/>
          <p:cNvPicPr/>
          <p:nvPr/>
        </p:nvPicPr>
        <p:blipFill>
          <a:blip r:embed="rId3" cstate="print"/>
          <a:stretch>
            <a:fillRect/>
          </a:stretch>
        </p:blipFill>
        <p:spPr>
          <a:xfrm>
            <a:off x="4716016" y="2924944"/>
            <a:ext cx="2362270" cy="180020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776864" cy="5301208"/>
          </a:xfrm>
        </p:spPr>
        <p:txBody>
          <a:bodyPr>
            <a:normAutofit/>
          </a:bodyPr>
          <a:lstStyle/>
          <a:p>
            <a:pPr>
              <a:spcBef>
                <a:spcPts val="600"/>
              </a:spcBef>
              <a:spcAft>
                <a:spcPts val="1200"/>
              </a:spcAft>
              <a:buNone/>
            </a:pPr>
            <a:r>
              <a:rPr lang="en-AU" sz="2000" b="1" dirty="0" smtClean="0"/>
              <a:t>International destination information</a:t>
            </a:r>
            <a:endParaRPr lang="en-US" sz="2000" b="1" dirty="0" smtClean="0"/>
          </a:p>
          <a:p>
            <a:pPr marL="0">
              <a:spcBef>
                <a:spcPts val="600"/>
              </a:spcBef>
              <a:spcAft>
                <a:spcPts val="1200"/>
              </a:spcAft>
              <a:buNone/>
            </a:pPr>
            <a:r>
              <a:rPr lang="en-AU" sz="2000" dirty="0" smtClean="0"/>
              <a:t>When providing information on international destinations to your customers, you will need to advise them of the government regulations that apply when people wish to leave the country:</a:t>
            </a:r>
          </a:p>
          <a:p>
            <a:pPr>
              <a:spcBef>
                <a:spcPts val="600"/>
              </a:spcBef>
              <a:spcAft>
                <a:spcPts val="1200"/>
              </a:spcAft>
            </a:pPr>
            <a:r>
              <a:rPr lang="en-AU" sz="2000" dirty="0" smtClean="0"/>
              <a:t>What information do you need to gather and explain to clients wishing to travel overseas?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7" name="Picture 6" descr="shutterstock_53668378.jpg"/>
          <p:cNvPicPr/>
          <p:nvPr/>
        </p:nvPicPr>
        <p:blipFill>
          <a:blip r:embed="rId3" cstate="print"/>
          <a:stretch>
            <a:fillRect/>
          </a:stretch>
        </p:blipFill>
        <p:spPr>
          <a:xfrm>
            <a:off x="3059832" y="4123158"/>
            <a:ext cx="2448272" cy="161009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hutterstock_98518646.jpg"/>
          <p:cNvPicPr/>
          <p:nvPr/>
        </p:nvPicPr>
        <p:blipFill>
          <a:blip r:embed="rId3" cstate="print"/>
          <a:stretch>
            <a:fillRect/>
          </a:stretch>
        </p:blipFill>
        <p:spPr>
          <a:xfrm>
            <a:off x="6372200" y="3645024"/>
            <a:ext cx="1944216" cy="1368152"/>
          </a:xfrm>
          <a:prstGeom prst="rect">
            <a:avLst/>
          </a:prstGeom>
        </p:spPr>
      </p:pic>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Tours</a:t>
            </a:r>
            <a:endParaRPr lang="en-US" sz="2000" dirty="0" smtClean="0"/>
          </a:p>
          <a:p>
            <a:pPr lvl="0">
              <a:spcBef>
                <a:spcPts val="600"/>
              </a:spcBef>
              <a:spcAft>
                <a:spcPts val="1200"/>
              </a:spcAft>
            </a:pPr>
            <a:r>
              <a:rPr lang="en-AU" sz="2000" dirty="0" smtClean="0"/>
              <a:t>Company name, name of tour and duration</a:t>
            </a:r>
            <a:endParaRPr lang="en-US" sz="2000" dirty="0" smtClean="0"/>
          </a:p>
          <a:p>
            <a:pPr lvl="0">
              <a:spcBef>
                <a:spcPts val="600"/>
              </a:spcBef>
              <a:spcAft>
                <a:spcPts val="1200"/>
              </a:spcAft>
            </a:pPr>
            <a:r>
              <a:rPr lang="en-AU" sz="2000" dirty="0" smtClean="0"/>
              <a:t>Departure date, time and location address</a:t>
            </a:r>
            <a:endParaRPr lang="en-US" sz="2000" dirty="0" smtClean="0"/>
          </a:p>
          <a:p>
            <a:pPr lvl="0">
              <a:spcBef>
                <a:spcPts val="600"/>
              </a:spcBef>
              <a:spcAft>
                <a:spcPts val="1200"/>
              </a:spcAft>
            </a:pPr>
            <a:r>
              <a:rPr lang="en-AU" sz="2000" dirty="0" smtClean="0"/>
              <a:t>End date, time and location address</a:t>
            </a:r>
            <a:endParaRPr lang="en-US" sz="2000" dirty="0" smtClean="0"/>
          </a:p>
          <a:p>
            <a:pPr lvl="0">
              <a:spcBef>
                <a:spcPts val="600"/>
              </a:spcBef>
              <a:spcAft>
                <a:spcPts val="1200"/>
              </a:spcAft>
            </a:pPr>
            <a:r>
              <a:rPr lang="en-AU" sz="2000" dirty="0" smtClean="0"/>
              <a:t>Type of accommodation e.g. single, twin-share</a:t>
            </a:r>
            <a:endParaRPr lang="en-US" sz="2000" dirty="0" smtClean="0"/>
          </a:p>
          <a:p>
            <a:pPr lvl="0">
              <a:spcBef>
                <a:spcPts val="600"/>
              </a:spcBef>
              <a:spcAft>
                <a:spcPts val="1200"/>
              </a:spcAft>
            </a:pPr>
            <a:r>
              <a:rPr lang="en-AU" sz="2000" dirty="0" smtClean="0"/>
              <a:t>Tour company specific baggage labels</a:t>
            </a:r>
            <a:endParaRPr lang="en-US" sz="2000" dirty="0" smtClean="0"/>
          </a:p>
          <a:p>
            <a:pPr lvl="0">
              <a:spcBef>
                <a:spcPts val="600"/>
              </a:spcBef>
              <a:spcAft>
                <a:spcPts val="1200"/>
              </a:spcAft>
            </a:pPr>
            <a:r>
              <a:rPr lang="en-AU" sz="2000" dirty="0" smtClean="0"/>
              <a:t>Hotel list </a:t>
            </a:r>
            <a:endParaRPr lang="en-US" sz="2000" dirty="0" smtClean="0"/>
          </a:p>
          <a:p>
            <a:pPr lvl="0">
              <a:spcBef>
                <a:spcPts val="600"/>
              </a:spcBef>
              <a:spcAft>
                <a:spcPts val="1200"/>
              </a:spcAft>
            </a:pPr>
            <a:r>
              <a:rPr lang="en-AU" sz="2000" dirty="0" smtClean="0"/>
              <a:t>Tour information booklet</a:t>
            </a:r>
            <a:endParaRPr lang="en-US" sz="2000" dirty="0" smtClean="0"/>
          </a:p>
          <a:p>
            <a:pPr lvl="0">
              <a:spcBef>
                <a:spcPts val="600"/>
              </a:spcBef>
              <a:spcAft>
                <a:spcPts val="1200"/>
              </a:spcAft>
            </a:pPr>
            <a:r>
              <a:rPr lang="en-AU" sz="2000" dirty="0" smtClean="0"/>
              <a:t>Included services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Attractions</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Attractions can include:</a:t>
            </a:r>
          </a:p>
          <a:p>
            <a:pPr>
              <a:spcBef>
                <a:spcPts val="600"/>
              </a:spcBef>
              <a:spcAft>
                <a:spcPts val="1200"/>
              </a:spcAft>
            </a:pPr>
            <a:r>
              <a:rPr lang="en-AU" sz="2200" dirty="0" smtClean="0">
                <a:latin typeface="Helvetica" pitchFamily="34" charset="0"/>
              </a:rPr>
              <a:t>Historic sites</a:t>
            </a:r>
          </a:p>
          <a:p>
            <a:pPr>
              <a:spcBef>
                <a:spcPts val="600"/>
              </a:spcBef>
              <a:spcAft>
                <a:spcPts val="1200"/>
              </a:spcAft>
            </a:pPr>
            <a:r>
              <a:rPr lang="en-AU" sz="2200" dirty="0" smtClean="0">
                <a:latin typeface="Helvetica" pitchFamily="34" charset="0"/>
              </a:rPr>
              <a:t>Scenic location</a:t>
            </a:r>
          </a:p>
          <a:p>
            <a:pPr>
              <a:spcBef>
                <a:spcPts val="600"/>
              </a:spcBef>
              <a:spcAft>
                <a:spcPts val="1200"/>
              </a:spcAft>
            </a:pPr>
            <a:r>
              <a:rPr lang="en-AU" sz="2200" dirty="0" smtClean="0">
                <a:latin typeface="Helvetica" pitchFamily="34" charset="0"/>
              </a:rPr>
              <a:t>Special event</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Tourist attractions can be: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Natural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Man-made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shutterstock_130548068.jpg"/>
          <p:cNvPicPr/>
          <p:nvPr/>
        </p:nvPicPr>
        <p:blipFill>
          <a:blip r:embed="rId3" cstate="print"/>
          <a:stretch>
            <a:fillRect/>
          </a:stretch>
        </p:blipFill>
        <p:spPr>
          <a:xfrm>
            <a:off x="4644008" y="2564904"/>
            <a:ext cx="2592288" cy="1872208"/>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Activities</a:t>
            </a:r>
          </a:p>
          <a:p>
            <a:pPr>
              <a:spcBef>
                <a:spcPts val="600"/>
              </a:spcBef>
              <a:spcAft>
                <a:spcPts val="1200"/>
              </a:spcAft>
            </a:pPr>
            <a:r>
              <a:rPr lang="en-US" sz="2200" dirty="0" smtClean="0">
                <a:latin typeface="Helvetica" pitchFamily="34" charset="0"/>
              </a:rPr>
              <a:t>What are examples of tourism related activities?</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Happy Smile_142334158.jpg"/>
          <p:cNvPicPr/>
          <p:nvPr/>
        </p:nvPicPr>
        <p:blipFill>
          <a:blip r:embed="rId3" cstate="print"/>
          <a:stretch>
            <a:fillRect/>
          </a:stretch>
        </p:blipFill>
        <p:spPr>
          <a:xfrm>
            <a:off x="2843808" y="2996952"/>
            <a:ext cx="2664296" cy="187220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History</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Many people are interested in history, and therefore information on the history of a destination can be important to customers</a:t>
            </a:r>
          </a:p>
          <a:p>
            <a:pPr>
              <a:spcBef>
                <a:spcPts val="600"/>
              </a:spcBef>
              <a:spcAft>
                <a:spcPts val="1200"/>
              </a:spcAft>
            </a:pPr>
            <a:r>
              <a:rPr lang="en-AU" sz="2200" dirty="0" smtClean="0">
                <a:latin typeface="Helvetica" pitchFamily="34" charset="0"/>
              </a:rPr>
              <a:t>What are examples of history that attracts tourism?</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8" name="Picture 7" descr="W125_holiday_icon_egypt_shutterstock_153699923.jpg"/>
          <p:cNvPicPr>
            <a:picLocks noChangeAspect="1"/>
          </p:cNvPicPr>
          <p:nvPr/>
        </p:nvPicPr>
        <p:blipFill>
          <a:blip r:embed="rId3" cstate="print"/>
          <a:stretch>
            <a:fillRect/>
          </a:stretch>
        </p:blipFill>
        <p:spPr>
          <a:xfrm>
            <a:off x="2627784" y="3986127"/>
            <a:ext cx="2808312" cy="1873144"/>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Geographical features</a:t>
            </a:r>
            <a:endParaRPr lang="en-US" sz="2000" b="1" dirty="0" smtClean="0"/>
          </a:p>
          <a:p>
            <a:pPr lvl="0">
              <a:spcBef>
                <a:spcPts val="600"/>
              </a:spcBef>
              <a:spcAft>
                <a:spcPts val="1200"/>
              </a:spcAft>
            </a:pPr>
            <a:r>
              <a:rPr lang="en-US" sz="2000" dirty="0" smtClean="0"/>
              <a:t>Mountain ranges</a:t>
            </a:r>
          </a:p>
          <a:p>
            <a:pPr lvl="0">
              <a:spcBef>
                <a:spcPts val="600"/>
              </a:spcBef>
              <a:spcAft>
                <a:spcPts val="1200"/>
              </a:spcAft>
            </a:pPr>
            <a:r>
              <a:rPr lang="en-US" sz="2000" dirty="0" smtClean="0"/>
              <a:t>Lakes</a:t>
            </a:r>
          </a:p>
          <a:p>
            <a:pPr lvl="0">
              <a:spcBef>
                <a:spcPts val="600"/>
              </a:spcBef>
              <a:spcAft>
                <a:spcPts val="1200"/>
              </a:spcAft>
            </a:pPr>
            <a:r>
              <a:rPr lang="en-US" sz="2000" dirty="0" smtClean="0"/>
              <a:t>Rivers</a:t>
            </a:r>
          </a:p>
          <a:p>
            <a:pPr lvl="0">
              <a:spcBef>
                <a:spcPts val="600"/>
              </a:spcBef>
              <a:spcAft>
                <a:spcPts val="1200"/>
              </a:spcAft>
            </a:pPr>
            <a:r>
              <a:rPr lang="en-US" sz="2000" dirty="0" smtClean="0"/>
              <a:t>Caves</a:t>
            </a:r>
          </a:p>
          <a:p>
            <a:pPr lvl="0">
              <a:spcBef>
                <a:spcPts val="600"/>
              </a:spcBef>
              <a:spcAft>
                <a:spcPts val="1200"/>
              </a:spcAft>
            </a:pPr>
            <a:r>
              <a:rPr lang="en-US" sz="2000" dirty="0" smtClean="0"/>
              <a:t>Waterfalls</a:t>
            </a:r>
          </a:p>
          <a:p>
            <a:pPr lvl="0">
              <a:spcBef>
                <a:spcPts val="600"/>
              </a:spcBef>
              <a:spcAft>
                <a:spcPts val="1200"/>
              </a:spcAft>
            </a:pPr>
            <a:r>
              <a:rPr lang="en-US" sz="2000" dirty="0" smtClean="0"/>
              <a:t>Rock formations</a:t>
            </a:r>
          </a:p>
          <a:p>
            <a:pPr lvl="0">
              <a:spcBef>
                <a:spcPts val="600"/>
              </a:spcBef>
              <a:spcAft>
                <a:spcPts val="1200"/>
              </a:spcAft>
            </a:pPr>
            <a:r>
              <a:rPr lang="en-US" sz="2000" dirty="0" smtClean="0"/>
              <a:t>Beaches	</a:t>
            </a:r>
          </a:p>
          <a:p>
            <a:pPr lvl="0">
              <a:spcBef>
                <a:spcPts val="600"/>
              </a:spcBef>
              <a:spcAft>
                <a:spcPts val="1200"/>
              </a:spcAft>
            </a:pPr>
            <a:r>
              <a:rPr lang="en-US" sz="2000" dirty="0" smtClean="0"/>
              <a:t>National parks</a:t>
            </a:r>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7" name="Picture 6" descr="shutterstock_176408066.jpg"/>
          <p:cNvPicPr/>
          <p:nvPr/>
        </p:nvPicPr>
        <p:blipFill>
          <a:blip r:embed="rId3" cstate="print"/>
          <a:stretch>
            <a:fillRect/>
          </a:stretch>
        </p:blipFill>
        <p:spPr>
          <a:xfrm>
            <a:off x="4248015" y="2843006"/>
            <a:ext cx="3024336" cy="208823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Local customs and culture</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Every destination will have customs that are specific to that place and that particular culture.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What are examples of:</a:t>
            </a:r>
          </a:p>
          <a:p>
            <a:pPr>
              <a:spcBef>
                <a:spcPts val="600"/>
              </a:spcBef>
              <a:spcAft>
                <a:spcPts val="1200"/>
              </a:spcAft>
            </a:pPr>
            <a:r>
              <a:rPr lang="en-AU" sz="2200" dirty="0" smtClean="0">
                <a:latin typeface="Helvetica" pitchFamily="34" charset="0"/>
              </a:rPr>
              <a:t>Local customs</a:t>
            </a:r>
          </a:p>
          <a:p>
            <a:pPr>
              <a:spcBef>
                <a:spcPts val="600"/>
              </a:spcBef>
              <a:spcAft>
                <a:spcPts val="1200"/>
              </a:spcAft>
            </a:pPr>
            <a:r>
              <a:rPr lang="en-AU" sz="2200" dirty="0" smtClean="0">
                <a:latin typeface="Helvetica" pitchFamily="34" charset="0"/>
              </a:rPr>
              <a:t>Local culture</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6" name="Picture 5" descr="shutterstock_110078846.jpg"/>
          <p:cNvPicPr/>
          <p:nvPr/>
        </p:nvPicPr>
        <p:blipFill>
          <a:blip r:embed="rId3" cstate="print"/>
          <a:stretch>
            <a:fillRect/>
          </a:stretch>
        </p:blipFill>
        <p:spPr>
          <a:xfrm>
            <a:off x="4427984" y="3140968"/>
            <a:ext cx="1728192" cy="2088232"/>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Climate</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you understand the weather conditions and patterns of the destination:</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How can you identify climatic conditions?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7" name="Picture 6" descr="shutterstock_124217227.jpg"/>
          <p:cNvPicPr>
            <a:picLocks noChangeAspect="1"/>
          </p:cNvPicPr>
          <p:nvPr/>
        </p:nvPicPr>
        <p:blipFill>
          <a:blip r:embed="rId3" cstate="print"/>
          <a:stretch>
            <a:fillRect/>
          </a:stretch>
        </p:blipFill>
        <p:spPr>
          <a:xfrm>
            <a:off x="3059832" y="4290748"/>
            <a:ext cx="2483034" cy="1656184"/>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Accommodation </a:t>
            </a:r>
            <a:endParaRPr lang="en-US" sz="2000" dirty="0" smtClean="0"/>
          </a:p>
          <a:p>
            <a:pPr lvl="0">
              <a:spcBef>
                <a:spcPts val="600"/>
              </a:spcBef>
              <a:spcAft>
                <a:spcPts val="600"/>
              </a:spcAft>
            </a:pPr>
            <a:r>
              <a:rPr lang="en-AU" sz="2000" dirty="0" smtClean="0"/>
              <a:t>Room types</a:t>
            </a:r>
            <a:endParaRPr lang="en-US" sz="2000" dirty="0" smtClean="0"/>
          </a:p>
          <a:p>
            <a:pPr lvl="0">
              <a:spcBef>
                <a:spcPts val="600"/>
              </a:spcBef>
              <a:spcAft>
                <a:spcPts val="600"/>
              </a:spcAft>
            </a:pPr>
            <a:r>
              <a:rPr lang="en-AU" sz="2000" dirty="0" smtClean="0"/>
              <a:t>Tariffs</a:t>
            </a:r>
            <a:endParaRPr lang="en-US" sz="2000" dirty="0" smtClean="0"/>
          </a:p>
          <a:p>
            <a:pPr lvl="0">
              <a:spcBef>
                <a:spcPts val="600"/>
              </a:spcBef>
              <a:spcAft>
                <a:spcPts val="600"/>
              </a:spcAft>
            </a:pPr>
            <a:r>
              <a:rPr lang="en-AU" sz="2000" dirty="0" smtClean="0"/>
              <a:t>Products and services </a:t>
            </a:r>
            <a:endParaRPr lang="en-US" sz="2000" dirty="0" smtClean="0"/>
          </a:p>
          <a:p>
            <a:pPr lvl="0">
              <a:spcBef>
                <a:spcPts val="600"/>
              </a:spcBef>
              <a:spcAft>
                <a:spcPts val="600"/>
              </a:spcAft>
            </a:pPr>
            <a:r>
              <a:rPr lang="en-AU" sz="2000" dirty="0" smtClean="0"/>
              <a:t>Room facilities</a:t>
            </a:r>
            <a:endParaRPr lang="en-US" sz="2000" dirty="0" smtClean="0"/>
          </a:p>
          <a:p>
            <a:pPr lvl="0">
              <a:spcBef>
                <a:spcPts val="600"/>
              </a:spcBef>
              <a:spcAft>
                <a:spcPts val="600"/>
              </a:spcAft>
            </a:pPr>
            <a:r>
              <a:rPr lang="en-AU" sz="2000" dirty="0" smtClean="0"/>
              <a:t>Location and distance to attractions</a:t>
            </a:r>
            <a:endParaRPr lang="en-US" sz="2000" dirty="0" smtClean="0"/>
          </a:p>
          <a:p>
            <a:pPr lvl="0">
              <a:spcBef>
                <a:spcPts val="600"/>
              </a:spcBef>
              <a:spcAft>
                <a:spcPts val="600"/>
              </a:spcAft>
            </a:pPr>
            <a:r>
              <a:rPr lang="en-AU" sz="2000" dirty="0" smtClean="0"/>
              <a:t>Packages</a:t>
            </a:r>
            <a:endParaRPr lang="en-US" sz="2000" dirty="0" smtClean="0"/>
          </a:p>
          <a:p>
            <a:pPr lvl="0">
              <a:spcBef>
                <a:spcPts val="600"/>
              </a:spcBef>
              <a:spcAft>
                <a:spcPts val="600"/>
              </a:spcAft>
            </a:pPr>
            <a:r>
              <a:rPr lang="en-AU" sz="2000" dirty="0" smtClean="0"/>
              <a:t>Blocked dates</a:t>
            </a:r>
            <a:endParaRPr lang="en-US" sz="2000" dirty="0" smtClean="0"/>
          </a:p>
          <a:p>
            <a:pPr lvl="0">
              <a:spcBef>
                <a:spcPts val="600"/>
              </a:spcBef>
              <a:spcAft>
                <a:spcPts val="600"/>
              </a:spcAft>
            </a:pPr>
            <a:r>
              <a:rPr lang="en-AU" sz="2000" dirty="0" smtClean="0"/>
              <a:t>Seasons and times</a:t>
            </a:r>
            <a:endParaRPr lang="en-US" sz="2000" dirty="0" smtClean="0"/>
          </a:p>
          <a:p>
            <a:pPr lvl="0">
              <a:spcBef>
                <a:spcPts val="600"/>
              </a:spcBef>
              <a:spcAft>
                <a:spcPts val="600"/>
              </a:spcAft>
            </a:pPr>
            <a:r>
              <a:rPr lang="en-AU" sz="2000" dirty="0" smtClean="0"/>
              <a:t>Minimum purchase</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6" name="Picture 5" descr="shutterstock_114459544.jpg"/>
          <p:cNvPicPr/>
          <p:nvPr/>
        </p:nvPicPr>
        <p:blipFill>
          <a:blip r:embed="rId3" cstate="print"/>
          <a:stretch>
            <a:fillRect/>
          </a:stretch>
        </p:blipFill>
        <p:spPr>
          <a:xfrm>
            <a:off x="5940152" y="3824351"/>
            <a:ext cx="2448272" cy="1728192"/>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Accommodation </a:t>
            </a:r>
            <a:endParaRPr lang="en-US" sz="2000" dirty="0" smtClean="0"/>
          </a:p>
          <a:p>
            <a:pPr lvl="0">
              <a:spcBef>
                <a:spcPts val="600"/>
              </a:spcBef>
              <a:spcAft>
                <a:spcPts val="600"/>
              </a:spcAft>
            </a:pPr>
            <a:r>
              <a:rPr lang="en-AU" sz="2000" dirty="0" smtClean="0"/>
              <a:t>Booking and stay requirements</a:t>
            </a:r>
            <a:endParaRPr lang="en-US" sz="2000" dirty="0" smtClean="0"/>
          </a:p>
          <a:p>
            <a:pPr lvl="0">
              <a:spcBef>
                <a:spcPts val="600"/>
              </a:spcBef>
              <a:spcAft>
                <a:spcPts val="600"/>
              </a:spcAft>
            </a:pPr>
            <a:r>
              <a:rPr lang="en-AU" sz="2000" dirty="0" smtClean="0"/>
              <a:t>Property name and address</a:t>
            </a:r>
            <a:endParaRPr lang="en-US" sz="2000" dirty="0" smtClean="0"/>
          </a:p>
          <a:p>
            <a:pPr lvl="0">
              <a:spcBef>
                <a:spcPts val="600"/>
              </a:spcBef>
              <a:spcAft>
                <a:spcPts val="600"/>
              </a:spcAft>
            </a:pPr>
            <a:r>
              <a:rPr lang="en-AU" sz="2000" dirty="0" smtClean="0"/>
              <a:t>Room type and category</a:t>
            </a:r>
            <a:endParaRPr lang="en-US" sz="2000" dirty="0" smtClean="0"/>
          </a:p>
          <a:p>
            <a:pPr lvl="0">
              <a:spcBef>
                <a:spcPts val="600"/>
              </a:spcBef>
              <a:spcAft>
                <a:spcPts val="600"/>
              </a:spcAft>
            </a:pPr>
            <a:r>
              <a:rPr lang="en-AU" sz="2000" dirty="0" smtClean="0"/>
              <a:t>Number of nights</a:t>
            </a:r>
            <a:endParaRPr lang="en-US" sz="2000" dirty="0" smtClean="0"/>
          </a:p>
          <a:p>
            <a:pPr lvl="0">
              <a:spcBef>
                <a:spcPts val="600"/>
              </a:spcBef>
              <a:spcAft>
                <a:spcPts val="600"/>
              </a:spcAft>
            </a:pPr>
            <a:r>
              <a:rPr lang="en-AU" sz="2000" dirty="0" smtClean="0"/>
              <a:t>Check-in and check-out dates</a:t>
            </a:r>
            <a:endParaRPr lang="en-US" sz="2000" dirty="0" smtClean="0"/>
          </a:p>
          <a:p>
            <a:pPr lvl="0">
              <a:spcBef>
                <a:spcPts val="600"/>
              </a:spcBef>
              <a:spcAft>
                <a:spcPts val="600"/>
              </a:spcAft>
            </a:pPr>
            <a:r>
              <a:rPr lang="en-AU" sz="2000" dirty="0" smtClean="0"/>
              <a:t>Check-in and check-out times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7" name="Picture 6" descr="shutterstock_35558536.jpg"/>
          <p:cNvPicPr>
            <a:picLocks noChangeAspect="1"/>
          </p:cNvPicPr>
          <p:nvPr/>
        </p:nvPicPr>
        <p:blipFill>
          <a:blip r:embed="rId3" cstate="print"/>
          <a:stretch>
            <a:fillRect/>
          </a:stretch>
        </p:blipFill>
        <p:spPr>
          <a:xfrm>
            <a:off x="5724128" y="3861048"/>
            <a:ext cx="2711144" cy="1800200"/>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Accommodation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Day use or late check-out if applicable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Inclusions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Extra charges payable direct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requests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promotions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7" name="Picture 6" descr="shutterstock_110073662.jpg"/>
          <p:cNvPicPr>
            <a:picLocks noChangeAspect="1"/>
          </p:cNvPicPr>
          <p:nvPr/>
        </p:nvPicPr>
        <p:blipFill>
          <a:blip r:embed="rId3" cstate="print"/>
          <a:stretch>
            <a:fillRect/>
          </a:stretch>
        </p:blipFill>
        <p:spPr>
          <a:xfrm>
            <a:off x="5868144" y="3855113"/>
            <a:ext cx="2590993" cy="1728192"/>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Amenities and services</a:t>
            </a:r>
            <a:endParaRPr lang="en-US" sz="2000" b="1" dirty="0" smtClean="0"/>
          </a:p>
          <a:p>
            <a:pPr marL="0">
              <a:spcBef>
                <a:spcPts val="600"/>
              </a:spcBef>
              <a:spcAft>
                <a:spcPts val="1200"/>
              </a:spcAft>
              <a:buNone/>
            </a:pPr>
            <a:r>
              <a:rPr lang="en-AU" sz="2000" dirty="0" smtClean="0"/>
              <a:t>Amenities and services refer to the provision of basic services for travellers including: </a:t>
            </a:r>
            <a:endParaRPr lang="en-US" sz="2000" dirty="0" smtClean="0"/>
          </a:p>
          <a:p>
            <a:pPr lvl="0">
              <a:spcBef>
                <a:spcPts val="600"/>
              </a:spcBef>
              <a:spcAft>
                <a:spcPts val="1200"/>
              </a:spcAft>
            </a:pPr>
            <a:r>
              <a:rPr lang="en-AU" sz="2000" dirty="0" smtClean="0"/>
              <a:t>Toilet blocks</a:t>
            </a:r>
            <a:endParaRPr lang="en-US" sz="2000" dirty="0" smtClean="0"/>
          </a:p>
          <a:p>
            <a:pPr lvl="0">
              <a:spcBef>
                <a:spcPts val="600"/>
              </a:spcBef>
              <a:spcAft>
                <a:spcPts val="1200"/>
              </a:spcAft>
            </a:pPr>
            <a:r>
              <a:rPr lang="en-AU" sz="2000" dirty="0" smtClean="0"/>
              <a:t>Water</a:t>
            </a:r>
            <a:endParaRPr lang="en-US" sz="2000" dirty="0" smtClean="0"/>
          </a:p>
          <a:p>
            <a:pPr lvl="0">
              <a:spcBef>
                <a:spcPts val="600"/>
              </a:spcBef>
              <a:spcAft>
                <a:spcPts val="1200"/>
              </a:spcAft>
            </a:pPr>
            <a:r>
              <a:rPr lang="en-AU" sz="2000" dirty="0" smtClean="0"/>
              <a:t>Electricity</a:t>
            </a:r>
            <a:endParaRPr lang="en-US" sz="2000" dirty="0" smtClean="0"/>
          </a:p>
          <a:p>
            <a:pPr lvl="0">
              <a:spcBef>
                <a:spcPts val="600"/>
              </a:spcBef>
              <a:spcAft>
                <a:spcPts val="1200"/>
              </a:spcAft>
            </a:pPr>
            <a:r>
              <a:rPr lang="en-AU" sz="2000" dirty="0" smtClean="0"/>
              <a:t>Food and beverage including restaurants,                              cafes, bistros </a:t>
            </a:r>
            <a:endParaRPr lang="en-US" sz="2000" dirty="0" smtClean="0"/>
          </a:p>
          <a:p>
            <a:pPr>
              <a:spcBef>
                <a:spcPts val="600"/>
              </a:spcBef>
              <a:spcAft>
                <a:spcPts val="1200"/>
              </a:spcAft>
            </a:pPr>
            <a:r>
              <a:rPr lang="en-AU" sz="2000" dirty="0" smtClean="0"/>
              <a:t>Medical services</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6" name="Picture 5" descr="shutterstock_61204990.jpg"/>
          <p:cNvPicPr/>
          <p:nvPr/>
        </p:nvPicPr>
        <p:blipFill>
          <a:blip r:embed="rId3" cstate="print"/>
          <a:stretch>
            <a:fillRect/>
          </a:stretch>
        </p:blipFill>
        <p:spPr>
          <a:xfrm>
            <a:off x="6252585" y="4005064"/>
            <a:ext cx="2160240" cy="158417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Amenities and services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Banks and post offices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General safety facilities including fire, </a:t>
            </a:r>
            <a:br>
              <a:rPr lang="en-AU" sz="2200" dirty="0" smtClean="0">
                <a:latin typeface="Helvetica" pitchFamily="34" charset="0"/>
              </a:rPr>
            </a:br>
            <a:r>
              <a:rPr lang="en-AU" sz="2200" dirty="0" smtClean="0">
                <a:latin typeface="Helvetica" pitchFamily="34" charset="0"/>
              </a:rPr>
              <a:t>police emergency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Entertainment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Sporting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Shopping</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7" name="Picture 6" descr="shutterstock_163971791.jpg"/>
          <p:cNvPicPr>
            <a:picLocks noChangeAspect="1"/>
          </p:cNvPicPr>
          <p:nvPr/>
        </p:nvPicPr>
        <p:blipFill>
          <a:blip r:embed="rId3" cstate="print"/>
          <a:stretch>
            <a:fillRect/>
          </a:stretch>
        </p:blipFill>
        <p:spPr>
          <a:xfrm>
            <a:off x="6372199" y="2204864"/>
            <a:ext cx="1873145" cy="2808312"/>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Airlines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Airline or combination of airlines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Airport codes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Airline codes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City codes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Flight numbers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Schedules / timetables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Destinations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Routing </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Generic_Plan and boarding.jpg"/>
          <p:cNvPicPr/>
          <p:nvPr/>
        </p:nvPicPr>
        <p:blipFill>
          <a:blip r:embed="rId3" cstate="print"/>
          <a:stretch>
            <a:fillRect/>
          </a:stretch>
        </p:blipFill>
        <p:spPr>
          <a:xfrm>
            <a:off x="4644008" y="2924944"/>
            <a:ext cx="2088232" cy="2520280"/>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Airlines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Origin and destination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Code share flights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Normal fares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Discounted fares, including infants, children, students, pensioners and groups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Fares for unaccompanied children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Promotional fares and packages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Taxes</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shutterstock_35770534.jpg"/>
          <p:cNvPicPr>
            <a:picLocks noChangeAspect="1"/>
          </p:cNvPicPr>
          <p:nvPr/>
        </p:nvPicPr>
        <p:blipFill>
          <a:blip r:embed="rId3" cstate="print"/>
          <a:stretch>
            <a:fillRect/>
          </a:stretch>
        </p:blipFill>
        <p:spPr>
          <a:xfrm>
            <a:off x="6012160" y="4149079"/>
            <a:ext cx="2403468" cy="1603113"/>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Airlines</a:t>
            </a:r>
            <a:endParaRPr lang="en-US" sz="2000" dirty="0" smtClean="0"/>
          </a:p>
          <a:p>
            <a:pPr lvl="0">
              <a:spcBef>
                <a:spcPts val="600"/>
              </a:spcBef>
              <a:spcAft>
                <a:spcPts val="600"/>
              </a:spcAft>
            </a:pPr>
            <a:r>
              <a:rPr lang="en-AU" sz="2000" dirty="0" smtClean="0"/>
              <a:t>General air travel rules and restrictions</a:t>
            </a:r>
            <a:endParaRPr lang="en-US" sz="2000" dirty="0" smtClean="0"/>
          </a:p>
          <a:p>
            <a:pPr lvl="0">
              <a:spcBef>
                <a:spcPts val="600"/>
              </a:spcBef>
              <a:spcAft>
                <a:spcPts val="600"/>
              </a:spcAft>
            </a:pPr>
            <a:r>
              <a:rPr lang="en-AU" sz="2000" dirty="0" smtClean="0"/>
              <a:t>Class of travel </a:t>
            </a:r>
            <a:endParaRPr lang="en-US" sz="2000" dirty="0" smtClean="0"/>
          </a:p>
          <a:p>
            <a:pPr lvl="0">
              <a:spcBef>
                <a:spcPts val="600"/>
              </a:spcBef>
              <a:spcAft>
                <a:spcPts val="600"/>
              </a:spcAft>
            </a:pPr>
            <a:r>
              <a:rPr lang="en-AU" sz="2000" dirty="0" smtClean="0"/>
              <a:t>Stopovers </a:t>
            </a:r>
            <a:endParaRPr lang="en-US" sz="2000" dirty="0" smtClean="0"/>
          </a:p>
          <a:p>
            <a:pPr lvl="0">
              <a:spcBef>
                <a:spcPts val="600"/>
              </a:spcBef>
              <a:spcAft>
                <a:spcPts val="600"/>
              </a:spcAft>
            </a:pPr>
            <a:r>
              <a:rPr lang="en-AU" sz="2000" dirty="0" smtClean="0"/>
              <a:t>Mileage restrictions allowed</a:t>
            </a:r>
            <a:endParaRPr lang="en-US" sz="2000" dirty="0" smtClean="0"/>
          </a:p>
          <a:p>
            <a:pPr lvl="0">
              <a:spcBef>
                <a:spcPts val="600"/>
              </a:spcBef>
              <a:spcAft>
                <a:spcPts val="600"/>
              </a:spcAft>
            </a:pPr>
            <a:r>
              <a:rPr lang="en-AU" sz="2000" dirty="0" smtClean="0"/>
              <a:t>Minimum and maximum stays </a:t>
            </a:r>
            <a:endParaRPr lang="en-US" sz="2000" dirty="0" smtClean="0"/>
          </a:p>
          <a:p>
            <a:pPr lvl="0">
              <a:spcBef>
                <a:spcPts val="600"/>
              </a:spcBef>
              <a:spcAft>
                <a:spcPts val="600"/>
              </a:spcAft>
            </a:pPr>
            <a:r>
              <a:rPr lang="en-AU" sz="2000" dirty="0" smtClean="0"/>
              <a:t>Ticketing time limit </a:t>
            </a:r>
            <a:endParaRPr lang="en-US" sz="2000" dirty="0" smtClean="0"/>
          </a:p>
          <a:p>
            <a:pPr lvl="0">
              <a:spcBef>
                <a:spcPts val="600"/>
              </a:spcBef>
              <a:spcAft>
                <a:spcPts val="600"/>
              </a:spcAft>
            </a:pPr>
            <a:r>
              <a:rPr lang="en-AU" sz="2000" dirty="0" smtClean="0"/>
              <a:t>Payment conditions </a:t>
            </a: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Lady_man_at airport_174994439.jpg"/>
          <p:cNvPicPr>
            <a:picLocks noChangeAspect="1"/>
          </p:cNvPicPr>
          <p:nvPr/>
        </p:nvPicPr>
        <p:blipFill>
          <a:blip r:embed="rId3" cstate="print"/>
          <a:stretch>
            <a:fillRect/>
          </a:stretch>
        </p:blipFill>
        <p:spPr>
          <a:xfrm>
            <a:off x="6012160" y="3645024"/>
            <a:ext cx="2400266" cy="172819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Car hire</a:t>
            </a:r>
            <a:endParaRPr lang="en-US" sz="2000" dirty="0" smtClean="0"/>
          </a:p>
          <a:p>
            <a:pPr lvl="0">
              <a:spcBef>
                <a:spcPts val="600"/>
              </a:spcBef>
              <a:spcAft>
                <a:spcPts val="600"/>
              </a:spcAft>
            </a:pPr>
            <a:r>
              <a:rPr lang="en-AU" sz="2000" dirty="0" smtClean="0"/>
              <a:t>Company, category, type</a:t>
            </a:r>
            <a:endParaRPr lang="en-US" sz="2000" dirty="0" smtClean="0"/>
          </a:p>
          <a:p>
            <a:pPr lvl="0">
              <a:spcBef>
                <a:spcPts val="600"/>
              </a:spcBef>
              <a:spcAft>
                <a:spcPts val="600"/>
              </a:spcAft>
            </a:pPr>
            <a:r>
              <a:rPr lang="en-AU" sz="2000" dirty="0" smtClean="0"/>
              <a:t>Pick-up and drop-off depots</a:t>
            </a:r>
            <a:endParaRPr lang="en-US" sz="2000" dirty="0" smtClean="0"/>
          </a:p>
          <a:p>
            <a:pPr lvl="0">
              <a:spcBef>
                <a:spcPts val="600"/>
              </a:spcBef>
              <a:spcAft>
                <a:spcPts val="600"/>
              </a:spcAft>
            </a:pPr>
            <a:r>
              <a:rPr lang="en-AU" sz="2000" dirty="0" smtClean="0"/>
              <a:t>Pick-up and drop-off dates and times</a:t>
            </a:r>
            <a:endParaRPr lang="en-US" sz="2000" dirty="0" smtClean="0"/>
          </a:p>
          <a:p>
            <a:pPr lvl="0">
              <a:spcBef>
                <a:spcPts val="600"/>
              </a:spcBef>
              <a:spcAft>
                <a:spcPts val="600"/>
              </a:spcAft>
            </a:pPr>
            <a:r>
              <a:rPr lang="en-AU" sz="2000" dirty="0" smtClean="0"/>
              <a:t>Inclusions and exclusions</a:t>
            </a:r>
            <a:endParaRPr lang="en-US" sz="2000" dirty="0" smtClean="0"/>
          </a:p>
          <a:p>
            <a:pPr lvl="0">
              <a:spcBef>
                <a:spcPts val="600"/>
              </a:spcBef>
              <a:spcAft>
                <a:spcPts val="600"/>
              </a:spcAft>
            </a:pPr>
            <a:r>
              <a:rPr lang="en-AU" sz="2000" dirty="0" smtClean="0"/>
              <a:t>Special requests</a:t>
            </a:r>
            <a:endParaRPr lang="en-US" sz="2000" dirty="0" smtClean="0"/>
          </a:p>
          <a:p>
            <a:pPr lvl="0">
              <a:spcBef>
                <a:spcPts val="600"/>
              </a:spcBef>
              <a:spcAft>
                <a:spcPts val="600"/>
              </a:spcAft>
            </a:pPr>
            <a:r>
              <a:rPr lang="en-AU" sz="2000" dirty="0" smtClean="0"/>
              <a:t>Notes </a:t>
            </a: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MP900427629.JPG"/>
          <p:cNvPicPr/>
          <p:nvPr/>
        </p:nvPicPr>
        <p:blipFill>
          <a:blip r:embed="rId3" cstate="print"/>
          <a:stretch>
            <a:fillRect/>
          </a:stretch>
        </p:blipFill>
        <p:spPr>
          <a:xfrm>
            <a:off x="6300192" y="3212976"/>
            <a:ext cx="2160240" cy="216024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latin typeface="Helvetica" pitchFamily="34" charset="0"/>
              </a:rPr>
              <a:t>Cruises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Name of the ship and voyage number</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Embarkation date, time and port address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Disembarkation date, time and port address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Grade/category and cabin type and number</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Passenger dining preference</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Pre-booked special requirements</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7" name="Picture 6" descr="shutterstock_30589195.jpg"/>
          <p:cNvPicPr/>
          <p:nvPr/>
        </p:nvPicPr>
        <p:blipFill>
          <a:blip r:embed="rId3" cstate="print"/>
          <a:stretch>
            <a:fillRect/>
          </a:stretch>
        </p:blipFill>
        <p:spPr>
          <a:xfrm>
            <a:off x="5940152" y="3861048"/>
            <a:ext cx="2448272" cy="1728192"/>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Transfers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Name of company providing the transfer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Local address and local telephone contact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Type of transfer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Pick-up date, time and location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Drop-off date, location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instructions in relation to transfer</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shutterstock_35970646.jpg"/>
          <p:cNvPicPr>
            <a:picLocks noChangeAspect="1"/>
          </p:cNvPicPr>
          <p:nvPr/>
        </p:nvPicPr>
        <p:blipFill>
          <a:blip r:embed="rId3" cstate="print"/>
          <a:stretch>
            <a:fillRect/>
          </a:stretch>
        </p:blipFill>
        <p:spPr>
          <a:xfrm>
            <a:off x="5940152" y="3933056"/>
            <a:ext cx="2490502" cy="165618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Rail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Pass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Duration and type of pass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Validity dates</a:t>
            </a:r>
          </a:p>
          <a:p>
            <a:pPr lvl="0">
              <a:spcBef>
                <a:spcPts val="600"/>
              </a:spcBef>
              <a:spcAft>
                <a:spcPts val="1200"/>
              </a:spcAft>
              <a:buNone/>
            </a:pPr>
            <a:endParaRPr lang="en-AU"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shutterstock_152766782.jpg"/>
          <p:cNvPicPr/>
          <p:nvPr/>
        </p:nvPicPr>
        <p:blipFill>
          <a:blip r:embed="rId3" cstate="print"/>
          <a:stretch>
            <a:fillRect/>
          </a:stretch>
        </p:blipFill>
        <p:spPr>
          <a:xfrm>
            <a:off x="4644008" y="2132856"/>
            <a:ext cx="2664296" cy="187220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000" b="1" dirty="0" smtClean="0"/>
              <a:t>Sources of travel product and services information</a:t>
            </a:r>
          </a:p>
          <a:p>
            <a:pPr marL="0">
              <a:spcBef>
                <a:spcPts val="600"/>
              </a:spcBef>
              <a:spcAft>
                <a:spcPts val="1200"/>
              </a:spcAft>
            </a:pPr>
            <a:r>
              <a:rPr lang="en-AU" sz="2000" dirty="0" smtClean="0"/>
              <a:t>Brochures/DVDs </a:t>
            </a:r>
          </a:p>
          <a:p>
            <a:pPr>
              <a:spcBef>
                <a:spcPts val="600"/>
              </a:spcBef>
              <a:spcAft>
                <a:spcPts val="1200"/>
              </a:spcAft>
            </a:pPr>
            <a:r>
              <a:rPr lang="en-AU" sz="2000" dirty="0" smtClean="0"/>
              <a:t>Hotel and accommodation guides and indexes</a:t>
            </a:r>
          </a:p>
          <a:p>
            <a:pPr>
              <a:spcBef>
                <a:spcPts val="600"/>
              </a:spcBef>
              <a:spcAft>
                <a:spcPts val="1200"/>
              </a:spcAft>
            </a:pPr>
            <a:r>
              <a:rPr lang="en-AU" sz="2000" dirty="0" smtClean="0"/>
              <a:t>Atlases, maps and encyclopedias </a:t>
            </a:r>
          </a:p>
          <a:p>
            <a:pPr>
              <a:spcBef>
                <a:spcPts val="600"/>
              </a:spcBef>
              <a:spcAft>
                <a:spcPts val="1200"/>
              </a:spcAft>
            </a:pPr>
            <a:r>
              <a:rPr lang="en-AU" sz="2000" dirty="0" smtClean="0"/>
              <a:t>Travel guides </a:t>
            </a:r>
          </a:p>
          <a:p>
            <a:pPr>
              <a:spcBef>
                <a:spcPts val="600"/>
              </a:spcBef>
              <a:spcAft>
                <a:spcPts val="1200"/>
              </a:spcAft>
            </a:pPr>
            <a:r>
              <a:rPr lang="en-AU" sz="2000" dirty="0" smtClean="0"/>
              <a:t>Individual timetables </a:t>
            </a:r>
          </a:p>
          <a:p>
            <a:pPr>
              <a:spcBef>
                <a:spcPts val="600"/>
              </a:spcBef>
              <a:spcAft>
                <a:spcPts val="1200"/>
              </a:spcAft>
            </a:pPr>
            <a:r>
              <a:rPr lang="en-AU" sz="2000" dirty="0" smtClean="0"/>
              <a:t>Automated information systems </a:t>
            </a:r>
          </a:p>
          <a:p>
            <a:pPr>
              <a:spcBef>
                <a:spcPts val="600"/>
              </a:spcBef>
              <a:spcAft>
                <a:spcPts val="1200"/>
              </a:spcAft>
            </a:pPr>
            <a:r>
              <a:rPr lang="en-AU" sz="2000" dirty="0" smtClean="0"/>
              <a:t>Computerised Reservations Systems (CRS)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6152689" y="3717032"/>
            <a:ext cx="2295090" cy="1530825"/>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000" b="1" dirty="0" smtClean="0"/>
              <a:t>Sources of travel product and services information</a:t>
            </a:r>
          </a:p>
          <a:p>
            <a:pPr>
              <a:spcBef>
                <a:spcPts val="600"/>
              </a:spcBef>
              <a:spcAft>
                <a:spcPts val="1200"/>
              </a:spcAft>
            </a:pPr>
            <a:r>
              <a:rPr lang="en-AU" sz="2000" dirty="0" smtClean="0"/>
              <a:t>International airline guides </a:t>
            </a:r>
          </a:p>
          <a:p>
            <a:pPr>
              <a:spcBef>
                <a:spcPts val="600"/>
              </a:spcBef>
              <a:spcAft>
                <a:spcPts val="1200"/>
              </a:spcAft>
            </a:pPr>
            <a:r>
              <a:rPr lang="en-AU" sz="2000" dirty="0" smtClean="0"/>
              <a:t>Travel Trade Yearbook </a:t>
            </a:r>
          </a:p>
          <a:p>
            <a:pPr>
              <a:spcBef>
                <a:spcPts val="600"/>
              </a:spcBef>
              <a:spcAft>
                <a:spcPts val="1200"/>
              </a:spcAft>
            </a:pPr>
            <a:r>
              <a:rPr lang="en-AU" sz="2000" dirty="0" smtClean="0"/>
              <a:t>Travel Information Manual (TIM)</a:t>
            </a:r>
          </a:p>
          <a:p>
            <a:pPr>
              <a:spcBef>
                <a:spcPts val="600"/>
              </a:spcBef>
              <a:spcAft>
                <a:spcPts val="1200"/>
              </a:spcAft>
            </a:pPr>
            <a:r>
              <a:rPr lang="en-AU" sz="2000" dirty="0" smtClean="0"/>
              <a:t>Passenger air tariff </a:t>
            </a:r>
          </a:p>
          <a:p>
            <a:pPr>
              <a:spcBef>
                <a:spcPts val="600"/>
              </a:spcBef>
              <a:spcAft>
                <a:spcPts val="1200"/>
              </a:spcAft>
            </a:pPr>
            <a:r>
              <a:rPr lang="en-AU" sz="2000" dirty="0" smtClean="0"/>
              <a:t>Trade press </a:t>
            </a:r>
          </a:p>
          <a:p>
            <a:pPr>
              <a:spcBef>
                <a:spcPts val="600"/>
              </a:spcBef>
              <a:spcAft>
                <a:spcPts val="1200"/>
              </a:spcAft>
            </a:pPr>
            <a:r>
              <a:rPr lang="en-AU" sz="2000" dirty="0" smtClean="0"/>
              <a:t>General print and electronic media, travel magazines and even news bulletins for current issues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descr="shutterstock_99668000.jpg"/>
          <p:cNvPicPr>
            <a:picLocks noChangeAspect="1"/>
          </p:cNvPicPr>
          <p:nvPr/>
        </p:nvPicPr>
        <p:blipFill>
          <a:blip r:embed="rId3" cstate="print"/>
          <a:stretch>
            <a:fillRect/>
          </a:stretch>
        </p:blipFill>
        <p:spPr>
          <a:xfrm>
            <a:off x="5220072" y="2636912"/>
            <a:ext cx="2273724" cy="1516574"/>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marL="0">
              <a:spcBef>
                <a:spcPts val="600"/>
              </a:spcBef>
              <a:spcAft>
                <a:spcPts val="1200"/>
              </a:spcAft>
              <a:buNone/>
            </a:pPr>
            <a:r>
              <a:rPr lang="en-AU" sz="2000" b="1" dirty="0" smtClean="0"/>
              <a:t>Sources of travel product and services information</a:t>
            </a:r>
          </a:p>
          <a:p>
            <a:pPr>
              <a:spcBef>
                <a:spcPts val="600"/>
              </a:spcBef>
              <a:spcAft>
                <a:spcPts val="1200"/>
              </a:spcAft>
            </a:pPr>
            <a:r>
              <a:rPr lang="en-AU" sz="2000" dirty="0" smtClean="0"/>
              <a:t>Educationals</a:t>
            </a:r>
          </a:p>
          <a:p>
            <a:pPr>
              <a:spcBef>
                <a:spcPts val="600"/>
              </a:spcBef>
              <a:spcAft>
                <a:spcPts val="1200"/>
              </a:spcAft>
            </a:pPr>
            <a:r>
              <a:rPr lang="en-AU" sz="2000" dirty="0" smtClean="0"/>
              <a:t>Product familiarisations</a:t>
            </a:r>
          </a:p>
          <a:p>
            <a:pPr>
              <a:spcBef>
                <a:spcPts val="600"/>
              </a:spcBef>
              <a:spcAft>
                <a:spcPts val="1200"/>
              </a:spcAft>
            </a:pPr>
            <a:r>
              <a:rPr lang="en-AU" sz="2000" dirty="0" smtClean="0"/>
              <a:t>Other organisations in the industry</a:t>
            </a:r>
          </a:p>
          <a:p>
            <a:pPr>
              <a:spcBef>
                <a:spcPts val="600"/>
              </a:spcBef>
              <a:spcAft>
                <a:spcPts val="1200"/>
              </a:spcAft>
            </a:pPr>
            <a:r>
              <a:rPr lang="en-AU" sz="2000" dirty="0" smtClean="0"/>
              <a:t>The internet, travel websites, travel advisor, blogs</a:t>
            </a:r>
          </a:p>
          <a:p>
            <a:pPr>
              <a:spcBef>
                <a:spcPts val="600"/>
              </a:spcBef>
              <a:spcAft>
                <a:spcPts val="1200"/>
              </a:spcAft>
            </a:pPr>
            <a:r>
              <a:rPr lang="en-AU" sz="2000" dirty="0" smtClean="0"/>
              <a:t>Travel companies product launches, travel </a:t>
            </a:r>
            <a:br>
              <a:rPr lang="en-AU" sz="2000" dirty="0" smtClean="0"/>
            </a:br>
            <a:r>
              <a:rPr lang="en-AU" sz="2000" dirty="0" smtClean="0"/>
              <a:t>shows and information nights</a:t>
            </a:r>
          </a:p>
          <a:p>
            <a:pPr>
              <a:spcBef>
                <a:spcPts val="600"/>
              </a:spcBef>
              <a:spcAft>
                <a:spcPts val="1200"/>
              </a:spcAft>
            </a:pPr>
            <a:r>
              <a:rPr lang="en-AU" sz="2000" dirty="0" smtClean="0"/>
              <a:t>Government agencies such as national </a:t>
            </a:r>
            <a:br>
              <a:rPr lang="en-AU" sz="2000" dirty="0" smtClean="0"/>
            </a:br>
            <a:r>
              <a:rPr lang="en-AU" sz="2000" dirty="0" smtClean="0"/>
              <a:t>parks and wildlife services or government </a:t>
            </a:r>
            <a:br>
              <a:rPr lang="en-AU" sz="2000" dirty="0" smtClean="0"/>
            </a:br>
            <a:r>
              <a:rPr lang="en-AU" sz="2000" dirty="0" smtClean="0"/>
              <a:t>tourism offices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shutterstock_72434737.jpg"/>
          <p:cNvPicPr>
            <a:picLocks noChangeAspect="1"/>
          </p:cNvPicPr>
          <p:nvPr/>
        </p:nvPicPr>
        <p:blipFill>
          <a:blip r:embed="rId3" cstate="print"/>
          <a:stretch>
            <a:fillRect/>
          </a:stretch>
        </p:blipFill>
        <p:spPr>
          <a:xfrm>
            <a:off x="6228184" y="4149080"/>
            <a:ext cx="2143095" cy="144016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000" b="1" dirty="0" smtClean="0"/>
              <a:t>Sources of travel product and services information</a:t>
            </a:r>
          </a:p>
          <a:p>
            <a:pPr>
              <a:spcBef>
                <a:spcPts val="600"/>
              </a:spcBef>
              <a:spcAft>
                <a:spcPts val="1200"/>
              </a:spcAft>
            </a:pPr>
            <a:r>
              <a:rPr lang="en-AU" sz="2000" dirty="0" smtClean="0"/>
              <a:t>Intranet Websites</a:t>
            </a:r>
          </a:p>
          <a:p>
            <a:pPr lvl="0">
              <a:spcBef>
                <a:spcPts val="600"/>
              </a:spcBef>
              <a:spcAft>
                <a:spcPts val="1200"/>
              </a:spcAft>
            </a:pPr>
            <a:r>
              <a:rPr lang="en-AU" sz="2000" dirty="0" smtClean="0"/>
              <a:t>Internal information databases</a:t>
            </a:r>
          </a:p>
          <a:p>
            <a:pPr lvl="0">
              <a:spcBef>
                <a:spcPts val="600"/>
              </a:spcBef>
              <a:spcAft>
                <a:spcPts val="1200"/>
              </a:spcAft>
            </a:pPr>
            <a:r>
              <a:rPr lang="en-AU" sz="2000" dirty="0" smtClean="0"/>
              <a:t>Product manuals</a:t>
            </a:r>
          </a:p>
          <a:p>
            <a:pPr lvl="0">
              <a:spcBef>
                <a:spcPts val="600"/>
              </a:spcBef>
              <a:spcAft>
                <a:spcPts val="1200"/>
              </a:spcAft>
            </a:pPr>
            <a:r>
              <a:rPr lang="en-AU" sz="2000" dirty="0" smtClean="0"/>
              <a:t>Supplier information and sales kits and their sales representatives</a:t>
            </a:r>
          </a:p>
          <a:p>
            <a:pPr lvl="0">
              <a:spcBef>
                <a:spcPts val="600"/>
              </a:spcBef>
              <a:spcAft>
                <a:spcPts val="1200"/>
              </a:spcAft>
            </a:pPr>
            <a:r>
              <a:rPr lang="en-AU" sz="2000" dirty="0" smtClean="0"/>
              <a:t>Destination and product experts in                                          wholesale reservation call centres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shutterstock_122942875.jpg"/>
          <p:cNvPicPr>
            <a:picLocks noChangeAspect="1"/>
          </p:cNvPicPr>
          <p:nvPr/>
        </p:nvPicPr>
        <p:blipFill>
          <a:blip r:embed="rId3" cstate="print"/>
          <a:stretch>
            <a:fillRect/>
          </a:stretch>
        </p:blipFill>
        <p:spPr>
          <a:xfrm>
            <a:off x="6328907" y="4293096"/>
            <a:ext cx="2059517" cy="1373698"/>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000" b="1" dirty="0" smtClean="0"/>
              <a:t>Sources of travel product and services information</a:t>
            </a:r>
          </a:p>
          <a:p>
            <a:pPr lvl="0">
              <a:spcBef>
                <a:spcPts val="600"/>
              </a:spcBef>
              <a:spcAft>
                <a:spcPts val="1200"/>
              </a:spcAft>
            </a:pPr>
            <a:r>
              <a:rPr lang="en-AU" sz="2000" dirty="0" smtClean="0"/>
              <a:t>Confidential and general industry tariffs</a:t>
            </a:r>
          </a:p>
          <a:p>
            <a:pPr lvl="0">
              <a:spcBef>
                <a:spcPts val="600"/>
              </a:spcBef>
              <a:spcAft>
                <a:spcPts val="1200"/>
              </a:spcAft>
            </a:pPr>
            <a:r>
              <a:rPr lang="en-AU" sz="2000" dirty="0" smtClean="0"/>
              <a:t>Preferred contracts and/or agreements</a:t>
            </a:r>
          </a:p>
          <a:p>
            <a:pPr lvl="0">
              <a:spcBef>
                <a:spcPts val="600"/>
              </a:spcBef>
              <a:spcAft>
                <a:spcPts val="1200"/>
              </a:spcAft>
            </a:pPr>
            <a:r>
              <a:rPr lang="en-AU" sz="2000" dirty="0" smtClean="0"/>
              <a:t>Official country tourist offices, authorities and bureaus</a:t>
            </a:r>
          </a:p>
          <a:p>
            <a:pPr lvl="0">
              <a:spcBef>
                <a:spcPts val="600"/>
              </a:spcBef>
              <a:spcAft>
                <a:spcPts val="1200"/>
              </a:spcAft>
            </a:pPr>
            <a:r>
              <a:rPr lang="en-AU" sz="2000" dirty="0" smtClean="0"/>
              <a:t>Your own travel experience</a:t>
            </a:r>
          </a:p>
          <a:p>
            <a:pPr lvl="0">
              <a:spcBef>
                <a:spcPts val="600"/>
              </a:spcBef>
              <a:spcAft>
                <a:spcPts val="1200"/>
              </a:spcAft>
            </a:pPr>
            <a:r>
              <a:rPr lang="en-AU" sz="2000" dirty="0" smtClean="0"/>
              <a:t>Colleagues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shutterstock_166468943.jpg"/>
          <p:cNvPicPr>
            <a:picLocks noChangeAspect="1"/>
          </p:cNvPicPr>
          <p:nvPr/>
        </p:nvPicPr>
        <p:blipFill>
          <a:blip r:embed="rId3" cstate="print"/>
          <a:stretch>
            <a:fillRect/>
          </a:stretch>
        </p:blipFill>
        <p:spPr>
          <a:xfrm>
            <a:off x="5916864" y="3861048"/>
            <a:ext cx="2516567" cy="1677958"/>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t>Importance of research</a:t>
            </a:r>
            <a:endParaRPr lang="en-US" sz="2000" dirty="0" smtClean="0"/>
          </a:p>
          <a:p>
            <a:pPr>
              <a:spcBef>
                <a:spcPts val="600"/>
              </a:spcBef>
              <a:spcAft>
                <a:spcPts val="1200"/>
              </a:spcAft>
            </a:pPr>
            <a:r>
              <a:rPr lang="en-AU" sz="2000" dirty="0" smtClean="0"/>
              <a:t>Now that you have identified different tourism businesses that provide tourism products and services that can be included in tourism packages, it is now time to start the research process</a:t>
            </a:r>
            <a:endParaRPr lang="en-US" sz="2000" dirty="0" smtClean="0"/>
          </a:p>
          <a:p>
            <a:pPr>
              <a:spcBef>
                <a:spcPts val="600"/>
              </a:spcBef>
              <a:spcAft>
                <a:spcPts val="1200"/>
              </a:spcAft>
            </a:pPr>
            <a:r>
              <a:rPr lang="en-AU" sz="2000" dirty="0" smtClean="0"/>
              <a:t>The aim of the research process is to collect </a:t>
            </a:r>
            <a:br>
              <a:rPr lang="en-AU" sz="2000" dirty="0" smtClean="0"/>
            </a:br>
            <a:r>
              <a:rPr lang="en-AU" sz="2000" dirty="0" smtClean="0"/>
              <a:t>accurate and relevant information to meet the </a:t>
            </a:r>
            <a:br>
              <a:rPr lang="en-AU" sz="2000" dirty="0" smtClean="0"/>
            </a:br>
            <a:r>
              <a:rPr lang="en-AU" sz="2000" dirty="0" smtClean="0"/>
              <a:t>needs of the client and any requests they </a:t>
            </a:r>
            <a:br>
              <a:rPr lang="en-AU" sz="2000" dirty="0" smtClean="0"/>
            </a:br>
            <a:r>
              <a:rPr lang="en-AU" sz="2000" dirty="0" smtClean="0"/>
              <a:t>have made</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shutterstock_128200763.jpg"/>
          <p:cNvPicPr/>
          <p:nvPr/>
        </p:nvPicPr>
        <p:blipFill rotWithShape="1">
          <a:blip r:embed="rId3" cstate="print"/>
          <a:srcRect l="11611"/>
          <a:stretch/>
        </p:blipFill>
        <p:spPr>
          <a:xfrm>
            <a:off x="6372200" y="3645024"/>
            <a:ext cx="2100343" cy="1800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t>Research considerations</a:t>
            </a:r>
            <a:endParaRPr lang="en-US" sz="2000" dirty="0" smtClean="0"/>
          </a:p>
          <a:p>
            <a:pPr lvl="0">
              <a:spcBef>
                <a:spcPts val="600"/>
              </a:spcBef>
              <a:spcAft>
                <a:spcPts val="1200"/>
              </a:spcAft>
            </a:pPr>
            <a:r>
              <a:rPr lang="en-AU" sz="2000" dirty="0" smtClean="0"/>
              <a:t>The need to identify the research points</a:t>
            </a:r>
            <a:endParaRPr lang="en-US" sz="2000" dirty="0" smtClean="0"/>
          </a:p>
          <a:p>
            <a:pPr lvl="0">
              <a:spcBef>
                <a:spcPts val="600"/>
              </a:spcBef>
              <a:spcAft>
                <a:spcPts val="1200"/>
              </a:spcAft>
            </a:pPr>
            <a:r>
              <a:rPr lang="en-AU" sz="2000" dirty="0" smtClean="0"/>
              <a:t>Collecting primary and secondary data</a:t>
            </a:r>
            <a:endParaRPr lang="en-US" sz="2000" dirty="0" smtClean="0"/>
          </a:p>
          <a:p>
            <a:pPr lvl="0">
              <a:spcBef>
                <a:spcPts val="600"/>
              </a:spcBef>
              <a:spcAft>
                <a:spcPts val="1200"/>
              </a:spcAft>
            </a:pPr>
            <a:r>
              <a:rPr lang="en-AU" sz="2000" dirty="0" smtClean="0"/>
              <a:t>Recollection of personal observations</a:t>
            </a:r>
            <a:endParaRPr lang="en-US" sz="2000" dirty="0" smtClean="0"/>
          </a:p>
          <a:p>
            <a:pPr lvl="0">
              <a:spcBef>
                <a:spcPts val="600"/>
              </a:spcBef>
              <a:spcAft>
                <a:spcPts val="1200"/>
              </a:spcAft>
            </a:pPr>
            <a:r>
              <a:rPr lang="en-AU" sz="2000" dirty="0" smtClean="0"/>
              <a:t>Accessing internal sources of information</a:t>
            </a:r>
            <a:endParaRPr lang="en-US" sz="2000" dirty="0" smtClean="0"/>
          </a:p>
          <a:p>
            <a:pPr lvl="0">
              <a:spcBef>
                <a:spcPts val="600"/>
              </a:spcBef>
              <a:spcAft>
                <a:spcPts val="1200"/>
              </a:spcAft>
            </a:pPr>
            <a:r>
              <a:rPr lang="en-AU" sz="2000" dirty="0" smtClean="0"/>
              <a:t>Gathering feedback from customers</a:t>
            </a:r>
            <a:endParaRPr lang="en-US" sz="2000" dirty="0" smtClean="0"/>
          </a:p>
          <a:p>
            <a:pPr lvl="0">
              <a:spcBef>
                <a:spcPts val="600"/>
              </a:spcBef>
              <a:spcAft>
                <a:spcPts val="1200"/>
              </a:spcAft>
            </a:pPr>
            <a:r>
              <a:rPr lang="en-AU" sz="2000" dirty="0" smtClean="0"/>
              <a:t>Accessing external sources of information</a:t>
            </a:r>
            <a:endParaRPr lang="en-US" sz="2000" dirty="0" smtClean="0"/>
          </a:p>
          <a:p>
            <a:pPr lvl="0">
              <a:spcBef>
                <a:spcPts val="600"/>
              </a:spcBef>
              <a:spcAft>
                <a:spcPts val="1200"/>
              </a:spcAft>
            </a:pPr>
            <a:r>
              <a:rPr lang="en-AU" sz="2000" dirty="0" smtClean="0"/>
              <a:t>Establishing industry networks</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shutterstock_100858450.jpg"/>
          <p:cNvPicPr/>
          <p:nvPr/>
        </p:nvPicPr>
        <p:blipFill>
          <a:blip r:embed="rId3" cstate="print"/>
          <a:stretch>
            <a:fillRect/>
          </a:stretch>
        </p:blipFill>
        <p:spPr>
          <a:xfrm>
            <a:off x="6300192" y="4077072"/>
            <a:ext cx="2088232" cy="1440161"/>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 sources</a:t>
            </a:r>
          </a:p>
        </p:txBody>
      </p:sp>
      <p:sp>
        <p:nvSpPr>
          <p:cNvPr id="3" name="Content Placeholder 2"/>
          <p:cNvSpPr>
            <a:spLocks noGrp="1"/>
          </p:cNvSpPr>
          <p:nvPr>
            <p:ph idx="1"/>
          </p:nvPr>
        </p:nvSpPr>
        <p:spPr>
          <a:xfrm>
            <a:off x="611560" y="1556792"/>
            <a:ext cx="5976664" cy="5301208"/>
          </a:xfrm>
        </p:spPr>
        <p:txBody>
          <a:bodyPr>
            <a:normAutofit/>
          </a:bodyPr>
          <a:lstStyle/>
          <a:p>
            <a:pPr>
              <a:spcBef>
                <a:spcPts val="600"/>
              </a:spcBef>
              <a:spcAft>
                <a:spcPts val="1200"/>
              </a:spcAft>
              <a:buNone/>
            </a:pPr>
            <a:r>
              <a:rPr lang="en-AU" sz="2200" b="1" dirty="0" smtClean="0">
                <a:latin typeface="Helvetica" pitchFamily="34" charset="0"/>
              </a:rPr>
              <a:t>Defining the research topic</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first step is to try to identify exactly where the focus of research and information collection should be concentrated on</a:t>
            </a:r>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6" name="Picture 5" descr="shutterstock_143143042.jpg"/>
          <p:cNvPicPr/>
          <p:nvPr/>
        </p:nvPicPr>
        <p:blipFill>
          <a:blip r:embed="rId3" cstate="print"/>
          <a:stretch>
            <a:fillRect/>
          </a:stretch>
        </p:blipFill>
        <p:spPr>
          <a:xfrm>
            <a:off x="6228184" y="2046389"/>
            <a:ext cx="1872208" cy="2375024"/>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information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Collect primary and secondary data</a:t>
            </a:r>
            <a:endParaRPr lang="en-US" sz="2000" dirty="0" smtClean="0"/>
          </a:p>
          <a:p>
            <a:pPr marL="0">
              <a:spcBef>
                <a:spcPts val="600"/>
              </a:spcBef>
              <a:spcAft>
                <a:spcPts val="1200"/>
              </a:spcAft>
              <a:buNone/>
            </a:pPr>
            <a:r>
              <a:rPr lang="en-AU" sz="2000" dirty="0" smtClean="0"/>
              <a:t>Data is a piece of information that can be collected and interpreted by an organisation for their use.</a:t>
            </a:r>
            <a:endParaRPr lang="en-US" sz="2000" dirty="0" smtClean="0"/>
          </a:p>
          <a:p>
            <a:pPr>
              <a:spcBef>
                <a:spcPts val="600"/>
              </a:spcBef>
              <a:spcAft>
                <a:spcPts val="1200"/>
              </a:spcAft>
              <a:buNone/>
            </a:pPr>
            <a:r>
              <a:rPr lang="en-AU" sz="2000" dirty="0" smtClean="0"/>
              <a:t>The two most common sources of data are:</a:t>
            </a:r>
            <a:endParaRPr lang="en-US" sz="2000" dirty="0" smtClean="0"/>
          </a:p>
          <a:p>
            <a:pPr lvl="0">
              <a:spcBef>
                <a:spcPts val="600"/>
              </a:spcBef>
              <a:spcAft>
                <a:spcPts val="1200"/>
              </a:spcAft>
            </a:pPr>
            <a:r>
              <a:rPr lang="en-AU" sz="2000" dirty="0" smtClean="0"/>
              <a:t>Primary data – collected for a specific purpose</a:t>
            </a:r>
            <a:endParaRPr lang="en-US" sz="2000" dirty="0" smtClean="0"/>
          </a:p>
          <a:p>
            <a:pPr lvl="0">
              <a:spcBef>
                <a:spcPts val="600"/>
              </a:spcBef>
              <a:spcAft>
                <a:spcPts val="1200"/>
              </a:spcAft>
            </a:pPr>
            <a:r>
              <a:rPr lang="en-AU" sz="2000" dirty="0" smtClean="0"/>
              <a:t>Secondary data – generic information</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7" name="Picture 6" descr="shutterstock_98921651.jpg"/>
          <p:cNvPicPr>
            <a:picLocks noChangeAspect="1"/>
          </p:cNvPicPr>
          <p:nvPr/>
        </p:nvPicPr>
        <p:blipFill>
          <a:blip r:embed="rId3" cstate="print"/>
          <a:stretch>
            <a:fillRect/>
          </a:stretch>
        </p:blipFill>
        <p:spPr>
          <a:xfrm>
            <a:off x="6228184" y="4077072"/>
            <a:ext cx="2159160" cy="144016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373216"/>
          </a:xfrm>
        </p:spPr>
        <p:txBody>
          <a:bodyPr>
            <a:normAutofit/>
          </a:bodyPr>
          <a:lstStyle/>
          <a:p>
            <a:pPr>
              <a:spcBef>
                <a:spcPts val="600"/>
              </a:spcBef>
              <a:spcAft>
                <a:spcPts val="1200"/>
              </a:spcAft>
              <a:buNone/>
            </a:pPr>
            <a:r>
              <a:rPr lang="en-AU" sz="2000" b="1" dirty="0" smtClean="0"/>
              <a:t>Primary data</a:t>
            </a:r>
            <a:endParaRPr lang="en-US" sz="2000" dirty="0" smtClean="0"/>
          </a:p>
          <a:p>
            <a:pPr marL="0">
              <a:spcBef>
                <a:spcPts val="600"/>
              </a:spcBef>
              <a:spcAft>
                <a:spcPts val="1200"/>
              </a:spcAft>
              <a:buNone/>
            </a:pPr>
            <a:r>
              <a:rPr lang="en-AU" sz="2000" dirty="0" smtClean="0"/>
              <a:t>Primary research data is newly generated research information that you yourself or the organisation create.</a:t>
            </a:r>
            <a:endParaRPr lang="en-US" sz="2000" dirty="0" smtClean="0"/>
          </a:p>
          <a:p>
            <a:pPr lvl="0">
              <a:spcBef>
                <a:spcPts val="600"/>
              </a:spcBef>
              <a:spcAft>
                <a:spcPts val="1200"/>
              </a:spcAft>
            </a:pPr>
            <a:r>
              <a:rPr lang="en-AU" sz="2000" dirty="0" smtClean="0"/>
              <a:t>Customer surveys</a:t>
            </a:r>
            <a:endParaRPr lang="en-US" sz="2000" dirty="0" smtClean="0"/>
          </a:p>
          <a:p>
            <a:pPr lvl="0">
              <a:spcBef>
                <a:spcPts val="600"/>
              </a:spcBef>
              <a:spcAft>
                <a:spcPts val="1200"/>
              </a:spcAft>
            </a:pPr>
            <a:r>
              <a:rPr lang="en-AU" sz="2000" dirty="0" smtClean="0"/>
              <a:t>In-house questionnaires and feedback sheets</a:t>
            </a:r>
            <a:endParaRPr lang="en-US" sz="2000" dirty="0" smtClean="0"/>
          </a:p>
          <a:p>
            <a:pPr lvl="0">
              <a:spcBef>
                <a:spcPts val="600"/>
              </a:spcBef>
              <a:spcAft>
                <a:spcPts val="1200"/>
              </a:spcAft>
            </a:pPr>
            <a:r>
              <a:rPr lang="en-AU" sz="2000" dirty="0" smtClean="0"/>
              <a:t>Focus groups</a:t>
            </a:r>
            <a:endParaRPr lang="en-US" sz="2000" dirty="0" smtClean="0"/>
          </a:p>
          <a:p>
            <a:pPr lvl="0">
              <a:spcBef>
                <a:spcPts val="600"/>
              </a:spcBef>
              <a:spcAft>
                <a:spcPts val="1200"/>
              </a:spcAft>
            </a:pPr>
            <a:r>
              <a:rPr lang="en-AU" sz="2000" dirty="0" smtClean="0"/>
              <a:t>Electronic responses on the website</a:t>
            </a:r>
            <a:endParaRPr lang="en-US" sz="2000" dirty="0" smtClean="0"/>
          </a:p>
          <a:p>
            <a:pPr lvl="0">
              <a:spcBef>
                <a:spcPts val="600"/>
              </a:spcBef>
              <a:spcAft>
                <a:spcPts val="1200"/>
              </a:spcAft>
            </a:pPr>
            <a:r>
              <a:rPr lang="en-AU" sz="2000" dirty="0" smtClean="0"/>
              <a:t>Observation</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 name="Picture 5" descr="shutterstock_161774252.jpg"/>
          <p:cNvPicPr/>
          <p:nvPr/>
        </p:nvPicPr>
        <p:blipFill>
          <a:blip r:embed="rId3" cstate="print"/>
          <a:stretch>
            <a:fillRect/>
          </a:stretch>
        </p:blipFill>
        <p:spPr>
          <a:xfrm>
            <a:off x="6876256" y="3861048"/>
            <a:ext cx="1494021" cy="1745357"/>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Qualitative or quantitative research</a:t>
            </a:r>
          </a:p>
          <a:p>
            <a:pPr>
              <a:spcBef>
                <a:spcPts val="600"/>
              </a:spcBef>
              <a:spcAft>
                <a:spcPts val="1200"/>
              </a:spcAft>
              <a:buNone/>
            </a:pPr>
            <a:r>
              <a:rPr lang="en-AU" sz="2200" dirty="0" smtClean="0">
                <a:latin typeface="Helvetica" pitchFamily="34" charset="0"/>
              </a:rPr>
              <a:t>Primary data is considered to be either:</a:t>
            </a:r>
          </a:p>
          <a:p>
            <a:pPr>
              <a:spcBef>
                <a:spcPts val="600"/>
              </a:spcBef>
              <a:spcAft>
                <a:spcPts val="1200"/>
              </a:spcAft>
            </a:pPr>
            <a:r>
              <a:rPr lang="en-AU" sz="2200" dirty="0" smtClean="0">
                <a:latin typeface="Helvetica" pitchFamily="34" charset="0"/>
              </a:rPr>
              <a:t>Qualitative research</a:t>
            </a:r>
          </a:p>
          <a:p>
            <a:pPr>
              <a:spcBef>
                <a:spcPts val="600"/>
              </a:spcBef>
              <a:spcAft>
                <a:spcPts val="1200"/>
              </a:spcAft>
            </a:pPr>
            <a:r>
              <a:rPr lang="en-AU" sz="2200" dirty="0" smtClean="0">
                <a:latin typeface="Helvetica" pitchFamily="34" charset="0"/>
              </a:rPr>
              <a:t>Quantitative research</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shutterstock_117432550.jpg"/>
          <p:cNvPicPr/>
          <p:nvPr/>
        </p:nvPicPr>
        <p:blipFill>
          <a:blip r:embed="rId3" cstate="print"/>
          <a:stretch>
            <a:fillRect/>
          </a:stretch>
        </p:blipFill>
        <p:spPr>
          <a:xfrm>
            <a:off x="4572000" y="2708920"/>
            <a:ext cx="2520280" cy="165618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Primary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000" b="1" dirty="0" smtClean="0"/>
              <a:t>Qualitative research </a:t>
            </a:r>
            <a:endParaRPr lang="en-US" sz="2000" dirty="0" smtClean="0"/>
          </a:p>
          <a:p>
            <a:pPr>
              <a:spcBef>
                <a:spcPts val="600"/>
              </a:spcBef>
              <a:spcAft>
                <a:spcPts val="1200"/>
              </a:spcAft>
            </a:pPr>
            <a:r>
              <a:rPr lang="en-AU" sz="2000" dirty="0" smtClean="0"/>
              <a:t>Qualitative research does not look at numbers but tries to find out the reasoning behind certain actions, procedures, activities or ways of thought</a:t>
            </a:r>
            <a:endParaRPr lang="en-US" sz="2000" dirty="0" smtClean="0"/>
          </a:p>
          <a:p>
            <a:pPr>
              <a:spcBef>
                <a:spcPts val="600"/>
              </a:spcBef>
              <a:spcAft>
                <a:spcPts val="1200"/>
              </a:spcAft>
              <a:buNone/>
            </a:pPr>
            <a:r>
              <a:rPr lang="en-AU" sz="2000" b="1" dirty="0" smtClean="0"/>
              <a:t>Quantitative research </a:t>
            </a:r>
            <a:endParaRPr lang="en-US" sz="2000" dirty="0" smtClean="0"/>
          </a:p>
          <a:p>
            <a:pPr>
              <a:spcBef>
                <a:spcPts val="600"/>
              </a:spcBef>
              <a:spcAft>
                <a:spcPts val="1200"/>
              </a:spcAft>
            </a:pPr>
            <a:r>
              <a:rPr lang="en-AU" sz="2000" dirty="0" smtClean="0"/>
              <a:t>Quantitative research is market research, based on structured, closed-ended questionnaires, which aims to gather responses that can be summarised in numbers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6" name="Picture 5" descr="shutterstock_179800145.jpg"/>
          <p:cNvPicPr>
            <a:picLocks noChangeAspect="1"/>
          </p:cNvPicPr>
          <p:nvPr/>
        </p:nvPicPr>
        <p:blipFill>
          <a:blip r:embed="rId3" cstate="print"/>
          <a:stretch>
            <a:fillRect/>
          </a:stretch>
        </p:blipFill>
        <p:spPr>
          <a:xfrm>
            <a:off x="2267744" y="4797152"/>
            <a:ext cx="2160240" cy="14408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secondary data</a:t>
            </a:r>
          </a:p>
          <a:p>
            <a:pPr>
              <a:spcBef>
                <a:spcPts val="600"/>
              </a:spcBef>
              <a:spcAft>
                <a:spcPts val="1200"/>
              </a:spcAft>
              <a:buNone/>
            </a:pPr>
            <a:r>
              <a:rPr lang="en-AU" sz="2200" dirty="0" smtClean="0">
                <a:latin typeface="Helvetica" pitchFamily="34" charset="0"/>
              </a:rPr>
              <a:t>Secondary data is information that already exists. </a:t>
            </a:r>
          </a:p>
          <a:p>
            <a:pPr>
              <a:spcBef>
                <a:spcPts val="600"/>
              </a:spcBef>
              <a:spcAft>
                <a:spcPts val="1200"/>
              </a:spcAft>
              <a:buNone/>
            </a:pPr>
            <a:r>
              <a:rPr lang="en-AU" sz="2200" dirty="0" smtClean="0">
                <a:latin typeface="Helvetica" pitchFamily="34" charset="0"/>
              </a:rPr>
              <a:t>It just needs to be found:</a:t>
            </a:r>
          </a:p>
          <a:p>
            <a:pPr>
              <a:spcBef>
                <a:spcPts val="600"/>
              </a:spcBef>
              <a:spcAft>
                <a:spcPts val="1200"/>
              </a:spcAft>
            </a:pPr>
            <a:r>
              <a:rPr lang="en-AU" sz="2200" dirty="0" smtClean="0">
                <a:latin typeface="Helvetica" pitchFamily="34" charset="0"/>
              </a:rPr>
              <a:t>What are the benefits of secondary data?</a:t>
            </a:r>
          </a:p>
          <a:p>
            <a:pPr>
              <a:spcBef>
                <a:spcPts val="600"/>
              </a:spcBef>
              <a:spcAft>
                <a:spcPts val="1200"/>
              </a:spcAft>
            </a:pPr>
            <a:r>
              <a:rPr lang="en-US" sz="2200" dirty="0" smtClean="0">
                <a:latin typeface="Helvetica" pitchFamily="34" charset="0"/>
              </a:rPr>
              <a:t>What are sources of secondary data?</a:t>
            </a: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descr="W196_meeting_discussion_shutterstock_155875358.jpg"/>
          <p:cNvPicPr>
            <a:picLocks noChangeAspect="1"/>
          </p:cNvPicPr>
          <p:nvPr/>
        </p:nvPicPr>
        <p:blipFill>
          <a:blip r:embed="rId3" cstate="print"/>
          <a:stretch>
            <a:fillRect/>
          </a:stretch>
        </p:blipFill>
        <p:spPr>
          <a:xfrm>
            <a:off x="6444208" y="4149080"/>
            <a:ext cx="1946348" cy="1399424"/>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Types of secondary data</a:t>
            </a:r>
            <a:endParaRPr lang="en-US" sz="2000" b="1" dirty="0" smtClean="0"/>
          </a:p>
          <a:p>
            <a:pPr lvl="0">
              <a:spcBef>
                <a:spcPts val="600"/>
              </a:spcBef>
              <a:spcAft>
                <a:spcPts val="1200"/>
              </a:spcAft>
            </a:pPr>
            <a:r>
              <a:rPr lang="en-US" sz="2000" dirty="0" smtClean="0"/>
              <a:t>Domestic and international visitor statistics on departures, expenditure, visitor nights</a:t>
            </a:r>
          </a:p>
          <a:p>
            <a:pPr lvl="0">
              <a:spcBef>
                <a:spcPts val="600"/>
              </a:spcBef>
              <a:spcAft>
                <a:spcPts val="1200"/>
              </a:spcAft>
            </a:pPr>
            <a:r>
              <a:rPr lang="en-US" sz="2000" dirty="0" smtClean="0"/>
              <a:t>Visitor profiles including tourist origins, volume, purpose of trip, seasonality, accommodation, transport and expenditure</a:t>
            </a:r>
          </a:p>
          <a:p>
            <a:pPr lvl="0">
              <a:spcBef>
                <a:spcPts val="600"/>
              </a:spcBef>
              <a:spcAft>
                <a:spcPts val="1200"/>
              </a:spcAft>
            </a:pPr>
            <a:r>
              <a:rPr lang="en-US" sz="2000" dirty="0" smtClean="0"/>
              <a:t>Industry and government research reports </a:t>
            </a:r>
            <a:br>
              <a:rPr lang="en-US" sz="2000" dirty="0" smtClean="0"/>
            </a:br>
            <a:r>
              <a:rPr lang="en-US" sz="2000" dirty="0" smtClean="0"/>
              <a:t>on industry trends, current development </a:t>
            </a:r>
            <a:br>
              <a:rPr lang="en-US" sz="2000" dirty="0" smtClean="0"/>
            </a:br>
            <a:r>
              <a:rPr lang="en-US" sz="2000" dirty="0" smtClean="0"/>
              <a:t>activity and forecasts of future developments</a:t>
            </a: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5" descr="shutterstock_117432550.jpg"/>
          <p:cNvPicPr/>
          <p:nvPr/>
        </p:nvPicPr>
        <p:blipFill>
          <a:blip r:embed="rId3" cstate="print"/>
          <a:stretch>
            <a:fillRect/>
          </a:stretch>
        </p:blipFill>
        <p:spPr>
          <a:xfrm>
            <a:off x="6588224" y="3861048"/>
            <a:ext cx="1872208" cy="1521118"/>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secondary data</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Client feedback </a:t>
            </a:r>
          </a:p>
          <a:p>
            <a:pPr lvl="0">
              <a:spcBef>
                <a:spcPts val="600"/>
              </a:spcBef>
              <a:spcAft>
                <a:spcPts val="1200"/>
              </a:spcAft>
            </a:pPr>
            <a:r>
              <a:rPr lang="en-US" sz="2200" dirty="0" smtClean="0">
                <a:latin typeface="Helvetica" pitchFamily="34" charset="0"/>
              </a:rPr>
              <a:t>Feasibility studies for new developments or products</a:t>
            </a:r>
          </a:p>
          <a:p>
            <a:pPr lvl="0">
              <a:spcBef>
                <a:spcPts val="600"/>
              </a:spcBef>
              <a:spcAft>
                <a:spcPts val="1200"/>
              </a:spcAft>
            </a:pPr>
            <a:r>
              <a:rPr lang="en-US" sz="2200" dirty="0" smtClean="0">
                <a:latin typeface="Helvetica" pitchFamily="34" charset="0"/>
              </a:rPr>
              <a:t>Responses to surveys, questionnaires on preferences, needs and current tourist activities</a:t>
            </a: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A20 shutterstock_182023328.jpg"/>
          <p:cNvPicPr>
            <a:picLocks noChangeAspect="1"/>
          </p:cNvPicPr>
          <p:nvPr/>
        </p:nvPicPr>
        <p:blipFill>
          <a:blip r:embed="rId3" cstate="print"/>
          <a:stretch>
            <a:fillRect/>
          </a:stretch>
        </p:blipFill>
        <p:spPr>
          <a:xfrm>
            <a:off x="2771800" y="4149080"/>
            <a:ext cx="1944216" cy="1831452"/>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Secondary data</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Sources of secondary data</a:t>
            </a:r>
            <a:endParaRPr lang="en-US" sz="1800" dirty="0" smtClean="0"/>
          </a:p>
          <a:p>
            <a:pPr lvl="0">
              <a:spcBef>
                <a:spcPts val="600"/>
              </a:spcBef>
              <a:spcAft>
                <a:spcPts val="1200"/>
              </a:spcAft>
            </a:pPr>
            <a:r>
              <a:rPr lang="en-AU" sz="1800" dirty="0" smtClean="0"/>
              <a:t>Government statistics</a:t>
            </a:r>
            <a:endParaRPr lang="en-US" sz="1800" dirty="0" smtClean="0"/>
          </a:p>
          <a:p>
            <a:pPr lvl="0">
              <a:spcBef>
                <a:spcPts val="600"/>
              </a:spcBef>
              <a:spcAft>
                <a:spcPts val="1200"/>
              </a:spcAft>
            </a:pPr>
            <a:r>
              <a:rPr lang="en-AU" sz="1800" dirty="0" smtClean="0"/>
              <a:t>Libraries </a:t>
            </a:r>
            <a:endParaRPr lang="en-US" sz="1800" dirty="0" smtClean="0"/>
          </a:p>
          <a:p>
            <a:pPr lvl="0">
              <a:spcBef>
                <a:spcPts val="600"/>
              </a:spcBef>
              <a:spcAft>
                <a:spcPts val="1200"/>
              </a:spcAft>
            </a:pPr>
            <a:r>
              <a:rPr lang="en-AU" sz="1800" dirty="0" smtClean="0"/>
              <a:t>Internet</a:t>
            </a:r>
            <a:endParaRPr lang="en-US" sz="1800" dirty="0" smtClean="0"/>
          </a:p>
          <a:p>
            <a:pPr lvl="0">
              <a:spcBef>
                <a:spcPts val="600"/>
              </a:spcBef>
              <a:spcAft>
                <a:spcPts val="1200"/>
              </a:spcAft>
            </a:pPr>
            <a:r>
              <a:rPr lang="en-AU" sz="1800" dirty="0" smtClean="0"/>
              <a:t>Government websites</a:t>
            </a:r>
            <a:endParaRPr lang="en-US" sz="1800" dirty="0" smtClean="0"/>
          </a:p>
          <a:p>
            <a:pPr lvl="0">
              <a:spcBef>
                <a:spcPts val="600"/>
              </a:spcBef>
              <a:spcAft>
                <a:spcPts val="1200"/>
              </a:spcAft>
            </a:pPr>
            <a:r>
              <a:rPr lang="en-AU" sz="1800" dirty="0" smtClean="0"/>
              <a:t>Private market research firms</a:t>
            </a:r>
            <a:endParaRPr lang="en-US" sz="1800" dirty="0" smtClean="0"/>
          </a:p>
          <a:p>
            <a:pPr lvl="0">
              <a:spcBef>
                <a:spcPts val="600"/>
              </a:spcBef>
              <a:spcAft>
                <a:spcPts val="1200"/>
              </a:spcAft>
            </a:pPr>
            <a:r>
              <a:rPr lang="en-AU" sz="1800" dirty="0" smtClean="0"/>
              <a:t>Trade, professional and business associations</a:t>
            </a:r>
            <a:endParaRPr lang="en-US" sz="1800" dirty="0" smtClean="0"/>
          </a:p>
          <a:p>
            <a:pPr lvl="0">
              <a:spcBef>
                <a:spcPts val="600"/>
              </a:spcBef>
              <a:spcAft>
                <a:spcPts val="1200"/>
              </a:spcAft>
            </a:pPr>
            <a:r>
              <a:rPr lang="en-AU" sz="1800" dirty="0" smtClean="0"/>
              <a:t>Newspapers and magazines</a:t>
            </a:r>
            <a:endParaRPr lang="en-US" sz="1800" dirty="0" smtClean="0"/>
          </a:p>
          <a:p>
            <a:pPr lvl="0">
              <a:spcBef>
                <a:spcPts val="600"/>
              </a:spcBef>
              <a:spcAft>
                <a:spcPts val="1200"/>
              </a:spcAft>
            </a:pPr>
            <a:r>
              <a:rPr lang="en-AU" sz="1800" dirty="0" smtClean="0"/>
              <a:t>Business and industry-specific journals and periodicals</a:t>
            </a: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shutterstock_136866284.jpg"/>
          <p:cNvPicPr/>
          <p:nvPr/>
        </p:nvPicPr>
        <p:blipFill>
          <a:blip r:embed="rId3" cstate="print"/>
          <a:stretch>
            <a:fillRect/>
          </a:stretch>
        </p:blipFill>
        <p:spPr>
          <a:xfrm>
            <a:off x="4355976" y="1988840"/>
            <a:ext cx="1944216" cy="2160240"/>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Observations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000" b="1" dirty="0" smtClean="0"/>
              <a:t>Recollection of personal observations and experiences</a:t>
            </a:r>
            <a:endParaRPr lang="en-US" sz="2000" dirty="0" smtClean="0"/>
          </a:p>
          <a:p>
            <a:pPr lvl="0">
              <a:spcBef>
                <a:spcPts val="600"/>
              </a:spcBef>
              <a:spcAft>
                <a:spcPts val="1200"/>
              </a:spcAft>
            </a:pPr>
            <a:r>
              <a:rPr lang="en-US" sz="2000" dirty="0" smtClean="0"/>
              <a:t>Previous bookings</a:t>
            </a:r>
          </a:p>
          <a:p>
            <a:pPr lvl="0">
              <a:spcBef>
                <a:spcPts val="600"/>
              </a:spcBef>
              <a:spcAft>
                <a:spcPts val="1200"/>
              </a:spcAft>
            </a:pPr>
            <a:r>
              <a:rPr lang="en-US" sz="2000" dirty="0" smtClean="0"/>
              <a:t>Discussions had with previous clients</a:t>
            </a:r>
          </a:p>
          <a:p>
            <a:pPr lvl="0">
              <a:spcBef>
                <a:spcPts val="600"/>
              </a:spcBef>
              <a:spcAft>
                <a:spcPts val="1200"/>
              </a:spcAft>
            </a:pPr>
            <a:r>
              <a:rPr lang="en-US" sz="2000" dirty="0" smtClean="0"/>
              <a:t>Familiarisation tours previously conducted</a:t>
            </a:r>
          </a:p>
          <a:p>
            <a:pPr lvl="0">
              <a:spcBef>
                <a:spcPts val="600"/>
              </a:spcBef>
              <a:spcAft>
                <a:spcPts val="1200"/>
              </a:spcAft>
            </a:pPr>
            <a:r>
              <a:rPr lang="en-US" sz="2000" dirty="0" smtClean="0"/>
              <a:t>Personal notes</a:t>
            </a:r>
          </a:p>
          <a:p>
            <a:pPr lvl="0">
              <a:spcBef>
                <a:spcPts val="600"/>
              </a:spcBef>
              <a:spcAft>
                <a:spcPts val="1200"/>
              </a:spcAft>
            </a:pPr>
            <a:r>
              <a:rPr lang="en-US" sz="2000" dirty="0" smtClean="0"/>
              <a:t>Report and findings</a:t>
            </a:r>
          </a:p>
          <a:p>
            <a:pPr lvl="0">
              <a:spcBef>
                <a:spcPts val="600"/>
              </a:spcBef>
              <a:spcAft>
                <a:spcPts val="1200"/>
              </a:spcAft>
            </a:pPr>
            <a:r>
              <a:rPr lang="en-US" sz="2000" dirty="0" smtClean="0"/>
              <a:t>Log books</a:t>
            </a:r>
          </a:p>
          <a:p>
            <a:pPr lvl="0">
              <a:spcBef>
                <a:spcPts val="600"/>
              </a:spcBef>
              <a:spcAft>
                <a:spcPts val="1200"/>
              </a:spcAft>
            </a:pPr>
            <a:r>
              <a:rPr lang="en-US" sz="2000" dirty="0" smtClean="0"/>
              <a:t>R</a:t>
            </a:r>
            <a:r>
              <a:rPr lang="en-AU" sz="2000" dirty="0" smtClean="0"/>
              <a:t>ecords of interviews</a:t>
            </a:r>
            <a:endParaRPr lang="en-US" sz="2000" dirty="0" smtClean="0"/>
          </a:p>
          <a:p>
            <a:pPr lvl="0">
              <a:spcBef>
                <a:spcPts val="600"/>
              </a:spcBef>
              <a:spcAft>
                <a:spcPts val="1200"/>
              </a:spcAft>
            </a:pPr>
            <a:r>
              <a:rPr lang="en-AU" sz="2000" dirty="0" smtClean="0"/>
              <a:t>Notes of first-hand meetings</a:t>
            </a: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7" name="Picture 6" descr="shutterstock_2953316.jpg"/>
          <p:cNvPicPr/>
          <p:nvPr/>
        </p:nvPicPr>
        <p:blipFill>
          <a:blip r:embed="rId3" cstate="print"/>
          <a:stretch>
            <a:fillRect/>
          </a:stretch>
        </p:blipFill>
        <p:spPr>
          <a:xfrm>
            <a:off x="6569852" y="4221088"/>
            <a:ext cx="1800200" cy="151216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Accessing internal information </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Arrange to receive internal information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Who can you receive information from?</a:t>
            </a:r>
          </a:p>
          <a:p>
            <a:pPr>
              <a:spcBef>
                <a:spcPts val="600"/>
              </a:spcBef>
              <a:spcAft>
                <a:spcPts val="1200"/>
              </a:spcAft>
            </a:pPr>
            <a:r>
              <a:rPr lang="en-US" sz="2200" dirty="0" smtClean="0">
                <a:latin typeface="Helvetica" pitchFamily="34" charset="0"/>
              </a:rPr>
              <a:t>What types of information can you receive?</a:t>
            </a:r>
          </a:p>
          <a:p>
            <a:pPr>
              <a:spcBef>
                <a:spcPts val="600"/>
              </a:spcBef>
              <a:spcAft>
                <a:spcPts val="1200"/>
              </a:spcAft>
            </a:pPr>
            <a:r>
              <a:rPr lang="en-US" sz="2200" dirty="0" smtClean="0">
                <a:latin typeface="Helvetica" pitchFamily="34" charset="0"/>
              </a:rPr>
              <a:t>How can you receive the information?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2483768" y="3995541"/>
            <a:ext cx="2232248" cy="1584176"/>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Accessing internal information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Extract data from internal information sources</a:t>
            </a:r>
          </a:p>
          <a:p>
            <a:pPr marL="0">
              <a:spcBef>
                <a:spcPts val="600"/>
              </a:spcBef>
              <a:spcAft>
                <a:spcPts val="1200"/>
              </a:spcAft>
              <a:buNone/>
            </a:pPr>
            <a:r>
              <a:rPr lang="en-US" sz="2000" dirty="0" smtClean="0"/>
              <a:t>In the majority of cases, tourism product and service information that is required for possible inclusion tourism packages service activities can be obtained through the investigation and extraction of data from internal information systems:</a:t>
            </a:r>
          </a:p>
          <a:p>
            <a:pPr>
              <a:spcBef>
                <a:spcPts val="600"/>
              </a:spcBef>
              <a:spcAft>
                <a:spcPts val="1200"/>
              </a:spcAft>
            </a:pPr>
            <a:r>
              <a:rPr lang="en-AU" sz="2000" dirty="0" smtClean="0"/>
              <a:t>What are examples of internal information sources?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6228184" y="4221088"/>
            <a:ext cx="2160240" cy="1512168"/>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Accessing internal information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Types of internal information sources</a:t>
            </a:r>
            <a:endParaRPr lang="en-US" sz="2000" dirty="0" smtClean="0"/>
          </a:p>
          <a:p>
            <a:pPr lvl="0">
              <a:spcBef>
                <a:spcPts val="600"/>
              </a:spcBef>
              <a:spcAft>
                <a:spcPts val="1200"/>
              </a:spcAft>
            </a:pPr>
            <a:r>
              <a:rPr lang="en-AU" sz="2000" dirty="0" smtClean="0"/>
              <a:t>Customer databases</a:t>
            </a:r>
            <a:endParaRPr lang="en-US" sz="2000" dirty="0" smtClean="0"/>
          </a:p>
          <a:p>
            <a:pPr lvl="0">
              <a:spcBef>
                <a:spcPts val="600"/>
              </a:spcBef>
              <a:spcAft>
                <a:spcPts val="1200"/>
              </a:spcAft>
            </a:pPr>
            <a:r>
              <a:rPr lang="en-AU" sz="2000" dirty="0" smtClean="0"/>
              <a:t>Sales figures and statistics</a:t>
            </a:r>
            <a:endParaRPr lang="en-US" sz="2000" dirty="0" smtClean="0"/>
          </a:p>
          <a:p>
            <a:pPr lvl="0">
              <a:spcBef>
                <a:spcPts val="600"/>
              </a:spcBef>
              <a:spcAft>
                <a:spcPts val="1200"/>
              </a:spcAft>
            </a:pPr>
            <a:r>
              <a:rPr lang="en-AU" sz="2000" dirty="0" smtClean="0"/>
              <a:t>Data from sub-agencies and head office</a:t>
            </a:r>
            <a:endParaRPr lang="en-US" sz="2000" dirty="0" smtClean="0"/>
          </a:p>
          <a:p>
            <a:pPr lvl="0">
              <a:spcBef>
                <a:spcPts val="600"/>
              </a:spcBef>
              <a:spcAft>
                <a:spcPts val="1200"/>
              </a:spcAft>
            </a:pPr>
            <a:r>
              <a:rPr lang="en-AU" sz="2000" dirty="0" smtClean="0"/>
              <a:t>Customer feedback information</a:t>
            </a:r>
            <a:endParaRPr lang="en-US" sz="2000" dirty="0" smtClean="0"/>
          </a:p>
          <a:p>
            <a:pPr lvl="0">
              <a:spcBef>
                <a:spcPts val="600"/>
              </a:spcBef>
              <a:spcAft>
                <a:spcPts val="1200"/>
              </a:spcAft>
            </a:pPr>
            <a:r>
              <a:rPr lang="en-AU" sz="2000" dirty="0" smtClean="0"/>
              <a:t>Automated information systems</a:t>
            </a:r>
            <a:endParaRPr lang="en-US" sz="2000" dirty="0" smtClean="0"/>
          </a:p>
          <a:p>
            <a:pPr lvl="0">
              <a:spcBef>
                <a:spcPts val="600"/>
              </a:spcBef>
              <a:spcAft>
                <a:spcPts val="1200"/>
              </a:spcAft>
            </a:pPr>
            <a:r>
              <a:rPr lang="en-AU" sz="2000" dirty="0" smtClean="0"/>
              <a:t>Computerised reservation systems</a:t>
            </a:r>
            <a:endParaRPr lang="en-US" sz="2000" dirty="0" smtClean="0"/>
          </a:p>
          <a:p>
            <a:pPr lvl="0">
              <a:spcBef>
                <a:spcPts val="600"/>
              </a:spcBef>
              <a:spcAft>
                <a:spcPts val="1200"/>
              </a:spcAft>
            </a:pPr>
            <a:r>
              <a:rPr lang="en-AU" sz="2000" dirty="0" smtClean="0"/>
              <a:t>Products and services inventories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7" name="Picture 6" descr="shutterstock_127785503.jpg"/>
          <p:cNvPicPr>
            <a:picLocks noChangeAspect="1"/>
          </p:cNvPicPr>
          <p:nvPr/>
        </p:nvPicPr>
        <p:blipFill>
          <a:blip r:embed="rId3" cstate="print"/>
          <a:stretch>
            <a:fillRect/>
          </a:stretch>
        </p:blipFill>
        <p:spPr>
          <a:xfrm>
            <a:off x="6267113" y="4102612"/>
            <a:ext cx="2177999" cy="1452145"/>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Feedback from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Gathering information from customers</a:t>
            </a:r>
            <a:endParaRPr lang="en-US" sz="2200" b="1" dirty="0" smtClean="0">
              <a:latin typeface="Helvetica" pitchFamily="34" charset="0"/>
            </a:endParaRPr>
          </a:p>
          <a:p>
            <a:pPr marL="0" lvl="0">
              <a:spcBef>
                <a:spcPts val="600"/>
              </a:spcBef>
              <a:spcAft>
                <a:spcPts val="1200"/>
              </a:spcAft>
              <a:buNone/>
            </a:pPr>
            <a:r>
              <a:rPr lang="en-AU" sz="2200" dirty="0" smtClean="0">
                <a:latin typeface="Helvetica" pitchFamily="34" charset="0"/>
              </a:rPr>
              <a:t>Feedback from other clients who have experienced a specific tourism product or service firsthand can be invaluable in recommending and finding out accurate information.</a:t>
            </a:r>
            <a:endParaRPr lang="en-US" sz="2200" dirty="0" smtClean="0">
              <a:latin typeface="Helvetica" pitchFamily="34" charset="0"/>
            </a:endParaRPr>
          </a:p>
          <a:p>
            <a:pPr lvl="0">
              <a:spcBef>
                <a:spcPts val="600"/>
              </a:spcBef>
              <a:spcAft>
                <a:spcPts val="1200"/>
              </a:spcAft>
              <a:buNone/>
            </a:pPr>
            <a:r>
              <a:rPr lang="en-US" sz="2200" dirty="0" smtClean="0">
                <a:latin typeface="Helvetica" pitchFamily="34" charset="0"/>
              </a:rPr>
              <a:t>How can you gather:</a:t>
            </a:r>
          </a:p>
          <a:p>
            <a:pPr lvl="0">
              <a:spcBef>
                <a:spcPts val="600"/>
              </a:spcBef>
              <a:spcAft>
                <a:spcPts val="1200"/>
              </a:spcAft>
            </a:pPr>
            <a:r>
              <a:rPr lang="en-US" sz="2200" dirty="0" smtClean="0">
                <a:latin typeface="Helvetica" pitchFamily="34" charset="0"/>
              </a:rPr>
              <a:t>Formal feedback</a:t>
            </a:r>
          </a:p>
          <a:p>
            <a:pPr>
              <a:spcBef>
                <a:spcPts val="600"/>
              </a:spcBef>
              <a:spcAft>
                <a:spcPts val="1200"/>
              </a:spcAft>
            </a:pPr>
            <a:r>
              <a:rPr lang="en-AU" sz="2200" dirty="0" smtClean="0">
                <a:latin typeface="Helvetica" pitchFamily="34" charset="0"/>
              </a:rPr>
              <a:t>Informal feedback</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6" name="Picture 5" descr="A22 shutterstock_182450381.jpg"/>
          <p:cNvPicPr/>
          <p:nvPr/>
        </p:nvPicPr>
        <p:blipFill>
          <a:blip r:embed="rId3" cstate="print"/>
          <a:stretch>
            <a:fillRect/>
          </a:stretch>
        </p:blipFill>
        <p:spPr>
          <a:xfrm>
            <a:off x="3923928" y="3861048"/>
            <a:ext cx="2160240" cy="1440160"/>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Accessing external information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latin typeface="Helvetica" pitchFamily="34" charset="0"/>
              </a:rPr>
              <a:t>Arrange to receive external information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Telephoning targeted organisations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Making face-to-face requests of staff that visit their office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Making e-mail requests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Registering to receive information, newsletters and up-dates.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Paying to receive material</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Asking organisations to forward information</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shutterstock_122825338.jpg"/>
          <p:cNvPicPr/>
          <p:nvPr/>
        </p:nvPicPr>
        <p:blipFill>
          <a:blip r:embed="rId3" cstate="print"/>
          <a:stretch>
            <a:fillRect/>
          </a:stretch>
        </p:blipFill>
        <p:spPr>
          <a:xfrm>
            <a:off x="6516216" y="4293096"/>
            <a:ext cx="1872208" cy="1296144"/>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At times you may be required to visit identified sources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This opportunity to gather a first-hand understanding of the source, including key personnel who will be instrumental in sharing information is very beneficial</a:t>
            </a:r>
            <a:endParaRPr lang="en-US" sz="2200" dirty="0" smtClean="0">
              <a:latin typeface="Helvetica" pitchFamily="34" charset="0"/>
            </a:endParaRPr>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7" name="Picture 6" descr="shutterstock_152360924.jpg"/>
          <p:cNvPicPr/>
          <p:nvPr/>
        </p:nvPicPr>
        <p:blipFill>
          <a:blip r:embed="rId3" cstate="print"/>
          <a:stretch>
            <a:fillRect/>
          </a:stretch>
        </p:blipFill>
        <p:spPr>
          <a:xfrm>
            <a:off x="3059832" y="3501008"/>
            <a:ext cx="2232248" cy="1584176"/>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Benefits of visiting identified sources </a:t>
            </a:r>
            <a:endParaRPr lang="en-US" sz="2000" dirty="0" smtClean="0"/>
          </a:p>
          <a:p>
            <a:pPr lvl="0">
              <a:spcBef>
                <a:spcPts val="600"/>
              </a:spcBef>
              <a:spcAft>
                <a:spcPts val="1200"/>
              </a:spcAft>
            </a:pPr>
            <a:r>
              <a:rPr lang="en-AU" sz="2000" dirty="0" smtClean="0"/>
              <a:t>Meet key personnel</a:t>
            </a:r>
            <a:endParaRPr lang="en-US" sz="2000" dirty="0" smtClean="0"/>
          </a:p>
          <a:p>
            <a:pPr lvl="0">
              <a:spcBef>
                <a:spcPts val="600"/>
              </a:spcBef>
              <a:spcAft>
                <a:spcPts val="1200"/>
              </a:spcAft>
            </a:pPr>
            <a:r>
              <a:rPr lang="en-AU" sz="2000" dirty="0" smtClean="0"/>
              <a:t>Talking with personnel to obtain, clarify, update and identify supplementary relevant information</a:t>
            </a:r>
            <a:endParaRPr lang="en-US" sz="2000" dirty="0" smtClean="0"/>
          </a:p>
          <a:p>
            <a:pPr lvl="0">
              <a:spcBef>
                <a:spcPts val="600"/>
              </a:spcBef>
              <a:spcAft>
                <a:spcPts val="1200"/>
              </a:spcAft>
            </a:pPr>
            <a:r>
              <a:rPr lang="en-AU" sz="2000" dirty="0" smtClean="0"/>
              <a:t>Gain an understanding of the operation</a:t>
            </a:r>
            <a:endParaRPr lang="en-US" sz="2000" dirty="0" smtClean="0"/>
          </a:p>
          <a:p>
            <a:pPr lvl="0">
              <a:spcBef>
                <a:spcPts val="600"/>
              </a:spcBef>
              <a:spcAft>
                <a:spcPts val="1200"/>
              </a:spcAft>
            </a:pPr>
            <a:r>
              <a:rPr lang="en-AU" sz="2000" dirty="0" smtClean="0"/>
              <a:t>Viewing operations and making personal observations</a:t>
            </a:r>
            <a:endParaRPr lang="en-US" sz="2000" dirty="0" smtClean="0"/>
          </a:p>
          <a:p>
            <a:pPr lvl="0">
              <a:spcBef>
                <a:spcPts val="600"/>
              </a:spcBef>
              <a:spcAft>
                <a:spcPts val="1200"/>
              </a:spcAft>
            </a:pPr>
            <a:r>
              <a:rPr lang="en-AU" sz="2000" dirty="0" smtClean="0"/>
              <a:t>Clarify and explain your request for information</a:t>
            </a:r>
            <a:endParaRPr lang="en-US" sz="2000" dirty="0" smtClean="0"/>
          </a:p>
          <a:p>
            <a:pPr lvl="0">
              <a:spcBef>
                <a:spcPts val="600"/>
              </a:spcBef>
              <a:spcAft>
                <a:spcPts val="1200"/>
              </a:spcAft>
            </a:pPr>
            <a:r>
              <a:rPr lang="en-AU" sz="2000" dirty="0" smtClean="0"/>
              <a:t>Receive electronic and hard copy files                                        in a user friendly manner</a:t>
            </a: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6" name="Picture 5" descr="shutterstock_128200775.jpg"/>
          <p:cNvPicPr>
            <a:picLocks noChangeAspect="1"/>
          </p:cNvPicPr>
          <p:nvPr/>
        </p:nvPicPr>
        <p:blipFill>
          <a:blip r:embed="rId3" cstate="print"/>
          <a:stretch>
            <a:fillRect/>
          </a:stretch>
        </p:blipFill>
        <p:spPr>
          <a:xfrm>
            <a:off x="6516216" y="4653136"/>
            <a:ext cx="1944215" cy="1296144"/>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Benefits of visiting identified sources </a:t>
            </a:r>
            <a:endParaRPr lang="en-US" sz="2000" dirty="0" smtClean="0"/>
          </a:p>
          <a:p>
            <a:pPr lvl="0">
              <a:spcBef>
                <a:spcPts val="600"/>
              </a:spcBef>
              <a:spcAft>
                <a:spcPts val="1200"/>
              </a:spcAft>
            </a:pPr>
            <a:r>
              <a:rPr lang="en-AU" sz="2000" dirty="0" smtClean="0"/>
              <a:t>Reviewing additional information available at the source</a:t>
            </a:r>
            <a:endParaRPr lang="en-US" sz="2000" dirty="0" smtClean="0"/>
          </a:p>
          <a:p>
            <a:pPr lvl="0">
              <a:spcBef>
                <a:spcPts val="600"/>
              </a:spcBef>
              <a:spcAft>
                <a:spcPts val="1200"/>
              </a:spcAft>
            </a:pPr>
            <a:r>
              <a:rPr lang="en-AU" sz="2000" dirty="0" smtClean="0"/>
              <a:t>Get any questions answered</a:t>
            </a:r>
            <a:endParaRPr lang="en-US" sz="2000" dirty="0" smtClean="0"/>
          </a:p>
          <a:p>
            <a:pPr lvl="0">
              <a:spcBef>
                <a:spcPts val="600"/>
              </a:spcBef>
              <a:spcAft>
                <a:spcPts val="1200"/>
              </a:spcAft>
            </a:pPr>
            <a:r>
              <a:rPr lang="en-AU" sz="2000" dirty="0" smtClean="0"/>
              <a:t>Identify the potential of informational sources that can be utilised at a later date</a:t>
            </a:r>
            <a:endParaRPr lang="en-US" sz="2000" dirty="0" smtClean="0"/>
          </a:p>
          <a:p>
            <a:pPr lvl="0">
              <a:spcBef>
                <a:spcPts val="600"/>
              </a:spcBef>
              <a:spcAft>
                <a:spcPts val="1200"/>
              </a:spcAft>
            </a:pPr>
            <a:r>
              <a:rPr lang="en-AU" sz="2000" dirty="0" smtClean="0"/>
              <a:t>Recording interviews and taking photographs                        or other recorded images</a:t>
            </a: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descr="shutterstock_154527362.jpg"/>
          <p:cNvPicPr>
            <a:picLocks noChangeAspect="1"/>
          </p:cNvPicPr>
          <p:nvPr/>
        </p:nvPicPr>
        <p:blipFill>
          <a:blip r:embed="rId3" cstate="print"/>
          <a:stretch>
            <a:fillRect/>
          </a:stretch>
        </p:blipFill>
        <p:spPr>
          <a:xfrm>
            <a:off x="6372200" y="3645024"/>
            <a:ext cx="1955832" cy="130454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Establishing industry networks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Benefits of visiting identified sources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Developing your own industry network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Networking with industry colleagues</a:t>
            </a:r>
            <a:endParaRPr lang="en-US" sz="2200" dirty="0" smtClean="0">
              <a:latin typeface="Helvetica" pitchFamily="34" charset="0"/>
            </a:endParaRPr>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6" name="Picture 5" descr="shutterstock_142657282.jpg"/>
          <p:cNvPicPr>
            <a:picLocks noChangeAspect="1"/>
          </p:cNvPicPr>
          <p:nvPr/>
        </p:nvPicPr>
        <p:blipFill>
          <a:blip r:embed="rId3" cstate="print"/>
          <a:stretch>
            <a:fillRect/>
          </a:stretch>
        </p:blipFill>
        <p:spPr>
          <a:xfrm>
            <a:off x="2123728" y="3501008"/>
            <a:ext cx="2590992" cy="1728192"/>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Assess practicality of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Assess applicability of identified products and services to proposed packages</a:t>
            </a:r>
            <a:endParaRPr lang="en-AU" sz="2000" dirty="0" smtClean="0">
              <a:latin typeface="Helvetica" pitchFamily="34" charset="0"/>
            </a:endParaRPr>
          </a:p>
          <a:p>
            <a:pPr marL="0" indent="0">
              <a:spcBef>
                <a:spcPts val="600"/>
              </a:spcBef>
              <a:spcAft>
                <a:spcPts val="1200"/>
              </a:spcAft>
              <a:buNone/>
            </a:pPr>
            <a:r>
              <a:rPr lang="en-AU" sz="2000" dirty="0" smtClean="0">
                <a:latin typeface="Helvetica" pitchFamily="34" charset="0"/>
              </a:rPr>
              <a:t>Once you have conducted research and collected a range of possible products and services for inclusion in a tourism package, it is important to assess where they can be included from a practical perspective:</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What needs to be considered                                                 from a ‘practical’ point of view?</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shutterstock_123667309.jpg"/>
          <p:cNvPicPr/>
          <p:nvPr/>
        </p:nvPicPr>
        <p:blipFill>
          <a:blip r:embed="rId3" cstate="print"/>
          <a:stretch>
            <a:fillRect/>
          </a:stretch>
        </p:blipFill>
        <p:spPr>
          <a:xfrm>
            <a:off x="6804248" y="3892593"/>
            <a:ext cx="1600324" cy="1277491"/>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Assess practicality of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Assess applicability of identified products and services to proposed packages</a:t>
            </a:r>
            <a:endParaRPr lang="en-AU" sz="2000" dirty="0" smtClean="0">
              <a:latin typeface="Helvetica" pitchFamily="34" charset="0"/>
            </a:endParaRPr>
          </a:p>
          <a:p>
            <a:pPr>
              <a:spcBef>
                <a:spcPts val="600"/>
              </a:spcBef>
              <a:spcAft>
                <a:spcPts val="1200"/>
              </a:spcAft>
            </a:pPr>
            <a:r>
              <a:rPr lang="en-AU" sz="2000" dirty="0" smtClean="0">
                <a:latin typeface="Helvetica" pitchFamily="34" charset="0"/>
              </a:rPr>
              <a:t>Determining rates, costs, fees, charges, taxes for each package component</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Evaluating availability on a short-term and on-going basis, as required by the nature of the package</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Calculating return on investment, including </a:t>
            </a:r>
            <a:br>
              <a:rPr lang="en-AU" sz="2000" dirty="0" smtClean="0">
                <a:latin typeface="Helvetica" pitchFamily="34" charset="0"/>
              </a:rPr>
            </a:br>
            <a:r>
              <a:rPr lang="en-AU" sz="2000" dirty="0" smtClean="0">
                <a:latin typeface="Helvetica" pitchFamily="34" charset="0"/>
              </a:rPr>
              <a:t>consideration of loss leader implications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shutterstock_132950681.jpg"/>
          <p:cNvPicPr/>
          <p:nvPr/>
        </p:nvPicPr>
        <p:blipFill>
          <a:blip r:embed="rId3" cstate="print"/>
          <a:stretch>
            <a:fillRect/>
          </a:stretch>
        </p:blipFill>
        <p:spPr>
          <a:xfrm>
            <a:off x="6502985" y="3649333"/>
            <a:ext cx="1669415" cy="1419225"/>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Assess practicality of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Assess applicability of identified products and services to proposed packages</a:t>
            </a:r>
            <a:endParaRPr lang="en-AU" sz="2000" dirty="0" smtClean="0">
              <a:latin typeface="Helvetica" pitchFamily="34" charset="0"/>
            </a:endParaRPr>
          </a:p>
          <a:p>
            <a:pPr marL="356616">
              <a:spcBef>
                <a:spcPts val="600"/>
              </a:spcBef>
              <a:spcAft>
                <a:spcPts val="1200"/>
              </a:spcAft>
            </a:pPr>
            <a:r>
              <a:rPr lang="en-AU" sz="2000" dirty="0" smtClean="0">
                <a:latin typeface="Helvetica" pitchFamily="34" charset="0"/>
              </a:rPr>
              <a:t>Assessing compatibility with company image and reputation</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Verifying reputation of products and services, including assessment of client perceptions in relation to potential carriers, suppliers, destinations, products and services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Identifying features and benefits, including                comparisons with similar packages offered </a:t>
            </a:r>
            <a:br>
              <a:rPr lang="en-AU" sz="2000" dirty="0" smtClean="0">
                <a:latin typeface="Helvetica" pitchFamily="34" charset="0"/>
              </a:rPr>
            </a:br>
            <a:r>
              <a:rPr lang="en-AU" sz="2000" dirty="0" smtClean="0">
                <a:latin typeface="Helvetica" pitchFamily="34" charset="0"/>
              </a:rPr>
              <a:t>by competitors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7" name="Picture 6" descr="shutterstock_110078846.jpg"/>
          <p:cNvPicPr/>
          <p:nvPr/>
        </p:nvPicPr>
        <p:blipFill>
          <a:blip r:embed="rId3" cstate="print"/>
          <a:stretch>
            <a:fillRect/>
          </a:stretch>
        </p:blipFill>
        <p:spPr>
          <a:xfrm>
            <a:off x="6804248" y="3982252"/>
            <a:ext cx="1584176" cy="1872208"/>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Assess practicality of products and services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Assess applicability of identified products and services to proposed packages</a:t>
            </a:r>
            <a:endParaRPr lang="en-AU"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Checking match between products/services and identified objectives and client demand/requests for the package</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Determining destination characteristics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Understand local laws and regulations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Cultural considerations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Meeting special needs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8" name="Picture 7" descr="shutterstock_136286858.jpg"/>
          <p:cNvPicPr/>
          <p:nvPr/>
        </p:nvPicPr>
        <p:blipFill>
          <a:blip r:embed="rId3" cstate="print"/>
          <a:stretch>
            <a:fillRect/>
          </a:stretch>
        </p:blipFill>
        <p:spPr>
          <a:xfrm>
            <a:off x="6300192" y="3947476"/>
            <a:ext cx="2160240" cy="1584176"/>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final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Activities associated with selecting products and services</a:t>
            </a:r>
            <a:endParaRPr lang="en-US" sz="1800" dirty="0" smtClean="0"/>
          </a:p>
          <a:p>
            <a:pPr lvl="0">
              <a:spcBef>
                <a:spcPts val="600"/>
              </a:spcBef>
              <a:spcAft>
                <a:spcPts val="1200"/>
              </a:spcAft>
            </a:pPr>
            <a:r>
              <a:rPr lang="en-AU" sz="1800" dirty="0" smtClean="0"/>
              <a:t>Identify list of final products and services</a:t>
            </a:r>
            <a:endParaRPr lang="en-US" sz="1800" dirty="0" smtClean="0"/>
          </a:p>
          <a:p>
            <a:pPr lvl="0">
              <a:spcBef>
                <a:spcPts val="600"/>
              </a:spcBef>
              <a:spcAft>
                <a:spcPts val="1200"/>
              </a:spcAft>
            </a:pPr>
            <a:r>
              <a:rPr lang="en-AU" sz="1800" dirty="0" smtClean="0"/>
              <a:t>Identify suitable suppliers</a:t>
            </a:r>
            <a:endParaRPr lang="en-US" sz="1800" dirty="0" smtClean="0"/>
          </a:p>
          <a:p>
            <a:pPr lvl="0">
              <a:spcBef>
                <a:spcPts val="600"/>
              </a:spcBef>
              <a:spcAft>
                <a:spcPts val="1200"/>
              </a:spcAft>
            </a:pPr>
            <a:r>
              <a:rPr lang="en-AU" sz="1800" dirty="0" smtClean="0"/>
              <a:t>Aligning with identified objectives</a:t>
            </a:r>
            <a:endParaRPr lang="en-US" sz="1800" dirty="0" smtClean="0"/>
          </a:p>
          <a:p>
            <a:pPr lvl="0">
              <a:spcBef>
                <a:spcPts val="600"/>
              </a:spcBef>
              <a:spcAft>
                <a:spcPts val="1200"/>
              </a:spcAft>
            </a:pPr>
            <a:r>
              <a:rPr lang="en-AU" sz="1800" dirty="0" smtClean="0"/>
              <a:t>Complying with client requirements </a:t>
            </a:r>
            <a:endParaRPr lang="en-US" sz="1800" dirty="0" smtClean="0"/>
          </a:p>
          <a:p>
            <a:pPr lvl="0">
              <a:spcBef>
                <a:spcPts val="600"/>
              </a:spcBef>
              <a:spcAft>
                <a:spcPts val="1200"/>
              </a:spcAft>
            </a:pPr>
            <a:r>
              <a:rPr lang="en-AU" sz="1800" dirty="0" smtClean="0"/>
              <a:t>Ensuring availability of products and services</a:t>
            </a:r>
            <a:endParaRPr lang="en-US" sz="1800" dirty="0" smtClean="0"/>
          </a:p>
          <a:p>
            <a:pPr lvl="0">
              <a:spcBef>
                <a:spcPts val="600"/>
              </a:spcBef>
              <a:spcAft>
                <a:spcPts val="1200"/>
              </a:spcAft>
            </a:pPr>
            <a:r>
              <a:rPr lang="en-AU" sz="1800" dirty="0" smtClean="0"/>
              <a:t>Negotiating agreements with suppliers,                           carriers and providers </a:t>
            </a:r>
            <a:endParaRPr lang="en-US" sz="1800" dirty="0" smtClean="0"/>
          </a:p>
          <a:p>
            <a:pPr lvl="0">
              <a:spcBef>
                <a:spcPts val="600"/>
              </a:spcBef>
              <a:spcAft>
                <a:spcPts val="1200"/>
              </a:spcAft>
            </a:pPr>
            <a:r>
              <a:rPr lang="en-AU" sz="1800" dirty="0" smtClean="0"/>
              <a:t>Organise supply of components and, </a:t>
            </a:r>
            <a:br>
              <a:rPr lang="en-AU" sz="1800" dirty="0" smtClean="0"/>
            </a:br>
            <a:r>
              <a:rPr lang="en-AU" sz="1800" dirty="0" smtClean="0"/>
              <a:t>where required, confirm agreements in writing</a:t>
            </a:r>
            <a:endParaRPr lang="en-US"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7" name="Picture 6" descr="shutterstock_48918724.jpg"/>
          <p:cNvPicPr/>
          <p:nvPr/>
        </p:nvPicPr>
        <p:blipFill>
          <a:blip r:embed="rId3" cstate="print"/>
          <a:stretch>
            <a:fillRect/>
          </a:stretch>
        </p:blipFill>
        <p:spPr>
          <a:xfrm>
            <a:off x="6412834" y="4149080"/>
            <a:ext cx="2016224" cy="1584176"/>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final products and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Activities associated with selecting products and services</a:t>
            </a:r>
            <a:endParaRPr lang="en-US" sz="2000" dirty="0" smtClean="0"/>
          </a:p>
          <a:p>
            <a:pPr lvl="0">
              <a:spcBef>
                <a:spcPts val="600"/>
              </a:spcBef>
              <a:spcAft>
                <a:spcPts val="1200"/>
              </a:spcAft>
            </a:pPr>
            <a:r>
              <a:rPr lang="en-AU" sz="2000" dirty="0" smtClean="0"/>
              <a:t>Ensure specific inclusion descriptions and cancellation policies are confirmed with the supplier</a:t>
            </a:r>
            <a:endParaRPr lang="en-US" sz="2000" dirty="0" smtClean="0"/>
          </a:p>
          <a:p>
            <a:pPr lvl="0">
              <a:spcBef>
                <a:spcPts val="600"/>
              </a:spcBef>
              <a:spcAft>
                <a:spcPts val="1200"/>
              </a:spcAft>
            </a:pPr>
            <a:r>
              <a:rPr lang="en-AU" sz="2000" dirty="0" smtClean="0"/>
              <a:t>Check and incorporate legal requirements for offering and promoting packages</a:t>
            </a:r>
            <a:endParaRPr lang="en-US" sz="2000" dirty="0" smtClean="0"/>
          </a:p>
          <a:p>
            <a:pPr lvl="0">
              <a:spcBef>
                <a:spcPts val="600"/>
              </a:spcBef>
              <a:spcAft>
                <a:spcPts val="1200"/>
              </a:spcAft>
            </a:pPr>
            <a:r>
              <a:rPr lang="en-AU" sz="2000" dirty="0" smtClean="0"/>
              <a:t>Present pricing structures to clearly indicate all inclusions and exclusions and add-ons</a:t>
            </a:r>
            <a:endParaRPr lang="en-US" sz="2000" dirty="0" smtClean="0"/>
          </a:p>
          <a:p>
            <a:pPr lvl="0">
              <a:spcBef>
                <a:spcPts val="600"/>
              </a:spcBef>
              <a:spcAft>
                <a:spcPts val="1200"/>
              </a:spcAft>
            </a:pPr>
            <a:r>
              <a:rPr lang="en-AU" sz="2000" dirty="0" smtClean="0"/>
              <a:t>Finalise and confirm details in writing</a:t>
            </a:r>
            <a:endParaRPr lang="en-US" sz="2000" dirty="0" smtClean="0"/>
          </a:p>
          <a:p>
            <a:pPr lvl="0">
              <a:spcBef>
                <a:spcPts val="600"/>
              </a:spcBef>
              <a:spcAft>
                <a:spcPts val="1200"/>
              </a:spcAft>
            </a:pPr>
            <a:r>
              <a:rPr lang="en-AU" sz="2000" dirty="0" smtClean="0"/>
              <a:t>Ensuring value and potential saleability</a:t>
            </a:r>
            <a:endParaRPr lang="en-US" sz="2000" dirty="0" smtClean="0"/>
          </a:p>
          <a:p>
            <a:endParaRPr lang="en-US"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shutterstock_84019831.jpg"/>
          <p:cNvPicPr/>
          <p:nvPr/>
        </p:nvPicPr>
        <p:blipFill>
          <a:blip r:embed="rId3" cstate="print"/>
          <a:stretch>
            <a:fillRect/>
          </a:stretch>
        </p:blipFill>
        <p:spPr>
          <a:xfrm>
            <a:off x="6228184" y="4437112"/>
            <a:ext cx="2160240" cy="1350095"/>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types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88821" y="1484784"/>
            <a:ext cx="7467600" cy="4824536"/>
          </a:xfrm>
        </p:spPr>
        <p:txBody>
          <a:bodyPr>
            <a:normAutofit/>
          </a:bodyPr>
          <a:lstStyle/>
          <a:p>
            <a:pPr>
              <a:spcBef>
                <a:spcPts val="600"/>
              </a:spcBef>
              <a:spcAft>
                <a:spcPts val="1200"/>
              </a:spcAft>
              <a:buNone/>
            </a:pPr>
            <a:r>
              <a:rPr lang="en-AU" sz="1800" b="1" dirty="0" smtClean="0"/>
              <a:t>Types of suppliers</a:t>
            </a:r>
            <a:endParaRPr lang="en-AU" sz="1800" dirty="0" smtClean="0"/>
          </a:p>
          <a:p>
            <a:pPr lvl="0">
              <a:spcBef>
                <a:spcPts val="600"/>
              </a:spcBef>
              <a:spcAft>
                <a:spcPts val="1200"/>
              </a:spcAft>
            </a:pPr>
            <a:r>
              <a:rPr lang="en-AU" sz="1800" dirty="0" smtClean="0"/>
              <a:t>Principals/suppliers</a:t>
            </a:r>
          </a:p>
          <a:p>
            <a:pPr lvl="0">
              <a:spcBef>
                <a:spcPts val="600"/>
              </a:spcBef>
              <a:spcAft>
                <a:spcPts val="1200"/>
              </a:spcAft>
            </a:pPr>
            <a:r>
              <a:rPr lang="en-AU" sz="1800" dirty="0" smtClean="0"/>
              <a:t>Wholesalers/ tour operator </a:t>
            </a:r>
          </a:p>
          <a:p>
            <a:pPr lvl="0">
              <a:spcBef>
                <a:spcPts val="600"/>
              </a:spcBef>
              <a:spcAft>
                <a:spcPts val="1200"/>
              </a:spcAft>
            </a:pPr>
            <a:r>
              <a:rPr lang="en-AU" sz="1800" dirty="0" smtClean="0"/>
              <a:t>Inbound tour operators </a:t>
            </a:r>
          </a:p>
          <a:p>
            <a:pPr lvl="0">
              <a:spcBef>
                <a:spcPts val="600"/>
              </a:spcBef>
              <a:spcAft>
                <a:spcPts val="1200"/>
              </a:spcAft>
            </a:pPr>
            <a:r>
              <a:rPr lang="en-AU" sz="1800" dirty="0" smtClean="0"/>
              <a:t>Airlines, coach companies and rail</a:t>
            </a:r>
          </a:p>
          <a:p>
            <a:pPr lvl="0">
              <a:spcBef>
                <a:spcPts val="600"/>
              </a:spcBef>
              <a:spcAft>
                <a:spcPts val="1200"/>
              </a:spcAft>
            </a:pPr>
            <a:r>
              <a:rPr lang="en-AU" sz="1800" dirty="0" smtClean="0"/>
              <a:t>Retail agents </a:t>
            </a:r>
          </a:p>
          <a:p>
            <a:pPr lvl="0">
              <a:spcBef>
                <a:spcPts val="600"/>
              </a:spcBef>
              <a:spcAft>
                <a:spcPts val="1200"/>
              </a:spcAft>
            </a:pPr>
            <a:r>
              <a:rPr lang="en-AU" sz="1800" dirty="0" smtClean="0"/>
              <a:t>Ticket consolidators</a:t>
            </a:r>
          </a:p>
          <a:p>
            <a:pPr lvl="0">
              <a:spcBef>
                <a:spcPts val="600"/>
              </a:spcBef>
              <a:spcAft>
                <a:spcPts val="1200"/>
              </a:spcAft>
            </a:pPr>
            <a:r>
              <a:rPr lang="en-AU" sz="1800" dirty="0" smtClean="0"/>
              <a:t>State and regional tourism authorities</a:t>
            </a:r>
          </a:p>
          <a:p>
            <a:pPr lvl="0">
              <a:spcBef>
                <a:spcPts val="600"/>
              </a:spcBef>
              <a:spcAft>
                <a:spcPts val="1200"/>
              </a:spcAft>
            </a:pPr>
            <a:r>
              <a:rPr lang="en-AU" sz="1800" dirty="0" smtClean="0"/>
              <a:t>Conference, event and incentive companies</a:t>
            </a:r>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 name="Picture 5" descr="shutterstock_57319615.jpg"/>
          <p:cNvPicPr/>
          <p:nvPr/>
        </p:nvPicPr>
        <p:blipFill>
          <a:blip r:embed="rId3" cstate="print"/>
          <a:stretch>
            <a:fillRect/>
          </a:stretch>
        </p:blipFill>
        <p:spPr>
          <a:xfrm>
            <a:off x="5580112" y="2636912"/>
            <a:ext cx="2160240" cy="1728192"/>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Existing agreements with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Consider existing agreements and preferred suppliers</a:t>
            </a:r>
            <a:endParaRPr lang="en-AU" sz="2000" dirty="0" smtClean="0"/>
          </a:p>
          <a:p>
            <a:pPr>
              <a:spcBef>
                <a:spcPts val="600"/>
              </a:spcBef>
              <a:spcAft>
                <a:spcPts val="1200"/>
              </a:spcAft>
            </a:pPr>
            <a:r>
              <a:rPr lang="en-AU" sz="2000" dirty="0" smtClean="0"/>
              <a:t>A preferred agreement is a formal commercial agreement between a supplier and a travel agent which facilitates the payment of extra commission and other benefits by the supplier to the travel agent in exchange for the travel agents agreement to sell the suppliers product</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descr="shutterstock_84545446.jpg"/>
          <p:cNvPicPr/>
          <p:nvPr/>
        </p:nvPicPr>
        <p:blipFill>
          <a:blip r:embed="rId3" cstate="print"/>
          <a:stretch>
            <a:fillRect/>
          </a:stretch>
        </p:blipFill>
        <p:spPr>
          <a:xfrm>
            <a:off x="3131840" y="4005064"/>
            <a:ext cx="2376264" cy="1579336"/>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a:spcBef>
                <a:spcPts val="600"/>
              </a:spcBef>
              <a:spcAft>
                <a:spcPts val="1200"/>
              </a:spcAft>
              <a:buNone/>
            </a:pPr>
            <a:r>
              <a:rPr lang="en-AU" sz="2000" b="1" dirty="0" smtClean="0"/>
              <a:t>Identify role of suppliers</a:t>
            </a:r>
            <a:endParaRPr lang="en-AU" sz="2000" dirty="0" smtClean="0"/>
          </a:p>
          <a:p>
            <a:pPr lvl="0">
              <a:spcBef>
                <a:spcPts val="600"/>
              </a:spcBef>
              <a:spcAft>
                <a:spcPts val="1200"/>
              </a:spcAft>
            </a:pPr>
            <a:r>
              <a:rPr lang="en-AU" sz="2000" dirty="0" smtClean="0"/>
              <a:t>Selling destinations you need</a:t>
            </a:r>
          </a:p>
          <a:p>
            <a:pPr lvl="0">
              <a:spcBef>
                <a:spcPts val="600"/>
              </a:spcBef>
              <a:spcAft>
                <a:spcPts val="1200"/>
              </a:spcAft>
            </a:pPr>
            <a:r>
              <a:rPr lang="en-AU" sz="2000" dirty="0" smtClean="0"/>
              <a:t>Selling transport you require </a:t>
            </a:r>
          </a:p>
          <a:p>
            <a:pPr lvl="0">
              <a:spcBef>
                <a:spcPts val="600"/>
              </a:spcBef>
              <a:spcAft>
                <a:spcPts val="1200"/>
              </a:spcAft>
            </a:pPr>
            <a:r>
              <a:rPr lang="en-AU" sz="2000" dirty="0" smtClean="0"/>
              <a:t>Selling accommodation style you require </a:t>
            </a:r>
          </a:p>
          <a:p>
            <a:pPr lvl="0">
              <a:spcBef>
                <a:spcPts val="600"/>
              </a:spcBef>
              <a:spcAft>
                <a:spcPts val="1200"/>
              </a:spcAft>
            </a:pPr>
            <a:r>
              <a:rPr lang="en-AU" sz="2000" dirty="0" smtClean="0"/>
              <a:t>Selling the appropriate level of comfort and                            inclusions your client needs</a:t>
            </a:r>
          </a:p>
          <a:p>
            <a:pPr lvl="0">
              <a:spcBef>
                <a:spcPts val="600"/>
              </a:spcBef>
              <a:spcAft>
                <a:spcPts val="1200"/>
              </a:spcAft>
            </a:pPr>
            <a:r>
              <a:rPr lang="en-AU" sz="2000" dirty="0" smtClean="0"/>
              <a:t>Having competitive prices and offering                              value for money for your client</a:t>
            </a:r>
          </a:p>
          <a:p>
            <a:pPr>
              <a:spcBef>
                <a:spcPts val="600"/>
              </a:spcBef>
              <a:spcAft>
                <a:spcPts val="1200"/>
              </a:spcAft>
              <a:buNone/>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descr="shutterstock_79128547.jpg"/>
          <p:cNvPicPr/>
          <p:nvPr/>
        </p:nvPicPr>
        <p:blipFill>
          <a:blip r:embed="rId3" cstate="print"/>
          <a:stretch>
            <a:fillRect/>
          </a:stretch>
        </p:blipFill>
        <p:spPr>
          <a:xfrm>
            <a:off x="6948264" y="3573016"/>
            <a:ext cx="1512168" cy="2016224"/>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Identify role of suppliers</a:t>
            </a:r>
            <a:endParaRPr lang="en-AU" sz="2000" dirty="0" smtClean="0"/>
          </a:p>
          <a:p>
            <a:pPr lvl="0">
              <a:spcBef>
                <a:spcPts val="600"/>
              </a:spcBef>
              <a:spcAft>
                <a:spcPts val="1200"/>
              </a:spcAft>
            </a:pPr>
            <a:r>
              <a:rPr lang="en-AU" sz="2000" dirty="0" smtClean="0"/>
              <a:t>Having a reputation for reliability, efficiency and easy payment</a:t>
            </a:r>
          </a:p>
          <a:p>
            <a:pPr lvl="0">
              <a:spcBef>
                <a:spcPts val="600"/>
              </a:spcBef>
              <a:spcAft>
                <a:spcPts val="1200"/>
              </a:spcAft>
            </a:pPr>
            <a:r>
              <a:rPr lang="en-AU" sz="2000" dirty="0" smtClean="0"/>
              <a:t>Provide quality documentation</a:t>
            </a:r>
          </a:p>
          <a:p>
            <a:pPr lvl="0">
              <a:spcBef>
                <a:spcPts val="600"/>
              </a:spcBef>
              <a:spcAft>
                <a:spcPts val="1200"/>
              </a:spcAft>
            </a:pPr>
            <a:r>
              <a:rPr lang="en-AU" sz="2000" dirty="0" smtClean="0"/>
              <a:t>Employ helpful and knowledgeable staff</a:t>
            </a:r>
          </a:p>
          <a:p>
            <a:pPr lvl="0">
              <a:spcBef>
                <a:spcPts val="600"/>
              </a:spcBef>
              <a:spcAft>
                <a:spcPts val="1200"/>
              </a:spcAft>
            </a:pPr>
            <a:r>
              <a:rPr lang="en-AU" sz="2000" dirty="0" smtClean="0"/>
              <a:t>Pay competitive agent commission</a:t>
            </a:r>
          </a:p>
          <a:p>
            <a:pPr lvl="0">
              <a:spcBef>
                <a:spcPts val="600"/>
              </a:spcBef>
              <a:spcAft>
                <a:spcPts val="1200"/>
              </a:spcAft>
            </a:pPr>
            <a:r>
              <a:rPr lang="en-AU" sz="2000" dirty="0" smtClean="0"/>
              <a:t>Have local representation</a:t>
            </a:r>
          </a:p>
          <a:p>
            <a:pPr>
              <a:spcBef>
                <a:spcPts val="600"/>
              </a:spcBef>
              <a:spcAft>
                <a:spcPts val="1200"/>
              </a:spcAft>
              <a:buNone/>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descr="W342_discussion_shutterstock_158161781.jpg"/>
          <p:cNvPicPr>
            <a:picLocks noChangeAspect="1"/>
          </p:cNvPicPr>
          <p:nvPr/>
        </p:nvPicPr>
        <p:blipFill>
          <a:blip r:embed="rId3" cstate="print"/>
          <a:stretch>
            <a:fillRect/>
          </a:stretch>
        </p:blipFill>
        <p:spPr>
          <a:xfrm>
            <a:off x="6228184" y="4077072"/>
            <a:ext cx="2166621" cy="1445136"/>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Identifying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Activities in identifying appropriate suppliers</a:t>
            </a:r>
            <a:endParaRPr lang="en-AU" sz="2000" dirty="0" smtClean="0"/>
          </a:p>
          <a:p>
            <a:pPr lvl="0">
              <a:spcBef>
                <a:spcPts val="600"/>
              </a:spcBef>
              <a:spcAft>
                <a:spcPts val="1200"/>
              </a:spcAft>
            </a:pPr>
            <a:r>
              <a:rPr lang="en-AU" sz="2000" dirty="0" smtClean="0"/>
              <a:t>Identifying client requirements in terms of products and services</a:t>
            </a:r>
          </a:p>
          <a:p>
            <a:pPr lvl="0">
              <a:spcBef>
                <a:spcPts val="600"/>
              </a:spcBef>
              <a:spcAft>
                <a:spcPts val="1200"/>
              </a:spcAft>
            </a:pPr>
            <a:r>
              <a:rPr lang="en-AU" sz="2000" dirty="0" smtClean="0"/>
              <a:t>Collecting information as to whom provides these products and services</a:t>
            </a:r>
          </a:p>
          <a:p>
            <a:pPr lvl="0">
              <a:spcBef>
                <a:spcPts val="600"/>
              </a:spcBef>
              <a:spcAft>
                <a:spcPts val="1200"/>
              </a:spcAft>
            </a:pPr>
            <a:r>
              <a:rPr lang="en-AU" sz="2000" dirty="0" smtClean="0"/>
              <a:t>Identifying suitable suppliers</a:t>
            </a:r>
          </a:p>
          <a:p>
            <a:pPr lvl="0">
              <a:spcBef>
                <a:spcPts val="600"/>
              </a:spcBef>
              <a:spcAft>
                <a:spcPts val="1200"/>
              </a:spcAft>
            </a:pPr>
            <a:r>
              <a:rPr lang="en-AU" sz="2000" dirty="0" smtClean="0"/>
              <a:t>Assessing alternatives against the identified </a:t>
            </a:r>
            <a:br>
              <a:rPr lang="en-AU" sz="2000" dirty="0" smtClean="0"/>
            </a:br>
            <a:r>
              <a:rPr lang="en-AU" sz="2000" dirty="0" smtClean="0"/>
              <a:t>requirements for the quotation</a:t>
            </a:r>
          </a:p>
          <a:p>
            <a:pPr>
              <a:spcBef>
                <a:spcPts val="600"/>
              </a:spcBef>
              <a:spcAft>
                <a:spcPts val="1200"/>
              </a:spcAft>
              <a:buNone/>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descr="Best Tour_129392636.jpg"/>
          <p:cNvPicPr/>
          <p:nvPr/>
        </p:nvPicPr>
        <p:blipFill>
          <a:blip r:embed="rId3" cstate="print"/>
          <a:stretch>
            <a:fillRect/>
          </a:stretch>
        </p:blipFill>
        <p:spPr>
          <a:xfrm>
            <a:off x="6516216" y="3356992"/>
            <a:ext cx="1759074" cy="1654299"/>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Identifying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lnSpcReduction="10000"/>
          </a:bodyPr>
          <a:lstStyle/>
          <a:p>
            <a:pPr>
              <a:spcBef>
                <a:spcPts val="600"/>
              </a:spcBef>
              <a:spcAft>
                <a:spcPts val="1200"/>
              </a:spcAft>
              <a:buNone/>
            </a:pPr>
            <a:r>
              <a:rPr lang="en-AU" sz="1800" b="1" dirty="0" smtClean="0"/>
              <a:t>Activities in identifying appropriate suppliers</a:t>
            </a:r>
            <a:endParaRPr lang="en-AU" sz="1800" dirty="0" smtClean="0"/>
          </a:p>
          <a:p>
            <a:pPr lvl="0">
              <a:spcBef>
                <a:spcPts val="600"/>
              </a:spcBef>
              <a:spcAft>
                <a:spcPts val="1200"/>
              </a:spcAft>
            </a:pPr>
            <a:r>
              <a:rPr lang="en-AU" sz="1800" dirty="0" smtClean="0"/>
              <a:t>Evaluating the alternatives against the given criteria for the quotation</a:t>
            </a:r>
          </a:p>
          <a:p>
            <a:pPr lvl="0">
              <a:spcBef>
                <a:spcPts val="600"/>
              </a:spcBef>
              <a:spcAft>
                <a:spcPts val="1200"/>
              </a:spcAft>
            </a:pPr>
            <a:r>
              <a:rPr lang="en-AU" sz="1800" dirty="0" smtClean="0"/>
              <a:t>Accommodating host enterprise requirements in relation to the use of preferred suppliers, providers and carriers</a:t>
            </a:r>
          </a:p>
          <a:p>
            <a:pPr lvl="0">
              <a:spcBef>
                <a:spcPts val="600"/>
              </a:spcBef>
              <a:spcAft>
                <a:spcPts val="1200"/>
              </a:spcAft>
            </a:pPr>
            <a:r>
              <a:rPr lang="en-AU" sz="1800" dirty="0" smtClean="0"/>
              <a:t>Aligning with established client preferences and individual client market research data/feedback</a:t>
            </a:r>
          </a:p>
          <a:p>
            <a:pPr lvl="0">
              <a:spcBef>
                <a:spcPts val="600"/>
              </a:spcBef>
              <a:spcAft>
                <a:spcPts val="1200"/>
              </a:spcAft>
            </a:pPr>
            <a:r>
              <a:rPr lang="en-AU" sz="1800" dirty="0" smtClean="0"/>
              <a:t>Determine and select suppliers, providers and </a:t>
            </a:r>
            <a:br>
              <a:rPr lang="en-AU" sz="1800" dirty="0" smtClean="0"/>
            </a:br>
            <a:r>
              <a:rPr lang="en-AU" sz="1800" dirty="0" smtClean="0"/>
              <a:t>carriers to be provided as options to the client</a:t>
            </a:r>
          </a:p>
          <a:p>
            <a:pPr lvl="0">
              <a:spcBef>
                <a:spcPts val="600"/>
              </a:spcBef>
              <a:spcAft>
                <a:spcPts val="1200"/>
              </a:spcAft>
            </a:pPr>
            <a:endParaRPr lang="en-AU" sz="1800" dirty="0"/>
          </a:p>
          <a:p>
            <a:pPr lvl="0">
              <a:spcBef>
                <a:spcPts val="600"/>
              </a:spcBef>
              <a:spcAft>
                <a:spcPts val="1200"/>
              </a:spcAft>
            </a:pPr>
            <a:endParaRPr lang="en-AU" sz="1800" dirty="0" smtClean="0"/>
          </a:p>
          <a:p>
            <a:pPr>
              <a:spcBef>
                <a:spcPts val="600"/>
              </a:spcBef>
              <a:spcAft>
                <a:spcPts val="1200"/>
              </a:spcAft>
              <a:buNone/>
            </a:pPr>
            <a:r>
              <a:rPr lang="en-AU" sz="1800" b="1" i="1" dirty="0" smtClean="0">
                <a:solidFill>
                  <a:srgbClr val="FF6600"/>
                </a:solidFill>
              </a:rPr>
              <a:t>COMPLETE ACTIVITY 9</a:t>
            </a:r>
          </a:p>
          <a:p>
            <a:pPr lvl="0">
              <a:spcBef>
                <a:spcPts val="600"/>
              </a:spcBef>
              <a:spcAft>
                <a:spcPts val="1200"/>
              </a:spcAft>
            </a:pPr>
            <a:endParaRPr lang="en-AU" sz="1800" dirty="0" smtClean="0"/>
          </a:p>
          <a:p>
            <a:pPr>
              <a:buNone/>
            </a:pPr>
            <a:endParaRPr lang="en-AU" sz="1800" dirty="0" smtClean="0"/>
          </a:p>
          <a:p>
            <a:pPr>
              <a:spcBef>
                <a:spcPts val="600"/>
              </a:spcBef>
              <a:spcAft>
                <a:spcPts val="1200"/>
              </a:spcAft>
              <a:buNone/>
            </a:pPr>
            <a:endParaRPr lang="en-AU"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descr="W284_tourguide_shutterstock_157035503.jpg"/>
          <p:cNvPicPr>
            <a:picLocks noChangeAspect="1"/>
          </p:cNvPicPr>
          <p:nvPr/>
        </p:nvPicPr>
        <p:blipFill>
          <a:blip r:embed="rId3" cstate="print"/>
          <a:stretch>
            <a:fillRect/>
          </a:stretch>
        </p:blipFill>
        <p:spPr>
          <a:xfrm>
            <a:off x="6372200" y="4189327"/>
            <a:ext cx="2051202" cy="1368152"/>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AU" sz="4000" b="1" i="1" dirty="0">
                <a:solidFill>
                  <a:srgbClr val="FF6600"/>
                </a:solidFill>
              </a:rPr>
              <a:t>Create packages of products and services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5" name="Picture 4" descr="Air plan flight itinerary map_148488614.jpg"/>
          <p:cNvPicPr>
            <a:picLocks noChangeAspect="1"/>
          </p:cNvPicPr>
          <p:nvPr/>
        </p:nvPicPr>
        <p:blipFill>
          <a:blip r:embed="rId3" cstate="print"/>
          <a:stretch>
            <a:fillRect/>
          </a:stretch>
        </p:blipFill>
        <p:spPr>
          <a:xfrm>
            <a:off x="2627784" y="3827582"/>
            <a:ext cx="2592288" cy="1729056"/>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AU" sz="3400" b="1" dirty="0" smtClean="0">
                <a:solidFill>
                  <a:srgbClr val="FF6600"/>
                </a:solidFill>
                <a:latin typeface="Helvetica" pitchFamily="34" charset="0"/>
              </a:rPr>
              <a:t>Create packages of products and services</a:t>
            </a:r>
          </a:p>
        </p:txBody>
      </p:sp>
      <p:sp>
        <p:nvSpPr>
          <p:cNvPr id="3" name="Content Placeholder 2"/>
          <p:cNvSpPr>
            <a:spLocks noGrp="1"/>
          </p:cNvSpPr>
          <p:nvPr>
            <p:ph idx="1"/>
          </p:nvPr>
        </p:nvSpPr>
        <p:spPr>
          <a:xfrm>
            <a:off x="611560" y="1700808"/>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pre-planning requirements for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Determine components</a:t>
            </a:r>
            <a:r>
              <a:rPr lang="en-AU" sz="2200" b="1" dirty="0" smtClean="0">
                <a:latin typeface="Helvetica" pitchFamily="34" charset="0"/>
              </a:rPr>
              <a:t> </a:t>
            </a:r>
            <a:r>
              <a:rPr lang="en-AU" sz="2200" dirty="0" smtClean="0">
                <a:latin typeface="Helvetica" pitchFamily="34" charset="0"/>
              </a:rPr>
              <a:t>of individual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Determine duration for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Calculate price points</a:t>
            </a:r>
            <a:r>
              <a:rPr lang="en-AU" sz="2200" b="1" dirty="0" smtClean="0">
                <a:latin typeface="Helvetica" pitchFamily="34" charset="0"/>
              </a:rPr>
              <a:t> </a:t>
            </a:r>
            <a:r>
              <a:rPr lang="en-AU" sz="2200" dirty="0" smtClean="0">
                <a:latin typeface="Helvetica" pitchFamily="34" charset="0"/>
              </a:rPr>
              <a:t>for packages </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descr="Happy Smile_171862868.jpg"/>
          <p:cNvPicPr>
            <a:picLocks noChangeAspect="1"/>
          </p:cNvPicPr>
          <p:nvPr/>
        </p:nvPicPr>
        <p:blipFill>
          <a:blip r:embed="rId3" cstate="print"/>
          <a:stretch>
            <a:fillRect/>
          </a:stretch>
        </p:blipFill>
        <p:spPr>
          <a:xfrm>
            <a:off x="6156176" y="4041545"/>
            <a:ext cx="2244080" cy="1496801"/>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AU" sz="3400" b="1" dirty="0" smtClean="0">
                <a:solidFill>
                  <a:srgbClr val="FF6600"/>
                </a:solidFill>
                <a:latin typeface="Helvetica" pitchFamily="34" charset="0"/>
              </a:rPr>
              <a:t>Create packages of products and services</a:t>
            </a:r>
          </a:p>
        </p:txBody>
      </p:sp>
      <p:sp>
        <p:nvSpPr>
          <p:cNvPr id="3" name="Content Placeholder 2"/>
          <p:cNvSpPr>
            <a:spLocks noGrp="1"/>
          </p:cNvSpPr>
          <p:nvPr>
            <p:ph idx="1"/>
          </p:nvPr>
        </p:nvSpPr>
        <p:spPr>
          <a:xfrm>
            <a:off x="611560" y="1700808"/>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Develop terms and conditions</a:t>
            </a:r>
            <a:r>
              <a:rPr lang="en-AU" sz="2200" b="1" dirty="0" smtClean="0">
                <a:latin typeface="Helvetica" pitchFamily="34" charset="0"/>
              </a:rPr>
              <a:t> </a:t>
            </a:r>
            <a:r>
              <a:rPr lang="en-AU" sz="2200" dirty="0" smtClean="0">
                <a:latin typeface="Helvetica" pitchFamily="34" charset="0"/>
              </a:rPr>
              <a:t>for the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Prepare draft itinerary for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Prepare sales monitoring arrangements</a:t>
            </a:r>
            <a:r>
              <a:rPr lang="en-AU" sz="2200" b="1" dirty="0" smtClean="0">
                <a:latin typeface="Helvetica" pitchFamily="34" charset="0"/>
              </a:rPr>
              <a:t> </a:t>
            </a:r>
            <a:r>
              <a:rPr lang="en-AU" sz="2200" dirty="0" smtClean="0">
                <a:latin typeface="Helvetica" pitchFamily="34" charset="0"/>
              </a:rPr>
              <a:t>for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Plan marketing activities</a:t>
            </a:r>
            <a:r>
              <a:rPr lang="en-AU" sz="2200" b="1" dirty="0" smtClean="0">
                <a:latin typeface="Helvetica" pitchFamily="34" charset="0"/>
              </a:rPr>
              <a:t> </a:t>
            </a:r>
            <a:r>
              <a:rPr lang="en-AU" sz="2200" dirty="0" smtClean="0">
                <a:latin typeface="Helvetica" pitchFamily="34" charset="0"/>
              </a:rPr>
              <a:t>for packages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descr="W164_holiday_icon_sydneyharbourbridge_shutterstock_153649130.jpg"/>
          <p:cNvPicPr>
            <a:picLocks noChangeAspect="1"/>
          </p:cNvPicPr>
          <p:nvPr/>
        </p:nvPicPr>
        <p:blipFill>
          <a:blip r:embed="rId3" cstate="print"/>
          <a:stretch>
            <a:fillRect/>
          </a:stretch>
        </p:blipFill>
        <p:spPr>
          <a:xfrm>
            <a:off x="6184087" y="4043428"/>
            <a:ext cx="2299239" cy="1584176"/>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Pre-planning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000" b="1" dirty="0" smtClean="0"/>
              <a:t>Importance of pre-planning </a:t>
            </a:r>
          </a:p>
          <a:p>
            <a:pPr marL="0">
              <a:spcBef>
                <a:spcPts val="600"/>
              </a:spcBef>
              <a:spcAft>
                <a:spcPts val="1200"/>
              </a:spcAft>
              <a:buNone/>
            </a:pPr>
            <a:r>
              <a:rPr lang="en-AU" sz="2000" dirty="0" smtClean="0"/>
              <a:t>As seen in previous sections, there are a number of considerations that must be taken into account before the final tourism products and services for a package have </a:t>
            </a:r>
            <a:br>
              <a:rPr lang="en-AU" sz="2000" dirty="0" smtClean="0"/>
            </a:br>
            <a:r>
              <a:rPr lang="en-AU" sz="2000" dirty="0" smtClean="0"/>
              <a:t>been selected</a:t>
            </a:r>
            <a:r>
              <a:rPr lang="en-AU" sz="2000" dirty="0"/>
              <a:t>:</a:t>
            </a:r>
            <a:endParaRPr lang="en-AU" sz="2000" dirty="0" smtClean="0"/>
          </a:p>
          <a:p>
            <a:pPr>
              <a:spcBef>
                <a:spcPts val="600"/>
              </a:spcBef>
              <a:spcAft>
                <a:spcPts val="1200"/>
              </a:spcAft>
            </a:pPr>
            <a:r>
              <a:rPr lang="en-AU" sz="2000" dirty="0" smtClean="0"/>
              <a:t>What needs to be planned when </a:t>
            </a:r>
            <a:br>
              <a:rPr lang="en-AU" sz="2000" dirty="0" smtClean="0"/>
            </a:br>
            <a:r>
              <a:rPr lang="en-AU" sz="2000" dirty="0" smtClean="0"/>
              <a:t>constructing packages?</a:t>
            </a:r>
          </a:p>
          <a:p>
            <a:pPr>
              <a:spcBef>
                <a:spcPts val="600"/>
              </a:spcBef>
              <a:spcAft>
                <a:spcPts val="1200"/>
              </a:spcAft>
            </a:pPr>
            <a:r>
              <a:rPr lang="en-AU" sz="2000" dirty="0" smtClean="0"/>
              <a:t>How should this information be recorded?</a:t>
            </a: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6" name="Picture 5" descr="Asian girl with world on hand_34766518.jpg"/>
          <p:cNvPicPr/>
          <p:nvPr/>
        </p:nvPicPr>
        <p:blipFill>
          <a:blip r:embed="rId3" cstate="print"/>
          <a:stretch>
            <a:fillRect/>
          </a:stretch>
        </p:blipFill>
        <p:spPr>
          <a:xfrm>
            <a:off x="6804248" y="2852936"/>
            <a:ext cx="1440160" cy="2016224"/>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Pre-planning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Importance of pre-planning </a:t>
            </a:r>
          </a:p>
          <a:p>
            <a:pPr marL="0">
              <a:spcBef>
                <a:spcPts val="600"/>
              </a:spcBef>
              <a:spcAft>
                <a:spcPts val="1200"/>
              </a:spcAft>
              <a:buNone/>
            </a:pPr>
            <a:r>
              <a:rPr lang="en-AU" sz="2200" dirty="0" smtClean="0">
                <a:latin typeface="Helvetica" pitchFamily="34" charset="0"/>
              </a:rPr>
              <a:t>This section will focus on how to gather and record product information gathered for the inclusion in packages. </a:t>
            </a:r>
          </a:p>
          <a:p>
            <a:pPr marL="0">
              <a:spcBef>
                <a:spcPts val="600"/>
              </a:spcBef>
              <a:spcAft>
                <a:spcPts val="1200"/>
              </a:spcAft>
              <a:buNone/>
            </a:pPr>
            <a:r>
              <a:rPr lang="en-AU" sz="2200" dirty="0" smtClean="0">
                <a:latin typeface="Helvetica" pitchFamily="34" charset="0"/>
              </a:rPr>
              <a:t>Information relating to final travel packages are </a:t>
            </a:r>
            <a:br>
              <a:rPr lang="en-AU" sz="2200" dirty="0" smtClean="0">
                <a:latin typeface="Helvetica" pitchFamily="34" charset="0"/>
              </a:rPr>
            </a:br>
            <a:r>
              <a:rPr lang="en-AU" sz="2200" dirty="0" smtClean="0">
                <a:latin typeface="Helvetica" pitchFamily="34" charset="0"/>
              </a:rPr>
              <a:t>often given to clients to help them decide </a:t>
            </a:r>
            <a:br>
              <a:rPr lang="en-AU" sz="2200" dirty="0" smtClean="0">
                <a:latin typeface="Helvetica" pitchFamily="34" charset="0"/>
              </a:rPr>
            </a:br>
            <a:r>
              <a:rPr lang="en-AU" sz="2200" dirty="0" smtClean="0">
                <a:latin typeface="Helvetica" pitchFamily="34" charset="0"/>
              </a:rPr>
              <a:t>suitable travel arrangements in the form of: </a:t>
            </a:r>
          </a:p>
          <a:p>
            <a:pPr>
              <a:spcBef>
                <a:spcPts val="600"/>
              </a:spcBef>
              <a:spcAft>
                <a:spcPts val="1200"/>
              </a:spcAft>
            </a:pPr>
            <a:r>
              <a:rPr lang="en-AU" sz="2200" dirty="0" smtClean="0">
                <a:latin typeface="Helvetica" pitchFamily="34" charset="0"/>
              </a:rPr>
              <a:t>Quotations</a:t>
            </a:r>
          </a:p>
          <a:p>
            <a:pPr>
              <a:spcBef>
                <a:spcPts val="600"/>
              </a:spcBef>
              <a:spcAft>
                <a:spcPts val="1200"/>
              </a:spcAft>
            </a:pPr>
            <a:r>
              <a:rPr lang="en-AU" sz="2200" dirty="0" smtClean="0">
                <a:latin typeface="Helvetica" pitchFamily="34" charset="0"/>
              </a:rPr>
              <a:t>Itineraries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descr="shutterstock_161774252.jpg"/>
          <p:cNvPicPr/>
          <p:nvPr/>
        </p:nvPicPr>
        <p:blipFill>
          <a:blip r:embed="rId3" cstate="print"/>
          <a:stretch>
            <a:fillRect/>
          </a:stretch>
        </p:blipFill>
        <p:spPr>
          <a:xfrm>
            <a:off x="6841473" y="3068960"/>
            <a:ext cx="1440160" cy="1944216"/>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Recording packaging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Purpose of having recording methods</a:t>
            </a:r>
          </a:p>
          <a:p>
            <a:pPr marL="0">
              <a:spcBef>
                <a:spcPts val="600"/>
              </a:spcBef>
              <a:spcAft>
                <a:spcPts val="1200"/>
              </a:spcAft>
              <a:buNone/>
            </a:pPr>
            <a:r>
              <a:rPr lang="en-AU" sz="2200" dirty="0" smtClean="0">
                <a:latin typeface="Helvetica" pitchFamily="34" charset="0"/>
              </a:rPr>
              <a:t>Most travel agencies will use a combination recording system to record:</a:t>
            </a:r>
          </a:p>
          <a:p>
            <a:pPr lvl="0">
              <a:spcBef>
                <a:spcPts val="600"/>
              </a:spcBef>
              <a:spcAft>
                <a:spcPts val="1200"/>
              </a:spcAft>
            </a:pPr>
            <a:r>
              <a:rPr lang="en-AU" sz="2200" dirty="0" smtClean="0">
                <a:latin typeface="Helvetica" pitchFamily="34" charset="0"/>
              </a:rPr>
              <a:t>Customer detail</a:t>
            </a:r>
          </a:p>
          <a:p>
            <a:pPr lvl="0">
              <a:spcBef>
                <a:spcPts val="600"/>
              </a:spcBef>
              <a:spcAft>
                <a:spcPts val="1200"/>
              </a:spcAft>
            </a:pPr>
            <a:r>
              <a:rPr lang="en-AU" sz="2200" dirty="0" smtClean="0">
                <a:latin typeface="Helvetica" pitchFamily="34" charset="0"/>
              </a:rPr>
              <a:t>Supplier quotations</a:t>
            </a:r>
          </a:p>
          <a:p>
            <a:pPr lvl="0">
              <a:spcBef>
                <a:spcPts val="600"/>
              </a:spcBef>
              <a:spcAft>
                <a:spcPts val="1200"/>
              </a:spcAft>
            </a:pPr>
            <a:r>
              <a:rPr lang="en-AU" sz="2200" dirty="0" smtClean="0">
                <a:latin typeface="Helvetica" pitchFamily="34" charset="0"/>
              </a:rPr>
              <a:t>Travel agency quotations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4" descr="A8 shutterstock_149513465.jpg"/>
          <p:cNvPicPr>
            <a:picLocks noChangeAspect="1"/>
          </p:cNvPicPr>
          <p:nvPr/>
        </p:nvPicPr>
        <p:blipFill>
          <a:blip r:embed="rId3" cstate="print"/>
          <a:stretch>
            <a:fillRect/>
          </a:stretch>
        </p:blipFill>
        <p:spPr>
          <a:xfrm>
            <a:off x="5976156" y="3933056"/>
            <a:ext cx="2376264" cy="1603978"/>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Recording packaging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Recording method considerations</a:t>
            </a:r>
          </a:p>
          <a:p>
            <a:pPr lvl="0">
              <a:spcBef>
                <a:spcPts val="600"/>
              </a:spcBef>
              <a:spcAft>
                <a:spcPts val="1200"/>
              </a:spcAft>
            </a:pPr>
            <a:r>
              <a:rPr lang="en-AU" sz="2200" dirty="0" smtClean="0">
                <a:latin typeface="Helvetica" pitchFamily="34" charset="0"/>
              </a:rPr>
              <a:t>Customer requirements</a:t>
            </a:r>
          </a:p>
          <a:p>
            <a:pPr lvl="0">
              <a:spcBef>
                <a:spcPts val="600"/>
              </a:spcBef>
              <a:spcAft>
                <a:spcPts val="1200"/>
              </a:spcAft>
            </a:pPr>
            <a:r>
              <a:rPr lang="en-AU" sz="2200" dirty="0" smtClean="0">
                <a:latin typeface="Helvetica" pitchFamily="34" charset="0"/>
              </a:rPr>
              <a:t>Information sourced to date</a:t>
            </a:r>
          </a:p>
          <a:p>
            <a:pPr lvl="0">
              <a:spcBef>
                <a:spcPts val="600"/>
              </a:spcBef>
              <a:spcAft>
                <a:spcPts val="1200"/>
              </a:spcAft>
            </a:pPr>
            <a:r>
              <a:rPr lang="en-AU" sz="2200" dirty="0" smtClean="0">
                <a:latin typeface="Helvetica" pitchFamily="34" charset="0"/>
              </a:rPr>
              <a:t>Information provided to customers to date</a:t>
            </a:r>
          </a:p>
          <a:p>
            <a:pPr lvl="0">
              <a:spcBef>
                <a:spcPts val="600"/>
              </a:spcBef>
              <a:spcAft>
                <a:spcPts val="1200"/>
              </a:spcAft>
            </a:pPr>
            <a:r>
              <a:rPr lang="en-AU" sz="2200" dirty="0" smtClean="0">
                <a:latin typeface="Helvetica" pitchFamily="34" charset="0"/>
              </a:rPr>
              <a:t>Communication discussions taken </a:t>
            </a:r>
            <a:br>
              <a:rPr lang="en-AU" sz="2200" dirty="0" smtClean="0">
                <a:latin typeface="Helvetica" pitchFamily="34" charset="0"/>
              </a:rPr>
            </a:br>
            <a:r>
              <a:rPr lang="en-AU" sz="2200" dirty="0" smtClean="0">
                <a:latin typeface="Helvetica" pitchFamily="34" charset="0"/>
              </a:rPr>
              <a:t>place to date</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b="1" i="1" dirty="0" smtClean="0">
                <a:solidFill>
                  <a:srgbClr val="FF6600"/>
                </a:solidFill>
              </a:rPr>
              <a:t>COMPLETE ACTIVITY 10</a:t>
            </a:r>
          </a:p>
          <a:p>
            <a:pPr lvl="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4" descr="Asian girl with world on hand_34766518.jpg"/>
          <p:cNvPicPr/>
          <p:nvPr/>
        </p:nvPicPr>
        <p:blipFill>
          <a:blip r:embed="rId3" cstate="print"/>
          <a:stretch>
            <a:fillRect/>
          </a:stretch>
        </p:blipFill>
        <p:spPr>
          <a:xfrm>
            <a:off x="6516216" y="2060848"/>
            <a:ext cx="1584176" cy="2232248"/>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package components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Types of considerations</a:t>
            </a:r>
          </a:p>
          <a:p>
            <a:pPr>
              <a:spcBef>
                <a:spcPts val="600"/>
              </a:spcBef>
              <a:spcAft>
                <a:spcPts val="1200"/>
              </a:spcAft>
            </a:pPr>
            <a:r>
              <a:rPr lang="en-AU" sz="2200" dirty="0" smtClean="0">
                <a:latin typeface="Helvetica" pitchFamily="34" charset="0"/>
              </a:rPr>
              <a:t>Preferences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Budget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Time constraints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 name="Picture 5" descr="shutterstock_139623188.jpg"/>
          <p:cNvPicPr/>
          <p:nvPr/>
        </p:nvPicPr>
        <p:blipFill>
          <a:blip r:embed="rId3" cstate="print"/>
          <a:stretch>
            <a:fillRect/>
          </a:stretch>
        </p:blipFill>
        <p:spPr>
          <a:xfrm>
            <a:off x="3995936" y="2192466"/>
            <a:ext cx="2376264" cy="1584176"/>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Packaging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Steps in creating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the target group</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Determine the theme of the tour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Now that you have your theme, establish objectives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Choose a title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Determine the length of the tour</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7" name="Picture 6" descr="shutterstock_122648080.jpg"/>
          <p:cNvPicPr/>
          <p:nvPr/>
        </p:nvPicPr>
        <p:blipFill>
          <a:blip r:embed="rId3" cstate="print"/>
          <a:stretch>
            <a:fillRect/>
          </a:stretch>
        </p:blipFill>
        <p:spPr>
          <a:xfrm>
            <a:off x="6228184" y="3933056"/>
            <a:ext cx="2202557" cy="1482849"/>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Packaging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Steps in creating packages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Create a tentative itinerary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Finalise the schedule</a:t>
            </a:r>
          </a:p>
          <a:p>
            <a:pPr>
              <a:spcBef>
                <a:spcPts val="600"/>
              </a:spcBef>
              <a:spcAft>
                <a:spcPts val="1200"/>
              </a:spcAft>
            </a:pPr>
            <a:r>
              <a:rPr lang="en-AU" sz="2200" dirty="0" smtClean="0">
                <a:latin typeface="Helvetica" pitchFamily="34" charset="0"/>
              </a:rPr>
              <a:t>Arrange and confirm supply </a:t>
            </a:r>
          </a:p>
          <a:p>
            <a:pPr>
              <a:spcBef>
                <a:spcPts val="600"/>
              </a:spcBef>
              <a:spcAft>
                <a:spcPts val="1200"/>
              </a:spcAft>
            </a:pPr>
            <a:r>
              <a:rPr lang="en-AU" sz="2200" dirty="0" smtClean="0">
                <a:latin typeface="Helvetica" pitchFamily="34" charset="0"/>
              </a:rPr>
              <a:t>Presentation of price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Present your packaged program</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6" name="Picture 5" descr="Air plan flight itinerary map_148488614.jpg"/>
          <p:cNvPicPr/>
          <p:nvPr/>
        </p:nvPicPr>
        <p:blipFill>
          <a:blip r:embed="rId3" cstate="print"/>
          <a:stretch>
            <a:fillRect/>
          </a:stretch>
        </p:blipFill>
        <p:spPr>
          <a:xfrm>
            <a:off x="6101037" y="3836268"/>
            <a:ext cx="2305422" cy="1752972"/>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Determine package components</a:t>
            </a:r>
          </a:p>
          <a:p>
            <a:pPr lvl="0">
              <a:spcBef>
                <a:spcPts val="600"/>
              </a:spcBef>
              <a:spcAft>
                <a:spcPts val="1200"/>
              </a:spcAft>
            </a:pPr>
            <a:r>
              <a:rPr lang="en-US" sz="2200" dirty="0" smtClean="0">
                <a:latin typeface="Helvetica" pitchFamily="34" charset="0"/>
              </a:rPr>
              <a:t>Destination attractions</a:t>
            </a:r>
          </a:p>
          <a:p>
            <a:pPr lvl="0">
              <a:spcBef>
                <a:spcPts val="600"/>
              </a:spcBef>
              <a:spcAft>
                <a:spcPts val="1200"/>
              </a:spcAft>
            </a:pPr>
            <a:r>
              <a:rPr lang="en-US" sz="2200" dirty="0" smtClean="0">
                <a:latin typeface="Helvetica" pitchFamily="34" charset="0"/>
              </a:rPr>
              <a:t>Destination facilities and services</a:t>
            </a:r>
          </a:p>
          <a:p>
            <a:pPr lvl="0">
              <a:spcBef>
                <a:spcPts val="600"/>
              </a:spcBef>
              <a:spcAft>
                <a:spcPts val="1200"/>
              </a:spcAft>
            </a:pPr>
            <a:r>
              <a:rPr lang="en-US" sz="2200" dirty="0" smtClean="0">
                <a:latin typeface="Helvetica" pitchFamily="34" charset="0"/>
              </a:rPr>
              <a:t>Accessibility of the destination</a:t>
            </a:r>
          </a:p>
          <a:p>
            <a:pPr lvl="0">
              <a:spcBef>
                <a:spcPts val="600"/>
              </a:spcBef>
              <a:spcAft>
                <a:spcPts val="1200"/>
              </a:spcAft>
            </a:pPr>
            <a:r>
              <a:rPr lang="en-US" sz="2200" dirty="0" smtClean="0">
                <a:latin typeface="Helvetica" pitchFamily="34" charset="0"/>
              </a:rPr>
              <a:t>Images of the destination</a:t>
            </a:r>
          </a:p>
          <a:p>
            <a:pPr lvl="0">
              <a:spcBef>
                <a:spcPts val="600"/>
              </a:spcBef>
              <a:spcAft>
                <a:spcPts val="1200"/>
              </a:spcAft>
            </a:pPr>
            <a:r>
              <a:rPr lang="en-US" sz="2200" dirty="0" smtClean="0">
                <a:latin typeface="Helvetica" pitchFamily="34" charset="0"/>
              </a:rPr>
              <a:t>Inclusions and exclusions</a:t>
            </a:r>
          </a:p>
          <a:p>
            <a:pPr>
              <a:spcBef>
                <a:spcPts val="600"/>
              </a:spcBef>
              <a:spcAft>
                <a:spcPts val="1200"/>
              </a:spcAft>
            </a:pPr>
            <a:r>
              <a:rPr lang="en-AU" sz="2200" dirty="0" smtClean="0">
                <a:latin typeface="Helvetica" pitchFamily="34" charset="0"/>
              </a:rPr>
              <a:t>Price to the client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descr="shutterstock_180785885.jpg"/>
          <p:cNvPicPr/>
          <p:nvPr/>
        </p:nvPicPr>
        <p:blipFill>
          <a:blip r:embed="rId3" cstate="print"/>
          <a:stretch>
            <a:fillRect/>
          </a:stretch>
        </p:blipFill>
        <p:spPr>
          <a:xfrm>
            <a:off x="6012160" y="3861048"/>
            <a:ext cx="2450951" cy="1683905"/>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Destination attractions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Natural attractions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Built attractions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Cultural attractions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Social attractions</a:t>
            </a:r>
            <a:r>
              <a:rPr lang="en-AU" sz="2400" b="1" dirty="0" smtClean="0"/>
              <a:t>	</a:t>
            </a:r>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6" name="Picture 5" descr="shutterstock_174310112.jpg"/>
          <p:cNvPicPr/>
          <p:nvPr/>
        </p:nvPicPr>
        <p:blipFill>
          <a:blip r:embed="rId3" cstate="print"/>
          <a:stretch>
            <a:fillRect/>
          </a:stretch>
        </p:blipFill>
        <p:spPr>
          <a:xfrm>
            <a:off x="4355976" y="2369575"/>
            <a:ext cx="2736304" cy="19848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Destination facilities and services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Accommodation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Restaurants, bars and cafes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Transport at the destinations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Sports/activity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Retail outlets	</a:t>
            </a:r>
          </a:p>
          <a:p>
            <a:pPr>
              <a:spcBef>
                <a:spcPts val="600"/>
              </a:spcBef>
              <a:spcAft>
                <a:spcPts val="1200"/>
              </a:spcAft>
            </a:pPr>
            <a:r>
              <a:rPr lang="en-AU" sz="2200" dirty="0" smtClean="0">
                <a:latin typeface="Helvetica" pitchFamily="34" charset="0"/>
              </a:rPr>
              <a:t>Other services</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7" name="Picture 6" descr="shutterstock_149723339.jpg"/>
          <p:cNvPicPr/>
          <p:nvPr/>
        </p:nvPicPr>
        <p:blipFill>
          <a:blip r:embed="rId3" cstate="print"/>
          <a:stretch>
            <a:fillRect/>
          </a:stretch>
        </p:blipFill>
        <p:spPr>
          <a:xfrm>
            <a:off x="6300192" y="3861048"/>
            <a:ext cx="2160240" cy="1800200"/>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Accessibility of the destination</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Infrastructure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Equipment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Operational factors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Location to major attractions </a:t>
            </a:r>
            <a:br>
              <a:rPr lang="en-US" sz="2200" dirty="0" smtClean="0">
                <a:latin typeface="Helvetica" pitchFamily="34" charset="0"/>
              </a:rPr>
            </a:br>
            <a:r>
              <a:rPr lang="en-US" sz="2200" dirty="0" smtClean="0">
                <a:latin typeface="Helvetica" pitchFamily="34" charset="0"/>
              </a:rPr>
              <a:t>and amenities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6" name="Picture 5" descr="Lady_plan_world_train_96530158.jpg"/>
          <p:cNvPicPr/>
          <p:nvPr/>
        </p:nvPicPr>
        <p:blipFill>
          <a:blip r:embed="rId3" cstate="print"/>
          <a:stretch>
            <a:fillRect/>
          </a:stretch>
        </p:blipFill>
        <p:spPr>
          <a:xfrm>
            <a:off x="4860032" y="2348880"/>
            <a:ext cx="2880320" cy="2016224"/>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Images and perceptions of the destination</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The attitudes and images which clients have towards products strongly influence their buying decisions. </a:t>
            </a:r>
          </a:p>
          <a:p>
            <a:pPr>
              <a:spcBef>
                <a:spcPts val="600"/>
              </a:spcBef>
              <a:spcAft>
                <a:spcPts val="1200"/>
              </a:spcAft>
            </a:pPr>
            <a:r>
              <a:rPr lang="en-AU" sz="2200" dirty="0" smtClean="0">
                <a:latin typeface="Helvetica" pitchFamily="34" charset="0"/>
              </a:rPr>
              <a:t>Destination images are not necessarily grounded in experience or facts but are powerful motivators in travel and tourism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7" name="Picture 6" descr="shutterstock_125575283.jpg"/>
          <p:cNvPicPr/>
          <p:nvPr/>
        </p:nvPicPr>
        <p:blipFill>
          <a:blip r:embed="rId3" cstate="print"/>
          <a:stretch>
            <a:fillRect/>
          </a:stretch>
        </p:blipFill>
        <p:spPr>
          <a:xfrm>
            <a:off x="2987824" y="4019484"/>
            <a:ext cx="2592288" cy="180020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Package components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Inclusions and exclusions</a:t>
            </a:r>
            <a:endParaRPr lang="en-US" sz="2000" b="1" dirty="0" smtClean="0"/>
          </a:p>
          <a:p>
            <a:pPr marL="0">
              <a:spcBef>
                <a:spcPts val="600"/>
              </a:spcBef>
              <a:spcAft>
                <a:spcPts val="1200"/>
              </a:spcAft>
              <a:buNone/>
            </a:pPr>
            <a:r>
              <a:rPr lang="en-AU" sz="2000" dirty="0" smtClean="0"/>
              <a:t>What products and services are included or excluded in package prices can greatly influence the decision to purchase.</a:t>
            </a:r>
            <a:endParaRPr lang="en-US" sz="2000" dirty="0" smtClean="0"/>
          </a:p>
          <a:p>
            <a:pPr lvl="0">
              <a:spcBef>
                <a:spcPts val="600"/>
              </a:spcBef>
              <a:spcAft>
                <a:spcPts val="1200"/>
              </a:spcAft>
            </a:pPr>
            <a:r>
              <a:rPr lang="en-US" sz="2000" dirty="0" smtClean="0"/>
              <a:t>Inclusion</a:t>
            </a:r>
          </a:p>
          <a:p>
            <a:pPr lvl="0">
              <a:spcBef>
                <a:spcPts val="600"/>
              </a:spcBef>
              <a:spcAft>
                <a:spcPts val="1200"/>
              </a:spcAft>
            </a:pPr>
            <a:r>
              <a:rPr lang="en-US" sz="2000" dirty="0" smtClean="0"/>
              <a:t>Exclusions</a:t>
            </a:r>
          </a:p>
          <a:p>
            <a:pPr lvl="0">
              <a:spcBef>
                <a:spcPts val="600"/>
              </a:spcBef>
              <a:spcAft>
                <a:spcPts val="1200"/>
              </a:spcAft>
            </a:pPr>
            <a:r>
              <a:rPr lang="en-US" sz="2000" dirty="0" smtClean="0"/>
              <a:t>Add-ons </a:t>
            </a:r>
          </a:p>
          <a:p>
            <a:pPr lvl="0">
              <a:spcBef>
                <a:spcPts val="600"/>
              </a:spcBef>
              <a:spcAft>
                <a:spcPts val="1200"/>
              </a:spcAft>
            </a:pPr>
            <a:r>
              <a:rPr lang="en-US" sz="2000" dirty="0" smtClean="0"/>
              <a:t>Available options, including substitutions                                   and alternatives</a:t>
            </a:r>
          </a:p>
          <a:p>
            <a:pPr lvl="0">
              <a:spcBef>
                <a:spcPts val="600"/>
              </a:spcBef>
              <a:spcAft>
                <a:spcPts val="1200"/>
              </a:spcAft>
            </a:pPr>
            <a:endParaRPr lang="en-US" sz="2000" dirty="0" smtClean="0"/>
          </a:p>
          <a:p>
            <a:pPr marL="36576" indent="0">
              <a:spcBef>
                <a:spcPts val="600"/>
              </a:spcBef>
              <a:spcAft>
                <a:spcPts val="1200"/>
              </a:spcAft>
              <a:buNone/>
            </a:pPr>
            <a:r>
              <a:rPr lang="en-AU" sz="2000" b="1" i="1" dirty="0" smtClean="0">
                <a:solidFill>
                  <a:srgbClr val="FF6600"/>
                </a:solidFill>
              </a:rPr>
              <a:t>COMPLETE ACTIVITY 11</a:t>
            </a: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7" name="Picture 6" descr="shutterstock_87497566.jpg"/>
          <p:cNvPicPr/>
          <p:nvPr/>
        </p:nvPicPr>
        <p:blipFill>
          <a:blip r:embed="rId3" cstate="print"/>
          <a:stretch>
            <a:fillRect/>
          </a:stretch>
        </p:blipFill>
        <p:spPr>
          <a:xfrm>
            <a:off x="6141570" y="3933056"/>
            <a:ext cx="2232248" cy="1656184"/>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Determine package duration</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Factors affecting the duration of packages</a:t>
            </a:r>
          </a:p>
          <a:p>
            <a:pPr marL="0">
              <a:spcBef>
                <a:spcPts val="600"/>
              </a:spcBef>
              <a:spcAft>
                <a:spcPts val="1200"/>
              </a:spcAft>
              <a:buNone/>
            </a:pPr>
            <a:r>
              <a:rPr lang="en-AU" sz="2200" dirty="0" smtClean="0">
                <a:latin typeface="Helvetica" pitchFamily="34" charset="0"/>
              </a:rPr>
              <a:t>Commonly, the duration of a package will be determined by:</a:t>
            </a:r>
          </a:p>
          <a:p>
            <a:pPr>
              <a:spcBef>
                <a:spcPts val="600"/>
              </a:spcBef>
              <a:spcAft>
                <a:spcPts val="1200"/>
              </a:spcAft>
            </a:pPr>
            <a:r>
              <a:rPr lang="en-AU" sz="2200" dirty="0" smtClean="0">
                <a:latin typeface="Helvetica" pitchFamily="34" charset="0"/>
              </a:rPr>
              <a:t>Client</a:t>
            </a:r>
          </a:p>
          <a:p>
            <a:pPr>
              <a:spcBef>
                <a:spcPts val="600"/>
              </a:spcBef>
              <a:spcAft>
                <a:spcPts val="1200"/>
              </a:spcAft>
            </a:pPr>
            <a:r>
              <a:rPr lang="en-AU" sz="2200" dirty="0" smtClean="0">
                <a:latin typeface="Helvetica" pitchFamily="34" charset="0"/>
              </a:rPr>
              <a:t>Suppliers</a:t>
            </a:r>
          </a:p>
          <a:p>
            <a:pPr>
              <a:spcBef>
                <a:spcPts val="600"/>
              </a:spcBef>
              <a:spcAft>
                <a:spcPts val="1200"/>
              </a:spcAft>
            </a:pPr>
            <a:r>
              <a:rPr lang="en-AU" sz="2200" dirty="0" smtClean="0">
                <a:latin typeface="Helvetica" pitchFamily="34" charset="0"/>
              </a:rPr>
              <a:t>Other influences</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5" name="Picture 4" descr="shutterstock_156687269.jpg"/>
          <p:cNvPicPr/>
          <p:nvPr/>
        </p:nvPicPr>
        <p:blipFill>
          <a:blip r:embed="rId3" cstate="print"/>
          <a:stretch>
            <a:fillRect/>
          </a:stretch>
        </p:blipFill>
        <p:spPr>
          <a:xfrm>
            <a:off x="3923928" y="2852936"/>
            <a:ext cx="2304256" cy="187220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Determine package duration</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Duration factors determined by the client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Their 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Designated dates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Preferred destinations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Preferred products and services </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6" name="Picture 5" descr="shutterstock_82771591.jpg"/>
          <p:cNvPicPr/>
          <p:nvPr/>
        </p:nvPicPr>
        <p:blipFill>
          <a:blip r:embed="rId3" cstate="print"/>
          <a:stretch>
            <a:fillRect/>
          </a:stretch>
        </p:blipFill>
        <p:spPr>
          <a:xfrm>
            <a:off x="5940152" y="3933056"/>
            <a:ext cx="2493814" cy="1756966"/>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Determine package duration</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Duration factors determined by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Schedules of set tours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Schedules of travel suppliers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Supply and demand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Supplier booking conditions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7" name="Picture 6" descr="Boarding board_2059845.jpg"/>
          <p:cNvPicPr>
            <a:picLocks noChangeAspect="1"/>
          </p:cNvPicPr>
          <p:nvPr/>
        </p:nvPicPr>
        <p:blipFill>
          <a:blip r:embed="rId3" cstate="print"/>
          <a:stretch>
            <a:fillRect/>
          </a:stretch>
        </p:blipFill>
        <p:spPr>
          <a:xfrm>
            <a:off x="6677457" y="2841887"/>
            <a:ext cx="1728192" cy="2583247"/>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Determine package duration</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Duration factors determined by other influences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there are an endless amount of influences affecting package durations, some of these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Timing of specific events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Seasonality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7" name="Picture 6" descr="Boarding board_2059845.jpg"/>
          <p:cNvPicPr>
            <a:picLocks noChangeAspect="1"/>
          </p:cNvPicPr>
          <p:nvPr/>
        </p:nvPicPr>
        <p:blipFill>
          <a:blip r:embed="rId3" cstate="print"/>
          <a:stretch>
            <a:fillRect/>
          </a:stretch>
        </p:blipFill>
        <p:spPr>
          <a:xfrm>
            <a:off x="6736107" y="2996952"/>
            <a:ext cx="1656184" cy="2475612"/>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Determine package duration</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lnSpcReduction="10000"/>
          </a:bodyPr>
          <a:lstStyle/>
          <a:p>
            <a:pPr>
              <a:spcBef>
                <a:spcPts val="600"/>
              </a:spcBef>
              <a:spcAft>
                <a:spcPts val="1200"/>
              </a:spcAft>
              <a:buNone/>
            </a:pPr>
            <a:r>
              <a:rPr lang="en-AU" sz="2000" b="1" dirty="0" smtClean="0"/>
              <a:t>Determine duration of packages</a:t>
            </a:r>
            <a:endParaRPr lang="en-US" sz="2000" dirty="0" smtClean="0"/>
          </a:p>
          <a:p>
            <a:pPr>
              <a:spcBef>
                <a:spcPts val="600"/>
              </a:spcBef>
              <a:spcAft>
                <a:spcPts val="1200"/>
              </a:spcAft>
              <a:buNone/>
            </a:pPr>
            <a:r>
              <a:rPr lang="en-AU" sz="2000" dirty="0" smtClean="0"/>
              <a:t>This process will include:</a:t>
            </a:r>
            <a:endParaRPr lang="en-US" sz="2000" dirty="0" smtClean="0"/>
          </a:p>
          <a:p>
            <a:pPr lvl="0">
              <a:spcBef>
                <a:spcPts val="600"/>
              </a:spcBef>
              <a:spcAft>
                <a:spcPts val="1200"/>
              </a:spcAft>
            </a:pPr>
            <a:r>
              <a:rPr lang="en-AU" sz="2000" dirty="0" smtClean="0"/>
              <a:t>Formulating packages to accommodate differing timelines</a:t>
            </a:r>
            <a:endParaRPr lang="en-US" sz="2000" dirty="0" smtClean="0"/>
          </a:p>
          <a:p>
            <a:pPr lvl="0">
              <a:spcBef>
                <a:spcPts val="600"/>
              </a:spcBef>
              <a:spcAft>
                <a:spcPts val="1200"/>
              </a:spcAft>
            </a:pPr>
            <a:r>
              <a:rPr lang="en-AU" sz="2000" dirty="0" smtClean="0"/>
              <a:t>Checking availability of products and services</a:t>
            </a:r>
            <a:endParaRPr lang="en-US" sz="2000" dirty="0" smtClean="0"/>
          </a:p>
          <a:p>
            <a:pPr lvl="0">
              <a:spcBef>
                <a:spcPts val="600"/>
              </a:spcBef>
              <a:spcAft>
                <a:spcPts val="1200"/>
              </a:spcAft>
            </a:pPr>
            <a:r>
              <a:rPr lang="en-AU" sz="2000" dirty="0" smtClean="0"/>
              <a:t>Adding and removing inclusions</a:t>
            </a:r>
            <a:endParaRPr lang="en-US" sz="2000" dirty="0" smtClean="0"/>
          </a:p>
          <a:p>
            <a:pPr lvl="0">
              <a:spcBef>
                <a:spcPts val="600"/>
              </a:spcBef>
              <a:spcAft>
                <a:spcPts val="1200"/>
              </a:spcAft>
            </a:pPr>
            <a:r>
              <a:rPr lang="en-AU" sz="2000" dirty="0" smtClean="0"/>
              <a:t>Providing alternate dates, suppliers or routes</a:t>
            </a:r>
            <a:endParaRPr lang="en-US" sz="2000" dirty="0" smtClean="0"/>
          </a:p>
          <a:p>
            <a:pPr lvl="0">
              <a:spcBef>
                <a:spcPts val="600"/>
              </a:spcBef>
              <a:spcAft>
                <a:spcPts val="1200"/>
              </a:spcAft>
            </a:pPr>
            <a:r>
              <a:rPr lang="en-AU" sz="2000" dirty="0" smtClean="0"/>
              <a:t>Complying with agreed arrangements</a:t>
            </a:r>
          </a:p>
          <a:p>
            <a:pPr lvl="0">
              <a:spcBef>
                <a:spcPts val="600"/>
              </a:spcBef>
              <a:spcAft>
                <a:spcPts val="1200"/>
              </a:spcAft>
            </a:pPr>
            <a:endParaRPr lang="en-AU" sz="2000" dirty="0"/>
          </a:p>
          <a:p>
            <a:pPr lvl="0">
              <a:spcBef>
                <a:spcPts val="600"/>
              </a:spcBef>
              <a:spcAft>
                <a:spcPts val="1200"/>
              </a:spcAft>
            </a:pPr>
            <a:endParaRPr lang="en-AU" sz="2000" dirty="0" smtClean="0"/>
          </a:p>
          <a:p>
            <a:pPr>
              <a:spcBef>
                <a:spcPts val="600"/>
              </a:spcBef>
              <a:spcAft>
                <a:spcPts val="1200"/>
              </a:spcAft>
              <a:buNone/>
            </a:pPr>
            <a:r>
              <a:rPr lang="en-AU" sz="2000" b="1" i="1" dirty="0" smtClean="0">
                <a:solidFill>
                  <a:srgbClr val="FF6600"/>
                </a:solidFill>
              </a:rPr>
              <a:t>COMPLETE ACTIVITY 12</a:t>
            </a:r>
          </a:p>
          <a:p>
            <a:pPr lvl="0">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6" name="Picture 5" descr="shutterstock_148857527.jpg"/>
          <p:cNvPicPr/>
          <p:nvPr/>
        </p:nvPicPr>
        <p:blipFill>
          <a:blip r:embed="rId3" cstate="print"/>
          <a:stretch>
            <a:fillRect/>
          </a:stretch>
        </p:blipFill>
        <p:spPr>
          <a:xfrm>
            <a:off x="6285586" y="4077072"/>
            <a:ext cx="2160240" cy="1656184"/>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Calculate costs for products and services included in a quotation</a:t>
            </a:r>
          </a:p>
          <a:p>
            <a:pPr>
              <a:spcBef>
                <a:spcPts val="600"/>
              </a:spcBef>
              <a:spcAft>
                <a:spcPts val="1200"/>
              </a:spcAft>
            </a:pPr>
            <a:r>
              <a:rPr lang="en-AU" sz="2200" dirty="0" smtClean="0">
                <a:latin typeface="Helvetica" pitchFamily="34" charset="0"/>
              </a:rPr>
              <a:t>Once products and services required for inclusion in a quotation have been identified, it is now important to accurately determine the costs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5" name="Picture 4" descr="A21 shutterstock_182028425.jpg"/>
          <p:cNvPicPr/>
          <p:nvPr/>
        </p:nvPicPr>
        <p:blipFill>
          <a:blip r:embed="rId3" cstate="print"/>
          <a:stretch>
            <a:fillRect/>
          </a:stretch>
        </p:blipFill>
        <p:spPr>
          <a:xfrm>
            <a:off x="2915816" y="3789040"/>
            <a:ext cx="2736304" cy="1944216"/>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1800" b="1" dirty="0" smtClean="0"/>
              <a:t>Activities associated with calculating costs of products and services for packages</a:t>
            </a:r>
            <a:endParaRPr lang="en-AU" sz="1800" dirty="0" smtClean="0"/>
          </a:p>
          <a:p>
            <a:pPr lvl="0">
              <a:spcBef>
                <a:spcPts val="600"/>
              </a:spcBef>
              <a:spcAft>
                <a:spcPts val="1200"/>
              </a:spcAft>
            </a:pPr>
            <a:r>
              <a:rPr lang="en-AU" sz="1800" dirty="0" smtClean="0"/>
              <a:t>Ensuring comprehensiveness and accuracy of all information provided</a:t>
            </a:r>
            <a:endParaRPr lang="en-US" sz="1800" dirty="0" smtClean="0"/>
          </a:p>
          <a:p>
            <a:pPr lvl="0">
              <a:spcBef>
                <a:spcPts val="600"/>
              </a:spcBef>
              <a:spcAft>
                <a:spcPts val="1200"/>
              </a:spcAft>
            </a:pPr>
            <a:r>
              <a:rPr lang="en-AU" sz="1800" dirty="0" smtClean="0"/>
              <a:t>Taking into account price point considerations</a:t>
            </a:r>
            <a:endParaRPr lang="en-US" sz="1800" dirty="0" smtClean="0"/>
          </a:p>
          <a:p>
            <a:pPr lvl="0">
              <a:spcBef>
                <a:spcPts val="600"/>
              </a:spcBef>
              <a:spcAft>
                <a:spcPts val="1200"/>
              </a:spcAft>
            </a:pPr>
            <a:r>
              <a:rPr lang="en-AU" sz="1800" dirty="0" smtClean="0"/>
              <a:t>Negotiating costs with suppliers, providers and carriers to obtain optimal prices</a:t>
            </a:r>
            <a:endParaRPr lang="en-US" sz="1800" dirty="0" smtClean="0"/>
          </a:p>
          <a:p>
            <a:pPr lvl="0">
              <a:spcBef>
                <a:spcPts val="600"/>
              </a:spcBef>
              <a:spcAft>
                <a:spcPts val="1200"/>
              </a:spcAft>
            </a:pPr>
            <a:r>
              <a:rPr lang="en-AU" sz="1800" dirty="0" smtClean="0"/>
              <a:t>Identifying direct costs</a:t>
            </a:r>
            <a:endParaRPr lang="en-US" sz="1800" dirty="0" smtClean="0"/>
          </a:p>
          <a:p>
            <a:pPr lvl="0">
              <a:spcBef>
                <a:spcPts val="600"/>
              </a:spcBef>
              <a:spcAft>
                <a:spcPts val="1200"/>
              </a:spcAft>
            </a:pPr>
            <a:r>
              <a:rPr lang="en-AU" sz="1800" dirty="0" smtClean="0"/>
              <a:t>Calculating commissions</a:t>
            </a:r>
            <a:endParaRPr lang="en-US" sz="1800" dirty="0" smtClean="0"/>
          </a:p>
          <a:p>
            <a:pPr lvl="0">
              <a:spcBef>
                <a:spcPts val="600"/>
              </a:spcBef>
              <a:spcAft>
                <a:spcPts val="1200"/>
              </a:spcAft>
            </a:pPr>
            <a:r>
              <a:rPr lang="en-AU" sz="1800" dirty="0" smtClean="0"/>
              <a:t>Calculating mark-up net costs</a:t>
            </a:r>
            <a:endParaRPr lang="en-US" sz="1800" dirty="0" smtClean="0"/>
          </a:p>
          <a:p>
            <a:pPr lvl="0">
              <a:spcBef>
                <a:spcPts val="600"/>
              </a:spcBef>
              <a:spcAft>
                <a:spcPts val="1200"/>
              </a:spcAft>
            </a:pPr>
            <a:r>
              <a:rPr lang="en-AU" sz="1800" dirty="0" smtClean="0"/>
              <a:t>Identify organisational fees</a:t>
            </a:r>
            <a:endParaRPr lang="en-US" sz="1800" dirty="0" smtClean="0"/>
          </a:p>
          <a:p>
            <a:pPr>
              <a:buNone/>
            </a:pPr>
            <a:endParaRPr lang="en-AU" sz="1800" dirty="0" smtClean="0"/>
          </a:p>
          <a:p>
            <a:pPr>
              <a:spcBef>
                <a:spcPts val="600"/>
              </a:spcBef>
              <a:spcAft>
                <a:spcPts val="1200"/>
              </a:spcAft>
              <a:buNone/>
            </a:pPr>
            <a:endParaRPr lang="en-AU"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5" name="Picture 4" descr="shutterstock_179800007.jpg"/>
          <p:cNvPicPr>
            <a:picLocks noChangeAspect="1"/>
          </p:cNvPicPr>
          <p:nvPr/>
        </p:nvPicPr>
        <p:blipFill>
          <a:blip r:embed="rId3" cstate="print"/>
          <a:stretch>
            <a:fillRect/>
          </a:stretch>
        </p:blipFill>
        <p:spPr>
          <a:xfrm>
            <a:off x="6084168" y="4293096"/>
            <a:ext cx="2277142" cy="151885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000" b="1" dirty="0" smtClean="0"/>
              <a:t>Activities associated with calculating costs of products and services for packages</a:t>
            </a:r>
            <a:endParaRPr lang="en-AU" sz="2000" dirty="0" smtClean="0"/>
          </a:p>
          <a:p>
            <a:pPr lvl="0">
              <a:spcBef>
                <a:spcPts val="600"/>
              </a:spcBef>
              <a:spcAft>
                <a:spcPts val="1200"/>
              </a:spcAft>
            </a:pPr>
            <a:r>
              <a:rPr lang="en-AU" sz="2000" dirty="0" smtClean="0"/>
              <a:t>Applying host enterprise procedures</a:t>
            </a:r>
            <a:endParaRPr lang="en-US" sz="2000" dirty="0" smtClean="0"/>
          </a:p>
          <a:p>
            <a:pPr lvl="0">
              <a:spcBef>
                <a:spcPts val="600"/>
              </a:spcBef>
              <a:spcAft>
                <a:spcPts val="1200"/>
              </a:spcAft>
            </a:pPr>
            <a:r>
              <a:rPr lang="en-AU" sz="2000" dirty="0" smtClean="0"/>
              <a:t>Including all taxes, fees and other charges</a:t>
            </a:r>
            <a:endParaRPr lang="en-US" sz="2000" dirty="0" smtClean="0"/>
          </a:p>
          <a:p>
            <a:pPr lvl="0">
              <a:spcBef>
                <a:spcPts val="600"/>
              </a:spcBef>
              <a:spcAft>
                <a:spcPts val="1200"/>
              </a:spcAft>
            </a:pPr>
            <a:r>
              <a:rPr lang="en-AU" sz="2000" dirty="0" smtClean="0"/>
              <a:t>Incorporating currency conversions</a:t>
            </a:r>
            <a:endParaRPr lang="en-US" sz="2000" dirty="0" smtClean="0"/>
          </a:p>
          <a:p>
            <a:pPr lvl="0">
              <a:spcBef>
                <a:spcPts val="600"/>
              </a:spcBef>
              <a:spcAft>
                <a:spcPts val="1200"/>
              </a:spcAft>
            </a:pPr>
            <a:r>
              <a:rPr lang="en-AU" sz="2000" dirty="0" smtClean="0"/>
              <a:t>Factoring allowable discounts</a:t>
            </a:r>
            <a:endParaRPr lang="en-US" sz="2000" dirty="0" smtClean="0"/>
          </a:p>
          <a:p>
            <a:pPr lvl="0">
              <a:spcBef>
                <a:spcPts val="600"/>
              </a:spcBef>
              <a:spcAft>
                <a:spcPts val="1200"/>
              </a:spcAft>
            </a:pPr>
            <a:r>
              <a:rPr lang="en-AU" sz="2000" dirty="0" smtClean="0"/>
              <a:t>Considering and including package deals</a:t>
            </a:r>
            <a:endParaRPr lang="en-US" sz="2000" dirty="0" smtClean="0"/>
          </a:p>
          <a:p>
            <a:pPr lvl="0">
              <a:spcBef>
                <a:spcPts val="600"/>
              </a:spcBef>
              <a:spcAft>
                <a:spcPts val="1200"/>
              </a:spcAft>
            </a:pPr>
            <a:r>
              <a:rPr lang="en-AU" sz="2000" dirty="0" smtClean="0"/>
              <a:t>Taking into account seasonal and other premiums</a:t>
            </a:r>
            <a:endParaRPr lang="en-US" sz="2000" dirty="0" smtClean="0"/>
          </a:p>
          <a:p>
            <a:pPr lvl="0">
              <a:spcBef>
                <a:spcPts val="600"/>
              </a:spcBef>
              <a:spcAft>
                <a:spcPts val="1200"/>
              </a:spcAft>
            </a:pPr>
            <a:r>
              <a:rPr lang="en-AU" sz="2000" dirty="0" smtClean="0"/>
              <a:t>Estimations based on current year prices</a:t>
            </a:r>
            <a:endParaRPr lang="en-US" sz="2000" dirty="0" smtClean="0"/>
          </a:p>
          <a:p>
            <a:pPr>
              <a:buNone/>
            </a:pPr>
            <a:endParaRPr lang="en-AU" sz="2000" dirty="0" smtClean="0"/>
          </a:p>
          <a:p>
            <a:pPr>
              <a:spcBef>
                <a:spcPts val="600"/>
              </a:spcBef>
              <a:spcAft>
                <a:spcPts val="1200"/>
              </a:spcAft>
              <a:buNone/>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5" name="Picture 4" descr="shutterstock_96331862.jpg"/>
          <p:cNvPicPr>
            <a:picLocks noChangeAspect="1"/>
          </p:cNvPicPr>
          <p:nvPr/>
        </p:nvPicPr>
        <p:blipFill>
          <a:blip r:embed="rId3" cstate="print"/>
          <a:stretch>
            <a:fillRect/>
          </a:stretch>
        </p:blipFill>
        <p:spPr>
          <a:xfrm>
            <a:off x="5940152" y="2609990"/>
            <a:ext cx="2376264" cy="1882001"/>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Costing price point considerations</a:t>
            </a:r>
            <a:endParaRPr lang="en-US" sz="2000" dirty="0" smtClean="0"/>
          </a:p>
          <a:p>
            <a:pPr lvl="0">
              <a:spcBef>
                <a:spcPts val="600"/>
              </a:spcBef>
              <a:spcAft>
                <a:spcPts val="1200"/>
              </a:spcAft>
            </a:pPr>
            <a:r>
              <a:rPr lang="en-AU" sz="2000" dirty="0" smtClean="0"/>
              <a:t>Analysing prices offered by competition</a:t>
            </a:r>
            <a:endParaRPr lang="en-US" sz="2000" dirty="0" smtClean="0"/>
          </a:p>
          <a:p>
            <a:pPr lvl="0">
              <a:spcBef>
                <a:spcPts val="600"/>
              </a:spcBef>
              <a:spcAft>
                <a:spcPts val="1200"/>
              </a:spcAft>
            </a:pPr>
            <a:r>
              <a:rPr lang="en-AU" sz="2000" dirty="0" smtClean="0"/>
              <a:t>Determining target market affordability</a:t>
            </a:r>
            <a:endParaRPr lang="en-US" sz="2000" dirty="0" smtClean="0"/>
          </a:p>
          <a:p>
            <a:pPr lvl="0">
              <a:spcBef>
                <a:spcPts val="600"/>
              </a:spcBef>
              <a:spcAft>
                <a:spcPts val="1200"/>
              </a:spcAft>
            </a:pPr>
            <a:r>
              <a:rPr lang="en-AU" sz="2000" dirty="0" smtClean="0"/>
              <a:t>Ensuring required profit to host enterprise</a:t>
            </a:r>
            <a:endParaRPr lang="en-US" sz="2000" dirty="0" smtClean="0"/>
          </a:p>
          <a:p>
            <a:pPr lvl="0">
              <a:spcBef>
                <a:spcPts val="600"/>
              </a:spcBef>
              <a:spcAft>
                <a:spcPts val="1200"/>
              </a:spcAft>
            </a:pPr>
            <a:r>
              <a:rPr lang="en-AU" sz="2000" dirty="0" smtClean="0"/>
              <a:t>Identifying what the market will bear</a:t>
            </a:r>
            <a:endParaRPr lang="en-US" sz="2000" dirty="0" smtClean="0"/>
          </a:p>
          <a:p>
            <a:pPr lvl="0">
              <a:spcBef>
                <a:spcPts val="600"/>
              </a:spcBef>
              <a:spcAft>
                <a:spcPts val="1200"/>
              </a:spcAft>
            </a:pPr>
            <a:r>
              <a:rPr lang="en-AU" sz="2000" dirty="0" smtClean="0"/>
              <a:t>Developing price schedules, including </a:t>
            </a:r>
            <a:br>
              <a:rPr lang="en-AU" sz="2000" dirty="0" smtClean="0"/>
            </a:br>
            <a:r>
              <a:rPr lang="en-AU" sz="2000" dirty="0" smtClean="0"/>
              <a:t>special rates and discounts</a:t>
            </a:r>
            <a:endParaRPr lang="en-US" sz="2000" dirty="0" smtClean="0"/>
          </a:p>
          <a:p>
            <a:pPr lvl="0">
              <a:spcBef>
                <a:spcPts val="600"/>
              </a:spcBef>
              <a:spcAft>
                <a:spcPts val="1200"/>
              </a:spcAft>
            </a:pPr>
            <a:r>
              <a:rPr lang="en-AU" sz="2000" dirty="0" smtClean="0"/>
              <a:t>Determining host enterprise costs pertaining                         to package development and delivery</a:t>
            </a:r>
            <a:endParaRPr lang="en-US" sz="2000" dirty="0" smtClean="0"/>
          </a:p>
          <a:p>
            <a:pPr lvl="0">
              <a:spcBef>
                <a:spcPts val="600"/>
              </a:spcBef>
              <a:spcAft>
                <a:spcPts val="1200"/>
              </a:spcAft>
            </a:pPr>
            <a:r>
              <a:rPr lang="en-AU" sz="2000" dirty="0" smtClean="0"/>
              <a:t>Factoring in commissions</a:t>
            </a:r>
            <a:endParaRPr lang="en-US" sz="2000" dirty="0" smtClean="0"/>
          </a:p>
          <a:p>
            <a:pPr>
              <a:buNone/>
            </a:pPr>
            <a:endParaRPr lang="en-AU" sz="2000" dirty="0" smtClean="0"/>
          </a:p>
          <a:p>
            <a:pPr>
              <a:spcBef>
                <a:spcPts val="600"/>
              </a:spcBef>
              <a:spcAft>
                <a:spcPts val="1200"/>
              </a:spcAft>
              <a:buNone/>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6" name="Picture 5" descr="A21 shutterstock_182028425.jpg"/>
          <p:cNvPicPr/>
          <p:nvPr/>
        </p:nvPicPr>
        <p:blipFill>
          <a:blip r:embed="rId3" cstate="print"/>
          <a:stretch>
            <a:fillRect/>
          </a:stretch>
        </p:blipFill>
        <p:spPr>
          <a:xfrm>
            <a:off x="6372200" y="4149080"/>
            <a:ext cx="2088232" cy="1440160"/>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Negotiate costs with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gross price</a:t>
            </a:r>
          </a:p>
          <a:p>
            <a:pPr lvl="0">
              <a:spcBef>
                <a:spcPts val="600"/>
              </a:spcBef>
              <a:spcAft>
                <a:spcPts val="1200"/>
              </a:spcAft>
            </a:pPr>
            <a:r>
              <a:rPr lang="en-AU" sz="2200" dirty="0" smtClean="0">
                <a:latin typeface="Helvetica" pitchFamily="34" charset="0"/>
              </a:rPr>
              <a:t>The commission</a:t>
            </a:r>
          </a:p>
          <a:p>
            <a:pPr lvl="0">
              <a:spcBef>
                <a:spcPts val="600"/>
              </a:spcBef>
              <a:spcAft>
                <a:spcPts val="1200"/>
              </a:spcAft>
            </a:pPr>
            <a:r>
              <a:rPr lang="en-AU" sz="2200" dirty="0" smtClean="0">
                <a:latin typeface="Helvetica" pitchFamily="34" charset="0"/>
              </a:rPr>
              <a:t>The Nett price</a:t>
            </a:r>
          </a:p>
          <a:p>
            <a:pPr lvl="0">
              <a:spcBef>
                <a:spcPts val="600"/>
              </a:spcBef>
              <a:spcAft>
                <a:spcPts val="1200"/>
              </a:spcAft>
            </a:pPr>
            <a:r>
              <a:rPr lang="en-AU" sz="2200" dirty="0" smtClean="0">
                <a:latin typeface="Helvetica" pitchFamily="34" charset="0"/>
              </a:rPr>
              <a:t>The currency</a:t>
            </a:r>
          </a:p>
          <a:p>
            <a:pPr lvl="0">
              <a:spcBef>
                <a:spcPts val="600"/>
              </a:spcBef>
              <a:spcAft>
                <a:spcPts val="1200"/>
              </a:spcAft>
            </a:pPr>
            <a:r>
              <a:rPr lang="en-AU" sz="2200" dirty="0" smtClean="0">
                <a:latin typeface="Helvetica" pitchFamily="34" charset="0"/>
              </a:rPr>
              <a:t>The method of payment</a:t>
            </a:r>
          </a:p>
          <a:p>
            <a:pPr lvl="0">
              <a:spcBef>
                <a:spcPts val="600"/>
              </a:spcBef>
              <a:spcAft>
                <a:spcPts val="1200"/>
              </a:spcAft>
            </a:pPr>
            <a:r>
              <a:rPr lang="en-AU" sz="2200" dirty="0" smtClean="0">
                <a:latin typeface="Helvetica" pitchFamily="34" charset="0"/>
              </a:rPr>
              <a:t>The deposit amount and deadline</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5" name="Picture 4" descr="shutterstock_93034984.jpg"/>
          <p:cNvPicPr/>
          <p:nvPr/>
        </p:nvPicPr>
        <p:blipFill>
          <a:blip r:embed="rId3" cstate="print"/>
          <a:stretch>
            <a:fillRect/>
          </a:stretch>
        </p:blipFill>
        <p:spPr>
          <a:xfrm>
            <a:off x="4499992" y="2564904"/>
            <a:ext cx="2520280" cy="2016224"/>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Negotiate costs with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final payment deadline</a:t>
            </a:r>
          </a:p>
          <a:p>
            <a:pPr lvl="0">
              <a:spcBef>
                <a:spcPts val="600"/>
              </a:spcBef>
              <a:spcAft>
                <a:spcPts val="1200"/>
              </a:spcAft>
            </a:pPr>
            <a:r>
              <a:rPr lang="en-AU" sz="2200" dirty="0" smtClean="0">
                <a:latin typeface="Helvetica" pitchFamily="34" charset="0"/>
              </a:rPr>
              <a:t>The cancellation or amendment fees</a:t>
            </a:r>
          </a:p>
          <a:p>
            <a:pPr lvl="0">
              <a:spcBef>
                <a:spcPts val="600"/>
              </a:spcBef>
              <a:spcAft>
                <a:spcPts val="1200"/>
              </a:spcAft>
            </a:pPr>
            <a:r>
              <a:rPr lang="en-AU" sz="2200" dirty="0" smtClean="0">
                <a:latin typeface="Helvetica" pitchFamily="34" charset="0"/>
              </a:rPr>
              <a:t>The allocation of seats / rooms / cabins</a:t>
            </a:r>
          </a:p>
          <a:p>
            <a:pPr lvl="0">
              <a:spcBef>
                <a:spcPts val="600"/>
              </a:spcBef>
              <a:spcAft>
                <a:spcPts val="1200"/>
              </a:spcAft>
            </a:pPr>
            <a:r>
              <a:rPr lang="en-AU" sz="2200" dirty="0" smtClean="0">
                <a:latin typeface="Helvetica" pitchFamily="34" charset="0"/>
              </a:rPr>
              <a:t>The release back date for unsold allocations</a:t>
            </a:r>
          </a:p>
          <a:p>
            <a:pPr lvl="0">
              <a:spcBef>
                <a:spcPts val="600"/>
              </a:spcBef>
              <a:spcAft>
                <a:spcPts val="1200"/>
              </a:spcAft>
            </a:pPr>
            <a:r>
              <a:rPr lang="en-AU" sz="2200" dirty="0" smtClean="0">
                <a:latin typeface="Helvetica" pitchFamily="34" charset="0"/>
              </a:rPr>
              <a:t>The deadline for final passenger </a:t>
            </a:r>
            <a:br>
              <a:rPr lang="en-AU" sz="2200" dirty="0" smtClean="0">
                <a:latin typeface="Helvetica" pitchFamily="34" charset="0"/>
              </a:rPr>
            </a:br>
            <a:r>
              <a:rPr lang="en-AU" sz="2200" dirty="0" smtClean="0">
                <a:latin typeface="Helvetica" pitchFamily="34" charset="0"/>
              </a:rPr>
              <a:t>names / numbers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5" name="Picture 4" descr="shutterstock_122825407.jpg"/>
          <p:cNvPicPr>
            <a:picLocks noChangeAspect="1"/>
          </p:cNvPicPr>
          <p:nvPr/>
        </p:nvPicPr>
        <p:blipFill>
          <a:blip r:embed="rId3" cstate="print"/>
          <a:stretch>
            <a:fillRect/>
          </a:stretch>
        </p:blipFill>
        <p:spPr>
          <a:xfrm>
            <a:off x="6156176" y="4293096"/>
            <a:ext cx="2276288" cy="1518284"/>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Calculating price points for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AU" sz="2200" b="1" dirty="0" smtClean="0">
                <a:latin typeface="Helvetica" pitchFamily="34" charset="0"/>
              </a:rPr>
              <a:t>Identifying direct costs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Direct costs include component costs for all tourism products and services included in the package.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Accommodation</a:t>
            </a:r>
          </a:p>
          <a:p>
            <a:pPr lvl="0">
              <a:spcBef>
                <a:spcPts val="600"/>
              </a:spcBef>
              <a:spcAft>
                <a:spcPts val="1200"/>
              </a:spcAft>
            </a:pPr>
            <a:r>
              <a:rPr lang="en-US" sz="2200" dirty="0" smtClean="0">
                <a:latin typeface="Helvetica" pitchFamily="34" charset="0"/>
              </a:rPr>
              <a:t>Meals</a:t>
            </a:r>
          </a:p>
          <a:p>
            <a:pPr lvl="0">
              <a:spcBef>
                <a:spcPts val="600"/>
              </a:spcBef>
              <a:spcAft>
                <a:spcPts val="1200"/>
              </a:spcAft>
            </a:pPr>
            <a:r>
              <a:rPr lang="en-US" sz="2200" dirty="0" smtClean="0">
                <a:latin typeface="Helvetica" pitchFamily="34" charset="0"/>
              </a:rPr>
              <a:t>Transfers</a:t>
            </a:r>
          </a:p>
          <a:p>
            <a:pPr lvl="0">
              <a:spcBef>
                <a:spcPts val="600"/>
              </a:spcBef>
              <a:spcAft>
                <a:spcPts val="1200"/>
              </a:spcAft>
            </a:pPr>
            <a:r>
              <a:rPr lang="en-US" sz="2200" dirty="0" smtClean="0">
                <a:latin typeface="Helvetica" pitchFamily="34" charset="0"/>
              </a:rPr>
              <a:t>Amenities/entrance fees</a:t>
            </a:r>
          </a:p>
          <a:p>
            <a:pPr lvl="0">
              <a:spcBef>
                <a:spcPts val="600"/>
              </a:spcBef>
              <a:spcAft>
                <a:spcPts val="1200"/>
              </a:spcAft>
            </a:pPr>
            <a:r>
              <a:rPr lang="en-US" sz="2200" dirty="0" smtClean="0">
                <a:latin typeface="Helvetica" pitchFamily="34" charset="0"/>
              </a:rPr>
              <a:t>Equipment hire or use</a:t>
            </a:r>
          </a:p>
          <a:p>
            <a:pPr lvl="0">
              <a:spcBef>
                <a:spcPts val="600"/>
              </a:spcBef>
              <a:spcAft>
                <a:spcPts val="1200"/>
              </a:spcAft>
            </a:pPr>
            <a:r>
              <a:rPr lang="en-US" sz="2200" dirty="0" smtClean="0">
                <a:latin typeface="Helvetica" pitchFamily="34" charset="0"/>
              </a:rPr>
              <a:t>Wages / fees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6" name="Picture 5" descr="shutterstock_125575283.jpg"/>
          <p:cNvPicPr>
            <a:picLocks noChangeAspect="1"/>
          </p:cNvPicPr>
          <p:nvPr/>
        </p:nvPicPr>
        <p:blipFill>
          <a:blip r:embed="rId3" cstate="print"/>
          <a:stretch>
            <a:fillRect/>
          </a:stretch>
        </p:blipFill>
        <p:spPr>
          <a:xfrm>
            <a:off x="5868144" y="4005064"/>
            <a:ext cx="2592288" cy="1731648"/>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mark up and commissions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Calculate mark-up nett costs and commissions to determine a profitable selling price</a:t>
            </a:r>
            <a:endParaRPr lang="en-AU" sz="2200" dirty="0" smtClean="0">
              <a:latin typeface="Helvetica" pitchFamily="34" charset="0"/>
            </a:endParaRPr>
          </a:p>
          <a:p>
            <a:pPr lvl="0">
              <a:spcBef>
                <a:spcPts val="600"/>
              </a:spcBef>
              <a:spcAft>
                <a:spcPts val="1200"/>
              </a:spcAft>
              <a:buNone/>
            </a:pPr>
            <a:r>
              <a:rPr lang="en-AU" sz="2200" dirty="0" smtClean="0">
                <a:latin typeface="Helvetica" pitchFamily="34" charset="0"/>
              </a:rPr>
              <a:t>How do you determine:</a:t>
            </a:r>
          </a:p>
          <a:p>
            <a:pPr lvl="0">
              <a:spcBef>
                <a:spcPts val="600"/>
              </a:spcBef>
              <a:spcAft>
                <a:spcPts val="1200"/>
              </a:spcAft>
            </a:pPr>
            <a:r>
              <a:rPr lang="en-AU" sz="2200" dirty="0" smtClean="0">
                <a:latin typeface="Helvetica" pitchFamily="34" charset="0"/>
              </a:rPr>
              <a:t>Appropriate mark-ups</a:t>
            </a:r>
          </a:p>
          <a:p>
            <a:pPr lvl="0">
              <a:spcBef>
                <a:spcPts val="600"/>
              </a:spcBef>
              <a:spcAft>
                <a:spcPts val="1200"/>
              </a:spcAft>
            </a:pPr>
            <a:r>
              <a:rPr lang="en-AU" sz="2200" dirty="0" smtClean="0">
                <a:latin typeface="Helvetica" pitchFamily="34" charset="0"/>
              </a:rPr>
              <a:t>Commission levels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5" name="Picture 4" descr="shutterstock_38546896.jpg"/>
          <p:cNvPicPr/>
          <p:nvPr/>
        </p:nvPicPr>
        <p:blipFill>
          <a:blip r:embed="rId3" cstate="print"/>
          <a:stretch>
            <a:fillRect/>
          </a:stretch>
        </p:blipFill>
        <p:spPr>
          <a:xfrm>
            <a:off x="4355976" y="2636912"/>
            <a:ext cx="2520280" cy="1656184"/>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Identify organisational fees</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600"/>
              </a:spcAft>
              <a:buNone/>
            </a:pPr>
            <a:r>
              <a:rPr lang="en-AU" sz="1800" b="1" dirty="0" smtClean="0"/>
              <a:t>Identify organisational fees</a:t>
            </a:r>
            <a:endParaRPr lang="en-US" sz="1800" dirty="0" smtClean="0"/>
          </a:p>
          <a:p>
            <a:pPr>
              <a:spcBef>
                <a:spcPts val="600"/>
              </a:spcBef>
              <a:spcAft>
                <a:spcPts val="600"/>
              </a:spcAft>
            </a:pPr>
            <a:r>
              <a:rPr lang="en-AU" sz="1800" dirty="0" smtClean="0"/>
              <a:t>Flight booking</a:t>
            </a:r>
            <a:endParaRPr lang="en-US" sz="1800" dirty="0" smtClean="0"/>
          </a:p>
          <a:p>
            <a:pPr lvl="0">
              <a:spcBef>
                <a:spcPts val="600"/>
              </a:spcBef>
              <a:spcAft>
                <a:spcPts val="600"/>
              </a:spcAft>
            </a:pPr>
            <a:r>
              <a:rPr lang="en-AU" sz="1800" dirty="0" smtClean="0"/>
              <a:t>Frequent Flyer redemption booking</a:t>
            </a:r>
            <a:endParaRPr lang="en-US" sz="1800" dirty="0" smtClean="0"/>
          </a:p>
          <a:p>
            <a:pPr lvl="0">
              <a:spcBef>
                <a:spcPts val="600"/>
              </a:spcBef>
              <a:spcAft>
                <a:spcPts val="600"/>
              </a:spcAft>
            </a:pPr>
            <a:r>
              <a:rPr lang="en-AU" sz="1800" dirty="0" smtClean="0"/>
              <a:t>Itinerary planning</a:t>
            </a:r>
            <a:endParaRPr lang="en-US" sz="1800" dirty="0" smtClean="0"/>
          </a:p>
          <a:p>
            <a:pPr lvl="0">
              <a:spcBef>
                <a:spcPts val="600"/>
              </a:spcBef>
              <a:spcAft>
                <a:spcPts val="600"/>
              </a:spcAft>
            </a:pPr>
            <a:r>
              <a:rPr lang="en-AU" sz="1800" dirty="0" smtClean="0"/>
              <a:t>Land only booking</a:t>
            </a:r>
            <a:endParaRPr lang="en-US" sz="1800" dirty="0" smtClean="0"/>
          </a:p>
          <a:p>
            <a:pPr lvl="0">
              <a:spcBef>
                <a:spcPts val="600"/>
              </a:spcBef>
              <a:spcAft>
                <a:spcPts val="600"/>
              </a:spcAft>
            </a:pPr>
            <a:r>
              <a:rPr lang="en-AU" sz="1800" dirty="0" smtClean="0"/>
              <a:t>Reconfirmation of airline reservations</a:t>
            </a:r>
            <a:endParaRPr lang="en-US" sz="1800" dirty="0" smtClean="0"/>
          </a:p>
          <a:p>
            <a:pPr lvl="0">
              <a:spcBef>
                <a:spcPts val="600"/>
              </a:spcBef>
              <a:spcAft>
                <a:spcPts val="600"/>
              </a:spcAft>
            </a:pPr>
            <a:r>
              <a:rPr lang="en-AU" sz="1800" dirty="0" smtClean="0"/>
              <a:t>Passport/visa assistance</a:t>
            </a:r>
            <a:endParaRPr lang="en-US" sz="1800" dirty="0" smtClean="0"/>
          </a:p>
          <a:p>
            <a:pPr lvl="0">
              <a:spcBef>
                <a:spcPts val="600"/>
              </a:spcBef>
              <a:spcAft>
                <a:spcPts val="600"/>
              </a:spcAft>
            </a:pPr>
            <a:r>
              <a:rPr lang="en-AU" sz="1800" dirty="0" smtClean="0"/>
              <a:t>International fax/phone calls</a:t>
            </a:r>
            <a:endParaRPr lang="en-US" sz="1800" dirty="0" smtClean="0"/>
          </a:p>
          <a:p>
            <a:pPr lvl="0">
              <a:spcBef>
                <a:spcPts val="600"/>
              </a:spcBef>
              <a:spcAft>
                <a:spcPts val="600"/>
              </a:spcAft>
            </a:pPr>
            <a:r>
              <a:rPr lang="en-AU" sz="1800" dirty="0" smtClean="0"/>
              <a:t>Late booking fees</a:t>
            </a:r>
            <a:endParaRPr lang="en-US" sz="1800" dirty="0" smtClean="0"/>
          </a:p>
          <a:p>
            <a:pPr lvl="0">
              <a:spcBef>
                <a:spcPts val="600"/>
              </a:spcBef>
              <a:spcAft>
                <a:spcPts val="600"/>
              </a:spcAft>
            </a:pPr>
            <a:r>
              <a:rPr lang="en-AU" sz="1800" dirty="0" smtClean="0"/>
              <a:t>Amendment fees</a:t>
            </a:r>
            <a:endParaRPr lang="en-US" sz="1800" dirty="0" smtClean="0"/>
          </a:p>
          <a:p>
            <a:pPr lvl="0">
              <a:spcBef>
                <a:spcPts val="600"/>
              </a:spcBef>
              <a:spcAft>
                <a:spcPts val="600"/>
              </a:spcAft>
            </a:pPr>
            <a:r>
              <a:rPr lang="en-AU" sz="1800" dirty="0" smtClean="0"/>
              <a:t>Cancellation fees</a:t>
            </a:r>
            <a:endParaRPr lang="en-US" sz="1800" dirty="0" smtClean="0"/>
          </a:p>
          <a:p>
            <a:pPr lvl="0">
              <a:spcBef>
                <a:spcPts val="600"/>
              </a:spcBef>
              <a:spcAft>
                <a:spcPts val="600"/>
              </a:spcAft>
            </a:pPr>
            <a:r>
              <a:rPr lang="en-AU" sz="1800" dirty="0" smtClean="0"/>
              <a:t>Credit card merchant fees</a:t>
            </a:r>
            <a:endParaRPr lang="en-US" sz="1800" dirty="0" smtClean="0"/>
          </a:p>
          <a:p>
            <a:pPr>
              <a:buNone/>
            </a:pPr>
            <a:endParaRPr lang="en-AU" sz="1800" dirty="0" smtClean="0"/>
          </a:p>
          <a:p>
            <a:pPr>
              <a:spcBef>
                <a:spcPts val="600"/>
              </a:spcBef>
              <a:spcAft>
                <a:spcPts val="1200"/>
              </a:spcAft>
              <a:buNone/>
            </a:pPr>
            <a:endParaRPr lang="en-AU"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6" name="Picture 5" descr="W401_shutterstock_155252273.jpg"/>
          <p:cNvPicPr/>
          <p:nvPr/>
        </p:nvPicPr>
        <p:blipFill>
          <a:blip r:embed="rId3" cstate="print"/>
          <a:stretch>
            <a:fillRect/>
          </a:stretch>
        </p:blipFill>
        <p:spPr>
          <a:xfrm>
            <a:off x="5959260" y="3645024"/>
            <a:ext cx="2448272" cy="1656184"/>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additional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Accurately calculate any additional taxes, special fees and other charges</a:t>
            </a:r>
          </a:p>
          <a:p>
            <a:pPr marL="0">
              <a:spcBef>
                <a:spcPts val="600"/>
              </a:spcBef>
              <a:spcAft>
                <a:spcPts val="1200"/>
              </a:spcAft>
              <a:buNone/>
            </a:pPr>
            <a:r>
              <a:rPr lang="en-AU" sz="2200" dirty="0" smtClean="0">
                <a:latin typeface="Helvetica" pitchFamily="34" charset="0"/>
              </a:rPr>
              <a:t>What are examples of:</a:t>
            </a:r>
          </a:p>
          <a:p>
            <a:pPr marL="0">
              <a:spcBef>
                <a:spcPts val="600"/>
              </a:spcBef>
              <a:spcAft>
                <a:spcPts val="1200"/>
              </a:spcAft>
            </a:pPr>
            <a:r>
              <a:rPr lang="en-AU" sz="2200" dirty="0" smtClean="0">
                <a:latin typeface="Helvetica" pitchFamily="34" charset="0"/>
              </a:rPr>
              <a:t>Taxes</a:t>
            </a:r>
          </a:p>
          <a:p>
            <a:pPr marL="0">
              <a:spcBef>
                <a:spcPts val="600"/>
              </a:spcBef>
              <a:spcAft>
                <a:spcPts val="1200"/>
              </a:spcAft>
            </a:pPr>
            <a:r>
              <a:rPr lang="en-AU" sz="2200" dirty="0" smtClean="0">
                <a:latin typeface="Helvetica" pitchFamily="34" charset="0"/>
              </a:rPr>
              <a:t>Special fees</a:t>
            </a:r>
          </a:p>
          <a:p>
            <a:pPr marL="0">
              <a:spcBef>
                <a:spcPts val="600"/>
              </a:spcBef>
              <a:spcAft>
                <a:spcPts val="1200"/>
              </a:spcAft>
            </a:pPr>
            <a:r>
              <a:rPr lang="en-AU" sz="2200" dirty="0" smtClean="0">
                <a:latin typeface="Helvetica" pitchFamily="34" charset="0"/>
              </a:rPr>
              <a:t>Other charges </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5" name="Picture 4" descr="shutterstock_150882020.jpg"/>
          <p:cNvPicPr>
            <a:picLocks noChangeAspect="1"/>
          </p:cNvPicPr>
          <p:nvPr/>
        </p:nvPicPr>
        <p:blipFill>
          <a:blip r:embed="rId3" cstate="print"/>
          <a:stretch>
            <a:fillRect/>
          </a:stretch>
        </p:blipFill>
        <p:spPr>
          <a:xfrm>
            <a:off x="3851920" y="2852936"/>
            <a:ext cx="1738314" cy="1738314"/>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currency exchange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a:spcBef>
                <a:spcPts val="600"/>
              </a:spcBef>
              <a:spcAft>
                <a:spcPts val="1200"/>
              </a:spcAft>
              <a:buNone/>
            </a:pPr>
            <a:r>
              <a:rPr lang="en-AU" sz="2200" b="1" dirty="0" smtClean="0">
                <a:latin typeface="Helvetica" pitchFamily="34" charset="0"/>
              </a:rPr>
              <a:t>Accurately calculate any required currency conversions</a:t>
            </a:r>
          </a:p>
          <a:p>
            <a:pPr>
              <a:spcBef>
                <a:spcPts val="600"/>
              </a:spcBef>
              <a:spcAft>
                <a:spcPts val="1200"/>
              </a:spcAft>
            </a:pPr>
            <a:r>
              <a:rPr lang="en-AU" sz="2200" dirty="0" smtClean="0">
                <a:latin typeface="Helvetica" pitchFamily="34" charset="0"/>
              </a:rPr>
              <a:t>How can you identify currency of different countries?</a:t>
            </a:r>
          </a:p>
          <a:p>
            <a:pPr>
              <a:spcBef>
                <a:spcPts val="600"/>
              </a:spcBef>
              <a:spcAft>
                <a:spcPts val="1200"/>
              </a:spcAft>
            </a:pPr>
            <a:r>
              <a:rPr lang="en-AU" sz="2200" dirty="0" smtClean="0">
                <a:latin typeface="Helvetica" pitchFamily="34" charset="0"/>
              </a:rPr>
              <a:t>How may this vary between quotation and booking?</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6" name="Picture 5" descr="shutterstock_98660465.jpg"/>
          <p:cNvPicPr/>
          <p:nvPr/>
        </p:nvPicPr>
        <p:blipFill>
          <a:blip r:embed="rId3" cstate="print"/>
          <a:stretch>
            <a:fillRect/>
          </a:stretch>
        </p:blipFill>
        <p:spPr>
          <a:xfrm>
            <a:off x="2771800" y="3429000"/>
            <a:ext cx="2448272" cy="1944216"/>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supplier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Securing quotes and costs from suppliers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What are general considerations when securing quotes and costs?</a:t>
            </a:r>
          </a:p>
          <a:p>
            <a:pPr>
              <a:spcBef>
                <a:spcPts val="600"/>
              </a:spcBef>
              <a:spcAft>
                <a:spcPts val="1200"/>
              </a:spcAft>
            </a:pPr>
            <a:r>
              <a:rPr lang="en-AU" sz="2200" dirty="0" smtClean="0">
                <a:latin typeface="Helvetica" pitchFamily="34" charset="0"/>
              </a:rPr>
              <a:t>What information do you need to secure quotes?</a:t>
            </a:r>
          </a:p>
          <a:p>
            <a:pPr>
              <a:spcBef>
                <a:spcPts val="600"/>
              </a:spcBef>
              <a:spcAft>
                <a:spcPts val="1200"/>
              </a:spcAft>
            </a:pPr>
            <a:r>
              <a:rPr lang="en-AU" sz="2200" dirty="0" smtClean="0">
                <a:latin typeface="Helvetica" pitchFamily="34" charset="0"/>
              </a:rPr>
              <a:t>What arrangements need to be made to secure quotes?</a:t>
            </a:r>
          </a:p>
          <a:p>
            <a:pPr>
              <a:spcBef>
                <a:spcPts val="600"/>
              </a:spcBef>
              <a:spcAft>
                <a:spcPts val="1200"/>
              </a:spcAft>
            </a:pPr>
            <a:r>
              <a:rPr lang="en-AU" sz="2200" dirty="0" smtClean="0">
                <a:latin typeface="Helvetica" pitchFamily="34" charset="0"/>
              </a:rPr>
              <a:t>How can you identify final supplier                                             details and costs?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5" name="Picture 4" descr="shutterstock_95857066.jpg"/>
          <p:cNvPicPr/>
          <p:nvPr/>
        </p:nvPicPr>
        <p:blipFill>
          <a:blip r:embed="rId3" cstate="print"/>
          <a:stretch>
            <a:fillRect/>
          </a:stretch>
        </p:blipFill>
        <p:spPr>
          <a:xfrm>
            <a:off x="6372200" y="4149080"/>
            <a:ext cx="2016224" cy="1656184"/>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supplier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84576"/>
          </a:xfrm>
        </p:spPr>
        <p:txBody>
          <a:bodyPr>
            <a:normAutofit lnSpcReduction="10000"/>
          </a:bodyPr>
          <a:lstStyle/>
          <a:p>
            <a:pPr marL="0">
              <a:spcBef>
                <a:spcPts val="600"/>
              </a:spcBef>
              <a:spcAft>
                <a:spcPts val="1200"/>
              </a:spcAft>
              <a:buNone/>
            </a:pPr>
            <a:r>
              <a:rPr lang="en-AU" sz="2000" b="1" dirty="0" smtClean="0"/>
              <a:t>Check all calculations against all product and service components</a:t>
            </a:r>
            <a:endParaRPr lang="en-AU" sz="2000" dirty="0" smtClean="0"/>
          </a:p>
          <a:p>
            <a:pPr marL="0">
              <a:spcBef>
                <a:spcPts val="600"/>
              </a:spcBef>
              <a:spcAft>
                <a:spcPts val="1200"/>
              </a:spcAft>
              <a:buNone/>
            </a:pPr>
            <a:r>
              <a:rPr lang="en-AU" sz="2000" dirty="0" smtClean="0"/>
              <a:t>Prior to providing the customer with a quotation you must check all your calculations in relation to the prices secured.</a:t>
            </a:r>
          </a:p>
          <a:p>
            <a:pPr marL="0">
              <a:spcBef>
                <a:spcPts val="600"/>
              </a:spcBef>
              <a:spcAft>
                <a:spcPts val="1200"/>
              </a:spcAft>
              <a:buNone/>
            </a:pPr>
            <a:r>
              <a:rPr lang="en-AU" sz="2000" dirty="0" smtClean="0"/>
              <a:t>The process of collating and pricing the itinerary </a:t>
            </a:r>
            <a:br>
              <a:rPr lang="en-AU" sz="2000" dirty="0" smtClean="0"/>
            </a:br>
            <a:r>
              <a:rPr lang="en-AU" sz="2000" dirty="0" smtClean="0"/>
              <a:t>must include:</a:t>
            </a:r>
          </a:p>
          <a:p>
            <a:pPr>
              <a:spcBef>
                <a:spcPts val="600"/>
              </a:spcBef>
              <a:spcAft>
                <a:spcPts val="1200"/>
              </a:spcAft>
            </a:pPr>
            <a:r>
              <a:rPr lang="en-AU" sz="2000" dirty="0" smtClean="0"/>
              <a:t>Checking the detail of the products and services</a:t>
            </a:r>
          </a:p>
          <a:p>
            <a:pPr>
              <a:spcBef>
                <a:spcPts val="600"/>
              </a:spcBef>
              <a:spcAft>
                <a:spcPts val="1200"/>
              </a:spcAft>
            </a:pPr>
            <a:r>
              <a:rPr lang="en-AU" sz="2000" dirty="0" smtClean="0"/>
              <a:t>How these have been priced</a:t>
            </a:r>
          </a:p>
          <a:p>
            <a:pPr>
              <a:spcBef>
                <a:spcPts val="600"/>
              </a:spcBef>
              <a:spcAft>
                <a:spcPts val="1200"/>
              </a:spcAft>
            </a:pPr>
            <a:endParaRPr lang="en-AU" sz="2000" dirty="0" smtClean="0"/>
          </a:p>
          <a:p>
            <a:pPr>
              <a:spcBef>
                <a:spcPts val="600"/>
              </a:spcBef>
              <a:spcAft>
                <a:spcPts val="1200"/>
              </a:spcAft>
            </a:pPr>
            <a:endParaRPr lang="en-AU" sz="2000" dirty="0" smtClean="0"/>
          </a:p>
          <a:p>
            <a:pPr>
              <a:spcBef>
                <a:spcPts val="600"/>
              </a:spcBef>
              <a:spcAft>
                <a:spcPts val="1200"/>
              </a:spcAft>
              <a:buNone/>
            </a:pPr>
            <a:r>
              <a:rPr lang="en-AU" sz="2000" b="1" i="1" dirty="0" smtClean="0">
                <a:solidFill>
                  <a:srgbClr val="FF6600"/>
                </a:solidFill>
              </a:rPr>
              <a:t>COMPLETE ACTIVITY 13</a:t>
            </a:r>
          </a:p>
          <a:p>
            <a:pPr>
              <a:spcBef>
                <a:spcPts val="600"/>
              </a:spcBef>
              <a:spcAft>
                <a:spcPts val="1200"/>
              </a:spcAft>
              <a:buNone/>
            </a:pPr>
            <a:endParaRPr lang="en-AU" sz="2000" dirty="0" smtClean="0"/>
          </a:p>
          <a:p>
            <a:pPr>
              <a:spcBef>
                <a:spcPts val="600"/>
              </a:spcBef>
              <a:spcAft>
                <a:spcPts val="1200"/>
              </a:spcAft>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5" name="Picture 4" descr="shutterstock_168391730.jpg"/>
          <p:cNvPicPr/>
          <p:nvPr/>
        </p:nvPicPr>
        <p:blipFill>
          <a:blip r:embed="rId3" cstate="print"/>
          <a:stretch>
            <a:fillRect/>
          </a:stretch>
        </p:blipFill>
        <p:spPr>
          <a:xfrm>
            <a:off x="6588224" y="2780928"/>
            <a:ext cx="1728192" cy="2160240"/>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Identify terms and conditions</a:t>
            </a:r>
          </a:p>
          <a:p>
            <a:pPr marL="0">
              <a:spcBef>
                <a:spcPts val="600"/>
              </a:spcBef>
              <a:spcAft>
                <a:spcPts val="1200"/>
              </a:spcAft>
              <a:buNone/>
            </a:pPr>
            <a:r>
              <a:rPr lang="en-AU" sz="2200" dirty="0" smtClean="0">
                <a:latin typeface="Helvetica" pitchFamily="34" charset="0"/>
              </a:rPr>
              <a:t>All quotations will come with terms and conditions that will apply to various aspects of travel arrangements.</a:t>
            </a:r>
          </a:p>
          <a:p>
            <a:pPr>
              <a:spcBef>
                <a:spcPts val="600"/>
              </a:spcBef>
              <a:spcAft>
                <a:spcPts val="1200"/>
              </a:spcAft>
              <a:buNone/>
            </a:pPr>
            <a:r>
              <a:rPr lang="en-AU" sz="2200" dirty="0" smtClean="0">
                <a:latin typeface="Helvetica" pitchFamily="34" charset="0"/>
              </a:rPr>
              <a:t>Terms and conditions may be provided by:</a:t>
            </a:r>
          </a:p>
          <a:p>
            <a:pPr lvl="0">
              <a:spcBef>
                <a:spcPts val="600"/>
              </a:spcBef>
              <a:spcAft>
                <a:spcPts val="1200"/>
              </a:spcAft>
            </a:pPr>
            <a:r>
              <a:rPr lang="en-AU" sz="2200" dirty="0" smtClean="0">
                <a:latin typeface="Helvetica" pitchFamily="34" charset="0"/>
              </a:rPr>
              <a:t>The travel agent themselves</a:t>
            </a:r>
          </a:p>
          <a:p>
            <a:pPr lvl="0">
              <a:spcBef>
                <a:spcPts val="600"/>
              </a:spcBef>
              <a:spcAft>
                <a:spcPts val="1200"/>
              </a:spcAft>
            </a:pPr>
            <a:r>
              <a:rPr lang="en-AU" sz="2200" dirty="0" smtClean="0">
                <a:latin typeface="Helvetica" pitchFamily="34" charset="0"/>
              </a:rPr>
              <a:t>Suppliers</a:t>
            </a:r>
          </a:p>
          <a:p>
            <a:pPr lvl="0">
              <a:spcBef>
                <a:spcPts val="600"/>
              </a:spcBef>
              <a:spcAft>
                <a:spcPts val="1200"/>
              </a:spcAft>
            </a:pPr>
            <a:r>
              <a:rPr lang="en-AU" sz="2200" dirty="0" smtClean="0">
                <a:latin typeface="Helvetica" pitchFamily="34" charset="0"/>
              </a:rPr>
              <a:t>The  individual product or service provider </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5" name="Picture 4" descr="shutterstock_143143042.jpg"/>
          <p:cNvPicPr/>
          <p:nvPr/>
        </p:nvPicPr>
        <p:blipFill>
          <a:blip r:embed="rId3" cstate="print"/>
          <a:stretch>
            <a:fillRect/>
          </a:stretch>
        </p:blipFill>
        <p:spPr>
          <a:xfrm>
            <a:off x="6645804" y="2852936"/>
            <a:ext cx="1584176" cy="2160240"/>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1800" b="1" dirty="0" smtClean="0"/>
              <a:t>Types of terms and conditions</a:t>
            </a:r>
            <a:endParaRPr lang="en-AU" sz="1800" dirty="0" smtClean="0"/>
          </a:p>
          <a:p>
            <a:pPr lvl="0">
              <a:spcBef>
                <a:spcPts val="600"/>
              </a:spcBef>
              <a:spcAft>
                <a:spcPts val="1200"/>
              </a:spcAft>
            </a:pPr>
            <a:r>
              <a:rPr lang="en-AU" sz="1800" dirty="0" smtClean="0"/>
              <a:t>Terms and methods of payment</a:t>
            </a:r>
          </a:p>
          <a:p>
            <a:pPr lvl="0">
              <a:spcBef>
                <a:spcPts val="600"/>
              </a:spcBef>
              <a:spcAft>
                <a:spcPts val="1200"/>
              </a:spcAft>
            </a:pPr>
            <a:r>
              <a:rPr lang="en-AU" sz="1800" dirty="0" smtClean="0"/>
              <a:t>Dates for payment of deposits and final payment</a:t>
            </a:r>
          </a:p>
          <a:p>
            <a:pPr lvl="0">
              <a:spcBef>
                <a:spcPts val="600"/>
              </a:spcBef>
              <a:spcAft>
                <a:spcPts val="1200"/>
              </a:spcAft>
            </a:pPr>
            <a:r>
              <a:rPr lang="en-AU" sz="1800" dirty="0" smtClean="0"/>
              <a:t>Notifications regarding final confirmation of the booking </a:t>
            </a:r>
          </a:p>
          <a:p>
            <a:pPr lvl="0">
              <a:spcBef>
                <a:spcPts val="600"/>
              </a:spcBef>
              <a:spcAft>
                <a:spcPts val="1200"/>
              </a:spcAft>
            </a:pPr>
            <a:r>
              <a:rPr lang="en-AU" sz="1800" dirty="0" smtClean="0"/>
              <a:t>Cancellations and penalties and charges that apply</a:t>
            </a:r>
          </a:p>
          <a:p>
            <a:pPr lvl="0">
              <a:spcBef>
                <a:spcPts val="600"/>
              </a:spcBef>
              <a:spcAft>
                <a:spcPts val="1200"/>
              </a:spcAft>
            </a:pPr>
            <a:r>
              <a:rPr lang="en-AU" sz="1800" dirty="0" smtClean="0"/>
              <a:t>Procedures and charges that apply to name </a:t>
            </a:r>
            <a:br>
              <a:rPr lang="en-AU" sz="1800" dirty="0" smtClean="0"/>
            </a:br>
            <a:r>
              <a:rPr lang="en-AU" sz="1800" dirty="0" smtClean="0"/>
              <a:t>and date changes for the booking</a:t>
            </a:r>
          </a:p>
          <a:p>
            <a:pPr lvl="0">
              <a:spcBef>
                <a:spcPts val="600"/>
              </a:spcBef>
              <a:spcAft>
                <a:spcPts val="1200"/>
              </a:spcAft>
            </a:pPr>
            <a:r>
              <a:rPr lang="en-AU" sz="1800" dirty="0" smtClean="0"/>
              <a:t>Guarantees and warranties that apply to the                           products and services covered by the quotation</a:t>
            </a:r>
          </a:p>
          <a:p>
            <a:pPr>
              <a:spcBef>
                <a:spcPts val="600"/>
              </a:spcBef>
              <a:spcAft>
                <a:spcPts val="1200"/>
              </a:spcAft>
            </a:pPr>
            <a:endParaRPr lang="en-AU"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5" name="Picture 4" descr="shutterstock_165735539.jpg"/>
          <p:cNvPicPr/>
          <p:nvPr/>
        </p:nvPicPr>
        <p:blipFill>
          <a:blip r:embed="rId3" cstate="print"/>
          <a:stretch>
            <a:fillRect/>
          </a:stretch>
        </p:blipFill>
        <p:spPr>
          <a:xfrm>
            <a:off x="6588224" y="4221088"/>
            <a:ext cx="1800200" cy="1368152"/>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Types of terms and conditions</a:t>
            </a:r>
            <a:endParaRPr lang="en-AU" sz="2000" dirty="0" smtClean="0"/>
          </a:p>
          <a:p>
            <a:pPr lvl="0">
              <a:spcBef>
                <a:spcPts val="600"/>
              </a:spcBef>
              <a:spcAft>
                <a:spcPts val="1200"/>
              </a:spcAft>
            </a:pPr>
            <a:r>
              <a:rPr lang="en-AU" sz="2000" dirty="0" smtClean="0"/>
              <a:t>Exclusion and limitation of liability clauses</a:t>
            </a:r>
          </a:p>
          <a:p>
            <a:pPr lvl="0">
              <a:spcBef>
                <a:spcPts val="600"/>
              </a:spcBef>
              <a:spcAft>
                <a:spcPts val="1200"/>
              </a:spcAft>
            </a:pPr>
            <a:r>
              <a:rPr lang="en-AU" sz="2000" dirty="0" smtClean="0"/>
              <a:t>Identification of the period for which the quotation is valid</a:t>
            </a:r>
          </a:p>
          <a:p>
            <a:pPr lvl="0">
              <a:spcBef>
                <a:spcPts val="600"/>
              </a:spcBef>
              <a:spcAft>
                <a:spcPts val="1200"/>
              </a:spcAft>
            </a:pPr>
            <a:r>
              <a:rPr lang="en-AU" sz="2000" dirty="0" smtClean="0"/>
              <a:t>Whether or not the quotation is subject to change with or without notice</a:t>
            </a:r>
          </a:p>
          <a:p>
            <a:pPr lvl="0">
              <a:spcBef>
                <a:spcPts val="600"/>
              </a:spcBef>
              <a:spcAft>
                <a:spcPts val="1200"/>
              </a:spcAft>
            </a:pPr>
            <a:r>
              <a:rPr lang="en-AU" sz="2000" dirty="0" smtClean="0"/>
              <a:t>Reference to associated terms and conditions </a:t>
            </a:r>
            <a:br>
              <a:rPr lang="en-AU" sz="2000" dirty="0" smtClean="0"/>
            </a:br>
            <a:r>
              <a:rPr lang="en-AU" sz="2000" dirty="0" smtClean="0"/>
              <a:t>as imposed by third party providers</a:t>
            </a:r>
          </a:p>
          <a:p>
            <a:pPr lvl="0">
              <a:spcBef>
                <a:spcPts val="600"/>
              </a:spcBef>
              <a:spcAft>
                <a:spcPts val="1200"/>
              </a:spcAft>
            </a:pPr>
            <a:r>
              <a:rPr lang="en-AU" sz="2000" dirty="0" smtClean="0"/>
              <a:t>General industry rules, regulations and codes</a:t>
            </a:r>
          </a:p>
          <a:p>
            <a:pPr>
              <a:spcBef>
                <a:spcPts val="600"/>
              </a:spcBef>
              <a:spcAft>
                <a:spcPts val="1200"/>
              </a:spcAft>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5" name="Picture 4" descr="shutterstock_156185711.jpg"/>
          <p:cNvPicPr/>
          <p:nvPr/>
        </p:nvPicPr>
        <p:blipFill>
          <a:blip r:embed="rId3" cstate="print"/>
          <a:stretch>
            <a:fillRect/>
          </a:stretch>
        </p:blipFill>
        <p:spPr>
          <a:xfrm>
            <a:off x="6444208" y="4149080"/>
            <a:ext cx="1944216" cy="1427266"/>
          </a:xfrm>
          <a:prstGeom prst="rect">
            <a:avLst/>
          </a:prstGeom>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Booking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Booking conditions</a:t>
            </a:r>
            <a:endParaRPr lang="en-US" sz="2000" dirty="0" smtClean="0"/>
          </a:p>
          <a:p>
            <a:pPr lvl="0">
              <a:spcBef>
                <a:spcPts val="600"/>
              </a:spcBef>
              <a:spcAft>
                <a:spcPts val="1200"/>
              </a:spcAft>
            </a:pPr>
            <a:r>
              <a:rPr lang="en-AU" sz="2000" dirty="0" smtClean="0"/>
              <a:t>How to book – who to contact</a:t>
            </a:r>
            <a:endParaRPr lang="en-US" sz="2000" dirty="0" smtClean="0"/>
          </a:p>
          <a:p>
            <a:pPr lvl="0">
              <a:spcBef>
                <a:spcPts val="600"/>
              </a:spcBef>
              <a:spcAft>
                <a:spcPts val="1200"/>
              </a:spcAft>
            </a:pPr>
            <a:r>
              <a:rPr lang="en-AU" sz="2000" dirty="0" smtClean="0"/>
              <a:t>Amount of deposit required</a:t>
            </a:r>
            <a:endParaRPr lang="en-US" sz="2000" dirty="0" smtClean="0"/>
          </a:p>
          <a:p>
            <a:pPr lvl="0">
              <a:spcBef>
                <a:spcPts val="600"/>
              </a:spcBef>
              <a:spcAft>
                <a:spcPts val="1200"/>
              </a:spcAft>
            </a:pPr>
            <a:r>
              <a:rPr lang="en-AU" sz="2000" dirty="0" smtClean="0"/>
              <a:t>Prices and validity</a:t>
            </a:r>
            <a:endParaRPr lang="en-US" sz="2000" dirty="0" smtClean="0"/>
          </a:p>
          <a:p>
            <a:pPr lvl="0">
              <a:spcBef>
                <a:spcPts val="600"/>
              </a:spcBef>
              <a:spcAft>
                <a:spcPts val="1200"/>
              </a:spcAft>
            </a:pPr>
            <a:r>
              <a:rPr lang="en-AU" sz="2000" dirty="0" smtClean="0"/>
              <a:t>Assumption of risk</a:t>
            </a:r>
            <a:endParaRPr lang="en-US" sz="2000" dirty="0" smtClean="0"/>
          </a:p>
          <a:p>
            <a:pPr lvl="0">
              <a:spcBef>
                <a:spcPts val="600"/>
              </a:spcBef>
              <a:spcAft>
                <a:spcPts val="1200"/>
              </a:spcAft>
            </a:pPr>
            <a:r>
              <a:rPr lang="en-AU" sz="2000" dirty="0" smtClean="0"/>
              <a:t>Exclusion of liability</a:t>
            </a:r>
            <a:endParaRPr lang="en-US" sz="2000" dirty="0" smtClean="0"/>
          </a:p>
          <a:p>
            <a:pPr lvl="0">
              <a:spcBef>
                <a:spcPts val="600"/>
              </a:spcBef>
              <a:spcAft>
                <a:spcPts val="1200"/>
              </a:spcAft>
            </a:pPr>
            <a:r>
              <a:rPr lang="en-AU" sz="2000" dirty="0" smtClean="0"/>
              <a:t>Payment deadline</a:t>
            </a:r>
            <a:endParaRPr lang="en-US" sz="2000" dirty="0" smtClean="0"/>
          </a:p>
          <a:p>
            <a:pPr lvl="0">
              <a:spcBef>
                <a:spcPts val="600"/>
              </a:spcBef>
              <a:spcAft>
                <a:spcPts val="1200"/>
              </a:spcAft>
            </a:pPr>
            <a:r>
              <a:rPr lang="en-AU" sz="2000" dirty="0" smtClean="0"/>
              <a:t>Ticketing deadline</a:t>
            </a:r>
            <a:endParaRPr lang="en-US" sz="2000" dirty="0" smtClean="0"/>
          </a:p>
          <a:p>
            <a:endParaRPr lang="en-US" sz="2000" dirty="0" smtClean="0"/>
          </a:p>
          <a:p>
            <a:pPr>
              <a:spcBef>
                <a:spcPts val="600"/>
              </a:spcBef>
              <a:spcAft>
                <a:spcPts val="1200"/>
              </a:spcAft>
              <a:buNone/>
            </a:pPr>
            <a:endParaRPr lang="en-US" sz="2000" dirty="0" smtClean="0"/>
          </a:p>
          <a:p>
            <a:pPr>
              <a:buNone/>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7" name="Picture 6" descr="shutterstock_149574587.jpg"/>
          <p:cNvPicPr/>
          <p:nvPr/>
        </p:nvPicPr>
        <p:blipFill>
          <a:blip r:embed="rId3" cstate="print"/>
          <a:stretch>
            <a:fillRect/>
          </a:stretch>
        </p:blipFill>
        <p:spPr>
          <a:xfrm>
            <a:off x="4644008" y="3284984"/>
            <a:ext cx="2304256" cy="1944216"/>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Booking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Booking conditions</a:t>
            </a:r>
            <a:endParaRPr lang="en-US" sz="2000" dirty="0" smtClean="0"/>
          </a:p>
          <a:p>
            <a:pPr lvl="0">
              <a:spcBef>
                <a:spcPts val="600"/>
              </a:spcBef>
              <a:spcAft>
                <a:spcPts val="1200"/>
              </a:spcAft>
            </a:pPr>
            <a:r>
              <a:rPr lang="en-AU" sz="2000" dirty="0" smtClean="0"/>
              <a:t>Extension ticketing deadline</a:t>
            </a:r>
            <a:endParaRPr lang="en-US" sz="2000" dirty="0" smtClean="0"/>
          </a:p>
          <a:p>
            <a:pPr lvl="0">
              <a:spcBef>
                <a:spcPts val="600"/>
              </a:spcBef>
              <a:spcAft>
                <a:spcPts val="1200"/>
              </a:spcAft>
            </a:pPr>
            <a:r>
              <a:rPr lang="en-AU" sz="2000" dirty="0" smtClean="0"/>
              <a:t>Cancellation by the supplier</a:t>
            </a:r>
            <a:endParaRPr lang="en-US" sz="2000" dirty="0" smtClean="0"/>
          </a:p>
          <a:p>
            <a:pPr lvl="0">
              <a:spcBef>
                <a:spcPts val="600"/>
              </a:spcBef>
              <a:spcAft>
                <a:spcPts val="1200"/>
              </a:spcAft>
            </a:pPr>
            <a:r>
              <a:rPr lang="en-AU" sz="2000" dirty="0" smtClean="0"/>
              <a:t>Force Majeure</a:t>
            </a:r>
            <a:endParaRPr lang="en-US" sz="2000" dirty="0" smtClean="0"/>
          </a:p>
          <a:p>
            <a:pPr lvl="0">
              <a:spcBef>
                <a:spcPts val="600"/>
              </a:spcBef>
              <a:spcAft>
                <a:spcPts val="1200"/>
              </a:spcAft>
            </a:pPr>
            <a:r>
              <a:rPr lang="en-AU" sz="2000" dirty="0" smtClean="0"/>
              <a:t>Cancellation by the travel agent</a:t>
            </a:r>
            <a:endParaRPr lang="en-US" sz="2000" dirty="0" smtClean="0"/>
          </a:p>
          <a:p>
            <a:pPr lvl="0">
              <a:spcBef>
                <a:spcPts val="600"/>
              </a:spcBef>
              <a:spcAft>
                <a:spcPts val="1200"/>
              </a:spcAft>
            </a:pPr>
            <a:r>
              <a:rPr lang="en-AU" sz="2000" dirty="0" smtClean="0"/>
              <a:t>Cancellation charges </a:t>
            </a:r>
            <a:endParaRPr lang="en-US" sz="2000" dirty="0" smtClean="0"/>
          </a:p>
          <a:p>
            <a:pPr lvl="0">
              <a:spcBef>
                <a:spcPts val="600"/>
              </a:spcBef>
              <a:spcAft>
                <a:spcPts val="1200"/>
              </a:spcAft>
            </a:pPr>
            <a:r>
              <a:rPr lang="en-AU" sz="2000" dirty="0" smtClean="0"/>
              <a:t>Availability of any type of change to booking</a:t>
            </a:r>
            <a:endParaRPr lang="en-US" sz="2000" dirty="0" smtClean="0"/>
          </a:p>
          <a:p>
            <a:pPr>
              <a:buNone/>
            </a:pPr>
            <a:endParaRPr lang="en-US" sz="2000" dirty="0" smtClean="0"/>
          </a:p>
          <a:p>
            <a:pPr>
              <a:spcBef>
                <a:spcPts val="600"/>
              </a:spcBef>
              <a:spcAft>
                <a:spcPts val="1200"/>
              </a:spcAft>
              <a:buNone/>
            </a:pPr>
            <a:endParaRPr lang="en-US" sz="2000" dirty="0" smtClean="0"/>
          </a:p>
          <a:p>
            <a:pPr>
              <a:buNone/>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6" name="Picture 5" descr="shutterstock_176225597.jpg"/>
          <p:cNvPicPr>
            <a:picLocks noChangeAspect="1"/>
          </p:cNvPicPr>
          <p:nvPr/>
        </p:nvPicPr>
        <p:blipFill>
          <a:blip r:embed="rId3" cstate="print"/>
          <a:stretch>
            <a:fillRect/>
          </a:stretch>
        </p:blipFill>
        <p:spPr>
          <a:xfrm>
            <a:off x="5724128" y="2780928"/>
            <a:ext cx="2394187" cy="1584952"/>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Booking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 of changes to class of booking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Types of booking amendments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Amendment fees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Complaints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Authority of suppliers and tour leaders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Baggage allowance</a:t>
            </a:r>
            <a:endParaRPr lang="en-US" sz="2200" dirty="0" smtClean="0">
              <a:latin typeface="Helvetica" pitchFamily="34" charset="0"/>
            </a:endParaRPr>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6" name="Picture 5" descr="shutterstock_101549416.jpg"/>
          <p:cNvPicPr/>
          <p:nvPr/>
        </p:nvPicPr>
        <p:blipFill>
          <a:blip r:embed="rId3" cstate="print"/>
          <a:stretch>
            <a:fillRect/>
          </a:stretch>
        </p:blipFill>
        <p:spPr>
          <a:xfrm>
            <a:off x="6084167" y="2996952"/>
            <a:ext cx="2198897" cy="2055122"/>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Booking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Excess baggage charges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Health, fitness and age limits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Publicity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Privacy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Governing law</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8" name="Picture 7" descr="W252_compliance_shutterstock_156183356.jpg"/>
          <p:cNvPicPr>
            <a:picLocks noChangeAspect="1"/>
          </p:cNvPicPr>
          <p:nvPr/>
        </p:nvPicPr>
        <p:blipFill>
          <a:blip r:embed="rId3" cstate="print"/>
          <a:stretch>
            <a:fillRect/>
          </a:stretch>
        </p:blipFill>
        <p:spPr>
          <a:xfrm>
            <a:off x="5021642" y="3068960"/>
            <a:ext cx="2773984" cy="1728192"/>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Travel Agent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They will commonly include terms and conditions relating to:</a:t>
            </a:r>
          </a:p>
          <a:p>
            <a:pPr lvl="0">
              <a:spcBef>
                <a:spcPts val="600"/>
              </a:spcBef>
              <a:spcAft>
                <a:spcPts val="1200"/>
              </a:spcAft>
            </a:pPr>
            <a:r>
              <a:rPr lang="en-AU" sz="2200" dirty="0" smtClean="0">
                <a:latin typeface="Helvetica" pitchFamily="34" charset="0"/>
              </a:rPr>
              <a:t>Deposit and how to book</a:t>
            </a:r>
          </a:p>
          <a:p>
            <a:pPr lvl="0">
              <a:spcBef>
                <a:spcPts val="600"/>
              </a:spcBef>
              <a:spcAft>
                <a:spcPts val="1200"/>
              </a:spcAft>
            </a:pPr>
            <a:r>
              <a:rPr lang="en-AU" sz="2200" dirty="0" smtClean="0">
                <a:latin typeface="Helvetica" pitchFamily="34" charset="0"/>
              </a:rPr>
              <a:t>Payment Options</a:t>
            </a:r>
          </a:p>
          <a:p>
            <a:pPr lvl="0">
              <a:spcBef>
                <a:spcPts val="600"/>
              </a:spcBef>
              <a:spcAft>
                <a:spcPts val="1200"/>
              </a:spcAft>
            </a:pPr>
            <a:r>
              <a:rPr lang="en-AU" sz="2200" dirty="0" smtClean="0">
                <a:latin typeface="Helvetica" pitchFamily="34" charset="0"/>
              </a:rPr>
              <a:t>Amendments</a:t>
            </a:r>
          </a:p>
          <a:p>
            <a:pPr lvl="0">
              <a:spcBef>
                <a:spcPts val="600"/>
              </a:spcBef>
              <a:spcAft>
                <a:spcPts val="1200"/>
              </a:spcAft>
            </a:pPr>
            <a:r>
              <a:rPr lang="en-AU" sz="2200" dirty="0" smtClean="0">
                <a:latin typeface="Helvetica" pitchFamily="34" charset="0"/>
              </a:rPr>
              <a:t>Final Payment</a:t>
            </a:r>
          </a:p>
          <a:p>
            <a:pPr lvl="0">
              <a:spcBef>
                <a:spcPts val="600"/>
              </a:spcBef>
              <a:spcAft>
                <a:spcPts val="1200"/>
              </a:spcAft>
            </a:pPr>
            <a:r>
              <a:rPr lang="en-AU" sz="2200" dirty="0" smtClean="0">
                <a:latin typeface="Helvetica" pitchFamily="34" charset="0"/>
              </a:rPr>
              <a:t>Cancellations and refunds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180</a:t>
            </a:fld>
            <a:endParaRPr lang="en-US" dirty="0">
              <a:latin typeface="Helvetica" pitchFamily="34" charset="0"/>
            </a:endParaRPr>
          </a:p>
        </p:txBody>
      </p:sp>
      <p:pic>
        <p:nvPicPr>
          <p:cNvPr id="5" name="Picture 4" descr="shutterstock_105537884.jpg"/>
          <p:cNvPicPr/>
          <p:nvPr/>
        </p:nvPicPr>
        <p:blipFill>
          <a:blip r:embed="rId3" cstate="print"/>
          <a:stretch>
            <a:fillRect/>
          </a:stretch>
        </p:blipFill>
        <p:spPr>
          <a:xfrm>
            <a:off x="4716016" y="3573016"/>
            <a:ext cx="1614495" cy="1614495"/>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Supplier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all supplier, wholesaler, operator conditions are highlighted to the customer together with your own travel agent terms and conditions:</a:t>
            </a:r>
          </a:p>
          <a:p>
            <a:pPr>
              <a:spcBef>
                <a:spcPts val="600"/>
              </a:spcBef>
              <a:spcAft>
                <a:spcPts val="1200"/>
              </a:spcAft>
            </a:pPr>
            <a:r>
              <a:rPr lang="en-AU" sz="2200" dirty="0" smtClean="0">
                <a:latin typeface="Helvetica" pitchFamily="34" charset="0"/>
              </a:rPr>
              <a:t>What are examples of supplier terms and conditions?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181</a:t>
            </a:fld>
            <a:endParaRPr lang="en-US" dirty="0">
              <a:latin typeface="Helvetica" pitchFamily="34" charset="0"/>
            </a:endParaRPr>
          </a:p>
        </p:txBody>
      </p:sp>
      <p:pic>
        <p:nvPicPr>
          <p:cNvPr id="5" name="Picture 4" descr="shutterstock_188933945.jpg"/>
          <p:cNvPicPr/>
          <p:nvPr/>
        </p:nvPicPr>
        <p:blipFill>
          <a:blip r:embed="rId3" cstate="print"/>
          <a:stretch>
            <a:fillRect/>
          </a:stretch>
        </p:blipFill>
        <p:spPr>
          <a:xfrm>
            <a:off x="3059832" y="4005064"/>
            <a:ext cx="2376264" cy="180020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472608"/>
          </a:xfrm>
        </p:spPr>
        <p:txBody>
          <a:bodyPr>
            <a:normAutofit/>
          </a:bodyPr>
          <a:lstStyle/>
          <a:p>
            <a:pPr>
              <a:spcBef>
                <a:spcPts val="600"/>
              </a:spcBef>
              <a:spcAft>
                <a:spcPts val="1200"/>
              </a:spcAft>
              <a:buNone/>
            </a:pPr>
            <a:r>
              <a:rPr lang="en-AU" sz="1800" b="1" dirty="0" smtClean="0"/>
              <a:t>Product or service provider terms and conditions</a:t>
            </a:r>
            <a:endParaRPr lang="en-AU" sz="1800" dirty="0" smtClean="0"/>
          </a:p>
          <a:p>
            <a:pPr marL="0">
              <a:spcBef>
                <a:spcPts val="600"/>
              </a:spcBef>
              <a:spcAft>
                <a:spcPts val="1200"/>
              </a:spcAft>
              <a:buNone/>
            </a:pPr>
            <a:r>
              <a:rPr lang="en-AU" sz="1800" dirty="0" smtClean="0"/>
              <a:t>Individual product or service providers will often have a set of terms and conditions relating to their particular product or service. </a:t>
            </a:r>
          </a:p>
          <a:p>
            <a:pPr>
              <a:spcBef>
                <a:spcPts val="600"/>
              </a:spcBef>
              <a:spcAft>
                <a:spcPts val="1200"/>
              </a:spcAft>
              <a:buNone/>
            </a:pPr>
            <a:r>
              <a:rPr lang="en-AU" sz="1800" dirty="0" smtClean="0"/>
              <a:t>These will cover, among other items:</a:t>
            </a:r>
          </a:p>
          <a:p>
            <a:pPr lvl="0">
              <a:spcBef>
                <a:spcPts val="600"/>
              </a:spcBef>
              <a:spcAft>
                <a:spcPts val="1200"/>
              </a:spcAft>
            </a:pPr>
            <a:r>
              <a:rPr lang="en-AU" sz="1800" dirty="0" smtClean="0"/>
              <a:t>Pricing policy</a:t>
            </a:r>
          </a:p>
          <a:p>
            <a:pPr lvl="0">
              <a:spcBef>
                <a:spcPts val="600"/>
              </a:spcBef>
              <a:spcAft>
                <a:spcPts val="1200"/>
              </a:spcAft>
            </a:pPr>
            <a:r>
              <a:rPr lang="en-AU" sz="1800" dirty="0" smtClean="0"/>
              <a:t>Payment conditions</a:t>
            </a:r>
          </a:p>
          <a:p>
            <a:pPr lvl="0">
              <a:spcBef>
                <a:spcPts val="600"/>
              </a:spcBef>
              <a:spcAft>
                <a:spcPts val="1200"/>
              </a:spcAft>
            </a:pPr>
            <a:r>
              <a:rPr lang="en-AU" sz="1800" dirty="0" smtClean="0"/>
              <a:t>Inclusions</a:t>
            </a:r>
          </a:p>
          <a:p>
            <a:pPr lvl="0">
              <a:spcBef>
                <a:spcPts val="600"/>
              </a:spcBef>
              <a:spcAft>
                <a:spcPts val="1200"/>
              </a:spcAft>
            </a:pPr>
            <a:r>
              <a:rPr lang="en-AU" sz="1800" dirty="0" smtClean="0"/>
              <a:t>Exclusions</a:t>
            </a:r>
          </a:p>
          <a:p>
            <a:pPr lvl="0">
              <a:spcBef>
                <a:spcPts val="600"/>
              </a:spcBef>
              <a:spcAft>
                <a:spcPts val="1200"/>
              </a:spcAft>
            </a:pPr>
            <a:r>
              <a:rPr lang="en-AU" sz="1800" dirty="0" smtClean="0"/>
              <a:t>Any restrictions or limitations</a:t>
            </a:r>
            <a:br>
              <a:rPr lang="en-AU" sz="1800" dirty="0" smtClean="0"/>
            </a:br>
            <a:endParaRPr lang="en-AU" sz="1800" dirty="0" smtClean="0"/>
          </a:p>
          <a:p>
            <a:pPr marL="36576" indent="0">
              <a:spcBef>
                <a:spcPts val="600"/>
              </a:spcBef>
              <a:spcAft>
                <a:spcPts val="1200"/>
              </a:spcAft>
              <a:buNone/>
            </a:pPr>
            <a:r>
              <a:rPr lang="en-AU" sz="1800" b="1" i="1" dirty="0" smtClean="0">
                <a:solidFill>
                  <a:srgbClr val="FF6600"/>
                </a:solidFill>
              </a:rPr>
              <a:t>COMPLETE ACTIVITY 14</a:t>
            </a:r>
          </a:p>
          <a:p>
            <a:pPr lvl="0">
              <a:spcBef>
                <a:spcPts val="600"/>
              </a:spcBef>
              <a:spcAft>
                <a:spcPts val="1200"/>
              </a:spcAft>
            </a:pPr>
            <a:endParaRPr lang="en-AU" sz="1800" dirty="0" smtClean="0"/>
          </a:p>
          <a:p>
            <a:pPr marL="0">
              <a:spcBef>
                <a:spcPts val="600"/>
              </a:spcBef>
              <a:spcAft>
                <a:spcPts val="600"/>
              </a:spcAft>
              <a:buNone/>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182</a:t>
            </a:fld>
            <a:endParaRPr lang="en-US" dirty="0">
              <a:latin typeface="Helvetica" pitchFamily="34" charset="0"/>
            </a:endParaRPr>
          </a:p>
        </p:txBody>
      </p:sp>
      <p:pic>
        <p:nvPicPr>
          <p:cNvPr id="5" name="Picture 4" descr="shutterstock_114113611.jpg"/>
          <p:cNvPicPr/>
          <p:nvPr/>
        </p:nvPicPr>
        <p:blipFill>
          <a:blip r:embed="rId3" cstate="print"/>
          <a:stretch>
            <a:fillRect/>
          </a:stretch>
        </p:blipFill>
        <p:spPr>
          <a:xfrm>
            <a:off x="6156176" y="3933056"/>
            <a:ext cx="2232248" cy="1728192"/>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package quotation &amp;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Now that all the vital information relating to products and services required for inclusion in a quotation have been compiled, it is now time to prepare the:</a:t>
            </a:r>
          </a:p>
          <a:p>
            <a:pPr>
              <a:spcBef>
                <a:spcPts val="600"/>
              </a:spcBef>
              <a:spcAft>
                <a:spcPts val="1200"/>
              </a:spcAft>
            </a:pPr>
            <a:r>
              <a:rPr lang="en-AU" sz="2200" dirty="0" smtClean="0">
                <a:latin typeface="Helvetica" pitchFamily="34" charset="0"/>
              </a:rPr>
              <a:t>Quotation</a:t>
            </a:r>
          </a:p>
          <a:p>
            <a:pPr>
              <a:spcBef>
                <a:spcPts val="600"/>
              </a:spcBef>
              <a:spcAft>
                <a:spcPts val="1200"/>
              </a:spcAft>
            </a:pPr>
            <a:r>
              <a:rPr lang="en-AU" sz="2200" dirty="0" smtClean="0">
                <a:latin typeface="Helvetica" pitchFamily="34" charset="0"/>
              </a:rPr>
              <a:t>Itinerary</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183</a:t>
            </a:fld>
            <a:endParaRPr lang="en-US" dirty="0">
              <a:latin typeface="Helvetica" pitchFamily="34" charset="0"/>
            </a:endParaRPr>
          </a:p>
        </p:txBody>
      </p:sp>
      <p:pic>
        <p:nvPicPr>
          <p:cNvPr id="5" name="Picture 4" descr="shutterstock_118921213.jpg"/>
          <p:cNvPicPr/>
          <p:nvPr/>
        </p:nvPicPr>
        <p:blipFill>
          <a:blip r:embed="rId3" cstate="print"/>
          <a:stretch>
            <a:fillRect/>
          </a:stretch>
        </p:blipFill>
        <p:spPr>
          <a:xfrm>
            <a:off x="3275856" y="2902953"/>
            <a:ext cx="2448272" cy="1728192"/>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1200"/>
              </a:spcAft>
              <a:buNone/>
            </a:pPr>
            <a:r>
              <a:rPr lang="en-AU" sz="2200" b="1" dirty="0" smtClean="0">
                <a:latin typeface="Helvetica" pitchFamily="34" charset="0"/>
              </a:rPr>
              <a:t>General quotation details</a:t>
            </a:r>
          </a:p>
          <a:p>
            <a:pPr lvl="0">
              <a:spcBef>
                <a:spcPts val="600"/>
              </a:spcBef>
              <a:spcAft>
                <a:spcPts val="1200"/>
              </a:spcAft>
            </a:pPr>
            <a:r>
              <a:rPr lang="en-AU" sz="2200" dirty="0" smtClean="0">
                <a:latin typeface="Helvetica" pitchFamily="34" charset="0"/>
              </a:rPr>
              <a:t>Date of quotation and reference number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Clients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Phone contacts and fax</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Email 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Month of travel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Length of travel and class of travel</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Flight details </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184</a:t>
            </a:fld>
            <a:endParaRPr lang="en-US" dirty="0">
              <a:latin typeface="Helvetica" pitchFamily="34" charset="0"/>
            </a:endParaRPr>
          </a:p>
        </p:txBody>
      </p:sp>
      <p:pic>
        <p:nvPicPr>
          <p:cNvPr id="5" name="Picture 4" descr="shutterstock_122607490.jpg"/>
          <p:cNvPicPr>
            <a:picLocks noChangeAspect="1"/>
          </p:cNvPicPr>
          <p:nvPr/>
        </p:nvPicPr>
        <p:blipFill>
          <a:blip r:embed="rId3" cstate="print"/>
          <a:stretch>
            <a:fillRect/>
          </a:stretch>
        </p:blipFill>
        <p:spPr>
          <a:xfrm>
            <a:off x="5720820" y="3645024"/>
            <a:ext cx="2729166" cy="1872208"/>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General quotation details</a:t>
            </a:r>
          </a:p>
          <a:p>
            <a:pPr lvl="0">
              <a:spcBef>
                <a:spcPts val="600"/>
              </a:spcBef>
              <a:spcAft>
                <a:spcPts val="1200"/>
              </a:spcAft>
            </a:pPr>
            <a:r>
              <a:rPr lang="en-AU" sz="2200" dirty="0" smtClean="0">
                <a:latin typeface="Helvetica" pitchFamily="34" charset="0"/>
              </a:rPr>
              <a:t>Tours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Accommodation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Inclusions and exclusions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Insurance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Payment requirements and cancellation fees</a:t>
            </a:r>
            <a:endParaRPr lang="en-US"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185</a:t>
            </a:fld>
            <a:endParaRPr lang="en-US" dirty="0">
              <a:latin typeface="Helvetica" pitchFamily="34" charset="0"/>
            </a:endParaRPr>
          </a:p>
        </p:txBody>
      </p:sp>
      <p:pic>
        <p:nvPicPr>
          <p:cNvPr id="6" name="Picture 5" descr="shutterstock_177418406.jpg"/>
          <p:cNvPicPr/>
          <p:nvPr/>
        </p:nvPicPr>
        <p:blipFill>
          <a:blip r:embed="rId3" cstate="print"/>
          <a:stretch>
            <a:fillRect/>
          </a:stretch>
        </p:blipFill>
        <p:spPr>
          <a:xfrm>
            <a:off x="5076056" y="2708920"/>
            <a:ext cx="2448272" cy="1800200"/>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General quotation details</a:t>
            </a:r>
          </a:p>
          <a:p>
            <a:pPr lvl="0">
              <a:spcBef>
                <a:spcPts val="600"/>
              </a:spcBef>
              <a:spcAft>
                <a:spcPts val="1200"/>
              </a:spcAft>
            </a:pPr>
            <a:r>
              <a:rPr lang="en-AU" sz="2200" dirty="0" smtClean="0">
                <a:latin typeface="Helvetica" pitchFamily="34" charset="0"/>
              </a:rPr>
              <a:t>Conditions of the quote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Deposits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fees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Expiry date of the quotation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General conditions and rules</a:t>
            </a:r>
            <a:endParaRPr lang="en-US"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186</a:t>
            </a:fld>
            <a:endParaRPr lang="en-US" dirty="0">
              <a:latin typeface="Helvetica" pitchFamily="34" charset="0"/>
            </a:endParaRPr>
          </a:p>
        </p:txBody>
      </p:sp>
      <p:pic>
        <p:nvPicPr>
          <p:cNvPr id="7" name="Picture 6" descr="A8 shutterstock_149513465.jpg"/>
          <p:cNvPicPr>
            <a:picLocks noChangeAspect="1"/>
          </p:cNvPicPr>
          <p:nvPr/>
        </p:nvPicPr>
        <p:blipFill>
          <a:blip r:embed="rId3" cstate="print"/>
          <a:stretch>
            <a:fillRect/>
          </a:stretch>
        </p:blipFill>
        <p:spPr>
          <a:xfrm>
            <a:off x="5076056" y="2564904"/>
            <a:ext cx="2880320" cy="1944216"/>
          </a:xfrm>
          <a:prstGeom prst="rect">
            <a:avLst/>
          </a:prstGeom>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000" b="1" dirty="0" smtClean="0"/>
              <a:t>Specific quotation details</a:t>
            </a:r>
          </a:p>
          <a:p>
            <a:pPr marL="0">
              <a:spcBef>
                <a:spcPts val="600"/>
              </a:spcBef>
              <a:spcAft>
                <a:spcPts val="600"/>
              </a:spcAft>
              <a:buNone/>
            </a:pPr>
            <a:r>
              <a:rPr lang="en-AU" sz="2000" dirty="0" smtClean="0"/>
              <a:t>What information would be included in a quotation for the following required products and services:</a:t>
            </a:r>
          </a:p>
          <a:p>
            <a:pPr lvl="0">
              <a:spcBef>
                <a:spcPts val="600"/>
              </a:spcBef>
              <a:spcAft>
                <a:spcPts val="600"/>
              </a:spcAft>
            </a:pPr>
            <a:r>
              <a:rPr lang="en-AU" sz="2000" dirty="0" smtClean="0"/>
              <a:t>Flights</a:t>
            </a:r>
          </a:p>
          <a:p>
            <a:pPr>
              <a:spcBef>
                <a:spcPts val="600"/>
              </a:spcBef>
              <a:spcAft>
                <a:spcPts val="600"/>
              </a:spcAft>
            </a:pPr>
            <a:r>
              <a:rPr lang="en-AU" sz="2000" dirty="0" smtClean="0"/>
              <a:t>Accommodation</a:t>
            </a:r>
          </a:p>
          <a:p>
            <a:pPr>
              <a:spcBef>
                <a:spcPts val="600"/>
              </a:spcBef>
              <a:spcAft>
                <a:spcPts val="600"/>
              </a:spcAft>
            </a:pPr>
            <a:r>
              <a:rPr lang="en-AU" sz="2000" dirty="0" smtClean="0"/>
              <a:t>Car hire</a:t>
            </a:r>
          </a:p>
          <a:p>
            <a:pPr>
              <a:spcBef>
                <a:spcPts val="600"/>
              </a:spcBef>
              <a:spcAft>
                <a:spcPts val="600"/>
              </a:spcAft>
            </a:pPr>
            <a:r>
              <a:rPr lang="en-AU" sz="2000" dirty="0" smtClean="0"/>
              <a:t>Cruises</a:t>
            </a:r>
          </a:p>
          <a:p>
            <a:pPr>
              <a:spcBef>
                <a:spcPts val="600"/>
              </a:spcBef>
              <a:spcAft>
                <a:spcPts val="600"/>
              </a:spcAft>
            </a:pPr>
            <a:r>
              <a:rPr lang="en-AU" sz="2000" dirty="0" smtClean="0"/>
              <a:t>Tours</a:t>
            </a:r>
          </a:p>
          <a:p>
            <a:pPr>
              <a:spcBef>
                <a:spcPts val="600"/>
              </a:spcBef>
              <a:spcAft>
                <a:spcPts val="600"/>
              </a:spcAft>
            </a:pPr>
            <a:r>
              <a:rPr lang="en-AU" sz="2000" dirty="0" smtClean="0"/>
              <a:t>Transfers</a:t>
            </a:r>
          </a:p>
          <a:p>
            <a:pPr>
              <a:spcBef>
                <a:spcPts val="600"/>
              </a:spcBef>
              <a:spcAft>
                <a:spcPts val="600"/>
              </a:spcAft>
            </a:pPr>
            <a:r>
              <a:rPr lang="en-AU" sz="2000" dirty="0" smtClean="0"/>
              <a:t>Insurance</a:t>
            </a:r>
          </a:p>
          <a:p>
            <a:pPr>
              <a:spcBef>
                <a:spcPts val="600"/>
              </a:spcBef>
              <a:spcAft>
                <a:spcPts val="1200"/>
              </a:spcAft>
            </a:pPr>
            <a:endParaRPr lang="en-AU" sz="2000" dirty="0" smtClean="0"/>
          </a:p>
          <a:p>
            <a:pPr lvl="0">
              <a:spcBef>
                <a:spcPts val="600"/>
              </a:spcBef>
              <a:spcAft>
                <a:spcPts val="1200"/>
              </a:spcAft>
            </a:pPr>
            <a:endParaRPr lang="en-AU" sz="2000" dirty="0" smtClean="0"/>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187</a:t>
            </a:fld>
            <a:endParaRPr lang="en-US" dirty="0">
              <a:latin typeface="Helvetica" pitchFamily="34" charset="0"/>
            </a:endParaRPr>
          </a:p>
        </p:txBody>
      </p:sp>
      <p:pic>
        <p:nvPicPr>
          <p:cNvPr id="5" name="Picture 4" descr="shutterstock_35770534.jpg"/>
          <p:cNvPicPr/>
          <p:nvPr/>
        </p:nvPicPr>
        <p:blipFill>
          <a:blip r:embed="rId3" cstate="print"/>
          <a:stretch>
            <a:fillRect/>
          </a:stretch>
        </p:blipFill>
        <p:spPr>
          <a:xfrm>
            <a:off x="3635896" y="3573016"/>
            <a:ext cx="2520280" cy="1728192"/>
          </a:xfrm>
          <a:prstGeom prst="rect">
            <a:avLst/>
          </a:prstGeom>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Prepare itinerary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itinerary describes the traveller’s route and direction of travel</a:t>
            </a:r>
          </a:p>
          <a:p>
            <a:pPr>
              <a:spcBef>
                <a:spcPts val="600"/>
              </a:spcBef>
              <a:spcAft>
                <a:spcPts val="1200"/>
              </a:spcAft>
            </a:pPr>
            <a:r>
              <a:rPr lang="en-AU" sz="2200" dirty="0" smtClean="0">
                <a:latin typeface="Helvetica" pitchFamily="34" charset="0"/>
              </a:rPr>
              <a:t>It lists travel arrangements in the date of order that they are taken, and often lists them day by day</a:t>
            </a:r>
          </a:p>
          <a:p>
            <a:pPr>
              <a:spcBef>
                <a:spcPts val="600"/>
              </a:spcBef>
              <a:spcAft>
                <a:spcPts val="1200"/>
              </a:spcAft>
            </a:pPr>
            <a:r>
              <a:rPr lang="en-AU" sz="2200" dirty="0" smtClean="0">
                <a:latin typeface="Helvetica" pitchFamily="34" charset="0"/>
              </a:rPr>
              <a:t>All of the places visited by the traveller are included</a:t>
            </a:r>
            <a:endParaRPr lang="en-US" sz="2200" dirty="0" smtClean="0">
              <a:latin typeface="Helvetica" pitchFamily="34" charset="0"/>
            </a:endParaRP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188</a:t>
            </a:fld>
            <a:endParaRPr lang="en-US" dirty="0">
              <a:latin typeface="Helvetica" pitchFamily="34" charset="0"/>
            </a:endParaRPr>
          </a:p>
        </p:txBody>
      </p:sp>
      <p:pic>
        <p:nvPicPr>
          <p:cNvPr id="6" name="Picture 5" descr="W229_travel_icon_3_shutterstock_155547101.jpg"/>
          <p:cNvPicPr>
            <a:picLocks noChangeAspect="1"/>
          </p:cNvPicPr>
          <p:nvPr/>
        </p:nvPicPr>
        <p:blipFill>
          <a:blip r:embed="rId3" cstate="print"/>
          <a:stretch>
            <a:fillRect/>
          </a:stretch>
        </p:blipFill>
        <p:spPr>
          <a:xfrm>
            <a:off x="1907704" y="4365104"/>
            <a:ext cx="2232248" cy="1993397"/>
          </a:xfrm>
          <a:prstGeom prst="rect">
            <a:avLst/>
          </a:prstGeom>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Prepare itinerary</a:t>
            </a:r>
            <a:endParaRPr lang="en-US" sz="2200" dirty="0" smtClean="0">
              <a:latin typeface="Helvetica" pitchFamily="34" charset="0"/>
            </a:endParaRPr>
          </a:p>
          <a:p>
            <a:pPr>
              <a:spcBef>
                <a:spcPts val="600"/>
              </a:spcBef>
              <a:spcAft>
                <a:spcPts val="600"/>
              </a:spcAft>
              <a:buNone/>
            </a:pPr>
            <a:r>
              <a:rPr lang="en-AU" sz="2200" dirty="0" smtClean="0">
                <a:latin typeface="Helvetica" pitchFamily="34" charset="0"/>
              </a:rPr>
              <a:t>The itinerary will detail, in chronological order: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Destinations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Day destinations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Attractions, tours and sight-seeing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Arranged activities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Times</a:t>
            </a:r>
            <a:endParaRPr lang="en-US" sz="2200" dirty="0" smtClean="0">
              <a:latin typeface="Helvetica" pitchFamily="34" charset="0"/>
            </a:endParaRP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189</a:t>
            </a:fld>
            <a:endParaRPr lang="en-US" dirty="0">
              <a:latin typeface="Helvetica" pitchFamily="34" charset="0"/>
            </a:endParaRPr>
          </a:p>
        </p:txBody>
      </p:sp>
      <p:pic>
        <p:nvPicPr>
          <p:cNvPr id="7" name="Picture 6" descr="shutterstock_142848301.jpg"/>
          <p:cNvPicPr/>
          <p:nvPr/>
        </p:nvPicPr>
        <p:blipFill>
          <a:blip r:embed="rId3" cstate="print"/>
          <a:stretch>
            <a:fillRect/>
          </a:stretch>
        </p:blipFill>
        <p:spPr>
          <a:xfrm>
            <a:off x="5580112" y="2852936"/>
            <a:ext cx="2382832" cy="1944216"/>
          </a:xfrm>
          <a:prstGeom prst="rect">
            <a:avLst/>
          </a:prstGeom>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t>Prepare itinerary</a:t>
            </a:r>
            <a:endParaRPr lang="en-US" sz="2200" dirty="0" smtClean="0"/>
          </a:p>
          <a:p>
            <a:pPr lvl="0">
              <a:spcBef>
                <a:spcPts val="600"/>
              </a:spcBef>
              <a:spcAft>
                <a:spcPts val="600"/>
              </a:spcAft>
            </a:pPr>
            <a:r>
              <a:rPr lang="en-AU" sz="2200" dirty="0" smtClean="0"/>
              <a:t>Transport</a:t>
            </a:r>
            <a:endParaRPr lang="en-US" sz="2200" dirty="0" smtClean="0"/>
          </a:p>
          <a:p>
            <a:pPr lvl="0">
              <a:spcBef>
                <a:spcPts val="600"/>
              </a:spcBef>
              <a:spcAft>
                <a:spcPts val="600"/>
              </a:spcAft>
            </a:pPr>
            <a:r>
              <a:rPr lang="en-AU" sz="2200" dirty="0" smtClean="0"/>
              <a:t>Transfers</a:t>
            </a:r>
            <a:endParaRPr lang="en-US" sz="2200" dirty="0" smtClean="0"/>
          </a:p>
          <a:p>
            <a:pPr lvl="0">
              <a:spcBef>
                <a:spcPts val="600"/>
              </a:spcBef>
              <a:spcAft>
                <a:spcPts val="600"/>
              </a:spcAft>
            </a:pPr>
            <a:r>
              <a:rPr lang="en-AU" sz="2200" dirty="0" smtClean="0"/>
              <a:t>Accommodation </a:t>
            </a:r>
            <a:endParaRPr lang="en-US" sz="2200" dirty="0" smtClean="0"/>
          </a:p>
          <a:p>
            <a:pPr lvl="0">
              <a:spcBef>
                <a:spcPts val="600"/>
              </a:spcBef>
              <a:spcAft>
                <a:spcPts val="600"/>
              </a:spcAft>
            </a:pPr>
            <a:r>
              <a:rPr lang="en-AU" sz="2200" dirty="0" smtClean="0"/>
              <a:t>Meals </a:t>
            </a:r>
            <a:endParaRPr lang="en-US" sz="2200" dirty="0" smtClean="0"/>
          </a:p>
          <a:p>
            <a:pPr>
              <a:spcBef>
                <a:spcPts val="600"/>
              </a:spcBef>
              <a:spcAft>
                <a:spcPts val="1200"/>
              </a:spcAft>
              <a:buNone/>
            </a:pPr>
            <a:endParaRPr lang="en-AU" sz="2200" dirty="0" smtClean="0">
              <a:solidFill>
                <a:srgbClr val="FF6600"/>
              </a:solidFill>
            </a:endParaRPr>
          </a:p>
          <a:p>
            <a:pPr>
              <a:spcBef>
                <a:spcPts val="600"/>
              </a:spcBef>
              <a:spcAft>
                <a:spcPts val="1200"/>
              </a:spcAft>
              <a:buNone/>
            </a:pPr>
            <a:endParaRPr lang="en-AU" sz="2200" dirty="0">
              <a:solidFill>
                <a:srgbClr val="FF6600"/>
              </a:solidFill>
            </a:endParaRP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b="1" i="1" dirty="0" smtClean="0">
                <a:solidFill>
                  <a:srgbClr val="FF6600"/>
                </a:solidFill>
              </a:rPr>
              <a:t>COMPLETE ACTIVITY 15</a:t>
            </a:r>
          </a:p>
          <a:p>
            <a:pPr>
              <a:spcBef>
                <a:spcPts val="600"/>
              </a:spcBef>
              <a:spcAft>
                <a:spcPts val="1200"/>
              </a:spcAft>
            </a:pPr>
            <a:endParaRPr lang="en-AU" sz="2200" dirty="0" smtClean="0"/>
          </a:p>
          <a:p>
            <a:pPr lvl="0">
              <a:spcBef>
                <a:spcPts val="600"/>
              </a:spcBef>
              <a:spcAft>
                <a:spcPts val="1200"/>
              </a:spcAft>
            </a:pPr>
            <a:endParaRPr lang="en-AU" sz="2200" dirty="0" smtClean="0"/>
          </a:p>
          <a:p>
            <a:pPr marL="0">
              <a:spcBef>
                <a:spcPts val="600"/>
              </a:spcBef>
              <a:spcAft>
                <a:spcPts val="600"/>
              </a:spcAft>
              <a:buNone/>
            </a:pPr>
            <a:endParaRPr lang="en-AU" sz="2200" dirty="0" smtClean="0"/>
          </a:p>
          <a:p>
            <a:pPr marL="0">
              <a:spcBef>
                <a:spcPts val="600"/>
              </a:spcBef>
              <a:spcAft>
                <a:spcPts val="1200"/>
              </a:spcAft>
            </a:pPr>
            <a:endParaRPr lang="en-AU" sz="2200" dirty="0" smtClean="0"/>
          </a:p>
          <a:p>
            <a:pPr marL="0">
              <a:spcBef>
                <a:spcPts val="600"/>
              </a:spcBef>
              <a:spcAft>
                <a:spcPts val="1200"/>
              </a:spcAft>
            </a:pPr>
            <a:endParaRPr lang="en-AU" sz="2200" dirty="0" smtClean="0"/>
          </a:p>
          <a:p>
            <a:pPr marL="0">
              <a:spcBef>
                <a:spcPts val="600"/>
              </a:spcBef>
              <a:spcAft>
                <a:spcPts val="1200"/>
              </a:spcAft>
            </a:pPr>
            <a:endParaRPr lang="en-AU" sz="2200" dirty="0" smtClean="0"/>
          </a:p>
          <a:p>
            <a:pPr marL="0">
              <a:spcBef>
                <a:spcPts val="600"/>
              </a:spcBef>
              <a:spcAft>
                <a:spcPts val="1200"/>
              </a:spcAft>
            </a:pP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190</a:t>
            </a:fld>
            <a:endParaRPr lang="en-US" dirty="0">
              <a:latin typeface="Helvetica" pitchFamily="34" charset="0"/>
            </a:endParaRPr>
          </a:p>
        </p:txBody>
      </p:sp>
      <p:pic>
        <p:nvPicPr>
          <p:cNvPr id="6" name="Picture 5" descr="Air plan flight itinerary map_148488614.jpg"/>
          <p:cNvPicPr/>
          <p:nvPr/>
        </p:nvPicPr>
        <p:blipFill>
          <a:blip r:embed="rId3" cstate="print"/>
          <a:stretch>
            <a:fillRect/>
          </a:stretch>
        </p:blipFill>
        <p:spPr>
          <a:xfrm>
            <a:off x="3779912" y="2203585"/>
            <a:ext cx="2448272" cy="1800200"/>
          </a:xfrm>
          <a:prstGeom prst="rect">
            <a:avLst/>
          </a:prstGeom>
        </p:spPr>
      </p:pic>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b="1" dirty="0" smtClean="0">
                <a:latin typeface="Helvetica" pitchFamily="34" charset="0"/>
              </a:rPr>
              <a:t>Importance of monitoring sales</a:t>
            </a:r>
          </a:p>
          <a:p>
            <a:pPr>
              <a:spcBef>
                <a:spcPts val="600"/>
              </a:spcBef>
              <a:spcAft>
                <a:spcPts val="1200"/>
              </a:spcAft>
            </a:pPr>
            <a:r>
              <a:rPr lang="en-AU" sz="2000" dirty="0" smtClean="0">
                <a:latin typeface="Helvetica" pitchFamily="34" charset="0"/>
              </a:rPr>
              <a:t>Analysing and monitoring sales regularly is an important aspect of any management role</a:t>
            </a:r>
          </a:p>
          <a:p>
            <a:pPr>
              <a:spcBef>
                <a:spcPts val="600"/>
              </a:spcBef>
              <a:spcAft>
                <a:spcPts val="1200"/>
              </a:spcAft>
            </a:pPr>
            <a:r>
              <a:rPr lang="en-AU" sz="2000" dirty="0" smtClean="0">
                <a:latin typeface="Helvetica" pitchFamily="34" charset="0"/>
              </a:rPr>
              <a:t>By analysing sales performance, management can see clearly the direction in which our sales are headed, what has been successful and how we can adapt to increase the sales of specific packages and packages in general</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191</a:t>
            </a:fld>
            <a:endParaRPr lang="en-US" dirty="0">
              <a:latin typeface="Helvetica" pitchFamily="34" charset="0"/>
            </a:endParaRPr>
          </a:p>
        </p:txBody>
      </p:sp>
      <p:pic>
        <p:nvPicPr>
          <p:cNvPr id="5" name="Picture 4" descr="A20 shutterstock_182023328.jpg"/>
          <p:cNvPicPr/>
          <p:nvPr/>
        </p:nvPicPr>
        <p:blipFill>
          <a:blip r:embed="rId3" cstate="print"/>
          <a:stretch>
            <a:fillRect/>
          </a:stretch>
        </p:blipFill>
        <p:spPr>
          <a:xfrm>
            <a:off x="2843808" y="4390465"/>
            <a:ext cx="1976637" cy="1728192"/>
          </a:xfrm>
          <a:prstGeom prst="rect">
            <a:avLst/>
          </a:prstGeom>
        </p:spPr>
      </p:pic>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000" b="1" dirty="0" smtClean="0">
                <a:latin typeface="Helvetica" pitchFamily="34" charset="0"/>
              </a:rPr>
              <a:t>Preparing to monitor sales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Establishing facilities to record enquiries in relation to packages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Establishing internal systems to record package sales, including location of sale, seller, commissions and options selected</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Arranging for sales data to be forwarded                            from related businesses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192</a:t>
            </a:fld>
            <a:endParaRPr lang="en-US" dirty="0">
              <a:latin typeface="Helvetica" pitchFamily="34" charset="0"/>
            </a:endParaRPr>
          </a:p>
        </p:txBody>
      </p:sp>
      <p:pic>
        <p:nvPicPr>
          <p:cNvPr id="6" name="Picture 5" descr="shutterstock_159046976.jpg"/>
          <p:cNvPicPr>
            <a:picLocks noChangeAspect="1"/>
          </p:cNvPicPr>
          <p:nvPr/>
        </p:nvPicPr>
        <p:blipFill>
          <a:blip r:embed="rId3" cstate="print"/>
          <a:stretch>
            <a:fillRect/>
          </a:stretch>
        </p:blipFill>
        <p:spPr>
          <a:xfrm>
            <a:off x="6283881" y="4117497"/>
            <a:ext cx="2160240" cy="1440880"/>
          </a:xfrm>
          <a:prstGeom prst="rect">
            <a:avLst/>
          </a:prstGeom>
        </p:spPr>
      </p:pic>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968552"/>
          </a:xfrm>
        </p:spPr>
        <p:txBody>
          <a:bodyPr>
            <a:normAutofit/>
          </a:bodyPr>
          <a:lstStyle/>
          <a:p>
            <a:pPr>
              <a:spcBef>
                <a:spcPts val="600"/>
              </a:spcBef>
              <a:spcAft>
                <a:spcPts val="1200"/>
              </a:spcAft>
              <a:buNone/>
            </a:pPr>
            <a:r>
              <a:rPr lang="en-AU" sz="2000" b="1" dirty="0" smtClean="0">
                <a:latin typeface="Helvetica" pitchFamily="34" charset="0"/>
              </a:rPr>
              <a:t>Sales monitoring activities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Evaluating the results of different sales activities with reference to the nominated key performance indicators and sales objectives established by the organisation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Identifying the sales turnover achieved by our sales team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Track the performance of our sales team and develop appropriate strategies to help them perform better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Evaluating the sales performance of                                 individuals in the organisation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Determine trends in sales and consumer </a:t>
            </a:r>
            <a:br>
              <a:rPr lang="en-AU" sz="2000" dirty="0" smtClean="0">
                <a:latin typeface="Helvetica" pitchFamily="34" charset="0"/>
              </a:rPr>
            </a:br>
            <a:r>
              <a:rPr lang="en-AU" sz="2000" dirty="0" smtClean="0">
                <a:latin typeface="Helvetica" pitchFamily="34" charset="0"/>
              </a:rPr>
              <a:t>preferences</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193</a:t>
            </a:fld>
            <a:endParaRPr lang="en-US" dirty="0">
              <a:latin typeface="Helvetica" pitchFamily="34" charset="0"/>
            </a:endParaRPr>
          </a:p>
        </p:txBody>
      </p:sp>
      <p:pic>
        <p:nvPicPr>
          <p:cNvPr id="7" name="Picture 6" descr="shutterstock_128200763.jpg"/>
          <p:cNvPicPr/>
          <p:nvPr/>
        </p:nvPicPr>
        <p:blipFill>
          <a:blip r:embed="rId3" cstate="print"/>
          <a:stretch>
            <a:fillRect/>
          </a:stretch>
        </p:blipFill>
        <p:spPr>
          <a:xfrm>
            <a:off x="6444208" y="4422901"/>
            <a:ext cx="1944216" cy="1598387"/>
          </a:xfrm>
          <a:prstGeom prst="rect">
            <a:avLst/>
          </a:prstGeom>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buNone/>
            </a:pPr>
            <a:r>
              <a:rPr lang="en-AU" sz="2200" b="1" dirty="0" smtClean="0">
                <a:latin typeface="Helvetica" pitchFamily="34" charset="0"/>
              </a:rPr>
              <a:t>Sales monitoring activities</a:t>
            </a:r>
            <a:endParaRPr lang="en-US" sz="2200" dirty="0" smtClean="0">
              <a:latin typeface="Helvetica" pitchFamily="34" charset="0"/>
            </a:endParaRPr>
          </a:p>
          <a:p>
            <a:pPr lvl="0"/>
            <a:r>
              <a:rPr lang="en-AU" sz="2200" dirty="0" smtClean="0">
                <a:latin typeface="Helvetica" pitchFamily="34" charset="0"/>
              </a:rPr>
              <a:t>Distinguish between strong and weak products / services</a:t>
            </a:r>
            <a:endParaRPr lang="en-US" sz="2200" dirty="0" smtClean="0">
              <a:latin typeface="Helvetica" pitchFamily="34" charset="0"/>
            </a:endParaRPr>
          </a:p>
          <a:p>
            <a:pPr lvl="0"/>
            <a:r>
              <a:rPr lang="en-AU" sz="2200" dirty="0" smtClean="0">
                <a:latin typeface="Helvetica" pitchFamily="34" charset="0"/>
              </a:rPr>
              <a:t>Better understand the performance of our products and services and determine how to exploit their strengths and enhance their weaknesses</a:t>
            </a:r>
            <a:endParaRPr lang="en-US" sz="2200" dirty="0" smtClean="0">
              <a:latin typeface="Helvetica" pitchFamily="34" charset="0"/>
            </a:endParaRPr>
          </a:p>
          <a:p>
            <a:pPr lvl="0"/>
            <a:r>
              <a:rPr lang="en-AU" sz="2200" dirty="0" smtClean="0">
                <a:latin typeface="Helvetica" pitchFamily="34" charset="0"/>
              </a:rPr>
              <a:t>Evaluating the success of different packages advertised to clients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194</a:t>
            </a:fld>
            <a:endParaRPr lang="en-US" dirty="0">
              <a:latin typeface="Helvetica" pitchFamily="34" charset="0"/>
            </a:endParaRPr>
          </a:p>
        </p:txBody>
      </p:sp>
      <p:pic>
        <p:nvPicPr>
          <p:cNvPr id="5" name="Picture 4" descr="A2 shutterstock_99180761.jpg"/>
          <p:cNvPicPr>
            <a:picLocks noChangeAspect="1"/>
          </p:cNvPicPr>
          <p:nvPr/>
        </p:nvPicPr>
        <p:blipFill>
          <a:blip r:embed="rId3" cstate="print"/>
          <a:stretch>
            <a:fillRect/>
          </a:stretch>
        </p:blipFill>
        <p:spPr>
          <a:xfrm>
            <a:off x="2195736" y="4533169"/>
            <a:ext cx="2554934" cy="1704141"/>
          </a:xfrm>
          <a:prstGeom prst="rect">
            <a:avLst/>
          </a:prstGeom>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Sales monitoring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satisfaction level of clients who have undertaken packages prepared by the organisation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innovative package suggestions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Make better sales forecast and set more realistic sales targets in future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195</a:t>
            </a:fld>
            <a:endParaRPr lang="en-US" dirty="0">
              <a:latin typeface="Helvetica" pitchFamily="34" charset="0"/>
            </a:endParaRPr>
          </a:p>
        </p:txBody>
      </p:sp>
      <p:pic>
        <p:nvPicPr>
          <p:cNvPr id="5" name="Picture 4" descr="Assessment checklist.jpg"/>
          <p:cNvPicPr>
            <a:picLocks noChangeAspect="1"/>
          </p:cNvPicPr>
          <p:nvPr/>
        </p:nvPicPr>
        <p:blipFill>
          <a:blip r:embed="rId3" cstate="print"/>
          <a:stretch>
            <a:fillRect/>
          </a:stretch>
        </p:blipFill>
        <p:spPr>
          <a:xfrm>
            <a:off x="1763688" y="4509120"/>
            <a:ext cx="2400267" cy="1800200"/>
          </a:xfrm>
          <a:prstGeom prst="rect">
            <a:avLst/>
          </a:prstGeom>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Sales evaluation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Interviews with staff and 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Comparison of actual sales or revenue statistics with expected or target figures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Analysis of data collected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 of the budget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Consideration of ancillary benefits and                              problems that arose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196</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300192" y="4077072"/>
            <a:ext cx="2088232" cy="1587232"/>
          </a:xfrm>
          <a:prstGeom prst="rect">
            <a:avLst/>
          </a:prstGeom>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Monitor sales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Determining what data to collect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Quantitative data</a:t>
            </a:r>
          </a:p>
          <a:p>
            <a:pPr>
              <a:spcBef>
                <a:spcPts val="600"/>
              </a:spcBef>
              <a:spcAft>
                <a:spcPts val="1200"/>
              </a:spcAft>
            </a:pPr>
            <a:r>
              <a:rPr lang="en-AU" sz="2200" dirty="0" smtClean="0">
                <a:latin typeface="Helvetica" pitchFamily="34" charset="0"/>
              </a:rPr>
              <a:t>Qualitative data</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b="1" i="1" dirty="0" smtClean="0">
                <a:solidFill>
                  <a:srgbClr val="FF6600"/>
                </a:solidFill>
              </a:rPr>
              <a:t>COMPLETE ACTIVITY 16</a:t>
            </a:r>
          </a:p>
          <a:p>
            <a:pPr>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197</a:t>
            </a:fld>
            <a:endParaRPr lang="en-US" dirty="0">
              <a:latin typeface="Helvetica" pitchFamily="34" charset="0"/>
            </a:endParaRPr>
          </a:p>
        </p:txBody>
      </p:sp>
      <p:pic>
        <p:nvPicPr>
          <p:cNvPr id="7" name="Picture 6" descr="shutterstock_196601204.jpg"/>
          <p:cNvPicPr/>
          <p:nvPr/>
        </p:nvPicPr>
        <p:blipFill>
          <a:blip r:embed="rId3" cstate="print"/>
          <a:stretch>
            <a:fillRect/>
          </a:stretch>
        </p:blipFill>
        <p:spPr>
          <a:xfrm>
            <a:off x="4917562" y="1916832"/>
            <a:ext cx="1800200" cy="2088232"/>
          </a:xfrm>
          <a:prstGeom prst="rect">
            <a:avLst/>
          </a:prstGeom>
        </p:spPr>
      </p:pic>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Plan marketing activities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Marketing planning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marketing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marketing and sales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sales staff in relation to the packages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Designing client feedback tools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198</a:t>
            </a:fld>
            <a:endParaRPr lang="en-US" dirty="0">
              <a:latin typeface="Helvetica" pitchFamily="34" charset="0"/>
            </a:endParaRPr>
          </a:p>
        </p:txBody>
      </p:sp>
      <p:pic>
        <p:nvPicPr>
          <p:cNvPr id="5" name="Picture 4" descr="shutterstock_132353921.jpg"/>
          <p:cNvPicPr/>
          <p:nvPr/>
        </p:nvPicPr>
        <p:blipFill>
          <a:blip r:embed="rId3" cstate="print"/>
          <a:stretch>
            <a:fillRect/>
          </a:stretch>
        </p:blipFill>
        <p:spPr>
          <a:xfrm>
            <a:off x="6012160" y="4012792"/>
            <a:ext cx="2376264" cy="1720464"/>
          </a:xfrm>
          <a:prstGeom prst="rect">
            <a:avLst/>
          </a:prstGeom>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Plan marketing activities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Identify marketing objectives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Whilst each organisation will have their own objectives, in line with the overall business plan, examples of travel and tourism marketing objectives:</a:t>
            </a:r>
          </a:p>
          <a:p>
            <a:pPr>
              <a:spcBef>
                <a:spcPts val="600"/>
              </a:spcBef>
              <a:spcAft>
                <a:spcPts val="1200"/>
              </a:spcAft>
            </a:pPr>
            <a:r>
              <a:rPr lang="en-AU" sz="2200" dirty="0" smtClean="0">
                <a:latin typeface="Helvetica" pitchFamily="34" charset="0"/>
              </a:rPr>
              <a:t>What are examples of  marketing objectives a tourism organisation would have?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199</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012160" y="3861048"/>
            <a:ext cx="2376264" cy="1935121"/>
          </a:xfrm>
          <a:prstGeom prst="rect">
            <a:avLst/>
          </a:prstGeom>
        </p:spPr>
      </p:pic>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marketing and sales activities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Promotional methods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Personal selling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promotions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Advertising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Publicity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Sponsorship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Public relations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200</a:t>
            </a:fld>
            <a:endParaRPr lang="en-US" dirty="0">
              <a:latin typeface="Helvetica" pitchFamily="34" charset="0"/>
            </a:endParaRPr>
          </a:p>
        </p:txBody>
      </p:sp>
      <p:pic>
        <p:nvPicPr>
          <p:cNvPr id="7" name="Picture 6" descr="shutterstock_131357477.jpg"/>
          <p:cNvPicPr/>
          <p:nvPr/>
        </p:nvPicPr>
        <p:blipFill>
          <a:blip r:embed="rId3" cstate="print"/>
          <a:stretch>
            <a:fillRect/>
          </a:stretch>
        </p:blipFill>
        <p:spPr>
          <a:xfrm>
            <a:off x="3635896" y="2492896"/>
            <a:ext cx="3170769" cy="2204291"/>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marketing and sales activities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656184"/>
            <a:ext cx="7467600" cy="5301208"/>
          </a:xfrm>
        </p:spPr>
        <p:txBody>
          <a:bodyPr>
            <a:normAutofit/>
          </a:bodyPr>
          <a:lstStyle/>
          <a:p>
            <a:pPr>
              <a:spcBef>
                <a:spcPts val="600"/>
              </a:spcBef>
              <a:spcAft>
                <a:spcPts val="1200"/>
              </a:spcAft>
              <a:buNone/>
            </a:pPr>
            <a:r>
              <a:rPr lang="en-AU" sz="2000" b="1" dirty="0" smtClean="0"/>
              <a:t>Promotional methods</a:t>
            </a:r>
            <a:endParaRPr lang="en-US" sz="2000" dirty="0" smtClean="0"/>
          </a:p>
          <a:p>
            <a:pPr lvl="0">
              <a:spcBef>
                <a:spcPts val="600"/>
              </a:spcBef>
              <a:spcAft>
                <a:spcPts val="1200"/>
              </a:spcAft>
            </a:pPr>
            <a:r>
              <a:rPr lang="en-AU" sz="2000" dirty="0" smtClean="0"/>
              <a:t>Newsletters</a:t>
            </a:r>
            <a:endParaRPr lang="en-US" sz="2000" dirty="0" smtClean="0"/>
          </a:p>
          <a:p>
            <a:pPr lvl="0">
              <a:spcBef>
                <a:spcPts val="600"/>
              </a:spcBef>
              <a:spcAft>
                <a:spcPts val="1200"/>
              </a:spcAft>
            </a:pPr>
            <a:r>
              <a:rPr lang="en-AU" sz="2000" dirty="0" smtClean="0"/>
              <a:t>Special Events</a:t>
            </a:r>
            <a:endParaRPr lang="en-US" sz="2000" dirty="0" smtClean="0"/>
          </a:p>
          <a:p>
            <a:pPr lvl="0">
              <a:spcBef>
                <a:spcPts val="600"/>
              </a:spcBef>
              <a:spcAft>
                <a:spcPts val="1200"/>
              </a:spcAft>
            </a:pPr>
            <a:r>
              <a:rPr lang="en-AU" sz="2000" dirty="0" smtClean="0"/>
              <a:t>Community Relations</a:t>
            </a:r>
            <a:endParaRPr lang="en-US" sz="2000" dirty="0" smtClean="0"/>
          </a:p>
          <a:p>
            <a:pPr lvl="0">
              <a:spcBef>
                <a:spcPts val="600"/>
              </a:spcBef>
              <a:spcAft>
                <a:spcPts val="1200"/>
              </a:spcAft>
            </a:pPr>
            <a:r>
              <a:rPr lang="en-AU" sz="2000" dirty="0" smtClean="0"/>
              <a:t>Media Releases</a:t>
            </a:r>
            <a:endParaRPr lang="en-US" sz="2000" dirty="0" smtClean="0"/>
          </a:p>
          <a:p>
            <a:pPr lvl="0">
              <a:spcBef>
                <a:spcPts val="600"/>
              </a:spcBef>
              <a:spcAft>
                <a:spcPts val="1200"/>
              </a:spcAft>
            </a:pPr>
            <a:r>
              <a:rPr lang="en-AU" sz="2000" dirty="0" smtClean="0"/>
              <a:t>On-site tour</a:t>
            </a:r>
            <a:endParaRPr lang="en-US" sz="2000" dirty="0" smtClean="0"/>
          </a:p>
          <a:p>
            <a:pPr lvl="0">
              <a:spcBef>
                <a:spcPts val="600"/>
              </a:spcBef>
              <a:spcAft>
                <a:spcPts val="1200"/>
              </a:spcAft>
            </a:pPr>
            <a:r>
              <a:rPr lang="en-AU" sz="2000" dirty="0" smtClean="0"/>
              <a:t>Social media activities</a:t>
            </a:r>
          </a:p>
          <a:p>
            <a:pPr>
              <a:spcBef>
                <a:spcPts val="600"/>
              </a:spcBef>
              <a:spcAft>
                <a:spcPts val="1200"/>
              </a:spcAft>
              <a:buNone/>
            </a:pPr>
            <a:endParaRPr lang="en-AU" sz="2000" dirty="0" smtClean="0">
              <a:solidFill>
                <a:srgbClr val="FF6600"/>
              </a:solidFill>
            </a:endParaRPr>
          </a:p>
          <a:p>
            <a:pPr>
              <a:spcBef>
                <a:spcPts val="600"/>
              </a:spcBef>
              <a:spcAft>
                <a:spcPts val="1200"/>
              </a:spcAft>
              <a:buNone/>
            </a:pPr>
            <a:r>
              <a:rPr lang="en-AU" sz="2000" b="1" i="1" dirty="0" smtClean="0">
                <a:solidFill>
                  <a:srgbClr val="FF6600"/>
                </a:solidFill>
              </a:rPr>
              <a:t>COMPLETE ACTIVITY 17</a:t>
            </a:r>
          </a:p>
          <a:p>
            <a:pPr lvl="0">
              <a:spcBef>
                <a:spcPts val="600"/>
              </a:spcBef>
              <a:spcAft>
                <a:spcPts val="1200"/>
              </a:spcAft>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201</a:t>
            </a:fld>
            <a:endParaRPr lang="en-US" dirty="0">
              <a:latin typeface="Helvetica" pitchFamily="34" charset="0"/>
            </a:endParaRPr>
          </a:p>
        </p:txBody>
      </p:sp>
      <p:pic>
        <p:nvPicPr>
          <p:cNvPr id="5" name="Picture 4" descr="W214_banner_shutterstock_2052514.jpg"/>
          <p:cNvPicPr/>
          <p:nvPr/>
        </p:nvPicPr>
        <p:blipFill>
          <a:blip r:embed="rId3" cstate="print"/>
          <a:stretch>
            <a:fillRect/>
          </a:stretch>
        </p:blipFill>
        <p:spPr>
          <a:xfrm>
            <a:off x="6732240" y="3212976"/>
            <a:ext cx="1656184" cy="2088232"/>
          </a:xfrm>
          <a:prstGeom prst="rect">
            <a:avLst/>
          </a:prstGeom>
        </p:spPr>
      </p:pic>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Training sales staff</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000" b="1" dirty="0" smtClean="0">
                <a:latin typeface="Helvetica" pitchFamily="34" charset="0"/>
              </a:rPr>
              <a:t>Training sales staff in relation to the packages</a:t>
            </a:r>
            <a:endParaRPr lang="en-US" sz="2000" dirty="0" smtClean="0">
              <a:latin typeface="Helvetica" pitchFamily="34" charset="0"/>
            </a:endParaRPr>
          </a:p>
          <a:p>
            <a:pPr lvl="0">
              <a:spcBef>
                <a:spcPts val="600"/>
              </a:spcBef>
              <a:spcAft>
                <a:spcPts val="1200"/>
              </a:spcAft>
              <a:buNone/>
            </a:pPr>
            <a:r>
              <a:rPr lang="en-AU" sz="2000" dirty="0" smtClean="0">
                <a:latin typeface="Helvetica" pitchFamily="34" charset="0"/>
              </a:rPr>
              <a:t>Staff must be aware of:</a:t>
            </a:r>
          </a:p>
          <a:p>
            <a:pPr lvl="0">
              <a:spcBef>
                <a:spcPts val="600"/>
              </a:spcBef>
              <a:spcAft>
                <a:spcPts val="1200"/>
              </a:spcAft>
            </a:pPr>
            <a:r>
              <a:rPr lang="en-AU" sz="2000" dirty="0" smtClean="0">
                <a:latin typeface="Helvetica" pitchFamily="34" charset="0"/>
              </a:rPr>
              <a:t>Types of packages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Tourism products and services within the packages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Promotions on offer regarding the packages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Promotional and selling techniques </a:t>
            </a:r>
            <a:br>
              <a:rPr lang="en-AU" sz="2000" dirty="0" smtClean="0">
                <a:latin typeface="Helvetica" pitchFamily="34" charset="0"/>
              </a:rPr>
            </a:br>
            <a:r>
              <a:rPr lang="en-AU" sz="2000" dirty="0" smtClean="0">
                <a:latin typeface="Helvetica" pitchFamily="34" charset="0"/>
              </a:rPr>
              <a:t>to sell the packages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202</a:t>
            </a:fld>
            <a:endParaRPr lang="en-US" dirty="0">
              <a:latin typeface="Helvetica" pitchFamily="34" charset="0"/>
            </a:endParaRPr>
          </a:p>
        </p:txBody>
      </p:sp>
      <p:pic>
        <p:nvPicPr>
          <p:cNvPr id="6" name="Picture 5" descr="shutterstock_181389131.jpg"/>
          <p:cNvPicPr/>
          <p:nvPr/>
        </p:nvPicPr>
        <p:blipFill>
          <a:blip r:embed="rId3" cstate="print"/>
          <a:stretch>
            <a:fillRect/>
          </a:stretch>
        </p:blipFill>
        <p:spPr>
          <a:xfrm>
            <a:off x="6228184" y="4149080"/>
            <a:ext cx="2177759" cy="1656184"/>
          </a:xfrm>
          <a:prstGeom prst="rect">
            <a:avLst/>
          </a:prstGeom>
        </p:spPr>
      </p:pic>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Training sales staff</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Timing of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service deficiencies exist which need to be addressed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staff require training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packages are introduced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package products or services </a:t>
            </a:r>
            <a:br>
              <a:rPr lang="en-AU" sz="2200" dirty="0" smtClean="0">
                <a:latin typeface="Helvetica" pitchFamily="34" charset="0"/>
              </a:rPr>
            </a:br>
            <a:r>
              <a:rPr lang="en-AU" sz="2200" dirty="0" smtClean="0">
                <a:latin typeface="Helvetica" pitchFamily="34" charset="0"/>
              </a:rPr>
              <a:t>components are introduced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Retraining is required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203</a:t>
            </a:fld>
            <a:endParaRPr lang="en-US" dirty="0">
              <a:latin typeface="Helvetica" pitchFamily="34" charset="0"/>
            </a:endParaRPr>
          </a:p>
        </p:txBody>
      </p:sp>
      <p:pic>
        <p:nvPicPr>
          <p:cNvPr id="7" name="Picture 6" descr="A19 shutterstock_181811597.jpg"/>
          <p:cNvPicPr/>
          <p:nvPr/>
        </p:nvPicPr>
        <p:blipFill>
          <a:blip r:embed="rId3" cstate="print"/>
          <a:stretch>
            <a:fillRect/>
          </a:stretch>
        </p:blipFill>
        <p:spPr>
          <a:xfrm>
            <a:off x="6300192" y="4077072"/>
            <a:ext cx="2074540" cy="1431032"/>
          </a:xfrm>
          <a:prstGeom prst="rect">
            <a:avLst/>
          </a:prstGeom>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Training sales staff</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84576"/>
          </a:xfrm>
        </p:spPr>
        <p:txBody>
          <a:bodyPr>
            <a:normAutofit/>
          </a:bodyPr>
          <a:lstStyle/>
          <a:p>
            <a:pPr>
              <a:spcBef>
                <a:spcPts val="600"/>
              </a:spcBef>
              <a:spcAft>
                <a:spcPts val="1200"/>
              </a:spcAft>
              <a:buNone/>
            </a:pPr>
            <a:r>
              <a:rPr lang="en-AU" sz="2000" b="1" dirty="0" smtClean="0"/>
              <a:t>Types of training events</a:t>
            </a:r>
            <a:endParaRPr lang="en-US" sz="2000" dirty="0" smtClean="0"/>
          </a:p>
          <a:p>
            <a:pPr marL="0">
              <a:spcBef>
                <a:spcPts val="600"/>
              </a:spcBef>
              <a:spcAft>
                <a:spcPts val="1200"/>
              </a:spcAft>
              <a:buNone/>
            </a:pPr>
            <a:r>
              <a:rPr lang="en-AU" sz="2000" dirty="0" smtClean="0"/>
              <a:t>Whilst training events traditionally are focused towards formal training, in essence can be classified as any activity that enables staff to improve their service delivery in the selling of tourism packages</a:t>
            </a:r>
            <a:r>
              <a:rPr lang="en-AU" sz="2000" dirty="0"/>
              <a:t>:</a:t>
            </a:r>
            <a:endParaRPr lang="en-AU" sz="2000" dirty="0" smtClean="0"/>
          </a:p>
          <a:p>
            <a:pPr>
              <a:spcBef>
                <a:spcPts val="600"/>
              </a:spcBef>
              <a:spcAft>
                <a:spcPts val="1200"/>
              </a:spcAft>
            </a:pPr>
            <a:r>
              <a:rPr lang="en-AU" sz="2000" dirty="0" smtClean="0"/>
              <a:t>What are types of training events that can be used to improve a staff member’s understanding of packages?</a:t>
            </a:r>
          </a:p>
          <a:p>
            <a:pPr>
              <a:spcBef>
                <a:spcPts val="600"/>
              </a:spcBef>
              <a:spcAft>
                <a:spcPts val="1200"/>
              </a:spcAft>
            </a:pPr>
            <a:endParaRPr lang="en-AU" sz="2000" dirty="0" smtClean="0"/>
          </a:p>
          <a:p>
            <a:pPr>
              <a:spcBef>
                <a:spcPts val="600"/>
              </a:spcBef>
              <a:spcAft>
                <a:spcPts val="1200"/>
              </a:spcAft>
            </a:pPr>
            <a:endParaRPr lang="en-AU" sz="2000" dirty="0"/>
          </a:p>
          <a:p>
            <a:pPr>
              <a:spcBef>
                <a:spcPts val="600"/>
              </a:spcBef>
              <a:spcAft>
                <a:spcPts val="1200"/>
              </a:spcAft>
            </a:pPr>
            <a:endParaRPr lang="en-AU" sz="2000" dirty="0" smtClean="0"/>
          </a:p>
          <a:p>
            <a:pPr>
              <a:spcBef>
                <a:spcPts val="600"/>
              </a:spcBef>
              <a:spcAft>
                <a:spcPts val="1200"/>
              </a:spcAft>
              <a:buNone/>
            </a:pPr>
            <a:r>
              <a:rPr lang="en-AU" sz="2000" b="1" i="1" dirty="0" smtClean="0">
                <a:solidFill>
                  <a:srgbClr val="FF6600"/>
                </a:solidFill>
              </a:rPr>
              <a:t>COMPLETE ACTIVITY 18</a:t>
            </a:r>
          </a:p>
          <a:p>
            <a:pPr>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204</a:t>
            </a:fld>
            <a:endParaRPr lang="en-US" dirty="0">
              <a:latin typeface="Helvetica" pitchFamily="34" charset="0"/>
            </a:endParaRPr>
          </a:p>
        </p:txBody>
      </p:sp>
      <p:pic>
        <p:nvPicPr>
          <p:cNvPr id="6" name="Picture 5" descr="shutterstock_128200775.jpg"/>
          <p:cNvPicPr/>
          <p:nvPr/>
        </p:nvPicPr>
        <p:blipFill>
          <a:blip r:embed="rId3" cstate="print"/>
          <a:stretch>
            <a:fillRect/>
          </a:stretch>
        </p:blipFill>
        <p:spPr>
          <a:xfrm>
            <a:off x="6372200" y="4437112"/>
            <a:ext cx="2016224" cy="1440160"/>
          </a:xfrm>
          <a:prstGeom prst="rect">
            <a:avLst/>
          </a:prstGeom>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Client feedback tools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84576"/>
          </a:xfrm>
        </p:spPr>
        <p:txBody>
          <a:bodyPr>
            <a:normAutofit/>
          </a:bodyPr>
          <a:lstStyle/>
          <a:p>
            <a:pPr>
              <a:spcBef>
                <a:spcPts val="600"/>
              </a:spcBef>
              <a:spcAft>
                <a:spcPts val="1200"/>
              </a:spcAft>
              <a:buNone/>
            </a:pPr>
            <a:r>
              <a:rPr lang="en-AU" sz="2000" b="1" dirty="0" smtClean="0"/>
              <a:t>Designing client feedback tools</a:t>
            </a:r>
            <a:endParaRPr lang="en-US" sz="2000" dirty="0" smtClean="0"/>
          </a:p>
          <a:p>
            <a:pPr>
              <a:spcBef>
                <a:spcPts val="600"/>
              </a:spcBef>
              <a:spcAft>
                <a:spcPts val="1200"/>
              </a:spcAft>
            </a:pPr>
            <a:r>
              <a:rPr lang="en-US" sz="2000" dirty="0" smtClean="0"/>
              <a:t>What is the purpose of these tools?</a:t>
            </a:r>
          </a:p>
          <a:p>
            <a:pPr>
              <a:spcBef>
                <a:spcPts val="600"/>
              </a:spcBef>
              <a:spcAft>
                <a:spcPts val="1200"/>
              </a:spcAft>
            </a:pPr>
            <a:r>
              <a:rPr lang="en-US" sz="2000" dirty="0" smtClean="0"/>
              <a:t>What formats can be used?</a:t>
            </a:r>
          </a:p>
          <a:p>
            <a:pPr>
              <a:spcBef>
                <a:spcPts val="600"/>
              </a:spcBef>
              <a:spcAft>
                <a:spcPts val="1200"/>
              </a:spcAft>
            </a:pPr>
            <a:r>
              <a:rPr lang="en-US" sz="2000" dirty="0" smtClean="0"/>
              <a:t>What information should be included in these tools?</a:t>
            </a:r>
          </a:p>
          <a:p>
            <a:pPr>
              <a:spcBef>
                <a:spcPts val="600"/>
              </a:spcBef>
              <a:spcAft>
                <a:spcPts val="1200"/>
              </a:spcAft>
            </a:pPr>
            <a:r>
              <a:rPr lang="en-US" sz="2000" dirty="0" smtClean="0"/>
              <a:t>What are considerations when designing tools?</a:t>
            </a:r>
          </a:p>
          <a:p>
            <a:pPr>
              <a:spcBef>
                <a:spcPts val="600"/>
              </a:spcBef>
              <a:spcAft>
                <a:spcPts val="1200"/>
              </a:spcAft>
            </a:pPr>
            <a:endParaRPr lang="en-US" sz="2000" dirty="0" smtClean="0"/>
          </a:p>
          <a:p>
            <a:pPr>
              <a:spcBef>
                <a:spcPts val="600"/>
              </a:spcBef>
              <a:spcAft>
                <a:spcPts val="1200"/>
              </a:spcAft>
            </a:pPr>
            <a:endParaRPr lang="en-US" sz="2000" dirty="0" smtClean="0"/>
          </a:p>
          <a:p>
            <a:pPr>
              <a:spcBef>
                <a:spcPts val="600"/>
              </a:spcBef>
              <a:spcAft>
                <a:spcPts val="1200"/>
              </a:spcAft>
            </a:pPr>
            <a:endParaRPr lang="en-US" sz="2000" dirty="0" smtClean="0"/>
          </a:p>
          <a:p>
            <a:pPr>
              <a:spcBef>
                <a:spcPts val="600"/>
              </a:spcBef>
              <a:spcAft>
                <a:spcPts val="1200"/>
              </a:spcAft>
              <a:buNone/>
            </a:pPr>
            <a:r>
              <a:rPr lang="en-AU" sz="2000" b="1" i="1" dirty="0" smtClean="0">
                <a:solidFill>
                  <a:srgbClr val="FF6600"/>
                </a:solidFill>
              </a:rPr>
              <a:t>COMPLETE ACTIVITY 19</a:t>
            </a:r>
          </a:p>
          <a:p>
            <a:pPr>
              <a:spcBef>
                <a:spcPts val="600"/>
              </a:spcBef>
              <a:spcAft>
                <a:spcPts val="1200"/>
              </a:spcAft>
              <a:buNone/>
            </a:pPr>
            <a:endParaRPr lang="en-AU"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205</a:t>
            </a:fld>
            <a:endParaRPr lang="en-US" dirty="0">
              <a:latin typeface="Helvetica" pitchFamily="34" charset="0"/>
            </a:endParaRPr>
          </a:p>
        </p:txBody>
      </p:sp>
      <p:pic>
        <p:nvPicPr>
          <p:cNvPr id="7" name="Picture 6" descr="shutterstock_117432550.jpg"/>
          <p:cNvPicPr/>
          <p:nvPr/>
        </p:nvPicPr>
        <p:blipFill>
          <a:blip r:embed="rId3" cstate="print"/>
          <a:stretch>
            <a:fillRect/>
          </a:stretch>
        </p:blipFill>
        <p:spPr>
          <a:xfrm>
            <a:off x="6167575" y="4293096"/>
            <a:ext cx="2220849" cy="158417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1204</TotalTime>
  <Words>12181</Words>
  <Application>Microsoft Office PowerPoint</Application>
  <PresentationFormat>On-screen Show (4:3)</PresentationFormat>
  <Paragraphs>2926</Paragraphs>
  <Slides>205</Slides>
  <Notes>205</Notes>
  <HiddenSlides>0</HiddenSlides>
  <MMClips>0</MMClips>
  <ScaleCrop>false</ScaleCrop>
  <HeadingPairs>
    <vt:vector size="4" baseType="variant">
      <vt:variant>
        <vt:lpstr>Theme</vt:lpstr>
      </vt:variant>
      <vt:variant>
        <vt:i4>1</vt:i4>
      </vt:variant>
      <vt:variant>
        <vt:lpstr>Slide Titles</vt:lpstr>
      </vt:variant>
      <vt:variant>
        <vt:i4>205</vt:i4>
      </vt:variant>
    </vt:vector>
  </HeadingPairs>
  <TitlesOfParts>
    <vt:vector size="206" baseType="lpstr">
      <vt:lpstr>PPT_Tour_operation_&amp;_travel_agencies_template_130214</vt:lpstr>
      <vt:lpstr>SOURCE AnD PACKAGE TOURISM PRODUCTS AND SERVICES</vt:lpstr>
      <vt:lpstr>Subject elements</vt:lpstr>
      <vt:lpstr>Assessment</vt:lpstr>
      <vt:lpstr>PowerPoint Presentation</vt:lpstr>
      <vt:lpstr>Describe the context for packages</vt:lpstr>
      <vt:lpstr>Tourism packages</vt:lpstr>
      <vt:lpstr>Tourism packages</vt:lpstr>
      <vt:lpstr>Tourism packages</vt:lpstr>
      <vt:lpstr>Tourism packages</vt:lpstr>
      <vt:lpstr>Tourism packages</vt:lpstr>
      <vt:lpstr>Types of clients</vt:lpstr>
      <vt:lpstr>Types of tour operators</vt:lpstr>
      <vt:lpstr>Characteristics of clients</vt:lpstr>
      <vt:lpstr>Characteristics of clients</vt:lpstr>
      <vt:lpstr>Characteristics of clients</vt:lpstr>
      <vt:lpstr>Identify client requirements</vt:lpstr>
      <vt:lpstr>Identify client requirements</vt:lpstr>
      <vt:lpstr>Identify client requirements</vt:lpstr>
      <vt:lpstr>Identify client requirements</vt:lpstr>
      <vt:lpstr>Identify client requirements</vt:lpstr>
      <vt:lpstr>Identify client requirements</vt:lpstr>
      <vt:lpstr>Identify tourism trends</vt:lpstr>
      <vt:lpstr>Identify tourism trends</vt:lpstr>
      <vt:lpstr>Identify tourism trends</vt:lpstr>
      <vt:lpstr>Identify tourism statistics</vt:lpstr>
      <vt:lpstr>Identify tourism statistics</vt:lpstr>
      <vt:lpstr>Identify tourism statistics</vt:lpstr>
      <vt:lpstr>Identify tourism statistics</vt:lpstr>
      <vt:lpstr>Identify tourism statistics</vt:lpstr>
      <vt:lpstr>Identify tourism statistics</vt:lpstr>
      <vt:lpstr>Seek client personal information</vt:lpstr>
      <vt:lpstr>Identify client travel details and requirements</vt:lpstr>
      <vt:lpstr>Identify client travel details and requirements</vt:lpstr>
      <vt:lpstr>Identify client travel details and requirements</vt:lpstr>
      <vt:lpstr>Understanding client needs, wants and expectations</vt:lpstr>
      <vt:lpstr>Identify host requirements</vt:lpstr>
      <vt:lpstr>Identify host requirements</vt:lpstr>
      <vt:lpstr>Identify host requirements</vt:lpstr>
      <vt:lpstr>Identify host requirements</vt:lpstr>
      <vt:lpstr>Types of tour packages </vt:lpstr>
      <vt:lpstr>Types of tour packages </vt:lpstr>
      <vt:lpstr>Types of tour packages </vt:lpstr>
      <vt:lpstr>Types of tour packages </vt:lpstr>
      <vt:lpstr>Types of tour packages </vt:lpstr>
      <vt:lpstr>Types of tour packages </vt:lpstr>
      <vt:lpstr>Types of tour packages </vt:lpstr>
      <vt:lpstr>Purpose of tour packages </vt:lpstr>
      <vt:lpstr>Purpose of tour packages </vt:lpstr>
      <vt:lpstr>Purpose of tour packages </vt:lpstr>
      <vt:lpstr>Purpose of tour packages </vt:lpstr>
      <vt:lpstr>Purpose of tour packages </vt:lpstr>
      <vt:lpstr>Purpose of tour packages </vt:lpstr>
      <vt:lpstr>Location of tours</vt:lpstr>
      <vt:lpstr>Identify package products and services</vt:lpstr>
      <vt:lpstr>Identify package products and services</vt:lpstr>
      <vt:lpstr>Identify package products and services</vt:lpstr>
      <vt:lpstr>Identify package products and services</vt:lpstr>
      <vt:lpstr>Identify package products and services</vt:lpstr>
      <vt:lpstr>Identify package products and services</vt:lpstr>
      <vt:lpstr>PowerPoint Presentation</vt:lpstr>
      <vt:lpstr>Source products and services for packages</vt:lpstr>
      <vt:lpstr>Sources of information</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Product and services information</vt:lpstr>
      <vt:lpstr>Product and services information</vt:lpstr>
      <vt:lpstr>Product and services information</vt:lpstr>
      <vt:lpstr>Product and services information</vt:lpstr>
      <vt:lpstr>Product and services information</vt:lpstr>
      <vt:lpstr>Research information sources</vt:lpstr>
      <vt:lpstr>Research information sources</vt:lpstr>
      <vt:lpstr>Research information sources</vt:lpstr>
      <vt:lpstr>Research information sources</vt:lpstr>
      <vt:lpstr>Primary data</vt:lpstr>
      <vt:lpstr>Primary data</vt:lpstr>
      <vt:lpstr>Primary data</vt:lpstr>
      <vt:lpstr>Secondary data</vt:lpstr>
      <vt:lpstr>Secondary data</vt:lpstr>
      <vt:lpstr>Secondary data</vt:lpstr>
      <vt:lpstr>Secondary data</vt:lpstr>
      <vt:lpstr>Observations</vt:lpstr>
      <vt:lpstr>Accessing internal information </vt:lpstr>
      <vt:lpstr>Accessing internal information </vt:lpstr>
      <vt:lpstr>Accessing internal information </vt:lpstr>
      <vt:lpstr>Feedback from customers</vt:lpstr>
      <vt:lpstr>Accessing external information </vt:lpstr>
      <vt:lpstr>Visit identified sources</vt:lpstr>
      <vt:lpstr>Visit identified sources</vt:lpstr>
      <vt:lpstr>Visit identified sources</vt:lpstr>
      <vt:lpstr>Establishing industry networks</vt:lpstr>
      <vt:lpstr>Assess practicality of products and services</vt:lpstr>
      <vt:lpstr>Assess practicality of products and services</vt:lpstr>
      <vt:lpstr>Assess practicality of products and services</vt:lpstr>
      <vt:lpstr>Assess practicality of products and services</vt:lpstr>
      <vt:lpstr>Select final products and services</vt:lpstr>
      <vt:lpstr>Select final products and services</vt:lpstr>
      <vt:lpstr>Identify types of suppliers</vt:lpstr>
      <vt:lpstr>Existing agreements with suppliers</vt:lpstr>
      <vt:lpstr>Role of suppliers</vt:lpstr>
      <vt:lpstr>Role of suppliers</vt:lpstr>
      <vt:lpstr>Identifying suppliers</vt:lpstr>
      <vt:lpstr>Identifying suppliers</vt:lpstr>
      <vt:lpstr>PowerPoint Presentation</vt:lpstr>
      <vt:lpstr>Create packages of products and services</vt:lpstr>
      <vt:lpstr>Create packages of products and services</vt:lpstr>
      <vt:lpstr>Pre-planning for packages</vt:lpstr>
      <vt:lpstr>Pre-planning for packages</vt:lpstr>
      <vt:lpstr>Recording packaging information</vt:lpstr>
      <vt:lpstr>Recording packaging information</vt:lpstr>
      <vt:lpstr>Planning package components</vt:lpstr>
      <vt:lpstr>Packaging steps</vt:lpstr>
      <vt:lpstr>Packaging steps</vt:lpstr>
      <vt:lpstr>Package components</vt:lpstr>
      <vt:lpstr>Package components</vt:lpstr>
      <vt:lpstr>Package components</vt:lpstr>
      <vt:lpstr>Package components</vt:lpstr>
      <vt:lpstr>Package components</vt:lpstr>
      <vt:lpstr>Package components</vt:lpstr>
      <vt:lpstr>Determine package duration</vt:lpstr>
      <vt:lpstr>Determine package duration</vt:lpstr>
      <vt:lpstr>Determine package duration</vt:lpstr>
      <vt:lpstr>Determine package duration</vt:lpstr>
      <vt:lpstr>Determine package duration</vt:lpstr>
      <vt:lpstr>Calculating price points for packages</vt:lpstr>
      <vt:lpstr>Calculating price points for packages</vt:lpstr>
      <vt:lpstr>Calculating price points for packages</vt:lpstr>
      <vt:lpstr>Calculating price points for packages</vt:lpstr>
      <vt:lpstr>Calculating price points for packages</vt:lpstr>
      <vt:lpstr>Calculating price points for packages</vt:lpstr>
      <vt:lpstr>Calculating price points for packages</vt:lpstr>
      <vt:lpstr>Calculating mark up and commissions</vt:lpstr>
      <vt:lpstr>Identify organisational fees</vt:lpstr>
      <vt:lpstr>Calculating additional costs</vt:lpstr>
      <vt:lpstr>Calculating currency exchange</vt:lpstr>
      <vt:lpstr>Calculating supplier costs</vt:lpstr>
      <vt:lpstr>Calculating supplier costs</vt:lpstr>
      <vt:lpstr>Terms and conditions</vt:lpstr>
      <vt:lpstr>Terms and conditions</vt:lpstr>
      <vt:lpstr>Terms and conditions</vt:lpstr>
      <vt:lpstr>Booking conditions</vt:lpstr>
      <vt:lpstr>Booking conditions</vt:lpstr>
      <vt:lpstr>Booking conditions</vt:lpstr>
      <vt:lpstr>Booking conditions</vt:lpstr>
      <vt:lpstr>Terms and conditions</vt:lpstr>
      <vt:lpstr>Terms and conditions</vt:lpstr>
      <vt:lpstr>Terms and conditions</vt:lpstr>
      <vt:lpstr>Prepare package quotation &amp; itinerary</vt:lpstr>
      <vt:lpstr>Prepare quotation</vt:lpstr>
      <vt:lpstr>Prepare quotation</vt:lpstr>
      <vt:lpstr>Prepare quotation</vt:lpstr>
      <vt:lpstr>Prepare quotation</vt:lpstr>
      <vt:lpstr>Prepare itinerary</vt:lpstr>
      <vt:lpstr>Prepare itinerary</vt:lpstr>
      <vt:lpstr>Prepare itinerary</vt:lpstr>
      <vt:lpstr>Monitor sales</vt:lpstr>
      <vt:lpstr>Monitor sales</vt:lpstr>
      <vt:lpstr>Monitor sales</vt:lpstr>
      <vt:lpstr>Monitor sales</vt:lpstr>
      <vt:lpstr>Monitor sales</vt:lpstr>
      <vt:lpstr>Monitor sales</vt:lpstr>
      <vt:lpstr>Monitor sales</vt:lpstr>
      <vt:lpstr>Plan marketing activities</vt:lpstr>
      <vt:lpstr>Plan marketing activities</vt:lpstr>
      <vt:lpstr>Identify marketing and sales activities</vt:lpstr>
      <vt:lpstr>Identify marketing and sales activities</vt:lpstr>
      <vt:lpstr>Training sales staff</vt:lpstr>
      <vt:lpstr>Training sales staff</vt:lpstr>
      <vt:lpstr>Training sales staff</vt:lpstr>
      <vt:lpstr>Client feedback tools</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AND PACKAGE TOURISM PRODUCTS AND SERVICES</dc:title>
  <dc:creator>Mai Vu</dc:creator>
  <cp:lastModifiedBy>Mai Vu</cp:lastModifiedBy>
  <cp:revision>172</cp:revision>
  <dcterms:created xsi:type="dcterms:W3CDTF">2014-03-21T08:33:23Z</dcterms:created>
  <dcterms:modified xsi:type="dcterms:W3CDTF">2015-04-23T04:52:35Z</dcterms:modified>
</cp:coreProperties>
</file>