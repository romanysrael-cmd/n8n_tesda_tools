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53"/>
  </p:notesMasterIdLst>
  <p:handoutMasterIdLst>
    <p:handoutMasterId r:id="rId154"/>
  </p:handoutMasterIdLst>
  <p:sldIdLst>
    <p:sldId id="256" r:id="rId2"/>
    <p:sldId id="257" r:id="rId3"/>
    <p:sldId id="258" r:id="rId4"/>
    <p:sldId id="259" r:id="rId5"/>
    <p:sldId id="260" r:id="rId6"/>
    <p:sldId id="297" r:id="rId7"/>
    <p:sldId id="298" r:id="rId8"/>
    <p:sldId id="299" r:id="rId9"/>
    <p:sldId id="303" r:id="rId10"/>
    <p:sldId id="300" r:id="rId11"/>
    <p:sldId id="301" r:id="rId12"/>
    <p:sldId id="302" r:id="rId13"/>
    <p:sldId id="312" r:id="rId14"/>
    <p:sldId id="304" r:id="rId15"/>
    <p:sldId id="305" r:id="rId16"/>
    <p:sldId id="306" r:id="rId17"/>
    <p:sldId id="307" r:id="rId18"/>
    <p:sldId id="308" r:id="rId19"/>
    <p:sldId id="309" r:id="rId20"/>
    <p:sldId id="310" r:id="rId21"/>
    <p:sldId id="311" r:id="rId22"/>
    <p:sldId id="313" r:id="rId23"/>
    <p:sldId id="314" r:id="rId24"/>
    <p:sldId id="315" r:id="rId25"/>
    <p:sldId id="316" r:id="rId26"/>
    <p:sldId id="317" r:id="rId27"/>
    <p:sldId id="319" r:id="rId28"/>
    <p:sldId id="320" r:id="rId29"/>
    <p:sldId id="321" r:id="rId30"/>
    <p:sldId id="323" r:id="rId31"/>
    <p:sldId id="322" r:id="rId32"/>
    <p:sldId id="324" r:id="rId33"/>
    <p:sldId id="325" r:id="rId34"/>
    <p:sldId id="326" r:id="rId35"/>
    <p:sldId id="328" r:id="rId36"/>
    <p:sldId id="327" r:id="rId37"/>
    <p:sldId id="329" r:id="rId38"/>
    <p:sldId id="330" r:id="rId39"/>
    <p:sldId id="331" r:id="rId40"/>
    <p:sldId id="332" r:id="rId41"/>
    <p:sldId id="273" r:id="rId42"/>
    <p:sldId id="274" r:id="rId43"/>
    <p:sldId id="333" r:id="rId44"/>
    <p:sldId id="334" r:id="rId45"/>
    <p:sldId id="335" r:id="rId46"/>
    <p:sldId id="336" r:id="rId47"/>
    <p:sldId id="337" r:id="rId48"/>
    <p:sldId id="338" r:id="rId49"/>
    <p:sldId id="339" r:id="rId50"/>
    <p:sldId id="340" r:id="rId51"/>
    <p:sldId id="341" r:id="rId52"/>
    <p:sldId id="342" r:id="rId53"/>
    <p:sldId id="343" r:id="rId54"/>
    <p:sldId id="344" r:id="rId55"/>
    <p:sldId id="345" r:id="rId56"/>
    <p:sldId id="346" r:id="rId57"/>
    <p:sldId id="347" r:id="rId58"/>
    <p:sldId id="348" r:id="rId59"/>
    <p:sldId id="349" r:id="rId60"/>
    <p:sldId id="350" r:id="rId61"/>
    <p:sldId id="281" r:id="rId62"/>
    <p:sldId id="282" r:id="rId63"/>
    <p:sldId id="351" r:id="rId64"/>
    <p:sldId id="352" r:id="rId65"/>
    <p:sldId id="353" r:id="rId66"/>
    <p:sldId id="354" r:id="rId67"/>
    <p:sldId id="355" r:id="rId68"/>
    <p:sldId id="356" r:id="rId69"/>
    <p:sldId id="357" r:id="rId70"/>
    <p:sldId id="358" r:id="rId71"/>
    <p:sldId id="359" r:id="rId72"/>
    <p:sldId id="360" r:id="rId73"/>
    <p:sldId id="361" r:id="rId74"/>
    <p:sldId id="285" r:id="rId75"/>
    <p:sldId id="286" r:id="rId76"/>
    <p:sldId id="362" r:id="rId77"/>
    <p:sldId id="363" r:id="rId78"/>
    <p:sldId id="365" r:id="rId79"/>
    <p:sldId id="364" r:id="rId80"/>
    <p:sldId id="366" r:id="rId81"/>
    <p:sldId id="367" r:id="rId82"/>
    <p:sldId id="368" r:id="rId83"/>
    <p:sldId id="369" r:id="rId84"/>
    <p:sldId id="370" r:id="rId85"/>
    <p:sldId id="371" r:id="rId86"/>
    <p:sldId id="372" r:id="rId87"/>
    <p:sldId id="373" r:id="rId88"/>
    <p:sldId id="374" r:id="rId89"/>
    <p:sldId id="375" r:id="rId90"/>
    <p:sldId id="376" r:id="rId91"/>
    <p:sldId id="377" r:id="rId92"/>
    <p:sldId id="378" r:id="rId93"/>
    <p:sldId id="379" r:id="rId94"/>
    <p:sldId id="380" r:id="rId95"/>
    <p:sldId id="382" r:id="rId96"/>
    <p:sldId id="383" r:id="rId97"/>
    <p:sldId id="384" r:id="rId98"/>
    <p:sldId id="385" r:id="rId99"/>
    <p:sldId id="386" r:id="rId100"/>
    <p:sldId id="387" r:id="rId101"/>
    <p:sldId id="388" r:id="rId102"/>
    <p:sldId id="389" r:id="rId103"/>
    <p:sldId id="390" r:id="rId104"/>
    <p:sldId id="391" r:id="rId105"/>
    <p:sldId id="392" r:id="rId106"/>
    <p:sldId id="393" r:id="rId107"/>
    <p:sldId id="394" r:id="rId108"/>
    <p:sldId id="395" r:id="rId109"/>
    <p:sldId id="396" r:id="rId110"/>
    <p:sldId id="291" r:id="rId111"/>
    <p:sldId id="292" r:id="rId112"/>
    <p:sldId id="397" r:id="rId113"/>
    <p:sldId id="398" r:id="rId114"/>
    <p:sldId id="399" r:id="rId115"/>
    <p:sldId id="400" r:id="rId116"/>
    <p:sldId id="401" r:id="rId117"/>
    <p:sldId id="402" r:id="rId118"/>
    <p:sldId id="403" r:id="rId119"/>
    <p:sldId id="405" r:id="rId120"/>
    <p:sldId id="406" r:id="rId121"/>
    <p:sldId id="407" r:id="rId122"/>
    <p:sldId id="408" r:id="rId123"/>
    <p:sldId id="409" r:id="rId124"/>
    <p:sldId id="410" r:id="rId125"/>
    <p:sldId id="411" r:id="rId126"/>
    <p:sldId id="412" r:id="rId127"/>
    <p:sldId id="413" r:id="rId128"/>
    <p:sldId id="414" r:id="rId129"/>
    <p:sldId id="415" r:id="rId130"/>
    <p:sldId id="416" r:id="rId131"/>
    <p:sldId id="417" r:id="rId132"/>
    <p:sldId id="418" r:id="rId133"/>
    <p:sldId id="419" r:id="rId134"/>
    <p:sldId id="420" r:id="rId135"/>
    <p:sldId id="421" r:id="rId136"/>
    <p:sldId id="295" r:id="rId137"/>
    <p:sldId id="425" r:id="rId138"/>
    <p:sldId id="426" r:id="rId139"/>
    <p:sldId id="427" r:id="rId140"/>
    <p:sldId id="430" r:id="rId141"/>
    <p:sldId id="431" r:id="rId142"/>
    <p:sldId id="432" r:id="rId143"/>
    <p:sldId id="433" r:id="rId144"/>
    <p:sldId id="434" r:id="rId145"/>
    <p:sldId id="435" r:id="rId146"/>
    <p:sldId id="436" r:id="rId147"/>
    <p:sldId id="437" r:id="rId148"/>
    <p:sldId id="438" r:id="rId149"/>
    <p:sldId id="422" r:id="rId150"/>
    <p:sldId id="439" r:id="rId151"/>
    <p:sldId id="440" r:id="rId152"/>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64921" autoAdjust="0"/>
  </p:normalViewPr>
  <p:slideViewPr>
    <p:cSldViewPr>
      <p:cViewPr varScale="1">
        <p:scale>
          <a:sx n="60" d="100"/>
          <a:sy n="60" d="100"/>
        </p:scale>
        <p:origin x="210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handoutMaster" Target="handoutMasters/handout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7/18/2016</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7/18/2016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the unit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1042010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this Unit comprises five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2203887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126878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a ledger?</a:t>
            </a:r>
          </a:p>
          <a:p>
            <a:pPr>
              <a:buFont typeface="Arial" pitchFamily="34" charset="0"/>
              <a:buChar char="•"/>
            </a:pPr>
            <a:r>
              <a:rPr lang="en-AU" sz="1200" kern="1200" baseline="0" dirty="0" smtClean="0">
                <a:solidFill>
                  <a:schemeClr val="tx1"/>
                </a:solidFill>
                <a:latin typeface="+mn-lt"/>
                <a:ea typeface="+mn-ea"/>
                <a:cs typeface="+mn-cs"/>
              </a:rPr>
              <a:t>What is a general ledger?</a:t>
            </a:r>
          </a:p>
          <a:p>
            <a:pPr>
              <a:buFont typeface="Arial" pitchFamily="34" charset="0"/>
              <a:buChar char="•"/>
            </a:pPr>
            <a:r>
              <a:rPr lang="en-AU" sz="1200" kern="1200" baseline="0" dirty="0" smtClean="0">
                <a:solidFill>
                  <a:schemeClr val="tx1"/>
                </a:solidFill>
                <a:latin typeface="+mn-lt"/>
                <a:ea typeface="+mn-ea"/>
                <a:cs typeface="+mn-cs"/>
              </a:rPr>
              <a:t>What is the purpose of a ‘reconciliation’?</a:t>
            </a:r>
          </a:p>
          <a:p>
            <a:pPr>
              <a:buFont typeface="Arial" pitchFamily="34" charset="0"/>
              <a:buChar char="•"/>
            </a:pPr>
            <a:endParaRPr lang="en-AU" sz="120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675232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311342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648867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is this important?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0430875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 roles different people play in managing financial information within a business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4032997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Provide examples to explain the concept.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028004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other items commonly found in a general journal?</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3282772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other types of special journals found in a tourism business?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303625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examples of subsidiary ledgers?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2586900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What are examples of subsidiary ledgers under these categories?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685425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are general ledgers an important tool for managers?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30753057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Why is it important that subsidiary and general ledgers balance?</a:t>
            </a:r>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17115404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Why are these points important?</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5522369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endParaRPr lang="en-AU"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686458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other reasons for differences?</a:t>
            </a:r>
          </a:p>
          <a:p>
            <a:endParaRPr lang="en-AU"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3682203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Prove examples.</a:t>
            </a:r>
          </a:p>
          <a:p>
            <a:pPr>
              <a:buFont typeface="Arial" pitchFamily="34" charset="0"/>
              <a:buChar char="•"/>
            </a:pPr>
            <a:r>
              <a:rPr lang="en-AU" baseline="0" dirty="0" smtClean="0"/>
              <a:t>How can you investigate?</a:t>
            </a:r>
          </a:p>
          <a:p>
            <a:endParaRPr lang="en-AU"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39084129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is this important?</a:t>
            </a:r>
          </a:p>
          <a:p>
            <a:endParaRPr lang="en-AU"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3561034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Why is this important?</a:t>
            </a:r>
          </a:p>
          <a:p>
            <a:endParaRPr lang="en-AU"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22318823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 question in the slide.</a:t>
            </a:r>
          </a:p>
          <a:p>
            <a:endParaRPr lang="en-AU"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4706065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is this important?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7095327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tasks associated with these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36252540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tasks associated with these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9716694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tasks associated with these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11030435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What are examples of discrepancies in each of these phases?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8623259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Why is it important to first contact the </a:t>
            </a:r>
            <a:r>
              <a:rPr lang="en-AU" sz="1200" dirty="0" smtClean="0">
                <a:latin typeface="Helvetica" pitchFamily="34" charset="0"/>
              </a:rPr>
              <a:t>person who was responsible for raising the source document / transaction?</a:t>
            </a:r>
            <a:endParaRPr lang="en-US" sz="1200" dirty="0" smtClean="0">
              <a:latin typeface="Helvetica" pitchFamily="34" charset="0"/>
            </a:endParaRP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627871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 questions in the slide.</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29638240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will these impact on ledger balances?</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42749159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7950001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How can you check the accuracy of special and general journals?</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2788061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32434322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other reasons for differences?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9949975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are these documents important?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8810639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importance of these steps.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6866694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importance of these steps.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171372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importance of these steps.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23682058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Activities</a:t>
            </a:r>
          </a:p>
          <a:p>
            <a:endParaRPr lang="en-AU" dirty="0" smtClean="0"/>
          </a:p>
          <a:p>
            <a:pPr>
              <a:buFont typeface="Arial" pitchFamily="34" charset="0"/>
              <a:buChar char="•"/>
            </a:pPr>
            <a:r>
              <a:rPr lang="en-AU" baseline="0" dirty="0" smtClean="0"/>
              <a:t>Discuss the importance of these steps.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601485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 need for this approval or authorisation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31750812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other systems are there influencing an accounting system?</a:t>
            </a:r>
          </a:p>
          <a:p>
            <a:pPr>
              <a:buFont typeface="Arial" pitchFamily="34" charset="0"/>
              <a:buChar char="•"/>
            </a:pPr>
            <a:r>
              <a:rPr lang="en-AU" sz="1200" kern="1200" baseline="0" dirty="0" smtClean="0">
                <a:solidFill>
                  <a:schemeClr val="tx1"/>
                </a:solidFill>
                <a:latin typeface="+mn-lt"/>
                <a:ea typeface="+mn-ea"/>
                <a:cs typeface="+mn-cs"/>
              </a:rPr>
              <a:t>Why must they be reconciled?</a:t>
            </a:r>
          </a:p>
          <a:p>
            <a:pPr>
              <a:buFont typeface="Arial" pitchFamily="34" charset="0"/>
              <a:buChar char="•"/>
            </a:pPr>
            <a:r>
              <a:rPr lang="en-AU" sz="1200" kern="1200" baseline="0" dirty="0" smtClean="0">
                <a:solidFill>
                  <a:schemeClr val="tx1"/>
                </a:solidFill>
                <a:latin typeface="+mn-lt"/>
                <a:ea typeface="+mn-ea"/>
                <a:cs typeface="+mn-cs"/>
              </a:rPr>
              <a:t>How can this be done?</a:t>
            </a:r>
          </a:p>
          <a:p>
            <a:pPr>
              <a:buFont typeface="Arial" pitchFamily="34" charset="0"/>
              <a:buChar char="•"/>
            </a:pPr>
            <a:endParaRPr lang="en-AU" sz="120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942740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9423583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39495815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279988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486623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examples of costs for each of these cost centres?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35432488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51714412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41564169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41374235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Research</a:t>
            </a:r>
            <a:r>
              <a:rPr lang="en-AU" b="1" baseline="0" dirty="0" smtClean="0"/>
              <a:t> accounting software packages</a:t>
            </a:r>
            <a:endParaRPr lang="en-AU" b="1" dirty="0" smtClean="0"/>
          </a:p>
          <a:p>
            <a:endParaRPr lang="en-AU" dirty="0" smtClean="0"/>
          </a:p>
          <a:p>
            <a:pPr>
              <a:buFont typeface="Arial" pitchFamily="34" charset="0"/>
              <a:buChar char="•"/>
            </a:pPr>
            <a:r>
              <a:rPr lang="en-AU" baseline="0" dirty="0" smtClean="0"/>
              <a:t>Conduct research into these accounting software packages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37545966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Research</a:t>
            </a:r>
            <a:r>
              <a:rPr lang="en-AU" b="1" baseline="0" dirty="0" smtClean="0"/>
              <a:t> accounting software packages </a:t>
            </a:r>
            <a:r>
              <a:rPr lang="en-AU" b="1" dirty="0" smtClean="0"/>
              <a:t>&amp; Complete Activity</a:t>
            </a:r>
          </a:p>
          <a:p>
            <a:endParaRPr lang="en-AU" dirty="0" smtClean="0"/>
          </a:p>
          <a:p>
            <a:pPr>
              <a:buFont typeface="Arial" pitchFamily="34" charset="0"/>
              <a:buChar char="•"/>
            </a:pPr>
            <a:r>
              <a:rPr lang="en-AU" baseline="0" dirty="0" smtClean="0"/>
              <a:t>Conduct research into these accounting software packages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7817468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What are examples of these systems?</a:t>
            </a:r>
          </a:p>
          <a:p>
            <a:pPr>
              <a:buFont typeface="Arial" pitchFamily="34" charset="0"/>
              <a:buChar char="•"/>
            </a:pPr>
            <a:r>
              <a:rPr lang="en-AU" baseline="0" dirty="0" smtClean="0"/>
              <a:t>What are they used for?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25973726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4507009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these activities and tasks associated with them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362339552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its importance?</a:t>
            </a:r>
          </a:p>
          <a:p>
            <a:pPr>
              <a:buFont typeface="Arial" pitchFamily="34" charset="0"/>
              <a:buChar char="•"/>
            </a:pPr>
            <a:r>
              <a:rPr lang="en-AU" baseline="0" dirty="0" smtClean="0"/>
              <a:t>What methods can be used to verify the system?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14415515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Summarise activities associated with this verification step</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3087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Summarise activities associated with this verification step</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23996450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Summarise activities associated with this verification step</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37147406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Summarise activities associated with this verification step</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25108447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Summarise activities associated with this verification step</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9891032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the importance of backing up financial data?</a:t>
            </a:r>
          </a:p>
          <a:p>
            <a:pPr>
              <a:buFont typeface="Arial" pitchFamily="34" charset="0"/>
              <a:buChar char="•"/>
            </a:pPr>
            <a:endParaRPr lang="en-AU" sz="120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21807052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309367557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319228755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398342986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importance of these outcomes.</a:t>
            </a:r>
          </a:p>
          <a:p>
            <a:pPr>
              <a:buFont typeface="Arial" pitchFamily="34" charset="0"/>
              <a:buChar char="•"/>
            </a:pPr>
            <a:r>
              <a:rPr lang="en-AU" baseline="0" dirty="0" smtClean="0"/>
              <a:t>How can they be achieved?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241271902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 importance of these outcomes.</a:t>
            </a:r>
          </a:p>
          <a:p>
            <a:pPr>
              <a:buFont typeface="Arial" pitchFamily="34" charset="0"/>
              <a:buChar char="•"/>
            </a:pPr>
            <a:r>
              <a:rPr lang="en-AU" baseline="0" dirty="0" smtClean="0"/>
              <a:t>How can they be achieved?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16054827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 importance of these policies and procedures</a:t>
            </a:r>
          </a:p>
          <a:p>
            <a:pPr>
              <a:buFont typeface="Arial" pitchFamily="34" charset="0"/>
              <a:buChar char="•"/>
            </a:pPr>
            <a:r>
              <a:rPr lang="en-AU" baseline="0" dirty="0" smtClean="0"/>
              <a:t>How can they be achieved?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332767503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other selection factors?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182537506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other selection factors?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30072706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when each of these methods would be used.</a:t>
            </a:r>
          </a:p>
          <a:p>
            <a:pPr>
              <a:buFont typeface="Arial" pitchFamily="34" charset="0"/>
              <a:buChar char="•"/>
            </a:pPr>
            <a:r>
              <a:rPr lang="en-AU" baseline="0" dirty="0" smtClean="0"/>
              <a:t>What are the advantages and disadvantages of each of these methods?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200556147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303047898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other considerations would you have?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181286703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 benefits of each of these methods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356721676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Why is monitoring important?</a:t>
            </a:r>
          </a:p>
          <a:p>
            <a:pPr>
              <a:buFont typeface="Arial" pitchFamily="34" charset="0"/>
              <a:buNone/>
            </a:pPr>
            <a:endParaRPr lang="en-AU" sz="1200" kern="1200" baseline="0" dirty="0" smtClean="0">
              <a:solidFill>
                <a:schemeClr val="tx1"/>
              </a:solidFill>
              <a:latin typeface="+mn-lt"/>
              <a:ea typeface="+mn-ea"/>
              <a:cs typeface="+mn-cs"/>
            </a:endParaRPr>
          </a:p>
          <a:p>
            <a:pPr>
              <a:buFont typeface="Arial" pitchFamily="34" charset="0"/>
              <a:buChar char="•"/>
            </a:pPr>
            <a:endParaRPr lang="en-AU" sz="120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47117363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310215776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aspects of a financial system are important?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411207430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importance of these processes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189244903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importance of these processes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41733613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information do these units need?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242885028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these compliance requirements important?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396385650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baseline="0" dirty="0" smtClean="0"/>
              <a:t>What are these </a:t>
            </a:r>
            <a:r>
              <a:rPr lang="en-AU" sz="1200" b="0" dirty="0" smtClean="0">
                <a:latin typeface="Helvetica" pitchFamily="34" charset="0"/>
              </a:rPr>
              <a:t>internal control systems </a:t>
            </a:r>
            <a:r>
              <a:rPr lang="en-AU" b="0" baseline="0" dirty="0" smtClean="0"/>
              <a:t>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baseline="0" dirty="0" smtClean="0"/>
              <a:t>How can a financial system ensure these?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240764727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baseline="0" dirty="0" smtClean="0"/>
              <a:t>What are examples of these controls?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224513573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Activities</a:t>
            </a:r>
          </a:p>
          <a:p>
            <a:endParaRPr lang="en-AU"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baseline="0" dirty="0" smtClean="0"/>
              <a:t>Discuss importance and provide examples of these principles.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100470006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baseline="0" dirty="0" smtClean="0"/>
              <a:t>How can you control these?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83720612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333434030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tasks associated with these steps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124089506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Refer to TM for examples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335560631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do this?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273641318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do this?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328881309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 questions in the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28927469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 questions in the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105282329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17928575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examples of other policies?</a:t>
            </a:r>
          </a:p>
          <a:p>
            <a:pPr>
              <a:buFont typeface="Arial" pitchFamily="34" charset="0"/>
              <a:buChar char="•"/>
            </a:pPr>
            <a:r>
              <a:rPr lang="en-AU" baseline="0" dirty="0" smtClean="0"/>
              <a:t>What are the benefits of having policies?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161093855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examples of procedures?</a:t>
            </a:r>
          </a:p>
          <a:p>
            <a:pPr>
              <a:buFont typeface="Arial" pitchFamily="34" charset="0"/>
              <a:buChar char="•"/>
            </a:pPr>
            <a:r>
              <a:rPr lang="en-AU" baseline="0" dirty="0" smtClean="0"/>
              <a:t>What are the benefits of having procedures?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178484483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examples of policies and procedures for each of these accounting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216356025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examples of policies and procedures for each of these accounting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19544654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examples of policies and procedures for each of these accounting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408802460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What are examples of policies and procedures for each of these accounting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79392226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monitor this?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382575386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importance of these strategies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363750060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importance of these strategies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170177514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steps and priorities associated with each of these methods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152392337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When would each of these actions be appropriate?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149071978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210905358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is the importance of involving each of these stakeholders?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116328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is the importance of involving each of these stakeholders?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31508815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benefits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79772194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benefits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426507409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these benefits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335667730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Why would you need to update or purchase a new financial system?</a:t>
            </a:r>
          </a:p>
          <a:p>
            <a:pPr>
              <a:buFont typeface="Arial" pitchFamily="34" charset="0"/>
              <a:buChar char="•"/>
            </a:pPr>
            <a:endParaRPr lang="en-AU" sz="120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266940080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303780651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296575770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is it important to involve these stakeholders?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68703848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What are other </a:t>
            </a:r>
            <a:r>
              <a:rPr lang="en-AU" b="0" baseline="0" dirty="0" smtClean="0"/>
              <a:t>reasons </a:t>
            </a:r>
            <a:r>
              <a:rPr lang="en-AU" sz="1200" b="0" dirty="0" smtClean="0">
                <a:latin typeface="Helvetica" pitchFamily="34" charset="0"/>
              </a:rPr>
              <a:t>to change or update financial systems?</a:t>
            </a:r>
            <a:endParaRPr lang="en-US" sz="1200" b="0" dirty="0" smtClean="0">
              <a:latin typeface="Helvetica" pitchFamily="34" charset="0"/>
            </a:endParaRP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394608418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What are other </a:t>
            </a:r>
            <a:r>
              <a:rPr lang="en-AU" b="0" baseline="0" dirty="0" smtClean="0"/>
              <a:t>need you would have?</a:t>
            </a:r>
            <a:endParaRPr lang="en-US" sz="1200" b="0" dirty="0" smtClean="0">
              <a:latin typeface="Helvetica" pitchFamily="34" charset="0"/>
            </a:endParaRP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128637391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Why are these outputs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baseline="0" dirty="0" smtClean="0">
                <a:latin typeface="Helvetica" pitchFamily="34" charset="0"/>
              </a:rPr>
              <a:t>Who uses them?</a:t>
            </a:r>
            <a:endParaRPr lang="en-US" sz="1200" b="0" dirty="0" smtClean="0">
              <a:latin typeface="Helvetica" pitchFamily="34" charset="0"/>
            </a:endParaRP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299582295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381659535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413778506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costs associated with each of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285434872"/>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costs associated with each of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237717192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costs associated with each of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23594090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What are costs associated with each of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352046344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are these important?</a:t>
            </a:r>
          </a:p>
          <a:p>
            <a:pPr>
              <a:buFont typeface="Arial" pitchFamily="34" charset="0"/>
              <a:buChar char="•"/>
            </a:pPr>
            <a:r>
              <a:rPr lang="en-AU" baseline="0" dirty="0" smtClean="0"/>
              <a:t>What impact can they have?</a:t>
            </a:r>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574598219"/>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b="1" dirty="0" smtClean="0"/>
          </a:p>
          <a:p>
            <a:pPr>
              <a:buFont typeface="Arial" pitchFamily="34" charset="0"/>
              <a:buChar char="•"/>
            </a:pPr>
            <a:r>
              <a:rPr lang="en-AU" baseline="0" dirty="0" smtClean="0"/>
              <a:t>Discuss the questions in the slide.</a:t>
            </a:r>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42733508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b="1" dirty="0" smtClean="0"/>
          </a:p>
          <a:p>
            <a:pPr>
              <a:buFont typeface="Arial" pitchFamily="34" charset="0"/>
              <a:buChar char="•"/>
            </a:pPr>
            <a:r>
              <a:rPr lang="en-AU" baseline="0" dirty="0" smtClean="0"/>
              <a:t>How can you train these types of knowledge or skills?</a:t>
            </a:r>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93928506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b="1" dirty="0" smtClean="0"/>
          </a:p>
          <a:p>
            <a:pPr>
              <a:buFont typeface="Arial" pitchFamily="34" charset="0"/>
              <a:buChar char="•"/>
            </a:pPr>
            <a:r>
              <a:rPr lang="en-AU" baseline="0" dirty="0" smtClean="0"/>
              <a:t>How can you train these types of knowledge or skills?</a:t>
            </a:r>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1426809944"/>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b="1" dirty="0" smtClean="0"/>
          </a:p>
          <a:p>
            <a:pPr>
              <a:buFont typeface="Arial" pitchFamily="34" charset="0"/>
              <a:buChar char="•"/>
            </a:pPr>
            <a:r>
              <a:rPr lang="en-AU" baseline="0" dirty="0" smtClean="0"/>
              <a:t>When would each of these training methods best used?</a:t>
            </a:r>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1234654120"/>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b="1" dirty="0" smtClean="0"/>
          </a:p>
          <a:p>
            <a:pPr>
              <a:buFont typeface="Arial" pitchFamily="34" charset="0"/>
              <a:buChar char="•"/>
            </a:pPr>
            <a:r>
              <a:rPr lang="en-AU" baseline="0" dirty="0" smtClean="0"/>
              <a:t>When would each of these training methods best used?</a:t>
            </a:r>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8644110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54021111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considerations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252005728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considerations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3195567262"/>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considerations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340722394"/>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importance of communicating these points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2046242744"/>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importance of communicating these points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578826663"/>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importance of communicating these points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376056822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3304995153"/>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test these aspects?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3335801563"/>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test these aspects?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1440635134"/>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How can you test these aspects?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3695412079"/>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is it important to review the test?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34915120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else would you like to know?</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91493843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information can be gathered from each of these methods?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1720873747"/>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What information can be gathered from each of these methods?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4282916198"/>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4226109015"/>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examples?</a:t>
            </a:r>
          </a:p>
          <a:p>
            <a:pPr>
              <a:buFont typeface="Arial" pitchFamily="34" charset="0"/>
              <a:buChar char="•"/>
            </a:pPr>
            <a:r>
              <a:rPr lang="en-AU" baseline="0" dirty="0" smtClean="0"/>
              <a:t>What are other reasons for applying changes?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2346798852"/>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34968817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causes for these changes</a:t>
            </a:r>
          </a:p>
          <a:p>
            <a:pPr>
              <a:buFont typeface="Arial" pitchFamily="34" charset="0"/>
              <a:buChar char="•"/>
            </a:pPr>
            <a:r>
              <a:rPr lang="en-AU" baseline="0" dirty="0" smtClean="0"/>
              <a:t>Discuss the activities associated with these changes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510786630"/>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 causes for these changes</a:t>
            </a:r>
          </a:p>
          <a:p>
            <a:pPr>
              <a:buFont typeface="Arial" pitchFamily="34" charset="0"/>
              <a:buChar char="•"/>
            </a:pPr>
            <a:r>
              <a:rPr lang="en-AU" baseline="0" dirty="0" smtClean="0"/>
              <a:t>Discuss the activities associated with these changes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1132555396"/>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1193319419"/>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benefits of these methods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3120872156"/>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 Activity</a:t>
            </a:r>
          </a:p>
          <a:p>
            <a:endParaRPr lang="en-AU" dirty="0" smtClean="0"/>
          </a:p>
          <a:p>
            <a:pPr>
              <a:buFont typeface="Arial" pitchFamily="34" charset="0"/>
              <a:buChar char="•"/>
            </a:pPr>
            <a:r>
              <a:rPr lang="en-AU" baseline="0" dirty="0" smtClean="0"/>
              <a:t>Discuss the benefits of these methods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1198221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7/18/2016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7/18/2016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7/18/2016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7/18/2016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7/18/2016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332656"/>
            <a:ext cx="7488160" cy="1224136"/>
          </a:xfrm>
        </p:spPr>
        <p:txBody>
          <a:bodyPr>
            <a:normAutofit fontScale="90000"/>
          </a:bodyPr>
          <a:lstStyle/>
          <a:p>
            <a:r>
              <a:rPr lang="en-AU" sz="4000" dirty="0">
                <a:ln w="5000" cmpd="sng">
                  <a:noFill/>
                  <a:prstDash val="solid"/>
                </a:ln>
                <a:solidFill>
                  <a:srgbClr val="FF6600"/>
                </a:solidFill>
                <a:latin typeface="Helvetica" pitchFamily="34" charset="0"/>
              </a:rPr>
              <a:t>MAINTAIN A SECURE FINANCIAL ACCOUNTING </a:t>
            </a:r>
            <a:r>
              <a:rPr lang="en-AU" sz="4000" dirty="0" smtClean="0">
                <a:ln w="5000" cmpd="sng">
                  <a:noFill/>
                  <a:prstDash val="solid"/>
                </a:ln>
                <a:solidFill>
                  <a:srgbClr val="FF6600"/>
                </a:solidFill>
                <a:latin typeface="Helvetica" pitchFamily="34" charset="0"/>
              </a:rPr>
              <a:t>SYSTEM</a:t>
            </a:r>
            <a:endParaRPr lang="en-AU" sz="4000" dirty="0">
              <a:ln w="5000" cmpd="sng">
                <a:noFill/>
                <a:prstDash val="solid"/>
              </a:ln>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62584" y="1628800"/>
            <a:ext cx="5709616" cy="4176464"/>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5847156" y="1627090"/>
            <a:ext cx="2541268" cy="289742"/>
          </a:xfrm>
        </p:spPr>
        <p:txBody>
          <a:bodyPr>
            <a:normAutofit lnSpcReduction="10000"/>
          </a:bodyPr>
          <a:lstStyle/>
          <a:p>
            <a:r>
              <a:rPr lang="en-AU" b="1" dirty="0">
                <a:latin typeface="Helvetica" pitchFamily="34" charset="0"/>
              </a:rPr>
              <a:t>D2.TFA.CL7.03</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01208"/>
          </a:xfrm>
        </p:spPr>
        <p:txBody>
          <a:bodyPr>
            <a:normAutofit/>
          </a:bodyPr>
          <a:lstStyle/>
          <a:p>
            <a:pPr marL="0" indent="0">
              <a:spcBef>
                <a:spcPts val="600"/>
              </a:spcBef>
              <a:spcAft>
                <a:spcPts val="1200"/>
              </a:spcAft>
              <a:buNone/>
            </a:pPr>
            <a:r>
              <a:rPr lang="en-AU" sz="2200" dirty="0" smtClean="0">
                <a:latin typeface="Helvetica" pitchFamily="34" charset="0"/>
              </a:rPr>
              <a:t>This unit comprises five elements:</a:t>
            </a:r>
          </a:p>
          <a:p>
            <a:pPr>
              <a:spcBef>
                <a:spcPts val="600"/>
              </a:spcBef>
              <a:spcAft>
                <a:spcPts val="1200"/>
              </a:spcAft>
            </a:pPr>
            <a:r>
              <a:rPr lang="en-US" sz="2200" dirty="0" smtClean="0">
                <a:latin typeface="Helvetica" pitchFamily="34" charset="0"/>
              </a:rPr>
              <a:t>Reconcile general ledger accounts</a:t>
            </a:r>
          </a:p>
          <a:p>
            <a:pPr>
              <a:spcBef>
                <a:spcPts val="600"/>
              </a:spcBef>
              <a:spcAft>
                <a:spcPts val="1200"/>
              </a:spcAft>
            </a:pPr>
            <a:r>
              <a:rPr lang="en-US" sz="2200" dirty="0" smtClean="0">
                <a:latin typeface="Helvetica" pitchFamily="34" charset="0"/>
              </a:rPr>
              <a:t>Reconcile general ledger to related systems</a:t>
            </a:r>
          </a:p>
          <a:p>
            <a:pPr>
              <a:spcBef>
                <a:spcPts val="600"/>
              </a:spcBef>
              <a:spcAft>
                <a:spcPts val="1200"/>
              </a:spcAft>
            </a:pPr>
            <a:r>
              <a:rPr lang="en-US" sz="2200" dirty="0" smtClean="0">
                <a:latin typeface="Helvetica" pitchFamily="34" charset="0"/>
              </a:rPr>
              <a:t>Back-up systems</a:t>
            </a:r>
          </a:p>
          <a:p>
            <a:pPr>
              <a:spcBef>
                <a:spcPts val="600"/>
              </a:spcBef>
              <a:spcAft>
                <a:spcPts val="1200"/>
              </a:spcAft>
            </a:pPr>
            <a:r>
              <a:rPr lang="en-US" sz="2200" dirty="0" smtClean="0">
                <a:latin typeface="Helvetica" pitchFamily="34" charset="0"/>
              </a:rPr>
              <a:t>Monitor and review integrity of                                          financial systems</a:t>
            </a:r>
          </a:p>
          <a:p>
            <a:pPr>
              <a:spcBef>
                <a:spcPts val="600"/>
              </a:spcBef>
              <a:spcAft>
                <a:spcPts val="1200"/>
              </a:spcAft>
            </a:pPr>
            <a:r>
              <a:rPr lang="en-US" sz="2200" dirty="0" smtClean="0">
                <a:latin typeface="Helvetica" pitchFamily="34" charset="0"/>
              </a:rPr>
              <a:t>Update systems for management                                   requirements and regulations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6" name="Picture 5" descr="shutterstock_132318596.jpg"/>
          <p:cNvPicPr>
            <a:picLocks noChangeAspect="1"/>
          </p:cNvPicPr>
          <p:nvPr/>
        </p:nvPicPr>
        <p:blipFill>
          <a:blip r:embed="rId3" cstate="print"/>
          <a:stretch>
            <a:fillRect/>
          </a:stretch>
        </p:blipFill>
        <p:spPr>
          <a:xfrm>
            <a:off x="6084168" y="4221088"/>
            <a:ext cx="2279706" cy="1520564"/>
          </a:xfrm>
          <a:prstGeom prst="rect">
            <a:avLst/>
          </a:prstGeom>
        </p:spPr>
      </p:pic>
    </p:spTree>
    <p:extLst>
      <p:ext uri="{BB962C8B-B14F-4D97-AF65-F5344CB8AC3E}">
        <p14:creationId xmlns:p14="http://schemas.microsoft.com/office/powerpoint/2010/main" val="22585976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dirty="0" smtClean="0">
                <a:latin typeface="Helvetica" pitchFamily="34" charset="0"/>
              </a:rPr>
              <a:t>Work projects</a:t>
            </a:r>
          </a:p>
          <a:p>
            <a:pPr marL="360000" indent="-360000">
              <a:spcBef>
                <a:spcPts val="600"/>
              </a:spcBef>
              <a:spcAft>
                <a:spcPts val="1200"/>
              </a:spcAft>
            </a:pPr>
            <a:r>
              <a:rPr lang="en-AU" sz="2200" dirty="0" smtClean="0">
                <a:latin typeface="Helvetica" pitchFamily="34" charset="0"/>
              </a:rPr>
              <a:t>Workplace observation of 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4" descr="shutterstock_104238854.jpg"/>
          <p:cNvPicPr>
            <a:picLocks noChangeAspect="1"/>
          </p:cNvPicPr>
          <p:nvPr/>
        </p:nvPicPr>
        <p:blipFill>
          <a:blip r:embed="rId3" cstate="print"/>
          <a:stretch>
            <a:fillRect/>
          </a:stretch>
        </p:blipFill>
        <p:spPr>
          <a:xfrm>
            <a:off x="6444208" y="4221088"/>
            <a:ext cx="1952628" cy="1302403"/>
          </a:xfrm>
          <a:prstGeom prst="rect">
            <a:avLst/>
          </a:prstGeom>
        </p:spPr>
      </p:pic>
    </p:spTree>
    <p:extLst>
      <p:ext uri="{BB962C8B-B14F-4D97-AF65-F5344CB8AC3E}">
        <p14:creationId xmlns:p14="http://schemas.microsoft.com/office/powerpoint/2010/main" val="8371161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8280920" cy="4680520"/>
          </a:xfrm>
        </p:spPr>
        <p:txBody>
          <a:bodyPr>
            <a:normAutofit/>
          </a:bodyPr>
          <a:lstStyle/>
          <a:p>
            <a:pPr marL="0">
              <a:buNone/>
            </a:pPr>
            <a:r>
              <a:rPr lang="en-AU" sz="4000" b="1" dirty="0" smtClean="0">
                <a:solidFill>
                  <a:srgbClr val="FF6600"/>
                </a:solidFill>
                <a:latin typeface="Helvetica" pitchFamily="34" charset="0"/>
              </a:rPr>
              <a:t>Element 1:</a:t>
            </a:r>
          </a:p>
          <a:p>
            <a:pPr marL="0">
              <a:buNone/>
            </a:pPr>
            <a:r>
              <a:rPr lang="en-US" sz="4000" b="1" i="1" dirty="0">
                <a:solidFill>
                  <a:srgbClr val="FF6600"/>
                </a:solidFill>
                <a:latin typeface="Helvetica" pitchFamily="34" charset="0"/>
              </a:rPr>
              <a:t>Reconcile general ledger accounts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7" name="Picture 6" descr="shutterstock_88003519.jpg"/>
          <p:cNvPicPr>
            <a:picLocks noChangeAspect="1"/>
          </p:cNvPicPr>
          <p:nvPr/>
        </p:nvPicPr>
        <p:blipFill>
          <a:blip r:embed="rId3" cstate="print"/>
          <a:stretch>
            <a:fillRect/>
          </a:stretch>
        </p:blipFill>
        <p:spPr>
          <a:xfrm>
            <a:off x="3635896" y="3140968"/>
            <a:ext cx="1696811" cy="2543944"/>
          </a:xfrm>
          <a:prstGeom prst="rect">
            <a:avLst/>
          </a:prstGeom>
        </p:spPr>
      </p:pic>
    </p:spTree>
    <p:extLst>
      <p:ext uri="{BB962C8B-B14F-4D97-AF65-F5344CB8AC3E}">
        <p14:creationId xmlns:p14="http://schemas.microsoft.com/office/powerpoint/2010/main" val="20442464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Reconcile general ledger accounts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Reconcile general ledger to subsidiary ledgers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Resolve outstanding items on reconciliation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Reconcile bank accounts and clear suspense accounts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Obtain authorisation and/or approval for completed reconciliation</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shutterstock_108296237.jpg"/>
          <p:cNvPicPr>
            <a:picLocks noChangeAspect="1"/>
          </p:cNvPicPr>
          <p:nvPr/>
        </p:nvPicPr>
        <p:blipFill>
          <a:blip r:embed="rId3" cstate="print"/>
          <a:stretch>
            <a:fillRect/>
          </a:stretch>
        </p:blipFill>
        <p:spPr>
          <a:xfrm>
            <a:off x="6156176" y="4365104"/>
            <a:ext cx="2171748" cy="1448556"/>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Financial accounting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The importance of having a secure financial accounting system</a:t>
            </a:r>
          </a:p>
          <a:p>
            <a:pPr marL="0">
              <a:spcBef>
                <a:spcPts val="600"/>
              </a:spcBef>
              <a:spcAft>
                <a:spcPts val="1200"/>
              </a:spcAft>
              <a:buNone/>
            </a:pPr>
            <a:r>
              <a:rPr lang="en-AU" sz="2200" dirty="0" smtClean="0">
                <a:latin typeface="Helvetica" pitchFamily="34" charset="0"/>
              </a:rPr>
              <a:t>Ensure that a business can identify, monitor, analyse, understand and improve its financial performance:</a:t>
            </a:r>
          </a:p>
          <a:p>
            <a:pPr>
              <a:spcBef>
                <a:spcPts val="600"/>
              </a:spcBef>
              <a:spcAft>
                <a:spcPts val="1200"/>
              </a:spcAft>
            </a:pPr>
            <a:r>
              <a:rPr lang="en-AU" sz="2200" dirty="0" smtClean="0">
                <a:latin typeface="Helvetica" pitchFamily="34" charset="0"/>
              </a:rPr>
              <a:t>How can you do this?</a:t>
            </a:r>
          </a:p>
          <a:p>
            <a:pPr>
              <a:spcBef>
                <a:spcPts val="600"/>
              </a:spcBef>
              <a:spcAft>
                <a:spcPts val="1200"/>
              </a:spcAft>
            </a:pPr>
            <a:r>
              <a:rPr lang="en-AU" sz="2200" dirty="0" smtClean="0">
                <a:latin typeface="Helvetica" pitchFamily="34" charset="0"/>
              </a:rPr>
              <a:t>What aspects of a business needs accounting systems?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1d.jpg"/>
          <p:cNvPicPr/>
          <p:nvPr/>
        </p:nvPicPr>
        <p:blipFill>
          <a:blip r:embed="rId3" cstate="print"/>
          <a:stretch>
            <a:fillRect/>
          </a:stretch>
        </p:blipFill>
        <p:spPr>
          <a:xfrm>
            <a:off x="6321836" y="4437112"/>
            <a:ext cx="1991608" cy="126377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Financial accounting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The importance of having a secure financial accounting system</a:t>
            </a:r>
          </a:p>
          <a:p>
            <a:pPr lvl="0">
              <a:spcBef>
                <a:spcPts val="600"/>
              </a:spcBef>
              <a:spcAft>
                <a:spcPts val="1200"/>
              </a:spcAft>
            </a:pPr>
            <a:r>
              <a:rPr lang="en-AU" sz="2200" dirty="0" smtClean="0">
                <a:latin typeface="Helvetica" pitchFamily="34" charset="0"/>
              </a:rPr>
              <a:t>Provide information to management on which to make business decisions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Track the performance of the operation against projections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Demonstrate business results to </a:t>
            </a:r>
            <a:br>
              <a:rPr lang="en-AU" sz="2200" dirty="0" smtClean="0">
                <a:latin typeface="Helvetica" pitchFamily="34" charset="0"/>
              </a:rPr>
            </a:br>
            <a:r>
              <a:rPr lang="en-AU" sz="2200" dirty="0" smtClean="0">
                <a:latin typeface="Helvetica" pitchFamily="34" charset="0"/>
              </a:rPr>
              <a:t>stakeholders such as shareholders, </a:t>
            </a:r>
            <a:br>
              <a:rPr lang="en-AU" sz="2200" dirty="0" smtClean="0">
                <a:latin typeface="Helvetica" pitchFamily="34" charset="0"/>
              </a:rPr>
            </a:br>
            <a:r>
              <a:rPr lang="en-AU" sz="2200" dirty="0" smtClean="0">
                <a:latin typeface="Helvetica" pitchFamily="34" charset="0"/>
              </a:rPr>
              <a:t>owners, partners, banks and various </a:t>
            </a:r>
            <a:br>
              <a:rPr lang="en-AU" sz="2200" dirty="0" smtClean="0">
                <a:latin typeface="Helvetica" pitchFamily="34" charset="0"/>
              </a:rPr>
            </a:br>
            <a:r>
              <a:rPr lang="en-AU" sz="2200" dirty="0" smtClean="0">
                <a:latin typeface="Helvetica" pitchFamily="34" charset="0"/>
              </a:rPr>
              <a:t>government agencies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7" name="Picture 6" descr="kq.jpg"/>
          <p:cNvPicPr/>
          <p:nvPr/>
        </p:nvPicPr>
        <p:blipFill>
          <a:blip r:embed="rId3" cstate="print"/>
          <a:stretch>
            <a:fillRect/>
          </a:stretch>
        </p:blipFill>
        <p:spPr>
          <a:xfrm>
            <a:off x="6444965" y="4114302"/>
            <a:ext cx="1944216" cy="15841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Financial accounting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112568"/>
          </a:xfrm>
        </p:spPr>
        <p:txBody>
          <a:bodyPr>
            <a:normAutofit lnSpcReduction="10000"/>
          </a:bodyPr>
          <a:lstStyle/>
          <a:p>
            <a:pPr>
              <a:spcBef>
                <a:spcPts val="600"/>
              </a:spcBef>
              <a:spcAft>
                <a:spcPts val="1200"/>
              </a:spcAft>
              <a:buNone/>
            </a:pPr>
            <a:r>
              <a:rPr lang="en-AU" sz="2200" b="1" dirty="0" smtClean="0">
                <a:latin typeface="Helvetica" pitchFamily="34" charset="0"/>
              </a:rPr>
              <a:t>Management of </a:t>
            </a:r>
            <a:r>
              <a:rPr lang="en-US" sz="2200" b="1" dirty="0" smtClean="0">
                <a:latin typeface="Helvetica" pitchFamily="34" charset="0"/>
              </a:rPr>
              <a:t>accounting systems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In the workplace, the function of maintaining accounting systems may be: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Allocated to the administration or accounts department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Given to one nominated management-level member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sole province of the business owner-operator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Integrated with other activities </a:t>
            </a:r>
            <a:br>
              <a:rPr lang="en-AU" sz="2200" dirty="0" smtClean="0">
                <a:latin typeface="Helvetica" pitchFamily="34" charset="0"/>
              </a:rPr>
            </a:br>
            <a:r>
              <a:rPr lang="en-AU" sz="2200" dirty="0" smtClean="0">
                <a:latin typeface="Helvetica" pitchFamily="34" charset="0"/>
              </a:rPr>
              <a:t>and systems </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1</a:t>
            </a: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6" name="Picture 5" descr="10.jpg"/>
          <p:cNvPicPr/>
          <p:nvPr/>
        </p:nvPicPr>
        <p:blipFill>
          <a:blip r:embed="rId3" cstate="print"/>
          <a:stretch>
            <a:fillRect/>
          </a:stretch>
        </p:blipFill>
        <p:spPr>
          <a:xfrm>
            <a:off x="6300192" y="4445802"/>
            <a:ext cx="2088232" cy="143147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Journals and ledgers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ZA" sz="2200" b="1" dirty="0" smtClean="0">
                <a:latin typeface="Helvetica" pitchFamily="34" charset="0"/>
              </a:rPr>
              <a:t>Difference between a journal and a ledger</a:t>
            </a:r>
          </a:p>
          <a:p>
            <a:pPr>
              <a:spcBef>
                <a:spcPts val="600"/>
              </a:spcBef>
              <a:spcAft>
                <a:spcPts val="1200"/>
              </a:spcAft>
            </a:pPr>
            <a:r>
              <a:rPr lang="en-ZA" sz="2200" dirty="0" smtClean="0">
                <a:latin typeface="Helvetica" pitchFamily="34" charset="0"/>
              </a:rPr>
              <a:t>Journals and ledgers are where business transactions are recorded in an accounting system</a:t>
            </a:r>
          </a:p>
          <a:p>
            <a:pPr>
              <a:spcBef>
                <a:spcPts val="600"/>
              </a:spcBef>
              <a:spcAft>
                <a:spcPts val="1200"/>
              </a:spcAft>
            </a:pPr>
            <a:r>
              <a:rPr lang="en-ZA" sz="2200" dirty="0" smtClean="0">
                <a:latin typeface="Helvetica" pitchFamily="34" charset="0"/>
              </a:rPr>
              <a:t>Individual transactions are stored in one of several possible journals</a:t>
            </a:r>
          </a:p>
          <a:p>
            <a:pPr>
              <a:spcBef>
                <a:spcPts val="600"/>
              </a:spcBef>
              <a:spcAft>
                <a:spcPts val="1200"/>
              </a:spcAft>
            </a:pPr>
            <a:r>
              <a:rPr lang="en-ZA" sz="2200" dirty="0" smtClean="0">
                <a:latin typeface="Helvetica" pitchFamily="34" charset="0"/>
              </a:rPr>
              <a:t>Information in the journals is then </a:t>
            </a:r>
            <a:br>
              <a:rPr lang="en-ZA" sz="2200" dirty="0" smtClean="0">
                <a:latin typeface="Helvetica" pitchFamily="34" charset="0"/>
              </a:rPr>
            </a:br>
            <a:r>
              <a:rPr lang="en-ZA" sz="2200" dirty="0" smtClean="0">
                <a:latin typeface="Helvetica" pitchFamily="34" charset="0"/>
              </a:rPr>
              <a:t>summarized and transferred to a ledger</a:t>
            </a: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8" name="Picture 7" descr="fh.jpg"/>
          <p:cNvPicPr>
            <a:picLocks noChangeAspect="1"/>
          </p:cNvPicPr>
          <p:nvPr/>
        </p:nvPicPr>
        <p:blipFill>
          <a:blip r:embed="rId3" cstate="print"/>
          <a:stretch>
            <a:fillRect/>
          </a:stretch>
        </p:blipFill>
        <p:spPr>
          <a:xfrm>
            <a:off x="6732240" y="3442707"/>
            <a:ext cx="1656184" cy="2071633"/>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General and special journals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General journal</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 general journal is a general location for the initial entry of certain transactions that do not occur in sufficient volumes to create specialised journals. </a:t>
            </a:r>
          </a:p>
          <a:p>
            <a:pPr>
              <a:spcBef>
                <a:spcPts val="600"/>
              </a:spcBef>
              <a:spcAft>
                <a:spcPts val="1200"/>
              </a:spcAft>
              <a:buNone/>
            </a:pPr>
            <a:r>
              <a:rPr lang="en-AU" sz="2200" dirty="0" smtClean="0">
                <a:latin typeface="Helvetica" pitchFamily="34" charset="0"/>
              </a:rPr>
              <a:t>Examples of entries made into the general journal are: </a:t>
            </a:r>
          </a:p>
          <a:p>
            <a:pPr>
              <a:spcBef>
                <a:spcPts val="600"/>
              </a:spcBef>
              <a:spcAft>
                <a:spcPts val="1200"/>
              </a:spcAft>
            </a:pPr>
            <a:r>
              <a:rPr lang="en-AU" sz="2200" dirty="0" smtClean="0">
                <a:latin typeface="Helvetica" pitchFamily="34" charset="0"/>
              </a:rPr>
              <a:t>Asset sales</a:t>
            </a:r>
          </a:p>
          <a:p>
            <a:pPr>
              <a:spcBef>
                <a:spcPts val="600"/>
              </a:spcBef>
              <a:spcAft>
                <a:spcPts val="1200"/>
              </a:spcAft>
            </a:pPr>
            <a:r>
              <a:rPr lang="en-AU" sz="2200" dirty="0" smtClean="0">
                <a:latin typeface="Helvetica" pitchFamily="34" charset="0"/>
              </a:rPr>
              <a:t>Depreciation </a:t>
            </a:r>
          </a:p>
          <a:p>
            <a:pPr>
              <a:spcBef>
                <a:spcPts val="600"/>
              </a:spcBef>
              <a:spcAft>
                <a:spcPts val="1200"/>
              </a:spcAft>
            </a:pPr>
            <a:r>
              <a:rPr lang="en-AU" sz="2200" dirty="0" smtClean="0">
                <a:latin typeface="Helvetica" pitchFamily="34" charset="0"/>
              </a:rPr>
              <a:t>Interest income</a:t>
            </a:r>
          </a:p>
          <a:p>
            <a:pPr>
              <a:spcBef>
                <a:spcPts val="600"/>
              </a:spcBef>
              <a:spcAft>
                <a:spcPts val="1200"/>
              </a:spcAft>
            </a:pPr>
            <a:r>
              <a:rPr lang="en-AU" sz="2200" dirty="0" smtClean="0">
                <a:latin typeface="Helvetica" pitchFamily="34" charset="0"/>
              </a:rPr>
              <a:t>Interest expense</a:t>
            </a:r>
            <a:endParaRPr lang="en-US" sz="2200" dirty="0" smtClean="0">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7" name="Picture 6" descr="A21 shutterstock_182028425.jpg"/>
          <p:cNvPicPr/>
          <p:nvPr/>
        </p:nvPicPr>
        <p:blipFill>
          <a:blip r:embed="rId3" cstate="print"/>
          <a:stretch>
            <a:fillRect/>
          </a:stretch>
        </p:blipFill>
        <p:spPr>
          <a:xfrm>
            <a:off x="3779912" y="4077072"/>
            <a:ext cx="2160240" cy="137844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General and special journals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Special journal</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Special journals are used for types of transactions that contain special types of transactions that occur on a regular basis.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Examples of special journals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Cash receipts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Cash payments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Sales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Expenses</a:t>
            </a:r>
            <a:endParaRPr lang="en-US" sz="2200" dirty="0" smtClean="0">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6" name="Picture 5" descr="shutterstock_149574587.jpg"/>
          <p:cNvPicPr>
            <a:picLocks noChangeAspect="1"/>
          </p:cNvPicPr>
          <p:nvPr/>
        </p:nvPicPr>
        <p:blipFill>
          <a:blip r:embed="rId3" cstate="print"/>
          <a:stretch>
            <a:fillRect/>
          </a:stretch>
        </p:blipFill>
        <p:spPr>
          <a:xfrm>
            <a:off x="3795163" y="4077072"/>
            <a:ext cx="2391566" cy="15880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Subsidiary and general ledgers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Subsidiary ledgers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A subsidiary ledger is a ledger designed for the storage of specific types of accounting transactions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When a large amount of detailed information about a certain ledger account must be kept, a separate ledger called a subsidiary ledger is used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 subsidiary ledger is a detailed record </a:t>
            </a:r>
            <a:br>
              <a:rPr lang="en-AU" sz="2200" dirty="0" smtClean="0">
                <a:latin typeface="Helvetica" pitchFamily="34" charset="0"/>
              </a:rPr>
            </a:br>
            <a:r>
              <a:rPr lang="en-AU" sz="2200" dirty="0" smtClean="0">
                <a:latin typeface="Helvetica" pitchFamily="34" charset="0"/>
              </a:rPr>
              <a:t>of transactions for an individual account</a:t>
            </a: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7" name="Picture 6" descr="fd.jpg"/>
          <p:cNvPicPr/>
          <p:nvPr/>
        </p:nvPicPr>
        <p:blipFill>
          <a:blip r:embed="rId3" cstate="print"/>
          <a:stretch>
            <a:fillRect/>
          </a:stretch>
        </p:blipFill>
        <p:spPr>
          <a:xfrm>
            <a:off x="6228184" y="3933056"/>
            <a:ext cx="2201907" cy="148855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Subsidiary and general ledgers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846640" cy="5400600"/>
          </a:xfrm>
        </p:spPr>
        <p:txBody>
          <a:bodyPr>
            <a:normAutofit/>
          </a:bodyPr>
          <a:lstStyle/>
          <a:p>
            <a:pPr>
              <a:spcBef>
                <a:spcPts val="600"/>
              </a:spcBef>
              <a:spcAft>
                <a:spcPts val="600"/>
              </a:spcAft>
              <a:buNone/>
            </a:pPr>
            <a:r>
              <a:rPr lang="en-AU" sz="2000" b="1" dirty="0" smtClean="0">
                <a:latin typeface="Helvetica" pitchFamily="34" charset="0"/>
              </a:rPr>
              <a:t>Types of subsidiary ledgers</a:t>
            </a:r>
            <a:endParaRPr lang="en-US" sz="2000" b="1" dirty="0" smtClean="0">
              <a:latin typeface="Helvetica" pitchFamily="34" charset="0"/>
            </a:endParaRPr>
          </a:p>
          <a:p>
            <a:pPr>
              <a:spcBef>
                <a:spcPts val="600"/>
              </a:spcBef>
              <a:spcAft>
                <a:spcPts val="600"/>
              </a:spcAft>
            </a:pPr>
            <a:r>
              <a:rPr lang="en-AU" sz="2000" dirty="0" smtClean="0">
                <a:latin typeface="Helvetica" pitchFamily="34" charset="0"/>
              </a:rPr>
              <a:t>Current Assets </a:t>
            </a:r>
          </a:p>
          <a:p>
            <a:pPr>
              <a:spcBef>
                <a:spcPts val="600"/>
              </a:spcBef>
              <a:spcAft>
                <a:spcPts val="600"/>
              </a:spcAft>
            </a:pPr>
            <a:r>
              <a:rPr lang="en-AU" sz="2000" dirty="0" smtClean="0">
                <a:latin typeface="Helvetica" pitchFamily="34" charset="0"/>
              </a:rPr>
              <a:t>Fixed Assets </a:t>
            </a:r>
          </a:p>
          <a:p>
            <a:pPr>
              <a:spcBef>
                <a:spcPts val="600"/>
              </a:spcBef>
              <a:spcAft>
                <a:spcPts val="600"/>
              </a:spcAft>
            </a:pPr>
            <a:r>
              <a:rPr lang="en-AU" sz="2000" dirty="0" smtClean="0">
                <a:latin typeface="Helvetica" pitchFamily="34" charset="0"/>
              </a:rPr>
              <a:t>Current Liabilities </a:t>
            </a:r>
          </a:p>
          <a:p>
            <a:pPr>
              <a:spcBef>
                <a:spcPts val="600"/>
              </a:spcBef>
              <a:spcAft>
                <a:spcPts val="600"/>
              </a:spcAft>
            </a:pPr>
            <a:r>
              <a:rPr lang="en-AU" sz="2000" dirty="0" smtClean="0">
                <a:latin typeface="Helvetica" pitchFamily="34" charset="0"/>
              </a:rPr>
              <a:t>Long-term Liabilities </a:t>
            </a:r>
          </a:p>
          <a:p>
            <a:pPr>
              <a:spcBef>
                <a:spcPts val="600"/>
              </a:spcBef>
              <a:spcAft>
                <a:spcPts val="600"/>
              </a:spcAft>
            </a:pPr>
            <a:r>
              <a:rPr lang="en-AU" sz="2000" dirty="0" smtClean="0">
                <a:latin typeface="Helvetica" pitchFamily="34" charset="0"/>
              </a:rPr>
              <a:t>Operating Revenues </a:t>
            </a:r>
          </a:p>
          <a:p>
            <a:pPr>
              <a:spcBef>
                <a:spcPts val="600"/>
              </a:spcBef>
              <a:spcAft>
                <a:spcPts val="600"/>
              </a:spcAft>
            </a:pPr>
            <a:r>
              <a:rPr lang="en-AU" sz="2000" dirty="0" smtClean="0">
                <a:latin typeface="Helvetica" pitchFamily="34" charset="0"/>
              </a:rPr>
              <a:t>Cost of Goods Sold </a:t>
            </a:r>
          </a:p>
          <a:p>
            <a:pPr>
              <a:spcBef>
                <a:spcPts val="600"/>
              </a:spcBef>
              <a:spcAft>
                <a:spcPts val="600"/>
              </a:spcAft>
            </a:pPr>
            <a:r>
              <a:rPr lang="en-AU" sz="2000" dirty="0" smtClean="0">
                <a:latin typeface="Helvetica" pitchFamily="34" charset="0"/>
              </a:rPr>
              <a:t>Sales &amp; Marketing Expenses </a:t>
            </a:r>
          </a:p>
          <a:p>
            <a:pPr>
              <a:spcBef>
                <a:spcPts val="600"/>
              </a:spcBef>
              <a:spcAft>
                <a:spcPts val="600"/>
              </a:spcAft>
            </a:pPr>
            <a:r>
              <a:rPr lang="en-AU" sz="2000" dirty="0" smtClean="0">
                <a:latin typeface="Helvetica" pitchFamily="34" charset="0"/>
              </a:rPr>
              <a:t>Finance Dept. Expenses</a:t>
            </a:r>
          </a:p>
          <a:p>
            <a:pPr>
              <a:spcBef>
                <a:spcPts val="600"/>
              </a:spcBef>
              <a:spcAft>
                <a:spcPts val="600"/>
              </a:spcAft>
            </a:pPr>
            <a:endParaRPr lang="en-AU" sz="2000" dirty="0" smtClean="0">
              <a:latin typeface="Helvetica" pitchFamily="34" charset="0"/>
            </a:endParaRPr>
          </a:p>
          <a:p>
            <a:pPr>
              <a:spcBef>
                <a:spcPts val="600"/>
              </a:spcBef>
              <a:spcAft>
                <a:spcPts val="600"/>
              </a:spcAft>
              <a:buNone/>
            </a:pPr>
            <a:r>
              <a:rPr lang="en-US" sz="2000" b="1" dirty="0" smtClean="0">
                <a:solidFill>
                  <a:srgbClr val="FF6600"/>
                </a:solidFill>
                <a:latin typeface="Helvetica" pitchFamily="34" charset="0"/>
              </a:rPr>
              <a:t>COMPLETE ACTIVITY 2</a:t>
            </a:r>
          </a:p>
          <a:p>
            <a:pPr>
              <a:spcBef>
                <a:spcPts val="600"/>
              </a:spcBef>
              <a:spcAft>
                <a:spcPts val="600"/>
              </a:spcAft>
              <a:buNone/>
            </a:pPr>
            <a:endParaRPr lang="en-US" sz="2000" dirty="0" smtClean="0"/>
          </a:p>
          <a:p>
            <a:pPr>
              <a:spcBef>
                <a:spcPts val="600"/>
              </a:spcBef>
              <a:spcAft>
                <a:spcPts val="600"/>
              </a:spcAft>
              <a:buNone/>
            </a:pPr>
            <a:endParaRPr lang="en-US" sz="2000" dirty="0" smtClean="0">
              <a:latin typeface="Helvetica" pitchFamily="34" charset="0"/>
            </a:endParaRPr>
          </a:p>
          <a:p>
            <a:pPr lvl="0">
              <a:spcBef>
                <a:spcPts val="600"/>
              </a:spcBef>
              <a:spcAft>
                <a:spcPts val="600"/>
              </a:spcAft>
              <a:buNone/>
            </a:pP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6" name="Picture 5" descr="shutterstock_156477794.jpg"/>
          <p:cNvPicPr/>
          <p:nvPr/>
        </p:nvPicPr>
        <p:blipFill>
          <a:blip r:embed="rId3" cstate="print"/>
          <a:stretch>
            <a:fillRect/>
          </a:stretch>
        </p:blipFill>
        <p:spPr>
          <a:xfrm rot="1242322">
            <a:off x="4927704" y="2495738"/>
            <a:ext cx="2801023" cy="18665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Subsidiary and general ledgers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General ledgers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 general ledger contains a summary at the account level of every transaction that a business has engaged in</a:t>
            </a:r>
          </a:p>
          <a:p>
            <a:pPr>
              <a:spcBef>
                <a:spcPts val="600"/>
              </a:spcBef>
              <a:spcAft>
                <a:spcPts val="1200"/>
              </a:spcAft>
            </a:pPr>
            <a:r>
              <a:rPr lang="en-AU" sz="2200" dirty="0" smtClean="0">
                <a:latin typeface="Helvetica" pitchFamily="34" charset="0"/>
              </a:rPr>
              <a:t>This information comes from the various subsidiary journals in aggregated form, in summary-level entries</a:t>
            </a:r>
            <a:endParaRPr lang="en-US" sz="2200" dirty="0" smtClean="0">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6" name="Picture 5" descr="ff.jpg"/>
          <p:cNvPicPr/>
          <p:nvPr/>
        </p:nvPicPr>
        <p:blipFill>
          <a:blip r:embed="rId3" cstate="print"/>
          <a:stretch>
            <a:fillRect/>
          </a:stretch>
        </p:blipFill>
        <p:spPr>
          <a:xfrm>
            <a:off x="3131840" y="3933056"/>
            <a:ext cx="2304256" cy="160285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Reconciling general and subsidiary ledgers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6640" cy="5301208"/>
          </a:xfrm>
        </p:spPr>
        <p:txBody>
          <a:bodyPr>
            <a:normAutofit/>
          </a:bodyPr>
          <a:lstStyle/>
          <a:p>
            <a:pPr marL="0">
              <a:spcBef>
                <a:spcPts val="600"/>
              </a:spcBef>
              <a:spcAft>
                <a:spcPts val="1200"/>
              </a:spcAft>
              <a:buNone/>
            </a:pPr>
            <a:r>
              <a:rPr lang="en-AU" sz="2200" b="1" dirty="0" smtClean="0">
                <a:latin typeface="Helvetica" pitchFamily="34" charset="0"/>
              </a:rPr>
              <a:t>Importance of reconciling general and subsidiary ledgers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Reconciling general ledger accounts with subsidiary accounts on a regular and scheduled basis is essential to maintaining accurate business records and an important aspects of a tourism organisation's internal control process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It is essential that the monetary </a:t>
            </a:r>
            <a:br>
              <a:rPr lang="en-AU" sz="2200" dirty="0" smtClean="0">
                <a:latin typeface="Helvetica" pitchFamily="34" charset="0"/>
              </a:rPr>
            </a:br>
            <a:r>
              <a:rPr lang="en-AU" sz="2200" dirty="0" smtClean="0">
                <a:latin typeface="Helvetica" pitchFamily="34" charset="0"/>
              </a:rPr>
              <a:t>amounts in the subsidiary ledgers </a:t>
            </a:r>
            <a:br>
              <a:rPr lang="en-AU" sz="2200" dirty="0" smtClean="0">
                <a:latin typeface="Helvetica" pitchFamily="34" charset="0"/>
              </a:rPr>
            </a:br>
            <a:r>
              <a:rPr lang="en-AU" sz="2200" dirty="0" smtClean="0">
                <a:latin typeface="Helvetica" pitchFamily="34" charset="0"/>
              </a:rPr>
              <a:t>match the general ledger</a:t>
            </a:r>
            <a:endParaRPr lang="en-US" sz="2200" dirty="0" smtClean="0">
              <a:latin typeface="Helvetica" pitchFamily="34" charset="0"/>
            </a:endParaRPr>
          </a:p>
          <a:p>
            <a:pPr lvl="0">
              <a:lnSpc>
                <a:spcPct val="110000"/>
              </a:lnSpc>
              <a:spcBef>
                <a:spcPts val="600"/>
              </a:spcBef>
              <a:spcAft>
                <a:spcPts val="6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9" name="Picture 8" descr="shutterstock_95286937.jpg"/>
          <p:cNvPicPr>
            <a:picLocks noChangeAspect="1"/>
          </p:cNvPicPr>
          <p:nvPr/>
        </p:nvPicPr>
        <p:blipFill>
          <a:blip r:embed="rId3" cstate="print"/>
          <a:stretch>
            <a:fillRect/>
          </a:stretch>
        </p:blipFill>
        <p:spPr>
          <a:xfrm>
            <a:off x="5940152" y="3861048"/>
            <a:ext cx="2483034" cy="165618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Reconciling general and subsidiary ledgers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marL="0">
              <a:spcBef>
                <a:spcPts val="600"/>
              </a:spcBef>
              <a:spcAft>
                <a:spcPts val="1200"/>
              </a:spcAft>
              <a:buNone/>
            </a:pPr>
            <a:r>
              <a:rPr lang="en-AU" sz="2200" b="1" dirty="0" smtClean="0">
                <a:latin typeface="Helvetica" pitchFamily="34" charset="0"/>
              </a:rPr>
              <a:t>Importance of reconciling general and subsidiary ledgers</a:t>
            </a:r>
            <a:endParaRPr lang="en-US" sz="2200" b="1" dirty="0" smtClean="0">
              <a:latin typeface="Helvetica" pitchFamily="34" charset="0"/>
            </a:endParaRPr>
          </a:p>
          <a:p>
            <a:pPr>
              <a:spcBef>
                <a:spcPts val="600"/>
              </a:spcBef>
              <a:spcAft>
                <a:spcPts val="1200"/>
              </a:spcAft>
              <a:buNone/>
            </a:pPr>
            <a:r>
              <a:rPr lang="en-AU" sz="2200" dirty="0" smtClean="0">
                <a:latin typeface="Helvetica" pitchFamily="34" charset="0"/>
              </a:rPr>
              <a:t>The purpose of the reconciliation is to: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ledger accounts that containing errors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investigate and explain the errors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Make appropriate make adjusting journal entries</a:t>
            </a:r>
            <a:endParaRPr lang="en-US" sz="2200" dirty="0" smtClean="0">
              <a:latin typeface="Helvetica" pitchFamily="34" charset="0"/>
            </a:endParaRPr>
          </a:p>
          <a:p>
            <a:pPr lvl="0">
              <a:lnSpc>
                <a:spcPct val="110000"/>
              </a:lnSpc>
              <a:spcBef>
                <a:spcPts val="600"/>
              </a:spcBef>
              <a:spcAft>
                <a:spcPts val="6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descr="hb.jpg"/>
          <p:cNvPicPr/>
          <p:nvPr/>
        </p:nvPicPr>
        <p:blipFill>
          <a:blip r:embed="rId3" cstate="print"/>
          <a:stretch>
            <a:fillRect/>
          </a:stretch>
        </p:blipFill>
        <p:spPr>
          <a:xfrm>
            <a:off x="6300192" y="4221088"/>
            <a:ext cx="2066925" cy="13811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Reconciliation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marL="0">
              <a:spcBef>
                <a:spcPts val="600"/>
              </a:spcBef>
              <a:spcAft>
                <a:spcPts val="1200"/>
              </a:spcAft>
              <a:buNone/>
            </a:pPr>
            <a:r>
              <a:rPr lang="en-AU" sz="2200" b="1" dirty="0" smtClean="0">
                <a:latin typeface="Helvetica" pitchFamily="34" charset="0"/>
              </a:rPr>
              <a:t>Compare general ledger balance to the subsidiary balances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 first step is to look at both the general ledger and sub-ledger balances to identify if there are any differences. </a:t>
            </a:r>
          </a:p>
          <a:p>
            <a:pPr>
              <a:spcBef>
                <a:spcPts val="600"/>
              </a:spcBef>
              <a:spcAft>
                <a:spcPts val="1200"/>
              </a:spcAft>
              <a:buNone/>
            </a:pPr>
            <a:r>
              <a:rPr lang="en-AU" sz="2200" dirty="0" smtClean="0">
                <a:latin typeface="Helvetica" pitchFamily="34" charset="0"/>
              </a:rPr>
              <a:t>If they balance, then the reconciliation has finished:</a:t>
            </a:r>
          </a:p>
          <a:p>
            <a:pPr>
              <a:spcBef>
                <a:spcPts val="600"/>
              </a:spcBef>
              <a:spcAft>
                <a:spcPts val="1200"/>
              </a:spcAft>
            </a:pPr>
            <a:r>
              <a:rPr lang="en-AU" sz="2200" dirty="0" smtClean="0">
                <a:latin typeface="Helvetica" pitchFamily="34" charset="0"/>
              </a:rPr>
              <a:t>Why do you do if they don’t balance?</a:t>
            </a:r>
          </a:p>
          <a:p>
            <a:endParaRPr lang="en-US" sz="2400" dirty="0" smtClean="0"/>
          </a:p>
          <a:p>
            <a:pPr lvl="0">
              <a:lnSpc>
                <a:spcPct val="110000"/>
              </a:lnSpc>
              <a:spcBef>
                <a:spcPts val="600"/>
              </a:spcBef>
              <a:spcAft>
                <a:spcPts val="6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6" name="Picture 5" descr="shutterstock_114113611.jpg"/>
          <p:cNvPicPr>
            <a:picLocks noChangeAspect="1"/>
          </p:cNvPicPr>
          <p:nvPr/>
        </p:nvPicPr>
        <p:blipFill>
          <a:blip r:embed="rId3" cstate="print"/>
          <a:stretch>
            <a:fillRect/>
          </a:stretch>
        </p:blipFill>
        <p:spPr>
          <a:xfrm>
            <a:off x="6228184" y="4077072"/>
            <a:ext cx="2171748" cy="144855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Reconciliation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000" b="1" dirty="0" smtClean="0">
                <a:latin typeface="Helvetica" pitchFamily="34" charset="0"/>
              </a:rPr>
              <a:t>Identify differences</a:t>
            </a:r>
            <a:endParaRPr lang="en-US" sz="2000" dirty="0" smtClean="0">
              <a:latin typeface="Helvetica" pitchFamily="34" charset="0"/>
            </a:endParaRPr>
          </a:p>
          <a:p>
            <a:pPr marL="0">
              <a:spcBef>
                <a:spcPts val="600"/>
              </a:spcBef>
              <a:spcAft>
                <a:spcPts val="1200"/>
              </a:spcAft>
              <a:buNone/>
            </a:pPr>
            <a:r>
              <a:rPr lang="en-AU" sz="2000" dirty="0" smtClean="0">
                <a:latin typeface="Helvetica" pitchFamily="34" charset="0"/>
              </a:rPr>
              <a:t>Where differences exist it is important to understand the reason for the difference.</a:t>
            </a:r>
            <a:endParaRPr lang="en-US" sz="2000" dirty="0" smtClean="0">
              <a:latin typeface="Helvetica" pitchFamily="34" charset="0"/>
            </a:endParaRPr>
          </a:p>
          <a:p>
            <a:pPr marL="0">
              <a:spcBef>
                <a:spcPts val="600"/>
              </a:spcBef>
              <a:spcAft>
                <a:spcPts val="1200"/>
              </a:spcAft>
              <a:buNone/>
            </a:pPr>
            <a:r>
              <a:rPr lang="en-AU" sz="2000" dirty="0" smtClean="0">
                <a:latin typeface="Helvetica" pitchFamily="34" charset="0"/>
              </a:rPr>
              <a:t>Differences may result from a number of reasons including but not limited to:</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Unusual transactions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Non-recurring transactions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Amounts posted to the wrong account</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Transactions posted twice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Transposition errors</a:t>
            </a:r>
            <a:endParaRPr lang="en-US" sz="2000" dirty="0" smtClean="0">
              <a:latin typeface="Helvetica" pitchFamily="34" charset="0"/>
            </a:endParaRPr>
          </a:p>
          <a:p>
            <a:pPr lvl="1">
              <a:spcBef>
                <a:spcPts val="600"/>
              </a:spcBef>
              <a:spcAft>
                <a:spcPts val="1200"/>
              </a:spcAft>
            </a:pPr>
            <a:endParaRPr lang="en-US" sz="1600" dirty="0" smtClean="0"/>
          </a:p>
          <a:p>
            <a:pPr lvl="0">
              <a:lnSpc>
                <a:spcPct val="110000"/>
              </a:lnSpc>
              <a:spcBef>
                <a:spcPts val="600"/>
              </a:spcBef>
              <a:spcAft>
                <a:spcPts val="1200"/>
              </a:spcAft>
            </a:pP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6" name="Picture 5" descr="fe.jpg"/>
          <p:cNvPicPr/>
          <p:nvPr/>
        </p:nvPicPr>
        <p:blipFill>
          <a:blip r:embed="rId3" cstate="print"/>
          <a:stretch>
            <a:fillRect/>
          </a:stretch>
        </p:blipFill>
        <p:spPr>
          <a:xfrm>
            <a:off x="6239604" y="3942184"/>
            <a:ext cx="2160240" cy="157427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Reconciliation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Investigate reasons for the difference</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After comparing the amounts in the  general ledger and subsidiary ledgers  and found differences, you must investigate reasons for them. </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Reasons for the difference can contain the following: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Items posted to general ledger, but not </a:t>
            </a:r>
            <a:br>
              <a:rPr lang="en-AU" sz="2200" dirty="0" smtClean="0">
                <a:latin typeface="Helvetica" pitchFamily="34" charset="0"/>
              </a:rPr>
            </a:br>
            <a:r>
              <a:rPr lang="en-AU" sz="2200" dirty="0" smtClean="0">
                <a:latin typeface="Helvetica" pitchFamily="34" charset="0"/>
              </a:rPr>
              <a:t>in subsidiary ledger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Items posted to subsidiary ledgers,                                               but not in general ledger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Mistakes</a:t>
            </a:r>
            <a:endParaRPr lang="en-US" sz="2200" dirty="0" smtClean="0">
              <a:latin typeface="Helvetica" pitchFamily="34" charset="0"/>
            </a:endParaRPr>
          </a:p>
          <a:p>
            <a:endParaRPr lang="en-US" sz="2400" dirty="0" smtClean="0"/>
          </a:p>
          <a:p>
            <a:pPr lvl="0">
              <a:lnSpc>
                <a:spcPct val="110000"/>
              </a:lnSpc>
              <a:spcBef>
                <a:spcPts val="600"/>
              </a:spcBef>
              <a:spcAft>
                <a:spcPts val="6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descr="hl.jpg"/>
          <p:cNvPicPr/>
          <p:nvPr/>
        </p:nvPicPr>
        <p:blipFill>
          <a:blip r:embed="rId3" cstate="print"/>
          <a:stretch>
            <a:fillRect/>
          </a:stretch>
        </p:blipFill>
        <p:spPr>
          <a:xfrm>
            <a:off x="6084168" y="4069140"/>
            <a:ext cx="2376264" cy="165618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Reconciliation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Adjust general ledger or subsidiary ledgers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 next step is to make essential adjustments to the general ledger or to subsidiary ledgers based on the reconciliation to rectify any errors or difference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To complete the reconciliation process, any adjustments that need to be made to subsidiary ledgers are recorded in the general journal and processed before the trial balance is prepared</a:t>
            </a:r>
            <a:endParaRPr lang="en-US" sz="2200" dirty="0" smtClean="0">
              <a:latin typeface="Helvetica" pitchFamily="34" charset="0"/>
            </a:endParaRPr>
          </a:p>
          <a:p>
            <a:endParaRPr lang="en-US" sz="2400" dirty="0" smtClean="0"/>
          </a:p>
          <a:p>
            <a:pPr lvl="0">
              <a:lnSpc>
                <a:spcPct val="110000"/>
              </a:lnSpc>
              <a:spcBef>
                <a:spcPts val="600"/>
              </a:spcBef>
              <a:spcAft>
                <a:spcPts val="6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6" name="Picture 5" descr="W605_shutterstock_118993585.jpg"/>
          <p:cNvPicPr>
            <a:picLocks noChangeAspect="1"/>
          </p:cNvPicPr>
          <p:nvPr/>
        </p:nvPicPr>
        <p:blipFill>
          <a:blip r:embed="rId3" cstate="print"/>
          <a:stretch>
            <a:fillRect/>
          </a:stretch>
        </p:blipFill>
        <p:spPr>
          <a:xfrm>
            <a:off x="3347864" y="4581128"/>
            <a:ext cx="2087724" cy="139181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Reconciliation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Compare adjusted balances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 last step is to compare the general ledger balance to subsidiary ledger balances again, after all the above mentioned necessary adjustments were made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If reconciling items are resolved and the balances match, the reconciliation process is complete</a:t>
            </a:r>
            <a:endParaRPr lang="en-US" sz="2200" dirty="0" smtClean="0">
              <a:latin typeface="Helvetica" pitchFamily="34" charset="0"/>
            </a:endParaRPr>
          </a:p>
          <a:p>
            <a:pPr algn="ctr">
              <a:buNone/>
            </a:pPr>
            <a:r>
              <a:rPr lang="en-US" sz="2400" b="1" dirty="0" smtClean="0">
                <a:solidFill>
                  <a:srgbClr val="FF6600"/>
                </a:solidFill>
                <a:latin typeface="Helvetica" pitchFamily="34" charset="0"/>
              </a:rPr>
              <a:t>COMPLETE ACTIVITY 3</a:t>
            </a:r>
          </a:p>
          <a:p>
            <a:endParaRPr lang="en-US" sz="2400" dirty="0" smtClean="0"/>
          </a:p>
          <a:p>
            <a:pPr lvl="0">
              <a:lnSpc>
                <a:spcPct val="110000"/>
              </a:lnSpc>
              <a:spcBef>
                <a:spcPts val="600"/>
              </a:spcBef>
              <a:spcAft>
                <a:spcPts val="6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descr="shutterstock_147664379.jpg"/>
          <p:cNvPicPr>
            <a:picLocks noChangeAspect="1"/>
          </p:cNvPicPr>
          <p:nvPr/>
        </p:nvPicPr>
        <p:blipFill>
          <a:blip r:embed="rId3" cstate="print"/>
          <a:stretch>
            <a:fillRect/>
          </a:stretch>
        </p:blipFill>
        <p:spPr>
          <a:xfrm>
            <a:off x="3397291" y="4804685"/>
            <a:ext cx="2592288" cy="170831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Reconciliation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100" b="1" dirty="0" smtClean="0">
                <a:latin typeface="Helvetica" pitchFamily="34" charset="0"/>
              </a:rPr>
              <a:t>Finalise reconciliations within designated timelines</a:t>
            </a:r>
            <a:endParaRPr lang="en-US" sz="2100" dirty="0" smtClean="0">
              <a:latin typeface="Helvetica" pitchFamily="34" charset="0"/>
            </a:endParaRPr>
          </a:p>
          <a:p>
            <a:pPr marL="0">
              <a:spcBef>
                <a:spcPts val="600"/>
              </a:spcBef>
              <a:spcAft>
                <a:spcPts val="1200"/>
              </a:spcAft>
              <a:buNone/>
            </a:pPr>
            <a:r>
              <a:rPr lang="en-AU" sz="2100" dirty="0" smtClean="0">
                <a:latin typeface="Helvetica" pitchFamily="34" charset="0"/>
              </a:rPr>
              <a:t>There is always an imperative in the workplace for reconciliations to be finalised by a set time.</a:t>
            </a:r>
            <a:endParaRPr lang="en-US" sz="2100" dirty="0" smtClean="0">
              <a:latin typeface="Helvetica" pitchFamily="34" charset="0"/>
            </a:endParaRPr>
          </a:p>
          <a:p>
            <a:pPr marL="0">
              <a:spcBef>
                <a:spcPts val="600"/>
              </a:spcBef>
              <a:spcAft>
                <a:spcPts val="1200"/>
              </a:spcAft>
              <a:buNone/>
            </a:pPr>
            <a:r>
              <a:rPr lang="en-AU" sz="2100" dirty="0" smtClean="0">
                <a:latin typeface="Helvetica" pitchFamily="34" charset="0"/>
              </a:rPr>
              <a:t>This is to enable relevant reports to be generated and other work to be done:</a:t>
            </a:r>
            <a:endParaRPr lang="en-AU" sz="2100" b="1" dirty="0" smtClean="0">
              <a:solidFill>
                <a:srgbClr val="FF6600"/>
              </a:solidFill>
              <a:latin typeface="Helvetica" pitchFamily="34" charset="0"/>
            </a:endParaRPr>
          </a:p>
          <a:p>
            <a:pPr>
              <a:spcBef>
                <a:spcPts val="600"/>
              </a:spcBef>
              <a:spcAft>
                <a:spcPts val="1200"/>
              </a:spcAft>
            </a:pPr>
            <a:r>
              <a:rPr lang="en-AU" sz="2100" dirty="0" smtClean="0">
                <a:latin typeface="Helvetica" pitchFamily="34" charset="0"/>
              </a:rPr>
              <a:t>What are examples of common timelines?</a:t>
            </a:r>
            <a:endParaRPr lang="en-US" sz="2100" dirty="0" smtClean="0">
              <a:latin typeface="Helvetica" pitchFamily="34" charset="0"/>
            </a:endParaRPr>
          </a:p>
          <a:p>
            <a:pPr algn="ctr">
              <a:spcBef>
                <a:spcPts val="600"/>
              </a:spcBef>
              <a:spcAft>
                <a:spcPts val="1200"/>
              </a:spcAft>
              <a:buNone/>
            </a:pPr>
            <a:r>
              <a:rPr lang="en-US" sz="2100" b="1" dirty="0" smtClean="0">
                <a:solidFill>
                  <a:srgbClr val="FF6600"/>
                </a:solidFill>
                <a:latin typeface="Helvetica" pitchFamily="34" charset="0"/>
              </a:rPr>
              <a:t>COMPLETE ACTIVITY 4</a:t>
            </a:r>
          </a:p>
          <a:p>
            <a:endParaRPr lang="en-US" sz="2100" dirty="0" smtClean="0"/>
          </a:p>
          <a:p>
            <a:pPr lvl="0">
              <a:lnSpc>
                <a:spcPct val="110000"/>
              </a:lnSpc>
              <a:spcBef>
                <a:spcPts val="600"/>
              </a:spcBef>
              <a:spcAft>
                <a:spcPts val="600"/>
              </a:spcAft>
              <a:buNone/>
            </a:pPr>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6" name="Picture 5" descr="ba.jpg"/>
          <p:cNvPicPr/>
          <p:nvPr/>
        </p:nvPicPr>
        <p:blipFill>
          <a:blip r:embed="rId3" cstate="print"/>
          <a:stretch>
            <a:fillRect/>
          </a:stretch>
        </p:blipFill>
        <p:spPr>
          <a:xfrm>
            <a:off x="3635896" y="4907645"/>
            <a:ext cx="1944216" cy="15841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Resolve reconciliation discrepancies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resolving reconciliation discrepancies</a:t>
            </a:r>
          </a:p>
          <a:p>
            <a:pPr>
              <a:spcBef>
                <a:spcPts val="600"/>
              </a:spcBef>
              <a:spcAft>
                <a:spcPts val="1200"/>
              </a:spcAft>
            </a:pPr>
            <a:r>
              <a:rPr lang="en-AU" sz="2200" dirty="0" smtClean="0">
                <a:latin typeface="Helvetica" pitchFamily="34" charset="0"/>
              </a:rPr>
              <a:t>All discrepancies and outstanding items leading to an imbalance of general and subsidiary ledger amounts must be identified and investigated as soon as possible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Not only do discrepancies mean that there are gaps in financial performance monitoring and reporting but more importantly can lead to great financial waste and loss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4" descr="shutterstock_187921547.jpg"/>
          <p:cNvPicPr/>
          <p:nvPr/>
        </p:nvPicPr>
        <p:blipFill>
          <a:blip r:embed="rId3" cstate="print"/>
          <a:stretch>
            <a:fillRect/>
          </a:stretch>
        </p:blipFill>
        <p:spPr>
          <a:xfrm>
            <a:off x="3563888" y="4581128"/>
            <a:ext cx="2088232" cy="1450663"/>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Resolve reconciliation discrepancies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a:spcBef>
                <a:spcPts val="600"/>
              </a:spcBef>
              <a:spcAft>
                <a:spcPts val="600"/>
              </a:spcAft>
              <a:buNone/>
            </a:pPr>
            <a:r>
              <a:rPr lang="en-AU" sz="2200" b="1" dirty="0" smtClean="0">
                <a:latin typeface="Helvetica" pitchFamily="34" charset="0"/>
              </a:rPr>
              <a:t>Activities associated with resolving outstanding accounts</a:t>
            </a:r>
            <a:endParaRPr lang="en-US" sz="2200" b="1" dirty="0" smtClean="0">
              <a:latin typeface="Helvetica" pitchFamily="34" charset="0"/>
            </a:endParaRPr>
          </a:p>
          <a:p>
            <a:pPr>
              <a:spcBef>
                <a:spcPts val="600"/>
              </a:spcBef>
              <a:spcAft>
                <a:spcPts val="600"/>
              </a:spcAft>
              <a:buNone/>
            </a:pPr>
            <a:r>
              <a:rPr lang="en-AU" sz="2200" dirty="0" smtClean="0">
                <a:latin typeface="Helvetica" pitchFamily="34" charset="0"/>
              </a:rPr>
              <a:t>Resolve outstanding items will include: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Understand common causes of discrepancies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Seeking input from others in relation to information required to determine the issue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Investigating source documents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Undertaking investigations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Making appropriate corrections to                                        relevant accounts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Ensuring the integrity of the system</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6" name="Picture 5" descr="W592_receipt_2592989 NH.jpg"/>
          <p:cNvPicPr/>
          <p:nvPr/>
        </p:nvPicPr>
        <p:blipFill>
          <a:blip r:embed="rId3" cstate="print"/>
          <a:stretch>
            <a:fillRect/>
          </a:stretch>
        </p:blipFill>
        <p:spPr>
          <a:xfrm>
            <a:off x="6725972" y="3861048"/>
            <a:ext cx="1656184" cy="201622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Resolve reconciliation discrepancies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Possible actions to resolve discrepancies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Re-visit various source documents and verify their content, figures and calculations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Double-check calculations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Seek out additional information, data and documents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Check figures with suppliers, clients and revenue centres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Undertake a physical stock take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descr="fw.jpg"/>
          <p:cNvPicPr>
            <a:picLocks noChangeAspect="1"/>
          </p:cNvPicPr>
          <p:nvPr/>
        </p:nvPicPr>
        <p:blipFill>
          <a:blip r:embed="rId3" cstate="print"/>
          <a:stretch>
            <a:fillRect/>
          </a:stretch>
        </p:blipFill>
        <p:spPr>
          <a:xfrm>
            <a:off x="6156175" y="4581128"/>
            <a:ext cx="2260615" cy="151216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Resolve reconciliation discrepancies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Possible actions to resolve discrepancies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Check and re-price stock-on-hand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Verify and upgrade internal reporting and recording procedures, practices and documentation for incomes and expenditures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Develop ancillary systems and reports to support emerging operational and financial requirements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descr="26.jpg"/>
          <p:cNvPicPr>
            <a:picLocks noChangeAspect="1"/>
          </p:cNvPicPr>
          <p:nvPr/>
        </p:nvPicPr>
        <p:blipFill>
          <a:blip r:embed="rId3" cstate="print"/>
          <a:stretch>
            <a:fillRect/>
          </a:stretch>
        </p:blipFill>
        <p:spPr>
          <a:xfrm>
            <a:off x="2627784" y="4725144"/>
            <a:ext cx="2251390" cy="144016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Resolve reconciliation discrepancies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Common causes of discrepancies</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They can be summarised by the three basic steps or phases of all accounting system: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Inputs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Processing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Outputs</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5</a:t>
            </a: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descr="Keyboard.jpg"/>
          <p:cNvPicPr/>
          <p:nvPr/>
        </p:nvPicPr>
        <p:blipFill>
          <a:blip r:embed="rId3" cstate="print"/>
          <a:stretch>
            <a:fillRect/>
          </a:stretch>
        </p:blipFill>
        <p:spPr>
          <a:xfrm>
            <a:off x="3995936" y="2924944"/>
            <a:ext cx="2276475" cy="15240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Resolve reconciliation discrepancies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Involving designated persons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Person who was responsible for raising the source document / transaction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Supervisor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Bank personnel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Authorised department persons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Line management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Statutory body personnel</a:t>
            </a: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6" name="Picture 5" descr="28.jpg"/>
          <p:cNvPicPr/>
          <p:nvPr/>
        </p:nvPicPr>
        <p:blipFill>
          <a:blip r:embed="rId3" cstate="print"/>
          <a:stretch>
            <a:fillRect/>
          </a:stretch>
        </p:blipFill>
        <p:spPr>
          <a:xfrm>
            <a:off x="6228184" y="2780928"/>
            <a:ext cx="1656184" cy="208823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Resolve reconciliation discrepancies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Obtaining and checking source documents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What is a source document?</a:t>
            </a:r>
          </a:p>
          <a:p>
            <a:pPr>
              <a:spcBef>
                <a:spcPts val="600"/>
              </a:spcBef>
              <a:spcAft>
                <a:spcPts val="1200"/>
              </a:spcAft>
            </a:pPr>
            <a:r>
              <a:rPr lang="en-US" sz="2200" dirty="0" smtClean="0">
                <a:latin typeface="Helvetica" pitchFamily="34" charset="0"/>
              </a:rPr>
              <a:t>What are examples of source documents?</a:t>
            </a:r>
          </a:p>
          <a:p>
            <a:pPr>
              <a:spcBef>
                <a:spcPts val="600"/>
              </a:spcBef>
              <a:spcAft>
                <a:spcPts val="1200"/>
              </a:spcAft>
            </a:pPr>
            <a:r>
              <a:rPr lang="en-US" sz="2200" dirty="0" smtClean="0">
                <a:latin typeface="Helvetica" pitchFamily="34" charset="0"/>
              </a:rPr>
              <a:t>Why is it important to review source documents?</a:t>
            </a:r>
            <a:br>
              <a:rPr lang="en-US" sz="2200" dirty="0" smtClean="0">
                <a:latin typeface="Helvetica" pitchFamily="34" charset="0"/>
              </a:rPr>
            </a:br>
            <a:endParaRPr lang="en-US" sz="2200" dirty="0" smtClean="0">
              <a:latin typeface="Helvetica" pitchFamily="34" charset="0"/>
            </a:endParaRPr>
          </a:p>
          <a:p>
            <a:pPr algn="ctr">
              <a:spcBef>
                <a:spcPts val="600"/>
              </a:spcBef>
              <a:spcAft>
                <a:spcPts val="1200"/>
              </a:spcAft>
              <a:buNone/>
            </a:pPr>
            <a:r>
              <a:rPr lang="en-US" sz="2200" b="1" dirty="0" smtClean="0">
                <a:solidFill>
                  <a:srgbClr val="FF6600"/>
                </a:solidFill>
                <a:latin typeface="Helvetica" pitchFamily="34" charset="0"/>
              </a:rPr>
              <a:t>COMPLETE ACTIVITY 6</a:t>
            </a: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7" name="Picture 6" descr="shutterstock_156096752.jpg"/>
          <p:cNvPicPr/>
          <p:nvPr/>
        </p:nvPicPr>
        <p:blipFill>
          <a:blip r:embed="rId3" cstate="print"/>
          <a:stretch>
            <a:fillRect/>
          </a:stretch>
        </p:blipFill>
        <p:spPr>
          <a:xfrm>
            <a:off x="3347864" y="4408293"/>
            <a:ext cx="2279935" cy="15841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Resolve reconciliation discrepancies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US" sz="2200" b="1" dirty="0" smtClean="0">
                <a:latin typeface="Helvetica" pitchFamily="34" charset="0"/>
              </a:rPr>
              <a:t>Checking i</a:t>
            </a:r>
            <a:r>
              <a:rPr lang="en-AU" sz="2200" b="1" dirty="0" smtClean="0">
                <a:latin typeface="Helvetica" pitchFamily="34" charset="0"/>
              </a:rPr>
              <a:t>rregularities</a:t>
            </a:r>
            <a:r>
              <a:rPr lang="en-US" sz="2200" b="1" dirty="0" smtClean="0">
                <a:latin typeface="Helvetica" pitchFamily="34" charset="0"/>
              </a:rPr>
              <a:t> with source documents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Documents with the incorrect date</a:t>
            </a:r>
          </a:p>
          <a:p>
            <a:pPr>
              <a:spcBef>
                <a:spcPts val="600"/>
              </a:spcBef>
              <a:spcAft>
                <a:spcPts val="1200"/>
              </a:spcAft>
            </a:pPr>
            <a:r>
              <a:rPr lang="en-AU" sz="2200" dirty="0" smtClean="0">
                <a:latin typeface="Helvetica" pitchFamily="34" charset="0"/>
              </a:rPr>
              <a:t>Lack of required signatures or actual documentation for goods  purchased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An internal sale has been made but the customer has left before the charge can be processed</a:t>
            </a:r>
          </a:p>
          <a:p>
            <a:pPr>
              <a:spcBef>
                <a:spcPts val="600"/>
              </a:spcBef>
              <a:spcAft>
                <a:spcPts val="1200"/>
              </a:spcAft>
            </a:pPr>
            <a:r>
              <a:rPr lang="en-AU" sz="2200" dirty="0" smtClean="0">
                <a:latin typeface="Helvetica" pitchFamily="34" charset="0"/>
              </a:rPr>
              <a:t>Arithmetic errors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Use of incorrect figures when </a:t>
            </a:r>
            <a:br>
              <a:rPr lang="en-AU" sz="2200" dirty="0" smtClean="0">
                <a:latin typeface="Helvetica" pitchFamily="34" charset="0"/>
              </a:rPr>
            </a:br>
            <a:r>
              <a:rPr lang="en-AU" sz="2200" dirty="0" smtClean="0">
                <a:latin typeface="Helvetica" pitchFamily="34" charset="0"/>
              </a:rPr>
              <a:t>calculating the document</a:t>
            </a:r>
            <a:endParaRPr lang="en-US" sz="2200" dirty="0" smtClean="0">
              <a:latin typeface="Helvetica" pitchFamily="34" charset="0"/>
            </a:endParaRPr>
          </a:p>
          <a:p>
            <a:endParaRPr lang="en-AU" sz="2400" b="1" dirty="0" smtClean="0"/>
          </a:p>
          <a:p>
            <a:endParaRPr lang="en-US" sz="2400" dirty="0" smtClean="0"/>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6" name="Picture 5" descr="A15 shutterstock_173608850[1].JPG"/>
          <p:cNvPicPr/>
          <p:nvPr/>
        </p:nvPicPr>
        <p:blipFill>
          <a:blip r:embed="rId3" cstate="print"/>
          <a:stretch>
            <a:fillRect/>
          </a:stretch>
        </p:blipFill>
        <p:spPr>
          <a:xfrm>
            <a:off x="6084168" y="4221088"/>
            <a:ext cx="2228850" cy="14859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Resolve reconciliation discrepancies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US" sz="2200" b="1" dirty="0" smtClean="0">
                <a:latin typeface="Helvetica" pitchFamily="34" charset="0"/>
              </a:rPr>
              <a:t>Checking</a:t>
            </a:r>
            <a:r>
              <a:rPr lang="en-AU" sz="2200" b="1" dirty="0" smtClean="0">
                <a:latin typeface="Helvetica" pitchFamily="34" charset="0"/>
              </a:rPr>
              <a:t> journal entries </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An understanding of the journals commonly used will assist in </a:t>
            </a:r>
            <a:r>
              <a:rPr lang="en-US" sz="2200" dirty="0" smtClean="0">
                <a:latin typeface="Helvetica" pitchFamily="34" charset="0"/>
              </a:rPr>
              <a:t>checking transactions are recorded correctly:</a:t>
            </a:r>
          </a:p>
          <a:p>
            <a:pPr>
              <a:spcBef>
                <a:spcPts val="600"/>
              </a:spcBef>
              <a:spcAft>
                <a:spcPts val="1200"/>
              </a:spcAft>
            </a:pPr>
            <a:r>
              <a:rPr lang="en-US" sz="2200" dirty="0" smtClean="0">
                <a:latin typeface="Helvetica" pitchFamily="34" charset="0"/>
              </a:rPr>
              <a:t>Why is this important?</a:t>
            </a:r>
          </a:p>
          <a:p>
            <a:pPr>
              <a:spcBef>
                <a:spcPts val="600"/>
              </a:spcBef>
              <a:spcAft>
                <a:spcPts val="1200"/>
              </a:spcAft>
            </a:pPr>
            <a:r>
              <a:rPr lang="en-US" sz="2200" dirty="0" smtClean="0">
                <a:latin typeface="Helvetica" pitchFamily="34" charset="0"/>
              </a:rPr>
              <a:t>What are you looking for?</a:t>
            </a:r>
          </a:p>
          <a:p>
            <a:pPr>
              <a:spcBef>
                <a:spcPts val="600"/>
              </a:spcBef>
              <a:spcAft>
                <a:spcPts val="1200"/>
              </a:spcAft>
            </a:pPr>
            <a:endParaRPr lang="en-US" sz="2400" dirty="0" smtClean="0"/>
          </a:p>
          <a:p>
            <a:pPr>
              <a:spcBef>
                <a:spcPts val="600"/>
              </a:spcBef>
              <a:spcAft>
                <a:spcPts val="1200"/>
              </a:spcAft>
            </a:pPr>
            <a:endParaRPr lang="en-US" sz="2200" dirty="0" smtClean="0">
              <a:latin typeface="Helvetica" pitchFamily="34" charset="0"/>
            </a:endParaRPr>
          </a:p>
          <a:p>
            <a:endParaRPr lang="en-AU" sz="2400" b="1" dirty="0" smtClean="0"/>
          </a:p>
          <a:p>
            <a:endParaRPr lang="en-US" sz="2400" dirty="0" smtClean="0"/>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8" name="Picture 7" descr="fe.jpg"/>
          <p:cNvPicPr/>
          <p:nvPr/>
        </p:nvPicPr>
        <p:blipFill>
          <a:blip r:embed="rId3" cstate="print"/>
          <a:stretch>
            <a:fillRect/>
          </a:stretch>
        </p:blipFill>
        <p:spPr>
          <a:xfrm>
            <a:off x="4788024" y="2924944"/>
            <a:ext cx="2272075" cy="154094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Resolve reconciliation discrepancies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US" sz="2200" b="1" dirty="0" smtClean="0">
                <a:latin typeface="Helvetica" pitchFamily="34" charset="0"/>
              </a:rPr>
              <a:t>Checking accuracy and completeness of transactions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This requires that: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Transactions are recorded accurately in respective journals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Transactions are transferred from journals </a:t>
            </a:r>
            <a:br>
              <a:rPr lang="en-AU" sz="2200" dirty="0" smtClean="0">
                <a:latin typeface="Helvetica" pitchFamily="34" charset="0"/>
              </a:rPr>
            </a:br>
            <a:r>
              <a:rPr lang="en-AU" sz="2200" dirty="0" smtClean="0">
                <a:latin typeface="Helvetica" pitchFamily="34" charset="0"/>
              </a:rPr>
              <a:t>into ledger accounts correctly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Adjustments are made to transactions that </a:t>
            </a:r>
            <a:br>
              <a:rPr lang="en-AU" sz="2200" dirty="0" smtClean="0">
                <a:latin typeface="Helvetica" pitchFamily="34" charset="0"/>
              </a:rPr>
            </a:br>
            <a:r>
              <a:rPr lang="en-AU" sz="2200" dirty="0" smtClean="0">
                <a:latin typeface="Helvetica" pitchFamily="34" charset="0"/>
              </a:rPr>
              <a:t>do not relate to the current accounting period</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7</a:t>
            </a:r>
          </a:p>
          <a:p>
            <a:pPr>
              <a:spcBef>
                <a:spcPts val="600"/>
              </a:spcBef>
              <a:spcAft>
                <a:spcPts val="1200"/>
              </a:spcAft>
              <a:buNone/>
            </a:pPr>
            <a:endParaRPr lang="en-US" sz="2200" dirty="0" smtClean="0">
              <a:latin typeface="Helvetica" pitchFamily="34" charset="0"/>
            </a:endParaRPr>
          </a:p>
          <a:p>
            <a:pPr>
              <a:spcBef>
                <a:spcPts val="600"/>
              </a:spcBef>
              <a:spcAft>
                <a:spcPts val="1200"/>
              </a:spcAft>
            </a:pPr>
            <a:endParaRPr lang="en-US" sz="2400" dirty="0" smtClean="0"/>
          </a:p>
          <a:p>
            <a:pPr>
              <a:spcBef>
                <a:spcPts val="600"/>
              </a:spcBef>
              <a:spcAft>
                <a:spcPts val="1200"/>
              </a:spcAft>
            </a:pPr>
            <a:endParaRPr lang="en-US" sz="2200" dirty="0" smtClean="0">
              <a:latin typeface="Helvetica" pitchFamily="34" charset="0"/>
            </a:endParaRPr>
          </a:p>
          <a:p>
            <a:endParaRPr lang="en-AU" sz="2400" b="1" dirty="0" smtClean="0"/>
          </a:p>
          <a:p>
            <a:endParaRPr lang="en-US" sz="2400" dirty="0" smtClean="0"/>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6" name="Picture 5" descr="shutterstock_102376840.jpg"/>
          <p:cNvPicPr/>
          <p:nvPr/>
        </p:nvPicPr>
        <p:blipFill>
          <a:blip r:embed="rId3" cstate="print"/>
          <a:stretch>
            <a:fillRect/>
          </a:stretch>
        </p:blipFill>
        <p:spPr>
          <a:xfrm>
            <a:off x="6804248" y="3140968"/>
            <a:ext cx="1437898" cy="169430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Reconcile bank accounts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Perform bank reconciliations</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A bank reconciliation checks that the amount in the ledger account cash at bank in the accounting information system agrees to the balance in the bank account</a:t>
            </a:r>
            <a:r>
              <a:rPr lang="en-AU" sz="2200" dirty="0">
                <a:latin typeface="Helvetica" pitchFamily="34" charset="0"/>
              </a:rPr>
              <a:t>:</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Why is this important?</a:t>
            </a:r>
          </a:p>
          <a:p>
            <a:pPr>
              <a:spcBef>
                <a:spcPts val="600"/>
              </a:spcBef>
              <a:spcAft>
                <a:spcPts val="1200"/>
              </a:spcAft>
            </a:pPr>
            <a:r>
              <a:rPr lang="en-AU" sz="2200" dirty="0" smtClean="0">
                <a:latin typeface="Helvetica" pitchFamily="34" charset="0"/>
              </a:rPr>
              <a:t>How can you do this reconciliation?</a:t>
            </a:r>
          </a:p>
          <a:p>
            <a:pPr>
              <a:spcBef>
                <a:spcPts val="600"/>
              </a:spcBef>
              <a:spcAft>
                <a:spcPts val="1200"/>
              </a:spcAft>
            </a:pPr>
            <a:r>
              <a:rPr lang="en-AU" sz="2200" dirty="0" smtClean="0">
                <a:latin typeface="Helvetica" pitchFamily="34" charset="0"/>
              </a:rPr>
              <a:t>What documents are needed?</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4" descr="la.jpg"/>
          <p:cNvPicPr>
            <a:picLocks noChangeAspect="1"/>
          </p:cNvPicPr>
          <p:nvPr/>
        </p:nvPicPr>
        <p:blipFill>
          <a:blip r:embed="rId3" cstate="print"/>
          <a:stretch>
            <a:fillRect/>
          </a:stretch>
        </p:blipFill>
        <p:spPr>
          <a:xfrm>
            <a:off x="6084168" y="3933056"/>
            <a:ext cx="2345435" cy="152285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Reconcile bank accounts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a:spcBef>
                <a:spcPts val="600"/>
              </a:spcBef>
              <a:spcAft>
                <a:spcPts val="1200"/>
              </a:spcAft>
              <a:buNone/>
            </a:pPr>
            <a:r>
              <a:rPr lang="en-AU" sz="2200" b="1" dirty="0" smtClean="0">
                <a:latin typeface="Helvetica" pitchFamily="34" charset="0"/>
              </a:rPr>
              <a:t>Reasons for difference between bank statement and cash ledger</a:t>
            </a:r>
          </a:p>
          <a:p>
            <a:pPr>
              <a:spcBef>
                <a:spcPts val="600"/>
              </a:spcBef>
              <a:spcAft>
                <a:spcPts val="1200"/>
              </a:spcAft>
            </a:pPr>
            <a:r>
              <a:rPr lang="en-AU" sz="2200" dirty="0" smtClean="0">
                <a:latin typeface="Helvetica" pitchFamily="34" charset="0"/>
              </a:rPr>
              <a:t>Timing differences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Errors</a:t>
            </a:r>
          </a:p>
          <a:p>
            <a:pPr>
              <a:spcBef>
                <a:spcPts val="600"/>
              </a:spcBef>
              <a:spcAft>
                <a:spcPts val="1200"/>
              </a:spcAft>
            </a:pPr>
            <a:r>
              <a:rPr lang="en-AU" sz="2200" dirty="0" smtClean="0">
                <a:latin typeface="Helvetica" pitchFamily="34" charset="0"/>
              </a:rPr>
              <a:t>Fees / bank charges</a:t>
            </a:r>
          </a:p>
          <a:p>
            <a:pPr>
              <a:spcBef>
                <a:spcPts val="600"/>
              </a:spcBef>
              <a:spcAft>
                <a:spcPts val="1200"/>
              </a:spcAft>
            </a:pPr>
            <a:r>
              <a:rPr lang="en-AU" sz="2200" dirty="0" smtClean="0">
                <a:latin typeface="Helvetica" pitchFamily="34" charset="0"/>
              </a:rPr>
              <a:t>Interest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Dishonoured payment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Other differences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6" name="Picture 5" descr="1l.jpg"/>
          <p:cNvPicPr>
            <a:picLocks noChangeAspect="1"/>
          </p:cNvPicPr>
          <p:nvPr/>
        </p:nvPicPr>
        <p:blipFill>
          <a:blip r:embed="rId3" cstate="print"/>
          <a:stretch>
            <a:fillRect/>
          </a:stretch>
        </p:blipFill>
        <p:spPr>
          <a:xfrm>
            <a:off x="4716016" y="2564904"/>
            <a:ext cx="1611240" cy="212622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Steps to prepare a bank reconciliation</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lvl="0">
              <a:spcBef>
                <a:spcPts val="600"/>
              </a:spcBef>
              <a:spcAft>
                <a:spcPts val="1200"/>
              </a:spcAft>
              <a:buNone/>
            </a:pPr>
            <a:r>
              <a:rPr lang="en-AU" sz="2200" b="1" dirty="0" smtClean="0">
                <a:latin typeface="Helvetica" pitchFamily="34" charset="0"/>
              </a:rPr>
              <a:t>1.  Gather relevant information</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The last bank reconciliation statement that was prepared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Cash receipts and cash payments journal or other record of cash movements for the period to be reconciled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opening balance of the Cash ledger account from the accounting system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bank statement covering the period                               to be reconciled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Standard bank reconciliation statement                                    used in your workplace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8" name="Picture 7" descr="shutterstock_178999811.jpg"/>
          <p:cNvPicPr>
            <a:picLocks noChangeAspect="1"/>
          </p:cNvPicPr>
          <p:nvPr/>
        </p:nvPicPr>
        <p:blipFill>
          <a:blip r:embed="rId3" cstate="print"/>
          <a:stretch>
            <a:fillRect/>
          </a:stretch>
        </p:blipFill>
        <p:spPr>
          <a:xfrm>
            <a:off x="6516216" y="4365104"/>
            <a:ext cx="1884040" cy="125665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Steps to prepare a bank reconciliation</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lvl="0">
              <a:buNone/>
            </a:pPr>
            <a:r>
              <a:rPr lang="en-AU" sz="2200" b="1" dirty="0" smtClean="0">
                <a:latin typeface="Helvetica" pitchFamily="34" charset="0"/>
              </a:rPr>
              <a:t>2.  Enter the balance shown on the bank statement and the balance from the ledger account into the bank reconciliation statement</a:t>
            </a:r>
          </a:p>
          <a:p>
            <a:pPr lvl="0">
              <a:buNone/>
            </a:pPr>
            <a:endParaRPr lang="en-US" sz="2200" b="1" dirty="0" smtClean="0">
              <a:latin typeface="Helvetica" pitchFamily="34" charset="0"/>
            </a:endParaRPr>
          </a:p>
          <a:p>
            <a:pPr lvl="0">
              <a:buNone/>
            </a:pPr>
            <a:r>
              <a:rPr lang="en-US" sz="2200" b="1" dirty="0" smtClean="0">
                <a:latin typeface="Helvetica" pitchFamily="34" charset="0"/>
              </a:rPr>
              <a:t>3.  </a:t>
            </a:r>
            <a:r>
              <a:rPr lang="en-AU" sz="2200" b="1" dirty="0" smtClean="0">
                <a:latin typeface="Helvetica" pitchFamily="34" charset="0"/>
              </a:rPr>
              <a:t>Check that previous outstanding items have been recorded on the bank statement</a:t>
            </a: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9" name="Picture 8" descr="MP900401007.JPG"/>
          <p:cNvPicPr/>
          <p:nvPr/>
        </p:nvPicPr>
        <p:blipFill>
          <a:blip r:embed="rId3" cstate="print"/>
          <a:stretch>
            <a:fillRect/>
          </a:stretch>
        </p:blipFill>
        <p:spPr>
          <a:xfrm>
            <a:off x="3347864" y="4149080"/>
            <a:ext cx="2160240" cy="144016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Steps to prepare a bank reconciliation</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lvl="0">
              <a:spcBef>
                <a:spcPts val="600"/>
              </a:spcBef>
              <a:spcAft>
                <a:spcPts val="1200"/>
              </a:spcAft>
              <a:buNone/>
            </a:pPr>
            <a:r>
              <a:rPr lang="en-AU" sz="2200" b="1" dirty="0" smtClean="0">
                <a:latin typeface="Helvetica" pitchFamily="34" charset="0"/>
              </a:rPr>
              <a:t>4.  Add to or subtract from the bank balance the items that are in the ledger account but not on the bank statement</a:t>
            </a:r>
          </a:p>
          <a:p>
            <a:pPr lvl="0">
              <a:spcBef>
                <a:spcPts val="600"/>
              </a:spcBef>
              <a:spcAft>
                <a:spcPts val="1200"/>
              </a:spcAft>
              <a:buNone/>
            </a:pPr>
            <a:r>
              <a:rPr lang="en-AU" sz="2200" dirty="0" smtClean="0">
                <a:latin typeface="Helvetica" pitchFamily="34" charset="0"/>
              </a:rPr>
              <a:t>This may include: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Deposits not received by the bank yet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Outstanding cheques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Calculate the adjusted bank balance</a:t>
            </a: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6" name="Picture 5" descr="W602_man in suit_smiling_175323563.jpg"/>
          <p:cNvPicPr>
            <a:picLocks noChangeAspect="1"/>
          </p:cNvPicPr>
          <p:nvPr/>
        </p:nvPicPr>
        <p:blipFill>
          <a:blip r:embed="rId3" cstate="print"/>
          <a:stretch>
            <a:fillRect/>
          </a:stretch>
        </p:blipFill>
        <p:spPr>
          <a:xfrm>
            <a:off x="6120488" y="4077072"/>
            <a:ext cx="2305952" cy="1538797"/>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Steps to prepare a bank reconciliation</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lvl="0">
              <a:spcBef>
                <a:spcPts val="600"/>
              </a:spcBef>
              <a:spcAft>
                <a:spcPts val="1200"/>
              </a:spcAft>
              <a:buNone/>
            </a:pPr>
            <a:r>
              <a:rPr lang="en-AU" sz="2200" b="1" dirty="0" smtClean="0">
                <a:latin typeface="Helvetica" pitchFamily="34" charset="0"/>
              </a:rPr>
              <a:t>5.  Adjust the ledger account for any items that are on the bank statement by recording the details in the general journal</a:t>
            </a:r>
          </a:p>
          <a:p>
            <a:pPr lvl="0">
              <a:spcBef>
                <a:spcPts val="600"/>
              </a:spcBef>
              <a:spcAft>
                <a:spcPts val="1200"/>
              </a:spcAft>
              <a:buNone/>
            </a:pPr>
            <a:r>
              <a:rPr lang="en-AU" sz="2200" dirty="0" smtClean="0">
                <a:latin typeface="Helvetica" pitchFamily="34" charset="0"/>
              </a:rPr>
              <a:t>These include: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Cash receipts for direct deposits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Cash payments made as electronic transfers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Bank fees and charges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8" name="Picture 7" descr="W607_shutterstock_169040459.jpg"/>
          <p:cNvPicPr>
            <a:picLocks noChangeAspect="1"/>
          </p:cNvPicPr>
          <p:nvPr/>
        </p:nvPicPr>
        <p:blipFill>
          <a:blip r:embed="rId3" cstate="print"/>
          <a:stretch>
            <a:fillRect/>
          </a:stretch>
        </p:blipFill>
        <p:spPr>
          <a:xfrm>
            <a:off x="6588224" y="4410424"/>
            <a:ext cx="1835696" cy="1223797"/>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Steps to prepare a bank reconciliation</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lvl="0">
              <a:spcBef>
                <a:spcPts val="600"/>
              </a:spcBef>
              <a:spcAft>
                <a:spcPts val="1200"/>
              </a:spcAft>
              <a:buNone/>
            </a:pPr>
            <a:r>
              <a:rPr lang="en-AU" sz="2200" b="1" dirty="0" smtClean="0">
                <a:latin typeface="Helvetica" pitchFamily="34" charset="0"/>
              </a:rPr>
              <a:t>6.  Compare the adjusted bank balance and the adjusted ledger account balance and they should now agree</a:t>
            </a:r>
            <a:endParaRPr lang="en-US" sz="2200" b="1" dirty="0" smtClean="0">
              <a:latin typeface="Helvetica" pitchFamily="34" charset="0"/>
            </a:endParaRPr>
          </a:p>
          <a:p>
            <a:pPr lvl="0">
              <a:spcBef>
                <a:spcPts val="600"/>
              </a:spcBef>
              <a:spcAft>
                <a:spcPts val="1200"/>
              </a:spcAft>
              <a:buNone/>
            </a:pPr>
            <a:r>
              <a:rPr lang="en-AU" sz="2200" b="1" dirty="0" smtClean="0">
                <a:latin typeface="Helvetica" pitchFamily="34" charset="0"/>
              </a:rPr>
              <a:t>7.  Complete the bank reconciliation statement and file according to workplace procedures</a:t>
            </a:r>
          </a:p>
          <a:p>
            <a:pPr>
              <a:buNone/>
            </a:pPr>
            <a:endParaRPr lang="en-US" sz="2400" b="1" dirty="0" smtClean="0">
              <a:solidFill>
                <a:srgbClr val="FF6600"/>
              </a:solidFill>
              <a:latin typeface="Helvetica" pitchFamily="34" charset="0"/>
            </a:endParaRPr>
          </a:p>
          <a:p>
            <a:pPr algn="ctr">
              <a:buNone/>
            </a:pPr>
            <a:r>
              <a:rPr lang="en-US" sz="2200" b="1" dirty="0" smtClean="0">
                <a:solidFill>
                  <a:srgbClr val="FF6600"/>
                </a:solidFill>
                <a:latin typeface="Helvetica" pitchFamily="34" charset="0"/>
              </a:rPr>
              <a:t>COMPLETE ACTIVITIES 8,9,10</a:t>
            </a:r>
          </a:p>
          <a:p>
            <a:pPr lvl="0">
              <a:buNone/>
            </a:pPr>
            <a:endParaRPr lang="en-US" sz="2400" dirty="0" smtClean="0"/>
          </a:p>
          <a:p>
            <a:pPr lvl="0">
              <a:buNone/>
            </a:pPr>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6" name="Picture 5" descr="1b.jpg"/>
          <p:cNvPicPr/>
          <p:nvPr/>
        </p:nvPicPr>
        <p:blipFill>
          <a:blip r:embed="rId3" cstate="print"/>
          <a:stretch>
            <a:fillRect/>
          </a:stretch>
        </p:blipFill>
        <p:spPr>
          <a:xfrm>
            <a:off x="3707904" y="4293096"/>
            <a:ext cx="2187086" cy="15841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Obtain authorisation to complete reconciliation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000" b="1" dirty="0" smtClean="0">
                <a:latin typeface="Helvetica" pitchFamily="34" charset="0"/>
              </a:rPr>
              <a:t>Obtaining authorisation or approval</a:t>
            </a:r>
            <a:endParaRPr lang="en-US" sz="2000" b="1" dirty="0" smtClean="0">
              <a:latin typeface="Helvetica" pitchFamily="34" charset="0"/>
            </a:endParaRPr>
          </a:p>
          <a:p>
            <a:pPr>
              <a:spcBef>
                <a:spcPts val="600"/>
              </a:spcBef>
              <a:spcAft>
                <a:spcPts val="1200"/>
              </a:spcAft>
              <a:buNone/>
            </a:pPr>
            <a:r>
              <a:rPr lang="en-AU" sz="2000" dirty="0" smtClean="0">
                <a:latin typeface="Helvetica" pitchFamily="34" charset="0"/>
              </a:rPr>
              <a:t>Obtain authorisation or approval may include: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Acquiring sign-off by appropriate personnel such as:</a:t>
            </a:r>
            <a:endParaRPr lang="en-US" sz="2000" dirty="0" smtClean="0">
              <a:latin typeface="Helvetica" pitchFamily="34" charset="0"/>
            </a:endParaRPr>
          </a:p>
          <a:p>
            <a:pPr lvl="1">
              <a:spcBef>
                <a:spcPts val="600"/>
              </a:spcBef>
              <a:spcAft>
                <a:spcPts val="1200"/>
              </a:spcAft>
            </a:pPr>
            <a:r>
              <a:rPr lang="en-US" sz="2000" dirty="0" smtClean="0">
                <a:latin typeface="Helvetica" pitchFamily="34" charset="0"/>
              </a:rPr>
              <a:t>Accounting personnel</a:t>
            </a:r>
          </a:p>
          <a:p>
            <a:pPr lvl="1">
              <a:spcBef>
                <a:spcPts val="600"/>
              </a:spcBef>
              <a:spcAft>
                <a:spcPts val="1200"/>
              </a:spcAft>
            </a:pPr>
            <a:r>
              <a:rPr lang="en-US" sz="2000" dirty="0" smtClean="0">
                <a:latin typeface="Helvetica" pitchFamily="34" charset="0"/>
              </a:rPr>
              <a:t>Business unit or departmental managers</a:t>
            </a:r>
          </a:p>
          <a:p>
            <a:pPr lvl="0">
              <a:spcBef>
                <a:spcPts val="600"/>
              </a:spcBef>
              <a:spcAft>
                <a:spcPts val="1200"/>
              </a:spcAft>
            </a:pPr>
            <a:r>
              <a:rPr lang="en-AU" sz="2000" dirty="0" smtClean="0">
                <a:latin typeface="Helvetica" pitchFamily="34" charset="0"/>
              </a:rPr>
              <a:t>Adhering to organisational policies </a:t>
            </a:r>
            <a:br>
              <a:rPr lang="en-AU" sz="2000" dirty="0" smtClean="0">
                <a:latin typeface="Helvetica" pitchFamily="34" charset="0"/>
              </a:rPr>
            </a:br>
            <a:r>
              <a:rPr lang="en-AU" sz="2000" dirty="0" smtClean="0">
                <a:latin typeface="Helvetica" pitchFamily="34" charset="0"/>
              </a:rPr>
              <a:t>and procedures</a:t>
            </a:r>
          </a:p>
          <a:p>
            <a:pPr lvl="0">
              <a:spcBef>
                <a:spcPts val="600"/>
              </a:spcBef>
              <a:spcAft>
                <a:spcPts val="1200"/>
              </a:spcAft>
            </a:pPr>
            <a:endParaRPr lang="en-AU" sz="2000" dirty="0" smtClean="0">
              <a:latin typeface="Helvetica" pitchFamily="34" charset="0"/>
            </a:endParaRPr>
          </a:p>
          <a:p>
            <a:pPr>
              <a:spcBef>
                <a:spcPts val="600"/>
              </a:spcBef>
              <a:spcAft>
                <a:spcPts val="1200"/>
              </a:spcAft>
              <a:buNone/>
            </a:pPr>
            <a:r>
              <a:rPr lang="en-US" sz="2000" b="1" dirty="0" smtClean="0">
                <a:solidFill>
                  <a:srgbClr val="FF6600"/>
                </a:solidFill>
                <a:latin typeface="Helvetica" pitchFamily="34" charset="0"/>
              </a:rPr>
              <a:t>COMPLETE ACTIVITY 11</a:t>
            </a:r>
          </a:p>
          <a:p>
            <a:pPr lvl="0">
              <a:buNone/>
            </a:pPr>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6" name="Picture 5" descr="14.jpg"/>
          <p:cNvPicPr/>
          <p:nvPr/>
        </p:nvPicPr>
        <p:blipFill>
          <a:blip r:embed="rId3" cstate="print"/>
          <a:stretch>
            <a:fillRect/>
          </a:stretch>
        </p:blipFill>
        <p:spPr>
          <a:xfrm>
            <a:off x="6372200" y="4221088"/>
            <a:ext cx="1914525" cy="14287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8280920" cy="4680520"/>
          </a:xfrm>
        </p:spPr>
        <p:txBody>
          <a:bodyPr>
            <a:normAutofit/>
          </a:bodyPr>
          <a:lstStyle/>
          <a:p>
            <a:pPr marL="0">
              <a:buNone/>
            </a:pPr>
            <a:r>
              <a:rPr lang="en-AU" sz="4000" b="1" dirty="0" smtClean="0">
                <a:solidFill>
                  <a:srgbClr val="FF6600"/>
                </a:solidFill>
                <a:latin typeface="Helvetica" pitchFamily="34" charset="0"/>
              </a:rPr>
              <a:t>Element 2:</a:t>
            </a:r>
          </a:p>
          <a:p>
            <a:pPr marL="0">
              <a:buNone/>
            </a:pPr>
            <a:r>
              <a:rPr lang="en-US" sz="4000" b="1" i="1" dirty="0">
                <a:solidFill>
                  <a:srgbClr val="FF6600"/>
                </a:solidFill>
                <a:latin typeface="Helvetica" pitchFamily="34" charset="0"/>
              </a:rPr>
              <a:t>Reconcile general ledger to related systems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descr="14.jpg"/>
          <p:cNvPicPr>
            <a:picLocks noChangeAspect="1"/>
          </p:cNvPicPr>
          <p:nvPr/>
        </p:nvPicPr>
        <p:blipFill>
          <a:blip r:embed="rId3" cstate="print"/>
          <a:stretch>
            <a:fillRect/>
          </a:stretch>
        </p:blipFill>
        <p:spPr>
          <a:xfrm>
            <a:off x="2627784" y="3717032"/>
            <a:ext cx="2970078" cy="2232248"/>
          </a:xfrm>
          <a:prstGeom prst="ellipse">
            <a:avLst/>
          </a:prstGeom>
          <a:ln>
            <a:noFill/>
          </a:ln>
          <a:effectLst>
            <a:softEdge rad="112500"/>
          </a:effectLst>
        </p:spPr>
      </p:pic>
    </p:spTree>
    <p:extLst>
      <p:ext uri="{BB962C8B-B14F-4D97-AF65-F5344CB8AC3E}">
        <p14:creationId xmlns:p14="http://schemas.microsoft.com/office/powerpoint/2010/main" val="204424644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008112"/>
          </a:xfrm>
        </p:spPr>
        <p:txBody>
          <a:bodyPr>
            <a:noAutofit/>
          </a:bodyPr>
          <a:lstStyle/>
          <a:p>
            <a:pPr marL="0"/>
            <a:r>
              <a:rPr lang="en-US" sz="3400" b="1" dirty="0" smtClean="0">
                <a:solidFill>
                  <a:srgbClr val="FF6600"/>
                </a:solidFill>
                <a:latin typeface="Helvetica" pitchFamily="34" charset="0"/>
              </a:rPr>
              <a:t>Reconcile general ledger to related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846640" cy="4680520"/>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Process related systems entries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Reconcile interfaces from related systems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Verify related systems to maintain integrity of the accounting systems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5" name="Picture 4" descr="fn.jpg"/>
          <p:cNvPicPr>
            <a:picLocks noChangeAspect="1"/>
          </p:cNvPicPr>
          <p:nvPr/>
        </p:nvPicPr>
        <p:blipFill>
          <a:blip r:embed="rId3" cstate="print"/>
          <a:stretch>
            <a:fillRect/>
          </a:stretch>
        </p:blipFill>
        <p:spPr>
          <a:xfrm>
            <a:off x="6516216" y="4005064"/>
            <a:ext cx="1855101" cy="1860048"/>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Process related systems entries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Reconcile systems</a:t>
            </a:r>
          </a:p>
          <a:p>
            <a:pPr marL="0">
              <a:spcBef>
                <a:spcPts val="600"/>
              </a:spcBef>
              <a:spcAft>
                <a:spcPts val="1200"/>
              </a:spcAft>
              <a:buNone/>
            </a:pPr>
            <a:r>
              <a:rPr lang="en-AU" sz="2200" dirty="0" smtClean="0">
                <a:latin typeface="Helvetica" pitchFamily="34" charset="0"/>
              </a:rPr>
              <a:t>Now that general ledgers have been balanced with subsidiary ledgers, it is important that this information is processed to other financial systems that make up an accounting system:</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What are types of related systems?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descr="13.jpg"/>
          <p:cNvPicPr>
            <a:picLocks noChangeAspect="1"/>
          </p:cNvPicPr>
          <p:nvPr/>
        </p:nvPicPr>
        <p:blipFill>
          <a:blip r:embed="rId3" cstate="print"/>
          <a:stretch>
            <a:fillRect/>
          </a:stretch>
        </p:blipFill>
        <p:spPr>
          <a:xfrm>
            <a:off x="6876256" y="3346927"/>
            <a:ext cx="1512168" cy="2268251"/>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Process related systems entries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Suspense accounts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 suspense account is an account in the general ledger that temporarily stores any transactions that cannot be clearly allocated to an account</a:t>
            </a:r>
            <a:r>
              <a:rPr lang="en-AU" sz="2200" dirty="0">
                <a:latin typeface="Helvetica" pitchFamily="34" charset="0"/>
              </a:rPr>
              <a: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Why are suspense accounts important?</a:t>
            </a:r>
          </a:p>
          <a:p>
            <a:pPr>
              <a:spcBef>
                <a:spcPts val="600"/>
              </a:spcBef>
              <a:spcAft>
                <a:spcPts val="1200"/>
              </a:spcAft>
            </a:pPr>
            <a:r>
              <a:rPr lang="en-AU" sz="2200" dirty="0" smtClean="0">
                <a:latin typeface="Helvetica" pitchFamily="34" charset="0"/>
              </a:rPr>
              <a:t>What are types of transactions placed </a:t>
            </a:r>
            <a:br>
              <a:rPr lang="en-AU" sz="2200" dirty="0" smtClean="0">
                <a:latin typeface="Helvetica" pitchFamily="34" charset="0"/>
              </a:rPr>
            </a:br>
            <a:r>
              <a:rPr lang="en-AU" sz="2200" dirty="0" smtClean="0">
                <a:latin typeface="Helvetica" pitchFamily="34" charset="0"/>
              </a:rPr>
              <a:t>in these accounts?</a:t>
            </a:r>
          </a:p>
          <a:p>
            <a:pPr>
              <a:spcBef>
                <a:spcPts val="600"/>
              </a:spcBef>
              <a:spcAft>
                <a:spcPts val="1200"/>
              </a:spcAft>
            </a:pPr>
            <a:r>
              <a:rPr lang="en-AU" sz="2200" dirty="0" smtClean="0">
                <a:latin typeface="Helvetica" pitchFamily="34" charset="0"/>
              </a:rPr>
              <a:t>When should suspense accounts </a:t>
            </a:r>
            <a:br>
              <a:rPr lang="en-AU" sz="2200" dirty="0" smtClean="0">
                <a:latin typeface="Helvetica" pitchFamily="34" charset="0"/>
              </a:rPr>
            </a:br>
            <a:r>
              <a:rPr lang="en-AU" sz="2200" dirty="0" smtClean="0">
                <a:latin typeface="Helvetica" pitchFamily="34" charset="0"/>
              </a:rPr>
              <a:t>be monitored?</a:t>
            </a:r>
          </a:p>
          <a:p>
            <a:pPr>
              <a:spcBef>
                <a:spcPts val="600"/>
              </a:spcBef>
              <a:spcAft>
                <a:spcPts val="1200"/>
              </a:spcAft>
              <a:buNone/>
            </a:pPr>
            <a:r>
              <a:rPr lang="en-US" sz="2200" b="1" dirty="0" smtClean="0">
                <a:solidFill>
                  <a:srgbClr val="FF6600"/>
                </a:solidFill>
                <a:latin typeface="Helvetica" pitchFamily="34" charset="0"/>
              </a:rPr>
              <a:t>COMPLETE ACTIVITY 12</a:t>
            </a: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4" descr="kw.jpg"/>
          <p:cNvPicPr/>
          <p:nvPr/>
        </p:nvPicPr>
        <p:blipFill>
          <a:blip r:embed="rId3" cstate="print"/>
          <a:stretch>
            <a:fillRect/>
          </a:stretch>
        </p:blipFill>
        <p:spPr>
          <a:xfrm>
            <a:off x="6732240" y="3717032"/>
            <a:ext cx="1584176" cy="187220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Process related systems entries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Cost centre accounts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 cost centre is a part of an organisation that does not produce direct profit and adds to the cost of running a company</a:t>
            </a:r>
            <a:r>
              <a:rPr lang="en-AU" sz="2200" dirty="0">
                <a:latin typeface="Helvetica" pitchFamily="34" charset="0"/>
              </a:rPr>
              <a:t>:</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What are types of cost centres in a tourism organisation?</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6" name="Picture 5" descr="cf.jpg"/>
          <p:cNvPicPr>
            <a:picLocks noChangeAspect="1"/>
          </p:cNvPicPr>
          <p:nvPr/>
        </p:nvPicPr>
        <p:blipFill>
          <a:blip r:embed="rId3" cstate="print"/>
          <a:stretch>
            <a:fillRect/>
          </a:stretch>
        </p:blipFill>
        <p:spPr>
          <a:xfrm>
            <a:off x="2949498" y="4005064"/>
            <a:ext cx="2295152" cy="1530101"/>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Process related systems entries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lnSpcReduction="10000"/>
          </a:bodyPr>
          <a:lstStyle/>
          <a:p>
            <a:pPr>
              <a:spcBef>
                <a:spcPts val="600"/>
              </a:spcBef>
              <a:spcAft>
                <a:spcPts val="600"/>
              </a:spcAft>
              <a:buNone/>
            </a:pPr>
            <a:r>
              <a:rPr lang="en-AU" sz="2200" b="1" dirty="0" smtClean="0">
                <a:latin typeface="Helvetica" pitchFamily="34" charset="0"/>
              </a:rPr>
              <a:t>Types of cost centres for a tourism organisation</a:t>
            </a:r>
            <a:endParaRPr lang="en-US" sz="2200" b="1" dirty="0" smtClean="0">
              <a:latin typeface="Helvetica" pitchFamily="34" charset="0"/>
            </a:endParaRPr>
          </a:p>
          <a:p>
            <a:pPr lvl="0">
              <a:spcBef>
                <a:spcPts val="600"/>
              </a:spcBef>
              <a:spcAft>
                <a:spcPts val="600"/>
              </a:spcAft>
            </a:pPr>
            <a:r>
              <a:rPr lang="en-AU" sz="2200" dirty="0" smtClean="0">
                <a:latin typeface="Helvetica" pitchFamily="34" charset="0"/>
              </a:rPr>
              <a:t>Human Resources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Maintenance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IT department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Travel sales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Marketing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Help desks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Customer services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Corporate vs FIT clients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Contact centres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Tours</a:t>
            </a: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7" name="Picture 6" descr="fh.jpg"/>
          <p:cNvPicPr/>
          <p:nvPr/>
        </p:nvPicPr>
        <p:blipFill>
          <a:blip r:embed="rId3" cstate="print"/>
          <a:stretch>
            <a:fillRect/>
          </a:stretch>
        </p:blipFill>
        <p:spPr>
          <a:xfrm>
            <a:off x="4644008" y="2348880"/>
            <a:ext cx="2016224" cy="223224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Process related systems entries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000" b="1" dirty="0" smtClean="0">
                <a:latin typeface="Helvetica" pitchFamily="34" charset="0"/>
              </a:rPr>
              <a:t>Importance of allocating costs to the correct cost centre</a:t>
            </a:r>
          </a:p>
          <a:p>
            <a:pPr marL="0">
              <a:spcBef>
                <a:spcPts val="600"/>
              </a:spcBef>
              <a:spcAft>
                <a:spcPts val="1200"/>
              </a:spcAft>
              <a:buNone/>
            </a:pPr>
            <a:r>
              <a:rPr lang="en-AU" sz="2000" dirty="0" smtClean="0">
                <a:latin typeface="Helvetica" pitchFamily="34" charset="0"/>
              </a:rPr>
              <a:t>The manager and employees of a cost centre are responsible for its costs, therefore making it important that the correct costs are allocated to the correct cost centre.</a:t>
            </a:r>
            <a:endParaRPr lang="en-US" sz="2000" dirty="0" smtClean="0">
              <a:latin typeface="Helvetica" pitchFamily="34" charset="0"/>
            </a:endParaRPr>
          </a:p>
          <a:p>
            <a:pPr marL="0">
              <a:spcBef>
                <a:spcPts val="600"/>
              </a:spcBef>
              <a:spcAft>
                <a:spcPts val="1200"/>
              </a:spcAft>
              <a:buNone/>
            </a:pPr>
            <a:r>
              <a:rPr lang="en-AU" sz="2000" dirty="0" smtClean="0">
                <a:latin typeface="Helvetica" pitchFamily="34" charset="0"/>
              </a:rPr>
              <a:t>As an example, one of the largest costs for a tourism organisation is often labour. It is essential that the overall labour cost is allocated to its relevant cost centre:</a:t>
            </a:r>
          </a:p>
          <a:p>
            <a:pPr>
              <a:spcBef>
                <a:spcPts val="600"/>
              </a:spcBef>
              <a:spcAft>
                <a:spcPts val="1200"/>
              </a:spcAft>
            </a:pPr>
            <a:r>
              <a:rPr lang="en-AU" sz="2000" dirty="0" smtClean="0">
                <a:latin typeface="Helvetica" pitchFamily="34" charset="0"/>
              </a:rPr>
              <a:t>What are the consequences of allocating                                costs to the wrong cost centre?</a:t>
            </a:r>
          </a:p>
          <a:p>
            <a:pPr>
              <a:spcBef>
                <a:spcPts val="600"/>
              </a:spcBef>
              <a:spcAft>
                <a:spcPts val="1200"/>
              </a:spcAft>
            </a:pPr>
            <a:endParaRPr lang="en-AU" sz="2000" dirty="0" smtClean="0">
              <a:latin typeface="Helvetica" pitchFamily="34" charset="0"/>
            </a:endParaRPr>
          </a:p>
          <a:p>
            <a:pPr>
              <a:spcBef>
                <a:spcPts val="600"/>
              </a:spcBef>
              <a:spcAft>
                <a:spcPts val="1200"/>
              </a:spcAft>
              <a:buNone/>
            </a:pPr>
            <a:r>
              <a:rPr lang="en-US" sz="2000" b="1" dirty="0" smtClean="0">
                <a:solidFill>
                  <a:srgbClr val="FF6600"/>
                </a:solidFill>
                <a:latin typeface="Helvetica" pitchFamily="34" charset="0"/>
              </a:rPr>
              <a:t>COMPLETE ACTIVITY 13</a:t>
            </a:r>
          </a:p>
          <a:p>
            <a:pPr>
              <a:spcBef>
                <a:spcPts val="600"/>
              </a:spcBef>
              <a:spcAft>
                <a:spcPts val="1200"/>
              </a:spcAft>
              <a:buNone/>
            </a:pPr>
            <a:endParaRPr lang="en-US" sz="2000" dirty="0" smtClean="0">
              <a:latin typeface="Helvetica" pitchFamily="34" charset="0"/>
            </a:endParaRPr>
          </a:p>
          <a:p>
            <a:pPr>
              <a:spcBef>
                <a:spcPts val="600"/>
              </a:spcBef>
              <a:spcAft>
                <a:spcPts val="1200"/>
              </a:spcAft>
              <a:buNone/>
            </a:pPr>
            <a:endParaRPr lang="en-US" sz="2000" b="1" dirty="0" smtClean="0">
              <a:solidFill>
                <a:srgbClr val="FF6600"/>
              </a:solidFill>
              <a:latin typeface="Helvetica" pitchFamily="34" charset="0"/>
            </a:endParaRPr>
          </a:p>
          <a:p>
            <a:pPr>
              <a:spcBef>
                <a:spcPts val="600"/>
              </a:spcBef>
              <a:spcAft>
                <a:spcPts val="1200"/>
              </a:spcAft>
              <a:buNone/>
            </a:pP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4" descr="1q.jpg"/>
          <p:cNvPicPr/>
          <p:nvPr/>
        </p:nvPicPr>
        <p:blipFill>
          <a:blip r:embed="rId3" cstate="print"/>
          <a:stretch>
            <a:fillRect/>
          </a:stretch>
        </p:blipFill>
        <p:spPr>
          <a:xfrm>
            <a:off x="6300192" y="4077072"/>
            <a:ext cx="2160240" cy="151216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Process related systems entries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200" b="1" dirty="0" smtClean="0">
                <a:latin typeface="Helvetica" pitchFamily="34" charset="0"/>
              </a:rPr>
              <a:t>Investments register</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If investments are a large part of an organisation, a register of these investments will be recorded</a:t>
            </a:r>
            <a:r>
              <a:rPr lang="en-AU" sz="2200" dirty="0">
                <a:latin typeface="Helvetica" pitchFamily="34" charset="0"/>
              </a:rPr>
              <a:t>:</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Are investments are large part of a tourism organisation?</a:t>
            </a:r>
          </a:p>
          <a:p>
            <a:pPr>
              <a:spcBef>
                <a:spcPts val="600"/>
              </a:spcBef>
              <a:spcAft>
                <a:spcPts val="1200"/>
              </a:spcAft>
            </a:pPr>
            <a:r>
              <a:rPr lang="en-AU" sz="2200" dirty="0" smtClean="0">
                <a:latin typeface="Helvetica" pitchFamily="34" charset="0"/>
              </a:rPr>
              <a:t>What types of investments are there?</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6" name="Picture 5" descr="ho.jpg"/>
          <p:cNvPicPr/>
          <p:nvPr/>
        </p:nvPicPr>
        <p:blipFill>
          <a:blip r:embed="rId3" cstate="print"/>
          <a:stretch>
            <a:fillRect/>
          </a:stretch>
        </p:blipFill>
        <p:spPr>
          <a:xfrm>
            <a:off x="2915816" y="4365104"/>
            <a:ext cx="1934845" cy="14859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Process related systems entries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200" b="1" dirty="0" smtClean="0">
                <a:latin typeface="Helvetica" pitchFamily="34" charset="0"/>
              </a:rPr>
              <a:t>Accounting software systems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Each organisation will use some form of accounting software to record financial information and produce financial reports: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What types of accounting software is there?</a:t>
            </a:r>
          </a:p>
          <a:p>
            <a:pPr>
              <a:spcBef>
                <a:spcPts val="600"/>
              </a:spcBef>
              <a:spcAft>
                <a:spcPts val="1200"/>
              </a:spcAft>
            </a:pPr>
            <a:r>
              <a:rPr lang="en-AU" sz="2200" dirty="0" smtClean="0">
                <a:latin typeface="Helvetica" pitchFamily="34" charset="0"/>
              </a:rPr>
              <a:t>What functions are performed using the software?</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descr="A20 shutterstock_182023328.jpg"/>
          <p:cNvPicPr>
            <a:picLocks noChangeAspect="1"/>
          </p:cNvPicPr>
          <p:nvPr/>
        </p:nvPicPr>
        <p:blipFill>
          <a:blip r:embed="rId3" cstate="print"/>
          <a:stretch>
            <a:fillRect/>
          </a:stretch>
        </p:blipFill>
        <p:spPr>
          <a:xfrm>
            <a:off x="3131840" y="4293096"/>
            <a:ext cx="1812032" cy="170693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Process related systems entries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200" b="1" dirty="0" smtClean="0">
                <a:latin typeface="Helvetica" pitchFamily="34" charset="0"/>
              </a:rPr>
              <a:t>Examples of accounting software packages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FreshBooks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QuickBooks Online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Sage One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ZohoBooks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Xero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AccountEdge</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6" name="Picture 5" descr="shutterstock_157814315.jpg"/>
          <p:cNvPicPr>
            <a:picLocks noChangeAspect="1"/>
          </p:cNvPicPr>
          <p:nvPr/>
        </p:nvPicPr>
        <p:blipFill>
          <a:blip r:embed="rId3" cstate="print"/>
          <a:stretch>
            <a:fillRect/>
          </a:stretch>
        </p:blipFill>
        <p:spPr>
          <a:xfrm>
            <a:off x="4211960" y="2439423"/>
            <a:ext cx="2603580" cy="173658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Process related systems entries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200" b="1" dirty="0" smtClean="0">
                <a:latin typeface="Helvetica" pitchFamily="34" charset="0"/>
              </a:rPr>
              <a:t>Examples of accounting software packages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Wave Accounting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Less Accounting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WorkingPoint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Free Agent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Yendo</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14</a:t>
            </a:r>
          </a:p>
          <a:p>
            <a:pPr>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5" name="Picture 4" descr="32.jpg"/>
          <p:cNvPicPr>
            <a:picLocks noChangeAspect="1"/>
          </p:cNvPicPr>
          <p:nvPr/>
        </p:nvPicPr>
        <p:blipFill>
          <a:blip r:embed="rId3" cstate="print"/>
          <a:stretch>
            <a:fillRect/>
          </a:stretch>
        </p:blipFill>
        <p:spPr>
          <a:xfrm>
            <a:off x="4355976" y="2564904"/>
            <a:ext cx="2170176" cy="163372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Process related systems entries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200" b="1" dirty="0" smtClean="0">
                <a:latin typeface="Helvetica" pitchFamily="34" charset="0"/>
              </a:rPr>
              <a:t>Financial data recording systems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In addition to accounting software packages, tourism companies may use a range of sales and cost related hardware and software that records transactions: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Cash registers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Point of sale (POS) systems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Electronic time-keeping</a:t>
            </a:r>
            <a:endParaRPr lang="en-US"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15</a:t>
            </a:r>
          </a:p>
          <a:p>
            <a:pPr>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6" name="Picture 5" descr="shutterstock_83733166.jpg"/>
          <p:cNvPicPr/>
          <p:nvPr/>
        </p:nvPicPr>
        <p:blipFill>
          <a:blip r:embed="rId3" cstate="print"/>
          <a:stretch>
            <a:fillRect/>
          </a:stretch>
        </p:blipFill>
        <p:spPr>
          <a:xfrm>
            <a:off x="5220072" y="3429000"/>
            <a:ext cx="1944216" cy="136815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Reconcile interfaces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Reconcile interfaces from related systems</a:t>
            </a:r>
          </a:p>
          <a:p>
            <a:pPr marL="0">
              <a:spcBef>
                <a:spcPts val="600"/>
              </a:spcBef>
              <a:spcAft>
                <a:spcPts val="1200"/>
              </a:spcAft>
              <a:buNone/>
            </a:pPr>
            <a:r>
              <a:rPr lang="en-AU" sz="2200" dirty="0" smtClean="0">
                <a:latin typeface="Helvetica" pitchFamily="34" charset="0"/>
              </a:rPr>
              <a:t>Not only is it important that transactions are reconciled between ledgers that they also reflect and reconcile with all other financial systems used by a tourism establishment</a:t>
            </a:r>
            <a:r>
              <a:rPr lang="en-AU" sz="2200" dirty="0">
                <a:latin typeface="Helvetica" pitchFamily="34" charset="0"/>
              </a:rPr>
              <a:t>:</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How can this reconciliation take place?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5" name="Picture 4" descr="kr.jpg"/>
          <p:cNvPicPr/>
          <p:nvPr/>
        </p:nvPicPr>
        <p:blipFill>
          <a:blip r:embed="rId3" cstate="print"/>
          <a:stretch>
            <a:fillRect/>
          </a:stretch>
        </p:blipFill>
        <p:spPr>
          <a:xfrm>
            <a:off x="2555776" y="4149080"/>
            <a:ext cx="2185412" cy="141617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General ledger reconciliation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The reconciliation process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Comparing the general ledger account balances with other independent systems, statements, and reports, to verify that the balances are correct and accurate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Investigating any discrepancies that are identified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Taking appropriate corrective actions to resolve these discrepancies</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16</a:t>
            </a:r>
            <a:r>
              <a:rPr lang="en-AU" sz="2200" dirty="0" smtClean="0">
                <a:latin typeface="Helvetica" pitchFamily="34" charset="0"/>
              </a:rPr>
              <a:t/>
            </a:r>
            <a:br>
              <a:rPr lang="en-AU" sz="2200" dirty="0" smtClean="0">
                <a:latin typeface="Helvetica" pitchFamily="34" charset="0"/>
              </a:rPr>
            </a:br>
            <a:endParaRPr lang="en-AU" sz="2200" dirty="0" smtClean="0">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6" name="Picture 5" descr="14.jpg"/>
          <p:cNvPicPr/>
          <p:nvPr/>
        </p:nvPicPr>
        <p:blipFill>
          <a:blip r:embed="rId3" cstate="print"/>
          <a:stretch>
            <a:fillRect/>
          </a:stretch>
        </p:blipFill>
        <p:spPr>
          <a:xfrm>
            <a:off x="6516216" y="4509120"/>
            <a:ext cx="1800225" cy="13525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Verify accounting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Importance of verifying accounting system</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All financial reports and other financial transactions should be verified for accuracy and completeness and maintains the integrity of the accounting systems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Various methods may be employed to determine the accuracy and integrity of financial information and the systems used to produce it</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4" descr="shutterstock_185173997.jpg"/>
          <p:cNvPicPr/>
          <p:nvPr/>
        </p:nvPicPr>
        <p:blipFill>
          <a:blip r:embed="rId3" cstate="print"/>
          <a:stretch>
            <a:fillRect/>
          </a:stretch>
        </p:blipFill>
        <p:spPr>
          <a:xfrm>
            <a:off x="2915816" y="4437112"/>
            <a:ext cx="2016224" cy="144016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Accounting system verification steps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Reconciliation</a:t>
            </a:r>
            <a:endParaRPr lang="en-US" sz="2200" b="1" dirty="0" smtClean="0">
              <a:latin typeface="Helvetica" pitchFamily="34" charset="0"/>
            </a:endParaRPr>
          </a:p>
          <a:p>
            <a:pPr>
              <a:spcBef>
                <a:spcPts val="600"/>
              </a:spcBef>
              <a:spcAft>
                <a:spcPts val="1200"/>
              </a:spcAft>
            </a:pPr>
            <a:r>
              <a:rPr lang="en-US" sz="2200" dirty="0" smtClean="0">
                <a:latin typeface="Helvetica" pitchFamily="34" charset="0"/>
              </a:rPr>
              <a:t>The process of reconciliation involves comparing information that exists in two ledgers, systems, departments or locations</a:t>
            </a:r>
          </a:p>
          <a:p>
            <a:pPr>
              <a:spcBef>
                <a:spcPts val="600"/>
              </a:spcBef>
              <a:spcAft>
                <a:spcPts val="1200"/>
              </a:spcAft>
            </a:pPr>
            <a:r>
              <a:rPr lang="en-US" sz="2200" dirty="0" smtClean="0">
                <a:latin typeface="Helvetica" pitchFamily="34" charset="0"/>
              </a:rPr>
              <a:t>It focuses on identifying and investigation differences and making corrections so that the information is accurate, complete and consistent in both ledgers, systems, departments or locations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6" name="Picture 5" descr="ie.jpg"/>
          <p:cNvPicPr>
            <a:picLocks noChangeAspect="1"/>
          </p:cNvPicPr>
          <p:nvPr/>
        </p:nvPicPr>
        <p:blipFill>
          <a:blip r:embed="rId3" cstate="print"/>
          <a:stretch>
            <a:fillRect/>
          </a:stretch>
        </p:blipFill>
        <p:spPr>
          <a:xfrm>
            <a:off x="6444208" y="4509120"/>
            <a:ext cx="1943273" cy="145656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Accounting system verification steps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Review</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Look at all aspects of business operation with a  focus on unusual activity or balances.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The review process includes: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Unusual fluctuations in balances or activity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Activity for reasonableness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7" name="Picture 6" descr="shutterstock_105421988.jpg"/>
          <p:cNvPicPr/>
          <p:nvPr/>
        </p:nvPicPr>
        <p:blipFill>
          <a:blip r:embed="rId3" cstate="print"/>
          <a:stretch>
            <a:fillRect/>
          </a:stretch>
        </p:blipFill>
        <p:spPr>
          <a:xfrm>
            <a:off x="6516216" y="4293096"/>
            <a:ext cx="1885950" cy="12573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Accounting system verification steps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US" sz="2200" b="1" dirty="0" smtClean="0">
                <a:latin typeface="Helvetica" pitchFamily="34" charset="0"/>
              </a:rPr>
              <a:t>Comparison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Compare beginning balances for current period to ending balances from prior period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Compare budgeted revenue and expenditures with actual activity for the period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Compare current period activity with prior period activity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Compare current year activity and </a:t>
            </a:r>
            <a:r>
              <a:rPr lang="en-AU" sz="2200" dirty="0">
                <a:latin typeface="Helvetica" pitchFamily="34" charset="0"/>
              </a:rPr>
              <a:t/>
            </a:r>
            <a:br>
              <a:rPr lang="en-AU" sz="2200" dirty="0">
                <a:latin typeface="Helvetica" pitchFamily="34" charset="0"/>
              </a:rPr>
            </a:br>
            <a:r>
              <a:rPr lang="en-AU" sz="2200" dirty="0" smtClean="0">
                <a:latin typeface="Helvetica" pitchFamily="34" charset="0"/>
              </a:rPr>
              <a:t>balances with same-period last year</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6" name="Picture 5" descr="A2 shutterstock_99180761.jpg"/>
          <p:cNvPicPr/>
          <p:nvPr/>
        </p:nvPicPr>
        <p:blipFill>
          <a:blip r:embed="rId3" cstate="print"/>
          <a:stretch>
            <a:fillRect/>
          </a:stretch>
        </p:blipFill>
        <p:spPr>
          <a:xfrm>
            <a:off x="6372200" y="4484565"/>
            <a:ext cx="1990725" cy="13239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Accounting system verification steps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US" sz="2200" b="1" dirty="0" smtClean="0">
                <a:latin typeface="Helvetica" pitchFamily="34" charset="0"/>
              </a:rPr>
              <a:t>Analysis</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This process involves evaluating and interpreting financial information:</a:t>
            </a:r>
          </a:p>
          <a:p>
            <a:pPr lvl="0">
              <a:spcBef>
                <a:spcPts val="600"/>
              </a:spcBef>
              <a:spcAft>
                <a:spcPts val="1200"/>
              </a:spcAft>
            </a:pPr>
            <a:r>
              <a:rPr lang="en-AU" sz="2200" dirty="0" smtClean="0">
                <a:latin typeface="Helvetica" pitchFamily="34" charset="0"/>
              </a:rPr>
              <a:t>Compute variances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Perform trend analysis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Monitor key ratios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Collecting statistical data</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Investigate unusual and significant                                  variances to budget or prior periods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7" name="Picture 6" descr="hv.jpg"/>
          <p:cNvPicPr>
            <a:picLocks noChangeAspect="1"/>
          </p:cNvPicPr>
          <p:nvPr/>
        </p:nvPicPr>
        <p:blipFill>
          <a:blip r:embed="rId3" cstate="print"/>
          <a:stretch>
            <a:fillRect/>
          </a:stretch>
        </p:blipFill>
        <p:spPr>
          <a:xfrm>
            <a:off x="5724128" y="3068960"/>
            <a:ext cx="1829521" cy="177050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Accounting system verification steps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US" sz="2000" b="1" dirty="0" smtClean="0">
                <a:latin typeface="Helvetica" pitchFamily="34" charset="0"/>
              </a:rPr>
              <a:t>Substantiation</a:t>
            </a:r>
            <a:endParaRPr lang="en-US" sz="2000" dirty="0" smtClean="0">
              <a:latin typeface="Helvetica" pitchFamily="34" charset="0"/>
            </a:endParaRPr>
          </a:p>
          <a:p>
            <a:pPr marL="0">
              <a:spcBef>
                <a:spcPts val="600"/>
              </a:spcBef>
              <a:spcAft>
                <a:spcPts val="1200"/>
              </a:spcAft>
              <a:buNone/>
            </a:pPr>
            <a:r>
              <a:rPr lang="en-US" sz="2000" dirty="0" smtClean="0">
                <a:latin typeface="Helvetica" pitchFamily="34" charset="0"/>
              </a:rPr>
              <a:t>The process of corroborating or confirming financial information contained in reports or systems to ensure that the information is accurate and complete:</a:t>
            </a:r>
          </a:p>
          <a:p>
            <a:pPr>
              <a:spcBef>
                <a:spcPts val="600"/>
              </a:spcBef>
              <a:spcAft>
                <a:spcPts val="1200"/>
              </a:spcAft>
            </a:pPr>
            <a:r>
              <a:rPr lang="en-AU" sz="2000" dirty="0" smtClean="0">
                <a:latin typeface="Helvetica" pitchFamily="34" charset="0"/>
              </a:rPr>
              <a:t>Validate calculations</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Compare activity and balances in general ledger to source documents when differences or unexpected results are noted</a:t>
            </a:r>
          </a:p>
          <a:p>
            <a:pPr algn="ctr">
              <a:spcBef>
                <a:spcPts val="600"/>
              </a:spcBef>
              <a:spcAft>
                <a:spcPts val="1200"/>
              </a:spcAft>
              <a:buNone/>
            </a:pPr>
            <a:r>
              <a:rPr lang="en-US" sz="2000" b="1" dirty="0" smtClean="0">
                <a:solidFill>
                  <a:srgbClr val="FF6600"/>
                </a:solidFill>
                <a:latin typeface="Helvetica" pitchFamily="34" charset="0"/>
              </a:rPr>
              <a:t>COMPLETE ACTIVITY 17</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6" name="Picture 5" descr="A8 shutterstock_149513465.jpg"/>
          <p:cNvPicPr/>
          <p:nvPr/>
        </p:nvPicPr>
        <p:blipFill>
          <a:blip r:embed="rId3" cstate="print"/>
          <a:stretch>
            <a:fillRect/>
          </a:stretch>
        </p:blipFill>
        <p:spPr>
          <a:xfrm>
            <a:off x="3707904" y="5085184"/>
            <a:ext cx="1918970" cy="12954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3648" y="1556792"/>
            <a:ext cx="7488832" cy="4680520"/>
          </a:xfrm>
        </p:spPr>
        <p:txBody>
          <a:bodyPr>
            <a:normAutofit/>
          </a:bodyPr>
          <a:lstStyle/>
          <a:p>
            <a:pPr marL="0">
              <a:buNone/>
            </a:pPr>
            <a:r>
              <a:rPr lang="en-AU" sz="4000" b="1" dirty="0" smtClean="0">
                <a:solidFill>
                  <a:srgbClr val="FF6600"/>
                </a:solidFill>
                <a:latin typeface="Helvetica" pitchFamily="34" charset="0"/>
              </a:rPr>
              <a:t>Element 3:</a:t>
            </a:r>
          </a:p>
          <a:p>
            <a:pPr marL="0">
              <a:buNone/>
            </a:pPr>
            <a:r>
              <a:rPr lang="en-US" sz="4000" b="1" i="1" dirty="0">
                <a:solidFill>
                  <a:srgbClr val="FF6600"/>
                </a:solidFill>
                <a:latin typeface="Helvetica" pitchFamily="34" charset="0"/>
              </a:rPr>
              <a:t>Back-up systems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descr="comp 19.png"/>
          <p:cNvPicPr>
            <a:picLocks noChangeAspect="1"/>
          </p:cNvPicPr>
          <p:nvPr/>
        </p:nvPicPr>
        <p:blipFill>
          <a:blip r:embed="rId3" cstate="print"/>
          <a:stretch>
            <a:fillRect/>
          </a:stretch>
        </p:blipFill>
        <p:spPr>
          <a:xfrm>
            <a:off x="1691680" y="3573016"/>
            <a:ext cx="3095625" cy="1476375"/>
          </a:xfrm>
          <a:prstGeom prst="rect">
            <a:avLst/>
          </a:prstGeom>
        </p:spPr>
      </p:pic>
    </p:spTree>
    <p:extLst>
      <p:ext uri="{BB962C8B-B14F-4D97-AF65-F5344CB8AC3E}">
        <p14:creationId xmlns:p14="http://schemas.microsoft.com/office/powerpoint/2010/main" val="204424644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Back-up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Follow system back-up schedules precisely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Verify back-ups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4" descr="comp 5.jpg"/>
          <p:cNvPicPr>
            <a:picLocks noChangeAspect="1"/>
          </p:cNvPicPr>
          <p:nvPr/>
        </p:nvPicPr>
        <p:blipFill>
          <a:blip r:embed="rId3" cstate="print"/>
          <a:stretch>
            <a:fillRect/>
          </a:stretch>
        </p:blipFill>
        <p:spPr>
          <a:xfrm>
            <a:off x="2267744" y="3573016"/>
            <a:ext cx="2666603" cy="1333302"/>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Back-up financial data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backing up financial data</a:t>
            </a:r>
          </a:p>
          <a:p>
            <a:pPr marL="0">
              <a:spcBef>
                <a:spcPts val="600"/>
              </a:spcBef>
              <a:spcAft>
                <a:spcPts val="1200"/>
              </a:spcAft>
              <a:buNone/>
            </a:pPr>
            <a:r>
              <a:rPr lang="en-AU" sz="2200" dirty="0" smtClean="0">
                <a:latin typeface="Helvetica" pitchFamily="34" charset="0"/>
              </a:rPr>
              <a:t>Like with any piece of business information, it is essential that financial information is backed up in a manner that is secure yet easily retrievable.</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In many cases, the loss of data may be detrimental to an organisation:</a:t>
            </a:r>
          </a:p>
          <a:p>
            <a:pPr>
              <a:spcBef>
                <a:spcPts val="600"/>
              </a:spcBef>
              <a:spcAft>
                <a:spcPts val="1200"/>
              </a:spcAft>
            </a:pPr>
            <a:r>
              <a:rPr lang="en-AU" sz="2200" dirty="0" smtClean="0">
                <a:latin typeface="Helvetica" pitchFamily="34" charset="0"/>
              </a:rPr>
              <a:t>How can you do it?</a:t>
            </a:r>
          </a:p>
          <a:p>
            <a:pPr>
              <a:spcBef>
                <a:spcPts val="600"/>
              </a:spcBef>
              <a:spcAft>
                <a:spcPts val="1200"/>
              </a:spcAft>
            </a:pPr>
            <a:r>
              <a:rPr lang="en-AU" sz="2200" dirty="0" smtClean="0">
                <a:latin typeface="Helvetica" pitchFamily="34" charset="0"/>
              </a:rPr>
              <a:t>How often should it be done?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4" descr="comp 33.png"/>
          <p:cNvPicPr>
            <a:picLocks noChangeAspect="1"/>
          </p:cNvPicPr>
          <p:nvPr/>
        </p:nvPicPr>
        <p:blipFill>
          <a:blip r:embed="rId3" cstate="print"/>
          <a:stretch>
            <a:fillRect/>
          </a:stretch>
        </p:blipFill>
        <p:spPr>
          <a:xfrm>
            <a:off x="5216186" y="3717032"/>
            <a:ext cx="1800200" cy="18002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Accounting data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backing up financial data</a:t>
            </a:r>
          </a:p>
          <a:p>
            <a:pPr marL="0">
              <a:spcBef>
                <a:spcPts val="600"/>
              </a:spcBef>
              <a:spcAft>
                <a:spcPts val="1200"/>
              </a:spcAft>
              <a:buNone/>
            </a:pPr>
            <a:r>
              <a:rPr lang="en-AU" sz="2200" dirty="0" smtClean="0">
                <a:latin typeface="Helvetica" pitchFamily="34" charset="0"/>
              </a:rPr>
              <a:t>Accounting data management is the professional discipline and organisational function of managing and maintaining full and accurate accounting data and financial and records:</a:t>
            </a:r>
          </a:p>
          <a:p>
            <a:pPr>
              <a:spcBef>
                <a:spcPts val="600"/>
              </a:spcBef>
              <a:spcAft>
                <a:spcPts val="1200"/>
              </a:spcAft>
            </a:pPr>
            <a:r>
              <a:rPr lang="en-AU" sz="2200" dirty="0" smtClean="0">
                <a:latin typeface="Helvetica" pitchFamily="34" charset="0"/>
              </a:rPr>
              <a:t>Why is this important?</a:t>
            </a:r>
          </a:p>
          <a:p>
            <a:pPr>
              <a:spcBef>
                <a:spcPts val="600"/>
              </a:spcBef>
              <a:spcAft>
                <a:spcPts val="1200"/>
              </a:spcAft>
            </a:pPr>
            <a:r>
              <a:rPr lang="en-AU" sz="2200" dirty="0" smtClean="0">
                <a:latin typeface="Helvetica" pitchFamily="34" charset="0"/>
              </a:rPr>
              <a:t>What are the objectives of an </a:t>
            </a:r>
            <a:br>
              <a:rPr lang="en-AU" sz="2200" dirty="0" smtClean="0">
                <a:latin typeface="Helvetica" pitchFamily="34" charset="0"/>
              </a:rPr>
            </a:br>
            <a:r>
              <a:rPr lang="en-AU" sz="2200" dirty="0" smtClean="0">
                <a:latin typeface="Helvetica" pitchFamily="34" charset="0"/>
              </a:rPr>
              <a:t>accounting data management system?</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6" name="Picture 5" descr="comp 10.jpg"/>
          <p:cNvPicPr>
            <a:picLocks noChangeAspect="1"/>
          </p:cNvPicPr>
          <p:nvPr/>
        </p:nvPicPr>
        <p:blipFill>
          <a:blip r:embed="rId3" cstate="print"/>
          <a:stretch>
            <a:fillRect/>
          </a:stretch>
        </p:blipFill>
        <p:spPr>
          <a:xfrm>
            <a:off x="6228184" y="3284984"/>
            <a:ext cx="1719634" cy="171963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Accounting data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a:spcBef>
                <a:spcPts val="600"/>
              </a:spcBef>
              <a:spcAft>
                <a:spcPts val="1200"/>
              </a:spcAft>
              <a:buNone/>
            </a:pPr>
            <a:r>
              <a:rPr lang="en-AU" sz="2200" b="1" dirty="0" smtClean="0">
                <a:latin typeface="Helvetica" pitchFamily="34" charset="0"/>
              </a:rPr>
              <a:t>Key outcomes of an accounting data management system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All financial data will be managed in accordance with set organisational procedures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All staff understand what constitutes official financial data and records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Financial activities are to be documented                             in the form of records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Any financial data or record can be                                   retrieved easily when requested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7" name="Picture 6" descr="shutterstock_106626425.jpg"/>
          <p:cNvPicPr/>
          <p:nvPr/>
        </p:nvPicPr>
        <p:blipFill>
          <a:blip r:embed="rId3" cstate="print"/>
          <a:stretch>
            <a:fillRect/>
          </a:stretch>
        </p:blipFill>
        <p:spPr>
          <a:xfrm>
            <a:off x="6732240" y="4221088"/>
            <a:ext cx="1704008" cy="127843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Accounting data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a:spcBef>
                <a:spcPts val="600"/>
              </a:spcBef>
              <a:spcAft>
                <a:spcPts val="1200"/>
              </a:spcAft>
              <a:buNone/>
            </a:pPr>
            <a:r>
              <a:rPr lang="en-AU" sz="2200" b="1" dirty="0" smtClean="0">
                <a:latin typeface="Helvetica" pitchFamily="34" charset="0"/>
              </a:rPr>
              <a:t>Key outcomes of an accounting data management system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All financial data must be stored safely and securely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Archived financial data will be managed in accordance with legislative requirements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Intellectual Property is captured, maintained and protected</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18</a:t>
            </a:r>
            <a:endParaRPr lang="en-US" sz="2200" dirty="0" smtClean="0">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descr="A15 shutterstock_173608850[1].JPG"/>
          <p:cNvPicPr>
            <a:picLocks noChangeAspect="1"/>
          </p:cNvPicPr>
          <p:nvPr/>
        </p:nvPicPr>
        <p:blipFill>
          <a:blip r:embed="rId3" cstate="print"/>
          <a:stretch>
            <a:fillRect/>
          </a:stretch>
        </p:blipFill>
        <p:spPr>
          <a:xfrm>
            <a:off x="6228184" y="4437112"/>
            <a:ext cx="2172721" cy="144703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Accounting data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marL="0">
              <a:spcBef>
                <a:spcPts val="600"/>
              </a:spcBef>
              <a:spcAft>
                <a:spcPts val="600"/>
              </a:spcAft>
              <a:buNone/>
            </a:pPr>
            <a:r>
              <a:rPr lang="en-AU" sz="2000" b="1" dirty="0" smtClean="0">
                <a:latin typeface="Helvetica" pitchFamily="34" charset="0"/>
              </a:rPr>
              <a:t>Types of accounting data management policies and procedures</a:t>
            </a:r>
            <a:endParaRPr lang="en-US" sz="2000" b="1" dirty="0" smtClean="0">
              <a:latin typeface="Helvetica" pitchFamily="34" charset="0"/>
            </a:endParaRPr>
          </a:p>
          <a:p>
            <a:pPr lvl="0">
              <a:spcBef>
                <a:spcPts val="600"/>
              </a:spcBef>
              <a:spcAft>
                <a:spcPts val="600"/>
              </a:spcAft>
            </a:pPr>
            <a:r>
              <a:rPr lang="en-AU" sz="2000" dirty="0" smtClean="0">
                <a:latin typeface="Helvetica" pitchFamily="34" charset="0"/>
              </a:rPr>
              <a:t>Administration requirements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Authorised access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Passwords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Internal accounting systems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Authorised use of equipment</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Security</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Confidentiality</a:t>
            </a:r>
            <a:endParaRPr lang="en-US" sz="2000" dirty="0" smtClean="0">
              <a:latin typeface="Helvetica" pitchFamily="34" charset="0"/>
            </a:endParaRPr>
          </a:p>
          <a:p>
            <a:pPr>
              <a:spcBef>
                <a:spcPts val="600"/>
              </a:spcBef>
              <a:spcAft>
                <a:spcPts val="600"/>
              </a:spcAft>
            </a:pPr>
            <a:r>
              <a:rPr lang="en-AU" sz="2000" dirty="0" smtClean="0">
                <a:latin typeface="Helvetica" pitchFamily="34" charset="0"/>
              </a:rPr>
              <a:t>Timing and frequency requirements</a:t>
            </a:r>
          </a:p>
          <a:p>
            <a:pPr>
              <a:spcBef>
                <a:spcPts val="600"/>
              </a:spcBef>
              <a:spcAft>
                <a:spcPts val="600"/>
              </a:spcAft>
            </a:pPr>
            <a:endParaRPr lang="en-US" sz="1000" b="1" dirty="0" smtClean="0">
              <a:solidFill>
                <a:srgbClr val="FF6600"/>
              </a:solidFill>
              <a:latin typeface="Helvetica" pitchFamily="34" charset="0"/>
            </a:endParaRPr>
          </a:p>
          <a:p>
            <a:pPr>
              <a:spcBef>
                <a:spcPts val="600"/>
              </a:spcBef>
              <a:spcAft>
                <a:spcPts val="600"/>
              </a:spcAft>
              <a:buNone/>
            </a:pPr>
            <a:r>
              <a:rPr lang="en-US" sz="2000" b="1" dirty="0" smtClean="0">
                <a:solidFill>
                  <a:srgbClr val="FF6600"/>
                </a:solidFill>
                <a:latin typeface="Helvetica" pitchFamily="34" charset="0"/>
              </a:rPr>
              <a:t>COMPLETE ACTIVITY 19</a:t>
            </a:r>
            <a:endParaRPr lang="en-US" sz="2000" dirty="0" smtClean="0">
              <a:latin typeface="Helvetica" pitchFamily="34" charset="0"/>
            </a:endParaRPr>
          </a:p>
          <a:p>
            <a:pPr lvl="0">
              <a:spcBef>
                <a:spcPts val="600"/>
              </a:spcBef>
              <a:spcAft>
                <a:spcPts val="1200"/>
              </a:spcAft>
              <a:buNone/>
            </a:pP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6" name="Picture 5" descr="A16 shutterstock_173793329.jpg"/>
          <p:cNvPicPr/>
          <p:nvPr/>
        </p:nvPicPr>
        <p:blipFill>
          <a:blip r:embed="rId3" cstate="print"/>
          <a:stretch>
            <a:fillRect/>
          </a:stretch>
        </p:blipFill>
        <p:spPr>
          <a:xfrm rot="744299">
            <a:off x="5598064" y="2907224"/>
            <a:ext cx="1920240" cy="12001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Storing and back-up of financial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846640" cy="5157192"/>
          </a:xfrm>
        </p:spPr>
        <p:txBody>
          <a:bodyPr>
            <a:normAutofit/>
          </a:bodyPr>
          <a:lstStyle/>
          <a:p>
            <a:pPr marL="0">
              <a:spcBef>
                <a:spcPts val="600"/>
              </a:spcBef>
              <a:spcAft>
                <a:spcPts val="1200"/>
              </a:spcAft>
              <a:buNone/>
            </a:pPr>
            <a:r>
              <a:rPr lang="en-AU" sz="2200" b="1" dirty="0" smtClean="0">
                <a:latin typeface="Helvetica" pitchFamily="34" charset="0"/>
              </a:rPr>
              <a:t>Considerations when selecting an accounting storage and back-up systems</a:t>
            </a:r>
            <a:endParaRPr lang="en-US" sz="2200" b="1" dirty="0" smtClean="0">
              <a:latin typeface="Helvetica" pitchFamily="34" charset="0"/>
            </a:endParaRPr>
          </a:p>
          <a:p>
            <a:pPr>
              <a:spcBef>
                <a:spcPts val="600"/>
              </a:spcBef>
              <a:spcAft>
                <a:spcPts val="1200"/>
              </a:spcAft>
              <a:buNone/>
            </a:pPr>
            <a:r>
              <a:rPr lang="en-US" sz="2200" dirty="0" smtClean="0">
                <a:latin typeface="Helvetica" pitchFamily="34" charset="0"/>
              </a:rPr>
              <a:t>Selection factors include:</a:t>
            </a:r>
          </a:p>
          <a:p>
            <a:pPr lvl="0">
              <a:spcBef>
                <a:spcPts val="600"/>
              </a:spcBef>
              <a:spcAft>
                <a:spcPts val="1200"/>
              </a:spcAft>
            </a:pPr>
            <a:r>
              <a:rPr lang="en-AU" sz="2200" dirty="0" smtClean="0">
                <a:latin typeface="Helvetica" pitchFamily="34" charset="0"/>
              </a:rPr>
              <a:t>Amount of accounting data to backed up</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Accessibility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Ease of performing regular backups</a:t>
            </a:r>
            <a:endParaRPr lang="en-US" sz="2200" dirty="0" smtClean="0">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7" name="Picture 6" descr="W415_finance_shutterstock_159818948.jpg"/>
          <p:cNvPicPr/>
          <p:nvPr/>
        </p:nvPicPr>
        <p:blipFill>
          <a:blip r:embed="rId3" cstate="print"/>
          <a:stretch>
            <a:fillRect/>
          </a:stretch>
        </p:blipFill>
        <p:spPr>
          <a:xfrm>
            <a:off x="6444208" y="4064111"/>
            <a:ext cx="1956048" cy="132206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Storing financial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Storing accounting data</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It takes lots of time, money and effort to enter accounting data and that information must be safeguarded:</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Why is storage important?</a:t>
            </a:r>
          </a:p>
          <a:p>
            <a:pPr lvl="0">
              <a:spcBef>
                <a:spcPts val="600"/>
              </a:spcBef>
              <a:spcAft>
                <a:spcPts val="1200"/>
              </a:spcAft>
            </a:pPr>
            <a:r>
              <a:rPr lang="en-US" sz="2200" dirty="0" smtClean="0">
                <a:latin typeface="Helvetica" pitchFamily="34" charset="0"/>
              </a:rPr>
              <a:t>How can you store financial information?</a:t>
            </a: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6" name="Picture 5" descr="shutterstock_100804075.jpg"/>
          <p:cNvPicPr/>
          <p:nvPr/>
        </p:nvPicPr>
        <p:blipFill>
          <a:blip r:embed="rId3" cstate="print"/>
          <a:stretch>
            <a:fillRect/>
          </a:stretch>
        </p:blipFill>
        <p:spPr>
          <a:xfrm>
            <a:off x="2555776" y="4221088"/>
            <a:ext cx="2160240" cy="144016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Storing financial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Methods to store accounting data</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Storage in accounting software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Filing of source and paper-based financial information</a:t>
            </a:r>
          </a:p>
          <a:p>
            <a:pPr>
              <a:spcBef>
                <a:spcPts val="600"/>
              </a:spcBef>
              <a:spcAft>
                <a:spcPts val="1200"/>
              </a:spcAft>
            </a:pPr>
            <a:r>
              <a:rPr lang="en-AU" sz="2200" dirty="0" smtClean="0">
                <a:latin typeface="Helvetica" pitchFamily="34" charset="0"/>
              </a:rPr>
              <a:t>Storage in directories and sub-directories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Storage on hard drives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Storage on networked computers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Appropriate filing and storage of hard copies                              of computer-generated documents</a:t>
            </a:r>
            <a:endParaRPr lang="en-US" sz="2200" dirty="0" smtClean="0">
              <a:latin typeface="Helvetica" pitchFamily="34" charset="0"/>
            </a:endParaRPr>
          </a:p>
          <a:p>
            <a:endParaRPr lang="en-US" sz="2400" dirty="0" smtClean="0"/>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7" name="Picture 6" descr="comp 31.png"/>
          <p:cNvPicPr/>
          <p:nvPr/>
        </p:nvPicPr>
        <p:blipFill>
          <a:blip r:embed="rId3" cstate="print"/>
          <a:stretch>
            <a:fillRect/>
          </a:stretch>
        </p:blipFill>
        <p:spPr>
          <a:xfrm>
            <a:off x="6568533" y="3284984"/>
            <a:ext cx="1729567" cy="129614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Back-up of financial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Perform regular backups of accounting data</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Why is this important?</a:t>
            </a:r>
          </a:p>
          <a:p>
            <a:pPr>
              <a:spcBef>
                <a:spcPts val="600"/>
              </a:spcBef>
              <a:spcAft>
                <a:spcPts val="1200"/>
              </a:spcAft>
            </a:pPr>
            <a:r>
              <a:rPr lang="en-US" sz="2200" dirty="0" smtClean="0">
                <a:latin typeface="Helvetica" pitchFamily="34" charset="0"/>
              </a:rPr>
              <a:t>What back-up considerations would you have?</a:t>
            </a:r>
          </a:p>
          <a:p>
            <a:pPr>
              <a:spcBef>
                <a:spcPts val="600"/>
              </a:spcBef>
              <a:spcAft>
                <a:spcPts val="1200"/>
              </a:spcAft>
            </a:pPr>
            <a:r>
              <a:rPr lang="en-US" sz="2200" dirty="0" smtClean="0">
                <a:latin typeface="Helvetica" pitchFamily="34" charset="0"/>
              </a:rPr>
              <a:t>How can you do it?</a:t>
            </a:r>
          </a:p>
          <a:p>
            <a:endParaRPr lang="en-US" sz="2400" dirty="0" smtClean="0"/>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6" name="Picture 5" descr="comp 15.png"/>
          <p:cNvPicPr>
            <a:picLocks noChangeAspect="1"/>
          </p:cNvPicPr>
          <p:nvPr/>
        </p:nvPicPr>
        <p:blipFill>
          <a:blip r:embed="rId3" cstate="print"/>
          <a:stretch>
            <a:fillRect/>
          </a:stretch>
        </p:blipFill>
        <p:spPr>
          <a:xfrm>
            <a:off x="2411760" y="4005064"/>
            <a:ext cx="2119420" cy="156723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Back-up of financial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Back-up considerations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Considerations when backing up accounting data includes: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Storing back-ups in secure and designated locations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Ensuring accessibility of backed-up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Protecting integrity of system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Complying with internal audit requirements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Complying with internal security requirements</a:t>
            </a:r>
            <a:endParaRPr lang="en-US" sz="2200" dirty="0" smtClean="0">
              <a:latin typeface="Helvetica" pitchFamily="34" charset="0"/>
            </a:endParaRPr>
          </a:p>
          <a:p>
            <a:endParaRPr lang="en-US" sz="2400" dirty="0" smtClean="0"/>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 name="Picture 4" descr="comp 32.jpg"/>
          <p:cNvPicPr/>
          <p:nvPr/>
        </p:nvPicPr>
        <p:blipFill>
          <a:blip r:embed="rId3" cstate="print"/>
          <a:stretch>
            <a:fillRect/>
          </a:stretch>
        </p:blipFill>
        <p:spPr>
          <a:xfrm>
            <a:off x="6692100" y="3573016"/>
            <a:ext cx="1512168" cy="124844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Back-up of financial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Methods to back up data</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Off-site storage of hard-copy documents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Online storage services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Consolidate data on different PC's to one centralised point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External hard drives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Using backup software </a:t>
            </a:r>
            <a:endParaRPr lang="en-US" sz="2200" dirty="0" smtClean="0">
              <a:latin typeface="Helvetica" pitchFamily="34" charset="0"/>
            </a:endParaRPr>
          </a:p>
          <a:p>
            <a:pPr>
              <a:buNone/>
            </a:pPr>
            <a:endParaRPr lang="en-US" sz="2400" dirty="0" smtClean="0"/>
          </a:p>
          <a:p>
            <a:pPr>
              <a:buNone/>
            </a:pPr>
            <a:r>
              <a:rPr lang="en-US" sz="2400" b="1" dirty="0" smtClean="0">
                <a:solidFill>
                  <a:srgbClr val="FF6600"/>
                </a:solidFill>
                <a:latin typeface="Helvetica" pitchFamily="34" charset="0"/>
              </a:rPr>
              <a:t>COMPLETE ACTIVITY 20</a:t>
            </a:r>
            <a:endParaRPr lang="en-US" sz="2400" dirty="0" smtClean="0">
              <a:latin typeface="Helvetica" pitchFamily="34" charset="0"/>
            </a:endParaRPr>
          </a:p>
          <a:p>
            <a:pPr>
              <a:buNone/>
            </a:pPr>
            <a:endParaRPr lang="en-US" sz="2400" dirty="0" smtClean="0"/>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6" name="Picture 5" descr="comp 33.png"/>
          <p:cNvPicPr/>
          <p:nvPr/>
        </p:nvPicPr>
        <p:blipFill>
          <a:blip r:embed="rId3" cstate="print"/>
          <a:stretch>
            <a:fillRect/>
          </a:stretch>
        </p:blipFill>
        <p:spPr>
          <a:xfrm>
            <a:off x="5220072" y="3717032"/>
            <a:ext cx="1695624" cy="155160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96752"/>
            <a:ext cx="8280920" cy="5040560"/>
          </a:xfrm>
        </p:spPr>
        <p:txBody>
          <a:bodyPr>
            <a:normAutofit/>
          </a:bodyPr>
          <a:lstStyle/>
          <a:p>
            <a:pPr marL="0">
              <a:buNone/>
            </a:pPr>
            <a:r>
              <a:rPr lang="en-AU" sz="4000" b="1" dirty="0" smtClean="0">
                <a:solidFill>
                  <a:srgbClr val="FF6600"/>
                </a:solidFill>
                <a:latin typeface="Helvetica" pitchFamily="34" charset="0"/>
              </a:rPr>
              <a:t>Element 4:</a:t>
            </a:r>
          </a:p>
          <a:p>
            <a:pPr marL="0">
              <a:buNone/>
            </a:pPr>
            <a:r>
              <a:rPr lang="en-US" sz="4000" b="1" i="1" dirty="0">
                <a:solidFill>
                  <a:srgbClr val="FF6600"/>
                </a:solidFill>
                <a:latin typeface="Helvetica" pitchFamily="34" charset="0"/>
              </a:rPr>
              <a:t>Monitor and review integrity of financial systems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6" name="Picture 5" descr="lc.jpg"/>
          <p:cNvPicPr>
            <a:picLocks noChangeAspect="1"/>
          </p:cNvPicPr>
          <p:nvPr/>
        </p:nvPicPr>
        <p:blipFill>
          <a:blip r:embed="rId3" cstate="print"/>
          <a:stretch>
            <a:fillRect/>
          </a:stretch>
        </p:blipFill>
        <p:spPr>
          <a:xfrm>
            <a:off x="2771800" y="3501008"/>
            <a:ext cx="2592288" cy="22121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04424644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Monitor and review integrity of financial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846640" cy="4680520"/>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Establish processes to regularly monitor financial systems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 variations from organisational policies and procedures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Assess variations from organisational </a:t>
            </a:r>
            <a:br>
              <a:rPr lang="en-AU" sz="2200" dirty="0" smtClean="0">
                <a:latin typeface="Helvetica" pitchFamily="34" charset="0"/>
              </a:rPr>
            </a:br>
            <a:r>
              <a:rPr lang="en-AU" sz="2200" dirty="0" smtClean="0">
                <a:latin typeface="Helvetica" pitchFamily="34" charset="0"/>
              </a:rPr>
              <a:t>policies and procedures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Encourage user feedback</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4" descr="1l.jpg"/>
          <p:cNvPicPr>
            <a:picLocks noChangeAspect="1"/>
          </p:cNvPicPr>
          <p:nvPr/>
        </p:nvPicPr>
        <p:blipFill>
          <a:blip r:embed="rId3" cstate="print"/>
          <a:stretch>
            <a:fillRect/>
          </a:stretch>
        </p:blipFill>
        <p:spPr>
          <a:xfrm>
            <a:off x="5940152" y="3428999"/>
            <a:ext cx="1489154" cy="1965119"/>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Establishing financial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Purpose of a financial system</a:t>
            </a:r>
          </a:p>
          <a:p>
            <a:pPr>
              <a:spcBef>
                <a:spcPts val="600"/>
              </a:spcBef>
              <a:spcAft>
                <a:spcPts val="1200"/>
              </a:spcAft>
            </a:pPr>
            <a:r>
              <a:rPr lang="en-AU" sz="2200" dirty="0" smtClean="0">
                <a:latin typeface="Helvetica" pitchFamily="34" charset="0"/>
              </a:rPr>
              <a:t>The accounting or financial system involves the collection of source documents, records, procedures, management policies and data processing methods used to transform data from activities and events into financial information that can be relied upon for management decision-making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4" descr="shutterstock_81596125.jpg"/>
          <p:cNvPicPr/>
          <p:nvPr/>
        </p:nvPicPr>
        <p:blipFill>
          <a:blip r:embed="rId3" cstate="print"/>
          <a:stretch>
            <a:fillRect/>
          </a:stretch>
        </p:blipFill>
        <p:spPr>
          <a:xfrm>
            <a:off x="3298875" y="4077072"/>
            <a:ext cx="2232248" cy="165618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Establishing financial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600"/>
              </a:spcAft>
              <a:buNone/>
            </a:pPr>
            <a:r>
              <a:rPr lang="en-AU" sz="2200" b="1" dirty="0" smtClean="0">
                <a:latin typeface="Helvetica" pitchFamily="34" charset="0"/>
              </a:rPr>
              <a:t>Key financial system processes</a:t>
            </a:r>
          </a:p>
          <a:p>
            <a:pPr lvl="0">
              <a:spcBef>
                <a:spcPts val="600"/>
              </a:spcBef>
              <a:spcAft>
                <a:spcPts val="600"/>
              </a:spcAft>
            </a:pPr>
            <a:r>
              <a:rPr lang="en-AU" sz="2200" dirty="0" smtClean="0">
                <a:latin typeface="Helvetica" pitchFamily="34" charset="0"/>
              </a:rPr>
              <a:t>Book-keeping </a:t>
            </a:r>
            <a:r>
              <a:rPr lang="en-US" sz="2200" dirty="0" smtClean="0">
                <a:latin typeface="Helvetica" pitchFamily="34" charset="0"/>
              </a:rPr>
              <a:t>– </a:t>
            </a:r>
            <a:r>
              <a:rPr lang="en-AU" sz="2200" dirty="0" smtClean="0">
                <a:latin typeface="Helvetica" pitchFamily="34" charset="0"/>
              </a:rPr>
              <a:t>recording daily financial data</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Reporting </a:t>
            </a:r>
            <a:r>
              <a:rPr lang="en-US" sz="2200" dirty="0" smtClean="0">
                <a:latin typeface="Helvetica" pitchFamily="34" charset="0"/>
              </a:rPr>
              <a:t>– </a:t>
            </a:r>
            <a:r>
              <a:rPr lang="en-AU" sz="2200" dirty="0" smtClean="0">
                <a:latin typeface="Helvetica" pitchFamily="34" charset="0"/>
              </a:rPr>
              <a:t>using book-keeping records to produce Statements of Financial Performance, Financial Position and Cash Flows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Analysing and interpreting the reports so </a:t>
            </a:r>
            <a:br>
              <a:rPr lang="en-AU" sz="2200" dirty="0" smtClean="0">
                <a:latin typeface="Helvetica" pitchFamily="34" charset="0"/>
              </a:rPr>
            </a:br>
            <a:r>
              <a:rPr lang="en-AU" sz="2200" dirty="0" smtClean="0">
                <a:latin typeface="Helvetica" pitchFamily="34" charset="0"/>
              </a:rPr>
              <a:t>as to identify and overcome problems, </a:t>
            </a:r>
            <a:br>
              <a:rPr lang="en-AU" sz="2200" dirty="0" smtClean="0">
                <a:latin typeface="Helvetica" pitchFamily="34" charset="0"/>
              </a:rPr>
            </a:br>
            <a:r>
              <a:rPr lang="en-AU" sz="2200" dirty="0" smtClean="0">
                <a:latin typeface="Helvetica" pitchFamily="34" charset="0"/>
              </a:rPr>
              <a:t>and effectively plan and control the </a:t>
            </a:r>
            <a:br>
              <a:rPr lang="en-AU" sz="2200" dirty="0" smtClean="0">
                <a:latin typeface="Helvetica" pitchFamily="34" charset="0"/>
              </a:rPr>
            </a:br>
            <a:r>
              <a:rPr lang="en-AU" sz="2200" dirty="0" smtClean="0">
                <a:latin typeface="Helvetica" pitchFamily="34" charset="0"/>
              </a:rPr>
              <a:t>operations of the business in the future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6" name="Picture 5" descr="14.jpg"/>
          <p:cNvPicPr>
            <a:picLocks noChangeAspect="1"/>
          </p:cNvPicPr>
          <p:nvPr/>
        </p:nvPicPr>
        <p:blipFill>
          <a:blip r:embed="rId3" cstate="print"/>
          <a:stretch>
            <a:fillRect/>
          </a:stretch>
        </p:blipFill>
        <p:spPr>
          <a:xfrm>
            <a:off x="6498657" y="4077072"/>
            <a:ext cx="1926845" cy="14481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Establishing financial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lvl="0">
              <a:spcBef>
                <a:spcPts val="600"/>
              </a:spcBef>
              <a:spcAft>
                <a:spcPts val="1200"/>
              </a:spcAft>
              <a:buNone/>
            </a:pPr>
            <a:r>
              <a:rPr lang="en-AU" sz="2200" b="1" dirty="0" smtClean="0">
                <a:latin typeface="Helvetica" pitchFamily="34" charset="0"/>
              </a:rPr>
              <a:t>Areas financial systems monitor and control</a:t>
            </a:r>
          </a:p>
          <a:p>
            <a:pPr lvl="0">
              <a:spcBef>
                <a:spcPts val="600"/>
              </a:spcBef>
              <a:spcAft>
                <a:spcPts val="1200"/>
              </a:spcAft>
            </a:pPr>
            <a:r>
              <a:rPr lang="en-AU" sz="2200" dirty="0" smtClean="0">
                <a:latin typeface="Helvetica" pitchFamily="34" charset="0"/>
              </a:rPr>
              <a:t>Sales, costs and profit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Internal control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Pricing decisions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Cash flow</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a:t>
            </a:r>
            <a:r>
              <a:rPr lang="en-US" sz="2200" dirty="0" smtClean="0">
                <a:latin typeface="Helvetica" pitchFamily="34" charset="0"/>
              </a:rPr>
              <a:t>r</a:t>
            </a:r>
            <a:r>
              <a:rPr lang="en-AU" sz="2200" dirty="0" smtClean="0">
                <a:latin typeface="Helvetica" pitchFamily="34" charset="0"/>
              </a:rPr>
              <a:t>formance compared with budget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Stability – short term and long term</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7" name="Picture 6" descr="5.jpg"/>
          <p:cNvPicPr>
            <a:picLocks noChangeAspect="1"/>
          </p:cNvPicPr>
          <p:nvPr/>
        </p:nvPicPr>
        <p:blipFill>
          <a:blip r:embed="rId3" cstate="print"/>
          <a:stretch>
            <a:fillRect/>
          </a:stretch>
        </p:blipFill>
        <p:spPr>
          <a:xfrm>
            <a:off x="6372200" y="4221088"/>
            <a:ext cx="2023864" cy="1350663"/>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Establishing financial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600"/>
              </a:spcAft>
              <a:buNone/>
            </a:pPr>
            <a:r>
              <a:rPr lang="en-US" sz="2200" b="1" dirty="0" smtClean="0">
                <a:latin typeface="Helvetica" pitchFamily="34" charset="0"/>
              </a:rPr>
              <a:t>Business units using financial systems</a:t>
            </a:r>
            <a:endParaRPr lang="en-US" sz="2200" dirty="0" smtClean="0">
              <a:latin typeface="Helvetica" pitchFamily="34" charset="0"/>
            </a:endParaRPr>
          </a:p>
          <a:p>
            <a:pPr lvl="0">
              <a:spcBef>
                <a:spcPts val="600"/>
              </a:spcBef>
              <a:spcAft>
                <a:spcPts val="600"/>
              </a:spcAft>
            </a:pPr>
            <a:r>
              <a:rPr lang="en-US" sz="2200" dirty="0" smtClean="0">
                <a:latin typeface="Helvetica" pitchFamily="34" charset="0"/>
              </a:rPr>
              <a:t>Outlets</a:t>
            </a:r>
          </a:p>
          <a:p>
            <a:pPr lvl="0">
              <a:spcBef>
                <a:spcPts val="600"/>
              </a:spcBef>
              <a:spcAft>
                <a:spcPts val="600"/>
              </a:spcAft>
            </a:pPr>
            <a:r>
              <a:rPr lang="en-US" sz="2200" dirty="0" smtClean="0">
                <a:latin typeface="Helvetica" pitchFamily="34" charset="0"/>
              </a:rPr>
              <a:t>Geographical offices</a:t>
            </a:r>
          </a:p>
          <a:p>
            <a:pPr lvl="0">
              <a:spcBef>
                <a:spcPts val="600"/>
              </a:spcBef>
              <a:spcAft>
                <a:spcPts val="600"/>
              </a:spcAft>
            </a:pPr>
            <a:r>
              <a:rPr lang="en-US" sz="2200" dirty="0" smtClean="0">
                <a:latin typeface="Helvetica" pitchFamily="34" charset="0"/>
              </a:rPr>
              <a:t>Specific sales related areas</a:t>
            </a:r>
          </a:p>
          <a:p>
            <a:pPr lvl="0">
              <a:spcBef>
                <a:spcPts val="600"/>
              </a:spcBef>
              <a:spcAft>
                <a:spcPts val="600"/>
              </a:spcAft>
            </a:pPr>
            <a:r>
              <a:rPr lang="en-US" sz="2200" dirty="0" smtClean="0">
                <a:latin typeface="Helvetica" pitchFamily="34" charset="0"/>
              </a:rPr>
              <a:t>Types of customers / market segments</a:t>
            </a:r>
          </a:p>
          <a:p>
            <a:pPr lvl="0">
              <a:spcBef>
                <a:spcPts val="600"/>
              </a:spcBef>
              <a:spcAft>
                <a:spcPts val="600"/>
              </a:spcAft>
            </a:pPr>
            <a:r>
              <a:rPr lang="en-US" sz="2200" dirty="0" smtClean="0">
                <a:latin typeface="Helvetica" pitchFamily="34" charset="0"/>
              </a:rPr>
              <a:t>Accounting</a:t>
            </a:r>
          </a:p>
          <a:p>
            <a:pPr lvl="0">
              <a:spcBef>
                <a:spcPts val="600"/>
              </a:spcBef>
              <a:spcAft>
                <a:spcPts val="600"/>
              </a:spcAft>
            </a:pPr>
            <a:r>
              <a:rPr lang="en-US" sz="2200" dirty="0" smtClean="0">
                <a:latin typeface="Helvetica" pitchFamily="34" charset="0"/>
              </a:rPr>
              <a:t>Production</a:t>
            </a:r>
          </a:p>
          <a:p>
            <a:pPr lvl="0">
              <a:spcBef>
                <a:spcPts val="600"/>
              </a:spcBef>
              <a:spcAft>
                <a:spcPts val="600"/>
              </a:spcAft>
            </a:pPr>
            <a:r>
              <a:rPr lang="en-US" sz="2200" dirty="0" smtClean="0">
                <a:latin typeface="Helvetica" pitchFamily="34" charset="0"/>
              </a:rPr>
              <a:t>Marketing</a:t>
            </a:r>
          </a:p>
          <a:p>
            <a:pPr lvl="0">
              <a:spcBef>
                <a:spcPts val="600"/>
              </a:spcBef>
              <a:spcAft>
                <a:spcPts val="600"/>
              </a:spcAft>
            </a:pPr>
            <a:r>
              <a:rPr lang="en-US" sz="2200" dirty="0" smtClean="0">
                <a:latin typeface="Helvetica" pitchFamily="34" charset="0"/>
              </a:rPr>
              <a:t>Human resources</a:t>
            </a:r>
          </a:p>
          <a:p>
            <a:pPr lvl="0">
              <a:spcBef>
                <a:spcPts val="600"/>
              </a:spcBef>
              <a:spcAft>
                <a:spcPts val="600"/>
              </a:spcAft>
            </a:pPr>
            <a:r>
              <a:rPr lang="en-US" sz="2200" dirty="0" smtClean="0">
                <a:latin typeface="Helvetica" pitchFamily="34" charset="0"/>
              </a:rPr>
              <a:t>Sales and marketing</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7" name="Picture 6" descr="W248_customer_service_1_shutterstock_136084034.jpg"/>
          <p:cNvPicPr/>
          <p:nvPr/>
        </p:nvPicPr>
        <p:blipFill>
          <a:blip r:embed="rId3" cstate="print"/>
          <a:stretch>
            <a:fillRect/>
          </a:stretch>
        </p:blipFill>
        <p:spPr>
          <a:xfrm>
            <a:off x="6516216" y="4098118"/>
            <a:ext cx="1846957" cy="1326257"/>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Establishing financial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040560"/>
          </a:xfrm>
        </p:spPr>
        <p:txBody>
          <a:bodyPr>
            <a:normAutofit lnSpcReduction="10000"/>
          </a:bodyPr>
          <a:lstStyle/>
          <a:p>
            <a:pPr>
              <a:spcBef>
                <a:spcPts val="600"/>
              </a:spcBef>
              <a:spcAft>
                <a:spcPts val="1200"/>
              </a:spcAft>
              <a:buNone/>
            </a:pPr>
            <a:r>
              <a:rPr lang="en-US" sz="2200" b="1" dirty="0" smtClean="0">
                <a:latin typeface="Helvetica" pitchFamily="34" charset="0"/>
              </a:rPr>
              <a:t>Compliance requirements of financial systems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every organisation is different, compliance requirements include, but not limited to:</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Organisational policies and procedures</a:t>
            </a:r>
          </a:p>
          <a:p>
            <a:pPr lvl="0">
              <a:spcBef>
                <a:spcPts val="600"/>
              </a:spcBef>
              <a:spcAft>
                <a:spcPts val="1200"/>
              </a:spcAft>
            </a:pPr>
            <a:r>
              <a:rPr lang="en-US" sz="2200" dirty="0" smtClean="0">
                <a:latin typeface="Helvetica" pitchFamily="34" charset="0"/>
              </a:rPr>
              <a:t>Authority levels</a:t>
            </a:r>
          </a:p>
          <a:p>
            <a:pPr lvl="0">
              <a:spcBef>
                <a:spcPts val="600"/>
              </a:spcBef>
              <a:spcAft>
                <a:spcPts val="1200"/>
              </a:spcAft>
            </a:pPr>
            <a:r>
              <a:rPr lang="en-US" sz="2200" dirty="0" smtClean="0">
                <a:latin typeface="Helvetica" pitchFamily="34" charset="0"/>
              </a:rPr>
              <a:t>Classification systems</a:t>
            </a:r>
          </a:p>
          <a:p>
            <a:pPr lvl="0">
              <a:spcBef>
                <a:spcPts val="600"/>
              </a:spcBef>
              <a:spcAft>
                <a:spcPts val="1200"/>
              </a:spcAft>
            </a:pPr>
            <a:r>
              <a:rPr lang="en-US" sz="2200" dirty="0" smtClean="0">
                <a:latin typeface="Helvetica" pitchFamily="34" charset="0"/>
              </a:rPr>
              <a:t>Cost centre definitions</a:t>
            </a:r>
          </a:p>
          <a:p>
            <a:pPr lvl="0">
              <a:spcBef>
                <a:spcPts val="600"/>
              </a:spcBef>
              <a:spcAft>
                <a:spcPts val="1200"/>
              </a:spcAft>
            </a:pPr>
            <a:r>
              <a:rPr lang="en-US" sz="2200" dirty="0" smtClean="0">
                <a:latin typeface="Helvetica" pitchFamily="34" charset="0"/>
              </a:rPr>
              <a:t>New expenditure accounts</a:t>
            </a:r>
          </a:p>
          <a:p>
            <a:pPr lvl="0">
              <a:spcBef>
                <a:spcPts val="600"/>
              </a:spcBef>
              <a:spcAft>
                <a:spcPts val="1200"/>
              </a:spcAft>
            </a:pPr>
            <a:r>
              <a:rPr lang="en-US" sz="2200" dirty="0" smtClean="0">
                <a:latin typeface="Helvetica" pitchFamily="34" charset="0"/>
              </a:rPr>
              <a:t>Reinsurance returns</a:t>
            </a:r>
          </a:p>
          <a:p>
            <a:pPr lvl="0">
              <a:spcBef>
                <a:spcPts val="600"/>
              </a:spcBef>
              <a:spcAft>
                <a:spcPts val="1200"/>
              </a:spcAft>
            </a:pPr>
            <a:r>
              <a:rPr lang="en-US" sz="2200" dirty="0" smtClean="0">
                <a:latin typeface="Helvetica" pitchFamily="34" charset="0"/>
              </a:rPr>
              <a:t>Audit trails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6" name="Picture 5" descr="W401_shutterstock_155252273.jpg"/>
          <p:cNvPicPr/>
          <p:nvPr/>
        </p:nvPicPr>
        <p:blipFill>
          <a:blip r:embed="rId3" cstate="print"/>
          <a:stretch>
            <a:fillRect/>
          </a:stretch>
        </p:blipFill>
        <p:spPr>
          <a:xfrm>
            <a:off x="6228184" y="4194401"/>
            <a:ext cx="2160240" cy="144016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Establishing financial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040560"/>
          </a:xfrm>
        </p:spPr>
        <p:txBody>
          <a:bodyPr>
            <a:normAutofit/>
          </a:bodyPr>
          <a:lstStyle/>
          <a:p>
            <a:pPr>
              <a:spcBef>
                <a:spcPts val="600"/>
              </a:spcBef>
              <a:spcAft>
                <a:spcPts val="1200"/>
              </a:spcAft>
              <a:buNone/>
            </a:pPr>
            <a:r>
              <a:rPr lang="en-AU" sz="2200" b="1" dirty="0" smtClean="0">
                <a:latin typeface="Helvetica" pitchFamily="34" charset="0"/>
              </a:rPr>
              <a:t>Internal control systems </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Safeguard its assets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Promote efficient operations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Maintain accurate and reliable accounting records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Encourage and promote compliance with business policies and government regulations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Management responsibilities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 need for controls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7" name="Picture 6" descr="shutterstock_115609774.jpg"/>
          <p:cNvPicPr/>
          <p:nvPr/>
        </p:nvPicPr>
        <p:blipFill>
          <a:blip r:embed="rId3" cstate="print"/>
          <a:stretch>
            <a:fillRect/>
          </a:stretch>
        </p:blipFill>
        <p:spPr>
          <a:xfrm>
            <a:off x="6660232" y="4402334"/>
            <a:ext cx="1743075" cy="13049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Establishing financial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040560"/>
          </a:xfrm>
        </p:spPr>
        <p:txBody>
          <a:bodyPr>
            <a:normAutofit/>
          </a:bodyPr>
          <a:lstStyle/>
          <a:p>
            <a:pPr>
              <a:spcBef>
                <a:spcPts val="600"/>
              </a:spcBef>
              <a:spcAft>
                <a:spcPts val="1200"/>
              </a:spcAft>
              <a:buNone/>
            </a:pPr>
            <a:r>
              <a:rPr lang="en-AU" sz="2200" b="1" dirty="0" smtClean="0">
                <a:latin typeface="Helvetica" pitchFamily="34" charset="0"/>
              </a:rPr>
              <a:t>Structure of the internal control system</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Administrative controls</a:t>
            </a:r>
          </a:p>
          <a:p>
            <a:pPr>
              <a:spcBef>
                <a:spcPts val="600"/>
              </a:spcBef>
              <a:spcAft>
                <a:spcPts val="1200"/>
              </a:spcAft>
            </a:pPr>
            <a:r>
              <a:rPr lang="en-AU" sz="2200" dirty="0" smtClean="0">
                <a:latin typeface="Helvetica" pitchFamily="34" charset="0"/>
              </a:rPr>
              <a:t>Accounting controls</a:t>
            </a:r>
            <a:endParaRPr lang="en-US" sz="2200" i="1" dirty="0" smtClean="0">
              <a:latin typeface="Helvetica" pitchFamily="34" charset="0"/>
            </a:endParaRPr>
          </a:p>
          <a:p>
            <a:endParaRPr lang="en-AU" sz="2400" b="1" dirty="0" smtClean="0"/>
          </a:p>
          <a:p>
            <a:pPr>
              <a:buNone/>
            </a:pPr>
            <a:endParaRPr lang="en-US" sz="2400" b="1" i="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6" name="Picture 5" descr="8.jpg"/>
          <p:cNvPicPr>
            <a:picLocks noChangeAspect="1"/>
          </p:cNvPicPr>
          <p:nvPr/>
        </p:nvPicPr>
        <p:blipFill>
          <a:blip r:embed="rId3" cstate="print"/>
          <a:stretch>
            <a:fillRect/>
          </a:stretch>
        </p:blipFill>
        <p:spPr>
          <a:xfrm>
            <a:off x="1259632" y="3284984"/>
            <a:ext cx="2203089" cy="147027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Establishing financial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000" b="1" dirty="0" smtClean="0">
                <a:latin typeface="Helvetica" pitchFamily="34" charset="0"/>
              </a:rPr>
              <a:t>Principles of internal control systems</a:t>
            </a:r>
            <a:endParaRPr lang="en-US" sz="2000" b="1" dirty="0" smtClean="0">
              <a:latin typeface="Helvetica" pitchFamily="34" charset="0"/>
            </a:endParaRPr>
          </a:p>
          <a:p>
            <a:pPr>
              <a:spcBef>
                <a:spcPts val="600"/>
              </a:spcBef>
              <a:spcAft>
                <a:spcPts val="1200"/>
              </a:spcAft>
            </a:pPr>
            <a:r>
              <a:rPr lang="en-AU" sz="2000" dirty="0" smtClean="0">
                <a:latin typeface="Helvetica" pitchFamily="34" charset="0"/>
              </a:rPr>
              <a:t>Establish clear lines of responsibility and supervision</a:t>
            </a:r>
          </a:p>
          <a:p>
            <a:pPr>
              <a:spcBef>
                <a:spcPts val="600"/>
              </a:spcBef>
              <a:spcAft>
                <a:spcPts val="1200"/>
              </a:spcAft>
            </a:pPr>
            <a:r>
              <a:rPr lang="en-AU" sz="2000" dirty="0" smtClean="0">
                <a:latin typeface="Helvetica" pitchFamily="34" charset="0"/>
              </a:rPr>
              <a:t>Separate or divide the responsibility for related transactions</a:t>
            </a:r>
          </a:p>
          <a:p>
            <a:pPr>
              <a:spcBef>
                <a:spcPts val="600"/>
              </a:spcBef>
              <a:spcAft>
                <a:spcPts val="1200"/>
              </a:spcAft>
            </a:pPr>
            <a:r>
              <a:rPr lang="en-AU" sz="2000" dirty="0" smtClean="0">
                <a:latin typeface="Helvetica" pitchFamily="34" charset="0"/>
              </a:rPr>
              <a:t>Separate record keeping and control of assets</a:t>
            </a:r>
            <a:endParaRPr lang="en-US" sz="2000" i="1" dirty="0" smtClean="0">
              <a:latin typeface="Helvetica" pitchFamily="34" charset="0"/>
            </a:endParaRPr>
          </a:p>
          <a:p>
            <a:pPr>
              <a:spcBef>
                <a:spcPts val="600"/>
              </a:spcBef>
              <a:spcAft>
                <a:spcPts val="1200"/>
              </a:spcAft>
            </a:pPr>
            <a:r>
              <a:rPr lang="en-AU" sz="2000" dirty="0" smtClean="0">
                <a:latin typeface="Helvetica" pitchFamily="34" charset="0"/>
              </a:rPr>
              <a:t>Prepare written procedures</a:t>
            </a:r>
            <a:endParaRPr lang="en-US" sz="2000" i="1" dirty="0" smtClean="0">
              <a:latin typeface="Helvetica" pitchFamily="34" charset="0"/>
            </a:endParaRPr>
          </a:p>
          <a:p>
            <a:pPr>
              <a:spcBef>
                <a:spcPts val="600"/>
              </a:spcBef>
              <a:spcAft>
                <a:spcPts val="1200"/>
              </a:spcAft>
            </a:pPr>
            <a:r>
              <a:rPr lang="en-AU" sz="2000" dirty="0" smtClean="0">
                <a:latin typeface="Helvetica" pitchFamily="34" charset="0"/>
              </a:rPr>
              <a:t>Documentation procedures</a:t>
            </a:r>
            <a:endParaRPr lang="en-US" sz="2000" i="1" dirty="0" smtClean="0">
              <a:latin typeface="Helvetica" pitchFamily="34" charset="0"/>
            </a:endParaRPr>
          </a:p>
          <a:p>
            <a:pPr>
              <a:spcBef>
                <a:spcPts val="600"/>
              </a:spcBef>
              <a:spcAft>
                <a:spcPts val="1200"/>
              </a:spcAft>
            </a:pPr>
            <a:r>
              <a:rPr lang="en-AU" sz="2000" dirty="0" smtClean="0">
                <a:latin typeface="Helvetica" pitchFamily="34" charset="0"/>
              </a:rPr>
              <a:t>Set standards and evaluate results</a:t>
            </a:r>
            <a:endParaRPr lang="en-US" sz="2000" i="1" dirty="0" smtClean="0">
              <a:latin typeface="Helvetica" pitchFamily="34" charset="0"/>
            </a:endParaRPr>
          </a:p>
          <a:p>
            <a:pPr>
              <a:spcBef>
                <a:spcPts val="600"/>
              </a:spcBef>
              <a:spcAft>
                <a:spcPts val="1200"/>
              </a:spcAft>
            </a:pPr>
            <a:r>
              <a:rPr lang="en-AU" sz="2000" dirty="0" smtClean="0">
                <a:latin typeface="Helvetica" pitchFamily="34" charset="0"/>
              </a:rPr>
              <a:t>Maintain adequate insurance</a:t>
            </a:r>
            <a:endParaRPr lang="en-US" sz="2000" b="1" i="1" dirty="0" smtClean="0">
              <a:latin typeface="Helvetica" pitchFamily="34" charset="0"/>
            </a:endParaRPr>
          </a:p>
          <a:p>
            <a:pPr>
              <a:spcBef>
                <a:spcPts val="600"/>
              </a:spcBef>
              <a:spcAft>
                <a:spcPts val="1200"/>
              </a:spcAft>
              <a:buNone/>
            </a:pPr>
            <a:r>
              <a:rPr lang="en-US" sz="2000" b="1" dirty="0" smtClean="0">
                <a:solidFill>
                  <a:srgbClr val="FF6600"/>
                </a:solidFill>
                <a:latin typeface="Helvetica" pitchFamily="34" charset="0"/>
              </a:rPr>
              <a:t>COMPLETE ACTIVITIES 21,22</a:t>
            </a:r>
            <a:endParaRPr lang="en-US" sz="2000" dirty="0" smtClean="0">
              <a:latin typeface="Helvetica" pitchFamily="34" charset="0"/>
            </a:endParaRPr>
          </a:p>
          <a:p>
            <a:endParaRPr lang="en-US" sz="2000" b="1" i="1" dirty="0" smtClean="0"/>
          </a:p>
          <a:p>
            <a:endParaRPr lang="en-AU" sz="2000" b="1" dirty="0" smtClean="0"/>
          </a:p>
          <a:p>
            <a:pPr>
              <a:buNone/>
            </a:pPr>
            <a:endParaRPr lang="en-US" sz="2000" b="1" i="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7" name="Picture 6" descr="shutterstock_179800007.jpg"/>
          <p:cNvPicPr/>
          <p:nvPr/>
        </p:nvPicPr>
        <p:blipFill>
          <a:blip r:embed="rId3" cstate="print"/>
          <a:stretch>
            <a:fillRect/>
          </a:stretch>
        </p:blipFill>
        <p:spPr>
          <a:xfrm>
            <a:off x="6535289" y="4365104"/>
            <a:ext cx="1872208" cy="129614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Establishing financial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846640" cy="5589240"/>
          </a:xfrm>
        </p:spPr>
        <p:txBody>
          <a:bodyPr>
            <a:normAutofit/>
          </a:bodyPr>
          <a:lstStyle/>
          <a:p>
            <a:pPr>
              <a:spcBef>
                <a:spcPts val="300"/>
              </a:spcBef>
              <a:spcAft>
                <a:spcPts val="300"/>
              </a:spcAft>
              <a:buNone/>
            </a:pPr>
            <a:r>
              <a:rPr lang="en-US" sz="2000" b="1" dirty="0" smtClean="0">
                <a:latin typeface="Helvetica" pitchFamily="34" charset="0"/>
              </a:rPr>
              <a:t>Identify control methods</a:t>
            </a:r>
          </a:p>
          <a:p>
            <a:pPr>
              <a:spcBef>
                <a:spcPts val="300"/>
              </a:spcBef>
              <a:spcAft>
                <a:spcPts val="300"/>
              </a:spcAft>
            </a:pPr>
            <a:r>
              <a:rPr lang="en-AU" sz="2000" dirty="0" smtClean="0">
                <a:latin typeface="Helvetica" pitchFamily="34" charset="0"/>
              </a:rPr>
              <a:t>Cash</a:t>
            </a:r>
            <a:endParaRPr lang="en-US" sz="2000" b="1" dirty="0" smtClean="0">
              <a:latin typeface="Helvetica" pitchFamily="34" charset="0"/>
            </a:endParaRPr>
          </a:p>
          <a:p>
            <a:pPr>
              <a:spcBef>
                <a:spcPts val="300"/>
              </a:spcBef>
              <a:spcAft>
                <a:spcPts val="300"/>
              </a:spcAft>
            </a:pPr>
            <a:r>
              <a:rPr lang="en-AU" sz="2000" dirty="0" smtClean="0">
                <a:latin typeface="Helvetica" pitchFamily="34" charset="0"/>
              </a:rPr>
              <a:t>Cash receipts</a:t>
            </a:r>
            <a:endParaRPr lang="en-US" sz="2000" b="1" dirty="0" smtClean="0">
              <a:latin typeface="Helvetica" pitchFamily="34" charset="0"/>
            </a:endParaRPr>
          </a:p>
          <a:p>
            <a:pPr>
              <a:spcBef>
                <a:spcPts val="300"/>
              </a:spcBef>
              <a:spcAft>
                <a:spcPts val="300"/>
              </a:spcAft>
            </a:pPr>
            <a:r>
              <a:rPr lang="en-AU" sz="2000" dirty="0" smtClean="0">
                <a:latin typeface="Helvetica" pitchFamily="34" charset="0"/>
              </a:rPr>
              <a:t>Cash payments </a:t>
            </a:r>
            <a:endParaRPr lang="en-US" sz="2000" b="1" dirty="0" smtClean="0">
              <a:latin typeface="Helvetica" pitchFamily="34" charset="0"/>
            </a:endParaRPr>
          </a:p>
          <a:p>
            <a:pPr>
              <a:spcBef>
                <a:spcPts val="300"/>
              </a:spcBef>
              <a:spcAft>
                <a:spcPts val="300"/>
              </a:spcAft>
            </a:pPr>
            <a:r>
              <a:rPr lang="en-AU" sz="2000" dirty="0" smtClean="0">
                <a:latin typeface="Helvetica" pitchFamily="34" charset="0"/>
              </a:rPr>
              <a:t>Petty cash payments</a:t>
            </a:r>
            <a:endParaRPr lang="en-US" sz="2000" b="1" dirty="0" smtClean="0">
              <a:latin typeface="Helvetica" pitchFamily="34" charset="0"/>
            </a:endParaRPr>
          </a:p>
          <a:p>
            <a:pPr>
              <a:spcBef>
                <a:spcPts val="300"/>
              </a:spcBef>
              <a:spcAft>
                <a:spcPts val="300"/>
              </a:spcAft>
            </a:pPr>
            <a:r>
              <a:rPr lang="en-AU" sz="2000" dirty="0" smtClean="0">
                <a:latin typeface="Helvetica" pitchFamily="34" charset="0"/>
              </a:rPr>
              <a:t>Cash budgets </a:t>
            </a:r>
            <a:endParaRPr lang="en-US" sz="2000" b="1" dirty="0" smtClean="0">
              <a:latin typeface="Helvetica" pitchFamily="34" charset="0"/>
            </a:endParaRPr>
          </a:p>
          <a:p>
            <a:pPr>
              <a:spcBef>
                <a:spcPts val="300"/>
              </a:spcBef>
              <a:spcAft>
                <a:spcPts val="300"/>
              </a:spcAft>
            </a:pPr>
            <a:r>
              <a:rPr lang="en-AU" sz="2000" dirty="0" smtClean="0">
                <a:latin typeface="Helvetica" pitchFamily="34" charset="0"/>
              </a:rPr>
              <a:t>Accounts receivable</a:t>
            </a:r>
            <a:endParaRPr lang="en-US" sz="2000" b="1" dirty="0" smtClean="0">
              <a:latin typeface="Helvetica" pitchFamily="34" charset="0"/>
            </a:endParaRPr>
          </a:p>
          <a:p>
            <a:pPr>
              <a:spcBef>
                <a:spcPts val="300"/>
              </a:spcBef>
              <a:spcAft>
                <a:spcPts val="300"/>
              </a:spcAft>
            </a:pPr>
            <a:r>
              <a:rPr lang="en-AU" sz="2000" dirty="0" smtClean="0">
                <a:latin typeface="Helvetica" pitchFamily="34" charset="0"/>
              </a:rPr>
              <a:t>Credit policies</a:t>
            </a:r>
            <a:endParaRPr lang="en-US" sz="2000" b="1" dirty="0" smtClean="0">
              <a:latin typeface="Helvetica" pitchFamily="34" charset="0"/>
            </a:endParaRPr>
          </a:p>
          <a:p>
            <a:pPr>
              <a:spcBef>
                <a:spcPts val="300"/>
              </a:spcBef>
              <a:spcAft>
                <a:spcPts val="300"/>
              </a:spcAft>
            </a:pPr>
            <a:r>
              <a:rPr lang="en-AU" sz="2000" dirty="0" smtClean="0">
                <a:latin typeface="Helvetica" pitchFamily="34" charset="0"/>
              </a:rPr>
              <a:t>Purchases</a:t>
            </a:r>
            <a:endParaRPr lang="en-US" sz="2000" b="1" dirty="0" smtClean="0">
              <a:latin typeface="Helvetica" pitchFamily="34" charset="0"/>
            </a:endParaRPr>
          </a:p>
          <a:p>
            <a:pPr>
              <a:spcBef>
                <a:spcPts val="300"/>
              </a:spcBef>
              <a:spcAft>
                <a:spcPts val="300"/>
              </a:spcAft>
            </a:pPr>
            <a:r>
              <a:rPr lang="en-AU" sz="2000" dirty="0" smtClean="0">
                <a:latin typeface="Helvetica" pitchFamily="34" charset="0"/>
              </a:rPr>
              <a:t>Payroll</a:t>
            </a:r>
            <a:endParaRPr lang="en-US" sz="2000" b="1" dirty="0" smtClean="0">
              <a:latin typeface="Helvetica" pitchFamily="34" charset="0"/>
            </a:endParaRPr>
          </a:p>
          <a:p>
            <a:pPr>
              <a:spcBef>
                <a:spcPts val="300"/>
              </a:spcBef>
              <a:spcAft>
                <a:spcPts val="300"/>
              </a:spcAft>
            </a:pPr>
            <a:r>
              <a:rPr lang="en-AU" sz="2000" dirty="0" smtClean="0">
                <a:latin typeface="Helvetica" pitchFamily="34" charset="0"/>
              </a:rPr>
              <a:t>Inventory</a:t>
            </a:r>
            <a:endParaRPr lang="en-US" sz="2000" b="1" dirty="0" smtClean="0">
              <a:latin typeface="Helvetica" pitchFamily="34" charset="0"/>
            </a:endParaRPr>
          </a:p>
          <a:p>
            <a:pPr>
              <a:spcBef>
                <a:spcPts val="300"/>
              </a:spcBef>
              <a:spcAft>
                <a:spcPts val="300"/>
              </a:spcAft>
            </a:pPr>
            <a:r>
              <a:rPr lang="en-AU" sz="2000" dirty="0" smtClean="0">
                <a:latin typeface="Helvetica" pitchFamily="34" charset="0"/>
              </a:rPr>
              <a:t>Fixed assets</a:t>
            </a:r>
          </a:p>
          <a:p>
            <a:pPr>
              <a:spcBef>
                <a:spcPts val="300"/>
              </a:spcBef>
              <a:spcAft>
                <a:spcPts val="300"/>
              </a:spcAft>
            </a:pPr>
            <a:endParaRPr lang="en-AU" sz="1000" dirty="0" smtClean="0">
              <a:latin typeface="Helvetica" pitchFamily="34" charset="0"/>
            </a:endParaRPr>
          </a:p>
          <a:p>
            <a:pPr>
              <a:spcBef>
                <a:spcPts val="300"/>
              </a:spcBef>
              <a:spcAft>
                <a:spcPts val="300"/>
              </a:spcAft>
              <a:buNone/>
            </a:pPr>
            <a:r>
              <a:rPr lang="en-US" sz="2000" b="1" dirty="0" smtClean="0">
                <a:solidFill>
                  <a:srgbClr val="FF6600"/>
                </a:solidFill>
                <a:latin typeface="Helvetica" pitchFamily="34" charset="0"/>
              </a:rPr>
              <a:t>COMPLETE ACTIVITY 23</a:t>
            </a:r>
            <a:endParaRPr lang="en-US" sz="2000" dirty="0" smtClean="0">
              <a:latin typeface="Helvetica" pitchFamily="34" charset="0"/>
            </a:endParaRPr>
          </a:p>
          <a:p>
            <a:endParaRPr lang="en-US" sz="2000" b="1" i="1" dirty="0" smtClean="0"/>
          </a:p>
          <a:p>
            <a:endParaRPr lang="en-AU" sz="2000" b="1" dirty="0" smtClean="0"/>
          </a:p>
          <a:p>
            <a:pPr>
              <a:buNone/>
            </a:pPr>
            <a:endParaRPr lang="en-US" sz="2000" b="1" i="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6" name="Picture 5" descr="ch.jpg"/>
          <p:cNvPicPr>
            <a:picLocks noChangeAspect="1"/>
          </p:cNvPicPr>
          <p:nvPr/>
        </p:nvPicPr>
        <p:blipFill>
          <a:blip r:embed="rId3" cstate="print"/>
          <a:stretch>
            <a:fillRect/>
          </a:stretch>
        </p:blipFill>
        <p:spPr>
          <a:xfrm>
            <a:off x="4427984" y="2852936"/>
            <a:ext cx="2159554" cy="17404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Monitoring financial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1200"/>
              </a:spcBef>
              <a:spcAft>
                <a:spcPts val="1200"/>
              </a:spcAft>
              <a:buNone/>
            </a:pPr>
            <a:r>
              <a:rPr lang="en-AU" sz="2200" b="1" dirty="0" smtClean="0">
                <a:latin typeface="Helvetica" pitchFamily="34" charset="0"/>
              </a:rPr>
              <a:t>Monitoring financial performance</a:t>
            </a:r>
            <a:endParaRPr lang="en-US" sz="2200" b="1" dirty="0" smtClean="0">
              <a:latin typeface="Helvetica" pitchFamily="34" charset="0"/>
            </a:endParaRPr>
          </a:p>
          <a:p>
            <a:pPr marL="0">
              <a:spcBef>
                <a:spcPts val="1200"/>
              </a:spcBef>
              <a:spcAft>
                <a:spcPts val="1200"/>
              </a:spcAft>
              <a:buNone/>
            </a:pPr>
            <a:r>
              <a:rPr lang="en-AU" sz="2200" dirty="0" smtClean="0">
                <a:latin typeface="Helvetica" pitchFamily="34" charset="0"/>
              </a:rPr>
              <a:t>One of the most important features of a financial system that needs to be established is methods you will use to accurately assess the performance of a tourism operation based on the financial data compiled in the financial system:</a:t>
            </a:r>
          </a:p>
          <a:p>
            <a:pPr>
              <a:spcBef>
                <a:spcPts val="1200"/>
              </a:spcBef>
              <a:spcAft>
                <a:spcPts val="1200"/>
              </a:spcAft>
            </a:pPr>
            <a:r>
              <a:rPr lang="en-AU" sz="2200" dirty="0" smtClean="0">
                <a:latin typeface="Helvetica" pitchFamily="34" charset="0"/>
              </a:rPr>
              <a:t>What categories of business performance </a:t>
            </a:r>
            <a:br>
              <a:rPr lang="en-AU" sz="2200" dirty="0" smtClean="0">
                <a:latin typeface="Helvetica" pitchFamily="34" charset="0"/>
              </a:rPr>
            </a:br>
            <a:r>
              <a:rPr lang="en-AU" sz="2200" dirty="0" smtClean="0">
                <a:latin typeface="Helvetica" pitchFamily="34" charset="0"/>
              </a:rPr>
              <a:t>should be monitored?</a:t>
            </a:r>
          </a:p>
          <a:p>
            <a:pPr>
              <a:spcBef>
                <a:spcPts val="1200"/>
              </a:spcBef>
              <a:spcAft>
                <a:spcPts val="1200"/>
              </a:spcAft>
            </a:pPr>
            <a:r>
              <a:rPr lang="en-AU" sz="2200" dirty="0" smtClean="0">
                <a:latin typeface="Helvetica" pitchFamily="34" charset="0"/>
              </a:rPr>
              <a:t>How can you monitor financial performance?</a:t>
            </a:r>
            <a:endParaRPr lang="en-US" sz="2200" dirty="0" smtClean="0">
              <a:latin typeface="Helvetica" pitchFamily="34" charset="0"/>
            </a:endParaRPr>
          </a:p>
          <a:p>
            <a:endParaRPr lang="en-US" sz="2400" b="1" i="1" dirty="0" smtClean="0"/>
          </a:p>
          <a:p>
            <a:endParaRPr lang="en-AU" sz="2400" b="1" dirty="0" smtClean="0"/>
          </a:p>
          <a:p>
            <a:pPr>
              <a:buNone/>
            </a:pPr>
            <a:endParaRPr lang="en-US" sz="2400" b="1" i="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7" name="Picture 6" descr="shutterstock_103134797.jpg"/>
          <p:cNvPicPr/>
          <p:nvPr/>
        </p:nvPicPr>
        <p:blipFill>
          <a:blip r:embed="rId3" cstate="print"/>
          <a:stretch>
            <a:fillRect/>
          </a:stretch>
        </p:blipFill>
        <p:spPr>
          <a:xfrm>
            <a:off x="7002974" y="3429000"/>
            <a:ext cx="1285106" cy="146913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Monitoring financial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Steps to monitor financial performance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Select financial analysis method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Conduct financial analysis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significant variances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Determine the cause of </a:t>
            </a:r>
            <a:r>
              <a:rPr lang="en-AU" sz="2200" dirty="0">
                <a:latin typeface="Helvetica" pitchFamily="34" charset="0"/>
              </a:rPr>
              <a:t/>
            </a:r>
            <a:br>
              <a:rPr lang="en-AU" sz="2200" dirty="0">
                <a:latin typeface="Helvetica" pitchFamily="34" charset="0"/>
              </a:rPr>
            </a:br>
            <a:r>
              <a:rPr lang="en-AU" sz="2200" dirty="0" smtClean="0">
                <a:latin typeface="Helvetica" pitchFamily="34" charset="0"/>
              </a:rPr>
              <a:t>significant variances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Take corrective action as required</a:t>
            </a:r>
            <a:endParaRPr lang="en-US" sz="2200" b="1" i="1" dirty="0" smtClean="0">
              <a:latin typeface="Helvetica" pitchFamily="34" charset="0"/>
            </a:endParaRPr>
          </a:p>
          <a:p>
            <a:endParaRPr lang="en-AU" sz="2400" b="1" dirty="0" smtClean="0"/>
          </a:p>
          <a:p>
            <a:pPr>
              <a:buNone/>
            </a:pPr>
            <a:endParaRPr lang="en-US" sz="2400" b="1" i="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6" name="Picture 5" descr="shutterstock_175189595.jpg"/>
          <p:cNvPicPr/>
          <p:nvPr/>
        </p:nvPicPr>
        <p:blipFill>
          <a:blip r:embed="rId3" cstate="print"/>
          <a:stretch>
            <a:fillRect/>
          </a:stretch>
        </p:blipFill>
        <p:spPr>
          <a:xfrm>
            <a:off x="5508104" y="2708920"/>
            <a:ext cx="2292077" cy="144016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Monitoring financial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Methods to monitor financial performance</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How can you monitor financial performance?</a:t>
            </a:r>
          </a:p>
          <a:p>
            <a:pPr lvl="0">
              <a:spcBef>
                <a:spcPts val="600"/>
              </a:spcBef>
              <a:spcAft>
                <a:spcPts val="1200"/>
              </a:spcAft>
              <a:buNone/>
            </a:pPr>
            <a:endParaRPr lang="en-US"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24</a:t>
            </a:r>
            <a:endParaRPr lang="en-US" sz="2200" dirty="0" smtClean="0">
              <a:latin typeface="Helvetica" pitchFamily="34" charset="0"/>
            </a:endParaRPr>
          </a:p>
          <a:p>
            <a:pPr lvl="0">
              <a:spcBef>
                <a:spcPts val="600"/>
              </a:spcBef>
              <a:spcAft>
                <a:spcPts val="1200"/>
              </a:spcAft>
            </a:pPr>
            <a:endParaRPr lang="en-US" sz="2200" b="1" i="1" dirty="0" smtClean="0">
              <a:latin typeface="Helvetica" pitchFamily="34" charset="0"/>
            </a:endParaRPr>
          </a:p>
          <a:p>
            <a:endParaRPr lang="en-AU" sz="2400" b="1" dirty="0" smtClean="0"/>
          </a:p>
          <a:p>
            <a:pPr>
              <a:buNone/>
            </a:pPr>
            <a:endParaRPr lang="en-US" sz="2400" b="1" i="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7" name="Picture 6" descr="shutterstock_88003519.jpg"/>
          <p:cNvPicPr/>
          <p:nvPr/>
        </p:nvPicPr>
        <p:blipFill>
          <a:blip r:embed="rId3" cstate="print"/>
          <a:stretch>
            <a:fillRect/>
          </a:stretch>
        </p:blipFill>
        <p:spPr>
          <a:xfrm>
            <a:off x="1979712" y="3974551"/>
            <a:ext cx="1470075" cy="191469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Managing financial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Monitor financial systems</a:t>
            </a:r>
          </a:p>
          <a:p>
            <a:pPr marL="0">
              <a:spcBef>
                <a:spcPts val="600"/>
              </a:spcBef>
              <a:spcAft>
                <a:spcPts val="1200"/>
              </a:spcAft>
              <a:buNone/>
            </a:pPr>
            <a:r>
              <a:rPr lang="en-AU" sz="2200" dirty="0" smtClean="0">
                <a:latin typeface="Helvetica" pitchFamily="34" charset="0"/>
              </a:rPr>
              <a:t>Processes to regularly monitor financial systems may include: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Ensuring reliability of the systems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Ensuring integrity of the systems</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lvl="0">
              <a:spcBef>
                <a:spcPts val="600"/>
              </a:spcBef>
              <a:spcAft>
                <a:spcPts val="1200"/>
              </a:spcAft>
            </a:pPr>
            <a:endParaRPr lang="en-US" sz="2200" b="1" i="1" dirty="0" smtClean="0">
              <a:latin typeface="Helvetica" pitchFamily="34" charset="0"/>
            </a:endParaRPr>
          </a:p>
          <a:p>
            <a:endParaRPr lang="en-AU" sz="2400" b="1" dirty="0" smtClean="0"/>
          </a:p>
          <a:p>
            <a:pPr>
              <a:buNone/>
            </a:pPr>
            <a:endParaRPr lang="en-US" sz="2400" b="1" i="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6" name="Picture 5" descr="A5 shutterstock_131103662.jpg"/>
          <p:cNvPicPr/>
          <p:nvPr/>
        </p:nvPicPr>
        <p:blipFill>
          <a:blip r:embed="rId3" cstate="print"/>
          <a:stretch>
            <a:fillRect/>
          </a:stretch>
        </p:blipFill>
        <p:spPr>
          <a:xfrm>
            <a:off x="2123728" y="3933056"/>
            <a:ext cx="2304256" cy="149538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a:spcBef>
                <a:spcPts val="600"/>
              </a:spcBef>
              <a:spcAft>
                <a:spcPts val="600"/>
              </a:spcAft>
            </a:pPr>
            <a:r>
              <a:rPr lang="en-AU" sz="3400" b="1" dirty="0" smtClean="0">
                <a:solidFill>
                  <a:srgbClr val="FF6600"/>
                </a:solidFill>
                <a:latin typeface="Helvetica" pitchFamily="34" charset="0"/>
              </a:rPr>
              <a:t>Managing financial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Importance of managing financial systems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All the internal control measures used by a business to safeguard its assets and ensure the reliability of accounting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inputs to the system – the transactions summarising the activities and events that have occurred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Processing transactions that result in appropriate categories for classification to meet reporting requirements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outputs of the system – the financial reports                  required to meet internal and external requirements</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lvl="0">
              <a:spcBef>
                <a:spcPts val="600"/>
              </a:spcBef>
              <a:spcAft>
                <a:spcPts val="1200"/>
              </a:spcAft>
            </a:pPr>
            <a:endParaRPr lang="en-US" sz="2200" b="1" i="1" dirty="0" smtClean="0">
              <a:latin typeface="Helvetica" pitchFamily="34" charset="0"/>
            </a:endParaRPr>
          </a:p>
          <a:p>
            <a:endParaRPr lang="en-AU" sz="2400" b="1" dirty="0" smtClean="0"/>
          </a:p>
          <a:p>
            <a:pPr>
              <a:buNone/>
            </a:pPr>
            <a:endParaRPr lang="en-US" sz="2400" b="1" i="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a:spcBef>
                <a:spcPts val="600"/>
              </a:spcBef>
              <a:spcAft>
                <a:spcPts val="600"/>
              </a:spcAft>
            </a:pPr>
            <a:r>
              <a:rPr lang="en-AU" sz="3400" b="1" dirty="0" smtClean="0">
                <a:solidFill>
                  <a:srgbClr val="FF6600"/>
                </a:solidFill>
                <a:latin typeface="Helvetica" pitchFamily="34" charset="0"/>
              </a:rPr>
              <a:t>Managing financial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Stakeholders involved in managing financial systems</a:t>
            </a:r>
            <a:endParaRPr lang="en-US" sz="2200" b="1" dirty="0" smtClean="0">
              <a:latin typeface="Helvetica" pitchFamily="34" charset="0"/>
            </a:endParaRPr>
          </a:p>
          <a:p>
            <a:pPr>
              <a:spcBef>
                <a:spcPts val="600"/>
              </a:spcBef>
              <a:spcAft>
                <a:spcPts val="1200"/>
              </a:spcAft>
            </a:pPr>
            <a:r>
              <a:rPr lang="en-US" sz="2200" dirty="0" smtClean="0">
                <a:latin typeface="Helvetica" pitchFamily="34" charset="0"/>
              </a:rPr>
              <a:t>Who are suitable stakeholders?</a:t>
            </a:r>
          </a:p>
          <a:p>
            <a:pPr>
              <a:spcBef>
                <a:spcPts val="600"/>
              </a:spcBef>
              <a:spcAft>
                <a:spcPts val="1200"/>
              </a:spcAft>
            </a:pPr>
            <a:r>
              <a:rPr lang="en-US" sz="2200" dirty="0" smtClean="0">
                <a:latin typeface="Helvetica" pitchFamily="34" charset="0"/>
              </a:rPr>
              <a:t>What information or expertise do you require from them?</a:t>
            </a:r>
          </a:p>
          <a:p>
            <a:pPr>
              <a:spcBef>
                <a:spcPts val="600"/>
              </a:spcBef>
              <a:spcAft>
                <a:spcPts val="1200"/>
              </a:spcAft>
              <a:buNone/>
            </a:pPr>
            <a:endParaRPr lang="en-US" sz="2000" b="1" dirty="0" smtClean="0">
              <a:solidFill>
                <a:srgbClr val="FF6600"/>
              </a:solidFill>
              <a:latin typeface="Helvetica" pitchFamily="34" charset="0"/>
            </a:endParaRPr>
          </a:p>
          <a:p>
            <a:pPr algn="ctr">
              <a:spcBef>
                <a:spcPts val="600"/>
              </a:spcBef>
              <a:spcAft>
                <a:spcPts val="1200"/>
              </a:spcAft>
              <a:buNone/>
            </a:pPr>
            <a:r>
              <a:rPr lang="en-US" sz="2200" b="1" dirty="0" smtClean="0">
                <a:solidFill>
                  <a:srgbClr val="FF6600"/>
                </a:solidFill>
                <a:latin typeface="Helvetica" pitchFamily="34" charset="0"/>
              </a:rPr>
              <a:t>COMPLETE ACTIVITY 25</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lvl="0">
              <a:spcBef>
                <a:spcPts val="600"/>
              </a:spcBef>
              <a:spcAft>
                <a:spcPts val="1200"/>
              </a:spcAft>
            </a:pPr>
            <a:endParaRPr lang="en-US" sz="2200" b="1" i="1" dirty="0" smtClean="0">
              <a:latin typeface="Helvetica" pitchFamily="34" charset="0"/>
            </a:endParaRPr>
          </a:p>
          <a:p>
            <a:endParaRPr lang="en-AU" sz="2400" b="1" dirty="0" smtClean="0"/>
          </a:p>
          <a:p>
            <a:pPr>
              <a:buNone/>
            </a:pPr>
            <a:endParaRPr lang="en-US" sz="2400" b="1" i="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6" name="Picture 5" descr="W79_Middle_Managers_Male_Female_Group_shutterstock_113648842.jpg"/>
          <p:cNvPicPr/>
          <p:nvPr/>
        </p:nvPicPr>
        <p:blipFill>
          <a:blip r:embed="rId3" cstate="print"/>
          <a:stretch>
            <a:fillRect/>
          </a:stretch>
        </p:blipFill>
        <p:spPr>
          <a:xfrm>
            <a:off x="3779912" y="4293096"/>
            <a:ext cx="2019300" cy="13430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a:spcBef>
                <a:spcPts val="600"/>
              </a:spcBef>
              <a:spcAft>
                <a:spcPts val="600"/>
              </a:spcAft>
            </a:pPr>
            <a:r>
              <a:rPr lang="en-AU" sz="3400" b="1" dirty="0" smtClean="0">
                <a:solidFill>
                  <a:srgbClr val="FF6600"/>
                </a:solidFill>
                <a:latin typeface="Helvetica" pitchFamily="34" charset="0"/>
              </a:rPr>
              <a:t>Managing financial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000" b="1" dirty="0" smtClean="0">
                <a:latin typeface="Helvetica" pitchFamily="34" charset="0"/>
              </a:rPr>
              <a:t>Conducting internal audits</a:t>
            </a:r>
            <a:endParaRPr lang="en-US" sz="2000" b="1" dirty="0" smtClean="0">
              <a:latin typeface="Helvetica" pitchFamily="34" charset="0"/>
            </a:endParaRPr>
          </a:p>
          <a:p>
            <a:pPr marL="0">
              <a:spcBef>
                <a:spcPts val="600"/>
              </a:spcBef>
              <a:spcAft>
                <a:spcPts val="1200"/>
              </a:spcAft>
              <a:buNone/>
            </a:pPr>
            <a:r>
              <a:rPr lang="en-AU" sz="2000" dirty="0" smtClean="0">
                <a:latin typeface="Helvetica" pitchFamily="34" charset="0"/>
              </a:rPr>
              <a:t>An internal audit provides a review of the operating and accounting controls within an establishment to ensure that internal control procedures are being followed and assets are adequately safeguarded</a:t>
            </a:r>
            <a:r>
              <a:rPr lang="en-AU" sz="2000" dirty="0">
                <a:latin typeface="Helvetica" pitchFamily="34" charset="0"/>
              </a:rPr>
              <a:t>:</a:t>
            </a:r>
            <a:endParaRPr lang="en-AU" sz="2000" dirty="0" smtClean="0">
              <a:latin typeface="Helvetica" pitchFamily="34" charset="0"/>
            </a:endParaRPr>
          </a:p>
          <a:p>
            <a:pPr>
              <a:spcBef>
                <a:spcPts val="600"/>
              </a:spcBef>
              <a:spcAft>
                <a:spcPts val="1200"/>
              </a:spcAft>
            </a:pPr>
            <a:r>
              <a:rPr lang="en-AU" sz="2000" dirty="0" smtClean="0">
                <a:latin typeface="Helvetica" pitchFamily="34" charset="0"/>
              </a:rPr>
              <a:t>What is an ‘audit’?</a:t>
            </a:r>
          </a:p>
          <a:p>
            <a:pPr>
              <a:spcBef>
                <a:spcPts val="600"/>
              </a:spcBef>
              <a:spcAft>
                <a:spcPts val="1200"/>
              </a:spcAft>
            </a:pPr>
            <a:r>
              <a:rPr lang="en-AU" sz="2000" dirty="0" smtClean="0">
                <a:latin typeface="Helvetica" pitchFamily="34" charset="0"/>
              </a:rPr>
              <a:t>What areas should be audited?</a:t>
            </a:r>
          </a:p>
          <a:p>
            <a:pPr>
              <a:spcBef>
                <a:spcPts val="600"/>
              </a:spcBef>
              <a:spcAft>
                <a:spcPts val="1200"/>
              </a:spcAft>
            </a:pPr>
            <a:r>
              <a:rPr lang="en-AU" sz="2000" dirty="0" smtClean="0">
                <a:latin typeface="Helvetica" pitchFamily="34" charset="0"/>
              </a:rPr>
              <a:t>Who should conduct an audit?</a:t>
            </a:r>
          </a:p>
          <a:p>
            <a:pPr>
              <a:spcBef>
                <a:spcPts val="600"/>
              </a:spcBef>
              <a:spcAft>
                <a:spcPts val="1200"/>
              </a:spcAft>
            </a:pPr>
            <a:r>
              <a:rPr lang="en-AU" sz="2000" dirty="0" smtClean="0">
                <a:latin typeface="Helvetica" pitchFamily="34" charset="0"/>
              </a:rPr>
              <a:t>What are activities associated with an audit?</a:t>
            </a:r>
          </a:p>
          <a:p>
            <a:pPr>
              <a:spcBef>
                <a:spcPts val="600"/>
              </a:spcBef>
              <a:spcAft>
                <a:spcPts val="1200"/>
              </a:spcAft>
            </a:pPr>
            <a:endParaRPr lang="en-US" sz="1000" dirty="0" smtClean="0">
              <a:latin typeface="Helvetica" pitchFamily="34" charset="0"/>
            </a:endParaRPr>
          </a:p>
          <a:p>
            <a:pPr>
              <a:spcBef>
                <a:spcPts val="600"/>
              </a:spcBef>
              <a:spcAft>
                <a:spcPts val="1200"/>
              </a:spcAft>
              <a:buNone/>
            </a:pPr>
            <a:r>
              <a:rPr lang="en-US" sz="2000" b="1" dirty="0" smtClean="0">
                <a:solidFill>
                  <a:srgbClr val="FF6600"/>
                </a:solidFill>
                <a:latin typeface="Helvetica" pitchFamily="34" charset="0"/>
              </a:rPr>
              <a:t>COMPLETE ACTIVITY 26</a:t>
            </a:r>
            <a:endParaRPr lang="en-US" sz="2000" dirty="0" smtClean="0">
              <a:latin typeface="Helvetica" pitchFamily="34" charset="0"/>
            </a:endParaRPr>
          </a:p>
          <a:p>
            <a:pPr lvl="0">
              <a:spcBef>
                <a:spcPts val="600"/>
              </a:spcBef>
              <a:spcAft>
                <a:spcPts val="1200"/>
              </a:spcAft>
              <a:buNone/>
            </a:pPr>
            <a:endParaRPr lang="en-US" sz="2000" dirty="0" smtClean="0">
              <a:latin typeface="Helvetica" pitchFamily="34" charset="0"/>
            </a:endParaRPr>
          </a:p>
          <a:p>
            <a:pPr lvl="0">
              <a:spcBef>
                <a:spcPts val="600"/>
              </a:spcBef>
              <a:spcAft>
                <a:spcPts val="1200"/>
              </a:spcAft>
            </a:pPr>
            <a:endParaRPr lang="en-US" sz="2000" b="1" i="1" dirty="0" smtClean="0">
              <a:latin typeface="Helvetica" pitchFamily="34" charset="0"/>
            </a:endParaRPr>
          </a:p>
          <a:p>
            <a:endParaRPr lang="en-AU" sz="2000" b="1" dirty="0" smtClean="0"/>
          </a:p>
          <a:p>
            <a:pPr>
              <a:buNone/>
            </a:pPr>
            <a:endParaRPr lang="en-US" sz="2000" b="1" i="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7" name="Picture 6" descr="shutterstock_104399909.jpg"/>
          <p:cNvPicPr/>
          <p:nvPr/>
        </p:nvPicPr>
        <p:blipFill>
          <a:blip r:embed="rId3" cstate="print"/>
          <a:stretch>
            <a:fillRect/>
          </a:stretch>
        </p:blipFill>
        <p:spPr>
          <a:xfrm>
            <a:off x="6444208" y="3364426"/>
            <a:ext cx="1211585" cy="1355601"/>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and assess variations from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monitoring policies and procedures</a:t>
            </a:r>
          </a:p>
          <a:p>
            <a:pPr marL="0">
              <a:spcBef>
                <a:spcPts val="600"/>
              </a:spcBef>
              <a:spcAft>
                <a:spcPts val="1200"/>
              </a:spcAft>
              <a:buNone/>
            </a:pPr>
            <a:r>
              <a:rPr lang="en-AU" sz="2200" dirty="0" smtClean="0">
                <a:latin typeface="Helvetica" pitchFamily="34" charset="0"/>
              </a:rPr>
              <a:t>Once </a:t>
            </a:r>
            <a:r>
              <a:rPr lang="en-US" sz="2200" dirty="0" smtClean="0">
                <a:latin typeface="Helvetica" pitchFamily="34" charset="0"/>
              </a:rPr>
              <a:t>accounting</a:t>
            </a:r>
            <a:r>
              <a:rPr lang="en-AU" sz="2200" dirty="0" smtClean="0">
                <a:latin typeface="Helvetica" pitchFamily="34" charset="0"/>
              </a:rPr>
              <a:t> policies and procedures of the business have been developed their compliance must be monitored:</a:t>
            </a:r>
          </a:p>
          <a:p>
            <a:pPr>
              <a:spcBef>
                <a:spcPts val="600"/>
              </a:spcBef>
              <a:spcAft>
                <a:spcPts val="1200"/>
              </a:spcAft>
            </a:pPr>
            <a:r>
              <a:rPr lang="en-AU" sz="2200" dirty="0" smtClean="0">
                <a:latin typeface="Helvetica" pitchFamily="34" charset="0"/>
              </a:rPr>
              <a:t>What is a policy?</a:t>
            </a:r>
          </a:p>
          <a:p>
            <a:pPr>
              <a:spcBef>
                <a:spcPts val="600"/>
              </a:spcBef>
              <a:spcAft>
                <a:spcPts val="1200"/>
              </a:spcAft>
            </a:pPr>
            <a:r>
              <a:rPr lang="en-AU" sz="2200" dirty="0" smtClean="0">
                <a:latin typeface="Helvetica" pitchFamily="34" charset="0"/>
              </a:rPr>
              <a:t>What is a procedure?</a:t>
            </a:r>
          </a:p>
          <a:p>
            <a:pPr>
              <a:spcBef>
                <a:spcPts val="600"/>
              </a:spcBef>
              <a:spcAft>
                <a:spcPts val="1200"/>
              </a:spcAft>
            </a:pPr>
            <a:r>
              <a:rPr lang="en-AU" sz="2200" dirty="0" smtClean="0">
                <a:latin typeface="Helvetica" pitchFamily="34" charset="0"/>
              </a:rPr>
              <a:t>How can they be monitored for compliance?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4" descr="kb.jpg"/>
          <p:cNvPicPr>
            <a:picLocks noChangeAspect="1"/>
          </p:cNvPicPr>
          <p:nvPr/>
        </p:nvPicPr>
        <p:blipFill>
          <a:blip r:embed="rId3" cstate="print"/>
          <a:stretch>
            <a:fillRect/>
          </a:stretch>
        </p:blipFill>
        <p:spPr>
          <a:xfrm>
            <a:off x="2195736" y="4725144"/>
            <a:ext cx="2058470" cy="137616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and assess variations from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Definition of accounting policies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Accounting policies are rules in which accounting activities will be guided by</a:t>
            </a:r>
          </a:p>
          <a:p>
            <a:pPr>
              <a:spcBef>
                <a:spcPts val="600"/>
              </a:spcBef>
              <a:spcAft>
                <a:spcPts val="1200"/>
              </a:spcAft>
            </a:pPr>
            <a:r>
              <a:rPr lang="en-AU" sz="2200" dirty="0" smtClean="0">
                <a:latin typeface="Helvetica" pitchFamily="34" charset="0"/>
              </a:rPr>
              <a:t>Accounting policies are normally based around laws, general accounting principles, compliance issues and taxation</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6" name="Picture 5" descr="A16 shutterstock_173793329.jpg"/>
          <p:cNvPicPr/>
          <p:nvPr/>
        </p:nvPicPr>
        <p:blipFill>
          <a:blip r:embed="rId3" cstate="print"/>
          <a:stretch>
            <a:fillRect/>
          </a:stretch>
        </p:blipFill>
        <p:spPr>
          <a:xfrm>
            <a:off x="2996354" y="4149080"/>
            <a:ext cx="2239119" cy="152665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and assess variations from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846640" cy="4680520"/>
          </a:xfrm>
        </p:spPr>
        <p:txBody>
          <a:bodyPr>
            <a:normAutofit/>
          </a:bodyPr>
          <a:lstStyle/>
          <a:p>
            <a:pPr>
              <a:spcBef>
                <a:spcPts val="600"/>
              </a:spcBef>
              <a:spcAft>
                <a:spcPts val="1200"/>
              </a:spcAft>
              <a:buNone/>
            </a:pPr>
            <a:r>
              <a:rPr lang="en-AU" sz="2200" b="1" dirty="0" smtClean="0">
                <a:latin typeface="Helvetica" pitchFamily="34" charset="0"/>
              </a:rPr>
              <a:t>Definition of accounting procedures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Procedures are a predetermined set of tasks</a:t>
            </a:r>
          </a:p>
          <a:p>
            <a:pPr>
              <a:spcBef>
                <a:spcPts val="600"/>
              </a:spcBef>
              <a:spcAft>
                <a:spcPts val="1200"/>
              </a:spcAft>
            </a:pPr>
            <a:r>
              <a:rPr lang="en-AU" sz="2200" dirty="0" smtClean="0">
                <a:latin typeface="Helvetica" pitchFamily="34" charset="0"/>
              </a:rPr>
              <a:t>Accounting procedures dictate how companies record and report their financial information</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7" name="Picture 6" descr="A24 shutterstock_186950579.jpg"/>
          <p:cNvPicPr/>
          <p:nvPr/>
        </p:nvPicPr>
        <p:blipFill>
          <a:blip r:embed="rId3" cstate="print"/>
          <a:stretch>
            <a:fillRect/>
          </a:stretch>
        </p:blipFill>
        <p:spPr>
          <a:xfrm>
            <a:off x="2987824" y="3861048"/>
            <a:ext cx="2334940" cy="147369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and assess variations from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Autofit/>
          </a:bodyPr>
          <a:lstStyle/>
          <a:p>
            <a:pPr>
              <a:spcBef>
                <a:spcPts val="600"/>
              </a:spcBef>
              <a:spcAft>
                <a:spcPts val="600"/>
              </a:spcAft>
              <a:buNone/>
            </a:pPr>
            <a:r>
              <a:rPr lang="en-US" sz="2200" b="1" dirty="0" smtClean="0">
                <a:latin typeface="Helvetica" pitchFamily="34" charset="0"/>
              </a:rPr>
              <a:t>Accounting activities requiring policies and procedures</a:t>
            </a:r>
          </a:p>
          <a:p>
            <a:pPr lvl="0">
              <a:spcBef>
                <a:spcPts val="600"/>
              </a:spcBef>
              <a:spcAft>
                <a:spcPts val="600"/>
              </a:spcAft>
            </a:pPr>
            <a:r>
              <a:rPr lang="en-AU" sz="2200" dirty="0" smtClean="0">
                <a:latin typeface="Helvetica" pitchFamily="34" charset="0"/>
              </a:rPr>
              <a:t>Revenue recognition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Matching of revenues and expenses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Fixed assets and depreciation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Collection and use of data</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Preparing of financial reports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Cash disbursements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Capital acquisitions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Supplies, services, and other invoices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Invoice payment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5" name="Picture 4" descr="hd.jpg"/>
          <p:cNvPicPr>
            <a:picLocks noChangeAspect="1"/>
          </p:cNvPicPr>
          <p:nvPr/>
        </p:nvPicPr>
        <p:blipFill>
          <a:blip r:embed="rId3" cstate="print"/>
          <a:stretch>
            <a:fillRect/>
          </a:stretch>
        </p:blipFill>
        <p:spPr>
          <a:xfrm>
            <a:off x="5940152" y="3124581"/>
            <a:ext cx="2273889" cy="152018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and assess variations from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6640" cy="4752528"/>
          </a:xfrm>
        </p:spPr>
        <p:txBody>
          <a:bodyPr>
            <a:noAutofit/>
          </a:bodyPr>
          <a:lstStyle/>
          <a:p>
            <a:pPr>
              <a:spcBef>
                <a:spcPts val="600"/>
              </a:spcBef>
              <a:spcAft>
                <a:spcPts val="600"/>
              </a:spcAft>
              <a:buNone/>
            </a:pPr>
            <a:r>
              <a:rPr lang="en-US" sz="2200" b="1" dirty="0" smtClean="0">
                <a:latin typeface="Helvetica" pitchFamily="34" charset="0"/>
              </a:rPr>
              <a:t>Accounting activities requiring policies and procedures</a:t>
            </a:r>
          </a:p>
          <a:p>
            <a:pPr lvl="0">
              <a:spcBef>
                <a:spcPts val="600"/>
              </a:spcBef>
              <a:spcAft>
                <a:spcPts val="600"/>
              </a:spcAft>
            </a:pPr>
            <a:r>
              <a:rPr lang="en-AU" sz="2200" dirty="0" smtClean="0">
                <a:latin typeface="Helvetica" pitchFamily="34" charset="0"/>
              </a:rPr>
              <a:t>Payroll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Cash receipts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Ledger reconciliations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Bank reconciliations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End of month accounting</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End of year accounting</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Cost allocations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Investments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Debt</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5" name="Picture 4" descr="shutterstock_96904438.jpg"/>
          <p:cNvPicPr/>
          <p:nvPr/>
        </p:nvPicPr>
        <p:blipFill>
          <a:blip r:embed="rId3" cstate="print"/>
          <a:stretch>
            <a:fillRect/>
          </a:stretch>
        </p:blipFill>
        <p:spPr>
          <a:xfrm>
            <a:off x="5148064" y="2924944"/>
            <a:ext cx="2304256" cy="165618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and assess variations from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846640" cy="4680520"/>
          </a:xfrm>
        </p:spPr>
        <p:txBody>
          <a:bodyPr>
            <a:noAutofit/>
          </a:bodyPr>
          <a:lstStyle/>
          <a:p>
            <a:pPr>
              <a:spcBef>
                <a:spcPts val="600"/>
              </a:spcBef>
              <a:spcAft>
                <a:spcPts val="600"/>
              </a:spcAft>
              <a:buNone/>
            </a:pPr>
            <a:r>
              <a:rPr lang="en-US" sz="2200" b="1" dirty="0" smtClean="0">
                <a:latin typeface="Helvetica" pitchFamily="34" charset="0"/>
              </a:rPr>
              <a:t>Accounting activities requiring policies and procedures</a:t>
            </a:r>
          </a:p>
          <a:p>
            <a:pPr lvl="0">
              <a:spcBef>
                <a:spcPts val="600"/>
              </a:spcBef>
              <a:spcAft>
                <a:spcPts val="600"/>
              </a:spcAft>
            </a:pPr>
            <a:r>
              <a:rPr lang="en-AU" sz="2200" dirty="0" smtClean="0">
                <a:latin typeface="Helvetica" pitchFamily="34" charset="0"/>
              </a:rPr>
              <a:t>Internal controls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Financial audits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Compliance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Budgeting</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Data security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Computer access and back up</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Use of accounting forms and templates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Access to records and records retention</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6" name="Picture 5" descr="computer 23.png"/>
          <p:cNvPicPr>
            <a:picLocks noChangeAspect="1"/>
          </p:cNvPicPr>
          <p:nvPr/>
        </p:nvPicPr>
        <p:blipFill>
          <a:blip r:embed="rId3" cstate="print"/>
          <a:stretch>
            <a:fillRect/>
          </a:stretch>
        </p:blipFill>
        <p:spPr>
          <a:xfrm>
            <a:off x="5220451" y="2708920"/>
            <a:ext cx="2520280" cy="157073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and assess variations from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846640" cy="4680520"/>
          </a:xfrm>
        </p:spPr>
        <p:txBody>
          <a:bodyPr>
            <a:noAutofit/>
          </a:bodyPr>
          <a:lstStyle/>
          <a:p>
            <a:pPr>
              <a:spcBef>
                <a:spcPts val="600"/>
              </a:spcBef>
              <a:spcAft>
                <a:spcPts val="600"/>
              </a:spcAft>
              <a:buNone/>
            </a:pPr>
            <a:r>
              <a:rPr lang="en-US" sz="2200" b="1" dirty="0" smtClean="0">
                <a:latin typeface="Helvetica" pitchFamily="34" charset="0"/>
              </a:rPr>
              <a:t>Accounting activities requiring policies and procedures</a:t>
            </a:r>
          </a:p>
          <a:p>
            <a:pPr lvl="0">
              <a:spcBef>
                <a:spcPts val="600"/>
              </a:spcBef>
              <a:spcAft>
                <a:spcPts val="600"/>
              </a:spcAft>
            </a:pPr>
            <a:r>
              <a:rPr lang="en-AU" sz="2200" dirty="0" smtClean="0">
                <a:latin typeface="Helvetica" pitchFamily="34" charset="0"/>
              </a:rPr>
              <a:t>Taxation forms and compliance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Personnel records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Maintenance of accounting policies and procedures manual</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Preparation of information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Asset inventory</a:t>
            </a:r>
          </a:p>
          <a:p>
            <a:pPr lvl="0">
              <a:spcBef>
                <a:spcPts val="600"/>
              </a:spcBef>
              <a:spcAft>
                <a:spcPts val="600"/>
              </a:spcAft>
            </a:pPr>
            <a:endParaRPr lang="en-AU" sz="2200" dirty="0" smtClean="0">
              <a:latin typeface="Helvetica" pitchFamily="34" charset="0"/>
            </a:endParaRPr>
          </a:p>
          <a:p>
            <a:pPr>
              <a:spcBef>
                <a:spcPts val="600"/>
              </a:spcBef>
              <a:spcAft>
                <a:spcPts val="600"/>
              </a:spcAft>
              <a:buNone/>
            </a:pPr>
            <a:r>
              <a:rPr lang="en-US" sz="2200" b="1" dirty="0" smtClean="0">
                <a:solidFill>
                  <a:srgbClr val="FF6600"/>
                </a:solidFill>
                <a:latin typeface="Helvetica" pitchFamily="34" charset="0"/>
              </a:rPr>
              <a:t>COMPLETE ACTIVITY 27</a:t>
            </a:r>
            <a:endParaRPr lang="en-US" sz="2200" dirty="0" smtClean="0">
              <a:latin typeface="Helvetica" pitchFamily="34" charset="0"/>
            </a:endParaRPr>
          </a:p>
          <a:p>
            <a:pPr lvl="0">
              <a:buNone/>
            </a:pPr>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5" name="Picture 4" descr="kq.jpg"/>
          <p:cNvPicPr>
            <a:picLocks noChangeAspect="1"/>
          </p:cNvPicPr>
          <p:nvPr/>
        </p:nvPicPr>
        <p:blipFill>
          <a:blip r:embed="rId3" cstate="print"/>
          <a:stretch>
            <a:fillRect/>
          </a:stretch>
        </p:blipFill>
        <p:spPr>
          <a:xfrm>
            <a:off x="6372200" y="3933055"/>
            <a:ext cx="1985583" cy="161490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and assess variations from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Autofit/>
          </a:bodyPr>
          <a:lstStyle/>
          <a:p>
            <a:pPr marL="0">
              <a:spcBef>
                <a:spcPts val="600"/>
              </a:spcBef>
              <a:spcAft>
                <a:spcPts val="1200"/>
              </a:spcAft>
              <a:buNone/>
            </a:pPr>
            <a:r>
              <a:rPr lang="en-US" sz="2200" b="1" dirty="0" smtClean="0">
                <a:latin typeface="Helvetica" pitchFamily="34" charset="0"/>
              </a:rPr>
              <a:t>Importance of</a:t>
            </a:r>
            <a:r>
              <a:rPr lang="en-AU" sz="2200" b="1" dirty="0" smtClean="0">
                <a:latin typeface="Helvetica" pitchFamily="34" charset="0"/>
              </a:rPr>
              <a:t> monitor</a:t>
            </a:r>
            <a:r>
              <a:rPr lang="en-US" sz="2200" b="1" dirty="0" smtClean="0">
                <a:latin typeface="Helvetica" pitchFamily="34" charset="0"/>
              </a:rPr>
              <a:t>ing</a:t>
            </a:r>
            <a:r>
              <a:rPr lang="en-AU" sz="2200" b="1" dirty="0" smtClean="0">
                <a:latin typeface="Helvetica" pitchFamily="34" charset="0"/>
              </a:rPr>
              <a:t> adherence to policies and procedure</a:t>
            </a:r>
            <a:r>
              <a:rPr lang="en-US" sz="2200" b="1" dirty="0" smtClean="0">
                <a:latin typeface="Helvetica" pitchFamily="34" charset="0"/>
              </a:rPr>
              <a: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Ensure consistency in the operation of the business</a:t>
            </a:r>
          </a:p>
          <a:p>
            <a:pPr lvl="0">
              <a:spcBef>
                <a:spcPts val="600"/>
              </a:spcBef>
              <a:spcAft>
                <a:spcPts val="1200"/>
              </a:spcAft>
            </a:pPr>
            <a:r>
              <a:rPr lang="en-AU" sz="2200" dirty="0" smtClean="0">
                <a:latin typeface="Helvetica" pitchFamily="34" charset="0"/>
              </a:rPr>
              <a:t>Ensure adherence to internal requirements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Ensure compliance with policy and procedure requirements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Praise adherence to policies and procedures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Remedial action to be taken where necessary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6" name="Picture 5" descr="A18 shutterstock_181389116.jpg"/>
          <p:cNvPicPr/>
          <p:nvPr/>
        </p:nvPicPr>
        <p:blipFill>
          <a:blip r:embed="rId3" cstate="print"/>
          <a:stretch>
            <a:fillRect/>
          </a:stretch>
        </p:blipFill>
        <p:spPr>
          <a:xfrm>
            <a:off x="7092280" y="3645024"/>
            <a:ext cx="1272540" cy="19050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and assess variations from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846640" cy="4824536"/>
          </a:xfrm>
        </p:spPr>
        <p:txBody>
          <a:bodyPr>
            <a:noAutofit/>
          </a:bodyPr>
          <a:lstStyle/>
          <a:p>
            <a:pPr marL="0">
              <a:spcBef>
                <a:spcPts val="600"/>
              </a:spcBef>
              <a:spcAft>
                <a:spcPts val="600"/>
              </a:spcAft>
              <a:buNone/>
            </a:pPr>
            <a:r>
              <a:rPr lang="en-US" sz="2200" b="1" dirty="0" smtClean="0">
                <a:latin typeface="Helvetica" pitchFamily="34" charset="0"/>
              </a:rPr>
              <a:t>Strategies</a:t>
            </a:r>
            <a:r>
              <a:rPr lang="en-AU" sz="2200" b="1" dirty="0" smtClean="0">
                <a:latin typeface="Helvetica" pitchFamily="34" charset="0"/>
              </a:rPr>
              <a:t> to ensure </a:t>
            </a:r>
            <a:r>
              <a:rPr lang="en-US" sz="2200" b="1" dirty="0" smtClean="0">
                <a:latin typeface="Helvetica" pitchFamily="34" charset="0"/>
              </a:rPr>
              <a:t>accounting </a:t>
            </a:r>
            <a:r>
              <a:rPr lang="en-AU" sz="2200" b="1" dirty="0" smtClean="0">
                <a:latin typeface="Helvetica" pitchFamily="34" charset="0"/>
              </a:rPr>
              <a:t>policies and procedures are being followed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Involve </a:t>
            </a:r>
            <a:r>
              <a:rPr lang="en-US" sz="2200" dirty="0" smtClean="0">
                <a:latin typeface="Helvetica" pitchFamily="34" charset="0"/>
              </a:rPr>
              <a:t>accounting </a:t>
            </a:r>
            <a:r>
              <a:rPr lang="en-AU" sz="2200" dirty="0" smtClean="0">
                <a:latin typeface="Helvetica" pitchFamily="34" charset="0"/>
              </a:rPr>
              <a:t>staff in the initial development of the policies and procedures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Explain and disseminate the policies and procedures once they have been developed and approved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Any procedures should be accompanied by appropriate demonstration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Associated paperwork should be shown and its completion explained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Make a full copy of all </a:t>
            </a:r>
            <a:r>
              <a:rPr lang="en-US" sz="2200" dirty="0" smtClean="0">
                <a:latin typeface="Helvetica" pitchFamily="34" charset="0"/>
              </a:rPr>
              <a:t>accounting </a:t>
            </a:r>
            <a:r>
              <a:rPr lang="en-AU" sz="2200" dirty="0" smtClean="0">
                <a:latin typeface="Helvetica" pitchFamily="34" charset="0"/>
              </a:rPr>
              <a:t>policies and procedures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and assess variations from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Autofit/>
          </a:bodyPr>
          <a:lstStyle/>
          <a:p>
            <a:pPr marL="0">
              <a:spcBef>
                <a:spcPts val="600"/>
              </a:spcBef>
              <a:spcAft>
                <a:spcPts val="1200"/>
              </a:spcAft>
              <a:buNone/>
            </a:pPr>
            <a:r>
              <a:rPr lang="en-US" sz="2200" b="1" dirty="0" smtClean="0">
                <a:latin typeface="Helvetica" pitchFamily="34" charset="0"/>
              </a:rPr>
              <a:t>Strategies</a:t>
            </a:r>
            <a:r>
              <a:rPr lang="en-AU" sz="2200" b="1" dirty="0" smtClean="0">
                <a:latin typeface="Helvetica" pitchFamily="34" charset="0"/>
              </a:rPr>
              <a:t> to ensure </a:t>
            </a:r>
            <a:r>
              <a:rPr lang="en-US" sz="2200" b="1" dirty="0" smtClean="0">
                <a:latin typeface="Helvetica" pitchFamily="34" charset="0"/>
              </a:rPr>
              <a:t>accounting </a:t>
            </a:r>
            <a:r>
              <a:rPr lang="en-AU" sz="2200" b="1" dirty="0" smtClean="0">
                <a:latin typeface="Helvetica" pitchFamily="34" charset="0"/>
              </a:rPr>
              <a:t>policies and procedures are being followed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Regularly used policies or procedures should be included in a </a:t>
            </a:r>
            <a:r>
              <a:rPr lang="en-US" sz="2200" dirty="0" smtClean="0">
                <a:latin typeface="Helvetica" pitchFamily="34" charset="0"/>
              </a:rPr>
              <a:t>dedicated </a:t>
            </a:r>
            <a:r>
              <a:rPr lang="en-AU" sz="2200" dirty="0" smtClean="0">
                <a:latin typeface="Helvetica" pitchFamily="34" charset="0"/>
              </a:rPr>
              <a:t>distribution to all </a:t>
            </a:r>
            <a:r>
              <a:rPr lang="en-US" sz="2200" dirty="0" smtClean="0">
                <a:latin typeface="Helvetica" pitchFamily="34" charset="0"/>
              </a:rPr>
              <a:t>accounting </a:t>
            </a:r>
            <a:r>
              <a:rPr lang="en-AU" sz="2200" dirty="0" smtClean="0">
                <a:latin typeface="Helvetica" pitchFamily="34" charset="0"/>
              </a:rPr>
              <a:t>staff </a:t>
            </a:r>
            <a:r>
              <a:rPr lang="en-US" sz="2200" dirty="0" smtClean="0">
                <a:latin typeface="Helvetica" pitchFamily="34" charset="0"/>
              </a:rPr>
              <a:t>when employed</a:t>
            </a:r>
          </a:p>
          <a:p>
            <a:pPr lvl="0">
              <a:spcBef>
                <a:spcPts val="600"/>
              </a:spcBef>
              <a:spcAft>
                <a:spcPts val="1200"/>
              </a:spcAft>
            </a:pPr>
            <a:r>
              <a:rPr lang="en-AU" sz="2200" dirty="0" smtClean="0">
                <a:latin typeface="Helvetica" pitchFamily="34" charset="0"/>
              </a:rPr>
              <a:t>Include ‘policies and procedures’ as part of your standard in-house </a:t>
            </a:r>
            <a:r>
              <a:rPr lang="en-US" sz="2200" dirty="0" smtClean="0">
                <a:latin typeface="Helvetica" pitchFamily="34" charset="0"/>
              </a:rPr>
              <a:t>accounting </a:t>
            </a:r>
            <a:r>
              <a:rPr lang="en-AU" sz="2200" dirty="0" smtClean="0">
                <a:latin typeface="Helvetica" pitchFamily="34" charset="0"/>
              </a:rPr>
              <a:t>training</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Provide every new </a:t>
            </a:r>
            <a:r>
              <a:rPr lang="en-US" sz="2200" dirty="0" smtClean="0">
                <a:latin typeface="Helvetica" pitchFamily="34" charset="0"/>
              </a:rPr>
              <a:t>accounting </a:t>
            </a:r>
            <a:r>
              <a:rPr lang="en-AU" sz="2200" dirty="0" smtClean="0">
                <a:latin typeface="Helvetica" pitchFamily="34" charset="0"/>
              </a:rPr>
              <a:t>staff </a:t>
            </a:r>
            <a:br>
              <a:rPr lang="en-AU" sz="2200" dirty="0" smtClean="0">
                <a:latin typeface="Helvetica" pitchFamily="34" charset="0"/>
              </a:rPr>
            </a:br>
            <a:r>
              <a:rPr lang="en-AU" sz="2200" dirty="0" smtClean="0">
                <a:latin typeface="Helvetica" pitchFamily="34" charset="0"/>
              </a:rPr>
              <a:t>member with a copy of the policies </a:t>
            </a:r>
            <a:br>
              <a:rPr lang="en-AU" sz="2200" dirty="0" smtClean="0">
                <a:latin typeface="Helvetica" pitchFamily="34" charset="0"/>
              </a:rPr>
            </a:br>
            <a:r>
              <a:rPr lang="en-AU" sz="2200" dirty="0" smtClean="0">
                <a:latin typeface="Helvetica" pitchFamily="34" charset="0"/>
              </a:rPr>
              <a:t>and procedures </a:t>
            </a:r>
            <a:br>
              <a:rPr lang="en-AU" sz="2200" dirty="0" smtClean="0">
                <a:latin typeface="Helvetica" pitchFamily="34" charset="0"/>
              </a:rPr>
            </a:br>
            <a:r>
              <a:rPr lang="en-AU" sz="2200" dirty="0" smtClean="0">
                <a:latin typeface="Helvetica" pitchFamily="34" charset="0"/>
              </a:rPr>
              <a:t>in induction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5" name="Picture 4" descr="A10 shutterstock_156152561.jpg"/>
          <p:cNvPicPr/>
          <p:nvPr/>
        </p:nvPicPr>
        <p:blipFill>
          <a:blip r:embed="rId3" cstate="print"/>
          <a:stretch>
            <a:fillRect/>
          </a:stretch>
        </p:blipFill>
        <p:spPr>
          <a:xfrm>
            <a:off x="6553864" y="4293096"/>
            <a:ext cx="1885950" cy="12573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and assess variations from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846640" cy="4680520"/>
          </a:xfrm>
        </p:spPr>
        <p:txBody>
          <a:bodyPr>
            <a:noAutofit/>
          </a:bodyPr>
          <a:lstStyle/>
          <a:p>
            <a:pPr marL="0">
              <a:spcBef>
                <a:spcPts val="600"/>
              </a:spcBef>
              <a:spcAft>
                <a:spcPts val="1200"/>
              </a:spcAft>
              <a:buNone/>
            </a:pPr>
            <a:r>
              <a:rPr lang="en-US" sz="2200" b="1" dirty="0" smtClean="0">
                <a:latin typeface="Helvetica" pitchFamily="34" charset="0"/>
              </a:rPr>
              <a:t>Monitoring compliance with accounting </a:t>
            </a:r>
            <a:r>
              <a:rPr lang="en-AU" sz="2200" b="1" dirty="0" smtClean="0">
                <a:latin typeface="Helvetica" pitchFamily="34" charset="0"/>
              </a:rPr>
              <a:t>policies and procedures </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It is important for all accounting managers to monitor that their staff are complying with accounting policies and procedures:</a:t>
            </a:r>
          </a:p>
          <a:p>
            <a:pPr>
              <a:spcBef>
                <a:spcPts val="600"/>
              </a:spcBef>
              <a:spcAft>
                <a:spcPts val="1200"/>
              </a:spcAft>
            </a:pPr>
            <a:r>
              <a:rPr lang="en-AU" sz="2200" dirty="0" smtClean="0">
                <a:latin typeface="Helvetica" pitchFamily="34" charset="0"/>
              </a:rPr>
              <a:t>Observing current practice</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Discussions with staff and other </a:t>
            </a:r>
            <a:br>
              <a:rPr lang="en-US" sz="2200" dirty="0" smtClean="0">
                <a:latin typeface="Helvetica" pitchFamily="34" charset="0"/>
              </a:rPr>
            </a:br>
            <a:r>
              <a:rPr lang="en-US" sz="2200" dirty="0" smtClean="0">
                <a:latin typeface="Helvetica" pitchFamily="34" charset="0"/>
              </a:rPr>
              <a:t>stakeholders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6" name="Picture 5" descr="A5 shutterstock_131103662.jpg"/>
          <p:cNvPicPr/>
          <p:nvPr/>
        </p:nvPicPr>
        <p:blipFill>
          <a:blip r:embed="rId3" cstate="print"/>
          <a:stretch>
            <a:fillRect/>
          </a:stretch>
        </p:blipFill>
        <p:spPr>
          <a:xfrm>
            <a:off x="6372200" y="4225850"/>
            <a:ext cx="2038350" cy="13525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and assess variations from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6640" cy="4752528"/>
          </a:xfrm>
        </p:spPr>
        <p:txBody>
          <a:bodyPr>
            <a:noAutofit/>
          </a:bodyPr>
          <a:lstStyle/>
          <a:p>
            <a:pPr>
              <a:spcBef>
                <a:spcPts val="600"/>
              </a:spcBef>
              <a:spcAft>
                <a:spcPts val="1200"/>
              </a:spcAft>
              <a:buNone/>
            </a:pPr>
            <a:r>
              <a:rPr lang="en-AU" sz="2000" b="1" dirty="0" smtClean="0">
                <a:latin typeface="Helvetica" pitchFamily="34" charset="0"/>
              </a:rPr>
              <a:t>Dealing with </a:t>
            </a:r>
            <a:r>
              <a:rPr lang="en-US" sz="2000" b="1" dirty="0" smtClean="0">
                <a:latin typeface="Helvetica" pitchFamily="34" charset="0"/>
              </a:rPr>
              <a:t>variations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Verbally mentioning the issue and advising as to how compliance may be achieved in the future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Providing coaching or training on-the-spot</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Providing a copy of the policy/procedure which was </a:t>
            </a:r>
            <a:br>
              <a:rPr lang="en-AU" sz="2000" dirty="0" smtClean="0">
                <a:latin typeface="Helvetica" pitchFamily="34" charset="0"/>
              </a:rPr>
            </a:br>
            <a:r>
              <a:rPr lang="en-AU" sz="2000" dirty="0" smtClean="0">
                <a:latin typeface="Helvetica" pitchFamily="34" charset="0"/>
              </a:rPr>
              <a:t>at the centre of the </a:t>
            </a:r>
            <a:r>
              <a:rPr lang="en-US" sz="2000" dirty="0" smtClean="0">
                <a:latin typeface="Helvetica" pitchFamily="34" charset="0"/>
              </a:rPr>
              <a:t>variation</a:t>
            </a:r>
            <a:r>
              <a:rPr lang="en-AU" sz="2000" dirty="0" smtClean="0">
                <a:latin typeface="Helvetica" pitchFamily="34" charset="0"/>
              </a:rPr>
              <a:t> and explaining it in detail</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 formal verbal warning about the non-compliance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 written warning regarding the non-compliance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Dismissal</a:t>
            </a:r>
            <a:endParaRPr lang="en-US" sz="2000" dirty="0" smtClean="0">
              <a:latin typeface="Helvetica" pitchFamily="34" charset="0"/>
            </a:endParaRPr>
          </a:p>
          <a:p>
            <a:pPr>
              <a:spcBef>
                <a:spcPts val="600"/>
              </a:spcBef>
              <a:spcAft>
                <a:spcPts val="1200"/>
              </a:spcAft>
              <a:buNone/>
            </a:pPr>
            <a:r>
              <a:rPr lang="en-US" sz="2000" b="1" dirty="0" smtClean="0">
                <a:solidFill>
                  <a:srgbClr val="FF6600"/>
                </a:solidFill>
                <a:latin typeface="Helvetica" pitchFamily="34" charset="0"/>
              </a:rPr>
              <a:t>COMPLETE ACTIVITY 28</a:t>
            </a:r>
            <a:endParaRPr lang="en-US" sz="2000" dirty="0" smtClean="0">
              <a:latin typeface="Helvetica" pitchFamily="34" charset="0"/>
            </a:endParaRPr>
          </a:p>
          <a:p>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7" name="Picture 6" descr="cl.jpg"/>
          <p:cNvPicPr/>
          <p:nvPr/>
        </p:nvPicPr>
        <p:blipFill>
          <a:blip r:embed="rId3" cstate="print"/>
          <a:stretch>
            <a:fillRect/>
          </a:stretch>
        </p:blipFill>
        <p:spPr>
          <a:xfrm>
            <a:off x="7294183" y="2876152"/>
            <a:ext cx="1138555" cy="17049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Encourage user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involving stakeholders</a:t>
            </a:r>
          </a:p>
          <a:p>
            <a:pPr marL="0">
              <a:spcBef>
                <a:spcPts val="600"/>
              </a:spcBef>
              <a:spcAft>
                <a:spcPts val="1200"/>
              </a:spcAft>
              <a:buNone/>
            </a:pPr>
            <a:r>
              <a:rPr lang="en-US" sz="2200" dirty="0" smtClean="0">
                <a:latin typeface="Helvetica" pitchFamily="34" charset="0"/>
              </a:rPr>
              <a:t>Encouraging user and other stakeholder feedback is an essential aspect of determining if the accounting policies and procedures in place are suitable and also to get constructive feedback of what needs to be changed for future success:</a:t>
            </a:r>
          </a:p>
          <a:p>
            <a:pPr>
              <a:spcBef>
                <a:spcPts val="600"/>
              </a:spcBef>
              <a:spcAft>
                <a:spcPts val="1200"/>
              </a:spcAft>
            </a:pPr>
            <a:r>
              <a:rPr lang="en-US" sz="2200" dirty="0" smtClean="0">
                <a:latin typeface="Helvetica" pitchFamily="34" charset="0"/>
              </a:rPr>
              <a:t>Who are appropriate stakeholders?</a:t>
            </a:r>
          </a:p>
          <a:p>
            <a:pPr>
              <a:spcBef>
                <a:spcPts val="600"/>
              </a:spcBef>
              <a:spcAft>
                <a:spcPts val="1200"/>
              </a:spcAft>
            </a:pPr>
            <a:r>
              <a:rPr lang="en-US" sz="2200" dirty="0" smtClean="0">
                <a:latin typeface="Helvetica" pitchFamily="34" charset="0"/>
              </a:rPr>
              <a:t>What advice can they provide in </a:t>
            </a:r>
            <a:br>
              <a:rPr lang="en-US" sz="2200" dirty="0" smtClean="0">
                <a:latin typeface="Helvetica" pitchFamily="34" charset="0"/>
              </a:rPr>
            </a:br>
            <a:r>
              <a:rPr lang="en-US" sz="2200" dirty="0" smtClean="0">
                <a:latin typeface="Helvetica" pitchFamily="34" charset="0"/>
              </a:rPr>
              <a:t>determining need for new or updated </a:t>
            </a:r>
            <a:br>
              <a:rPr lang="en-US" sz="2200" dirty="0" smtClean="0">
                <a:latin typeface="Helvetica" pitchFamily="34" charset="0"/>
              </a:rPr>
            </a:br>
            <a:r>
              <a:rPr lang="en-US" sz="2200" dirty="0" smtClean="0">
                <a:latin typeface="Helvetica" pitchFamily="34" charset="0"/>
              </a:rPr>
              <a:t>financial system?</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descr="A19 shutterstock_181811597.jpg"/>
          <p:cNvPicPr/>
          <p:nvPr/>
        </p:nvPicPr>
        <p:blipFill>
          <a:blip r:embed="rId3" cstate="print"/>
          <a:stretch>
            <a:fillRect/>
          </a:stretch>
        </p:blipFill>
        <p:spPr>
          <a:xfrm>
            <a:off x="6372199" y="4141148"/>
            <a:ext cx="2019293" cy="144016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Encourage user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US" sz="2200" b="1" dirty="0" smtClean="0">
                <a:latin typeface="Helvetica" pitchFamily="34" charset="0"/>
              </a:rPr>
              <a:t>Types of users and stakeholders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Users</a:t>
            </a:r>
          </a:p>
          <a:p>
            <a:pPr lvl="0">
              <a:spcBef>
                <a:spcPts val="600"/>
              </a:spcBef>
              <a:spcAft>
                <a:spcPts val="1200"/>
              </a:spcAft>
            </a:pPr>
            <a:r>
              <a:rPr lang="en-US" sz="2200" dirty="0" smtClean="0">
                <a:latin typeface="Helvetica" pitchFamily="34" charset="0"/>
              </a:rPr>
              <a:t>Management and supervisors</a:t>
            </a:r>
          </a:p>
          <a:p>
            <a:pPr lvl="0">
              <a:spcBef>
                <a:spcPts val="600"/>
              </a:spcBef>
              <a:spcAft>
                <a:spcPts val="1200"/>
              </a:spcAft>
            </a:pPr>
            <a:r>
              <a:rPr lang="en-US" sz="2200" dirty="0" smtClean="0">
                <a:latin typeface="Helvetica" pitchFamily="34" charset="0"/>
              </a:rPr>
              <a:t>Head Office</a:t>
            </a:r>
          </a:p>
          <a:p>
            <a:pPr lvl="0">
              <a:spcBef>
                <a:spcPts val="600"/>
              </a:spcBef>
              <a:spcAft>
                <a:spcPts val="1200"/>
              </a:spcAft>
            </a:pPr>
            <a:r>
              <a:rPr lang="en-US" sz="2200" dirty="0" smtClean="0">
                <a:latin typeface="Helvetica" pitchFamily="34" charset="0"/>
              </a:rPr>
              <a:t>Owners</a:t>
            </a:r>
          </a:p>
          <a:p>
            <a:pPr lvl="0">
              <a:spcBef>
                <a:spcPts val="600"/>
              </a:spcBef>
              <a:spcAft>
                <a:spcPts val="1200"/>
              </a:spcAft>
            </a:pPr>
            <a:r>
              <a:rPr lang="en-US" sz="2200" dirty="0" smtClean="0">
                <a:latin typeface="Helvetica" pitchFamily="34" charset="0"/>
              </a:rPr>
              <a:t>Finance committees</a:t>
            </a:r>
          </a:p>
          <a:p>
            <a:pPr lvl="0">
              <a:spcBef>
                <a:spcPts val="600"/>
              </a:spcBef>
              <a:spcAft>
                <a:spcPts val="1200"/>
              </a:spcAft>
            </a:pPr>
            <a:r>
              <a:rPr lang="en-US" sz="2200" dirty="0" smtClean="0">
                <a:latin typeface="Helvetica" pitchFamily="34" charset="0"/>
              </a:rPr>
              <a:t>Financial accountants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6" name="Picture 5" descr="1b.jpg"/>
          <p:cNvPicPr>
            <a:picLocks noChangeAspect="1"/>
          </p:cNvPicPr>
          <p:nvPr/>
        </p:nvPicPr>
        <p:blipFill>
          <a:blip r:embed="rId3" cstate="print"/>
          <a:stretch>
            <a:fillRect/>
          </a:stretch>
        </p:blipFill>
        <p:spPr>
          <a:xfrm>
            <a:off x="6300191" y="3861048"/>
            <a:ext cx="2141545" cy="1526113"/>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Encourage user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US" sz="2200" b="1" dirty="0" smtClean="0">
                <a:latin typeface="Helvetica" pitchFamily="34" charset="0"/>
              </a:rPr>
              <a:t>Types of users and stakeholders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Government agencies – who have relevancy to and involvement in your industry sector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Peak Industry bodies</a:t>
            </a:r>
            <a:r>
              <a:rPr lang="en-US" sz="2200" dirty="0" smtClean="0">
                <a:latin typeface="Helvetica" pitchFamily="34" charset="0"/>
              </a:rPr>
              <a:t> and </a:t>
            </a:r>
            <a:r>
              <a:rPr lang="en-AU" sz="2200" dirty="0" smtClean="0">
                <a:latin typeface="Helvetica" pitchFamily="34" charset="0"/>
              </a:rPr>
              <a:t>associations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Similar establishments within your sector with whom you have developed a professional ‘working relationship’</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Investors and shareholders</a:t>
            </a:r>
          </a:p>
          <a:p>
            <a:pPr lvl="0">
              <a:spcBef>
                <a:spcPts val="600"/>
              </a:spcBef>
              <a:spcAft>
                <a:spcPts val="1200"/>
              </a:spcAft>
            </a:pPr>
            <a:r>
              <a:rPr lang="en-AU" sz="2200" dirty="0" smtClean="0">
                <a:latin typeface="Helvetica" pitchFamily="34" charset="0"/>
              </a:rPr>
              <a:t>External consultants with specific expertise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 name="Picture 4" descr="A22 shutterstock_182450381.jpg"/>
          <p:cNvPicPr/>
          <p:nvPr/>
        </p:nvPicPr>
        <p:blipFill>
          <a:blip r:embed="rId3" cstate="print"/>
          <a:stretch>
            <a:fillRect/>
          </a:stretch>
        </p:blipFill>
        <p:spPr>
          <a:xfrm>
            <a:off x="6732240" y="4365104"/>
            <a:ext cx="1728192" cy="129614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Encourage user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600"/>
              </a:spcAft>
              <a:buNone/>
            </a:pPr>
            <a:r>
              <a:rPr lang="en-AU" sz="2200" b="1" dirty="0" smtClean="0">
                <a:latin typeface="Helvetica" pitchFamily="34" charset="0"/>
              </a:rPr>
              <a:t>Importance of involving users and stakeholders</a:t>
            </a:r>
            <a:endParaRPr lang="en-US" sz="2200" dirty="0" smtClean="0">
              <a:latin typeface="Helvetica" pitchFamily="34" charset="0"/>
            </a:endParaRPr>
          </a:p>
          <a:p>
            <a:pPr>
              <a:spcBef>
                <a:spcPts val="600"/>
              </a:spcBef>
              <a:spcAft>
                <a:spcPts val="600"/>
              </a:spcAft>
            </a:pPr>
            <a:r>
              <a:rPr lang="en-US" sz="2200" dirty="0" smtClean="0">
                <a:latin typeface="Helvetica" pitchFamily="34" charset="0"/>
              </a:rPr>
              <a:t>Get </a:t>
            </a:r>
            <a:r>
              <a:rPr lang="en-AU" sz="2200" dirty="0" smtClean="0">
                <a:latin typeface="Helvetica" pitchFamily="34" charset="0"/>
              </a:rPr>
              <a:t>‘360º feedback’.</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Ensures they are involved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They have the chance to contribute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Provides feedback on current strategies and approaches</a:t>
            </a:r>
            <a:endParaRPr lang="en-US" sz="2200" dirty="0" smtClean="0">
              <a:latin typeface="Helvetica" pitchFamily="34" charset="0"/>
            </a:endParaRPr>
          </a:p>
          <a:p>
            <a:pPr lvl="0">
              <a:spcBef>
                <a:spcPts val="600"/>
              </a:spcBef>
              <a:spcAft>
                <a:spcPts val="600"/>
              </a:spcAft>
            </a:pPr>
            <a:r>
              <a:rPr lang="en-US" sz="2200" dirty="0" smtClean="0">
                <a:latin typeface="Helvetica" pitchFamily="34" charset="0"/>
              </a:rPr>
              <a:t>Aims to understand what is working</a:t>
            </a:r>
          </a:p>
          <a:p>
            <a:pPr lvl="0">
              <a:spcBef>
                <a:spcPts val="600"/>
              </a:spcBef>
              <a:spcAft>
                <a:spcPts val="600"/>
              </a:spcAft>
            </a:pPr>
            <a:r>
              <a:rPr lang="en-US" sz="2200" dirty="0" smtClean="0">
                <a:latin typeface="Helvetica" pitchFamily="34" charset="0"/>
              </a:rPr>
              <a:t>I</a:t>
            </a:r>
            <a:r>
              <a:rPr lang="en-AU" sz="2200" dirty="0" smtClean="0">
                <a:latin typeface="Helvetica" pitchFamily="34" charset="0"/>
              </a:rPr>
              <a:t>dentifies</a:t>
            </a:r>
            <a:r>
              <a:rPr lang="en-US" sz="2200" dirty="0" smtClean="0">
                <a:latin typeface="Helvetica" pitchFamily="34" charset="0"/>
              </a:rPr>
              <a:t> </a:t>
            </a:r>
            <a:r>
              <a:rPr lang="en-AU" sz="2200" dirty="0" smtClean="0">
                <a:latin typeface="Helvetica" pitchFamily="34" charset="0"/>
              </a:rPr>
              <a:t>‘Best Practice’</a:t>
            </a:r>
          </a:p>
          <a:p>
            <a:pPr lvl="0">
              <a:spcBef>
                <a:spcPts val="600"/>
              </a:spcBef>
              <a:spcAft>
                <a:spcPts val="600"/>
              </a:spcAft>
            </a:pPr>
            <a:r>
              <a:rPr lang="en-AU" sz="2200" dirty="0" smtClean="0">
                <a:latin typeface="Helvetica" pitchFamily="34" charset="0"/>
              </a:rPr>
              <a:t>Determ</a:t>
            </a:r>
            <a:r>
              <a:rPr lang="en-US" sz="2200" dirty="0" smtClean="0">
                <a:latin typeface="Helvetica" pitchFamily="34" charset="0"/>
              </a:rPr>
              <a:t>ines</a:t>
            </a:r>
            <a:r>
              <a:rPr lang="en-AU" sz="2200" dirty="0" smtClean="0">
                <a:latin typeface="Helvetica" pitchFamily="34" charset="0"/>
              </a:rPr>
              <a:t> current policies and procedures                             </a:t>
            </a:r>
            <a:r>
              <a:rPr lang="en-US" sz="2200" dirty="0" smtClean="0">
                <a:latin typeface="Helvetica" pitchFamily="34" charset="0"/>
              </a:rPr>
              <a:t>other organisations</a:t>
            </a:r>
            <a:r>
              <a:rPr lang="en-AU" sz="2200" dirty="0" smtClean="0">
                <a:latin typeface="Helvetica" pitchFamily="34" charset="0"/>
              </a:rPr>
              <a:t> have in place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6" name="Picture 5" descr="W616_shutterstock_74684551.jpg"/>
          <p:cNvPicPr/>
          <p:nvPr/>
        </p:nvPicPr>
        <p:blipFill>
          <a:blip r:embed="rId3" cstate="print"/>
          <a:stretch>
            <a:fillRect/>
          </a:stretch>
        </p:blipFill>
        <p:spPr>
          <a:xfrm>
            <a:off x="6804248" y="4365104"/>
            <a:ext cx="1598295" cy="10668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Encourage user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Importance of involving users and stakeholders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Create policies and procedures that are acceptable to as many users and stakeholders as possible</a:t>
            </a:r>
          </a:p>
          <a:p>
            <a:pPr lvl="0">
              <a:spcBef>
                <a:spcPts val="600"/>
              </a:spcBef>
              <a:spcAft>
                <a:spcPts val="1200"/>
              </a:spcAft>
            </a:pPr>
            <a:r>
              <a:rPr lang="en-AU" sz="2200" dirty="0" smtClean="0">
                <a:latin typeface="Helvetica" pitchFamily="34" charset="0"/>
              </a:rPr>
              <a:t>Ensure no important information is missed</a:t>
            </a:r>
          </a:p>
          <a:p>
            <a:pPr lvl="0">
              <a:spcBef>
                <a:spcPts val="600"/>
              </a:spcBef>
              <a:spcAft>
                <a:spcPts val="1200"/>
              </a:spcAft>
            </a:pPr>
            <a:r>
              <a:rPr lang="en-AU" sz="2200" dirty="0" smtClean="0">
                <a:latin typeface="Helvetica" pitchFamily="34" charset="0"/>
              </a:rPr>
              <a:t>Aids decision making in relation to policies and procedures by taking a consensus view of what is required</a:t>
            </a:r>
          </a:p>
          <a:p>
            <a:pPr>
              <a:spcBef>
                <a:spcPts val="600"/>
              </a:spcBef>
              <a:spcAft>
                <a:spcPts val="1200"/>
              </a:spcAft>
            </a:pPr>
            <a:r>
              <a:rPr lang="en-AU" sz="2200" dirty="0" smtClean="0">
                <a:latin typeface="Helvetica" pitchFamily="34" charset="0"/>
              </a:rPr>
              <a:t>Obtains a final accounting system reflecting the wishes, needs and expectations of as many stakeholders as possible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7" name="Picture 6" descr="1s.jpg"/>
          <p:cNvPicPr/>
          <p:nvPr/>
        </p:nvPicPr>
        <p:blipFill>
          <a:blip r:embed="rId3" cstate="print"/>
          <a:stretch>
            <a:fillRect/>
          </a:stretch>
        </p:blipFill>
        <p:spPr>
          <a:xfrm>
            <a:off x="3203848" y="5373216"/>
            <a:ext cx="1944216" cy="129614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Encourage user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846640" cy="5661248"/>
          </a:xfrm>
        </p:spPr>
        <p:txBody>
          <a:bodyPr>
            <a:normAutofit/>
          </a:bodyPr>
          <a:lstStyle/>
          <a:p>
            <a:pPr>
              <a:spcBef>
                <a:spcPts val="600"/>
              </a:spcBef>
              <a:spcAft>
                <a:spcPts val="600"/>
              </a:spcAft>
              <a:buNone/>
            </a:pPr>
            <a:r>
              <a:rPr lang="en-US" sz="2000" b="1" dirty="0" smtClean="0">
                <a:latin typeface="Helvetica" pitchFamily="34" charset="0"/>
              </a:rPr>
              <a:t>Methods to encourage user and stakeholder input</a:t>
            </a:r>
            <a:endParaRPr lang="en-US" sz="2000" dirty="0" smtClean="0">
              <a:latin typeface="Helvetica" pitchFamily="34" charset="0"/>
            </a:endParaRPr>
          </a:p>
          <a:p>
            <a:pPr lvl="0">
              <a:spcBef>
                <a:spcPts val="600"/>
              </a:spcBef>
              <a:spcAft>
                <a:spcPts val="600"/>
              </a:spcAft>
            </a:pPr>
            <a:r>
              <a:rPr lang="en-US" sz="2000" dirty="0" smtClean="0">
                <a:latin typeface="Helvetica" pitchFamily="34" charset="0"/>
              </a:rPr>
              <a:t>Asking for ideas</a:t>
            </a:r>
          </a:p>
          <a:p>
            <a:pPr lvl="0">
              <a:spcBef>
                <a:spcPts val="600"/>
              </a:spcBef>
              <a:spcAft>
                <a:spcPts val="600"/>
              </a:spcAft>
            </a:pPr>
            <a:r>
              <a:rPr lang="en-US" sz="2000" dirty="0" smtClean="0">
                <a:latin typeface="Helvetica" pitchFamily="34" charset="0"/>
              </a:rPr>
              <a:t>Having an ‘open door’ policy</a:t>
            </a:r>
          </a:p>
          <a:p>
            <a:pPr lvl="0">
              <a:spcBef>
                <a:spcPts val="600"/>
              </a:spcBef>
              <a:spcAft>
                <a:spcPts val="600"/>
              </a:spcAft>
            </a:pPr>
            <a:r>
              <a:rPr lang="en-US" sz="2000" dirty="0" smtClean="0">
                <a:latin typeface="Helvetica" pitchFamily="34" charset="0"/>
              </a:rPr>
              <a:t>Sharing ideas</a:t>
            </a:r>
          </a:p>
          <a:p>
            <a:pPr lvl="0">
              <a:spcBef>
                <a:spcPts val="600"/>
              </a:spcBef>
              <a:spcAft>
                <a:spcPts val="600"/>
              </a:spcAft>
            </a:pPr>
            <a:r>
              <a:rPr lang="en-US" sz="2000" dirty="0" smtClean="0">
                <a:latin typeface="Helvetica" pitchFamily="34" charset="0"/>
              </a:rPr>
              <a:t>Being prepared to test new ideas</a:t>
            </a:r>
          </a:p>
          <a:p>
            <a:pPr lvl="0">
              <a:spcBef>
                <a:spcPts val="600"/>
              </a:spcBef>
              <a:spcAft>
                <a:spcPts val="600"/>
              </a:spcAft>
            </a:pPr>
            <a:r>
              <a:rPr lang="en-US" sz="2000" dirty="0" smtClean="0">
                <a:latin typeface="Helvetica" pitchFamily="34" charset="0"/>
              </a:rPr>
              <a:t>Seeking information and ideas from non-traditional places</a:t>
            </a:r>
          </a:p>
          <a:p>
            <a:pPr lvl="0">
              <a:spcBef>
                <a:spcPts val="600"/>
              </a:spcBef>
              <a:spcAft>
                <a:spcPts val="600"/>
              </a:spcAft>
            </a:pPr>
            <a:r>
              <a:rPr lang="en-US" sz="2000" dirty="0" smtClean="0">
                <a:latin typeface="Helvetica" pitchFamily="34" charset="0"/>
              </a:rPr>
              <a:t>Thanking people for their contributions</a:t>
            </a:r>
          </a:p>
          <a:p>
            <a:pPr lvl="0">
              <a:spcBef>
                <a:spcPts val="600"/>
              </a:spcBef>
              <a:spcAft>
                <a:spcPts val="600"/>
              </a:spcAft>
            </a:pPr>
            <a:r>
              <a:rPr lang="en-US" sz="2000" dirty="0" smtClean="0">
                <a:latin typeface="Helvetica" pitchFamily="34" charset="0"/>
              </a:rPr>
              <a:t>Taking the time and effort to why were </a:t>
            </a:r>
            <a:br>
              <a:rPr lang="en-US" sz="2000" dirty="0" smtClean="0">
                <a:latin typeface="Helvetica" pitchFamily="34" charset="0"/>
              </a:rPr>
            </a:br>
            <a:r>
              <a:rPr lang="en-US" sz="2000" dirty="0" smtClean="0">
                <a:latin typeface="Helvetica" pitchFamily="34" charset="0"/>
              </a:rPr>
              <a:t>not implemented</a:t>
            </a:r>
          </a:p>
          <a:p>
            <a:pPr>
              <a:spcBef>
                <a:spcPts val="600"/>
              </a:spcBef>
              <a:spcAft>
                <a:spcPts val="600"/>
              </a:spcAft>
            </a:pPr>
            <a:r>
              <a:rPr lang="en-US" sz="2000" dirty="0" smtClean="0">
                <a:latin typeface="Helvetica" pitchFamily="34" charset="0"/>
              </a:rPr>
              <a:t>Ensuring the appropriate person receives                                   the credit for doing so</a:t>
            </a:r>
          </a:p>
          <a:p>
            <a:pPr>
              <a:spcBef>
                <a:spcPts val="600"/>
              </a:spcBef>
              <a:spcAft>
                <a:spcPts val="600"/>
              </a:spcAft>
              <a:buNone/>
            </a:pPr>
            <a:r>
              <a:rPr lang="en-US" sz="2000" b="1" dirty="0" smtClean="0">
                <a:solidFill>
                  <a:srgbClr val="FF6600"/>
                </a:solidFill>
                <a:latin typeface="Helvetica" pitchFamily="34" charset="0"/>
              </a:rPr>
              <a:t>COMPLETE ACTIVITY 29</a:t>
            </a: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6" name="Picture 5" descr="shutterstock_126073382.jpg"/>
          <p:cNvPicPr/>
          <p:nvPr/>
        </p:nvPicPr>
        <p:blipFill>
          <a:blip r:embed="rId3" cstate="print"/>
          <a:stretch>
            <a:fillRect/>
          </a:stretch>
        </p:blipFill>
        <p:spPr>
          <a:xfrm>
            <a:off x="6321398" y="4198666"/>
            <a:ext cx="2076450" cy="14097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052736"/>
            <a:ext cx="8280920" cy="5184576"/>
          </a:xfrm>
        </p:spPr>
        <p:txBody>
          <a:bodyPr>
            <a:normAutofit/>
          </a:bodyPr>
          <a:lstStyle/>
          <a:p>
            <a:pPr marL="0">
              <a:buNone/>
            </a:pPr>
            <a:r>
              <a:rPr lang="en-AU" sz="4000" b="1" dirty="0" smtClean="0">
                <a:solidFill>
                  <a:srgbClr val="FF6600"/>
                </a:solidFill>
                <a:latin typeface="Helvetica" pitchFamily="34" charset="0"/>
              </a:rPr>
              <a:t>Element 5:</a:t>
            </a:r>
          </a:p>
          <a:p>
            <a:pPr marL="0">
              <a:buNone/>
            </a:pPr>
            <a:r>
              <a:rPr lang="en-AU" sz="4000" b="1" i="1" dirty="0">
                <a:solidFill>
                  <a:srgbClr val="FF6600"/>
                </a:solidFill>
                <a:latin typeface="Helvetica" pitchFamily="34" charset="0"/>
              </a:rPr>
              <a:t>Update systems for management requirements and regulations</a:t>
            </a:r>
            <a:endParaRPr lang="en-US" sz="4000" b="1" i="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5" name="Picture 4" descr="ii.jpg"/>
          <p:cNvPicPr>
            <a:picLocks noChangeAspect="1"/>
          </p:cNvPicPr>
          <p:nvPr/>
        </p:nvPicPr>
        <p:blipFill>
          <a:blip r:embed="rId3" cstate="print"/>
          <a:stretch>
            <a:fillRect/>
          </a:stretch>
        </p:blipFill>
        <p:spPr>
          <a:xfrm>
            <a:off x="3133973" y="3429000"/>
            <a:ext cx="2448272" cy="195527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04424644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Update systems for management requirements and regulations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6640" cy="4752528"/>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Calculate estimates of costs associated with changes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Plan changes and updates to systems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Test systems’ updates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Ensure changes and updates are comprehensive and maintain the integrity of accounting system</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Apply changes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Circulate changed and/or updated </a:t>
            </a:r>
            <a:br>
              <a:rPr lang="en-AU" sz="2200" dirty="0" smtClean="0">
                <a:latin typeface="Helvetica" pitchFamily="34" charset="0"/>
              </a:rPr>
            </a:br>
            <a:r>
              <a:rPr lang="en-AU" sz="2200" dirty="0" smtClean="0">
                <a:latin typeface="Helvetica" pitchFamily="34" charset="0"/>
              </a:rPr>
              <a:t>relevant documentation</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5" name="Picture 4" descr="ft.jpg"/>
          <p:cNvPicPr>
            <a:picLocks noChangeAspect="1"/>
          </p:cNvPicPr>
          <p:nvPr/>
        </p:nvPicPr>
        <p:blipFill>
          <a:blip r:embed="rId3" cstate="print"/>
          <a:stretch>
            <a:fillRect/>
          </a:stretch>
        </p:blipFill>
        <p:spPr>
          <a:xfrm>
            <a:off x="6243776" y="4653136"/>
            <a:ext cx="2072640" cy="1377696"/>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spcBef>
                <a:spcPts val="600"/>
              </a:spcBef>
              <a:spcAft>
                <a:spcPts val="1200"/>
              </a:spcAft>
            </a:pPr>
            <a:r>
              <a:rPr lang="en-AU" sz="3400" b="1" dirty="0" smtClean="0">
                <a:solidFill>
                  <a:srgbClr val="FF6600"/>
                </a:solidFill>
                <a:latin typeface="Helvetica" pitchFamily="34" charset="0"/>
              </a:rPr>
              <a:t>Identify need for new or updated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846640" cy="4608512"/>
          </a:xfrm>
        </p:spPr>
        <p:txBody>
          <a:bodyPr>
            <a:normAutofit/>
          </a:bodyPr>
          <a:lstStyle/>
          <a:p>
            <a:pPr marL="0" indent="0">
              <a:spcBef>
                <a:spcPts val="600"/>
              </a:spcBef>
              <a:spcAft>
                <a:spcPts val="1200"/>
              </a:spcAft>
              <a:buNone/>
            </a:pPr>
            <a:r>
              <a:rPr lang="en-AU" sz="2200" b="1" dirty="0" smtClean="0">
                <a:latin typeface="Helvetica" pitchFamily="34" charset="0"/>
              </a:rPr>
              <a:t>Definition of financial system</a:t>
            </a:r>
          </a:p>
          <a:p>
            <a:pPr marL="0">
              <a:spcBef>
                <a:spcPts val="600"/>
              </a:spcBef>
              <a:spcAft>
                <a:spcPts val="1200"/>
              </a:spcAft>
              <a:buNone/>
            </a:pPr>
            <a:r>
              <a:rPr lang="en-US" sz="2200" dirty="0" smtClean="0">
                <a:latin typeface="Helvetica" pitchFamily="34" charset="0"/>
              </a:rPr>
              <a:t>For the purpose of this section the term 'financial system' relates to both hardware and accounting software.</a:t>
            </a:r>
          </a:p>
          <a:p>
            <a:pPr>
              <a:spcBef>
                <a:spcPts val="600"/>
              </a:spcBef>
              <a:spcAft>
                <a:spcPts val="1200"/>
              </a:spcAft>
            </a:pPr>
            <a:r>
              <a:rPr lang="en-US" sz="2200" dirty="0" smtClean="0">
                <a:latin typeface="Helvetica" pitchFamily="34" charset="0"/>
              </a:rPr>
              <a:t>What are examples of hardware and software incorporated in financial systems?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5" name="Picture 4" descr="ie.jpg"/>
          <p:cNvPicPr>
            <a:picLocks noChangeAspect="1"/>
          </p:cNvPicPr>
          <p:nvPr/>
        </p:nvPicPr>
        <p:blipFill>
          <a:blip r:embed="rId3" cstate="print"/>
          <a:stretch>
            <a:fillRect/>
          </a:stretch>
        </p:blipFill>
        <p:spPr>
          <a:xfrm>
            <a:off x="2987824" y="4317969"/>
            <a:ext cx="2253362" cy="168898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spcBef>
                <a:spcPts val="600"/>
              </a:spcBef>
              <a:spcAft>
                <a:spcPts val="1200"/>
              </a:spcAft>
            </a:pPr>
            <a:r>
              <a:rPr lang="en-AU" sz="3400" b="1" dirty="0" smtClean="0">
                <a:solidFill>
                  <a:srgbClr val="FF6600"/>
                </a:solidFill>
                <a:latin typeface="Helvetica" pitchFamily="34" charset="0"/>
              </a:rPr>
              <a:t>Identify need for new or updated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846640" cy="4680520"/>
          </a:xfrm>
        </p:spPr>
        <p:txBody>
          <a:bodyPr>
            <a:normAutofit/>
          </a:bodyPr>
          <a:lstStyle/>
          <a:p>
            <a:pPr>
              <a:spcBef>
                <a:spcPts val="600"/>
              </a:spcBef>
              <a:spcAft>
                <a:spcPts val="1200"/>
              </a:spcAft>
              <a:buNone/>
            </a:pPr>
            <a:r>
              <a:rPr lang="en-AU" sz="2200" b="1" dirty="0" smtClean="0">
                <a:latin typeface="Helvetica" pitchFamily="34" charset="0"/>
              </a:rPr>
              <a:t>Importance of stakeholder involvement</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System users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System managers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S</a:t>
            </a:r>
            <a:r>
              <a:rPr lang="en-AU" sz="2200" dirty="0" smtClean="0">
                <a:latin typeface="Helvetica" pitchFamily="34" charset="0"/>
              </a:rPr>
              <a:t>ystem </a:t>
            </a:r>
            <a:r>
              <a:rPr lang="en-US" sz="2200" dirty="0" smtClean="0">
                <a:latin typeface="Helvetica" pitchFamily="34" charset="0"/>
              </a:rPr>
              <a:t>stakeholders</a:t>
            </a:r>
          </a:p>
          <a:p>
            <a:pPr>
              <a:spcBef>
                <a:spcPts val="600"/>
              </a:spcBef>
              <a:spcAft>
                <a:spcPts val="1200"/>
              </a:spcAft>
            </a:pPr>
            <a:r>
              <a:rPr lang="en-US" sz="2200" dirty="0" smtClean="0">
                <a:latin typeface="Helvetica" pitchFamily="34" charset="0"/>
              </a:rPr>
              <a:t>Purchasing decision makers</a:t>
            </a:r>
          </a:p>
          <a:p>
            <a:pPr>
              <a:spcBef>
                <a:spcPts val="600"/>
              </a:spcBef>
              <a:spcAft>
                <a:spcPts val="1200"/>
              </a:spcAft>
            </a:pPr>
            <a:r>
              <a:rPr lang="en-AU" sz="2200" dirty="0" smtClean="0">
                <a:latin typeface="Helvetica" pitchFamily="34" charset="0"/>
              </a:rPr>
              <a:t>Financial and IT team</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6" name="Picture 5" descr="1b.jpg"/>
          <p:cNvPicPr/>
          <p:nvPr/>
        </p:nvPicPr>
        <p:blipFill>
          <a:blip r:embed="rId3" cstate="print"/>
          <a:stretch>
            <a:fillRect/>
          </a:stretch>
        </p:blipFill>
        <p:spPr>
          <a:xfrm>
            <a:off x="5328652" y="2839922"/>
            <a:ext cx="2160240" cy="15841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spcBef>
                <a:spcPts val="600"/>
              </a:spcBef>
              <a:spcAft>
                <a:spcPts val="1200"/>
              </a:spcAft>
            </a:pPr>
            <a:r>
              <a:rPr lang="en-AU" sz="3400" b="1" dirty="0" smtClean="0">
                <a:solidFill>
                  <a:srgbClr val="FF6600"/>
                </a:solidFill>
                <a:latin typeface="Helvetica" pitchFamily="34" charset="0"/>
              </a:rPr>
              <a:t>Identify need for new or updated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lnSpcReduction="10000"/>
          </a:bodyPr>
          <a:lstStyle/>
          <a:p>
            <a:pPr>
              <a:spcBef>
                <a:spcPts val="600"/>
              </a:spcBef>
              <a:spcAft>
                <a:spcPts val="1200"/>
              </a:spcAft>
              <a:buNone/>
            </a:pPr>
            <a:r>
              <a:rPr lang="en-AU" sz="2200" b="1" dirty="0" smtClean="0">
                <a:latin typeface="Helvetica" pitchFamily="34" charset="0"/>
              </a:rPr>
              <a:t>Reasons to change or update financial systems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Company is growing</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Current systems seem outdated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Financial information and reports are not adequate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Internal requirements aren't being met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System is not identifying theft, wastage and other cost problems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Business processes have changed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Greater need for an integrated e-business                              software package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7" name="Picture 6" descr="ir.jpg"/>
          <p:cNvPicPr/>
          <p:nvPr/>
        </p:nvPicPr>
        <p:blipFill>
          <a:blip r:embed="rId3" cstate="print"/>
          <a:stretch>
            <a:fillRect/>
          </a:stretch>
        </p:blipFill>
        <p:spPr>
          <a:xfrm>
            <a:off x="6516216" y="4725144"/>
            <a:ext cx="1866900" cy="12477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spcBef>
                <a:spcPts val="600"/>
              </a:spcBef>
              <a:spcAft>
                <a:spcPts val="1200"/>
              </a:spcAft>
            </a:pPr>
            <a:r>
              <a:rPr lang="en-AU" sz="3400" b="1" dirty="0" smtClean="0">
                <a:solidFill>
                  <a:srgbClr val="FF6600"/>
                </a:solidFill>
                <a:latin typeface="Helvetica" pitchFamily="34" charset="0"/>
              </a:rPr>
              <a:t>Identify need for new or updated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846640" cy="4608512"/>
          </a:xfrm>
        </p:spPr>
        <p:txBody>
          <a:bodyPr>
            <a:normAutofit/>
          </a:bodyPr>
          <a:lstStyle/>
          <a:p>
            <a:pPr>
              <a:spcBef>
                <a:spcPts val="600"/>
              </a:spcBef>
              <a:spcAft>
                <a:spcPts val="1200"/>
              </a:spcAft>
              <a:buNone/>
            </a:pPr>
            <a:r>
              <a:rPr lang="en-AU" sz="2200" b="1" dirty="0" smtClean="0">
                <a:latin typeface="Helvetica" pitchFamily="34" charset="0"/>
              </a:rPr>
              <a:t>Overriding needs of a new or updated financial systems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Embraces industry-standard technology quickly and easily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Can customise easily to fit the special needs of the tourism organisation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Enables flexibly to new IT paradigms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Can meet any future changes of an organisation</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6" name="Picture 5" descr="shutterstock_184985339.jpg"/>
          <p:cNvPicPr>
            <a:picLocks noChangeAspect="1"/>
          </p:cNvPicPr>
          <p:nvPr/>
        </p:nvPicPr>
        <p:blipFill>
          <a:blip r:embed="rId3" cstate="print"/>
          <a:stretch>
            <a:fillRect/>
          </a:stretch>
        </p:blipFill>
        <p:spPr>
          <a:xfrm>
            <a:off x="2843808" y="4922405"/>
            <a:ext cx="1955186" cy="130606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spcBef>
                <a:spcPts val="600"/>
              </a:spcBef>
              <a:spcAft>
                <a:spcPts val="1200"/>
              </a:spcAft>
            </a:pPr>
            <a:r>
              <a:rPr lang="en-AU" sz="3400" b="1" dirty="0" smtClean="0">
                <a:solidFill>
                  <a:srgbClr val="FF6600"/>
                </a:solidFill>
                <a:latin typeface="Helvetica" pitchFamily="34" charset="0"/>
              </a:rPr>
              <a:t>Identify need for new or updated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846640" cy="5229200"/>
          </a:xfrm>
        </p:spPr>
        <p:txBody>
          <a:bodyPr>
            <a:normAutofit/>
          </a:bodyPr>
          <a:lstStyle/>
          <a:p>
            <a:pPr>
              <a:spcBef>
                <a:spcPts val="600"/>
              </a:spcBef>
              <a:spcAft>
                <a:spcPts val="600"/>
              </a:spcAft>
              <a:buNone/>
            </a:pPr>
            <a:r>
              <a:rPr lang="en-AU" sz="2000" b="1" dirty="0" smtClean="0">
                <a:latin typeface="Helvetica" pitchFamily="34" charset="0"/>
              </a:rPr>
              <a:t>Required outputs of a financial system</a:t>
            </a:r>
            <a:endParaRPr lang="en-US" sz="2000" b="1" dirty="0" smtClean="0">
              <a:latin typeface="Helvetica" pitchFamily="34" charset="0"/>
            </a:endParaRPr>
          </a:p>
          <a:p>
            <a:pPr marL="0">
              <a:spcBef>
                <a:spcPts val="600"/>
              </a:spcBef>
              <a:spcAft>
                <a:spcPts val="600"/>
              </a:spcAft>
              <a:buNone/>
            </a:pPr>
            <a:r>
              <a:rPr lang="en-AU" sz="2000" dirty="0" smtClean="0">
                <a:latin typeface="Helvetica" pitchFamily="34" charset="0"/>
              </a:rPr>
              <a:t>In essence the key outputs required from a financial system include:</a:t>
            </a:r>
            <a:endParaRPr lang="en-US" sz="2000" dirty="0" smtClean="0">
              <a:latin typeface="Helvetica" pitchFamily="34" charset="0"/>
            </a:endParaRPr>
          </a:p>
          <a:p>
            <a:pPr>
              <a:spcBef>
                <a:spcPts val="600"/>
              </a:spcBef>
              <a:spcAft>
                <a:spcPts val="600"/>
              </a:spcAft>
            </a:pPr>
            <a:r>
              <a:rPr lang="en-AU" sz="2000" dirty="0" smtClean="0">
                <a:latin typeface="Helvetica" pitchFamily="34" charset="0"/>
              </a:rPr>
              <a:t>Information for management decision-making</a:t>
            </a:r>
            <a:r>
              <a:rPr lang="en-US" sz="2000" dirty="0" smtClean="0">
                <a:latin typeface="Helvetica" pitchFamily="34" charset="0"/>
              </a:rPr>
              <a:t> - </a:t>
            </a:r>
            <a:r>
              <a:rPr lang="en-AU" sz="2000" dirty="0" smtClean="0">
                <a:latin typeface="Helvetica" pitchFamily="34" charset="0"/>
              </a:rPr>
              <a:t>spreadsheets, custom reports</a:t>
            </a:r>
            <a:endParaRPr lang="en-US" sz="2000" dirty="0" smtClean="0">
              <a:latin typeface="Helvetica" pitchFamily="34" charset="0"/>
            </a:endParaRPr>
          </a:p>
          <a:p>
            <a:pPr>
              <a:spcBef>
                <a:spcPts val="600"/>
              </a:spcBef>
              <a:spcAft>
                <a:spcPts val="600"/>
              </a:spcAft>
            </a:pPr>
            <a:r>
              <a:rPr lang="en-AU" sz="2000" dirty="0" smtClean="0">
                <a:latin typeface="Helvetica" pitchFamily="34" charset="0"/>
              </a:rPr>
              <a:t>Information for cash flow planning / forecasting</a:t>
            </a:r>
            <a:r>
              <a:rPr lang="en-US" sz="2000" dirty="0" smtClean="0">
                <a:latin typeface="Helvetica" pitchFamily="34" charset="0"/>
              </a:rPr>
              <a:t> - </a:t>
            </a:r>
            <a:r>
              <a:rPr lang="en-AU" sz="2000" dirty="0" smtClean="0">
                <a:latin typeface="Helvetica" pitchFamily="34" charset="0"/>
              </a:rPr>
              <a:t>sales orders, purchase orders</a:t>
            </a:r>
            <a:endParaRPr lang="en-US" sz="2000" dirty="0" smtClean="0">
              <a:latin typeface="Helvetica" pitchFamily="34" charset="0"/>
            </a:endParaRPr>
          </a:p>
          <a:p>
            <a:pPr>
              <a:spcBef>
                <a:spcPts val="600"/>
              </a:spcBef>
              <a:spcAft>
                <a:spcPts val="600"/>
              </a:spcAft>
            </a:pPr>
            <a:r>
              <a:rPr lang="en-AU" sz="2000" dirty="0" smtClean="0">
                <a:latin typeface="Helvetica" pitchFamily="34" charset="0"/>
              </a:rPr>
              <a:t>Billing and accounts receivable</a:t>
            </a:r>
            <a:endParaRPr lang="en-US" sz="2000" dirty="0" smtClean="0">
              <a:latin typeface="Helvetica" pitchFamily="34" charset="0"/>
            </a:endParaRPr>
          </a:p>
          <a:p>
            <a:pPr>
              <a:spcBef>
                <a:spcPts val="600"/>
              </a:spcBef>
              <a:spcAft>
                <a:spcPts val="600"/>
              </a:spcAft>
            </a:pPr>
            <a:r>
              <a:rPr lang="en-AU" sz="2000" dirty="0" smtClean="0">
                <a:latin typeface="Helvetica" pitchFamily="34" charset="0"/>
              </a:rPr>
              <a:t>Inventory control</a:t>
            </a:r>
            <a:endParaRPr lang="en-US" sz="2000" dirty="0" smtClean="0">
              <a:latin typeface="Helvetica" pitchFamily="34" charset="0"/>
            </a:endParaRPr>
          </a:p>
          <a:p>
            <a:pPr>
              <a:spcBef>
                <a:spcPts val="600"/>
              </a:spcBef>
              <a:spcAft>
                <a:spcPts val="600"/>
              </a:spcAft>
            </a:pPr>
            <a:r>
              <a:rPr lang="en-AU" sz="2000" dirty="0" smtClean="0">
                <a:latin typeface="Helvetica" pitchFamily="34" charset="0"/>
              </a:rPr>
              <a:t>General ledger</a:t>
            </a:r>
            <a:endParaRPr lang="en-US" sz="2000" dirty="0" smtClean="0">
              <a:latin typeface="Helvetica" pitchFamily="34" charset="0"/>
            </a:endParaRPr>
          </a:p>
          <a:p>
            <a:pPr>
              <a:spcBef>
                <a:spcPts val="600"/>
              </a:spcBef>
              <a:spcAft>
                <a:spcPts val="600"/>
              </a:spcAft>
            </a:pPr>
            <a:r>
              <a:rPr lang="en-AU" sz="2000" dirty="0" smtClean="0">
                <a:latin typeface="Helvetica" pitchFamily="34" charset="0"/>
              </a:rPr>
              <a:t>Payroll</a:t>
            </a:r>
            <a:endParaRPr lang="en-US" sz="2000" dirty="0" smtClean="0">
              <a:latin typeface="Helvetica" pitchFamily="34" charset="0"/>
            </a:endParaRPr>
          </a:p>
          <a:p>
            <a:pPr>
              <a:spcBef>
                <a:spcPts val="600"/>
              </a:spcBef>
              <a:spcAft>
                <a:spcPts val="600"/>
              </a:spcAft>
            </a:pPr>
            <a:r>
              <a:rPr lang="en-AU" sz="2000" dirty="0" smtClean="0">
                <a:latin typeface="Helvetica" pitchFamily="34" charset="0"/>
              </a:rPr>
              <a:t>Word processing</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7" name="Picture 6" descr="he.jpg"/>
          <p:cNvPicPr/>
          <p:nvPr/>
        </p:nvPicPr>
        <p:blipFill>
          <a:blip r:embed="rId3" cstate="print"/>
          <a:stretch>
            <a:fillRect/>
          </a:stretch>
        </p:blipFill>
        <p:spPr>
          <a:xfrm>
            <a:off x="6391273" y="4293096"/>
            <a:ext cx="1970930" cy="144016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spcBef>
                <a:spcPts val="600"/>
              </a:spcBef>
              <a:spcAft>
                <a:spcPts val="1200"/>
              </a:spcAft>
            </a:pPr>
            <a:r>
              <a:rPr lang="en-AU" sz="3400" b="1" dirty="0" smtClean="0">
                <a:solidFill>
                  <a:srgbClr val="FF6600"/>
                </a:solidFill>
                <a:latin typeface="Helvetica" pitchFamily="34" charset="0"/>
              </a:rPr>
              <a:t>Identify need for new or updated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846640" cy="5229200"/>
          </a:xfrm>
        </p:spPr>
        <p:txBody>
          <a:bodyPr>
            <a:normAutofit/>
          </a:bodyPr>
          <a:lstStyle/>
          <a:p>
            <a:pPr>
              <a:spcBef>
                <a:spcPts val="600"/>
              </a:spcBef>
              <a:spcAft>
                <a:spcPts val="1200"/>
              </a:spcAft>
              <a:buNone/>
            </a:pPr>
            <a:r>
              <a:rPr lang="en-AU" sz="2200" b="1" dirty="0" smtClean="0">
                <a:latin typeface="Helvetica" pitchFamily="34" charset="0"/>
              </a:rPr>
              <a:t>Consider budget requirements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Naturally the greatest influence in purchasing or upgrading financial systems will be the budget:</a:t>
            </a:r>
          </a:p>
          <a:p>
            <a:pPr>
              <a:spcBef>
                <a:spcPts val="600"/>
              </a:spcBef>
              <a:spcAft>
                <a:spcPts val="1200"/>
              </a:spcAft>
            </a:pPr>
            <a:r>
              <a:rPr lang="en-AU" sz="2200" dirty="0" smtClean="0">
                <a:latin typeface="Helvetica" pitchFamily="34" charset="0"/>
              </a:rPr>
              <a:t>What is a budget?</a:t>
            </a:r>
          </a:p>
          <a:p>
            <a:pPr>
              <a:spcBef>
                <a:spcPts val="600"/>
              </a:spcBef>
              <a:spcAft>
                <a:spcPts val="1200"/>
              </a:spcAft>
            </a:pPr>
            <a:r>
              <a:rPr lang="en-AU" sz="2200" dirty="0" smtClean="0">
                <a:latin typeface="Helvetica" pitchFamily="34" charset="0"/>
              </a:rPr>
              <a:t>How can you budget for a new </a:t>
            </a:r>
            <a:br>
              <a:rPr lang="en-AU" sz="2200" dirty="0" smtClean="0">
                <a:latin typeface="Helvetica" pitchFamily="34" charset="0"/>
              </a:rPr>
            </a:br>
            <a:r>
              <a:rPr lang="en-AU" sz="2200" dirty="0" smtClean="0">
                <a:latin typeface="Helvetica" pitchFamily="34" charset="0"/>
              </a:rPr>
              <a:t>financial system?</a:t>
            </a:r>
          </a:p>
          <a:p>
            <a:pPr>
              <a:spcBef>
                <a:spcPts val="600"/>
              </a:spcBef>
              <a:spcAft>
                <a:spcPts val="1200"/>
              </a:spcAft>
            </a:pPr>
            <a:endParaRPr lang="en-AU"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30</a:t>
            </a:r>
            <a:endParaRPr lang="en-US"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8" name="Picture 7" descr="lb.jpg"/>
          <p:cNvPicPr>
            <a:picLocks noChangeAspect="1"/>
          </p:cNvPicPr>
          <p:nvPr/>
        </p:nvPicPr>
        <p:blipFill>
          <a:blip r:embed="rId3" cstate="print"/>
          <a:stretch>
            <a:fillRect/>
          </a:stretch>
        </p:blipFill>
        <p:spPr>
          <a:xfrm>
            <a:off x="5812698" y="3068960"/>
            <a:ext cx="1601588" cy="179654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need for new or updated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Undertake a cost–benefit analysis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An accepted way of ensuring realistic computer asset expenditure is to undertake a cost–benefit analysis in relation to the asset that is to be purchased:</a:t>
            </a:r>
          </a:p>
          <a:p>
            <a:pPr>
              <a:spcBef>
                <a:spcPts val="600"/>
              </a:spcBef>
              <a:spcAft>
                <a:spcPts val="1200"/>
              </a:spcAft>
            </a:pPr>
            <a:r>
              <a:rPr lang="en-AU" sz="2200" dirty="0" smtClean="0">
                <a:latin typeface="Helvetica" pitchFamily="34" charset="0"/>
              </a:rPr>
              <a:t>What are possible costs?</a:t>
            </a:r>
          </a:p>
          <a:p>
            <a:pPr>
              <a:spcBef>
                <a:spcPts val="600"/>
              </a:spcBef>
              <a:spcAft>
                <a:spcPts val="1200"/>
              </a:spcAft>
            </a:pPr>
            <a:r>
              <a:rPr lang="en-AU" sz="2200" dirty="0" smtClean="0">
                <a:latin typeface="Helvetica" pitchFamily="34" charset="0"/>
              </a:rPr>
              <a:t>What are possible benefits?</a:t>
            </a:r>
            <a:endParaRPr lang="en-US"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6" name="Picture 5" descr="shutterstock_170750234.jpg"/>
          <p:cNvPicPr/>
          <p:nvPr/>
        </p:nvPicPr>
        <p:blipFill>
          <a:blip r:embed="rId3" cstate="print"/>
          <a:stretch>
            <a:fillRect/>
          </a:stretch>
        </p:blipFill>
        <p:spPr>
          <a:xfrm>
            <a:off x="1619672" y="4581128"/>
            <a:ext cx="2448272" cy="136815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Cost–benefit analysis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Purchase price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Opportunity cost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 of finance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Testing or compliance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Transportation costs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Site preparation costs</a:t>
            </a: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7" name="Picture 6" descr="shutterstock_178999811.jpg"/>
          <p:cNvPicPr/>
          <p:nvPr/>
        </p:nvPicPr>
        <p:blipFill>
          <a:blip r:embed="rId3" cstate="print"/>
          <a:stretch>
            <a:fillRect/>
          </a:stretch>
        </p:blipFill>
        <p:spPr>
          <a:xfrm>
            <a:off x="5076056" y="2696840"/>
            <a:ext cx="2551931" cy="172211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Cost–benefit analysis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Installation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Make-ready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Tooling, parts and suppliers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Spare parts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Training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 of power and consumables</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6" name="Picture 5" descr="W605_shutterstock_118993585.jpg"/>
          <p:cNvPicPr/>
          <p:nvPr/>
        </p:nvPicPr>
        <p:blipFill>
          <a:blip r:embed="rId3" cstate="print"/>
          <a:stretch>
            <a:fillRect/>
          </a:stretch>
        </p:blipFill>
        <p:spPr>
          <a:xfrm>
            <a:off x="5148064" y="2420888"/>
            <a:ext cx="2304256" cy="15841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Cost–benefit analysis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Service and maintenance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Insurance costs for the new item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 of adapting existing systems and procedures to accommodate the new purchase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Lost sales caused by interruption to normal business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Reduced levels of earnings while staff learn the new item</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Depreciation</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7" name="Picture 6" descr="shutterstock_107128706.jpg"/>
          <p:cNvPicPr>
            <a:picLocks noChangeAspect="1"/>
          </p:cNvPicPr>
          <p:nvPr/>
        </p:nvPicPr>
        <p:blipFill>
          <a:blip r:embed="rId3" cstate="print"/>
          <a:stretch>
            <a:fillRect/>
          </a:stretch>
        </p:blipFill>
        <p:spPr>
          <a:xfrm>
            <a:off x="6156176" y="1772816"/>
            <a:ext cx="1739916" cy="116052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Cost–benefit analysis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846640" cy="5517232"/>
          </a:xfrm>
        </p:spPr>
        <p:txBody>
          <a:bodyPr>
            <a:normAutofit/>
          </a:bodyPr>
          <a:lstStyle/>
          <a:p>
            <a:pPr>
              <a:spcBef>
                <a:spcPts val="600"/>
              </a:spcBef>
              <a:spcAft>
                <a:spcPts val="600"/>
              </a:spcAft>
              <a:buNone/>
            </a:pPr>
            <a:r>
              <a:rPr lang="en-US" sz="2000" b="1" dirty="0" smtClean="0">
                <a:latin typeface="Helvetica" pitchFamily="34" charset="0"/>
              </a:rPr>
              <a:t>Benefits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Greater efficiency</a:t>
            </a:r>
            <a:endParaRPr lang="en-US" sz="2000" dirty="0" smtClean="0">
              <a:latin typeface="Helvetica" pitchFamily="34" charset="0"/>
            </a:endParaRPr>
          </a:p>
          <a:p>
            <a:pPr lvl="0">
              <a:spcBef>
                <a:spcPts val="600"/>
              </a:spcBef>
              <a:spcAft>
                <a:spcPts val="600"/>
              </a:spcAft>
            </a:pPr>
            <a:r>
              <a:rPr lang="en-US" sz="2000" dirty="0" smtClean="0">
                <a:latin typeface="Helvetica" pitchFamily="34" charset="0"/>
              </a:rPr>
              <a:t>Better </a:t>
            </a:r>
            <a:r>
              <a:rPr lang="en-AU" sz="2000" dirty="0" smtClean="0">
                <a:latin typeface="Helvetica" pitchFamily="34" charset="0"/>
              </a:rPr>
              <a:t>decision-making capabilities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Improved cash flow</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More accurate information</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More control</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The ability to adapt to growth</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Higher levels of earnings/revenue</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Labour savings</a:t>
            </a:r>
            <a:endParaRPr lang="en-US" sz="2000" dirty="0" smtClean="0">
              <a:latin typeface="Helvetica" pitchFamily="34" charset="0"/>
            </a:endParaRPr>
          </a:p>
          <a:p>
            <a:pPr>
              <a:spcBef>
                <a:spcPts val="600"/>
              </a:spcBef>
              <a:spcAft>
                <a:spcPts val="600"/>
              </a:spcAft>
            </a:pPr>
            <a:r>
              <a:rPr lang="en-AU" sz="2000" dirty="0" smtClean="0">
                <a:latin typeface="Helvetica" pitchFamily="34" charset="0"/>
              </a:rPr>
              <a:t>Sale value of any disposed equipment</a:t>
            </a:r>
          </a:p>
          <a:p>
            <a:pPr>
              <a:spcBef>
                <a:spcPts val="600"/>
              </a:spcBef>
              <a:spcAft>
                <a:spcPts val="600"/>
              </a:spcAft>
              <a:buNone/>
            </a:pPr>
            <a:r>
              <a:rPr lang="en-US" sz="2000" b="1" dirty="0" smtClean="0">
                <a:solidFill>
                  <a:srgbClr val="FF6600"/>
                </a:solidFill>
                <a:latin typeface="Helvetica" pitchFamily="34" charset="0"/>
              </a:rPr>
              <a:t>COMPLETE ACTIVITY 31</a:t>
            </a:r>
            <a:endParaRPr lang="en-AU" sz="2000" dirty="0" smtClean="0">
              <a:latin typeface="Helvetica" pitchFamily="34" charset="0"/>
            </a:endParaRPr>
          </a:p>
          <a:p>
            <a:pPr>
              <a:spcBef>
                <a:spcPts val="600"/>
              </a:spcBef>
              <a:spcAft>
                <a:spcPts val="6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6" name="Picture 5" descr="shutterstock_114113611.jpg"/>
          <p:cNvPicPr/>
          <p:nvPr/>
        </p:nvPicPr>
        <p:blipFill>
          <a:blip r:embed="rId3" cstate="print"/>
          <a:stretch>
            <a:fillRect/>
          </a:stretch>
        </p:blipFill>
        <p:spPr>
          <a:xfrm>
            <a:off x="6156176" y="3861048"/>
            <a:ext cx="2286000" cy="15841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Non-cost related considerations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Identify non-cost related considerations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Types of hardware and software components required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Transition from old to new systems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Speed of installation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Ease of use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Transfer of existing data to new system</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Customisation of financial data and reports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Amount of training required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7" name="Picture 6" descr="2f.jpg"/>
          <p:cNvPicPr/>
          <p:nvPr/>
        </p:nvPicPr>
        <p:blipFill>
          <a:blip r:embed="rId3" cstate="print"/>
          <a:stretch>
            <a:fillRect/>
          </a:stretch>
        </p:blipFill>
        <p:spPr>
          <a:xfrm>
            <a:off x="6588224" y="4293096"/>
            <a:ext cx="1902460" cy="12763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Financial system training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Identify financial system training needs and costs</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Any financial systems and software, regardless of how well they are designed, are not going to be used in an efficient manner if all relevant users </a:t>
            </a:r>
            <a:r>
              <a:rPr lang="en-AU" sz="2200" dirty="0" smtClean="0">
                <a:latin typeface="Helvetica" pitchFamily="34" charset="0"/>
              </a:rPr>
              <a:t> are not properly trained to use it:</a:t>
            </a:r>
          </a:p>
          <a:p>
            <a:pPr>
              <a:spcBef>
                <a:spcPts val="600"/>
              </a:spcBef>
              <a:spcAft>
                <a:spcPts val="1200"/>
              </a:spcAft>
            </a:pPr>
            <a:r>
              <a:rPr lang="en-AU" sz="2200" dirty="0" smtClean="0">
                <a:latin typeface="Helvetica" pitchFamily="34" charset="0"/>
              </a:rPr>
              <a:t>How can you identify training need?</a:t>
            </a:r>
          </a:p>
          <a:p>
            <a:pPr>
              <a:spcBef>
                <a:spcPts val="600"/>
              </a:spcBef>
              <a:spcAft>
                <a:spcPts val="1200"/>
              </a:spcAft>
            </a:pPr>
            <a:r>
              <a:rPr lang="en-AU" sz="2200" dirty="0" smtClean="0">
                <a:latin typeface="Helvetica" pitchFamily="34" charset="0"/>
              </a:rPr>
              <a:t>What are examples of common training needs?</a:t>
            </a: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8" name="Picture 7" descr="MP900400043.JPG"/>
          <p:cNvPicPr/>
          <p:nvPr/>
        </p:nvPicPr>
        <p:blipFill>
          <a:blip r:embed="rId3" cstate="print"/>
          <a:stretch>
            <a:fillRect/>
          </a:stretch>
        </p:blipFill>
        <p:spPr>
          <a:xfrm>
            <a:off x="2843808" y="4673744"/>
            <a:ext cx="2075681" cy="133578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Financial system training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000" b="1" dirty="0" smtClean="0">
                <a:latin typeface="Helvetica" pitchFamily="34" charset="0"/>
              </a:rPr>
              <a:t>Financial system knowledge and skills to be trained</a:t>
            </a:r>
            <a:endParaRPr lang="en-AU" sz="2000" dirty="0" smtClean="0">
              <a:latin typeface="Helvetica" pitchFamily="34" charset="0"/>
            </a:endParaRPr>
          </a:p>
          <a:p>
            <a:pPr lvl="0">
              <a:spcBef>
                <a:spcPts val="600"/>
              </a:spcBef>
              <a:spcAft>
                <a:spcPts val="1200"/>
              </a:spcAft>
            </a:pPr>
            <a:r>
              <a:rPr lang="en-AU" sz="2000" dirty="0" smtClean="0">
                <a:latin typeface="Helvetica" pitchFamily="34" charset="0"/>
              </a:rPr>
              <a:t>Range of operational and accounting functions that can be controlled by the system</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Common operational entries, including encodes and decodes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Mandatory fields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Applying access codes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Interpreting and using on-screen prompts                                     to determine required information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Interpreting and applying on-screen                            abbreviations, acronyms and options</a:t>
            </a:r>
            <a:endParaRPr lang="en-US" sz="2000" dirty="0" smtClean="0">
              <a:latin typeface="Helvetica" pitchFamily="34" charset="0"/>
            </a:endParaRPr>
          </a:p>
          <a:p>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6" name="Picture 5" descr="W608_shutterstock_99673604.jpg"/>
          <p:cNvPicPr/>
          <p:nvPr/>
        </p:nvPicPr>
        <p:blipFill>
          <a:blip r:embed="rId3" cstate="print"/>
          <a:stretch>
            <a:fillRect/>
          </a:stretch>
        </p:blipFill>
        <p:spPr>
          <a:xfrm>
            <a:off x="6300192" y="4005064"/>
            <a:ext cx="2088232" cy="151216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Financial system training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Financial system knowledge and skills to be trained</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Completing required fields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Describing the field and menu links available between screens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Responding to system-related queries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Generating invoices, accounts, folios and statements and distributing them as required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Generating and distributing relevant reports                                      to other system users </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7" name="Picture 6" descr="A5 shutterstock_131103662.jpg"/>
          <p:cNvPicPr>
            <a:picLocks noChangeAspect="1"/>
          </p:cNvPicPr>
          <p:nvPr/>
        </p:nvPicPr>
        <p:blipFill>
          <a:blip r:embed="rId3" cstate="print"/>
          <a:stretch>
            <a:fillRect/>
          </a:stretch>
        </p:blipFill>
        <p:spPr>
          <a:xfrm>
            <a:off x="6732240" y="4509120"/>
            <a:ext cx="1631958" cy="108851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Financial system training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US" sz="2000" b="1" dirty="0" smtClean="0">
                <a:latin typeface="Helvetica" pitchFamily="34" charset="0"/>
              </a:rPr>
              <a:t>Types of financial system training</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Participating in formal training</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Utilisation of dedicated training software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Reading the User’s manual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Observing and listening to an experienced operator</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Asking questions about what is happening   </a:t>
            </a:r>
            <a:br>
              <a:rPr lang="en-AU" sz="2000" dirty="0" smtClean="0">
                <a:latin typeface="Helvetica" pitchFamily="34" charset="0"/>
              </a:rPr>
            </a:br>
            <a:r>
              <a:rPr lang="en-AU" sz="2000" dirty="0" smtClean="0">
                <a:latin typeface="Helvetica" pitchFamily="34" charset="0"/>
              </a:rPr>
              <a:t>and why things are done the way they are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Writing your own notes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On-going coaching and mentoring</a:t>
            </a:r>
            <a:endParaRPr lang="en-US" sz="2000" b="1" dirty="0" smtClean="0">
              <a:solidFill>
                <a:srgbClr val="FF6600"/>
              </a:solidFill>
              <a:latin typeface="Helvetica" pitchFamily="34" charset="0"/>
            </a:endParaRPr>
          </a:p>
          <a:p>
            <a:pPr>
              <a:spcBef>
                <a:spcPts val="600"/>
              </a:spcBef>
              <a:spcAft>
                <a:spcPts val="1200"/>
              </a:spcAft>
              <a:buNone/>
            </a:pPr>
            <a:r>
              <a:rPr lang="en-US" sz="2000" b="1" dirty="0" smtClean="0">
                <a:solidFill>
                  <a:srgbClr val="FF6600"/>
                </a:solidFill>
                <a:latin typeface="Helvetica" pitchFamily="34" charset="0"/>
              </a:rPr>
              <a:t>COMPLETE ACTIVITY 32</a:t>
            </a:r>
            <a:endParaRPr lang="en-AU" sz="2000" dirty="0" smtClean="0">
              <a:latin typeface="Helvetica" pitchFamily="34" charset="0"/>
            </a:endParaRPr>
          </a:p>
          <a:p>
            <a:pPr>
              <a:buNone/>
            </a:pPr>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7" name="Picture 6" descr="A17 shutterstock_179513282[1].JPG"/>
          <p:cNvPicPr>
            <a:picLocks noChangeAspect="1"/>
          </p:cNvPicPr>
          <p:nvPr/>
        </p:nvPicPr>
        <p:blipFill>
          <a:blip r:embed="rId3" cstate="print"/>
          <a:stretch>
            <a:fillRect/>
          </a:stretch>
        </p:blipFill>
        <p:spPr>
          <a:xfrm>
            <a:off x="6300192" y="4437112"/>
            <a:ext cx="2063790" cy="137654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Select appropriate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Research and select appropriate financial system</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Now that you have identified the requirements, costs, benefits and non-cost related considerations relating to a possible new or upgraded financial system, it is now time to: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hardware and software needs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Research different suppliers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key features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competitive advantage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costs</a:t>
            </a:r>
          </a:p>
          <a:p>
            <a:pPr>
              <a:spcBef>
                <a:spcPts val="600"/>
              </a:spcBef>
              <a:spcAft>
                <a:spcPts val="1200"/>
              </a:spcAft>
              <a:buNone/>
            </a:pPr>
            <a:r>
              <a:rPr lang="en-US" sz="2200" b="1" dirty="0" smtClean="0">
                <a:solidFill>
                  <a:srgbClr val="FF6600"/>
                </a:solidFill>
                <a:latin typeface="Helvetica" pitchFamily="34" charset="0"/>
              </a:rPr>
              <a:t>COMPLETE ACTIVITY 33</a:t>
            </a:r>
            <a:endParaRPr lang="en-AU"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6" name="Picture 5" descr="W607_shutterstock_169040459.jpg"/>
          <p:cNvPicPr/>
          <p:nvPr/>
        </p:nvPicPr>
        <p:blipFill>
          <a:blip r:embed="rId3" cstate="print"/>
          <a:stretch>
            <a:fillRect/>
          </a:stretch>
        </p:blipFill>
        <p:spPr>
          <a:xfrm>
            <a:off x="6372200" y="3933056"/>
            <a:ext cx="1975341" cy="1436167"/>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Planning for implementation of financial system</a:t>
            </a:r>
          </a:p>
          <a:p>
            <a:pPr marL="0">
              <a:spcBef>
                <a:spcPts val="600"/>
              </a:spcBef>
              <a:spcAft>
                <a:spcPts val="1200"/>
              </a:spcAft>
              <a:buNone/>
            </a:pPr>
            <a:r>
              <a:rPr lang="en-AU" sz="2200" dirty="0" smtClean="0">
                <a:latin typeface="Helvetica" pitchFamily="34" charset="0"/>
              </a:rPr>
              <a:t>Now that all financial system purchasing decisions have been made, it is now time to prepare for its implementation:</a:t>
            </a:r>
          </a:p>
          <a:p>
            <a:pPr>
              <a:spcBef>
                <a:spcPts val="600"/>
              </a:spcBef>
              <a:spcAft>
                <a:spcPts val="1200"/>
              </a:spcAft>
            </a:pPr>
            <a:r>
              <a:rPr lang="en-AU" sz="2200" dirty="0" smtClean="0">
                <a:latin typeface="Helvetica" pitchFamily="34" charset="0"/>
              </a:rPr>
              <a:t>What implementation activities need to take place?</a:t>
            </a:r>
          </a:p>
          <a:p>
            <a:pPr>
              <a:spcBef>
                <a:spcPts val="600"/>
              </a:spcBef>
              <a:spcAft>
                <a:spcPts val="1200"/>
              </a:spcAft>
            </a:pPr>
            <a:r>
              <a:rPr lang="en-AU" sz="2200" dirty="0" smtClean="0">
                <a:latin typeface="Helvetica" pitchFamily="34" charset="0"/>
              </a:rPr>
              <a:t>What considerations are there?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5" name="Picture 4" descr="shutterstock_81150025.jpg"/>
          <p:cNvPicPr/>
          <p:nvPr/>
        </p:nvPicPr>
        <p:blipFill>
          <a:blip r:embed="rId3" cstate="print"/>
          <a:stretch>
            <a:fillRect/>
          </a:stretch>
        </p:blipFill>
        <p:spPr>
          <a:xfrm>
            <a:off x="2267744" y="4114103"/>
            <a:ext cx="2160240" cy="15843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GB" sz="2000" b="1" dirty="0" smtClean="0">
                <a:latin typeface="Helvetica" pitchFamily="34" charset="0"/>
              </a:rPr>
              <a:t>Financial system implementation considerations</a:t>
            </a:r>
            <a:endParaRPr lang="en-US" sz="2000" b="1" dirty="0" smtClean="0">
              <a:latin typeface="Helvetica" pitchFamily="34" charset="0"/>
            </a:endParaRPr>
          </a:p>
          <a:p>
            <a:pPr lvl="0">
              <a:spcBef>
                <a:spcPts val="600"/>
              </a:spcBef>
              <a:spcAft>
                <a:spcPts val="1200"/>
              </a:spcAft>
            </a:pPr>
            <a:r>
              <a:rPr lang="en-GB" sz="2000" dirty="0" smtClean="0">
                <a:latin typeface="Helvetica" pitchFamily="34" charset="0"/>
              </a:rPr>
              <a:t>Identify all implementation actions to be taken </a:t>
            </a:r>
            <a:endParaRPr lang="en-US" sz="2000" dirty="0" smtClean="0">
              <a:latin typeface="Helvetica" pitchFamily="34" charset="0"/>
            </a:endParaRPr>
          </a:p>
          <a:p>
            <a:pPr lvl="0">
              <a:spcBef>
                <a:spcPts val="600"/>
              </a:spcBef>
              <a:spcAft>
                <a:spcPts val="1200"/>
              </a:spcAft>
            </a:pPr>
            <a:r>
              <a:rPr lang="en-GB" sz="2000" dirty="0" smtClean="0">
                <a:latin typeface="Helvetica" pitchFamily="34" charset="0"/>
              </a:rPr>
              <a:t>Allocation of responsibilities for action to nominated persons</a:t>
            </a:r>
            <a:endParaRPr lang="en-US" sz="2000" dirty="0" smtClean="0">
              <a:latin typeface="Helvetica" pitchFamily="34" charset="0"/>
            </a:endParaRPr>
          </a:p>
          <a:p>
            <a:pPr lvl="0">
              <a:spcBef>
                <a:spcPts val="600"/>
              </a:spcBef>
              <a:spcAft>
                <a:spcPts val="1200"/>
              </a:spcAft>
            </a:pPr>
            <a:r>
              <a:rPr lang="en-GB" sz="2000" dirty="0" smtClean="0">
                <a:latin typeface="Helvetica" pitchFamily="34" charset="0"/>
              </a:rPr>
              <a:t>Determination of accountability for actions taken</a:t>
            </a:r>
            <a:endParaRPr lang="en-US" sz="2000" dirty="0" smtClean="0">
              <a:latin typeface="Helvetica" pitchFamily="34" charset="0"/>
            </a:endParaRPr>
          </a:p>
          <a:p>
            <a:pPr lvl="0">
              <a:spcBef>
                <a:spcPts val="600"/>
              </a:spcBef>
              <a:spcAft>
                <a:spcPts val="1200"/>
              </a:spcAft>
            </a:pPr>
            <a:r>
              <a:rPr lang="en-GB" sz="2000" dirty="0" smtClean="0">
                <a:latin typeface="Helvetica" pitchFamily="34" charset="0"/>
              </a:rPr>
              <a:t>Timelines for completion of nominated actions</a:t>
            </a:r>
            <a:endParaRPr lang="en-US" sz="2000" dirty="0" smtClean="0">
              <a:latin typeface="Helvetica" pitchFamily="34" charset="0"/>
            </a:endParaRPr>
          </a:p>
          <a:p>
            <a:pPr lvl="0">
              <a:spcBef>
                <a:spcPts val="600"/>
              </a:spcBef>
              <a:spcAft>
                <a:spcPts val="1200"/>
              </a:spcAft>
            </a:pPr>
            <a:r>
              <a:rPr lang="en-GB" sz="2000" dirty="0" smtClean="0">
                <a:latin typeface="Helvetica" pitchFamily="34" charset="0"/>
              </a:rPr>
              <a:t>Compliance requirements </a:t>
            </a:r>
            <a:endParaRPr lang="en-US" sz="2000" b="1" dirty="0" smtClean="0">
              <a:latin typeface="Helvetica" pitchFamily="34" charset="0"/>
            </a:endParaRPr>
          </a:p>
          <a:p>
            <a:pPr lvl="0">
              <a:spcBef>
                <a:spcPts val="600"/>
              </a:spcBef>
              <a:spcAft>
                <a:spcPts val="1200"/>
              </a:spcAft>
            </a:pPr>
            <a:r>
              <a:rPr lang="en-US" sz="2000" dirty="0" smtClean="0">
                <a:latin typeface="Helvetica" pitchFamily="34" charset="0"/>
              </a:rPr>
              <a:t>Arranging arrival and security of                               </a:t>
            </a:r>
            <a:r>
              <a:rPr lang="en-AU" sz="2000" dirty="0" smtClean="0">
                <a:latin typeface="Helvetica" pitchFamily="34" charset="0"/>
              </a:rPr>
              <a:t>financial system</a:t>
            </a:r>
            <a:endParaRPr lang="en-US" sz="2000" b="1" dirty="0" smtClean="0">
              <a:latin typeface="Helvetica" pitchFamily="34" charset="0"/>
            </a:endParaRPr>
          </a:p>
          <a:p>
            <a:pPr lvl="0">
              <a:spcBef>
                <a:spcPts val="600"/>
              </a:spcBef>
              <a:spcAft>
                <a:spcPts val="1200"/>
              </a:spcAft>
            </a:pPr>
            <a:r>
              <a:rPr lang="en-AU" sz="2000" dirty="0" smtClean="0">
                <a:latin typeface="Helvetica" pitchFamily="34" charset="0"/>
              </a:rPr>
              <a:t>Timing of new system assets to be                                                      implemented</a:t>
            </a:r>
            <a:endParaRPr lang="en-US" sz="20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6" name="Picture 5" descr="A16 shutterstock_173793329.jpg"/>
          <p:cNvPicPr/>
          <p:nvPr/>
        </p:nvPicPr>
        <p:blipFill>
          <a:blip r:embed="rId3" cstate="print"/>
          <a:stretch>
            <a:fillRect/>
          </a:stretch>
        </p:blipFill>
        <p:spPr>
          <a:xfrm>
            <a:off x="6350695" y="4293096"/>
            <a:ext cx="1981200" cy="12382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GB" sz="2000" b="1" dirty="0" smtClean="0">
                <a:latin typeface="Helvetica" pitchFamily="34" charset="0"/>
              </a:rPr>
              <a:t>Financial system implementation considerations</a:t>
            </a:r>
            <a:endParaRPr lang="en-US" sz="2000" b="1" dirty="0" smtClean="0">
              <a:latin typeface="Helvetica" pitchFamily="34" charset="0"/>
            </a:endParaRPr>
          </a:p>
          <a:p>
            <a:pPr lvl="0">
              <a:spcBef>
                <a:spcPts val="600"/>
              </a:spcBef>
              <a:spcAft>
                <a:spcPts val="1200"/>
              </a:spcAft>
            </a:pPr>
            <a:r>
              <a:rPr lang="en-AU" sz="2000" dirty="0" smtClean="0">
                <a:latin typeface="Helvetica" pitchFamily="34" charset="0"/>
              </a:rPr>
              <a:t>Saving information from old system assets</a:t>
            </a:r>
            <a:endParaRPr lang="en-US" sz="2000" b="1" dirty="0" smtClean="0">
              <a:latin typeface="Helvetica" pitchFamily="34" charset="0"/>
            </a:endParaRPr>
          </a:p>
          <a:p>
            <a:pPr lvl="0">
              <a:spcBef>
                <a:spcPts val="600"/>
              </a:spcBef>
              <a:spcAft>
                <a:spcPts val="1200"/>
              </a:spcAft>
            </a:pPr>
            <a:r>
              <a:rPr lang="en-US" sz="2000" dirty="0" smtClean="0">
                <a:latin typeface="Helvetica" pitchFamily="34" charset="0"/>
              </a:rPr>
              <a:t>Removal, storage and sale of old system assets</a:t>
            </a:r>
            <a:endParaRPr lang="en-US" sz="2000" b="1" dirty="0" smtClean="0">
              <a:latin typeface="Helvetica" pitchFamily="34" charset="0"/>
            </a:endParaRPr>
          </a:p>
          <a:p>
            <a:pPr lvl="0">
              <a:spcBef>
                <a:spcPts val="600"/>
              </a:spcBef>
              <a:spcAft>
                <a:spcPts val="1200"/>
              </a:spcAft>
            </a:pPr>
            <a:r>
              <a:rPr lang="en-AU" sz="2000" dirty="0" smtClean="0">
                <a:latin typeface="Helvetica" pitchFamily="34" charset="0"/>
              </a:rPr>
              <a:t>Arranging location and physical layout of new assets</a:t>
            </a:r>
            <a:endParaRPr lang="en-US" sz="2000" b="1" dirty="0" smtClean="0">
              <a:latin typeface="Helvetica" pitchFamily="34" charset="0"/>
            </a:endParaRPr>
          </a:p>
          <a:p>
            <a:pPr lvl="0">
              <a:spcBef>
                <a:spcPts val="600"/>
              </a:spcBef>
              <a:spcAft>
                <a:spcPts val="1200"/>
              </a:spcAft>
            </a:pPr>
            <a:r>
              <a:rPr lang="en-US" sz="2000" dirty="0" smtClean="0">
                <a:latin typeface="Helvetica" pitchFamily="34" charset="0"/>
              </a:rPr>
              <a:t>Unpacking and installing new financial system</a:t>
            </a:r>
            <a:endParaRPr lang="en-US" sz="2000" b="1" dirty="0" smtClean="0">
              <a:latin typeface="Helvetica" pitchFamily="34" charset="0"/>
            </a:endParaRPr>
          </a:p>
          <a:p>
            <a:pPr lvl="0">
              <a:spcBef>
                <a:spcPts val="600"/>
              </a:spcBef>
              <a:spcAft>
                <a:spcPts val="1200"/>
              </a:spcAft>
            </a:pPr>
            <a:r>
              <a:rPr lang="en-GB" sz="2000" dirty="0" smtClean="0">
                <a:latin typeface="Helvetica" pitchFamily="34" charset="0"/>
              </a:rPr>
              <a:t>Timing issues</a:t>
            </a:r>
            <a:endParaRPr lang="en-US" sz="2000" b="1" dirty="0" smtClean="0">
              <a:latin typeface="Helvetica" pitchFamily="34" charset="0"/>
            </a:endParaRPr>
          </a:p>
          <a:p>
            <a:pPr lvl="0">
              <a:spcBef>
                <a:spcPts val="600"/>
              </a:spcBef>
              <a:spcAft>
                <a:spcPts val="1200"/>
              </a:spcAft>
            </a:pPr>
            <a:r>
              <a:rPr lang="en-GB" sz="2000" dirty="0" smtClean="0">
                <a:latin typeface="Helvetica" pitchFamily="34" charset="0"/>
              </a:rPr>
              <a:t>Resources</a:t>
            </a:r>
          </a:p>
          <a:p>
            <a:pPr lvl="0">
              <a:spcBef>
                <a:spcPts val="600"/>
              </a:spcBef>
              <a:spcAft>
                <a:spcPts val="1200"/>
              </a:spcAft>
            </a:pPr>
            <a:r>
              <a:rPr lang="en-US" sz="2000" dirty="0" smtClean="0">
                <a:latin typeface="Helvetica" pitchFamily="34" charset="0"/>
              </a:rPr>
              <a:t>Aligning new financial system to existing                          structures, hardware and software systems</a:t>
            </a:r>
            <a:endParaRPr lang="en-US" sz="2000" b="1" dirty="0" smtClean="0">
              <a:latin typeface="Helvetica" pitchFamily="34" charset="0"/>
            </a:endParaRPr>
          </a:p>
          <a:p>
            <a:pPr lvl="0">
              <a:spcBef>
                <a:spcPts val="600"/>
              </a:spcBef>
              <a:spcAft>
                <a:spcPts val="1200"/>
              </a:spcAft>
            </a:pPr>
            <a:r>
              <a:rPr lang="en-GB" sz="2000" dirty="0" smtClean="0">
                <a:latin typeface="Helvetica" pitchFamily="34" charset="0"/>
              </a:rPr>
              <a:t>Integration with other aspects of the business</a:t>
            </a:r>
            <a:endParaRPr lang="en-US" sz="2000" b="1" dirty="0" smtClean="0">
              <a:latin typeface="Helvetica" pitchFamily="34" charset="0"/>
            </a:endParaRPr>
          </a:p>
          <a:p>
            <a:pPr lvl="0"/>
            <a:endParaRPr lang="en-US" sz="20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7" name="Picture 6" descr="A9 shutterstock_155310890.jpg"/>
          <p:cNvPicPr>
            <a:picLocks noChangeAspect="1"/>
          </p:cNvPicPr>
          <p:nvPr/>
        </p:nvPicPr>
        <p:blipFill>
          <a:blip r:embed="rId3" cstate="print"/>
          <a:stretch>
            <a:fillRect/>
          </a:stretch>
        </p:blipFill>
        <p:spPr>
          <a:xfrm>
            <a:off x="6349938" y="4149080"/>
            <a:ext cx="2143846" cy="122413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GB" sz="2200" b="1" dirty="0" smtClean="0">
                <a:latin typeface="Helvetica" pitchFamily="34" charset="0"/>
              </a:rPr>
              <a:t>Financial system implementation considerations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Adding information to new </a:t>
            </a:r>
            <a:r>
              <a:rPr lang="en-US" sz="2200" dirty="0" smtClean="0">
                <a:latin typeface="Helvetica" pitchFamily="34" charset="0"/>
              </a:rPr>
              <a:t>financial system</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Changes to policies and procedures</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Documentation &amp; record keeping </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Impact on organisational culture </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Anticipation of problems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Training for staff to become knowledgable and                             productive with new financial system</a:t>
            </a:r>
            <a:endParaRPr lang="en-US" sz="2200" b="1" dirty="0" smtClean="0">
              <a:latin typeface="Helvetica" pitchFamily="34" charset="0"/>
            </a:endParaRPr>
          </a:p>
          <a:p>
            <a:pPr lvl="0"/>
            <a:endParaRPr lang="en-US"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6" name="Picture 5" descr="A15 shutterstock_173608850[1].JPG"/>
          <p:cNvPicPr>
            <a:picLocks noChangeAspect="1"/>
          </p:cNvPicPr>
          <p:nvPr/>
        </p:nvPicPr>
        <p:blipFill>
          <a:blip r:embed="rId3" cstate="print"/>
          <a:stretch>
            <a:fillRect/>
          </a:stretch>
        </p:blipFill>
        <p:spPr>
          <a:xfrm>
            <a:off x="6118169" y="2996952"/>
            <a:ext cx="2054282" cy="136815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000" b="1" dirty="0" smtClean="0">
                <a:latin typeface="Helvetica" pitchFamily="34" charset="0"/>
              </a:rPr>
              <a:t>Communicate implementation actions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Reasoning or purpose behind the changes to the financial system</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Identification of the key changes that are taking place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Identification of how the new financial system will benefit them</a:t>
            </a:r>
            <a:endParaRPr lang="en-US" sz="2000" dirty="0" smtClean="0">
              <a:latin typeface="Helvetica" pitchFamily="34" charset="0"/>
            </a:endParaRPr>
          </a:p>
          <a:p>
            <a:pPr lvl="0">
              <a:spcBef>
                <a:spcPts val="600"/>
              </a:spcBef>
              <a:spcAft>
                <a:spcPts val="1200"/>
              </a:spcAft>
            </a:pPr>
            <a:r>
              <a:rPr lang="en-SG" sz="2000" dirty="0" smtClean="0">
                <a:latin typeface="Helvetica" pitchFamily="34" charset="0"/>
              </a:rPr>
              <a:t>Start dates of implementation</a:t>
            </a:r>
            <a:endParaRPr lang="en-US" sz="2000" dirty="0" smtClean="0">
              <a:latin typeface="Helvetica" pitchFamily="34" charset="0"/>
            </a:endParaRPr>
          </a:p>
          <a:p>
            <a:pPr lvl="0">
              <a:spcBef>
                <a:spcPts val="600"/>
              </a:spcBef>
              <a:spcAft>
                <a:spcPts val="1200"/>
              </a:spcAft>
            </a:pPr>
            <a:r>
              <a:rPr lang="en-SG" sz="2000" dirty="0" smtClean="0">
                <a:latin typeface="Helvetica" pitchFamily="34" charset="0"/>
              </a:rPr>
              <a:t>Expected completion dates</a:t>
            </a:r>
            <a:endParaRPr lang="en-US" sz="2000" dirty="0" smtClean="0">
              <a:latin typeface="Helvetica" pitchFamily="34" charset="0"/>
            </a:endParaRPr>
          </a:p>
          <a:p>
            <a:pPr>
              <a:spcBef>
                <a:spcPts val="600"/>
              </a:spcBef>
              <a:spcAft>
                <a:spcPts val="1200"/>
              </a:spcAft>
            </a:pPr>
            <a:r>
              <a:rPr lang="en-SG" sz="2000" dirty="0" smtClean="0">
                <a:latin typeface="Helvetica" pitchFamily="34" charset="0"/>
              </a:rPr>
              <a:t>How the implementation will be implemented</a:t>
            </a:r>
            <a:endParaRPr lang="en-US" sz="2000" dirty="0" smtClean="0">
              <a:latin typeface="Helvetica" pitchFamily="34" charset="0"/>
            </a:endParaRPr>
          </a:p>
          <a:p>
            <a:pPr>
              <a:spcBef>
                <a:spcPts val="600"/>
              </a:spcBef>
              <a:spcAft>
                <a:spcPts val="1200"/>
              </a:spcAft>
            </a:pPr>
            <a:r>
              <a:rPr lang="en-SG" sz="2000" dirty="0" smtClean="0">
                <a:latin typeface="Helvetica" pitchFamily="34" charset="0"/>
              </a:rPr>
              <a:t>Activities to be performed</a:t>
            </a:r>
            <a:endParaRPr lang="en-US" sz="2000" dirty="0" smtClean="0">
              <a:latin typeface="Helvetica" pitchFamily="34" charset="0"/>
            </a:endParaRPr>
          </a:p>
          <a:p>
            <a:pPr>
              <a:spcBef>
                <a:spcPts val="600"/>
              </a:spcBef>
              <a:spcAft>
                <a:spcPts val="1200"/>
              </a:spcAft>
            </a:pPr>
            <a:r>
              <a:rPr lang="en-SG" sz="2000" dirty="0" smtClean="0">
                <a:latin typeface="Helvetica" pitchFamily="34" charset="0"/>
              </a:rPr>
              <a:t>Resources required to implement the plan</a:t>
            </a:r>
            <a:endParaRPr lang="en-US" sz="2000" dirty="0" smtClean="0">
              <a:latin typeface="Helvetica" pitchFamily="34" charset="0"/>
            </a:endParaRPr>
          </a:p>
          <a:p>
            <a:pPr lvl="0"/>
            <a:endParaRPr lang="en-US" sz="20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7" name="Picture 6" descr="W270_whiteboard_shutterstock_147483182.jpg"/>
          <p:cNvPicPr/>
          <p:nvPr/>
        </p:nvPicPr>
        <p:blipFill>
          <a:blip r:embed="rId3" cstate="print"/>
          <a:stretch>
            <a:fillRect/>
          </a:stretch>
        </p:blipFill>
        <p:spPr>
          <a:xfrm>
            <a:off x="6372200" y="4005064"/>
            <a:ext cx="2016224" cy="1334641"/>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Communicate implementation actions</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Work breakdown</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Involvement of other staff</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Roles and responsibilities of staff</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Pre-change activities including attending meetings, reading job descriptions etc</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Timelines for implementation</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Training activities that will take place</a:t>
            </a:r>
            <a:endParaRPr lang="en-US" sz="2200" dirty="0" smtClean="0">
              <a:latin typeface="Helvetica" pitchFamily="34" charset="0"/>
            </a:endParaRPr>
          </a:p>
          <a:p>
            <a:pPr lvl="0"/>
            <a:endParaRPr lang="en-US"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6" name="Picture 5" descr="shutterstock_95857066.jpg"/>
          <p:cNvPicPr/>
          <p:nvPr/>
        </p:nvPicPr>
        <p:blipFill>
          <a:blip r:embed="rId3" cstate="print"/>
          <a:stretch>
            <a:fillRect/>
          </a:stretch>
        </p:blipFill>
        <p:spPr>
          <a:xfrm>
            <a:off x="6675478" y="4293096"/>
            <a:ext cx="1668780" cy="13716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financial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Communicate implementation actions</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Support mechanisms</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Expected standard of performance</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Milestones for completion</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Budgets to work within</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Methods of communication</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Making observations and providing feedback</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34</a:t>
            </a:r>
            <a:endParaRPr lang="en-AU"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lvl="0"/>
            <a:endParaRPr lang="en-US"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7" name="Picture 6" descr="A11 158587457.jpg"/>
          <p:cNvPicPr>
            <a:picLocks noChangeAspect="1"/>
          </p:cNvPicPr>
          <p:nvPr/>
        </p:nvPicPr>
        <p:blipFill>
          <a:blip r:embed="rId3" cstate="print"/>
          <a:stretch>
            <a:fillRect/>
          </a:stretch>
        </p:blipFill>
        <p:spPr>
          <a:xfrm>
            <a:off x="6156176" y="2836466"/>
            <a:ext cx="1955832" cy="130454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Test system updates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testing system updates</a:t>
            </a:r>
          </a:p>
          <a:p>
            <a:pPr marL="0">
              <a:spcBef>
                <a:spcPts val="600"/>
              </a:spcBef>
              <a:spcAft>
                <a:spcPts val="1200"/>
              </a:spcAft>
              <a:buNone/>
            </a:pPr>
            <a:r>
              <a:rPr lang="en-AU" sz="2200" dirty="0" smtClean="0">
                <a:latin typeface="Helvetica" pitchFamily="34" charset="0"/>
              </a:rPr>
              <a:t>Once we have introduced financial systems, it is important to undertake a test of the system.</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This is important to ensure that the system elements are running as intended:</a:t>
            </a:r>
          </a:p>
          <a:p>
            <a:pPr>
              <a:spcBef>
                <a:spcPts val="600"/>
              </a:spcBef>
              <a:spcAft>
                <a:spcPts val="1200"/>
              </a:spcAft>
            </a:pPr>
            <a:r>
              <a:rPr lang="en-AU" sz="2200" dirty="0" smtClean="0">
                <a:latin typeface="Helvetica" pitchFamily="34" charset="0"/>
              </a:rPr>
              <a:t>What do you want to test?</a:t>
            </a:r>
          </a:p>
          <a:p>
            <a:pPr>
              <a:spcBef>
                <a:spcPts val="600"/>
              </a:spcBef>
              <a:spcAft>
                <a:spcPts val="1200"/>
              </a:spcAft>
            </a:pPr>
            <a:r>
              <a:rPr lang="en-AU" sz="2200" dirty="0" smtClean="0">
                <a:latin typeface="Helvetica" pitchFamily="34" charset="0"/>
              </a:rPr>
              <a:t>How can you test it?</a:t>
            </a:r>
          </a:p>
          <a:p>
            <a:pPr>
              <a:spcBef>
                <a:spcPts val="600"/>
              </a:spcBef>
              <a:spcAft>
                <a:spcPts val="1200"/>
              </a:spcAft>
            </a:pPr>
            <a:r>
              <a:rPr lang="en-AU" sz="2200" dirty="0" smtClean="0">
                <a:latin typeface="Helvetica" pitchFamily="34" charset="0"/>
              </a:rPr>
              <a:t>Who should be involved in the test?</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5" name="Picture 4" descr="A8 shutterstock_149513465.jpg"/>
          <p:cNvPicPr/>
          <p:nvPr/>
        </p:nvPicPr>
        <p:blipFill>
          <a:blip r:embed="rId3" cstate="print"/>
          <a:stretch>
            <a:fillRect/>
          </a:stretch>
        </p:blipFill>
        <p:spPr>
          <a:xfrm>
            <a:off x="6444208" y="4221088"/>
            <a:ext cx="1939082" cy="129748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Test system updates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600"/>
              </a:spcAft>
              <a:buNone/>
            </a:pPr>
            <a:r>
              <a:rPr lang="en-AU" sz="2200" b="1" dirty="0" smtClean="0">
                <a:latin typeface="Helvetica" pitchFamily="34" charset="0"/>
              </a:rPr>
              <a:t>Purpose of testing new or updated financial systems</a:t>
            </a:r>
            <a:endParaRPr lang="en-US" sz="2200" dirty="0" smtClean="0">
              <a:latin typeface="Helvetica" pitchFamily="34" charset="0"/>
            </a:endParaRPr>
          </a:p>
          <a:p>
            <a:pPr marL="0">
              <a:spcBef>
                <a:spcPts val="600"/>
              </a:spcBef>
              <a:spcAft>
                <a:spcPts val="600"/>
              </a:spcAft>
              <a:buNone/>
            </a:pPr>
            <a:r>
              <a:rPr lang="en-AU" sz="2200" dirty="0" smtClean="0">
                <a:latin typeface="Helvetica" pitchFamily="34" charset="0"/>
              </a:rPr>
              <a:t>The purpose of testing new or upgraded systems includes, but not limited to ensuring:</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Hardware is installed, in correct quantity and working correctly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Software is successfully installed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New or upgraded system elements are                                      integrated with existing system</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Financial information has been transferred                        correctly between systems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No financial data has been lost</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6" name="Picture 5" descr="shutterstock_170984318.jpg"/>
          <p:cNvPicPr>
            <a:picLocks noChangeAspect="1"/>
          </p:cNvPicPr>
          <p:nvPr/>
        </p:nvPicPr>
        <p:blipFill>
          <a:blip r:embed="rId3" cstate="print"/>
          <a:stretch>
            <a:fillRect/>
          </a:stretch>
        </p:blipFill>
        <p:spPr>
          <a:xfrm>
            <a:off x="6804248" y="3284984"/>
            <a:ext cx="1393453" cy="181203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Test system updates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Purpose of testing new or updated financial systems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System functions are operating as intended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System changes reflect changed requirements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Unanticipated flow-on effects from the changes and updates have been identified and addressed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Staff are familiar with functions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Staff can identify and resolve problems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7" name="Picture 6" descr="shutterstock_150502661.jpg"/>
          <p:cNvPicPr/>
          <p:nvPr/>
        </p:nvPicPr>
        <p:blipFill>
          <a:blip r:embed="rId3" cstate="print"/>
          <a:stretch>
            <a:fillRect/>
          </a:stretch>
        </p:blipFill>
        <p:spPr>
          <a:xfrm>
            <a:off x="6516216" y="4149080"/>
            <a:ext cx="1890316" cy="142664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Test system updates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lnSpcReduction="10000"/>
          </a:bodyPr>
          <a:lstStyle/>
          <a:p>
            <a:pPr>
              <a:spcBef>
                <a:spcPts val="600"/>
              </a:spcBef>
              <a:spcAft>
                <a:spcPts val="1200"/>
              </a:spcAft>
              <a:buNone/>
            </a:pPr>
            <a:r>
              <a:rPr lang="en-AU" sz="2200" b="1" dirty="0" smtClean="0">
                <a:latin typeface="Helvetica" pitchFamily="34" charset="0"/>
              </a:rPr>
              <a:t>Purpose of testing new or updated financial systems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Any staff issues or concerns are addressed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Staff can input financial information to produce desired outputs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Outputs, such as reports, are produced in its desired format in a timely manner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Future actions, including further changes, </a:t>
            </a:r>
            <a:br>
              <a:rPr lang="en-AU" sz="2200" dirty="0" smtClean="0">
                <a:latin typeface="Helvetica" pitchFamily="34" charset="0"/>
              </a:rPr>
            </a:br>
            <a:r>
              <a:rPr lang="en-AU" sz="2200" dirty="0" smtClean="0">
                <a:latin typeface="Helvetica" pitchFamily="34" charset="0"/>
              </a:rPr>
              <a:t>are identified</a:t>
            </a:r>
          </a:p>
          <a:p>
            <a:pPr lvl="0">
              <a:spcBef>
                <a:spcPts val="600"/>
              </a:spcBef>
              <a:spcAft>
                <a:spcPts val="1200"/>
              </a:spcAft>
              <a:buNone/>
            </a:pPr>
            <a:endParaRPr lang="en-AU"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35</a:t>
            </a:r>
            <a:endParaRPr lang="en-AU" sz="2200" dirty="0" smtClean="0">
              <a:latin typeface="Helvetica" pitchFamily="34" charset="0"/>
            </a:endParaRPr>
          </a:p>
          <a:p>
            <a:pPr lvl="0">
              <a:buNone/>
            </a:pPr>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6" name="Picture 5" descr="A21 shutterstock_182028425.jpg"/>
          <p:cNvPicPr>
            <a:picLocks noChangeAspect="1"/>
          </p:cNvPicPr>
          <p:nvPr/>
        </p:nvPicPr>
        <p:blipFill>
          <a:blip r:embed="rId3" cstate="print"/>
          <a:stretch>
            <a:fillRect/>
          </a:stretch>
        </p:blipFill>
        <p:spPr>
          <a:xfrm>
            <a:off x="6416425" y="4365104"/>
            <a:ext cx="1944216" cy="129679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Review system implementation test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reviewing test</a:t>
            </a:r>
          </a:p>
          <a:p>
            <a:pPr marL="0">
              <a:spcBef>
                <a:spcPts val="600"/>
              </a:spcBef>
              <a:spcAft>
                <a:spcPts val="1200"/>
              </a:spcAft>
              <a:buNone/>
            </a:pPr>
            <a:r>
              <a:rPr lang="en-AU" sz="2200" dirty="0" smtClean="0">
                <a:latin typeface="Helvetica" pitchFamily="34" charset="0"/>
              </a:rPr>
              <a:t>Now that the test of new and updated financial systems have been conducted, it is now time to:</a:t>
            </a:r>
          </a:p>
          <a:p>
            <a:pPr>
              <a:spcBef>
                <a:spcPts val="600"/>
              </a:spcBef>
              <a:spcAft>
                <a:spcPts val="1200"/>
              </a:spcAft>
            </a:pPr>
            <a:r>
              <a:rPr lang="en-AU" sz="2200" dirty="0" smtClean="0">
                <a:latin typeface="Helvetica" pitchFamily="34" charset="0"/>
              </a:rPr>
              <a:t>Review the success of the test</a:t>
            </a:r>
          </a:p>
          <a:p>
            <a:pPr>
              <a:spcBef>
                <a:spcPts val="600"/>
              </a:spcBef>
              <a:spcAft>
                <a:spcPts val="1200"/>
              </a:spcAft>
            </a:pPr>
            <a:r>
              <a:rPr lang="en-AU" sz="2200" dirty="0" smtClean="0">
                <a:latin typeface="Helvetica" pitchFamily="34" charset="0"/>
              </a:rPr>
              <a:t>Identify if the new changes meet the original requirements that it was purchased and implemented to achieve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5" name="Picture 4" descr="shutterstock_122607490.jpg"/>
          <p:cNvPicPr/>
          <p:nvPr/>
        </p:nvPicPr>
        <p:blipFill>
          <a:blip r:embed="rId3" cstate="print"/>
          <a:stretch>
            <a:fillRect/>
          </a:stretch>
        </p:blipFill>
        <p:spPr>
          <a:xfrm>
            <a:off x="2771800" y="4509120"/>
            <a:ext cx="2232248" cy="15841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Review system implementation test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US" sz="2200" b="1" dirty="0" smtClean="0">
                <a:latin typeface="Helvetica" pitchFamily="34" charset="0"/>
              </a:rPr>
              <a:t>Importance of reviewing system implementation test</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Understand general success</a:t>
            </a:r>
          </a:p>
          <a:p>
            <a:pPr lvl="0">
              <a:spcBef>
                <a:spcPts val="600"/>
              </a:spcBef>
              <a:spcAft>
                <a:spcPts val="1200"/>
              </a:spcAft>
            </a:pPr>
            <a:r>
              <a:rPr lang="en-US" sz="2200" dirty="0" smtClean="0">
                <a:latin typeface="Helvetica" pitchFamily="34" charset="0"/>
              </a:rPr>
              <a:t>Identify outcomes of the test</a:t>
            </a:r>
          </a:p>
          <a:p>
            <a:pPr lvl="0">
              <a:spcBef>
                <a:spcPts val="600"/>
              </a:spcBef>
              <a:spcAft>
                <a:spcPts val="1200"/>
              </a:spcAft>
            </a:pPr>
            <a:r>
              <a:rPr lang="en-US" sz="2200" dirty="0" smtClean="0">
                <a:latin typeface="Helvetica" pitchFamily="34" charset="0"/>
              </a:rPr>
              <a:t>Gather feedback from stakeholders</a:t>
            </a:r>
          </a:p>
          <a:p>
            <a:pPr lvl="0">
              <a:spcBef>
                <a:spcPts val="600"/>
              </a:spcBef>
              <a:spcAft>
                <a:spcPts val="1200"/>
              </a:spcAft>
            </a:pPr>
            <a:r>
              <a:rPr lang="en-US" sz="2200" dirty="0" smtClean="0">
                <a:latin typeface="Helvetica" pitchFamily="34" charset="0"/>
              </a:rPr>
              <a:t>Identify areas </a:t>
            </a:r>
            <a:r>
              <a:rPr lang="en-AU" sz="2200" dirty="0" smtClean="0">
                <a:latin typeface="Helvetica" pitchFamily="34" charset="0"/>
              </a:rPr>
              <a:t>which worked well</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Identify areas</a:t>
            </a:r>
            <a:r>
              <a:rPr lang="en-AU" sz="2200" dirty="0" smtClean="0">
                <a:latin typeface="Helvetica" pitchFamily="34" charset="0"/>
              </a:rPr>
              <a:t> which failed</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Identify reasons and d</a:t>
            </a:r>
            <a:r>
              <a:rPr lang="en-AU" sz="2200" dirty="0" smtClean="0">
                <a:latin typeface="Helvetica" pitchFamily="34" charset="0"/>
              </a:rPr>
              <a:t>etails of unintended or unanticipated consequences or outcomes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Identify areas for improvement</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6" name="Picture 5" descr="ip.jpg"/>
          <p:cNvPicPr/>
          <p:nvPr/>
        </p:nvPicPr>
        <p:blipFill>
          <a:blip r:embed="rId3" cstate="print"/>
          <a:stretch>
            <a:fillRect/>
          </a:stretch>
        </p:blipFill>
        <p:spPr>
          <a:xfrm>
            <a:off x="6156176" y="2977978"/>
            <a:ext cx="2232248" cy="151216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Review system implementation test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Methods to review financial system test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Personal observation</a:t>
            </a:r>
          </a:p>
          <a:p>
            <a:pPr>
              <a:spcBef>
                <a:spcPts val="600"/>
              </a:spcBef>
              <a:spcAft>
                <a:spcPts val="1200"/>
              </a:spcAft>
            </a:pPr>
            <a:r>
              <a:rPr lang="en-AU" sz="2200" dirty="0" smtClean="0">
                <a:latin typeface="Helvetica" pitchFamily="34" charset="0"/>
              </a:rPr>
              <a:t>Discussions with staff</a:t>
            </a:r>
          </a:p>
          <a:p>
            <a:pPr>
              <a:spcBef>
                <a:spcPts val="600"/>
              </a:spcBef>
              <a:spcAft>
                <a:spcPts val="1200"/>
              </a:spcAft>
            </a:pPr>
            <a:r>
              <a:rPr lang="en-AU" sz="2200" dirty="0" smtClean="0">
                <a:latin typeface="Helvetica" pitchFamily="34" charset="0"/>
              </a:rPr>
              <a:t>Discussions with suppliers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Compliance reports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Use of checklists</a:t>
            </a:r>
            <a:endParaRPr lang="en-US" sz="2200" dirty="0" smtClean="0">
              <a:latin typeface="Helvetica" pitchFamily="34" charset="0"/>
            </a:endParaRPr>
          </a:p>
          <a:p>
            <a:pPr lvl="0">
              <a:buNone/>
            </a:pPr>
            <a:endParaRPr lang="en-AU" sz="2200" dirty="0" smtClean="0">
              <a:latin typeface="Helvetica" pitchFamily="34" charset="0"/>
            </a:endParaRPr>
          </a:p>
          <a:p>
            <a:pPr lvl="0"/>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7" name="Picture 6" descr="shutterstock_2953316.jpg"/>
          <p:cNvPicPr/>
          <p:nvPr/>
        </p:nvPicPr>
        <p:blipFill>
          <a:blip r:embed="rId3" cstate="print"/>
          <a:stretch>
            <a:fillRect/>
          </a:stretch>
        </p:blipFill>
        <p:spPr>
          <a:xfrm>
            <a:off x="4932040" y="2276872"/>
            <a:ext cx="2160240" cy="18002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Review system implementation test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Methods to review financial system test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Comparison of ‘before’ and ‘after’ statistics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Surveys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Checklists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Flowcharts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Benchmarking</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36</a:t>
            </a:r>
            <a:endParaRPr lang="en-AU" sz="2200" dirty="0" smtClean="0">
              <a:latin typeface="Helvetica" pitchFamily="34" charset="0"/>
            </a:endParaRPr>
          </a:p>
          <a:p>
            <a:pPr lvl="0"/>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6" name="Picture 5" descr="11.jpg"/>
          <p:cNvPicPr/>
          <p:nvPr/>
        </p:nvPicPr>
        <p:blipFill>
          <a:blip r:embed="rId3" cstate="print"/>
          <a:stretch>
            <a:fillRect/>
          </a:stretch>
        </p:blipFill>
        <p:spPr>
          <a:xfrm>
            <a:off x="3923928" y="2708920"/>
            <a:ext cx="2520280" cy="165618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Apply changes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Process of applying changes</a:t>
            </a:r>
          </a:p>
          <a:p>
            <a:pPr marL="0">
              <a:spcBef>
                <a:spcPts val="600"/>
              </a:spcBef>
              <a:spcAft>
                <a:spcPts val="1200"/>
              </a:spcAft>
              <a:buNone/>
            </a:pPr>
            <a:r>
              <a:rPr lang="en-AU" sz="2200" dirty="0" smtClean="0">
                <a:latin typeface="Helvetica" pitchFamily="34" charset="0"/>
              </a:rPr>
              <a:t>Once the initial test and review process has taken place, there may be a number of changes that managers, software vendors, internal accounting teams or IT staff can make to ensure the financial system operates in a more effective manner:</a:t>
            </a:r>
          </a:p>
          <a:p>
            <a:pPr>
              <a:spcBef>
                <a:spcPts val="600"/>
              </a:spcBef>
              <a:spcAft>
                <a:spcPts val="1200"/>
              </a:spcAft>
            </a:pPr>
            <a:r>
              <a:rPr lang="en-AU" sz="2200" dirty="0" smtClean="0">
                <a:latin typeface="Helvetica" pitchFamily="34" charset="0"/>
              </a:rPr>
              <a:t>What are examples of changes that can be made?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5" name="Picture 4" descr="A11 158587457.jpg"/>
          <p:cNvPicPr/>
          <p:nvPr/>
        </p:nvPicPr>
        <p:blipFill>
          <a:blip r:embed="rId3" cstate="print"/>
          <a:stretch>
            <a:fillRect/>
          </a:stretch>
        </p:blipFill>
        <p:spPr>
          <a:xfrm>
            <a:off x="2987824" y="4509120"/>
            <a:ext cx="2016224" cy="136815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Apply changes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Purpose of applying changes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The purpose of applying changes include, but not limited to: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Resolving any identified problems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Ensuring consistency of application across all systems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Ensuring report information remains valid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Monitoring the implementation of 'live operations'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pic>
        <p:nvPicPr>
          <p:cNvPr id="6" name="Picture 5" descr="A9 shutterstock_155310890.jpg"/>
          <p:cNvPicPr>
            <a:picLocks noChangeAspect="1"/>
          </p:cNvPicPr>
          <p:nvPr/>
        </p:nvPicPr>
        <p:blipFill>
          <a:blip r:embed="rId3" cstate="print"/>
          <a:stretch>
            <a:fillRect/>
          </a:stretch>
        </p:blipFill>
        <p:spPr>
          <a:xfrm>
            <a:off x="2987824" y="4869160"/>
            <a:ext cx="2028434" cy="115823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Types of changes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Do nothing</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In instances where problems may appear to be due to the degree of change rather than experiencing problems with the financial systems themselves, further time may be given before action is taken:</a:t>
            </a:r>
          </a:p>
          <a:p>
            <a:pPr>
              <a:spcBef>
                <a:spcPts val="600"/>
              </a:spcBef>
              <a:spcAft>
                <a:spcPts val="1200"/>
              </a:spcAft>
            </a:pPr>
            <a:r>
              <a:rPr lang="en-AU" sz="2200" dirty="0" smtClean="0">
                <a:latin typeface="Helvetica" pitchFamily="34" charset="0"/>
              </a:rPr>
              <a:t>When would you do nothing?</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7" name="Picture 6" descr="shutterstock_128200763.jpg"/>
          <p:cNvPicPr/>
          <p:nvPr/>
        </p:nvPicPr>
        <p:blipFill>
          <a:blip r:embed="rId3" cstate="print"/>
          <a:stretch>
            <a:fillRect/>
          </a:stretch>
        </p:blipFill>
        <p:spPr>
          <a:xfrm>
            <a:off x="2281369" y="4365104"/>
            <a:ext cx="2321223" cy="144988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Types of changes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040560"/>
          </a:xfrm>
        </p:spPr>
        <p:txBody>
          <a:bodyPr>
            <a:normAutofit lnSpcReduction="10000"/>
          </a:bodyPr>
          <a:lstStyle/>
          <a:p>
            <a:pPr>
              <a:spcBef>
                <a:spcPts val="600"/>
              </a:spcBef>
              <a:spcAft>
                <a:spcPts val="1200"/>
              </a:spcAft>
              <a:buNone/>
            </a:pPr>
            <a:r>
              <a:rPr lang="en-AU" sz="2200" b="1" dirty="0" smtClean="0">
                <a:latin typeface="Helvetica" pitchFamily="34" charset="0"/>
              </a:rPr>
              <a:t>Make changes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Retest system</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Reinstall software</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Ask vendor to make changes to software or provide support services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Introduce new equipment</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Make changes to physical </a:t>
            </a:r>
            <a:br>
              <a:rPr lang="en-AU" sz="2200" dirty="0" smtClean="0">
                <a:latin typeface="Helvetica" pitchFamily="34" charset="0"/>
              </a:rPr>
            </a:br>
            <a:r>
              <a:rPr lang="en-AU" sz="2200" dirty="0" smtClean="0">
                <a:latin typeface="Helvetica" pitchFamily="34" charset="0"/>
              </a:rPr>
              <a:t>layout of equipment</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Corrective IT changes</a:t>
            </a:r>
          </a:p>
          <a:p>
            <a:pPr>
              <a:spcBef>
                <a:spcPts val="600"/>
              </a:spcBef>
              <a:spcAft>
                <a:spcPts val="1200"/>
              </a:spcAft>
            </a:pPr>
            <a:r>
              <a:rPr lang="en-AU" sz="2200" dirty="0" smtClean="0">
                <a:latin typeface="Helvetica" pitchFamily="34" charset="0"/>
              </a:rPr>
              <a:t>New policies </a:t>
            </a:r>
            <a:endParaRPr lang="en-US" sz="2200" b="1" dirty="0" smtClean="0">
              <a:latin typeface="Helvetica" pitchFamily="34" charset="0"/>
            </a:endParaRPr>
          </a:p>
          <a:p>
            <a:pPr lvl="0">
              <a:spcBef>
                <a:spcPts val="600"/>
              </a:spcBef>
              <a:spcAft>
                <a:spcPts val="1200"/>
              </a:spcAft>
            </a:pP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pic>
        <p:nvPicPr>
          <p:cNvPr id="6" name="Picture 5" descr="A7 shutterstock_138419417.jpg"/>
          <p:cNvPicPr/>
          <p:nvPr/>
        </p:nvPicPr>
        <p:blipFill>
          <a:blip r:embed="rId3" cstate="print"/>
          <a:stretch>
            <a:fillRect/>
          </a:stretch>
        </p:blipFill>
        <p:spPr>
          <a:xfrm>
            <a:off x="4932040" y="3789040"/>
            <a:ext cx="2304256" cy="151216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Types of changes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846640" cy="5328592"/>
          </a:xfrm>
        </p:spPr>
        <p:txBody>
          <a:bodyPr>
            <a:normAutofit/>
          </a:bodyPr>
          <a:lstStyle/>
          <a:p>
            <a:pPr>
              <a:spcBef>
                <a:spcPts val="600"/>
              </a:spcBef>
              <a:spcAft>
                <a:spcPts val="1200"/>
              </a:spcAft>
              <a:buNone/>
            </a:pPr>
            <a:r>
              <a:rPr lang="en-AU" sz="2200" b="1" dirty="0" smtClean="0">
                <a:latin typeface="Helvetica" pitchFamily="34" charset="0"/>
              </a:rPr>
              <a:t>Make changes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Changes to workflow</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Changes to procedures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Change of personnel structure</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Changes in job roles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Establish comprehensive job descriptions                                  and job specifications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Further training for staff</a:t>
            </a:r>
          </a:p>
          <a:p>
            <a:pPr>
              <a:spcBef>
                <a:spcPts val="600"/>
              </a:spcBef>
              <a:spcAft>
                <a:spcPts val="1200"/>
              </a:spcAft>
              <a:buNone/>
            </a:pPr>
            <a:r>
              <a:rPr lang="en-US" sz="2200" b="1" dirty="0" smtClean="0">
                <a:solidFill>
                  <a:srgbClr val="FF6600"/>
                </a:solidFill>
                <a:latin typeface="Helvetica" pitchFamily="34" charset="0"/>
              </a:rPr>
              <a:t>COMPLETE ACTIVITY 37</a:t>
            </a:r>
            <a:endParaRPr lang="en-AU" sz="2200" dirty="0" smtClean="0">
              <a:latin typeface="Helvetica" pitchFamily="34" charset="0"/>
            </a:endParaRPr>
          </a:p>
          <a:p>
            <a:pPr lvl="0">
              <a:buNone/>
            </a:pPr>
            <a:endParaRPr lang="en-AU" sz="2400" dirty="0" smtClean="0"/>
          </a:p>
          <a:p>
            <a:pPr lvl="0">
              <a:buNone/>
            </a:pPr>
            <a:endParaRPr lang="en-US"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7" name="Picture 6" descr="A13 shutterstock_159583589.jpg"/>
          <p:cNvPicPr>
            <a:picLocks noChangeAspect="1"/>
          </p:cNvPicPr>
          <p:nvPr/>
        </p:nvPicPr>
        <p:blipFill>
          <a:blip r:embed="rId3" cstate="print"/>
          <a:stretch>
            <a:fillRect/>
          </a:stretch>
        </p:blipFill>
        <p:spPr>
          <a:xfrm>
            <a:off x="5796136" y="2229713"/>
            <a:ext cx="2166929" cy="14561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Circulate change information and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marL="0">
              <a:spcBef>
                <a:spcPts val="600"/>
              </a:spcBef>
              <a:spcAft>
                <a:spcPts val="1200"/>
              </a:spcAft>
              <a:buNone/>
            </a:pPr>
            <a:r>
              <a:rPr lang="en-AU" sz="2200" b="1" dirty="0" smtClean="0">
                <a:latin typeface="Helvetica" pitchFamily="34" charset="0"/>
              </a:rPr>
              <a:t>Importance of communicating variations and updated information</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Once all changes have been applied it is vital that all relevant stakeholders understand the changes that have taken place and receive any updated information or documents that may help facilitate the change:</a:t>
            </a:r>
          </a:p>
          <a:p>
            <a:pPr>
              <a:spcBef>
                <a:spcPts val="600"/>
              </a:spcBef>
              <a:spcAft>
                <a:spcPts val="1200"/>
              </a:spcAft>
            </a:pPr>
            <a:r>
              <a:rPr lang="en-AU" sz="2200" dirty="0" smtClean="0">
                <a:latin typeface="Helvetica" pitchFamily="34" charset="0"/>
              </a:rPr>
              <a:t>How can you communicate changes?</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lvl="0"/>
            <a:endParaRPr lang="en-US"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6" name="Picture 5" descr="shutterstock_191031131.jpg"/>
          <p:cNvPicPr/>
          <p:nvPr/>
        </p:nvPicPr>
        <p:blipFill>
          <a:blip r:embed="rId3" cstate="print"/>
          <a:stretch>
            <a:fillRect/>
          </a:stretch>
        </p:blipFill>
        <p:spPr>
          <a:xfrm>
            <a:off x="2627784" y="4509120"/>
            <a:ext cx="1944216" cy="144016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Circulate change information and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Communicating variations and updated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Hold a formal staff meeting to inform stakeholders of the changes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Explain the results of the financial system test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Explain why changes have been made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Explain the changes to be introduced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Give them a hard copy of documents                                        to help explain and follow changes</a:t>
            </a:r>
            <a:endParaRPr lang="en-US" sz="2200" dirty="0" smtClean="0">
              <a:latin typeface="Helvetica" pitchFamily="34" charset="0"/>
            </a:endParaRPr>
          </a:p>
          <a:p>
            <a:pPr lvl="0"/>
            <a:endParaRPr lang="en-US"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7" name="Picture 6" descr="A17 shutterstock_179513282[1].JPG"/>
          <p:cNvPicPr>
            <a:picLocks noChangeAspect="1"/>
          </p:cNvPicPr>
          <p:nvPr/>
        </p:nvPicPr>
        <p:blipFill>
          <a:blip r:embed="rId3" cstate="print"/>
          <a:stretch>
            <a:fillRect/>
          </a:stretch>
        </p:blipFill>
        <p:spPr>
          <a:xfrm>
            <a:off x="6228184" y="4077072"/>
            <a:ext cx="2171748" cy="144855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Circulate change information and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Communicating variations and updated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Explain the changes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Encourage questions about the changes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Make yourself available outside this meeting to talk to if they have concerns regarding the changes</a:t>
            </a:r>
          </a:p>
          <a:p>
            <a:pPr algn="ctr">
              <a:spcBef>
                <a:spcPts val="600"/>
              </a:spcBef>
              <a:spcAft>
                <a:spcPts val="1200"/>
              </a:spcAft>
              <a:buNone/>
            </a:pPr>
            <a:r>
              <a:rPr lang="en-US" sz="2200" b="1" dirty="0" smtClean="0">
                <a:solidFill>
                  <a:srgbClr val="FF6600"/>
                </a:solidFill>
                <a:latin typeface="Helvetica" pitchFamily="34" charset="0"/>
              </a:rPr>
              <a:t>COMPLETE ACTIVITY 38</a:t>
            </a:r>
            <a:endParaRPr lang="en-AU" sz="2200" dirty="0" smtClean="0">
              <a:latin typeface="Helvetica" pitchFamily="34" charset="0"/>
            </a:endParaRPr>
          </a:p>
          <a:p>
            <a:pPr lvl="0">
              <a:buNone/>
            </a:pPr>
            <a:endParaRPr lang="en-US" sz="2400" dirty="0" smtClean="0"/>
          </a:p>
          <a:p>
            <a:pPr lvl="0">
              <a:buNone/>
            </a:pPr>
            <a:endParaRPr lang="en-US"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151</a:t>
            </a:fld>
            <a:endParaRPr lang="en-US" dirty="0">
              <a:latin typeface="Helvetica" pitchFamily="34" charset="0"/>
            </a:endParaRPr>
          </a:p>
        </p:txBody>
      </p:sp>
      <p:pic>
        <p:nvPicPr>
          <p:cNvPr id="6" name="Picture 5" descr="hv.jpg"/>
          <p:cNvPicPr/>
          <p:nvPr/>
        </p:nvPicPr>
        <p:blipFill>
          <a:blip r:embed="rId3" cstate="print"/>
          <a:stretch>
            <a:fillRect/>
          </a:stretch>
        </p:blipFill>
        <p:spPr>
          <a:xfrm>
            <a:off x="3707904" y="4480625"/>
            <a:ext cx="1596390" cy="15430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467</TotalTime>
  <Words>8503</Words>
  <Application>Microsoft Office PowerPoint</Application>
  <PresentationFormat>On-screen Show (4:3)</PresentationFormat>
  <Paragraphs>1849</Paragraphs>
  <Slides>151</Slides>
  <Notes>151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151</vt:i4>
      </vt:variant>
    </vt:vector>
  </HeadingPairs>
  <TitlesOfParts>
    <vt:vector size="157" baseType="lpstr">
      <vt:lpstr>Arial</vt:lpstr>
      <vt:lpstr>Calibri</vt:lpstr>
      <vt:lpstr>Franklin Gothic Book</vt:lpstr>
      <vt:lpstr>Helvetica</vt:lpstr>
      <vt:lpstr>Wingdings 2</vt:lpstr>
      <vt:lpstr>PPT_Tour_operation_&amp;_travel_agencies_template_130214</vt:lpstr>
      <vt:lpstr>MAINTAIN A SECURE FINANCIAL ACCOUNTING SYSTEM</vt:lpstr>
      <vt:lpstr>Subject elements</vt:lpstr>
      <vt:lpstr>Assessment</vt:lpstr>
      <vt:lpstr>PowerPoint Presentation</vt:lpstr>
      <vt:lpstr>Reconcile general ledger accounts</vt:lpstr>
      <vt:lpstr>Financial accounting system</vt:lpstr>
      <vt:lpstr>Financial accounting system</vt:lpstr>
      <vt:lpstr>Financial accounting system</vt:lpstr>
      <vt:lpstr>Journals and ledgers</vt:lpstr>
      <vt:lpstr>General and special journals</vt:lpstr>
      <vt:lpstr>General and special journals</vt:lpstr>
      <vt:lpstr>Subsidiary and general ledgers</vt:lpstr>
      <vt:lpstr>Subsidiary and general ledgers</vt:lpstr>
      <vt:lpstr>Subsidiary and general ledgers</vt:lpstr>
      <vt:lpstr>Reconciling general and subsidiary ledgers</vt:lpstr>
      <vt:lpstr>Reconciling general and subsidiary ledgers</vt:lpstr>
      <vt:lpstr>Reconciliation activities</vt:lpstr>
      <vt:lpstr>Reconciliation activities</vt:lpstr>
      <vt:lpstr>Reconciliation activities</vt:lpstr>
      <vt:lpstr>Reconciliation activities</vt:lpstr>
      <vt:lpstr>Reconciliation activities</vt:lpstr>
      <vt:lpstr>Reconciliation activities</vt:lpstr>
      <vt:lpstr>Resolve reconciliation discrepancies</vt:lpstr>
      <vt:lpstr>Resolve reconciliation discrepancies</vt:lpstr>
      <vt:lpstr>Resolve reconciliation discrepancies</vt:lpstr>
      <vt:lpstr>Resolve reconciliation discrepancies</vt:lpstr>
      <vt:lpstr>Resolve reconciliation discrepancies</vt:lpstr>
      <vt:lpstr>Resolve reconciliation discrepancies</vt:lpstr>
      <vt:lpstr>Resolve reconciliation discrepancies</vt:lpstr>
      <vt:lpstr>Resolve reconciliation discrepancies</vt:lpstr>
      <vt:lpstr>Resolve reconciliation discrepancies</vt:lpstr>
      <vt:lpstr>Resolve reconciliation discrepancies</vt:lpstr>
      <vt:lpstr>Reconcile bank accounts</vt:lpstr>
      <vt:lpstr>Reconcile bank accounts</vt:lpstr>
      <vt:lpstr>Steps to prepare a bank reconciliation</vt:lpstr>
      <vt:lpstr>Steps to prepare a bank reconciliation</vt:lpstr>
      <vt:lpstr>Steps to prepare a bank reconciliation</vt:lpstr>
      <vt:lpstr>Steps to prepare a bank reconciliation</vt:lpstr>
      <vt:lpstr>Steps to prepare a bank reconciliation</vt:lpstr>
      <vt:lpstr>Obtain authorisation to complete reconciliation</vt:lpstr>
      <vt:lpstr>PowerPoint Presentation</vt:lpstr>
      <vt:lpstr>Reconcile general ledger to related systems</vt:lpstr>
      <vt:lpstr>Process related systems entries</vt:lpstr>
      <vt:lpstr>Process related systems entries</vt:lpstr>
      <vt:lpstr>Process related systems entries</vt:lpstr>
      <vt:lpstr>Process related systems entries</vt:lpstr>
      <vt:lpstr>Process related systems entries</vt:lpstr>
      <vt:lpstr>Process related systems entries</vt:lpstr>
      <vt:lpstr>Process related systems entries</vt:lpstr>
      <vt:lpstr>Process related systems entries</vt:lpstr>
      <vt:lpstr>Process related systems entries</vt:lpstr>
      <vt:lpstr>Process related systems entries</vt:lpstr>
      <vt:lpstr>Reconcile interfaces</vt:lpstr>
      <vt:lpstr>General ledger reconciliation</vt:lpstr>
      <vt:lpstr>Verify accounting system</vt:lpstr>
      <vt:lpstr>Accounting system verification steps</vt:lpstr>
      <vt:lpstr>Accounting system verification steps</vt:lpstr>
      <vt:lpstr>Accounting system verification steps</vt:lpstr>
      <vt:lpstr>Accounting system verification steps</vt:lpstr>
      <vt:lpstr>Accounting system verification steps</vt:lpstr>
      <vt:lpstr>PowerPoint Presentation</vt:lpstr>
      <vt:lpstr>Back-up systems</vt:lpstr>
      <vt:lpstr>Back-up financial data</vt:lpstr>
      <vt:lpstr>Accounting data management</vt:lpstr>
      <vt:lpstr>Accounting data management</vt:lpstr>
      <vt:lpstr>Accounting data management</vt:lpstr>
      <vt:lpstr>Accounting data management</vt:lpstr>
      <vt:lpstr>Storing and back-up of financial information</vt:lpstr>
      <vt:lpstr>Storing financial information</vt:lpstr>
      <vt:lpstr>Storing financial information</vt:lpstr>
      <vt:lpstr>Back-up of financial information</vt:lpstr>
      <vt:lpstr>Back-up of financial information</vt:lpstr>
      <vt:lpstr>Back-up of financial information</vt:lpstr>
      <vt:lpstr>PowerPoint Presentation</vt:lpstr>
      <vt:lpstr>Monitor and review integrity of financial systems</vt:lpstr>
      <vt:lpstr>Establishing financial systems</vt:lpstr>
      <vt:lpstr>Establishing financial systems</vt:lpstr>
      <vt:lpstr>Establishing financial systems</vt:lpstr>
      <vt:lpstr>Establishing financial systems</vt:lpstr>
      <vt:lpstr>Establishing financial systems</vt:lpstr>
      <vt:lpstr>Establishing financial systems</vt:lpstr>
      <vt:lpstr>Establishing financial systems</vt:lpstr>
      <vt:lpstr>Establishing financial systems</vt:lpstr>
      <vt:lpstr>Establishing financial systems</vt:lpstr>
      <vt:lpstr>Monitoring financial performance</vt:lpstr>
      <vt:lpstr>Monitoring financial performance</vt:lpstr>
      <vt:lpstr>Monitoring financial performance</vt:lpstr>
      <vt:lpstr>Managing financial systems</vt:lpstr>
      <vt:lpstr>Managing financial systems</vt:lpstr>
      <vt:lpstr>Managing financial systems</vt:lpstr>
      <vt:lpstr>Managing financial systems</vt:lpstr>
      <vt:lpstr>Identify and assess variations from policies and procedures</vt:lpstr>
      <vt:lpstr>Identify and assess variations from policies and procedures</vt:lpstr>
      <vt:lpstr>Identify and assess variations from policies and procedures</vt:lpstr>
      <vt:lpstr>Identify and assess variations from policies and procedures</vt:lpstr>
      <vt:lpstr>Identify and assess variations from policies and procedures</vt:lpstr>
      <vt:lpstr>Identify and assess variations from policies and procedures</vt:lpstr>
      <vt:lpstr>Identify and assess variations from policies and procedures</vt:lpstr>
      <vt:lpstr>Identify and assess variations from policies and procedures</vt:lpstr>
      <vt:lpstr>Identify and assess variations from policies and procedures</vt:lpstr>
      <vt:lpstr>Identify and assess variations from policies and procedures</vt:lpstr>
      <vt:lpstr>Identify and assess variations from policies and procedures</vt:lpstr>
      <vt:lpstr>Identify and assess variations from policies and procedures</vt:lpstr>
      <vt:lpstr>Encourage user feedback</vt:lpstr>
      <vt:lpstr>Encourage user feedback</vt:lpstr>
      <vt:lpstr>Encourage user feedback</vt:lpstr>
      <vt:lpstr>Encourage user feedback</vt:lpstr>
      <vt:lpstr>Encourage user feedback</vt:lpstr>
      <vt:lpstr>Encourage user feedback</vt:lpstr>
      <vt:lpstr>PowerPoint Presentation</vt:lpstr>
      <vt:lpstr>Update systems for management requirements and regulations</vt:lpstr>
      <vt:lpstr>Identify need for new or updated financial system</vt:lpstr>
      <vt:lpstr>Identify need for new or updated financial system</vt:lpstr>
      <vt:lpstr>Identify need for new or updated financial system</vt:lpstr>
      <vt:lpstr>Identify need for new or updated financial system</vt:lpstr>
      <vt:lpstr>Identify need for new or updated financial system</vt:lpstr>
      <vt:lpstr>Identify need for new or updated financial system</vt:lpstr>
      <vt:lpstr>Identify need for new or updated financial system</vt:lpstr>
      <vt:lpstr>Cost–benefit analysis</vt:lpstr>
      <vt:lpstr>Cost–benefit analysis</vt:lpstr>
      <vt:lpstr>Cost–benefit analysis</vt:lpstr>
      <vt:lpstr>Cost–benefit analysis</vt:lpstr>
      <vt:lpstr>Non-cost related considerations </vt:lpstr>
      <vt:lpstr>Financial system training needs</vt:lpstr>
      <vt:lpstr>Financial system training needs</vt:lpstr>
      <vt:lpstr>Financial system training needs</vt:lpstr>
      <vt:lpstr>Financial system training needs</vt:lpstr>
      <vt:lpstr>Select appropriate financial system</vt:lpstr>
      <vt:lpstr>Implement financial system</vt:lpstr>
      <vt:lpstr>Implement financial system</vt:lpstr>
      <vt:lpstr>Implement financial system</vt:lpstr>
      <vt:lpstr>Implement financial system</vt:lpstr>
      <vt:lpstr>Implement financial system</vt:lpstr>
      <vt:lpstr>Implement financial system</vt:lpstr>
      <vt:lpstr>Implement financial system</vt:lpstr>
      <vt:lpstr>Test system updates</vt:lpstr>
      <vt:lpstr>Test system updates</vt:lpstr>
      <vt:lpstr>Test system updates</vt:lpstr>
      <vt:lpstr>Test system updates</vt:lpstr>
      <vt:lpstr>Review system implementation test</vt:lpstr>
      <vt:lpstr>Review system implementation test</vt:lpstr>
      <vt:lpstr>Review system implementation test</vt:lpstr>
      <vt:lpstr>Review system implementation test</vt:lpstr>
      <vt:lpstr>Apply changes</vt:lpstr>
      <vt:lpstr>Apply changes</vt:lpstr>
      <vt:lpstr>Types of changes</vt:lpstr>
      <vt:lpstr>Types of changes</vt:lpstr>
      <vt:lpstr>Types of changes</vt:lpstr>
      <vt:lpstr>Circulate change information and documents</vt:lpstr>
      <vt:lpstr>Circulate change information and documents</vt:lpstr>
      <vt:lpstr>Circulate change information and documents</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MAINTAIN A SECURE FINANCIAL ACCOUNTING SYSTEM</dc:title>
  <dc:creator>Mai Vu</dc:creator>
  <cp:lastModifiedBy>Carla Angelica Co</cp:lastModifiedBy>
  <cp:revision>112</cp:revision>
  <dcterms:created xsi:type="dcterms:W3CDTF">2014-03-24T04:40:26Z</dcterms:created>
  <dcterms:modified xsi:type="dcterms:W3CDTF">2016-07-18T07:31:47Z</dcterms:modified>
</cp:coreProperties>
</file>