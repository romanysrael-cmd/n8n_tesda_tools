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2"/>
  </p:notesMasterIdLst>
  <p:handoutMasterIdLst>
    <p:handoutMasterId r:id="rId153"/>
  </p:handoutMasterIdLst>
  <p:sldIdLst>
    <p:sldId id="256" r:id="rId2"/>
    <p:sldId id="296" r:id="rId3"/>
    <p:sldId id="297" r:id="rId4"/>
    <p:sldId id="298" r:id="rId5"/>
    <p:sldId id="299" r:id="rId6"/>
    <p:sldId id="257" r:id="rId7"/>
    <p:sldId id="314" r:id="rId8"/>
    <p:sldId id="315" r:id="rId9"/>
    <p:sldId id="535" r:id="rId10"/>
    <p:sldId id="536" r:id="rId11"/>
    <p:sldId id="537" r:id="rId12"/>
    <p:sldId id="538" r:id="rId13"/>
    <p:sldId id="545" r:id="rId14"/>
    <p:sldId id="316" r:id="rId15"/>
    <p:sldId id="539" r:id="rId16"/>
    <p:sldId id="540" r:id="rId17"/>
    <p:sldId id="258" r:id="rId18"/>
    <p:sldId id="324" r:id="rId19"/>
    <p:sldId id="325" r:id="rId20"/>
    <p:sldId id="326" r:id="rId21"/>
    <p:sldId id="327" r:id="rId22"/>
    <p:sldId id="328" r:id="rId23"/>
    <p:sldId id="329" r:id="rId24"/>
    <p:sldId id="330" r:id="rId25"/>
    <p:sldId id="331" r:id="rId26"/>
    <p:sldId id="332" r:id="rId27"/>
    <p:sldId id="333" r:id="rId28"/>
    <p:sldId id="300" r:id="rId29"/>
    <p:sldId id="334" r:id="rId30"/>
    <p:sldId id="335" r:id="rId31"/>
    <p:sldId id="336" r:id="rId32"/>
    <p:sldId id="337" r:id="rId33"/>
    <p:sldId id="338" r:id="rId34"/>
    <p:sldId id="339" r:id="rId35"/>
    <p:sldId id="340" r:id="rId36"/>
    <p:sldId id="341" r:id="rId37"/>
    <p:sldId id="546" r:id="rId38"/>
    <p:sldId id="547" r:id="rId39"/>
    <p:sldId id="548" r:id="rId40"/>
    <p:sldId id="301" r:id="rId41"/>
    <p:sldId id="344" r:id="rId42"/>
    <p:sldId id="345" r:id="rId43"/>
    <p:sldId id="346" r:id="rId44"/>
    <p:sldId id="347" r:id="rId45"/>
    <p:sldId id="348" r:id="rId46"/>
    <p:sldId id="349" r:id="rId47"/>
    <p:sldId id="350" r:id="rId48"/>
    <p:sldId id="351" r:id="rId49"/>
    <p:sldId id="352" r:id="rId50"/>
    <p:sldId id="353" r:id="rId51"/>
    <p:sldId id="302" r:id="rId52"/>
    <p:sldId id="354" r:id="rId53"/>
    <p:sldId id="355" r:id="rId54"/>
    <p:sldId id="356" r:id="rId55"/>
    <p:sldId id="357" r:id="rId56"/>
    <p:sldId id="358" r:id="rId57"/>
    <p:sldId id="549" r:id="rId58"/>
    <p:sldId id="550" r:id="rId59"/>
    <p:sldId id="551" r:id="rId60"/>
    <p:sldId id="552" r:id="rId61"/>
    <p:sldId id="553" r:id="rId62"/>
    <p:sldId id="303" r:id="rId63"/>
    <p:sldId id="363" r:id="rId64"/>
    <p:sldId id="364" r:id="rId65"/>
    <p:sldId id="365" r:id="rId66"/>
    <p:sldId id="366" r:id="rId67"/>
    <p:sldId id="367" r:id="rId68"/>
    <p:sldId id="368" r:id="rId69"/>
    <p:sldId id="369" r:id="rId70"/>
    <p:sldId id="370" r:id="rId71"/>
    <p:sldId id="304" r:id="rId72"/>
    <p:sldId id="374" r:id="rId73"/>
    <p:sldId id="375" r:id="rId74"/>
    <p:sldId id="554" r:id="rId75"/>
    <p:sldId id="556" r:id="rId76"/>
    <p:sldId id="557" r:id="rId77"/>
    <p:sldId id="305" r:id="rId78"/>
    <p:sldId id="385" r:id="rId79"/>
    <p:sldId id="386" r:id="rId80"/>
    <p:sldId id="387" r:id="rId81"/>
    <p:sldId id="388" r:id="rId82"/>
    <p:sldId id="306" r:id="rId83"/>
    <p:sldId id="395" r:id="rId84"/>
    <p:sldId id="396" r:id="rId85"/>
    <p:sldId id="397" r:id="rId86"/>
    <p:sldId id="307" r:id="rId87"/>
    <p:sldId id="406" r:id="rId88"/>
    <p:sldId id="407" r:id="rId89"/>
    <p:sldId id="408" r:id="rId90"/>
    <p:sldId id="417" r:id="rId91"/>
    <p:sldId id="419" r:id="rId92"/>
    <p:sldId id="427" r:id="rId93"/>
    <p:sldId id="308" r:id="rId94"/>
    <p:sldId id="428" r:id="rId95"/>
    <p:sldId id="429" r:id="rId96"/>
    <p:sldId id="558" r:id="rId97"/>
    <p:sldId id="559" r:id="rId98"/>
    <p:sldId id="560" r:id="rId99"/>
    <p:sldId id="561" r:id="rId100"/>
    <p:sldId id="562" r:id="rId101"/>
    <p:sldId id="563" r:id="rId102"/>
    <p:sldId id="567" r:id="rId103"/>
    <p:sldId id="438" r:id="rId104"/>
    <p:sldId id="439" r:id="rId105"/>
    <p:sldId id="440" r:id="rId106"/>
    <p:sldId id="310" r:id="rId107"/>
    <p:sldId id="448" r:id="rId108"/>
    <p:sldId id="449" r:id="rId109"/>
    <p:sldId id="450" r:id="rId110"/>
    <p:sldId id="568" r:id="rId111"/>
    <p:sldId id="569" r:id="rId112"/>
    <p:sldId id="570" r:id="rId113"/>
    <p:sldId id="571" r:id="rId114"/>
    <p:sldId id="572" r:id="rId115"/>
    <p:sldId id="311" r:id="rId116"/>
    <p:sldId id="462" r:id="rId117"/>
    <p:sldId id="463" r:id="rId118"/>
    <p:sldId id="573" r:id="rId119"/>
    <p:sldId id="574" r:id="rId120"/>
    <p:sldId id="575" r:id="rId121"/>
    <p:sldId id="458" r:id="rId122"/>
    <p:sldId id="472" r:id="rId123"/>
    <p:sldId id="473" r:id="rId124"/>
    <p:sldId id="483" r:id="rId125"/>
    <p:sldId id="576" r:id="rId126"/>
    <p:sldId id="577" r:id="rId127"/>
    <p:sldId id="578" r:id="rId128"/>
    <p:sldId id="579" r:id="rId129"/>
    <p:sldId id="484" r:id="rId130"/>
    <p:sldId id="486" r:id="rId131"/>
    <p:sldId id="492" r:id="rId132"/>
    <p:sldId id="459" r:id="rId133"/>
    <p:sldId id="493" r:id="rId134"/>
    <p:sldId id="494" r:id="rId135"/>
    <p:sldId id="495" r:id="rId136"/>
    <p:sldId id="580" r:id="rId137"/>
    <p:sldId id="581" r:id="rId138"/>
    <p:sldId id="460" r:id="rId139"/>
    <p:sldId id="503" r:id="rId140"/>
    <p:sldId id="504" r:id="rId141"/>
    <p:sldId id="505" r:id="rId142"/>
    <p:sldId id="506" r:id="rId143"/>
    <p:sldId id="507" r:id="rId144"/>
    <p:sldId id="461" r:id="rId145"/>
    <p:sldId id="514" r:id="rId146"/>
    <p:sldId id="515" r:id="rId147"/>
    <p:sldId id="516" r:id="rId148"/>
    <p:sldId id="518" r:id="rId149"/>
    <p:sldId id="524" r:id="rId150"/>
    <p:sldId id="526" r:id="rId15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1828" autoAdjust="0"/>
    <p:restoredTop sz="65546" autoAdjust="0"/>
  </p:normalViewPr>
  <p:slideViewPr>
    <p:cSldViewPr>
      <p:cViewPr varScale="1">
        <p:scale>
          <a:sx n="60" d="100"/>
          <a:sy n="60" d="100"/>
        </p:scale>
        <p:origin x="124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4/6/2015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2615102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4/6/2015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2134525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noProof="0" dirty="0" smtClean="0"/>
              <a:t>Trainer welcomes students.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83849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412119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638668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314828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preparing for visits by VIPs by asking questions such as:</a:t>
            </a:r>
          </a:p>
          <a:p>
            <a:pPr>
              <a:buFont typeface="Arial" pitchFamily="34" charset="0"/>
              <a:buChar char="•"/>
            </a:pPr>
            <a:r>
              <a:rPr lang="en-US" b="0" dirty="0" smtClean="0"/>
              <a:t> What does VIP stand for?</a:t>
            </a:r>
          </a:p>
          <a:p>
            <a:pPr>
              <a:buFont typeface="Arial" pitchFamily="34" charset="0"/>
              <a:buChar char="•"/>
            </a:pPr>
            <a:r>
              <a:rPr lang="en-US" b="0" dirty="0" smtClean="0"/>
              <a:t> Who are VIPs?</a:t>
            </a:r>
          </a:p>
          <a:p>
            <a:pPr>
              <a:buFont typeface="Arial" pitchFamily="34" charset="0"/>
              <a:buChar char="•"/>
            </a:pPr>
            <a:r>
              <a:rPr lang="en-US" b="0" dirty="0" smtClean="0"/>
              <a:t> Why is it necessary to provide for their safety</a:t>
            </a:r>
            <a:r>
              <a:rPr lang="en-US" b="0" baseline="0" dirty="0" smtClean="0"/>
              <a:t>?</a:t>
            </a:r>
          </a:p>
          <a:p>
            <a:pPr>
              <a:buFont typeface="Arial" pitchFamily="34" charset="0"/>
              <a:buChar char="•"/>
            </a:pPr>
            <a:r>
              <a:rPr lang="en-US" b="0" baseline="0" dirty="0" smtClean="0"/>
              <a:t> What factors do you think might impact the safety of a visiting VIP?</a:t>
            </a:r>
          </a:p>
          <a:p>
            <a:pPr>
              <a:buFont typeface="Arial" pitchFamily="34" charset="0"/>
              <a:buChar char="•"/>
            </a:pPr>
            <a:r>
              <a:rPr lang="en-US" b="0" baseline="0" dirty="0" smtClean="0"/>
              <a:t> Why is there a need to consider media liaison facilities and what might these be?</a:t>
            </a:r>
            <a:endParaRPr lang="en-US" b="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82248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states the </a:t>
            </a:r>
            <a:r>
              <a:rPr lang="en-AU" sz="1200" kern="1200" dirty="0" smtClean="0">
                <a:solidFill>
                  <a:schemeClr val="tx1"/>
                </a:solidFill>
                <a:ea typeface="+mn-ea"/>
                <a:cs typeface="+mn-cs"/>
              </a:rPr>
              <a:t>first step in preparing for a visit from a VIP is to identify the nature of the visit and the identify of the VIP explaining:</a:t>
            </a:r>
          </a:p>
          <a:p>
            <a:pPr>
              <a:buFont typeface="Arial" pitchFamily="34" charset="0"/>
              <a:buChar char="•"/>
            </a:pPr>
            <a:r>
              <a:rPr lang="en-AU" sz="1200" kern="1200" dirty="0" smtClean="0">
                <a:solidFill>
                  <a:schemeClr val="tx1"/>
                </a:solidFill>
                <a:ea typeface="+mn-ea"/>
                <a:cs typeface="+mn-cs"/>
              </a:rPr>
              <a:t> The acronym VIP stands for ‘Very Important Person’.</a:t>
            </a:r>
          </a:p>
          <a:p>
            <a:pPr>
              <a:buFont typeface="Arial" pitchFamily="34" charset="0"/>
              <a:buChar char="•"/>
            </a:pPr>
            <a:r>
              <a:rPr lang="en-AU" sz="1200" kern="1200" dirty="0" smtClean="0">
                <a:solidFill>
                  <a:schemeClr val="tx1"/>
                </a:solidFill>
                <a:ea typeface="+mn-ea"/>
                <a:cs typeface="+mn-cs"/>
              </a:rPr>
              <a:t> VIPs may be:</a:t>
            </a:r>
          </a:p>
          <a:p>
            <a:pPr lvl="1">
              <a:buFont typeface="Arial" pitchFamily="34" charset="0"/>
              <a:buChar char="•"/>
            </a:pPr>
            <a:r>
              <a:rPr lang="en-AU" sz="1200" kern="1200" dirty="0" smtClean="0">
                <a:solidFill>
                  <a:schemeClr val="tx1"/>
                </a:solidFill>
                <a:ea typeface="+mn-ea"/>
                <a:cs typeface="+mn-cs"/>
              </a:rPr>
              <a:t> Male or female</a:t>
            </a:r>
          </a:p>
          <a:p>
            <a:pPr lvl="1">
              <a:buFont typeface="Arial" pitchFamily="34" charset="0"/>
              <a:buChar char="•"/>
            </a:pPr>
            <a:r>
              <a:rPr lang="en-AU" sz="1200" kern="1200" dirty="0" smtClean="0">
                <a:solidFill>
                  <a:schemeClr val="tx1"/>
                </a:solidFill>
                <a:ea typeface="+mn-ea"/>
                <a:cs typeface="+mn-cs"/>
              </a:rPr>
              <a:t> Local or foreign</a:t>
            </a:r>
          </a:p>
          <a:p>
            <a:pPr lvl="1">
              <a:buFont typeface="Arial" pitchFamily="34" charset="0"/>
              <a:buChar char="•"/>
            </a:pPr>
            <a:r>
              <a:rPr lang="en-AU" sz="1200" kern="1200" dirty="0" smtClean="0">
                <a:solidFill>
                  <a:schemeClr val="tx1"/>
                </a:solidFill>
                <a:ea typeface="+mn-ea"/>
                <a:cs typeface="+mn-cs"/>
              </a:rPr>
              <a:t> On their own</a:t>
            </a:r>
          </a:p>
          <a:p>
            <a:pPr lvl="1">
              <a:buFont typeface="Arial" pitchFamily="34" charset="0"/>
              <a:buChar char="•"/>
            </a:pPr>
            <a:r>
              <a:rPr lang="en-AU" sz="1200" kern="1200" dirty="0" smtClean="0">
                <a:solidFill>
                  <a:schemeClr val="tx1"/>
                </a:solidFill>
                <a:ea typeface="+mn-ea"/>
                <a:cs typeface="+mn-cs"/>
              </a:rPr>
              <a:t> Accompanied by:</a:t>
            </a:r>
          </a:p>
          <a:p>
            <a:pPr lvl="2">
              <a:buFont typeface="Arial" pitchFamily="34" charset="0"/>
              <a:buChar char="•"/>
            </a:pPr>
            <a:r>
              <a:rPr lang="en-AU" sz="1200" kern="1200" dirty="0" smtClean="0">
                <a:solidFill>
                  <a:schemeClr val="tx1"/>
                </a:solidFill>
                <a:ea typeface="+mn-ea"/>
                <a:cs typeface="+mn-cs"/>
              </a:rPr>
              <a:t> Other VIPs</a:t>
            </a:r>
          </a:p>
          <a:p>
            <a:pPr lvl="2">
              <a:buFont typeface="Arial" pitchFamily="34" charset="0"/>
              <a:buChar char="•"/>
            </a:pPr>
            <a:r>
              <a:rPr lang="en-AU" sz="1200" kern="1200" dirty="0" smtClean="0">
                <a:solidFill>
                  <a:schemeClr val="tx1"/>
                </a:solidFill>
                <a:ea typeface="+mn-ea"/>
                <a:cs typeface="+mn-cs"/>
              </a:rPr>
              <a:t> An entourage of people – see next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701619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ea typeface="+mn-ea"/>
                <a:cs typeface="+mn-cs"/>
              </a:rPr>
              <a:t>an entourage is the group of people who accompany a VIP stating:</a:t>
            </a:r>
          </a:p>
          <a:p>
            <a:pPr>
              <a:buFont typeface="Arial" pitchFamily="34" charset="0"/>
              <a:buChar char="•"/>
            </a:pPr>
            <a:r>
              <a:rPr lang="en-AU" sz="1200" kern="1200" dirty="0" smtClean="0">
                <a:solidFill>
                  <a:schemeClr val="tx1"/>
                </a:solidFill>
                <a:ea typeface="+mn-ea"/>
                <a:cs typeface="+mn-cs"/>
              </a:rPr>
              <a:t> These are often personal staff or third party providers/contractors they have employed to provide services such as security and driving.</a:t>
            </a:r>
          </a:p>
          <a:p>
            <a:pPr>
              <a:buFont typeface="Arial" pitchFamily="34" charset="0"/>
              <a:buChar char="•"/>
            </a:pPr>
            <a:r>
              <a:rPr lang="en-AU" sz="1200" kern="1200" dirty="0" smtClean="0">
                <a:solidFill>
                  <a:schemeClr val="tx1"/>
                </a:solidFill>
                <a:ea typeface="+mn-ea"/>
                <a:cs typeface="+mn-cs"/>
              </a:rPr>
              <a:t> Personal staff who are likely to be part of the VIP entourage include:</a:t>
            </a:r>
          </a:p>
          <a:p>
            <a:pPr lvl="1">
              <a:buFont typeface="Arial" pitchFamily="34" charset="0"/>
              <a:buChar char="•"/>
            </a:pPr>
            <a:r>
              <a:rPr lang="en-AU" sz="1200" kern="1200" dirty="0" smtClean="0">
                <a:solidFill>
                  <a:schemeClr val="tx1"/>
                </a:solidFill>
                <a:ea typeface="+mn-ea"/>
                <a:cs typeface="+mn-cs"/>
              </a:rPr>
              <a:t> Personal assistant</a:t>
            </a:r>
          </a:p>
          <a:p>
            <a:pPr lvl="1">
              <a:buFont typeface="Arial" pitchFamily="34" charset="0"/>
              <a:buChar char="•"/>
            </a:pPr>
            <a:r>
              <a:rPr lang="en-AU" sz="1200" kern="1200" dirty="0" smtClean="0">
                <a:solidFill>
                  <a:schemeClr val="tx1"/>
                </a:solidFill>
                <a:ea typeface="+mn-ea"/>
                <a:cs typeface="+mn-cs"/>
              </a:rPr>
              <a:t> Media liaison and PR</a:t>
            </a:r>
          </a:p>
          <a:p>
            <a:pPr lvl="1">
              <a:buFont typeface="Arial" pitchFamily="34" charset="0"/>
              <a:buChar char="•"/>
            </a:pPr>
            <a:r>
              <a:rPr lang="en-AU" sz="1200" kern="1200" dirty="0" smtClean="0">
                <a:solidFill>
                  <a:schemeClr val="tx1"/>
                </a:solidFill>
                <a:ea typeface="+mn-ea"/>
                <a:cs typeface="+mn-cs"/>
              </a:rPr>
              <a:t> Cook/chef</a:t>
            </a:r>
          </a:p>
          <a:p>
            <a:pPr lvl="1">
              <a:buFont typeface="Arial" pitchFamily="34" charset="0"/>
              <a:buChar char="•"/>
            </a:pPr>
            <a:r>
              <a:rPr lang="en-AU" sz="1200" kern="1200" dirty="0" smtClean="0">
                <a:solidFill>
                  <a:schemeClr val="tx1"/>
                </a:solidFill>
                <a:ea typeface="+mn-ea"/>
                <a:cs typeface="+mn-cs"/>
              </a:rPr>
              <a:t> Bodyguard</a:t>
            </a:r>
          </a:p>
          <a:p>
            <a:pPr lvl="1">
              <a:buFont typeface="Arial" pitchFamily="34" charset="0"/>
              <a:buChar char="•"/>
            </a:pPr>
            <a:r>
              <a:rPr lang="en-AU" sz="1200" kern="1200" dirty="0" smtClean="0">
                <a:solidFill>
                  <a:schemeClr val="tx1"/>
                </a:solidFill>
                <a:ea typeface="+mn-ea"/>
                <a:cs typeface="+mn-cs"/>
              </a:rPr>
              <a:t> Valet.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295786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examples of VIPs:</a:t>
            </a:r>
          </a:p>
          <a:p>
            <a:pPr>
              <a:buFont typeface="Arial" pitchFamily="34" charset="0"/>
              <a:buChar char="•"/>
            </a:pPr>
            <a:r>
              <a:rPr lang="en-AU" sz="1200" kern="1200" dirty="0" smtClean="0">
                <a:solidFill>
                  <a:schemeClr val="tx1"/>
                </a:solidFill>
                <a:ea typeface="+mn-ea"/>
                <a:cs typeface="+mn-cs"/>
              </a:rPr>
              <a:t> Royalty – in our industry context the interpretation of royalty is quite liberal and tends to include anyone such as:</a:t>
            </a:r>
          </a:p>
          <a:p>
            <a:pPr lvl="1">
              <a:buFont typeface="Arial" pitchFamily="34" charset="0"/>
              <a:buChar char="•"/>
            </a:pPr>
            <a:r>
              <a:rPr lang="en-AU" sz="1200" kern="1200" dirty="0" smtClean="0">
                <a:solidFill>
                  <a:schemeClr val="tx1"/>
                </a:solidFill>
                <a:ea typeface="+mn-ea"/>
                <a:cs typeface="+mn-cs"/>
              </a:rPr>
              <a:t> Kings </a:t>
            </a:r>
          </a:p>
          <a:p>
            <a:pPr lvl="1">
              <a:buFont typeface="Arial" pitchFamily="34" charset="0"/>
              <a:buChar char="•"/>
            </a:pPr>
            <a:r>
              <a:rPr lang="en-AU" sz="1200" kern="1200" dirty="0" smtClean="0">
                <a:solidFill>
                  <a:schemeClr val="tx1"/>
                </a:solidFill>
                <a:ea typeface="+mn-ea"/>
                <a:cs typeface="+mn-cs"/>
              </a:rPr>
              <a:t> Queens.</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Question and Answer</a:t>
            </a:r>
          </a:p>
          <a:p>
            <a:pPr>
              <a:buFont typeface="Arial" pitchFamily="34" charset="0"/>
              <a:buNone/>
            </a:pPr>
            <a:r>
              <a:rPr lang="en-AU" sz="1200" b="0" kern="1200" dirty="0" smtClean="0">
                <a:solidFill>
                  <a:schemeClr val="tx1"/>
                </a:solidFill>
                <a:ea typeface="+mn-ea"/>
                <a:cs typeface="+mn-cs"/>
              </a:rPr>
              <a:t>Trainer asks class to give more examples of ‘Royalty’.</a:t>
            </a:r>
          </a:p>
          <a:p>
            <a:pPr>
              <a:buFont typeface="Arial" pitchFamily="34" charset="0"/>
              <a:buNone/>
            </a:pPr>
            <a:endParaRPr lang="en-AU" sz="1200" b="1" i="1" kern="1200" dirty="0" smtClean="0">
              <a:solidFill>
                <a:schemeClr val="tx1"/>
              </a:solidFill>
              <a:ea typeface="+mn-ea"/>
              <a:cs typeface="+mn-cs"/>
            </a:endParaRPr>
          </a:p>
          <a:p>
            <a:pPr>
              <a:buFont typeface="Arial" pitchFamily="34" charset="0"/>
              <a:buNone/>
            </a:pPr>
            <a:r>
              <a:rPr lang="en-AU" sz="1200" b="1" i="1" kern="1200" dirty="0" smtClean="0">
                <a:solidFill>
                  <a:schemeClr val="tx1"/>
                </a:solidFill>
                <a:ea typeface="+mn-ea"/>
                <a:cs typeface="+mn-cs"/>
              </a:rPr>
              <a:t>Possible answers</a:t>
            </a:r>
          </a:p>
          <a:p>
            <a:pPr>
              <a:buFont typeface="Arial" pitchFamily="34" charset="0"/>
              <a:buChar char="•"/>
            </a:pPr>
            <a:r>
              <a:rPr lang="en-AU" sz="1200" kern="1200" dirty="0" smtClean="0">
                <a:solidFill>
                  <a:schemeClr val="tx1"/>
                </a:solidFill>
                <a:ea typeface="+mn-ea"/>
                <a:cs typeface="+mn-cs"/>
              </a:rPr>
              <a:t> Princes and princesses</a:t>
            </a:r>
          </a:p>
          <a:p>
            <a:pPr>
              <a:buFont typeface="Arial" pitchFamily="34" charset="0"/>
              <a:buChar char="•"/>
            </a:pPr>
            <a:r>
              <a:rPr lang="en-AU" sz="1200" kern="1200" dirty="0" smtClean="0">
                <a:solidFill>
                  <a:schemeClr val="tx1"/>
                </a:solidFill>
                <a:ea typeface="+mn-ea"/>
                <a:cs typeface="+mn-cs"/>
              </a:rPr>
              <a:t> Dukes and duchesses</a:t>
            </a:r>
          </a:p>
          <a:p>
            <a:pPr>
              <a:buFont typeface="Arial" pitchFamily="34" charset="0"/>
              <a:buChar char="•"/>
            </a:pPr>
            <a:r>
              <a:rPr lang="en-AU" sz="1200" kern="1200" dirty="0" smtClean="0">
                <a:solidFill>
                  <a:schemeClr val="tx1"/>
                </a:solidFill>
                <a:ea typeface="+mn-ea"/>
                <a:cs typeface="+mn-cs"/>
              </a:rPr>
              <a:t> Counts and viscounts</a:t>
            </a:r>
          </a:p>
          <a:p>
            <a:pPr>
              <a:buFont typeface="Arial" pitchFamily="34" charset="0"/>
              <a:buChar char="•"/>
            </a:pPr>
            <a:r>
              <a:rPr lang="en-AU" sz="1200" kern="1200" dirty="0" smtClean="0">
                <a:solidFill>
                  <a:schemeClr val="tx1"/>
                </a:solidFill>
                <a:ea typeface="+mn-ea"/>
                <a:cs typeface="+mn-cs"/>
              </a:rPr>
              <a:t> Barons and baronets.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134201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examples of VIPs:</a:t>
            </a:r>
          </a:p>
          <a:p>
            <a:pPr>
              <a:buFont typeface="Arial" pitchFamily="34" charset="0"/>
              <a:buChar char="•"/>
            </a:pPr>
            <a:r>
              <a:rPr lang="en-AU" sz="1200" kern="1200" dirty="0" smtClean="0">
                <a:solidFill>
                  <a:schemeClr val="tx1"/>
                </a:solidFill>
                <a:ea typeface="+mn-ea"/>
                <a:cs typeface="+mn-cs"/>
              </a:rPr>
              <a:t> Politicians such as:</a:t>
            </a:r>
          </a:p>
          <a:p>
            <a:pPr lvl="1">
              <a:buFont typeface="Arial" pitchFamily="34" charset="0"/>
              <a:buChar char="•"/>
            </a:pPr>
            <a:r>
              <a:rPr lang="en-AU" sz="1200" kern="1200" dirty="0" smtClean="0">
                <a:solidFill>
                  <a:schemeClr val="tx1"/>
                </a:solidFill>
                <a:ea typeface="+mn-ea"/>
                <a:cs typeface="+mn-cs"/>
              </a:rPr>
              <a:t> Presidents.</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Question and Answer</a:t>
            </a:r>
          </a:p>
          <a:p>
            <a:pPr>
              <a:buFont typeface="Arial" pitchFamily="34" charset="0"/>
              <a:buNone/>
            </a:pPr>
            <a:r>
              <a:rPr lang="en-AU" sz="1200" b="0" kern="1200" dirty="0" smtClean="0">
                <a:solidFill>
                  <a:schemeClr val="tx1"/>
                </a:solidFill>
                <a:ea typeface="+mn-ea"/>
                <a:cs typeface="+mn-cs"/>
              </a:rPr>
              <a:t>Trainer asks class to give more examples of ‘Politicians’.</a:t>
            </a:r>
          </a:p>
          <a:p>
            <a:pPr>
              <a:buFont typeface="Arial" pitchFamily="34" charset="0"/>
              <a:buNone/>
            </a:pPr>
            <a:r>
              <a:rPr lang="en-AU" sz="1200" b="1" i="1" kern="1200" dirty="0" smtClean="0">
                <a:solidFill>
                  <a:schemeClr val="tx1"/>
                </a:solidFill>
                <a:ea typeface="+mn-ea"/>
                <a:cs typeface="+mn-cs"/>
              </a:rPr>
              <a:t>Possible answers</a:t>
            </a:r>
          </a:p>
          <a:p>
            <a:pPr>
              <a:buFont typeface="Arial" pitchFamily="34" charset="0"/>
              <a:buChar char="•"/>
            </a:pPr>
            <a:r>
              <a:rPr lang="en-AU" sz="1200" kern="1200" dirty="0" smtClean="0">
                <a:solidFill>
                  <a:schemeClr val="tx1"/>
                </a:solidFill>
                <a:ea typeface="+mn-ea"/>
                <a:cs typeface="+mn-cs"/>
              </a:rPr>
              <a:t> First ladies</a:t>
            </a:r>
          </a:p>
          <a:p>
            <a:pPr>
              <a:buFont typeface="Arial" pitchFamily="34" charset="0"/>
              <a:buChar char="•"/>
            </a:pPr>
            <a:r>
              <a:rPr lang="en-AU" sz="1200" kern="1200" dirty="0" smtClean="0">
                <a:solidFill>
                  <a:schemeClr val="tx1"/>
                </a:solidFill>
                <a:ea typeface="+mn-ea"/>
                <a:cs typeface="+mn-cs"/>
              </a:rPr>
              <a:t> Prime Ministers and their spouses</a:t>
            </a:r>
          </a:p>
          <a:p>
            <a:pPr>
              <a:buFont typeface="Arial" pitchFamily="34" charset="0"/>
              <a:buChar char="•"/>
            </a:pPr>
            <a:r>
              <a:rPr lang="en-AU" sz="1200" kern="1200" dirty="0" smtClean="0">
                <a:solidFill>
                  <a:schemeClr val="tx1"/>
                </a:solidFill>
                <a:ea typeface="+mn-ea"/>
                <a:cs typeface="+mn-cs"/>
              </a:rPr>
              <a:t> Heads (‘Ministers’) of government departments/portfolios.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021394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examples of VIPs:</a:t>
            </a:r>
          </a:p>
          <a:p>
            <a:pPr>
              <a:buFont typeface="Arial" pitchFamily="34" charset="0"/>
              <a:buChar char="•"/>
            </a:pPr>
            <a:r>
              <a:rPr lang="en-AU" sz="1200" kern="1200" dirty="0" smtClean="0">
                <a:solidFill>
                  <a:schemeClr val="tx1"/>
                </a:solidFill>
                <a:ea typeface="+mn-ea"/>
                <a:cs typeface="+mn-cs"/>
              </a:rPr>
              <a:t> Entertainers such as:</a:t>
            </a:r>
          </a:p>
          <a:p>
            <a:pPr lvl="1">
              <a:buFont typeface="Arial" pitchFamily="34" charset="0"/>
              <a:buChar char="•"/>
            </a:pPr>
            <a:r>
              <a:rPr lang="en-AU" sz="1200" kern="1200" dirty="0" smtClean="0">
                <a:solidFill>
                  <a:schemeClr val="tx1"/>
                </a:solidFill>
                <a:ea typeface="+mn-ea"/>
                <a:cs typeface="+mn-cs"/>
              </a:rPr>
              <a:t> Pop/rock stars</a:t>
            </a:r>
          </a:p>
          <a:p>
            <a:pPr lvl="1">
              <a:buFont typeface="Arial" pitchFamily="34" charset="0"/>
              <a:buChar char="•"/>
            </a:pPr>
            <a:r>
              <a:rPr lang="en-AU" sz="1200" kern="1200" dirty="0" smtClean="0">
                <a:solidFill>
                  <a:schemeClr val="tx1"/>
                </a:solidFill>
                <a:ea typeface="+mn-ea"/>
                <a:cs typeface="+mn-cs"/>
              </a:rPr>
              <a:t> Bands</a:t>
            </a:r>
          </a:p>
          <a:p>
            <a:pPr lvl="1">
              <a:buFont typeface="Arial" pitchFamily="34" charset="0"/>
              <a:buChar char="•"/>
            </a:pPr>
            <a:r>
              <a:rPr lang="en-AU" sz="1200" kern="1200" dirty="0" smtClean="0">
                <a:solidFill>
                  <a:schemeClr val="tx1"/>
                </a:solidFill>
                <a:ea typeface="+mn-ea"/>
                <a:cs typeface="+mn-cs"/>
              </a:rPr>
              <a:t> Film stars/actors</a:t>
            </a:r>
          </a:p>
          <a:p>
            <a:pPr lvl="1">
              <a:buFont typeface="Arial" pitchFamily="34" charset="0"/>
              <a:buChar char="•"/>
            </a:pPr>
            <a:r>
              <a:rPr lang="en-AU" sz="1200" kern="1200" dirty="0" smtClean="0">
                <a:solidFill>
                  <a:schemeClr val="tx1"/>
                </a:solidFill>
                <a:ea typeface="+mn-ea"/>
                <a:cs typeface="+mn-cs"/>
              </a:rPr>
              <a:t> Television performers.</a:t>
            </a:r>
          </a:p>
          <a:p>
            <a:pPr lvl="1">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Question and Answer</a:t>
            </a:r>
          </a:p>
          <a:p>
            <a:pPr>
              <a:buFont typeface="Arial" pitchFamily="34" charset="0"/>
              <a:buNone/>
            </a:pPr>
            <a:r>
              <a:rPr lang="en-AU" sz="1200" b="0" kern="1200" dirty="0" smtClean="0">
                <a:solidFill>
                  <a:schemeClr val="tx1"/>
                </a:solidFill>
                <a:ea typeface="+mn-ea"/>
                <a:cs typeface="+mn-cs"/>
              </a:rPr>
              <a:t>Trainer asks class to name examples of ‘Entertainers’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71963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examples of VIPs:</a:t>
            </a:r>
          </a:p>
          <a:p>
            <a:pPr>
              <a:buFont typeface="Arial" pitchFamily="34" charset="0"/>
              <a:buChar char="•"/>
            </a:pPr>
            <a:r>
              <a:rPr lang="en-AU" sz="1200" kern="1200" dirty="0" smtClean="0">
                <a:solidFill>
                  <a:schemeClr val="tx1"/>
                </a:solidFill>
                <a:ea typeface="+mn-ea"/>
                <a:cs typeface="+mn-cs"/>
              </a:rPr>
              <a:t> Sporting stars such as:</a:t>
            </a:r>
          </a:p>
          <a:p>
            <a:pPr lvl="1">
              <a:buFont typeface="Arial" pitchFamily="34" charset="0"/>
              <a:buChar char="•"/>
            </a:pPr>
            <a:r>
              <a:rPr lang="en-AU" sz="1200" kern="1200" dirty="0" smtClean="0">
                <a:solidFill>
                  <a:schemeClr val="tx1"/>
                </a:solidFill>
                <a:ea typeface="+mn-ea"/>
                <a:cs typeface="+mn-cs"/>
              </a:rPr>
              <a:t> Local and foreign</a:t>
            </a:r>
          </a:p>
          <a:p>
            <a:pPr lvl="1">
              <a:buFont typeface="Arial" pitchFamily="34" charset="0"/>
              <a:buChar char="•"/>
            </a:pPr>
            <a:r>
              <a:rPr lang="en-AU" sz="1200" kern="1200" dirty="0" smtClean="0">
                <a:solidFill>
                  <a:schemeClr val="tx1"/>
                </a:solidFill>
                <a:ea typeface="+mn-ea"/>
                <a:cs typeface="+mn-cs"/>
              </a:rPr>
              <a:t> Individuals</a:t>
            </a:r>
          </a:p>
          <a:p>
            <a:pPr lvl="1">
              <a:buFont typeface="Arial" pitchFamily="34" charset="0"/>
              <a:buChar char="•"/>
            </a:pPr>
            <a:r>
              <a:rPr lang="en-AU" sz="1200" kern="1200" dirty="0" smtClean="0">
                <a:solidFill>
                  <a:schemeClr val="tx1"/>
                </a:solidFill>
                <a:ea typeface="+mn-ea"/>
                <a:cs typeface="+mn-cs"/>
              </a:rPr>
              <a:t> Teams</a:t>
            </a:r>
          </a:p>
          <a:p>
            <a:pPr lvl="1">
              <a:buFont typeface="Arial" pitchFamily="34" charset="0"/>
              <a:buChar char="•"/>
            </a:pPr>
            <a:r>
              <a:rPr lang="en-AU" sz="1200" kern="1200" dirty="0" smtClean="0">
                <a:solidFill>
                  <a:schemeClr val="tx1"/>
                </a:solidFill>
                <a:ea typeface="+mn-ea"/>
                <a:cs typeface="+mn-cs"/>
              </a:rPr>
              <a:t> All types of sports.</a:t>
            </a:r>
          </a:p>
          <a:p>
            <a:pPr lvl="1">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Question and Answer</a:t>
            </a:r>
          </a:p>
          <a:p>
            <a:pPr>
              <a:buFont typeface="Arial" pitchFamily="34" charset="0"/>
              <a:buNone/>
            </a:pPr>
            <a:r>
              <a:rPr lang="en-AU" sz="1200" b="0" kern="1200" dirty="0" smtClean="0">
                <a:solidFill>
                  <a:schemeClr val="tx1"/>
                </a:solidFill>
                <a:ea typeface="+mn-ea"/>
                <a:cs typeface="+mn-cs"/>
              </a:rPr>
              <a:t>Trainer asks class to name examples of ‘Sports stars’ who could be classified as VIPs.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901151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examples of VIPs:</a:t>
            </a:r>
          </a:p>
          <a:p>
            <a:pPr>
              <a:buFont typeface="Arial" pitchFamily="34" charset="0"/>
              <a:buChar char="•"/>
            </a:pPr>
            <a:r>
              <a:rPr lang="en-AU" sz="1200" kern="1200" dirty="0" smtClean="0">
                <a:solidFill>
                  <a:schemeClr val="tx1"/>
                </a:solidFill>
                <a:ea typeface="+mn-ea"/>
                <a:cs typeface="+mn-cs"/>
              </a:rPr>
              <a:t> Celebrities which can include:</a:t>
            </a:r>
          </a:p>
          <a:p>
            <a:pPr lvl="1">
              <a:buFont typeface="Arial" pitchFamily="34" charset="0"/>
              <a:buChar char="•"/>
            </a:pPr>
            <a:r>
              <a:rPr lang="en-AU" sz="1200" kern="1200" dirty="0" smtClean="0">
                <a:solidFill>
                  <a:schemeClr val="tx1"/>
                </a:solidFill>
                <a:ea typeface="+mn-ea"/>
                <a:cs typeface="+mn-cs"/>
              </a:rPr>
              <a:t> Popular individuals</a:t>
            </a:r>
          </a:p>
          <a:p>
            <a:pPr lvl="1">
              <a:buFont typeface="Arial" pitchFamily="34" charset="0"/>
              <a:buChar char="•"/>
            </a:pPr>
            <a:r>
              <a:rPr lang="en-AU" sz="1200" kern="1200" dirty="0" smtClean="0">
                <a:solidFill>
                  <a:schemeClr val="tx1"/>
                </a:solidFill>
                <a:ea typeface="+mn-ea"/>
                <a:cs typeface="+mn-cs"/>
              </a:rPr>
              <a:t> Those who have achieved a certain level of fame/notoriety</a:t>
            </a:r>
          </a:p>
          <a:p>
            <a:pPr lvl="1">
              <a:buFont typeface="Arial" pitchFamily="34" charset="0"/>
              <a:buChar char="•"/>
            </a:pPr>
            <a:r>
              <a:rPr lang="en-AU" sz="1200" kern="1200" dirty="0" smtClean="0">
                <a:solidFill>
                  <a:schemeClr val="tx1"/>
                </a:solidFill>
                <a:ea typeface="+mn-ea"/>
                <a:cs typeface="+mn-cs"/>
              </a:rPr>
              <a:t> People who have won a competition</a:t>
            </a:r>
          </a:p>
          <a:p>
            <a:pPr lvl="1">
              <a:buFont typeface="Arial" pitchFamily="34" charset="0"/>
              <a:buChar char="•"/>
            </a:pPr>
            <a:r>
              <a:rPr lang="en-AU" sz="1200" kern="1200" dirty="0" smtClean="0">
                <a:solidFill>
                  <a:schemeClr val="tx1"/>
                </a:solidFill>
                <a:ea typeface="+mn-ea"/>
                <a:cs typeface="+mn-cs"/>
              </a:rPr>
              <a:t> Anyone with a prominent profile</a:t>
            </a:r>
          </a:p>
          <a:p>
            <a:pPr lvl="1">
              <a:buFont typeface="Arial" pitchFamily="34" charset="0"/>
              <a:buChar char="•"/>
            </a:pPr>
            <a:r>
              <a:rPr lang="en-AU" sz="1200" kern="1200" dirty="0" smtClean="0">
                <a:solidFill>
                  <a:schemeClr val="tx1"/>
                </a:solidFill>
                <a:ea typeface="+mn-ea"/>
                <a:cs typeface="+mn-cs"/>
              </a:rPr>
              <a:t> Someone with a high-profile media presence.</a:t>
            </a:r>
          </a:p>
          <a:p>
            <a:pPr lvl="1">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Question and Answer</a:t>
            </a:r>
          </a:p>
          <a:p>
            <a:pPr>
              <a:buFont typeface="Arial" pitchFamily="34" charset="0"/>
              <a:buNone/>
            </a:pPr>
            <a:r>
              <a:rPr lang="en-AU" sz="1200" b="0" kern="1200" dirty="0" smtClean="0">
                <a:solidFill>
                  <a:schemeClr val="tx1"/>
                </a:solidFill>
                <a:ea typeface="+mn-ea"/>
                <a:cs typeface="+mn-cs"/>
              </a:rPr>
              <a:t>Trainer asks class to name examples of ‘Celebrities’ who could be classified as VIPs.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980405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examples of VIPs:</a:t>
            </a:r>
          </a:p>
          <a:p>
            <a:pPr>
              <a:buFont typeface="Arial" pitchFamily="34" charset="0"/>
              <a:buChar char="•"/>
            </a:pPr>
            <a:r>
              <a:rPr lang="en-AU" sz="1200" kern="1200" dirty="0" smtClean="0">
                <a:solidFill>
                  <a:schemeClr val="tx1"/>
                </a:solidFill>
                <a:ea typeface="+mn-ea"/>
                <a:cs typeface="+mn-cs"/>
              </a:rPr>
              <a:t> Those who have received special honours which can include:</a:t>
            </a:r>
          </a:p>
          <a:p>
            <a:pPr lvl="1">
              <a:buFont typeface="Arial" pitchFamily="34" charset="0"/>
              <a:buChar char="•"/>
            </a:pPr>
            <a:r>
              <a:rPr lang="en-AU" sz="1200" kern="1200" dirty="0" smtClean="0">
                <a:solidFill>
                  <a:schemeClr val="tx1"/>
                </a:solidFill>
                <a:ea typeface="+mn-ea"/>
                <a:cs typeface="+mn-cs"/>
              </a:rPr>
              <a:t> Knights</a:t>
            </a:r>
          </a:p>
          <a:p>
            <a:pPr lvl="1">
              <a:buFont typeface="Arial" pitchFamily="34" charset="0"/>
              <a:buChar char="•"/>
            </a:pPr>
            <a:r>
              <a:rPr lang="en-AU" sz="1200" kern="1200" dirty="0" smtClean="0">
                <a:solidFill>
                  <a:schemeClr val="tx1"/>
                </a:solidFill>
                <a:ea typeface="+mn-ea"/>
                <a:cs typeface="+mn-cs"/>
              </a:rPr>
              <a:t> Certain medal holders</a:t>
            </a:r>
          </a:p>
          <a:p>
            <a:pPr lvl="1">
              <a:buFont typeface="Arial" pitchFamily="34" charset="0"/>
              <a:buChar char="•"/>
            </a:pPr>
            <a:r>
              <a:rPr lang="en-AU" sz="1200" kern="1200" dirty="0" smtClean="0">
                <a:solidFill>
                  <a:schemeClr val="tx1"/>
                </a:solidFill>
                <a:ea typeface="+mn-ea"/>
                <a:cs typeface="+mn-cs"/>
              </a:rPr>
              <a:t> People who have been given certain awards.</a:t>
            </a:r>
            <a:endParaRPr lang="en-AU" sz="1400" kern="1200" dirty="0" smtClean="0">
              <a:solidFill>
                <a:schemeClr val="tx1"/>
              </a:solidFill>
              <a:ea typeface="+mn-ea"/>
              <a:cs typeface="+mn-cs"/>
            </a:endParaRPr>
          </a:p>
          <a:p>
            <a:pPr>
              <a:buFont typeface="Arial" pitchFamily="34" charset="0"/>
              <a:buNone/>
            </a:pPr>
            <a:endParaRPr lang="en-AU" sz="1200" b="1"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Question and Answer</a:t>
            </a:r>
          </a:p>
          <a:p>
            <a:pPr>
              <a:buFont typeface="Arial" pitchFamily="34" charset="0"/>
              <a:buNone/>
            </a:pPr>
            <a:r>
              <a:rPr lang="en-AU" sz="1200" b="0" kern="1200" dirty="0" smtClean="0">
                <a:solidFill>
                  <a:schemeClr val="tx1"/>
                </a:solidFill>
                <a:ea typeface="+mn-ea"/>
                <a:cs typeface="+mn-cs"/>
              </a:rPr>
              <a:t>Trainer asks class to name examples of ‘Those who have received special honours’ who could be classified as VIPs.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725751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a:t>
            </a:r>
            <a:r>
              <a:rPr lang="en-AU" baseline="0" noProof="0" dirty="0" smtClean="0"/>
              <a:t> that </a:t>
            </a:r>
            <a:r>
              <a:rPr lang="en-AU" sz="1200" kern="1200" dirty="0" smtClean="0">
                <a:solidFill>
                  <a:schemeClr val="tx1"/>
                </a:solidFill>
                <a:ea typeface="+mn-ea"/>
                <a:cs typeface="+mn-cs"/>
              </a:rPr>
              <a:t>VIPs can visit for a wide range of reasons such as:</a:t>
            </a:r>
          </a:p>
          <a:p>
            <a:pPr>
              <a:buFont typeface="Arial" pitchFamily="34" charset="0"/>
              <a:buChar char="•"/>
            </a:pPr>
            <a:r>
              <a:rPr lang="en-AU" sz="1200" kern="1200" dirty="0" smtClean="0">
                <a:solidFill>
                  <a:schemeClr val="tx1"/>
                </a:solidFill>
                <a:ea typeface="+mn-ea"/>
                <a:cs typeface="+mn-cs"/>
              </a:rPr>
              <a:t> As a stopover on the way to another destination</a:t>
            </a:r>
          </a:p>
          <a:p>
            <a:pPr>
              <a:buFont typeface="Arial" pitchFamily="34" charset="0"/>
              <a:buChar char="•"/>
            </a:pPr>
            <a:r>
              <a:rPr lang="en-AU" sz="1200" kern="1200" dirty="0" smtClean="0">
                <a:solidFill>
                  <a:schemeClr val="tx1"/>
                </a:solidFill>
                <a:ea typeface="+mn-ea"/>
                <a:cs typeface="+mn-cs"/>
              </a:rPr>
              <a:t> To perform in a professional capacity which may involve:</a:t>
            </a:r>
          </a:p>
          <a:p>
            <a:pPr lvl="1">
              <a:buFont typeface="Arial" pitchFamily="34" charset="0"/>
              <a:buChar char="•"/>
            </a:pPr>
            <a:r>
              <a:rPr lang="en-AU" sz="1200" kern="1200" dirty="0" smtClean="0">
                <a:solidFill>
                  <a:schemeClr val="tx1"/>
                </a:solidFill>
                <a:ea typeface="+mn-ea"/>
                <a:cs typeface="+mn-cs"/>
              </a:rPr>
              <a:t> To play sport</a:t>
            </a:r>
          </a:p>
          <a:p>
            <a:pPr lvl="1">
              <a:buFont typeface="Arial" pitchFamily="34" charset="0"/>
              <a:buChar char="•"/>
            </a:pPr>
            <a:r>
              <a:rPr lang="en-AU" sz="1200" kern="1200" dirty="0" smtClean="0">
                <a:solidFill>
                  <a:schemeClr val="tx1"/>
                </a:solidFill>
                <a:ea typeface="+mn-ea"/>
                <a:cs typeface="+mn-cs"/>
              </a:rPr>
              <a:t> To present entertainment</a:t>
            </a:r>
          </a:p>
          <a:p>
            <a:pPr lvl="1">
              <a:buFont typeface="Arial" pitchFamily="34" charset="0"/>
              <a:buChar char="•"/>
            </a:pPr>
            <a:r>
              <a:rPr lang="en-AU" sz="1200" kern="1200" dirty="0" smtClean="0">
                <a:solidFill>
                  <a:schemeClr val="tx1"/>
                </a:solidFill>
                <a:ea typeface="+mn-ea"/>
                <a:cs typeface="+mn-cs"/>
              </a:rPr>
              <a:t> To attend a meeting</a:t>
            </a:r>
          </a:p>
          <a:p>
            <a:pPr lvl="1">
              <a:buFont typeface="Arial" pitchFamily="34" charset="0"/>
              <a:buChar char="•"/>
            </a:pPr>
            <a:r>
              <a:rPr lang="en-AU" sz="1200" kern="1200" dirty="0" smtClean="0">
                <a:solidFill>
                  <a:schemeClr val="tx1"/>
                </a:solidFill>
                <a:ea typeface="+mn-ea"/>
                <a:cs typeface="+mn-cs"/>
              </a:rPr>
              <a:t> To open an event or building</a:t>
            </a:r>
          </a:p>
          <a:p>
            <a:pPr>
              <a:buFont typeface="Arial" pitchFamily="34" charset="0"/>
              <a:buChar char="•"/>
            </a:pPr>
            <a:r>
              <a:rPr lang="en-AU" sz="1200" kern="1200" dirty="0" smtClean="0">
                <a:solidFill>
                  <a:schemeClr val="tx1"/>
                </a:solidFill>
                <a:ea typeface="+mn-ea"/>
                <a:cs typeface="+mn-cs"/>
              </a:rPr>
              <a:t>  For holiday purposes – for rest and relaxation.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84588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identifies details of the VIP visit which also need to be determined as part of the planning and preparation process:</a:t>
            </a:r>
          </a:p>
          <a:p>
            <a:pPr>
              <a:buFont typeface="Arial" pitchFamily="34" charset="0"/>
              <a:buChar char="•"/>
            </a:pPr>
            <a:r>
              <a:rPr lang="en-AU" sz="1200" kern="1200" dirty="0" smtClean="0">
                <a:solidFill>
                  <a:schemeClr val="tx1"/>
                </a:solidFill>
                <a:ea typeface="+mn-ea"/>
                <a:cs typeface="+mn-cs"/>
              </a:rPr>
              <a:t> Date of the visit including day of the week to use as a cross-check to verify the date</a:t>
            </a:r>
          </a:p>
          <a:p>
            <a:pPr>
              <a:buFont typeface="Arial" pitchFamily="34" charset="0"/>
              <a:buChar char="•"/>
            </a:pPr>
            <a:r>
              <a:rPr lang="en-AU" sz="1200" kern="1200" dirty="0" smtClean="0">
                <a:solidFill>
                  <a:schemeClr val="tx1"/>
                </a:solidFill>
                <a:ea typeface="+mn-ea"/>
                <a:cs typeface="+mn-cs"/>
              </a:rPr>
              <a:t> Time and duration of the visit in relation to:</a:t>
            </a:r>
          </a:p>
          <a:p>
            <a:pPr lvl="1">
              <a:buFont typeface="Arial" pitchFamily="34" charset="0"/>
              <a:buChar char="•"/>
            </a:pPr>
            <a:r>
              <a:rPr lang="en-AU" sz="1200" kern="1200" dirty="0" smtClean="0">
                <a:solidFill>
                  <a:schemeClr val="tx1"/>
                </a:solidFill>
                <a:ea typeface="+mn-ea"/>
                <a:cs typeface="+mn-cs"/>
              </a:rPr>
              <a:t> Date and time of arrival in the country where applicable</a:t>
            </a:r>
          </a:p>
          <a:p>
            <a:pPr lvl="1">
              <a:buFont typeface="Arial" pitchFamily="34" charset="0"/>
              <a:buChar char="•"/>
            </a:pPr>
            <a:r>
              <a:rPr lang="en-AU" sz="1200" kern="1200" dirty="0" smtClean="0">
                <a:solidFill>
                  <a:schemeClr val="tx1"/>
                </a:solidFill>
                <a:ea typeface="+mn-ea"/>
                <a:cs typeface="+mn-cs"/>
              </a:rPr>
              <a:t> Date and time of arrival at the venue</a:t>
            </a:r>
          </a:p>
          <a:p>
            <a:pPr lvl="1">
              <a:buFont typeface="Arial" pitchFamily="34" charset="0"/>
              <a:buChar char="•"/>
            </a:pPr>
            <a:r>
              <a:rPr lang="en-AU" sz="1200" kern="1200" dirty="0" smtClean="0">
                <a:solidFill>
                  <a:schemeClr val="tx1"/>
                </a:solidFill>
                <a:ea typeface="+mn-ea"/>
                <a:cs typeface="+mn-cs"/>
              </a:rPr>
              <a:t> Dates and times of trips from the venue and return to the venue during the stay</a:t>
            </a:r>
          </a:p>
          <a:p>
            <a:pPr lvl="1">
              <a:buFont typeface="Arial" pitchFamily="34" charset="0"/>
              <a:buChar char="•"/>
            </a:pPr>
            <a:r>
              <a:rPr lang="en-AU" sz="1200" kern="1200" dirty="0" smtClean="0">
                <a:solidFill>
                  <a:schemeClr val="tx1"/>
                </a:solidFill>
                <a:ea typeface="+mn-ea"/>
                <a:cs typeface="+mn-cs"/>
              </a:rPr>
              <a:t> Date and time of final departure from the venue</a:t>
            </a:r>
          </a:p>
          <a:p>
            <a:pPr lvl="1">
              <a:buFont typeface="Arial" pitchFamily="34" charset="0"/>
              <a:buChar char="•"/>
            </a:pPr>
            <a:r>
              <a:rPr lang="en-AU" sz="1200" kern="1200" dirty="0" smtClean="0">
                <a:solidFill>
                  <a:schemeClr val="tx1"/>
                </a:solidFill>
                <a:ea typeface="+mn-ea"/>
                <a:cs typeface="+mn-cs"/>
              </a:rPr>
              <a:t> Date and time of departure from the country where applicable</a:t>
            </a:r>
          </a:p>
          <a:p>
            <a:pPr>
              <a:buFont typeface="Arial" pitchFamily="34" charset="0"/>
              <a:buChar char="•"/>
            </a:pPr>
            <a:r>
              <a:rPr lang="en-AU" sz="1200" kern="1200" dirty="0" smtClean="0">
                <a:solidFill>
                  <a:schemeClr val="tx1"/>
                </a:solidFill>
                <a:ea typeface="+mn-ea"/>
                <a:cs typeface="+mn-cs"/>
              </a:rPr>
              <a:t> Entourage details,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addressing:</a:t>
            </a:r>
          </a:p>
          <a:p>
            <a:pPr lvl="1">
              <a:buFont typeface="Arial" pitchFamily="34" charset="0"/>
              <a:buChar char="•"/>
            </a:pPr>
            <a:r>
              <a:rPr lang="en-AU" sz="1200" kern="1200" dirty="0" smtClean="0">
                <a:solidFill>
                  <a:schemeClr val="tx1"/>
                </a:solidFill>
                <a:ea typeface="+mn-ea"/>
                <a:cs typeface="+mn-cs"/>
              </a:rPr>
              <a:t> Numbers in the entourage</a:t>
            </a:r>
          </a:p>
          <a:p>
            <a:pPr lvl="1">
              <a:buFont typeface="Arial" pitchFamily="34" charset="0"/>
              <a:buChar char="•"/>
            </a:pPr>
            <a:r>
              <a:rPr lang="en-AU" sz="1200" kern="1200" dirty="0" smtClean="0">
                <a:solidFill>
                  <a:schemeClr val="tx1"/>
                </a:solidFill>
                <a:ea typeface="+mn-ea"/>
                <a:cs typeface="+mn-cs"/>
              </a:rPr>
              <a:t> Their names </a:t>
            </a:r>
          </a:p>
          <a:p>
            <a:pPr lvl="1">
              <a:buFont typeface="Arial" pitchFamily="34" charset="0"/>
              <a:buChar char="•"/>
            </a:pPr>
            <a:r>
              <a:rPr lang="en-AU" sz="1200" kern="1200" dirty="0" smtClean="0">
                <a:solidFill>
                  <a:schemeClr val="tx1"/>
                </a:solidFill>
                <a:ea typeface="+mn-ea"/>
                <a:cs typeface="+mn-cs"/>
              </a:rPr>
              <a:t> Their positions and responsibilities</a:t>
            </a:r>
          </a:p>
          <a:p>
            <a:pPr>
              <a:buFont typeface="Arial" pitchFamily="34" charset="0"/>
              <a:buChar char="•"/>
            </a:pPr>
            <a:r>
              <a:rPr lang="en-AU" sz="1200" kern="1200" dirty="0" smtClean="0">
                <a:solidFill>
                  <a:schemeClr val="tx1"/>
                </a:solidFill>
                <a:ea typeface="+mn-ea"/>
                <a:cs typeface="+mn-cs"/>
              </a:rPr>
              <a:t> Special requests which have been notified, such as requirements for:</a:t>
            </a:r>
          </a:p>
          <a:p>
            <a:pPr lvl="1">
              <a:buFont typeface="Arial" pitchFamily="34" charset="0"/>
              <a:buChar char="•"/>
            </a:pPr>
            <a:r>
              <a:rPr lang="en-AU" sz="1200" kern="1200" dirty="0" smtClean="0">
                <a:solidFill>
                  <a:schemeClr val="tx1"/>
                </a:solidFill>
                <a:ea typeface="+mn-ea"/>
                <a:cs typeface="+mn-cs"/>
              </a:rPr>
              <a:t> Arrangements to be observed ‘on arrival’ at the venue:</a:t>
            </a:r>
          </a:p>
          <a:p>
            <a:pPr lvl="2">
              <a:buFont typeface="Arial" pitchFamily="34" charset="0"/>
              <a:buChar char="•"/>
            </a:pPr>
            <a:r>
              <a:rPr lang="en-AU" sz="1200" kern="1200" dirty="0" smtClean="0">
                <a:solidFill>
                  <a:schemeClr val="tx1"/>
                </a:solidFill>
                <a:ea typeface="+mn-ea"/>
                <a:cs typeface="+mn-cs"/>
              </a:rPr>
              <a:t> Do they want a discreet arrival?</a:t>
            </a:r>
          </a:p>
          <a:p>
            <a:pPr lvl="2">
              <a:buFont typeface="Arial" pitchFamily="34" charset="0"/>
              <a:buChar char="•"/>
            </a:pPr>
            <a:r>
              <a:rPr lang="en-AU" sz="1200" kern="1200" dirty="0" smtClean="0">
                <a:solidFill>
                  <a:schemeClr val="tx1"/>
                </a:solidFill>
                <a:ea typeface="+mn-ea"/>
                <a:cs typeface="+mn-cs"/>
              </a:rPr>
              <a:t> Do they want media attendance?</a:t>
            </a:r>
          </a:p>
          <a:p>
            <a:pPr lvl="2">
              <a:buFont typeface="Arial" pitchFamily="34" charset="0"/>
              <a:buChar char="•"/>
            </a:pPr>
            <a:r>
              <a:rPr lang="en-AU" sz="1200" kern="1200" dirty="0" smtClean="0">
                <a:solidFill>
                  <a:schemeClr val="tx1"/>
                </a:solidFill>
                <a:ea typeface="+mn-ea"/>
                <a:cs typeface="+mn-cs"/>
              </a:rPr>
              <a:t> Do they need food and beverages?</a:t>
            </a:r>
          </a:p>
          <a:p>
            <a:pPr lvl="1">
              <a:buFont typeface="Arial" pitchFamily="34" charset="0"/>
              <a:buChar char="•"/>
            </a:pPr>
            <a:r>
              <a:rPr lang="en-AU" sz="1200" kern="1200" dirty="0" smtClean="0">
                <a:solidFill>
                  <a:schemeClr val="tx1"/>
                </a:solidFill>
                <a:ea typeface="+mn-ea"/>
                <a:cs typeface="+mn-cs"/>
              </a:rPr>
              <a:t> Preferences and requirements in relation to issues such as:</a:t>
            </a:r>
          </a:p>
          <a:p>
            <a:pPr lvl="2">
              <a:buFont typeface="Arial" pitchFamily="34" charset="0"/>
              <a:buChar char="•"/>
            </a:pPr>
            <a:r>
              <a:rPr lang="en-AU" sz="1200" kern="1200" dirty="0" smtClean="0">
                <a:solidFill>
                  <a:schemeClr val="tx1"/>
                </a:solidFill>
                <a:ea typeface="+mn-ea"/>
                <a:cs typeface="+mn-cs"/>
              </a:rPr>
              <a:t> Security</a:t>
            </a:r>
          </a:p>
          <a:p>
            <a:pPr lvl="2">
              <a:buFont typeface="Arial" pitchFamily="34" charset="0"/>
              <a:buChar char="•"/>
            </a:pPr>
            <a:r>
              <a:rPr lang="en-AU" sz="1200" kern="1200" dirty="0" smtClean="0">
                <a:solidFill>
                  <a:schemeClr val="tx1"/>
                </a:solidFill>
                <a:ea typeface="+mn-ea"/>
                <a:cs typeface="+mn-cs"/>
              </a:rPr>
              <a:t> Accommodation</a:t>
            </a:r>
          </a:p>
          <a:p>
            <a:pPr lvl="2">
              <a:buFont typeface="Arial" pitchFamily="34" charset="0"/>
              <a:buChar char="•"/>
            </a:pPr>
            <a:r>
              <a:rPr lang="en-AU" sz="1200" kern="1200" dirty="0" smtClean="0">
                <a:solidFill>
                  <a:schemeClr val="tx1"/>
                </a:solidFill>
                <a:ea typeface="+mn-ea"/>
                <a:cs typeface="+mn-cs"/>
              </a:rPr>
              <a:t> Service provision</a:t>
            </a:r>
          </a:p>
          <a:p>
            <a:pPr lvl="2">
              <a:buFont typeface="Arial" pitchFamily="34" charset="0"/>
              <a:buChar char="•"/>
            </a:pPr>
            <a:r>
              <a:rPr lang="en-AU" sz="1200" kern="1200" dirty="0" smtClean="0">
                <a:solidFill>
                  <a:schemeClr val="tx1"/>
                </a:solidFill>
                <a:ea typeface="+mn-ea"/>
                <a:cs typeface="+mn-cs"/>
              </a:rPr>
              <a:t> Transportation.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110043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emphasises when identifying details of the visit:</a:t>
            </a:r>
          </a:p>
          <a:p>
            <a:pPr>
              <a:buFont typeface="Arial" pitchFamily="34" charset="0"/>
              <a:buChar char="•"/>
            </a:pPr>
            <a:r>
              <a:rPr lang="en-AU" noProof="0" dirty="0" smtClean="0"/>
              <a:t> Record the details as opposed to relying on memory or believing you will be able to recall relevant information when needed</a:t>
            </a:r>
          </a:p>
          <a:p>
            <a:pPr>
              <a:buFont typeface="Arial" pitchFamily="34" charset="0"/>
              <a:buChar char="•"/>
            </a:pPr>
            <a:r>
              <a:rPr lang="en-AU" noProof="0" dirty="0" smtClean="0"/>
              <a:t> Use a small notebook as the basis for recording details and make this notebook a constant companion until the visit has been finalised.</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432993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states that </a:t>
            </a:r>
            <a:r>
              <a:rPr lang="en-AU" sz="1200" kern="1200" dirty="0" smtClean="0">
                <a:solidFill>
                  <a:schemeClr val="tx1"/>
                </a:solidFill>
                <a:ea typeface="+mn-ea"/>
                <a:cs typeface="+mn-cs"/>
              </a:rPr>
              <a:t>when preparing for a VIP visit there will always be a need to liaise with others regarding the visit highlighting:</a:t>
            </a:r>
          </a:p>
          <a:p>
            <a:pPr>
              <a:buFont typeface="Arial" pitchFamily="34" charset="0"/>
              <a:buChar char="•"/>
            </a:pPr>
            <a:r>
              <a:rPr lang="en-AU" sz="1200" kern="1200" dirty="0" smtClean="0">
                <a:solidFill>
                  <a:schemeClr val="tx1"/>
                </a:solidFill>
                <a:ea typeface="+mn-ea"/>
                <a:cs typeface="+mn-cs"/>
              </a:rPr>
              <a:t> There is a need for two-way communication between you and the VIP visitor:</a:t>
            </a:r>
          </a:p>
          <a:p>
            <a:pPr lvl="1">
              <a:buFont typeface="Arial" pitchFamily="34" charset="0"/>
              <a:buChar char="•"/>
            </a:pPr>
            <a:r>
              <a:rPr lang="en-AU" sz="1200" kern="1200" dirty="0" smtClean="0">
                <a:solidFill>
                  <a:schemeClr val="tx1"/>
                </a:solidFill>
                <a:ea typeface="+mn-ea"/>
                <a:cs typeface="+mn-cs"/>
              </a:rPr>
              <a:t> The VIP – or their entourage – will need to contact you to ask questions, seek clarification and give instructions</a:t>
            </a:r>
          </a:p>
          <a:p>
            <a:pPr lvl="1">
              <a:buFont typeface="Arial" pitchFamily="34" charset="0"/>
              <a:buChar char="•"/>
            </a:pPr>
            <a:r>
              <a:rPr lang="en-AU" sz="1200" kern="1200" dirty="0" smtClean="0">
                <a:solidFill>
                  <a:schemeClr val="tx1"/>
                </a:solidFill>
                <a:ea typeface="+mn-ea"/>
                <a:cs typeface="+mn-cs"/>
              </a:rPr>
              <a:t> You will need to communicate with the VIP or their representatives for the same reasons</a:t>
            </a:r>
          </a:p>
          <a:p>
            <a:pPr>
              <a:buFont typeface="Arial" pitchFamily="34" charset="0"/>
              <a:buChar char="•"/>
            </a:pPr>
            <a:r>
              <a:rPr lang="en-AU" sz="1200" kern="1200" dirty="0" smtClean="0">
                <a:solidFill>
                  <a:schemeClr val="tx1"/>
                </a:solidFill>
                <a:ea typeface="+mn-ea"/>
                <a:cs typeface="+mn-cs"/>
              </a:rPr>
              <a:t> Record communications – use notebook mentioned previously.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223300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identifies people with whom liaison/communication can be required:</a:t>
            </a:r>
          </a:p>
          <a:p>
            <a:pPr>
              <a:buFont typeface="Arial" pitchFamily="34" charset="0"/>
              <a:buChar char="•"/>
            </a:pPr>
            <a:r>
              <a:rPr lang="en-AU" b="0" baseline="0" noProof="0" dirty="0" smtClean="0"/>
              <a:t> Managers</a:t>
            </a:r>
          </a:p>
          <a:p>
            <a:pPr>
              <a:buFont typeface="Arial" pitchFamily="34" charset="0"/>
              <a:buChar char="•"/>
            </a:pPr>
            <a:r>
              <a:rPr lang="en-AU" b="0" baseline="0" noProof="0" dirty="0" smtClean="0"/>
              <a:t> Local authorities</a:t>
            </a:r>
          </a:p>
          <a:p>
            <a:pPr>
              <a:buFont typeface="Arial" pitchFamily="34" charset="0"/>
              <a:buChar char="•"/>
            </a:pPr>
            <a:r>
              <a:rPr lang="en-AU" b="0" baseline="0" noProof="0" dirty="0" smtClean="0"/>
              <a:t> Staff and entourage of VIP</a:t>
            </a:r>
          </a:p>
          <a:p>
            <a:pPr>
              <a:buFont typeface="Arial" pitchFamily="34" charset="0"/>
              <a:buChar char="•"/>
            </a:pPr>
            <a:r>
              <a:rPr lang="en-AU" b="0" baseline="0" noProof="0" dirty="0" smtClean="0"/>
              <a:t> Security staff</a:t>
            </a:r>
          </a:p>
          <a:p>
            <a:pPr>
              <a:buFont typeface="Arial" pitchFamily="34" charset="0"/>
              <a:buChar char="•"/>
            </a:pPr>
            <a:r>
              <a:rPr lang="en-AU" b="0" baseline="0" noProof="0" dirty="0" smtClean="0"/>
              <a:t> Government/embassy staff.</a:t>
            </a:r>
          </a:p>
          <a:p>
            <a:pPr>
              <a:buFont typeface="Arial" pitchFamily="34" charset="0"/>
              <a:buNone/>
            </a:pPr>
            <a:endParaRPr lang="en-AU" b="0"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949986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liaison with VIP managers and handlers:</a:t>
            </a:r>
          </a:p>
          <a:p>
            <a:pPr>
              <a:buFont typeface="Arial" pitchFamily="34" charset="0"/>
              <a:buChar char="•"/>
            </a:pPr>
            <a:r>
              <a:rPr lang="en-AU" sz="1200" kern="1200" dirty="0" smtClean="0">
                <a:solidFill>
                  <a:schemeClr val="tx1"/>
                </a:solidFill>
                <a:ea typeface="+mn-ea"/>
                <a:cs typeface="+mn-cs"/>
              </a:rPr>
              <a:t> Many (but not all) VIPs travel with managers and handlers</a:t>
            </a:r>
          </a:p>
          <a:p>
            <a:pPr>
              <a:buFont typeface="Arial" pitchFamily="34" charset="0"/>
              <a:buChar char="•"/>
            </a:pPr>
            <a:r>
              <a:rPr lang="en-AU" sz="1200" kern="1200" dirty="0" smtClean="0">
                <a:solidFill>
                  <a:schemeClr val="tx1"/>
                </a:solidFill>
                <a:ea typeface="+mn-ea"/>
                <a:cs typeface="+mn-cs"/>
              </a:rPr>
              <a:t> These people are responsible for arranging and organising the visit</a:t>
            </a:r>
          </a:p>
          <a:p>
            <a:pPr>
              <a:buFont typeface="Arial" pitchFamily="34" charset="0"/>
              <a:buChar char="•"/>
            </a:pPr>
            <a:r>
              <a:rPr lang="en-AU" sz="1200" kern="1200" dirty="0" smtClean="0">
                <a:solidFill>
                  <a:schemeClr val="tx1"/>
                </a:solidFill>
                <a:ea typeface="+mn-ea"/>
                <a:cs typeface="+mn-cs"/>
              </a:rPr>
              <a:t> They manage the visit from the VIP’s perspective and handle things such as problems, media, requests from the public, movement between locations, transportation, and general day</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day issues that arise</a:t>
            </a:r>
          </a:p>
          <a:p>
            <a:pPr>
              <a:buFont typeface="Arial" pitchFamily="34" charset="0"/>
              <a:buChar char="•"/>
            </a:pPr>
            <a:r>
              <a:rPr lang="en-AU" sz="1200" kern="1200" dirty="0" smtClean="0">
                <a:solidFill>
                  <a:schemeClr val="tx1"/>
                </a:solidFill>
                <a:ea typeface="+mn-ea"/>
                <a:cs typeface="+mn-cs"/>
              </a:rPr>
              <a:t> They will need to regularly communicate with you to provide direction and verify arrangements.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9704258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further discusses roles of VIP managers and handlers:</a:t>
            </a:r>
          </a:p>
          <a:p>
            <a:pPr>
              <a:buFont typeface="Arial" pitchFamily="34" charset="0"/>
              <a:buChar char="•"/>
            </a:pPr>
            <a:r>
              <a:rPr lang="en-AU" sz="1200" kern="1200" dirty="0" smtClean="0">
                <a:solidFill>
                  <a:schemeClr val="tx1"/>
                </a:solidFill>
                <a:ea typeface="+mn-ea"/>
                <a:cs typeface="+mn-cs"/>
              </a:rPr>
              <a:t> Usually provide a standard list of requirements for the VIP – especially where the VIP travels frequently.</a:t>
            </a:r>
          </a:p>
          <a:p>
            <a:pPr lvl="1">
              <a:buFont typeface="Arial" pitchFamily="34" charset="0"/>
              <a:buChar char="•"/>
            </a:pPr>
            <a:r>
              <a:rPr lang="en-AU" sz="1200" kern="1200" dirty="0" smtClean="0">
                <a:solidFill>
                  <a:schemeClr val="tx1"/>
                </a:solidFill>
                <a:ea typeface="+mn-ea"/>
                <a:cs typeface="+mn-cs"/>
              </a:rPr>
              <a:t> This list provides an extremely useful (and non-negotiable) list of issues which need to be addressed.</a:t>
            </a:r>
          </a:p>
          <a:p>
            <a:pPr>
              <a:buFont typeface="Arial" pitchFamily="34" charset="0"/>
              <a:buChar char="•"/>
            </a:pPr>
            <a:r>
              <a:rPr lang="en-AU" sz="1200" kern="1200" dirty="0" smtClean="0">
                <a:solidFill>
                  <a:schemeClr val="tx1"/>
                </a:solidFill>
                <a:ea typeface="+mn-ea"/>
                <a:cs typeface="+mn-cs"/>
              </a:rPr>
              <a:t> Provide you with updates about the visit as factors impacting on the visit change.</a:t>
            </a:r>
          </a:p>
          <a:p>
            <a:pPr lvl="1">
              <a:buFont typeface="Arial" pitchFamily="34" charset="0"/>
              <a:buChar char="•"/>
            </a:pPr>
            <a:r>
              <a:rPr lang="en-AU" sz="1200" kern="1200" dirty="0" smtClean="0">
                <a:solidFill>
                  <a:schemeClr val="tx1"/>
                </a:solidFill>
                <a:ea typeface="+mn-ea"/>
                <a:cs typeface="+mn-cs"/>
              </a:rPr>
              <a:t> You must </a:t>
            </a:r>
            <a:r>
              <a:rPr lang="en-AU" sz="1200" i="1" kern="1200" dirty="0" smtClean="0">
                <a:solidFill>
                  <a:schemeClr val="tx1"/>
                </a:solidFill>
                <a:ea typeface="+mn-ea"/>
                <a:cs typeface="+mn-cs"/>
              </a:rPr>
              <a:t>expect</a:t>
            </a:r>
            <a:r>
              <a:rPr lang="en-AU" sz="1200" kern="1200" dirty="0" smtClean="0">
                <a:solidFill>
                  <a:schemeClr val="tx1"/>
                </a:solidFill>
                <a:ea typeface="+mn-ea"/>
                <a:cs typeface="+mn-cs"/>
              </a:rPr>
              <a:t> there to be a regular updates and changes.</a:t>
            </a:r>
          </a:p>
          <a:p>
            <a:pPr>
              <a:buFont typeface="Arial" pitchFamily="34" charset="0"/>
              <a:buChar char="•"/>
            </a:pPr>
            <a:r>
              <a:rPr lang="en-AU" sz="1200" kern="1200" dirty="0" smtClean="0">
                <a:solidFill>
                  <a:schemeClr val="tx1"/>
                </a:solidFill>
                <a:ea typeface="+mn-ea"/>
                <a:cs typeface="+mn-cs"/>
              </a:rPr>
              <a:t> Require you to communicate with them when:</a:t>
            </a:r>
          </a:p>
          <a:p>
            <a:pPr lvl="1">
              <a:buFont typeface="Arial" pitchFamily="34" charset="0"/>
              <a:buChar char="•"/>
            </a:pPr>
            <a:r>
              <a:rPr lang="en-AU" sz="1200" kern="1200" dirty="0" smtClean="0">
                <a:solidFill>
                  <a:schemeClr val="tx1"/>
                </a:solidFill>
                <a:ea typeface="+mn-ea"/>
                <a:cs typeface="+mn-cs"/>
              </a:rPr>
              <a:t> Arrangements have been finalised</a:t>
            </a:r>
          </a:p>
          <a:p>
            <a:pPr lvl="1">
              <a:buFont typeface="Arial" pitchFamily="34" charset="0"/>
              <a:buChar char="•"/>
            </a:pPr>
            <a:r>
              <a:rPr lang="en-AU" sz="1200" kern="1200" dirty="0" smtClean="0">
                <a:solidFill>
                  <a:schemeClr val="tx1"/>
                </a:solidFill>
                <a:ea typeface="+mn-ea"/>
                <a:cs typeface="+mn-cs"/>
              </a:rPr>
              <a:t> Requests have been met</a:t>
            </a:r>
          </a:p>
          <a:p>
            <a:pPr lvl="1">
              <a:buFont typeface="Arial" pitchFamily="34" charset="0"/>
              <a:buChar char="•"/>
            </a:pPr>
            <a:r>
              <a:rPr lang="en-AU" sz="1200" kern="1200" dirty="0" smtClean="0">
                <a:solidFill>
                  <a:schemeClr val="tx1"/>
                </a:solidFill>
                <a:ea typeface="+mn-ea"/>
                <a:cs typeface="+mn-cs"/>
              </a:rPr>
              <a:t> Problems arise</a:t>
            </a:r>
          </a:p>
          <a:p>
            <a:pPr lvl="1">
              <a:buFont typeface="Arial" pitchFamily="34" charset="0"/>
              <a:buChar char="•"/>
            </a:pPr>
            <a:r>
              <a:rPr lang="en-AU" sz="1200" kern="1200" dirty="0" smtClean="0">
                <a:solidFill>
                  <a:schemeClr val="tx1"/>
                </a:solidFill>
                <a:ea typeface="+mn-ea"/>
                <a:cs typeface="+mn-cs"/>
              </a:rPr>
              <a:t> There is any need to clarify requirements</a:t>
            </a:r>
          </a:p>
          <a:p>
            <a:pPr>
              <a:buFont typeface="Arial" pitchFamily="34" charset="0"/>
              <a:buChar char="•"/>
            </a:pPr>
            <a:r>
              <a:rPr lang="en-AU" sz="1200" kern="1200" dirty="0" smtClean="0">
                <a:solidFill>
                  <a:schemeClr val="tx1"/>
                </a:solidFill>
                <a:ea typeface="+mn-ea"/>
                <a:cs typeface="+mn-cs"/>
              </a:rPr>
              <a:t> Expect you to:</a:t>
            </a:r>
          </a:p>
          <a:p>
            <a:pPr lvl="1">
              <a:buFont typeface="Arial" pitchFamily="34" charset="0"/>
              <a:buChar char="•"/>
            </a:pPr>
            <a:r>
              <a:rPr lang="en-AU" sz="1200" kern="1200" dirty="0" smtClean="0">
                <a:solidFill>
                  <a:schemeClr val="tx1"/>
                </a:solidFill>
                <a:ea typeface="+mn-ea"/>
                <a:cs typeface="+mn-cs"/>
              </a:rPr>
              <a:t> Be available 24 hours/day.</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is necessary due to the differences in time zones which often apply </a:t>
            </a:r>
          </a:p>
          <a:p>
            <a:pPr lvl="1">
              <a:buFont typeface="Arial" pitchFamily="34" charset="0"/>
              <a:buChar char="•"/>
            </a:pPr>
            <a:r>
              <a:rPr lang="en-AU" sz="1200" kern="1200" dirty="0" smtClean="0">
                <a:solidFill>
                  <a:schemeClr val="tx1"/>
                </a:solidFill>
                <a:ea typeface="+mn-ea"/>
                <a:cs typeface="+mn-cs"/>
              </a:rPr>
              <a:t> Be available by telephone – having a cell phone is vital as this is always their preferred method of communication</a:t>
            </a:r>
          </a:p>
          <a:p>
            <a:pPr lvl="1">
              <a:buFont typeface="Arial" pitchFamily="34" charset="0"/>
              <a:buChar char="•"/>
            </a:pPr>
            <a:r>
              <a:rPr lang="en-AU" sz="1200" kern="1200" dirty="0" smtClean="0">
                <a:solidFill>
                  <a:schemeClr val="tx1"/>
                </a:solidFill>
                <a:ea typeface="+mn-ea"/>
                <a:cs typeface="+mn-cs"/>
              </a:rPr>
              <a:t> Have email facilities – to facilitate the exchange of hard copy information, agreements, arrangements etc.</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1326002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local </a:t>
            </a:r>
            <a:r>
              <a:rPr lang="en-AU" sz="1200" kern="1200" dirty="0" smtClean="0">
                <a:solidFill>
                  <a:schemeClr val="tx1"/>
                </a:solidFill>
                <a:ea typeface="+mn-ea"/>
                <a:cs typeface="+mn-cs"/>
              </a:rPr>
              <a:t>authorities often</a:t>
            </a:r>
            <a:r>
              <a:rPr lang="en-AU" sz="1200" b="1" kern="1200" dirty="0" smtClean="0">
                <a:solidFill>
                  <a:schemeClr val="tx1"/>
                </a:solidFill>
                <a:ea typeface="+mn-ea"/>
                <a:cs typeface="+mn-cs"/>
              </a:rPr>
              <a:t> </a:t>
            </a:r>
            <a:r>
              <a:rPr lang="en-AU" sz="1200" kern="1200" dirty="0" smtClean="0">
                <a:solidFill>
                  <a:schemeClr val="tx1"/>
                </a:solidFill>
                <a:ea typeface="+mn-ea"/>
                <a:cs typeface="+mn-cs"/>
              </a:rPr>
              <a:t>want to be included when a VIP visits and </a:t>
            </a:r>
            <a:r>
              <a:rPr lang="en-AU" baseline="0" noProof="0" dirty="0" smtClean="0"/>
              <a:t>identifies local authorities as including:</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Local politicians</a:t>
            </a:r>
          </a:p>
          <a:p>
            <a:pPr>
              <a:buFont typeface="Arial" pitchFamily="34" charset="0"/>
              <a:buChar char="•"/>
            </a:pPr>
            <a:r>
              <a:rPr lang="en-AU" sz="1200" kern="1200" dirty="0" smtClean="0">
                <a:solidFill>
                  <a:schemeClr val="tx1"/>
                </a:solidFill>
                <a:ea typeface="+mn-ea"/>
                <a:cs typeface="+mn-cs"/>
              </a:rPr>
              <a:t> Local council members</a:t>
            </a:r>
          </a:p>
          <a:p>
            <a:pPr>
              <a:buFont typeface="Arial" pitchFamily="34" charset="0"/>
              <a:buChar char="•"/>
            </a:pPr>
            <a:r>
              <a:rPr lang="en-AU" sz="1200" kern="1200" dirty="0" smtClean="0">
                <a:solidFill>
                  <a:schemeClr val="tx1"/>
                </a:solidFill>
                <a:ea typeface="+mn-ea"/>
                <a:cs typeface="+mn-cs"/>
              </a:rPr>
              <a:t> Managers of authorities and agencies.</a:t>
            </a:r>
          </a:p>
          <a:p>
            <a:pPr>
              <a:buFont typeface="Arial" pitchFamily="34" charset="0"/>
              <a:buNone/>
            </a:pPr>
            <a:endParaRPr lang="en-AU" noProof="0" dirty="0" smtClean="0"/>
          </a:p>
          <a:p>
            <a:pPr>
              <a:buFont typeface="Arial" pitchFamily="34" charset="0"/>
              <a:buNone/>
            </a:pPr>
            <a:r>
              <a:rPr lang="en-AU" b="1" noProof="0" dirty="0" smtClean="0"/>
              <a:t>Class Activity – Question and Answer</a:t>
            </a:r>
          </a:p>
          <a:p>
            <a:pPr>
              <a:buFont typeface="Arial" pitchFamily="34" charset="0"/>
              <a:buNone/>
            </a:pPr>
            <a:r>
              <a:rPr lang="en-AU" b="0" noProof="0" dirty="0" smtClean="0"/>
              <a:t>Trainer asks students to identify reasons why local authorities (politicians, councils and government authorities/agencies) may want to be involved with a VIP visit.</a:t>
            </a:r>
          </a:p>
          <a:p>
            <a:pPr>
              <a:buFont typeface="Arial" pitchFamily="34" charset="0"/>
              <a:buNone/>
            </a:pPr>
            <a:r>
              <a:rPr lang="en-AU" b="1" i="1" noProof="0" dirty="0" smtClean="0"/>
              <a:t>Possible answers</a:t>
            </a:r>
          </a:p>
          <a:p>
            <a:r>
              <a:rPr lang="en-AU" sz="1200" kern="1200" dirty="0" smtClean="0">
                <a:solidFill>
                  <a:schemeClr val="tx1"/>
                </a:solidFill>
                <a:ea typeface="+mn-ea"/>
                <a:cs typeface="+mn-cs"/>
              </a:rPr>
              <a:t>Local authorities may want to:</a:t>
            </a:r>
          </a:p>
          <a:p>
            <a:pPr>
              <a:buFont typeface="Arial" pitchFamily="34" charset="0"/>
              <a:buChar char="•"/>
            </a:pPr>
            <a:r>
              <a:rPr lang="en-AU" sz="1200" kern="1200" dirty="0" smtClean="0">
                <a:solidFill>
                  <a:schemeClr val="tx1"/>
                </a:solidFill>
                <a:ea typeface="+mn-ea"/>
                <a:cs typeface="+mn-cs"/>
              </a:rPr>
              <a:t> Meet the VIP</a:t>
            </a:r>
          </a:p>
          <a:p>
            <a:pPr>
              <a:buFont typeface="Arial" pitchFamily="34" charset="0"/>
              <a:buChar char="•"/>
            </a:pPr>
            <a:r>
              <a:rPr lang="en-AU" sz="1200" kern="1200" dirty="0" smtClean="0">
                <a:solidFill>
                  <a:schemeClr val="tx1"/>
                </a:solidFill>
                <a:ea typeface="+mn-ea"/>
                <a:cs typeface="+mn-cs"/>
              </a:rPr>
              <a:t> Make a presentation to them</a:t>
            </a:r>
          </a:p>
          <a:p>
            <a:pPr>
              <a:buFont typeface="Arial" pitchFamily="34" charset="0"/>
              <a:buChar char="•"/>
            </a:pPr>
            <a:r>
              <a:rPr lang="en-AU" sz="1200" kern="1200" dirty="0" smtClean="0">
                <a:solidFill>
                  <a:schemeClr val="tx1"/>
                </a:solidFill>
                <a:ea typeface="+mn-ea"/>
                <a:cs typeface="+mn-cs"/>
              </a:rPr>
              <a:t> Provide a gift</a:t>
            </a:r>
          </a:p>
          <a:p>
            <a:pPr>
              <a:buFont typeface="Arial" pitchFamily="34" charset="0"/>
              <a:buChar char="•"/>
            </a:pPr>
            <a:r>
              <a:rPr lang="en-AU" sz="1200" kern="1200" dirty="0" smtClean="0">
                <a:solidFill>
                  <a:schemeClr val="tx1"/>
                </a:solidFill>
                <a:ea typeface="+mn-ea"/>
                <a:cs typeface="+mn-cs"/>
              </a:rPr>
              <a:t> Acknowledge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the visit</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person</a:t>
            </a:r>
          </a:p>
          <a:p>
            <a:pPr>
              <a:buFont typeface="Arial" pitchFamily="34" charset="0"/>
              <a:buChar char="•"/>
            </a:pPr>
            <a:r>
              <a:rPr lang="en-AU" sz="1200" kern="1200" dirty="0" smtClean="0">
                <a:solidFill>
                  <a:schemeClr val="tx1"/>
                </a:solidFill>
                <a:ea typeface="+mn-ea"/>
                <a:cs typeface="+mn-cs"/>
              </a:rPr>
              <a:t> Offer assistance</a:t>
            </a:r>
          </a:p>
          <a:p>
            <a:pPr>
              <a:buFont typeface="Arial" pitchFamily="34" charset="0"/>
              <a:buChar char="•"/>
            </a:pPr>
            <a:r>
              <a:rPr lang="en-AU" sz="1200" kern="1200" dirty="0" smtClean="0">
                <a:solidFill>
                  <a:schemeClr val="tx1"/>
                </a:solidFill>
                <a:ea typeface="+mn-ea"/>
                <a:cs typeface="+mn-cs"/>
              </a:rPr>
              <a:t> Represent/promote the local area.</a:t>
            </a:r>
          </a:p>
          <a:p>
            <a:pPr>
              <a:buFont typeface="Arial" pitchFamily="34" charset="0"/>
              <a:buNone/>
            </a:pPr>
            <a:endParaRPr lang="en-AU" b="0" i="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5688417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a:t>
            </a:r>
            <a:r>
              <a:rPr lang="en-AU" sz="1200" kern="1200" dirty="0" smtClean="0">
                <a:solidFill>
                  <a:schemeClr val="tx1"/>
                </a:solidFill>
                <a:ea typeface="+mn-ea"/>
                <a:cs typeface="+mn-cs"/>
              </a:rPr>
              <a:t>local police will always be notified of a VIP visit (for operational reasons and as a courtesy) and be available to:</a:t>
            </a:r>
          </a:p>
          <a:p>
            <a:pPr>
              <a:buFont typeface="Arial" pitchFamily="34" charset="0"/>
              <a:buChar char="•"/>
            </a:pPr>
            <a:r>
              <a:rPr lang="en-AU" sz="1200" kern="1200" dirty="0" smtClean="0">
                <a:solidFill>
                  <a:schemeClr val="tx1"/>
                </a:solidFill>
                <a:ea typeface="+mn-ea"/>
                <a:cs typeface="+mn-cs"/>
              </a:rPr>
              <a:t> Assist with security</a:t>
            </a:r>
          </a:p>
          <a:p>
            <a:pPr>
              <a:buFont typeface="Arial" pitchFamily="34" charset="0"/>
              <a:buChar char="•"/>
            </a:pPr>
            <a:r>
              <a:rPr lang="en-AU" sz="1200" kern="1200" dirty="0" smtClean="0">
                <a:solidFill>
                  <a:schemeClr val="tx1"/>
                </a:solidFill>
                <a:ea typeface="+mn-ea"/>
                <a:cs typeface="+mn-cs"/>
              </a:rPr>
              <a:t> Provide crowd control</a:t>
            </a:r>
          </a:p>
          <a:p>
            <a:pPr>
              <a:buFont typeface="Arial" pitchFamily="34" charset="0"/>
              <a:buChar char="•"/>
            </a:pPr>
            <a:r>
              <a:rPr lang="en-AU" sz="1200" kern="1200" dirty="0" smtClean="0">
                <a:solidFill>
                  <a:schemeClr val="tx1"/>
                </a:solidFill>
                <a:ea typeface="+mn-ea"/>
                <a:cs typeface="+mn-cs"/>
              </a:rPr>
              <a:t> Facilitate traffic movement</a:t>
            </a:r>
          </a:p>
          <a:p>
            <a:pPr>
              <a:buFont typeface="Arial" pitchFamily="34" charset="0"/>
              <a:buChar char="•"/>
            </a:pPr>
            <a:r>
              <a:rPr lang="en-AU" sz="1200" kern="1200" dirty="0" smtClean="0">
                <a:solidFill>
                  <a:schemeClr val="tx1"/>
                </a:solidFill>
                <a:ea typeface="+mn-ea"/>
                <a:cs typeface="+mn-cs"/>
              </a:rPr>
              <a:t> Provide relevant intelligence about the visit/the VIP.</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Guest Speaker from local police to attend and:</a:t>
            </a:r>
          </a:p>
          <a:p>
            <a:pPr>
              <a:buFont typeface="Arial" pitchFamily="34" charset="0"/>
              <a:buChar char="•"/>
            </a:pPr>
            <a:r>
              <a:rPr lang="en-AU" b="0" noProof="0" dirty="0" smtClean="0"/>
              <a:t> Advise the notification they would like in relation to a VIP visit</a:t>
            </a:r>
          </a:p>
          <a:p>
            <a:pPr>
              <a:buFont typeface="Arial" pitchFamily="34" charset="0"/>
              <a:buChar char="•"/>
            </a:pPr>
            <a:r>
              <a:rPr lang="en-AU" b="0" noProof="0" dirty="0" smtClean="0"/>
              <a:t> Explain support and services they can deliver</a:t>
            </a:r>
          </a:p>
          <a:p>
            <a:pPr>
              <a:buFont typeface="Arial" pitchFamily="34" charset="0"/>
              <a:buChar char="•"/>
            </a:pPr>
            <a:r>
              <a:rPr lang="en-AU" b="0" noProof="0" dirty="0" smtClean="0"/>
              <a:t> Provide advice in relation to preparing for and hosting a VIP visit</a:t>
            </a:r>
          </a:p>
          <a:p>
            <a:pPr>
              <a:buFont typeface="Arial" pitchFamily="34" charset="0"/>
              <a:buChar char="•"/>
            </a:pPr>
            <a:r>
              <a:rPr lang="en-AU" b="0" noProof="0" dirty="0" smtClean="0"/>
              <a:t> Give</a:t>
            </a:r>
            <a:r>
              <a:rPr lang="en-AU" b="0" baseline="0" noProof="0" dirty="0" smtClean="0"/>
              <a:t> anecdotal evidence from previous VIP visits of preparations, incidents and responses.</a:t>
            </a:r>
            <a:endParaRPr lang="en-AU" b="0" noProof="0" dirty="0" smtClean="0"/>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6279948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discusses liaison/communication with </a:t>
            </a:r>
            <a:r>
              <a:rPr lang="en-AU" sz="1200" kern="1200" dirty="0" smtClean="0">
                <a:solidFill>
                  <a:schemeClr val="tx1"/>
                </a:solidFill>
                <a:ea typeface="+mn-ea"/>
                <a:cs typeface="+mn-cs"/>
              </a:rPr>
              <a:t>VIP staff and entourage stating they also may also want to make direct contact (in addition to managers and handers) to:</a:t>
            </a:r>
          </a:p>
          <a:p>
            <a:pPr>
              <a:buFont typeface="Arial" pitchFamily="34" charset="0"/>
              <a:buChar char="•"/>
            </a:pPr>
            <a:r>
              <a:rPr lang="en-AU" sz="1200" kern="1200" dirty="0" smtClean="0">
                <a:solidFill>
                  <a:schemeClr val="tx1"/>
                </a:solidFill>
                <a:ea typeface="+mn-ea"/>
                <a:cs typeface="+mn-cs"/>
              </a:rPr>
              <a:t> Advise of their individual needs – these are the requirements they personally want met</a:t>
            </a:r>
          </a:p>
          <a:p>
            <a:pPr>
              <a:buFont typeface="Arial" pitchFamily="34" charset="0"/>
              <a:buChar char="•"/>
            </a:pPr>
            <a:r>
              <a:rPr lang="en-AU" sz="1200" kern="1200" dirty="0" smtClean="0">
                <a:solidFill>
                  <a:schemeClr val="tx1"/>
                </a:solidFill>
                <a:ea typeface="+mn-ea"/>
                <a:cs typeface="+mn-cs"/>
              </a:rPr>
              <a:t> Pass on amendments to previous communications/agreements</a:t>
            </a:r>
          </a:p>
          <a:p>
            <a:pPr>
              <a:buFont typeface="Arial" pitchFamily="34" charset="0"/>
              <a:buChar char="•"/>
            </a:pPr>
            <a:r>
              <a:rPr lang="en-AU" sz="1200" kern="1200" dirty="0" smtClean="0">
                <a:solidFill>
                  <a:schemeClr val="tx1"/>
                </a:solidFill>
                <a:ea typeface="+mn-ea"/>
                <a:cs typeface="+mn-cs"/>
              </a:rPr>
              <a:t> Identify arrangements which have been made between you and the managers and handlers</a:t>
            </a:r>
          </a:p>
          <a:p>
            <a:pPr>
              <a:buFont typeface="Arial" pitchFamily="34" charset="0"/>
              <a:buChar char="•"/>
            </a:pPr>
            <a:r>
              <a:rPr lang="en-AU" sz="1200" kern="1200" dirty="0" smtClean="0">
                <a:solidFill>
                  <a:schemeClr val="tx1"/>
                </a:solidFill>
                <a:ea typeface="+mn-ea"/>
                <a:cs typeface="+mn-cs"/>
              </a:rPr>
              <a:t> Seek local knowledge,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about:</a:t>
            </a:r>
          </a:p>
          <a:p>
            <a:pPr lvl="1">
              <a:buFont typeface="Arial" pitchFamily="34" charset="0"/>
              <a:buChar char="•"/>
            </a:pPr>
            <a:r>
              <a:rPr lang="en-AU" sz="1200" kern="1200" dirty="0" smtClean="0">
                <a:solidFill>
                  <a:schemeClr val="tx1"/>
                </a:solidFill>
                <a:ea typeface="+mn-ea"/>
                <a:cs typeface="+mn-cs"/>
              </a:rPr>
              <a:t> The venue</a:t>
            </a:r>
          </a:p>
          <a:p>
            <a:pPr lvl="1">
              <a:buFont typeface="Arial" pitchFamily="34" charset="0"/>
              <a:buChar char="•"/>
            </a:pPr>
            <a:r>
              <a:rPr lang="en-AU" sz="1200" kern="1200" dirty="0" smtClean="0">
                <a:solidFill>
                  <a:schemeClr val="tx1"/>
                </a:solidFill>
                <a:ea typeface="+mn-ea"/>
                <a:cs typeface="+mn-cs"/>
              </a:rPr>
              <a:t> The local area</a:t>
            </a:r>
          </a:p>
          <a:p>
            <a:pPr lvl="1">
              <a:buFont typeface="Arial" pitchFamily="34" charset="0"/>
              <a:buChar char="•"/>
            </a:pPr>
            <a:r>
              <a:rPr lang="en-AU" sz="1200" kern="1200" dirty="0" smtClean="0">
                <a:solidFill>
                  <a:schemeClr val="tx1"/>
                </a:solidFill>
                <a:ea typeface="+mn-ea"/>
                <a:cs typeface="+mn-cs"/>
              </a:rPr>
              <a:t> Local contacts</a:t>
            </a:r>
          </a:p>
          <a:p>
            <a:pPr lvl="1">
              <a:buFont typeface="Arial" pitchFamily="34" charset="0"/>
              <a:buChar char="•"/>
            </a:pPr>
            <a:r>
              <a:rPr lang="en-AU" sz="1200" kern="1200" dirty="0" smtClean="0">
                <a:solidFill>
                  <a:schemeClr val="tx1"/>
                </a:solidFill>
                <a:ea typeface="+mn-ea"/>
                <a:cs typeface="+mn-cs"/>
              </a:rPr>
              <a:t> Facilities and services available.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5918971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where security </a:t>
            </a:r>
            <a:r>
              <a:rPr lang="en-AU" sz="1200" kern="1200" dirty="0" smtClean="0">
                <a:solidFill>
                  <a:schemeClr val="tx1"/>
                </a:solidFill>
                <a:ea typeface="+mn-ea"/>
                <a:cs typeface="+mn-cs"/>
              </a:rPr>
              <a:t>security staff have been engaged by the VIP or the authorities they will need to liaise/communicate regarding:</a:t>
            </a:r>
          </a:p>
          <a:p>
            <a:pPr>
              <a:buFont typeface="Arial" pitchFamily="34" charset="0"/>
              <a:buChar char="•"/>
            </a:pPr>
            <a:r>
              <a:rPr lang="en-AU" sz="1200" kern="1200" dirty="0" smtClean="0">
                <a:solidFill>
                  <a:schemeClr val="tx1"/>
                </a:solidFill>
                <a:ea typeface="+mn-ea"/>
                <a:cs typeface="+mn-cs"/>
              </a:rPr>
              <a:t> Identifying security arrangements</a:t>
            </a:r>
          </a:p>
          <a:p>
            <a:pPr>
              <a:buFont typeface="Arial" pitchFamily="34" charset="0"/>
              <a:buChar char="•"/>
            </a:pPr>
            <a:r>
              <a:rPr lang="en-AU" sz="1200" kern="1200" dirty="0" smtClean="0">
                <a:solidFill>
                  <a:schemeClr val="tx1"/>
                </a:solidFill>
                <a:ea typeface="+mn-ea"/>
                <a:cs typeface="+mn-cs"/>
              </a:rPr>
              <a:t> Integrating their provision of services with those provided with the venue</a:t>
            </a:r>
          </a:p>
          <a:p>
            <a:pPr>
              <a:buFont typeface="Arial" pitchFamily="34" charset="0"/>
              <a:buChar char="•"/>
            </a:pPr>
            <a:r>
              <a:rPr lang="en-AU" sz="1200" kern="1200" dirty="0" smtClean="0">
                <a:solidFill>
                  <a:schemeClr val="tx1"/>
                </a:solidFill>
                <a:ea typeface="+mn-ea"/>
                <a:cs typeface="+mn-cs"/>
              </a:rPr>
              <a:t> Determining security systems, equipment, resources and facilities which exist at the venue</a:t>
            </a:r>
          </a:p>
          <a:p>
            <a:pPr>
              <a:buFont typeface="Arial" pitchFamily="34" charset="0"/>
              <a:buChar char="•"/>
            </a:pPr>
            <a:r>
              <a:rPr lang="en-AU" sz="1200" kern="1200" dirty="0" smtClean="0">
                <a:solidFill>
                  <a:schemeClr val="tx1"/>
                </a:solidFill>
                <a:ea typeface="+mn-ea"/>
                <a:cs typeface="+mn-cs"/>
              </a:rPr>
              <a:t> Providing details about previous security arrangements and threats</a:t>
            </a:r>
          </a:p>
          <a:p>
            <a:pPr>
              <a:buFont typeface="Arial" pitchFamily="34" charset="0"/>
              <a:buChar char="•"/>
            </a:pPr>
            <a:r>
              <a:rPr lang="en-AU" sz="1200" kern="1200" dirty="0" smtClean="0">
                <a:solidFill>
                  <a:schemeClr val="tx1"/>
                </a:solidFill>
                <a:ea typeface="+mn-ea"/>
                <a:cs typeface="+mn-cs"/>
              </a:rPr>
              <a:t> Pre-arrival inspections and sweeps</a:t>
            </a:r>
          </a:p>
          <a:p>
            <a:pPr>
              <a:buFont typeface="Arial" pitchFamily="34" charset="0"/>
              <a:buChar char="•"/>
            </a:pPr>
            <a:r>
              <a:rPr lang="en-AU" sz="1200" kern="1200" dirty="0" smtClean="0">
                <a:solidFill>
                  <a:schemeClr val="tx1"/>
                </a:solidFill>
                <a:ea typeface="+mn-ea"/>
                <a:cs typeface="+mn-cs"/>
              </a:rPr>
              <a:t> Security rosters for patrol, static guard, surveillance and close escort duties</a:t>
            </a:r>
          </a:p>
          <a:p>
            <a:pPr>
              <a:buFont typeface="Arial" pitchFamily="34" charset="0"/>
              <a:buChar char="•"/>
            </a:pPr>
            <a:r>
              <a:rPr lang="en-AU" sz="1200" kern="1200" dirty="0" smtClean="0">
                <a:solidFill>
                  <a:schemeClr val="tx1"/>
                </a:solidFill>
                <a:ea typeface="+mn-ea"/>
                <a:cs typeface="+mn-cs"/>
              </a:rPr>
              <a:t> Screening staff who will be serving/working with the VIP.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37090859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that traditionally </a:t>
            </a:r>
            <a:r>
              <a:rPr lang="en-AU" sz="1200" kern="1200" dirty="0" smtClean="0">
                <a:solidFill>
                  <a:schemeClr val="tx1"/>
                </a:solidFill>
                <a:ea typeface="+mn-ea"/>
                <a:cs typeface="+mn-cs"/>
              </a:rPr>
              <a:t>government and embassy staff will only be involved where the VIP is royalty or a very senior government official (local or foreign) and liaison in this context will address:</a:t>
            </a:r>
          </a:p>
          <a:p>
            <a:pPr>
              <a:buFont typeface="Arial" pitchFamily="34" charset="0"/>
              <a:buChar char="•"/>
            </a:pPr>
            <a:r>
              <a:rPr lang="en-AU" sz="1200" kern="1200" dirty="0" smtClean="0">
                <a:solidFill>
                  <a:schemeClr val="tx1"/>
                </a:solidFill>
                <a:ea typeface="+mn-ea"/>
                <a:cs typeface="+mn-cs"/>
              </a:rPr>
              <a:t> Development of the programme for the visit</a:t>
            </a:r>
          </a:p>
          <a:p>
            <a:pPr>
              <a:buFont typeface="Arial" pitchFamily="34" charset="0"/>
              <a:buChar char="•"/>
            </a:pPr>
            <a:r>
              <a:rPr lang="en-AU" sz="1200" kern="1200" dirty="0" smtClean="0">
                <a:solidFill>
                  <a:schemeClr val="tx1"/>
                </a:solidFill>
                <a:ea typeface="+mn-ea"/>
                <a:cs typeface="+mn-cs"/>
              </a:rPr>
              <a:t> Protocols to be used for the visit</a:t>
            </a:r>
          </a:p>
          <a:p>
            <a:pPr>
              <a:buFont typeface="Arial" pitchFamily="34" charset="0"/>
              <a:buChar char="•"/>
            </a:pPr>
            <a:r>
              <a:rPr lang="en-AU" sz="1200" kern="1200" dirty="0" smtClean="0">
                <a:solidFill>
                  <a:schemeClr val="tx1"/>
                </a:solidFill>
                <a:ea typeface="+mn-ea"/>
                <a:cs typeface="+mn-cs"/>
              </a:rPr>
              <a:t> Security support.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40878198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identifies additional topics which might be addressed as part of the liaison process with ‘relevant people’:</a:t>
            </a:r>
          </a:p>
          <a:p>
            <a:pPr>
              <a:buFont typeface="Arial" pitchFamily="34" charset="0"/>
              <a:buChar char="•"/>
            </a:pPr>
            <a:r>
              <a:rPr lang="en-AU" sz="1200" kern="1200" dirty="0" smtClean="0">
                <a:solidFill>
                  <a:schemeClr val="tx1"/>
                </a:solidFill>
                <a:ea typeface="+mn-ea"/>
                <a:cs typeface="+mn-cs"/>
              </a:rPr>
              <a:t> Arrival and departure arrangements</a:t>
            </a:r>
          </a:p>
          <a:p>
            <a:pPr>
              <a:buFont typeface="Arial" pitchFamily="34" charset="0"/>
              <a:buChar char="•"/>
            </a:pPr>
            <a:r>
              <a:rPr lang="en-AU" sz="1200" kern="1200" dirty="0" smtClean="0">
                <a:solidFill>
                  <a:schemeClr val="tx1"/>
                </a:solidFill>
                <a:ea typeface="+mn-ea"/>
                <a:cs typeface="+mn-cs"/>
              </a:rPr>
              <a:t> Side travel, trips and tours such as sightseeing and shopping</a:t>
            </a:r>
          </a:p>
          <a:p>
            <a:pPr>
              <a:buFont typeface="Arial" pitchFamily="34" charset="0"/>
              <a:buChar char="•"/>
            </a:pPr>
            <a:r>
              <a:rPr lang="en-AU" sz="1200" kern="1200" dirty="0" smtClean="0">
                <a:solidFill>
                  <a:schemeClr val="tx1"/>
                </a:solidFill>
                <a:ea typeface="+mn-ea"/>
                <a:cs typeface="+mn-cs"/>
              </a:rPr>
              <a:t> Entertainment – type, date, numbers, venues, seats and tickets</a:t>
            </a:r>
          </a:p>
          <a:p>
            <a:pPr>
              <a:buFont typeface="Arial" pitchFamily="34" charset="0"/>
              <a:buChar char="•"/>
            </a:pPr>
            <a:r>
              <a:rPr lang="en-AU" sz="1200" kern="1200" dirty="0" smtClean="0">
                <a:solidFill>
                  <a:schemeClr val="tx1"/>
                </a:solidFill>
                <a:ea typeface="+mn-ea"/>
                <a:cs typeface="+mn-cs"/>
              </a:rPr>
              <a:t> Use of in-house facilities – what and when, how many</a:t>
            </a:r>
          </a:p>
          <a:p>
            <a:pPr>
              <a:buFont typeface="Arial" pitchFamily="34" charset="0"/>
              <a:buChar char="•"/>
            </a:pPr>
            <a:r>
              <a:rPr lang="en-AU" sz="1200" kern="1200" dirty="0" smtClean="0">
                <a:solidFill>
                  <a:schemeClr val="tx1"/>
                </a:solidFill>
                <a:ea typeface="+mn-ea"/>
                <a:cs typeface="+mn-cs"/>
              </a:rPr>
              <a:t> Integration of your services with those to be provided by the VIP and staff with reference to:</a:t>
            </a:r>
          </a:p>
          <a:p>
            <a:pPr lvl="1">
              <a:buFont typeface="Arial" pitchFamily="34" charset="0"/>
              <a:buChar char="•"/>
            </a:pPr>
            <a:r>
              <a:rPr lang="en-AU" sz="1200" kern="1200" dirty="0" smtClean="0">
                <a:solidFill>
                  <a:schemeClr val="tx1"/>
                </a:solidFill>
                <a:ea typeface="+mn-ea"/>
                <a:cs typeface="+mn-cs"/>
              </a:rPr>
              <a:t> Service provision</a:t>
            </a:r>
          </a:p>
          <a:p>
            <a:pPr lvl="1">
              <a:buFont typeface="Arial" pitchFamily="34" charset="0"/>
              <a:buChar char="•"/>
            </a:pPr>
            <a:r>
              <a:rPr lang="en-AU" sz="1200" kern="1200" dirty="0" smtClean="0">
                <a:solidFill>
                  <a:schemeClr val="tx1"/>
                </a:solidFill>
                <a:ea typeface="+mn-ea"/>
                <a:cs typeface="+mn-cs"/>
              </a:rPr>
              <a:t> Security</a:t>
            </a:r>
          </a:p>
          <a:p>
            <a:pPr lvl="1">
              <a:buFont typeface="Arial" pitchFamily="34" charset="0"/>
              <a:buChar char="•"/>
            </a:pPr>
            <a:r>
              <a:rPr lang="en-AU" sz="1200" kern="1200" dirty="0" smtClean="0">
                <a:solidFill>
                  <a:schemeClr val="tx1"/>
                </a:solidFill>
                <a:ea typeface="+mn-ea"/>
                <a:cs typeface="+mn-cs"/>
              </a:rPr>
              <a:t> Support services.</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817882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identifying additional topics which might be addressed as part of the liaison process with ‘relevant people’:</a:t>
            </a:r>
          </a:p>
          <a:p>
            <a:pPr>
              <a:buFont typeface="Arial" pitchFamily="34" charset="0"/>
              <a:buChar char="•"/>
            </a:pPr>
            <a:r>
              <a:rPr lang="en-AU" sz="1200" kern="1200" dirty="0" smtClean="0">
                <a:solidFill>
                  <a:schemeClr val="tx1"/>
                </a:solidFill>
                <a:ea typeface="+mn-ea"/>
                <a:cs typeface="+mn-cs"/>
              </a:rPr>
              <a:t> Food and beverages and other dining-related issues such as service style and criteria, privacy requirements, wines, order of service</a:t>
            </a:r>
          </a:p>
          <a:p>
            <a:pPr>
              <a:buFont typeface="Arial" pitchFamily="34" charset="0"/>
              <a:buChar char="•"/>
            </a:pPr>
            <a:r>
              <a:rPr lang="en-AU" sz="1200" kern="1200" dirty="0" smtClean="0">
                <a:solidFill>
                  <a:schemeClr val="tx1"/>
                </a:solidFill>
                <a:ea typeface="+mn-ea"/>
                <a:cs typeface="+mn-cs"/>
              </a:rPr>
              <a:t> Timing issues for a wide range of activities</a:t>
            </a:r>
          </a:p>
          <a:p>
            <a:pPr>
              <a:buFont typeface="Arial" pitchFamily="34" charset="0"/>
              <a:buChar char="•"/>
            </a:pPr>
            <a:r>
              <a:rPr lang="en-AU" sz="1200" kern="1200" dirty="0" smtClean="0">
                <a:solidFill>
                  <a:schemeClr val="tx1"/>
                </a:solidFill>
                <a:ea typeface="+mn-ea"/>
                <a:cs typeface="+mn-cs"/>
              </a:rPr>
              <a:t> Media liaison and opportunities for interviews and photographs</a:t>
            </a:r>
          </a:p>
          <a:p>
            <a:pPr>
              <a:buFont typeface="Arial" pitchFamily="34" charset="0"/>
              <a:buChar char="•"/>
            </a:pPr>
            <a:r>
              <a:rPr lang="en-AU" sz="1200" kern="1200" dirty="0" smtClean="0">
                <a:solidFill>
                  <a:schemeClr val="tx1"/>
                </a:solidFill>
                <a:ea typeface="+mn-ea"/>
                <a:cs typeface="+mn-cs"/>
              </a:rPr>
              <a:t> Personal preferences for food types and cooking styles, seating and sleeping, brand names of products to be provided</a:t>
            </a:r>
          </a:p>
          <a:p>
            <a:pPr>
              <a:buFont typeface="Arial" pitchFamily="34" charset="0"/>
              <a:buChar char="•"/>
            </a:pPr>
            <a:r>
              <a:rPr lang="en-AU" sz="1200" kern="1200" dirty="0" smtClean="0">
                <a:solidFill>
                  <a:schemeClr val="tx1"/>
                </a:solidFill>
                <a:ea typeface="+mn-ea"/>
                <a:cs typeface="+mn-cs"/>
              </a:rPr>
              <a:t> Settlement of the account. </a:t>
            </a:r>
          </a:p>
          <a:p>
            <a:pPr>
              <a:buFont typeface="Arial" pitchFamily="34" charset="0"/>
              <a:buNone/>
            </a:pPr>
            <a:endParaRPr lang="en-AU" baseline="0" noProof="0" dirty="0" smtClean="0"/>
          </a:p>
          <a:p>
            <a:pPr>
              <a:buFont typeface="Arial" pitchFamily="34" charset="0"/>
              <a:buNone/>
            </a:pPr>
            <a:r>
              <a:rPr lang="en-AU" b="1" baseline="0" noProof="0" dirty="0" smtClean="0"/>
              <a:t>Class Activity – Guest Speaker</a:t>
            </a:r>
          </a:p>
          <a:p>
            <a:pPr>
              <a:buFont typeface="Arial" pitchFamily="34" charset="0"/>
              <a:buNone/>
            </a:pPr>
            <a:r>
              <a:rPr lang="en-AU" b="0" baseline="0" noProof="0" dirty="0" smtClean="0"/>
              <a:t>Trainer arranges for suitable Guest Services Manager from a local venue to attend and talk to students about:</a:t>
            </a:r>
          </a:p>
          <a:p>
            <a:pPr>
              <a:buFont typeface="Arial" pitchFamily="34" charset="0"/>
              <a:buChar char="•"/>
            </a:pPr>
            <a:r>
              <a:rPr lang="en-AU" b="0" baseline="0" noProof="0" dirty="0" smtClean="0"/>
              <a:t> Planning and preparation for a VIP visit</a:t>
            </a:r>
          </a:p>
          <a:p>
            <a:pPr>
              <a:buFont typeface="Arial" pitchFamily="34" charset="0"/>
              <a:buChar char="•"/>
            </a:pPr>
            <a:r>
              <a:rPr lang="en-AU" b="0" baseline="0" noProof="0" dirty="0" smtClean="0"/>
              <a:t> Issues to be addressed</a:t>
            </a:r>
          </a:p>
          <a:p>
            <a:pPr>
              <a:buFont typeface="Arial" pitchFamily="34" charset="0"/>
              <a:buChar char="•"/>
            </a:pPr>
            <a:r>
              <a:rPr lang="en-AU" b="0" baseline="0" noProof="0" dirty="0" smtClean="0"/>
              <a:t> VIPs they have dealt with</a:t>
            </a:r>
          </a:p>
          <a:p>
            <a:pPr>
              <a:buFont typeface="Arial" pitchFamily="34" charset="0"/>
              <a:buChar char="•"/>
            </a:pPr>
            <a:r>
              <a:rPr lang="en-AU" b="0" baseline="0" noProof="0" dirty="0" smtClean="0"/>
              <a:t> VIP visits they have managed</a:t>
            </a:r>
          </a:p>
          <a:p>
            <a:pPr>
              <a:buFont typeface="Arial" pitchFamily="34" charset="0"/>
              <a:buChar char="•"/>
            </a:pPr>
            <a:r>
              <a:rPr lang="en-AU" b="0" baseline="0" noProof="0" dirty="0" smtClean="0"/>
              <a:t> Suggestions for planning VIP visits</a:t>
            </a:r>
          </a:p>
          <a:p>
            <a:pPr>
              <a:buFont typeface="Arial" pitchFamily="34" charset="0"/>
              <a:buChar char="•"/>
            </a:pPr>
            <a:r>
              <a:rPr lang="en-AU" b="0" baseline="0" noProof="0" dirty="0" smtClean="0"/>
              <a:t> Tips for handling VIPs during their stay</a:t>
            </a:r>
          </a:p>
          <a:p>
            <a:pPr>
              <a:buFont typeface="Arial" pitchFamily="34" charset="0"/>
              <a:buChar char="•"/>
            </a:pPr>
            <a:r>
              <a:rPr lang="en-AU" b="0" baseline="0" noProof="0" dirty="0" smtClean="0"/>
              <a:t> Examples of problems/threats with VIP visits they have been associated with.</a:t>
            </a:r>
          </a:p>
          <a:p>
            <a:pPr>
              <a:buFont typeface="Arial" pitchFamily="34" charset="0"/>
              <a:buChar char="•"/>
            </a:pPr>
            <a:endParaRPr lang="en-AU" b="0" baseline="0" noProof="0" dirty="0" smtClean="0"/>
          </a:p>
          <a:p>
            <a:pPr>
              <a:buFont typeface="Arial" pitchFamily="34" charset="0"/>
              <a:buChar char="•"/>
            </a:pPr>
            <a:endParaRPr lang="en-AU"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9710210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stresses: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noProof="0" dirty="0" smtClean="0"/>
              <a:t> Safety plans need to be prepared for all VIP visits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noProof="0" dirty="0" smtClean="0">
                <a:solidFill>
                  <a:schemeClr val="tx1"/>
                </a:solidFill>
                <a:ea typeface="+mn-ea"/>
                <a:cs typeface="+mn-cs"/>
              </a:rPr>
              <a:t> A</a:t>
            </a:r>
            <a:r>
              <a:rPr lang="en-AU" sz="1200" kern="1200" dirty="0" smtClean="0">
                <a:solidFill>
                  <a:schemeClr val="tx1"/>
                </a:solidFill>
                <a:ea typeface="+mn-ea"/>
                <a:cs typeface="+mn-cs"/>
              </a:rPr>
              <a:t>n essential pre-requisite for preparing safety plans for a VIP visit is to identify factors impacting on their safety while at the venue – see following slides.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8668590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AU" noProof="0" dirty="0" smtClean="0"/>
              <a:t>Trainer identifies information regarding factors impacting on VIP safety for a visit can be sourced from the following:</a:t>
            </a:r>
          </a:p>
          <a:p>
            <a:pPr>
              <a:buFont typeface="Arial" pitchFamily="34" charset="0"/>
              <a:buChar char="•"/>
            </a:pPr>
            <a:r>
              <a:rPr lang="en-AU" sz="1200" kern="1200" dirty="0" smtClean="0">
                <a:solidFill>
                  <a:schemeClr val="tx1"/>
                </a:solidFill>
                <a:ea typeface="+mn-ea"/>
                <a:cs typeface="+mn-cs"/>
              </a:rPr>
              <a:t> Speaking directly with the VIP.</a:t>
            </a:r>
            <a:r>
              <a:rPr lang="en-AU" sz="1200" kern="1200" baseline="0" dirty="0" smtClean="0">
                <a:solidFill>
                  <a:schemeClr val="tx1"/>
                </a:solidFill>
                <a:ea typeface="+mn-ea"/>
                <a:cs typeface="+mn-cs"/>
              </a:rPr>
              <a:t> This</a:t>
            </a:r>
            <a:r>
              <a:rPr lang="en-AU" sz="1200" kern="1200" dirty="0" smtClean="0">
                <a:solidFill>
                  <a:schemeClr val="tx1"/>
                </a:solidFill>
                <a:ea typeface="+mn-ea"/>
                <a:cs typeface="+mn-cs"/>
              </a:rPr>
              <a:t> is not always possible but is an option which should always be considered </a:t>
            </a:r>
          </a:p>
          <a:p>
            <a:pPr>
              <a:buFont typeface="Arial" pitchFamily="34" charset="0"/>
              <a:buChar char="•"/>
            </a:pPr>
            <a:r>
              <a:rPr lang="en-AU" sz="1200" kern="1200" dirty="0" smtClean="0">
                <a:solidFill>
                  <a:schemeClr val="tx1"/>
                </a:solidFill>
                <a:ea typeface="+mn-ea"/>
                <a:cs typeface="+mn-cs"/>
              </a:rPr>
              <a:t> The managers, handlers or security staff of the VIP can provide details of relevant factors to you.</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may relate to:</a:t>
            </a:r>
          </a:p>
          <a:p>
            <a:pPr lvl="1">
              <a:buFont typeface="Arial" pitchFamily="34" charset="0"/>
              <a:buChar char="•"/>
            </a:pPr>
            <a:r>
              <a:rPr lang="en-AU" sz="1200" kern="1200" dirty="0" smtClean="0">
                <a:solidFill>
                  <a:schemeClr val="tx1"/>
                </a:solidFill>
                <a:ea typeface="+mn-ea"/>
                <a:cs typeface="+mn-cs"/>
              </a:rPr>
              <a:t> Previous occurrences involving the VIP</a:t>
            </a:r>
          </a:p>
          <a:p>
            <a:pPr lvl="1">
              <a:buFont typeface="Arial" pitchFamily="34" charset="0"/>
              <a:buChar char="•"/>
            </a:pPr>
            <a:r>
              <a:rPr lang="en-AU" sz="1200" kern="1200" dirty="0" smtClean="0">
                <a:solidFill>
                  <a:schemeClr val="tx1"/>
                </a:solidFill>
                <a:ea typeface="+mn-ea"/>
                <a:cs typeface="+mn-cs"/>
              </a:rPr>
              <a:t> New behaviour the VIP is recently displaying</a:t>
            </a:r>
          </a:p>
          <a:p>
            <a:pPr lvl="1">
              <a:buFont typeface="Arial" pitchFamily="34" charset="0"/>
              <a:buChar char="•"/>
            </a:pPr>
            <a:r>
              <a:rPr lang="en-AU" sz="1200" kern="1200" dirty="0" smtClean="0">
                <a:solidFill>
                  <a:schemeClr val="tx1"/>
                </a:solidFill>
                <a:ea typeface="+mn-ea"/>
                <a:cs typeface="+mn-cs"/>
              </a:rPr>
              <a:t> Special requests/requirements and preferences which may raise potential safety and security issues.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involve communicating to you things such as:</a:t>
            </a:r>
          </a:p>
          <a:p>
            <a:pPr lvl="2">
              <a:buFont typeface="Arial" pitchFamily="34" charset="0"/>
              <a:buChar char="•"/>
            </a:pPr>
            <a:r>
              <a:rPr lang="en-AU" sz="1200" kern="1200" dirty="0" smtClean="0">
                <a:solidFill>
                  <a:schemeClr val="tx1"/>
                </a:solidFill>
                <a:ea typeface="+mn-ea"/>
                <a:cs typeface="+mn-cs"/>
              </a:rPr>
              <a:t> Where they want to go</a:t>
            </a:r>
          </a:p>
          <a:p>
            <a:pPr lvl="2">
              <a:buFont typeface="Arial" pitchFamily="34" charset="0"/>
              <a:buChar char="•"/>
            </a:pPr>
            <a:r>
              <a:rPr lang="en-AU" sz="1200" kern="1200" dirty="0" smtClean="0">
                <a:solidFill>
                  <a:schemeClr val="tx1"/>
                </a:solidFill>
                <a:ea typeface="+mn-ea"/>
                <a:cs typeface="+mn-cs"/>
              </a:rPr>
              <a:t> What they want to see</a:t>
            </a:r>
          </a:p>
          <a:p>
            <a:pPr lvl="2">
              <a:buFont typeface="Arial" pitchFamily="34" charset="0"/>
              <a:buChar char="•"/>
            </a:pPr>
            <a:r>
              <a:rPr lang="en-AU" sz="1200" kern="1200" dirty="0" smtClean="0">
                <a:solidFill>
                  <a:schemeClr val="tx1"/>
                </a:solidFill>
                <a:ea typeface="+mn-ea"/>
                <a:cs typeface="+mn-cs"/>
              </a:rPr>
              <a:t> Activities they want to engage ion</a:t>
            </a:r>
          </a:p>
          <a:p>
            <a:pPr>
              <a:buFont typeface="Arial" pitchFamily="34" charset="0"/>
              <a:buChar char="•"/>
            </a:pPr>
            <a:r>
              <a:rPr lang="en-AU" sz="1200" kern="1200" dirty="0" smtClean="0">
                <a:solidFill>
                  <a:schemeClr val="tx1"/>
                </a:solidFill>
                <a:ea typeface="+mn-ea"/>
                <a:cs typeface="+mn-cs"/>
              </a:rPr>
              <a:t> The authorities can be asked for advice or they may be proactive in providing information as a pre-visit briefing and on an ongoing basis prior to the actual visit.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include input from police and embassies who may:</a:t>
            </a:r>
          </a:p>
          <a:p>
            <a:pPr lvl="1">
              <a:buFont typeface="Arial" pitchFamily="34" charset="0"/>
              <a:buChar char="•"/>
            </a:pPr>
            <a:r>
              <a:rPr lang="en-AU" sz="1200" kern="1200" dirty="0" smtClean="0">
                <a:solidFill>
                  <a:schemeClr val="tx1"/>
                </a:solidFill>
                <a:ea typeface="+mn-ea"/>
                <a:cs typeface="+mn-cs"/>
              </a:rPr>
              <a:t> Advise of threat analyses they have undertaken</a:t>
            </a:r>
          </a:p>
          <a:p>
            <a:pPr lvl="1">
              <a:buFont typeface="Arial" pitchFamily="34" charset="0"/>
              <a:buChar char="•"/>
            </a:pPr>
            <a:r>
              <a:rPr lang="en-AU" sz="1200" kern="1200" dirty="0" smtClean="0">
                <a:solidFill>
                  <a:schemeClr val="tx1"/>
                </a:solidFill>
                <a:ea typeface="+mn-ea"/>
                <a:cs typeface="+mn-cs"/>
              </a:rPr>
              <a:t> Explain issues associated with similar previous visits by VIPs</a:t>
            </a:r>
          </a:p>
          <a:p>
            <a:pPr lvl="1">
              <a:buFont typeface="Arial" pitchFamily="34" charset="0"/>
              <a:buChar char="•"/>
            </a:pPr>
            <a:r>
              <a:rPr lang="en-AU" sz="1200" kern="1200" dirty="0" smtClean="0">
                <a:solidFill>
                  <a:schemeClr val="tx1"/>
                </a:solidFill>
                <a:ea typeface="+mn-ea"/>
                <a:cs typeface="+mn-cs"/>
              </a:rPr>
              <a:t> Highlight local issues they believe will impact on the visit</a:t>
            </a:r>
          </a:p>
          <a:p>
            <a:pPr>
              <a:buFont typeface="Arial" pitchFamily="34" charset="0"/>
              <a:buChar char="•"/>
            </a:pPr>
            <a:r>
              <a:rPr lang="en-AU" noProof="0" dirty="0" smtClean="0"/>
              <a:t> Monitoring the media – see below.</a:t>
            </a:r>
          </a:p>
          <a:p>
            <a:pPr>
              <a:buFont typeface="Arial" pitchFamily="34" charset="0"/>
              <a:buNone/>
            </a:pPr>
            <a:endParaRPr lang="en-AU" noProof="0" dirty="0" smtClean="0"/>
          </a:p>
          <a:p>
            <a:pPr>
              <a:buFont typeface="Arial" pitchFamily="34" charset="0"/>
              <a:buNone/>
            </a:pPr>
            <a:r>
              <a:rPr lang="en-AU" b="1" noProof="0" dirty="0" smtClean="0"/>
              <a:t>Class Activity – Question ands Answer</a:t>
            </a:r>
          </a:p>
          <a:p>
            <a:pPr>
              <a:buFont typeface="Arial" pitchFamily="34" charset="0"/>
              <a:buNone/>
            </a:pPr>
            <a:r>
              <a:rPr lang="en-AU" b="0" noProof="0" dirty="0" smtClean="0"/>
              <a:t>Trainer asks students to identify ways in which the media</a:t>
            </a:r>
            <a:r>
              <a:rPr lang="en-AU" b="0" baseline="0" noProof="0" dirty="0" smtClean="0"/>
              <a:t> can be used to identify factors which will potentially impact on the safety of a VIP during their stay.</a:t>
            </a:r>
          </a:p>
          <a:p>
            <a:pPr>
              <a:buFont typeface="Arial" pitchFamily="34" charset="0"/>
              <a:buNone/>
            </a:pPr>
            <a:r>
              <a:rPr lang="en-AU" b="1" i="1" baseline="0" noProof="0" dirty="0" smtClean="0"/>
              <a:t>Possible answers</a:t>
            </a:r>
          </a:p>
          <a:p>
            <a:pPr>
              <a:buFont typeface="Arial" pitchFamily="34" charset="0"/>
              <a:buChar char="•"/>
            </a:pPr>
            <a:r>
              <a:rPr lang="en-AU" sz="1200" kern="1200" dirty="0" smtClean="0">
                <a:solidFill>
                  <a:schemeClr val="tx1"/>
                </a:solidFill>
                <a:ea typeface="+mn-ea"/>
                <a:cs typeface="+mn-cs"/>
              </a:rPr>
              <a:t> Monitoring the media.</a:t>
            </a:r>
            <a:r>
              <a:rPr lang="en-AU" sz="1200" kern="1200" baseline="0" dirty="0" smtClean="0">
                <a:solidFill>
                  <a:schemeClr val="tx1"/>
                </a:solidFill>
                <a:ea typeface="+mn-ea"/>
                <a:cs typeface="+mn-cs"/>
              </a:rPr>
              <a:t> A lot of</a:t>
            </a:r>
            <a:r>
              <a:rPr lang="en-AU" sz="1200" kern="1200" dirty="0" smtClean="0">
                <a:solidFill>
                  <a:schemeClr val="tx1"/>
                </a:solidFill>
                <a:ea typeface="+mn-ea"/>
                <a:cs typeface="+mn-cs"/>
              </a:rPr>
              <a:t> useful ‘threat’ information can be obtained by monitoring:</a:t>
            </a:r>
          </a:p>
          <a:p>
            <a:pPr lvl="1">
              <a:buFont typeface="Arial" pitchFamily="34" charset="0"/>
              <a:buChar char="•"/>
            </a:pPr>
            <a:r>
              <a:rPr lang="en-AU" sz="1200" kern="1200" dirty="0" smtClean="0">
                <a:solidFill>
                  <a:schemeClr val="tx1"/>
                </a:solidFill>
                <a:ea typeface="+mn-ea"/>
                <a:cs typeface="+mn-cs"/>
              </a:rPr>
              <a:t> The internet; Newspapers; Magazines; Radio; Television.</a:t>
            </a:r>
          </a:p>
          <a:p>
            <a:pPr>
              <a:buFont typeface="Arial" pitchFamily="34" charset="0"/>
              <a:buChar char="•"/>
            </a:pPr>
            <a:r>
              <a:rPr lang="en-AU" sz="1200" kern="1200" dirty="0" smtClean="0">
                <a:solidFill>
                  <a:schemeClr val="tx1"/>
                </a:solidFill>
                <a:ea typeface="+mn-ea"/>
                <a:cs typeface="+mn-cs"/>
              </a:rPr>
              <a:t> In this context the media should involve:</a:t>
            </a:r>
          </a:p>
          <a:p>
            <a:pPr lvl="1">
              <a:buFont typeface="Arial" pitchFamily="34" charset="0"/>
              <a:buChar char="•"/>
            </a:pPr>
            <a:r>
              <a:rPr lang="en-AU" sz="1200" kern="1200" dirty="0" smtClean="0">
                <a:solidFill>
                  <a:schemeClr val="tx1"/>
                </a:solidFill>
                <a:ea typeface="+mn-ea"/>
                <a:cs typeface="+mn-cs"/>
              </a:rPr>
              <a:t> Local media</a:t>
            </a:r>
          </a:p>
          <a:p>
            <a:pPr lvl="1">
              <a:buFont typeface="Arial" pitchFamily="34" charset="0"/>
              <a:buChar char="•"/>
            </a:pPr>
            <a:r>
              <a:rPr lang="en-AU" sz="1200" kern="1200" dirty="0" smtClean="0">
                <a:solidFill>
                  <a:schemeClr val="tx1"/>
                </a:solidFill>
                <a:ea typeface="+mn-ea"/>
                <a:cs typeface="+mn-cs"/>
              </a:rPr>
              <a:t> Media in the city/country the VIP is currently in</a:t>
            </a:r>
          </a:p>
          <a:p>
            <a:pPr lvl="1">
              <a:buFont typeface="Arial" pitchFamily="34" charset="0"/>
              <a:buChar char="•"/>
            </a:pPr>
            <a:r>
              <a:rPr lang="en-AU" sz="1200" kern="1200" dirty="0" smtClean="0">
                <a:solidFill>
                  <a:schemeClr val="tx1"/>
                </a:solidFill>
                <a:ea typeface="+mn-ea"/>
                <a:cs typeface="+mn-cs"/>
              </a:rPr>
              <a:t> Media in the home-town of the VIP </a:t>
            </a:r>
          </a:p>
          <a:p>
            <a:pPr>
              <a:buFont typeface="Arial" pitchFamily="34" charset="0"/>
              <a:buChar char="•"/>
            </a:pPr>
            <a:r>
              <a:rPr lang="en-AU" sz="1200" kern="1200" dirty="0" smtClean="0">
                <a:solidFill>
                  <a:schemeClr val="tx1"/>
                </a:solidFill>
                <a:ea typeface="+mn-ea"/>
                <a:cs typeface="+mn-cs"/>
              </a:rPr>
              <a:t> Attention should be paid to identifying:</a:t>
            </a:r>
          </a:p>
          <a:p>
            <a:pPr lvl="1">
              <a:buFont typeface="Arial" pitchFamily="34" charset="0"/>
              <a:buChar char="•"/>
            </a:pPr>
            <a:r>
              <a:rPr lang="en-AU" sz="1200" kern="1200" dirty="0" smtClean="0">
                <a:solidFill>
                  <a:schemeClr val="tx1"/>
                </a:solidFill>
                <a:ea typeface="+mn-ea"/>
                <a:cs typeface="+mn-cs"/>
              </a:rPr>
              <a:t> Responses in other cities and countries to the presence of the VIP</a:t>
            </a:r>
          </a:p>
          <a:p>
            <a:pPr lvl="1">
              <a:buFont typeface="Arial" pitchFamily="34" charset="0"/>
              <a:buChar char="•"/>
            </a:pPr>
            <a:r>
              <a:rPr lang="en-AU" sz="1200" kern="1200" dirty="0" smtClean="0">
                <a:solidFill>
                  <a:schemeClr val="tx1"/>
                </a:solidFill>
                <a:ea typeface="+mn-ea"/>
                <a:cs typeface="+mn-cs"/>
              </a:rPr>
              <a:t> Depth, extent and nature of the reaction</a:t>
            </a:r>
          </a:p>
          <a:p>
            <a:pPr lvl="1">
              <a:buFont typeface="Arial" pitchFamily="34" charset="0"/>
              <a:buChar char="•"/>
            </a:pPr>
            <a:r>
              <a:rPr lang="en-AU" sz="1200" kern="1200" dirty="0" smtClean="0">
                <a:solidFill>
                  <a:schemeClr val="tx1"/>
                </a:solidFill>
                <a:ea typeface="+mn-ea"/>
                <a:cs typeface="+mn-cs"/>
              </a:rPr>
              <a:t> Cross-section profiling of those involved in presenting a threat</a:t>
            </a:r>
          </a:p>
          <a:p>
            <a:pPr lvl="1">
              <a:buFont typeface="Arial" pitchFamily="34" charset="0"/>
              <a:buChar char="•"/>
            </a:pPr>
            <a:r>
              <a:rPr lang="en-AU" sz="1200" kern="1200" dirty="0" smtClean="0">
                <a:solidFill>
                  <a:schemeClr val="tx1"/>
                </a:solidFill>
                <a:ea typeface="+mn-ea"/>
                <a:cs typeface="+mn-cs"/>
              </a:rPr>
              <a:t> How the threats were addressed. </a:t>
            </a:r>
          </a:p>
          <a:p>
            <a:pPr>
              <a:buFont typeface="Arial" pitchFamily="34" charset="0"/>
              <a:buNone/>
            </a:pPr>
            <a:endParaRPr lang="en-AU" b="1" i="1" noProof="0" dirty="0" smtClean="0"/>
          </a:p>
          <a:p>
            <a:pPr>
              <a:buFont typeface="Arial" pitchFamily="34" charset="0"/>
              <a:buNone/>
            </a:pPr>
            <a:endParaRPr lang="en-AU" b="1"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41445803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 series of points to take into account when considering factors impacting on the safety of VIPs:</a:t>
            </a:r>
          </a:p>
          <a:p>
            <a:pPr>
              <a:buFont typeface="Arial" pitchFamily="34" charset="0"/>
              <a:buChar char="•"/>
            </a:pPr>
            <a:r>
              <a:rPr lang="en-AU" sz="1200" kern="1200" dirty="0" smtClean="0">
                <a:solidFill>
                  <a:schemeClr val="tx1"/>
                </a:solidFill>
                <a:ea typeface="+mn-ea"/>
                <a:cs typeface="+mn-cs"/>
              </a:rPr>
              <a:t> Even a crowd which is </a:t>
            </a:r>
            <a:r>
              <a:rPr lang="en-AU" sz="1200" b="1" kern="1200" dirty="0" smtClean="0">
                <a:solidFill>
                  <a:schemeClr val="tx1"/>
                </a:solidFill>
                <a:ea typeface="+mn-ea"/>
                <a:cs typeface="+mn-cs"/>
              </a:rPr>
              <a:t>positive</a:t>
            </a:r>
            <a:r>
              <a:rPr lang="en-AU" sz="1200" kern="1200" dirty="0" smtClean="0">
                <a:solidFill>
                  <a:schemeClr val="tx1"/>
                </a:solidFill>
                <a:ea typeface="+mn-ea"/>
                <a:cs typeface="+mn-cs"/>
              </a:rPr>
              <a:t> towards the VIP (that is, they are supports and fans) can pose a safety risk</a:t>
            </a:r>
          </a:p>
          <a:p>
            <a:pPr lvl="1">
              <a:buFont typeface="Arial" pitchFamily="34" charset="0"/>
              <a:buChar char="•"/>
            </a:pPr>
            <a:r>
              <a:rPr lang="en-AU" sz="1200" kern="1200" dirty="0" smtClean="0">
                <a:solidFill>
                  <a:schemeClr val="tx1"/>
                </a:solidFill>
                <a:ea typeface="+mn-ea"/>
                <a:cs typeface="+mn-cs"/>
              </a:rPr>
              <a:t> There is no comprehensive list of threats – you have to research to determine what the threats are</a:t>
            </a:r>
          </a:p>
          <a:p>
            <a:pPr>
              <a:buFont typeface="Arial" pitchFamily="34" charset="0"/>
              <a:buChar char="•"/>
            </a:pPr>
            <a:r>
              <a:rPr lang="en-AU" sz="1200" kern="1200" dirty="0" smtClean="0">
                <a:solidFill>
                  <a:schemeClr val="tx1"/>
                </a:solidFill>
                <a:ea typeface="+mn-ea"/>
                <a:cs typeface="+mn-cs"/>
              </a:rPr>
              <a:t> Security staff (‘minders’) employed by the VIP are usually very honest when they talk to venue staff about the behaviour and habits of the person/people they are protecting .</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hey are very concerned about preserving the safety of the VIP so will usually be very cooperative and very forthcoming about threats </a:t>
            </a:r>
          </a:p>
          <a:p>
            <a:pPr>
              <a:buFont typeface="Arial" pitchFamily="34" charset="0"/>
              <a:buChar char="•"/>
            </a:pPr>
            <a:r>
              <a:rPr lang="en-AU" sz="1200" kern="1200" dirty="0" smtClean="0">
                <a:solidFill>
                  <a:schemeClr val="tx1"/>
                </a:solidFill>
                <a:ea typeface="+mn-ea"/>
                <a:cs typeface="+mn-cs"/>
              </a:rPr>
              <a:t> Many VIPs think they are above the law.</a:t>
            </a:r>
            <a:r>
              <a:rPr lang="en-AU" sz="1200" kern="1200" baseline="0" dirty="0" smtClean="0">
                <a:solidFill>
                  <a:schemeClr val="tx1"/>
                </a:solidFill>
                <a:ea typeface="+mn-ea"/>
                <a:cs typeface="+mn-cs"/>
              </a:rPr>
              <a:t> F</a:t>
            </a:r>
            <a:r>
              <a:rPr lang="en-AU" sz="1200" kern="1200" dirty="0" smtClean="0">
                <a:solidFill>
                  <a:schemeClr val="tx1"/>
                </a:solidFill>
                <a:ea typeface="+mn-ea"/>
                <a:cs typeface="+mn-cs"/>
              </a:rPr>
              <a:t>or example, just because a country bans drugs does not mean they will respect this law.</a:t>
            </a:r>
          </a:p>
          <a:p>
            <a:pPr lvl="1">
              <a:buFont typeface="Arial" pitchFamily="34" charset="0"/>
              <a:buChar char="•"/>
            </a:pPr>
            <a:r>
              <a:rPr lang="en-AU" sz="1200" kern="1200" dirty="0" smtClean="0">
                <a:solidFill>
                  <a:schemeClr val="tx1"/>
                </a:solidFill>
                <a:ea typeface="+mn-ea"/>
                <a:cs typeface="+mn-cs"/>
              </a:rPr>
              <a:t> They often think they can get away with it even if they are caught because the country will not want the negative publicity which accompanies an arrest or detention.</a:t>
            </a:r>
          </a:p>
          <a:p>
            <a:pPr lvl="1">
              <a:buFont typeface="Arial" pitchFamily="34" charset="0"/>
              <a:buChar char="•"/>
            </a:pPr>
            <a:r>
              <a:rPr lang="en-AU" sz="1200" kern="1200" dirty="0" smtClean="0">
                <a:solidFill>
                  <a:schemeClr val="tx1"/>
                </a:solidFill>
                <a:ea typeface="+mn-ea"/>
                <a:cs typeface="+mn-cs"/>
              </a:rPr>
              <a:t> This underlines the fact many VIPs cannot be expected to take personal responsibility for their own safety.</a:t>
            </a:r>
          </a:p>
          <a:p>
            <a:pPr lvl="1">
              <a:buFont typeface="Arial" pitchFamily="34" charset="0"/>
              <a:buChar char="•"/>
            </a:pPr>
            <a:r>
              <a:rPr lang="en-AU" sz="1200" kern="1200" dirty="0" smtClean="0">
                <a:solidFill>
                  <a:schemeClr val="tx1"/>
                </a:solidFill>
                <a:ea typeface="+mn-ea"/>
                <a:cs typeface="+mn-cs"/>
              </a:rPr>
              <a:t> In reality, many VIPs genuinely expect and believe someone else will take care of any problems they create.</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24639078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presenting a series of points to take into account when considering factors impacting on the safety of VIPs:</a:t>
            </a:r>
          </a:p>
          <a:p>
            <a:pPr>
              <a:buFont typeface="Arial" pitchFamily="34" charset="0"/>
              <a:buChar char="•"/>
            </a:pPr>
            <a:r>
              <a:rPr lang="en-AU" sz="1200" kern="1200" dirty="0" smtClean="0">
                <a:solidFill>
                  <a:schemeClr val="tx1"/>
                </a:solidFill>
                <a:ea typeface="+mn-ea"/>
                <a:cs typeface="+mn-cs"/>
              </a:rPr>
              <a:t> The reputation of the venue relies to a great extent on the way the visit of the VIP is handled and the way in which the portrayal of the visit takes place in the media</a:t>
            </a:r>
          </a:p>
          <a:p>
            <a:pPr lvl="1">
              <a:buFont typeface="Arial" pitchFamily="34" charset="0"/>
              <a:buChar char="•"/>
            </a:pPr>
            <a:r>
              <a:rPr lang="en-AU" sz="1200" kern="1200" dirty="0" smtClean="0">
                <a:solidFill>
                  <a:schemeClr val="tx1"/>
                </a:solidFill>
                <a:ea typeface="+mn-ea"/>
                <a:cs typeface="+mn-cs"/>
              </a:rPr>
              <a:t> You really have to remember everything which is done or which occurs will be recorded and broadcast</a:t>
            </a:r>
          </a:p>
          <a:p>
            <a:pPr>
              <a:buFont typeface="Arial" pitchFamily="34" charset="0"/>
              <a:buChar char="•"/>
            </a:pPr>
            <a:r>
              <a:rPr lang="en-AU" sz="1200" kern="1200" dirty="0" smtClean="0">
                <a:solidFill>
                  <a:schemeClr val="tx1"/>
                </a:solidFill>
                <a:ea typeface="+mn-ea"/>
                <a:cs typeface="+mn-cs"/>
              </a:rPr>
              <a:t> Prepare for the worst and hope for the best – your planning should always adopt a ‘worst case scenario’.</a:t>
            </a:r>
          </a:p>
          <a:p>
            <a:pPr lvl="1">
              <a:buFont typeface="Arial" pitchFamily="34" charset="0"/>
              <a:buChar char="•"/>
            </a:pPr>
            <a:r>
              <a:rPr lang="en-AU" sz="1200" kern="1200" dirty="0" smtClean="0">
                <a:solidFill>
                  <a:schemeClr val="tx1"/>
                </a:solidFill>
                <a:ea typeface="+mn-ea"/>
                <a:cs typeface="+mn-cs"/>
              </a:rPr>
              <a:t> Once you have identified a potential threat you need to address it</a:t>
            </a:r>
          </a:p>
          <a:p>
            <a:pPr lvl="1">
              <a:buFont typeface="Arial" pitchFamily="34" charset="0"/>
              <a:buChar char="•"/>
            </a:pPr>
            <a:r>
              <a:rPr lang="en-AU" sz="1200" kern="1200" dirty="0" smtClean="0">
                <a:solidFill>
                  <a:schemeClr val="tx1"/>
                </a:solidFill>
                <a:ea typeface="+mn-ea"/>
                <a:cs typeface="+mn-cs"/>
              </a:rPr>
              <a:t> You can </a:t>
            </a:r>
            <a:r>
              <a:rPr lang="en-AU" sz="1200" b="1" kern="1200" dirty="0" smtClean="0">
                <a:solidFill>
                  <a:schemeClr val="tx1"/>
                </a:solidFill>
                <a:ea typeface="+mn-ea"/>
                <a:cs typeface="+mn-cs"/>
              </a:rPr>
              <a:t>never</a:t>
            </a:r>
            <a:r>
              <a:rPr lang="en-AU" sz="1200" kern="1200" dirty="0" smtClean="0">
                <a:solidFill>
                  <a:schemeClr val="tx1"/>
                </a:solidFill>
                <a:ea typeface="+mn-ea"/>
                <a:cs typeface="+mn-cs"/>
              </a:rPr>
              <a:t> afford to ignore what has been flagged as a possible factor impacting on safety or security</a:t>
            </a:r>
          </a:p>
          <a:p>
            <a:pPr>
              <a:buFont typeface="Arial" pitchFamily="34" charset="0"/>
              <a:buChar char="•"/>
            </a:pPr>
            <a:r>
              <a:rPr lang="en-AU" sz="1200" kern="1200" dirty="0" smtClean="0">
                <a:solidFill>
                  <a:schemeClr val="tx1"/>
                </a:solidFill>
                <a:ea typeface="+mn-ea"/>
                <a:cs typeface="+mn-cs"/>
              </a:rPr>
              <a:t> Develop and maintain regular, open and honest communication between yourself and the VIP or their representatives/handlers.</a:t>
            </a:r>
          </a:p>
          <a:p>
            <a:pPr lvl="1">
              <a:buFont typeface="Arial" pitchFamily="34" charset="0"/>
              <a:buChar char="•"/>
            </a:pPr>
            <a:r>
              <a:rPr lang="en-AU" sz="1200" kern="1200" dirty="0" smtClean="0">
                <a:solidFill>
                  <a:schemeClr val="tx1"/>
                </a:solidFill>
                <a:ea typeface="+mn-ea"/>
                <a:cs typeface="+mn-cs"/>
              </a:rPr>
              <a:t> It is vital you know what they know as soon as they know it</a:t>
            </a:r>
          </a:p>
          <a:p>
            <a:pPr lvl="1">
              <a:buFont typeface="Arial" pitchFamily="34" charset="0"/>
              <a:buChar char="•"/>
            </a:pPr>
            <a:r>
              <a:rPr lang="en-AU" sz="1200" kern="1200" dirty="0" smtClean="0">
                <a:solidFill>
                  <a:schemeClr val="tx1"/>
                </a:solidFill>
                <a:ea typeface="+mn-ea"/>
                <a:cs typeface="+mn-cs"/>
              </a:rPr>
              <a:t> You also need to advise them of plans/arrangements which have been made to protect their safety</a:t>
            </a:r>
          </a:p>
          <a:p>
            <a:pPr>
              <a:buFont typeface="Arial" pitchFamily="34" charset="0"/>
              <a:buChar char="•"/>
            </a:pPr>
            <a:r>
              <a:rPr lang="en-AU" sz="1200" kern="1200" dirty="0" smtClean="0">
                <a:solidFill>
                  <a:schemeClr val="tx1"/>
                </a:solidFill>
                <a:ea typeface="+mn-ea"/>
                <a:cs typeface="+mn-cs"/>
              </a:rPr>
              <a:t> Do your research – threats are rarely what they appear to be on first glance</a:t>
            </a:r>
          </a:p>
          <a:p>
            <a:pPr lvl="1">
              <a:buFont typeface="Arial" pitchFamily="34" charset="0"/>
              <a:buChar char="•"/>
            </a:pPr>
            <a:r>
              <a:rPr lang="en-AU" sz="1200" kern="1200" dirty="0" smtClean="0">
                <a:solidFill>
                  <a:schemeClr val="tx1"/>
                </a:solidFill>
                <a:ea typeface="+mn-ea"/>
                <a:cs typeface="+mn-cs"/>
              </a:rPr>
              <a:t> Take time and make the effort to investigate and gather intelligence about the issue before you make decisions regarding it.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41323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highlights </a:t>
            </a:r>
            <a:r>
              <a:rPr lang="en-AU" sz="1200" kern="1200" dirty="0" smtClean="0">
                <a:solidFill>
                  <a:schemeClr val="tx1"/>
                </a:solidFill>
                <a:ea typeface="+mn-ea"/>
                <a:cs typeface="+mn-cs"/>
              </a:rPr>
              <a:t>venue responsibility for a VIP visit is to:</a:t>
            </a:r>
          </a:p>
          <a:p>
            <a:pPr>
              <a:buFont typeface="Arial" pitchFamily="34" charset="0"/>
              <a:buChar char="•"/>
            </a:pPr>
            <a:r>
              <a:rPr lang="en-AU" sz="1200" kern="1200" dirty="0" smtClean="0">
                <a:solidFill>
                  <a:schemeClr val="tx1"/>
                </a:solidFill>
                <a:ea typeface="+mn-ea"/>
                <a:cs typeface="+mn-cs"/>
              </a:rPr>
              <a:t> Identify and address safety and security factors which exist within the venue and the grounds of the property.</a:t>
            </a:r>
            <a:r>
              <a:rPr lang="en-AU" sz="1200" kern="1200" baseline="0" dirty="0" smtClean="0">
                <a:solidFill>
                  <a:schemeClr val="tx1"/>
                </a:solidFill>
                <a:ea typeface="+mn-ea"/>
                <a:cs typeface="+mn-cs"/>
              </a:rPr>
              <a:t> It</a:t>
            </a:r>
            <a:r>
              <a:rPr lang="en-AU" sz="1200" kern="1200" dirty="0" smtClean="0">
                <a:solidFill>
                  <a:schemeClr val="tx1"/>
                </a:solidFill>
                <a:ea typeface="+mn-ea"/>
                <a:cs typeface="+mn-cs"/>
              </a:rPr>
              <a:t> is up to others (police, private security) to deal with issues outside the boundaries of your venue</a:t>
            </a:r>
          </a:p>
          <a:p>
            <a:pPr>
              <a:buFont typeface="Arial" pitchFamily="34" charset="0"/>
              <a:buChar char="•"/>
            </a:pPr>
            <a:r>
              <a:rPr lang="en-AU" sz="1200" kern="1200" dirty="0" smtClean="0">
                <a:solidFill>
                  <a:schemeClr val="tx1"/>
                </a:solidFill>
                <a:ea typeface="+mn-ea"/>
                <a:cs typeface="+mn-cs"/>
              </a:rPr>
              <a:t> Liaise with external personnel and assist them in providing optimum safety and security within the venue and adjacent to the venue as VIPs arrive and depart.</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42606406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specific examples of potential  generic threats and issues which may need to be addressed:</a:t>
            </a:r>
          </a:p>
          <a:p>
            <a:pPr>
              <a:buFont typeface="Arial" pitchFamily="34" charset="0"/>
              <a:buChar char="•"/>
            </a:pPr>
            <a:r>
              <a:rPr lang="en-AU" noProof="0" dirty="0" smtClean="0"/>
              <a:t> Crowd control</a:t>
            </a:r>
          </a:p>
          <a:p>
            <a:pPr>
              <a:buFont typeface="Arial" pitchFamily="34" charset="0"/>
              <a:buChar char="•"/>
            </a:pPr>
            <a:r>
              <a:rPr lang="en-AU" noProof="0" dirty="0" smtClean="0"/>
              <a:t> Routes to be taken</a:t>
            </a:r>
          </a:p>
          <a:p>
            <a:pPr>
              <a:buFont typeface="Arial" pitchFamily="34" charset="0"/>
              <a:buChar char="•"/>
            </a:pPr>
            <a:r>
              <a:rPr lang="en-AU" noProof="0" dirty="0" smtClean="0"/>
              <a:t> Media coverage</a:t>
            </a:r>
          </a:p>
          <a:p>
            <a:pPr>
              <a:buFont typeface="Arial" pitchFamily="34" charset="0"/>
              <a:buChar char="•"/>
            </a:pPr>
            <a:r>
              <a:rPr lang="en-AU" noProof="0" dirty="0" smtClean="0"/>
              <a:t> Weather and time of day</a:t>
            </a:r>
          </a:p>
          <a:p>
            <a:pPr>
              <a:buFont typeface="Arial" pitchFamily="34" charset="0"/>
              <a:buChar char="•"/>
            </a:pPr>
            <a:r>
              <a:rPr lang="en-AU" noProof="0" dirty="0" smtClean="0"/>
              <a:t> Intoxication and other behaviour/s.</a:t>
            </a:r>
          </a:p>
          <a:p>
            <a:pPr>
              <a:buFont typeface="Arial" pitchFamily="34" charset="0"/>
              <a:buChar char="•"/>
            </a:pP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14705828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crowd control highlighting </a:t>
            </a:r>
            <a:r>
              <a:rPr lang="en-AU" sz="1200" kern="1200" dirty="0" smtClean="0">
                <a:solidFill>
                  <a:schemeClr val="tx1"/>
                </a:solidFill>
                <a:ea typeface="+mn-ea"/>
                <a:cs typeface="+mn-cs"/>
              </a:rPr>
              <a:t>responsibility in this regard is limited to:</a:t>
            </a:r>
          </a:p>
          <a:p>
            <a:pPr>
              <a:buFont typeface="Arial" pitchFamily="34" charset="0"/>
              <a:buChar char="•"/>
            </a:pPr>
            <a:r>
              <a:rPr lang="en-AU" sz="1200" kern="1200" dirty="0" smtClean="0">
                <a:solidFill>
                  <a:schemeClr val="tx1"/>
                </a:solidFill>
                <a:ea typeface="+mn-ea"/>
                <a:cs typeface="+mn-cs"/>
              </a:rPr>
              <a:t> Access to the venue for the arrival of the VIP and their party </a:t>
            </a:r>
          </a:p>
          <a:p>
            <a:pPr>
              <a:buFont typeface="Arial" pitchFamily="34" charset="0"/>
              <a:buChar char="•"/>
            </a:pPr>
            <a:r>
              <a:rPr lang="en-AU" sz="1200" kern="1200" dirty="0" smtClean="0">
                <a:solidFill>
                  <a:schemeClr val="tx1"/>
                </a:solidFill>
                <a:ea typeface="+mn-ea"/>
                <a:cs typeface="+mn-cs"/>
              </a:rPr>
              <a:t> Departure form the venue.</a:t>
            </a:r>
            <a:r>
              <a:rPr lang="en-AU" sz="1200" kern="1200" baseline="0" dirty="0" smtClean="0">
                <a:solidFill>
                  <a:schemeClr val="tx1"/>
                </a:solidFill>
                <a:ea typeface="+mn-ea"/>
                <a:cs typeface="+mn-cs"/>
              </a:rPr>
              <a:t> W</a:t>
            </a:r>
            <a:r>
              <a:rPr lang="en-AU" sz="1200" kern="1200" dirty="0" smtClean="0">
                <a:solidFill>
                  <a:schemeClr val="tx1"/>
                </a:solidFill>
                <a:ea typeface="+mn-ea"/>
                <a:cs typeface="+mn-cs"/>
              </a:rPr>
              <a:t>hen the VIP leaves for an engagement and/or when they depart the venue at the end of their stay</a:t>
            </a:r>
          </a:p>
          <a:p>
            <a:pPr>
              <a:buFont typeface="Arial" pitchFamily="34" charset="0"/>
              <a:buChar char="•"/>
            </a:pPr>
            <a:r>
              <a:rPr lang="en-AU" sz="1200" kern="1200" dirty="0" smtClean="0">
                <a:solidFill>
                  <a:schemeClr val="tx1"/>
                </a:solidFill>
                <a:ea typeface="+mn-ea"/>
                <a:cs typeface="+mn-cs"/>
              </a:rPr>
              <a:t> Movement of the VIP within the venue.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09850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threats/issues </a:t>
            </a:r>
            <a:r>
              <a:rPr lang="en-AU" sz="1200" kern="1200" dirty="0" smtClean="0">
                <a:solidFill>
                  <a:schemeClr val="tx1"/>
                </a:solidFill>
                <a:ea typeface="+mn-ea"/>
                <a:cs typeface="+mn-cs"/>
              </a:rPr>
              <a:t>which may be posed by a crowd:</a:t>
            </a:r>
          </a:p>
          <a:p>
            <a:pPr>
              <a:buFont typeface="Arial" pitchFamily="34" charset="0"/>
              <a:buChar char="•"/>
            </a:pPr>
            <a:r>
              <a:rPr lang="en-AU" sz="1200" kern="1200" dirty="0" smtClean="0">
                <a:solidFill>
                  <a:schemeClr val="tx1"/>
                </a:solidFill>
                <a:ea typeface="+mn-ea"/>
                <a:cs typeface="+mn-cs"/>
              </a:rPr>
              <a:t> Blocking of access (vehicles and foot traffic) and general nuisance</a:t>
            </a:r>
          </a:p>
          <a:p>
            <a:pPr>
              <a:buFont typeface="Arial" pitchFamily="34" charset="0"/>
              <a:buChar char="•"/>
            </a:pPr>
            <a:r>
              <a:rPr lang="en-AU" sz="1200" kern="1200" dirty="0" smtClean="0">
                <a:solidFill>
                  <a:schemeClr val="tx1"/>
                </a:solidFill>
                <a:ea typeface="+mn-ea"/>
                <a:cs typeface="+mn-cs"/>
              </a:rPr>
              <a:t> Risk of injury to members of the public/people in the crowd through,</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mobbing and crushing problems</a:t>
            </a:r>
          </a:p>
          <a:p>
            <a:pPr>
              <a:buFont typeface="Arial" pitchFamily="34" charset="0"/>
              <a:buChar char="•"/>
            </a:pPr>
            <a:r>
              <a:rPr lang="en-AU" sz="1200" kern="1200" dirty="0" smtClean="0">
                <a:solidFill>
                  <a:schemeClr val="tx1"/>
                </a:solidFill>
                <a:ea typeface="+mn-ea"/>
                <a:cs typeface="+mn-cs"/>
              </a:rPr>
              <a:t> Assault on the VIP which may be a physical or verbal assault, a threatening gesture which causes fright/alarm or any action giving rise to negative or sensationalist publicity</a:t>
            </a:r>
          </a:p>
          <a:p>
            <a:pPr>
              <a:buFont typeface="Arial" pitchFamily="34" charset="0"/>
              <a:buChar char="•"/>
            </a:pPr>
            <a:r>
              <a:rPr lang="en-AU" sz="1200" kern="1200" dirty="0" smtClean="0">
                <a:solidFill>
                  <a:schemeClr val="tx1"/>
                </a:solidFill>
                <a:ea typeface="+mn-ea"/>
                <a:cs typeface="+mn-cs"/>
              </a:rPr>
              <a:t> Delays to the scheduled programme for the VIP.</a:t>
            </a:r>
            <a:r>
              <a:rPr lang="en-AU" sz="1200" kern="1200" baseline="0" dirty="0" smtClean="0">
                <a:solidFill>
                  <a:schemeClr val="tx1"/>
                </a:solidFill>
                <a:ea typeface="+mn-ea"/>
                <a:cs typeface="+mn-cs"/>
              </a:rPr>
              <a:t> M</a:t>
            </a:r>
            <a:r>
              <a:rPr lang="en-AU" sz="1200" kern="1200" dirty="0" smtClean="0">
                <a:solidFill>
                  <a:schemeClr val="tx1"/>
                </a:solidFill>
                <a:ea typeface="+mn-ea"/>
                <a:cs typeface="+mn-cs"/>
              </a:rPr>
              <a:t>ost VIP visits run to a very tight programme and delays caused by crowds can cause situations which are difficult, if not impossible, to retrieve</a:t>
            </a:r>
          </a:p>
          <a:p>
            <a:pPr>
              <a:buFont typeface="Arial" pitchFamily="34" charset="0"/>
              <a:buChar char="•"/>
            </a:pPr>
            <a:r>
              <a:rPr lang="en-AU" sz="1200" kern="1200" dirty="0" smtClean="0">
                <a:solidFill>
                  <a:schemeClr val="tx1"/>
                </a:solidFill>
                <a:ea typeface="+mn-ea"/>
                <a:cs typeface="+mn-cs"/>
              </a:rPr>
              <a:t> Demonstrations,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including the potential for negative media images, conflict, projectiles and delays</a:t>
            </a:r>
          </a:p>
          <a:p>
            <a:pPr lvl="1">
              <a:buFont typeface="Arial" pitchFamily="34" charset="0"/>
              <a:buChar char="•"/>
            </a:pPr>
            <a:r>
              <a:rPr lang="en-AU" sz="1200" kern="1200" dirty="0" smtClean="0">
                <a:solidFill>
                  <a:schemeClr val="tx1"/>
                </a:solidFill>
                <a:ea typeface="+mn-ea"/>
                <a:cs typeface="+mn-cs"/>
              </a:rPr>
              <a:t> Even demonstrations which are indicated as being ‘passive’ in nature must be taken into account as they often transition into ‘active and negative’.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8187460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considerations relating to </a:t>
            </a:r>
            <a:r>
              <a:rPr lang="en-AU" sz="1200" kern="1200" dirty="0" smtClean="0">
                <a:solidFill>
                  <a:schemeClr val="tx1"/>
                </a:solidFill>
                <a:ea typeface="+mn-ea"/>
                <a:cs typeface="+mn-cs"/>
              </a:rPr>
              <a:t>routes to be taken by VIPs:</a:t>
            </a:r>
          </a:p>
          <a:p>
            <a:pPr>
              <a:buFont typeface="Arial" pitchFamily="34" charset="0"/>
              <a:buChar char="•"/>
            </a:pPr>
            <a:r>
              <a:rPr lang="en-AU" sz="1200" kern="1200" dirty="0" smtClean="0">
                <a:solidFill>
                  <a:schemeClr val="tx1"/>
                </a:solidFill>
                <a:ea typeface="+mn-ea"/>
                <a:cs typeface="+mn-cs"/>
              </a:rPr>
              <a:t> Physical hazards which may exist within the premises such as slippery floors, heights/clearances, stairs </a:t>
            </a:r>
          </a:p>
          <a:p>
            <a:pPr>
              <a:buFont typeface="Arial" pitchFamily="34" charset="0"/>
              <a:buChar char="•"/>
            </a:pPr>
            <a:r>
              <a:rPr lang="en-AU" sz="1200" kern="1200" dirty="0" smtClean="0">
                <a:solidFill>
                  <a:schemeClr val="tx1"/>
                </a:solidFill>
                <a:ea typeface="+mn-ea"/>
                <a:cs typeface="+mn-cs"/>
              </a:rPr>
              <a:t> Doors, windows and similar along the route which need to be cleared and locked</a:t>
            </a:r>
          </a:p>
          <a:p>
            <a:pPr>
              <a:buFont typeface="Arial" pitchFamily="34" charset="0"/>
              <a:buChar char="•"/>
            </a:pPr>
            <a:r>
              <a:rPr lang="en-AU" sz="1200" kern="1200" dirty="0" smtClean="0">
                <a:solidFill>
                  <a:schemeClr val="tx1"/>
                </a:solidFill>
                <a:ea typeface="+mn-ea"/>
                <a:cs typeface="+mn-cs"/>
              </a:rPr>
              <a:t> Possible hiding places for assailants</a:t>
            </a:r>
          </a:p>
          <a:p>
            <a:pPr>
              <a:buFont typeface="Arial" pitchFamily="34" charset="0"/>
              <a:buChar char="•"/>
            </a:pPr>
            <a:r>
              <a:rPr lang="en-AU" sz="1200" kern="1200" dirty="0" smtClean="0">
                <a:solidFill>
                  <a:schemeClr val="tx1"/>
                </a:solidFill>
                <a:ea typeface="+mn-ea"/>
                <a:cs typeface="+mn-cs"/>
              </a:rPr>
              <a:t> Shortest possible routes from Point A to Point B.</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are usually the best/safest ways</a:t>
            </a:r>
          </a:p>
          <a:p>
            <a:pPr>
              <a:buFont typeface="Arial" pitchFamily="34" charset="0"/>
              <a:buChar char="•"/>
            </a:pPr>
            <a:r>
              <a:rPr lang="en-AU" sz="1200" kern="1200" dirty="0" smtClean="0">
                <a:solidFill>
                  <a:schemeClr val="tx1"/>
                </a:solidFill>
                <a:ea typeface="+mn-ea"/>
                <a:cs typeface="+mn-cs"/>
              </a:rPr>
              <a:t> Privacy (protecting the VIP from the eyes of others and/or contact with others) unless, of course, they prefer/demand a high-profile/high-visibility route for the purposes of publicity or ‘meeting the people’</a:t>
            </a:r>
          </a:p>
          <a:p>
            <a:pPr>
              <a:buFont typeface="Arial" pitchFamily="34" charset="0"/>
              <a:buChar char="•"/>
            </a:pPr>
            <a:r>
              <a:rPr lang="en-AU" sz="1200" kern="1200" dirty="0" smtClean="0">
                <a:solidFill>
                  <a:schemeClr val="tx1"/>
                </a:solidFill>
                <a:ea typeface="+mn-ea"/>
                <a:cs typeface="+mn-cs"/>
              </a:rPr>
              <a:t> Visual lines-of-sight and considerations relating to coverage by internal CCTV cameras, snipers and shooters.</a:t>
            </a: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2404816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identifies considerations relating to </a:t>
            </a:r>
            <a:r>
              <a:rPr lang="en-AU" sz="1200" kern="1200" dirty="0" smtClean="0">
                <a:solidFill>
                  <a:schemeClr val="tx1"/>
                </a:solidFill>
                <a:ea typeface="+mn-ea"/>
                <a:cs typeface="+mn-cs"/>
              </a:rPr>
              <a:t>media during a VIP visit stating  the following must all be addressed:</a:t>
            </a:r>
          </a:p>
          <a:p>
            <a:pPr>
              <a:buFont typeface="Arial" pitchFamily="34" charset="0"/>
              <a:buChar char="•"/>
            </a:pPr>
            <a:r>
              <a:rPr lang="en-AU" sz="1200" kern="1200" dirty="0" smtClean="0">
                <a:solidFill>
                  <a:schemeClr val="tx1"/>
                </a:solidFill>
                <a:ea typeface="+mn-ea"/>
                <a:cs typeface="+mn-cs"/>
              </a:rPr>
              <a:t> How many there will be</a:t>
            </a:r>
          </a:p>
          <a:p>
            <a:pPr>
              <a:buFont typeface="Arial" pitchFamily="34" charset="0"/>
              <a:buChar char="•"/>
            </a:pPr>
            <a:r>
              <a:rPr lang="en-AU" sz="1200" kern="1200" dirty="0" smtClean="0">
                <a:solidFill>
                  <a:schemeClr val="tx1"/>
                </a:solidFill>
                <a:ea typeface="+mn-ea"/>
                <a:cs typeface="+mn-cs"/>
              </a:rPr>
              <a:t> Where they will be from – countries and organisations; TV or press?</a:t>
            </a:r>
          </a:p>
          <a:p>
            <a:pPr>
              <a:buFont typeface="Arial" pitchFamily="34" charset="0"/>
              <a:buChar char="•"/>
            </a:pPr>
            <a:r>
              <a:rPr lang="en-AU" sz="1200" kern="1200" dirty="0" smtClean="0">
                <a:solidFill>
                  <a:schemeClr val="tx1"/>
                </a:solidFill>
                <a:ea typeface="+mn-ea"/>
                <a:cs typeface="+mn-cs"/>
              </a:rPr>
              <a:t> What their needs are – may include:</a:t>
            </a:r>
          </a:p>
          <a:p>
            <a:pPr>
              <a:buFont typeface="Arial" pitchFamily="34" charset="0"/>
              <a:buChar char="•"/>
            </a:pPr>
            <a:r>
              <a:rPr lang="en-AU" sz="1200" kern="1200" dirty="0" smtClean="0">
                <a:solidFill>
                  <a:schemeClr val="tx1"/>
                </a:solidFill>
                <a:ea typeface="+mn-ea"/>
                <a:cs typeface="+mn-cs"/>
              </a:rPr>
              <a:t> Attitude of the VIP:</a:t>
            </a:r>
          </a:p>
          <a:p>
            <a:pPr>
              <a:buFont typeface="Arial" pitchFamily="34" charset="0"/>
              <a:buChar char="•"/>
            </a:pPr>
            <a:r>
              <a:rPr lang="en-AU" sz="1200" kern="1200" dirty="0" smtClean="0">
                <a:solidFill>
                  <a:schemeClr val="tx1"/>
                </a:solidFill>
                <a:ea typeface="+mn-ea"/>
                <a:cs typeface="+mn-cs"/>
              </a:rPr>
              <a:t> Some VIPs are very ‘media friendly’ and will be prepared to (or want/demand to) give interviews, photo opportunities and media kits. This may require you to:</a:t>
            </a:r>
          </a:p>
          <a:p>
            <a:pPr lvl="1">
              <a:buFont typeface="Arial" pitchFamily="34" charset="0"/>
              <a:buChar char="•"/>
            </a:pPr>
            <a:r>
              <a:rPr lang="en-AU" sz="1200" kern="1200" dirty="0" smtClean="0">
                <a:solidFill>
                  <a:schemeClr val="tx1"/>
                </a:solidFill>
                <a:ea typeface="+mn-ea"/>
                <a:cs typeface="+mn-cs"/>
              </a:rPr>
              <a:t> Provide a venue/room for media interviews</a:t>
            </a:r>
          </a:p>
          <a:p>
            <a:pPr lvl="1">
              <a:buFont typeface="Arial" pitchFamily="34" charset="0"/>
              <a:buChar char="•"/>
            </a:pPr>
            <a:r>
              <a:rPr lang="en-AU" sz="1200" kern="1200" dirty="0" smtClean="0">
                <a:solidFill>
                  <a:schemeClr val="tx1"/>
                </a:solidFill>
                <a:ea typeface="+mn-ea"/>
                <a:cs typeface="+mn-cs"/>
              </a:rPr>
              <a:t> Instruct them regarding privacy and confidentiality issues</a:t>
            </a:r>
          </a:p>
          <a:p>
            <a:pPr lvl="1">
              <a:buFont typeface="Arial" pitchFamily="34" charset="0"/>
              <a:buChar char="•"/>
            </a:pPr>
            <a:r>
              <a:rPr lang="en-AU" sz="1200" kern="1200" dirty="0" smtClean="0">
                <a:solidFill>
                  <a:schemeClr val="tx1"/>
                </a:solidFill>
                <a:ea typeface="+mn-ea"/>
                <a:cs typeface="+mn-cs"/>
              </a:rPr>
              <a:t> Schedule media time with the VIP</a:t>
            </a:r>
          </a:p>
          <a:p>
            <a:pPr lvl="1">
              <a:buFont typeface="Arial" pitchFamily="34" charset="0"/>
              <a:buChar char="•"/>
            </a:pPr>
            <a:r>
              <a:rPr lang="en-AU" sz="1200" kern="1200" dirty="0" smtClean="0">
                <a:solidFill>
                  <a:schemeClr val="tx1"/>
                </a:solidFill>
                <a:ea typeface="+mn-ea"/>
                <a:cs typeface="+mn-cs"/>
              </a:rPr>
              <a:t> Supply refreshments for the media </a:t>
            </a:r>
          </a:p>
          <a:p>
            <a:pPr lvl="1">
              <a:buFont typeface="Arial" pitchFamily="34" charset="0"/>
              <a:buChar char="•"/>
            </a:pPr>
            <a:r>
              <a:rPr lang="en-AU" sz="1200" kern="1200" dirty="0" smtClean="0">
                <a:solidFill>
                  <a:schemeClr val="tx1"/>
                </a:solidFill>
                <a:ea typeface="+mn-ea"/>
                <a:cs typeface="+mn-cs"/>
              </a:rPr>
              <a:t> Distribute information/media kits</a:t>
            </a:r>
          </a:p>
          <a:p>
            <a:pPr>
              <a:buFont typeface="Arial" pitchFamily="34" charset="0"/>
              <a:buChar char="•"/>
            </a:pPr>
            <a:r>
              <a:rPr lang="en-AU" sz="1200" kern="1200" dirty="0" smtClean="0">
                <a:solidFill>
                  <a:schemeClr val="tx1"/>
                </a:solidFill>
                <a:ea typeface="+mn-ea"/>
                <a:cs typeface="+mn-cs"/>
              </a:rPr>
              <a:t> Other VIPs will shun all media attention and begrudge any contact with the media.</a:t>
            </a:r>
          </a:p>
          <a:p>
            <a:pPr>
              <a:buFont typeface="Arial" pitchFamily="34" charset="0"/>
              <a:buChar char="•"/>
            </a:pPr>
            <a:r>
              <a:rPr lang="en-AU" sz="1200" kern="1200" dirty="0" smtClean="0">
                <a:solidFill>
                  <a:schemeClr val="tx1"/>
                </a:solidFill>
                <a:ea typeface="+mn-ea"/>
                <a:cs typeface="+mn-cs"/>
              </a:rPr>
              <a:t> The orientation of the VIP to the media needs to be identified as part of the planning and preparation phase for the VIP visit.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a media reporter to attend and:</a:t>
            </a:r>
          </a:p>
          <a:p>
            <a:pPr>
              <a:buFont typeface="Arial" pitchFamily="34" charset="0"/>
              <a:buChar char="•"/>
            </a:pPr>
            <a:r>
              <a:rPr lang="en-AU" b="0" noProof="0" dirty="0" smtClean="0"/>
              <a:t> Describe media requirements/preferences for VIP</a:t>
            </a:r>
            <a:r>
              <a:rPr lang="en-AU" b="0" baseline="0" noProof="0" dirty="0" smtClean="0"/>
              <a:t> visits</a:t>
            </a:r>
          </a:p>
          <a:p>
            <a:pPr>
              <a:buFont typeface="Arial" pitchFamily="34" charset="0"/>
              <a:buChar char="•"/>
            </a:pPr>
            <a:r>
              <a:rPr lang="en-AU" b="0" baseline="0" noProof="0" dirty="0" smtClean="0"/>
              <a:t> Present sample media kits/press releases they have been provided with by other organisations</a:t>
            </a:r>
          </a:p>
          <a:p>
            <a:pPr>
              <a:buFont typeface="Arial" pitchFamily="34" charset="0"/>
              <a:buChar char="•"/>
            </a:pPr>
            <a:r>
              <a:rPr lang="en-AU" b="0" baseline="0" noProof="0" dirty="0" smtClean="0"/>
              <a:t> Give examples of media rooms/interview rooms prepared by venues for previous VIP visits</a:t>
            </a:r>
          </a:p>
          <a:p>
            <a:pPr>
              <a:buFont typeface="Arial" pitchFamily="34" charset="0"/>
              <a:buChar char="•"/>
            </a:pPr>
            <a:r>
              <a:rPr lang="en-AU" b="0" baseline="0" noProof="0" dirty="0" smtClean="0"/>
              <a:t> Advise of things which venues can do to generate positive media PR.</a:t>
            </a:r>
          </a:p>
          <a:p>
            <a:pPr>
              <a:buFont typeface="Arial" pitchFamily="34" charset="0"/>
              <a:buChar char="•"/>
            </a:pP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7315580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weather and time of day as possible threats/issues</a:t>
            </a:r>
          </a:p>
          <a:p>
            <a:pPr>
              <a:buFont typeface="Arial" pitchFamily="34" charset="0"/>
              <a:buChar char="•"/>
            </a:pPr>
            <a:r>
              <a:rPr lang="en-AU" sz="1200" kern="1200" dirty="0" smtClean="0">
                <a:solidFill>
                  <a:schemeClr val="tx1"/>
                </a:solidFill>
                <a:ea typeface="+mn-ea"/>
                <a:cs typeface="+mn-cs"/>
              </a:rPr>
              <a:t> Identify the times of the day the VIP is expected to need to move into, within and out of the venue so appropriate plans for safe movement can be put in place</a:t>
            </a:r>
          </a:p>
          <a:p>
            <a:pPr lvl="1">
              <a:buFont typeface="Arial" pitchFamily="34" charset="0"/>
              <a:buChar char="•"/>
            </a:pPr>
            <a:r>
              <a:rPr lang="en-AU" sz="1200" kern="1200" dirty="0" smtClean="0">
                <a:solidFill>
                  <a:schemeClr val="tx1"/>
                </a:solidFill>
                <a:ea typeface="+mn-ea"/>
                <a:cs typeface="+mn-cs"/>
              </a:rPr>
              <a:t> In most cases the movement of the VIP needs to be integrated with the normal operational requirements of the venue to provide service to other guests so it is important you accommodate the VIP needs as well as the needs of other guests</a:t>
            </a:r>
          </a:p>
          <a:p>
            <a:pPr>
              <a:buFont typeface="Arial" pitchFamily="34" charset="0"/>
              <a:buChar char="•"/>
            </a:pPr>
            <a:r>
              <a:rPr lang="en-AU" sz="1200" kern="1200" dirty="0" smtClean="0">
                <a:solidFill>
                  <a:schemeClr val="tx1"/>
                </a:solidFill>
                <a:ea typeface="+mn-ea"/>
                <a:cs typeface="+mn-cs"/>
              </a:rPr>
              <a:t> Stay informed of the expected weather conditions for the VIP visit and plan to accommodate the type of weather expected</a:t>
            </a:r>
          </a:p>
          <a:p>
            <a:pPr lvl="1">
              <a:buFont typeface="Arial" pitchFamily="34" charset="0"/>
              <a:buChar char="•"/>
            </a:pPr>
            <a:r>
              <a:rPr lang="en-AU" sz="1200" kern="1200" dirty="0" smtClean="0">
                <a:solidFill>
                  <a:schemeClr val="tx1"/>
                </a:solidFill>
                <a:ea typeface="+mn-ea"/>
                <a:cs typeface="+mn-cs"/>
              </a:rPr>
              <a:t> The protocols you will arrange will be hugely different for the arrival of a VIP during a storm compared to their arrival on a pleasant day.</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4253456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details ‘VIP behaviour’ as an issue/threat factor to be considered highlighting:</a:t>
            </a:r>
          </a:p>
          <a:p>
            <a:pPr>
              <a:buFont typeface="Arial" pitchFamily="34" charset="0"/>
              <a:buChar char="•"/>
            </a:pPr>
            <a:r>
              <a:rPr lang="en-AU" noProof="0" dirty="0" smtClean="0"/>
              <a:t> Preferred option is to deal with inappropriate behaviour in-house without notifying authorities or media</a:t>
            </a:r>
          </a:p>
          <a:p>
            <a:pPr>
              <a:buFont typeface="Arial" pitchFamily="34" charset="0"/>
              <a:buChar char="•"/>
            </a:pPr>
            <a:r>
              <a:rPr lang="en-AU" noProof="0" dirty="0" smtClean="0"/>
              <a:t> Responses should be determined in conjunction with local authorities</a:t>
            </a:r>
          </a:p>
          <a:p>
            <a:pPr>
              <a:buFont typeface="Arial" pitchFamily="34" charset="0"/>
              <a:buChar char="•"/>
            </a:pPr>
            <a:r>
              <a:rPr lang="en-AU" noProof="0" dirty="0" smtClean="0"/>
              <a:t> Considerations needs to be</a:t>
            </a:r>
            <a:r>
              <a:rPr lang="en-AU" baseline="0" noProof="0" dirty="0" smtClean="0"/>
              <a:t> given to identifying the possible </a:t>
            </a:r>
            <a:r>
              <a:rPr lang="en-AU" noProof="0" dirty="0" smtClean="0"/>
              <a:t>examples</a:t>
            </a:r>
            <a:r>
              <a:rPr lang="en-AU" baseline="0" noProof="0" dirty="0" smtClean="0"/>
              <a:t> </a:t>
            </a:r>
            <a:r>
              <a:rPr lang="en-AU" noProof="0" dirty="0" smtClean="0"/>
              <a:t>of unacceptable/inappropriate behaviour – see below.</a:t>
            </a:r>
          </a:p>
          <a:p>
            <a:pPr>
              <a:buFont typeface="Arial" pitchFamily="34" charset="0"/>
              <a:buChar char="•"/>
            </a:pPr>
            <a:endParaRPr lang="en-AU" noProof="0" dirty="0" smtClean="0"/>
          </a:p>
          <a:p>
            <a:pPr>
              <a:buFont typeface="Arial" pitchFamily="34" charset="0"/>
              <a:buNone/>
            </a:pPr>
            <a:r>
              <a:rPr lang="en-AU" b="1" noProof="0" dirty="0" smtClean="0"/>
              <a:t>Class Activity – Question and Answer</a:t>
            </a:r>
          </a:p>
          <a:p>
            <a:pPr>
              <a:buFont typeface="Arial" pitchFamily="34" charset="0"/>
              <a:buNone/>
            </a:pPr>
            <a:r>
              <a:rPr lang="en-AU" b="0" noProof="0" dirty="0" smtClean="0"/>
              <a:t>Trainer asks students to identify examples of </a:t>
            </a:r>
            <a:r>
              <a:rPr lang="en-AU" baseline="0" noProof="0" dirty="0" smtClean="0"/>
              <a:t>possible </a:t>
            </a:r>
            <a:r>
              <a:rPr lang="en-AU" noProof="0" dirty="0" smtClean="0"/>
              <a:t>unacceptable/inappropriate behaviour which VIPs can engage in.</a:t>
            </a:r>
          </a:p>
          <a:p>
            <a:pPr>
              <a:buFont typeface="Arial" pitchFamily="34" charset="0"/>
              <a:buNone/>
            </a:pPr>
            <a:r>
              <a:rPr lang="en-AU" b="1" i="1" noProof="0" dirty="0" smtClean="0"/>
              <a:t>Possible answers</a:t>
            </a:r>
          </a:p>
          <a:p>
            <a:r>
              <a:rPr lang="en-AU" sz="1200" kern="1200" dirty="0" smtClean="0">
                <a:solidFill>
                  <a:schemeClr val="tx1"/>
                </a:solidFill>
                <a:ea typeface="+mn-ea"/>
                <a:cs typeface="+mn-cs"/>
              </a:rPr>
              <a:t>Intoxication</a:t>
            </a:r>
          </a:p>
          <a:p>
            <a:r>
              <a:rPr lang="en-AU" sz="1200" kern="1200" dirty="0" smtClean="0">
                <a:solidFill>
                  <a:schemeClr val="tx1"/>
                </a:solidFill>
                <a:ea typeface="+mn-ea"/>
                <a:cs typeface="+mn-cs"/>
              </a:rPr>
              <a:t>Drug-use</a:t>
            </a:r>
          </a:p>
          <a:p>
            <a:r>
              <a:rPr lang="en-AU" sz="1200" kern="1200" dirty="0" smtClean="0">
                <a:solidFill>
                  <a:schemeClr val="tx1"/>
                </a:solidFill>
                <a:ea typeface="+mn-ea"/>
                <a:cs typeface="+mn-cs"/>
              </a:rPr>
              <a:t>Anti-social behaviour</a:t>
            </a:r>
          </a:p>
          <a:p>
            <a:r>
              <a:rPr lang="en-AU" sz="1200" kern="1200" dirty="0" smtClean="0">
                <a:solidFill>
                  <a:schemeClr val="tx1"/>
                </a:solidFill>
                <a:ea typeface="+mn-ea"/>
                <a:cs typeface="+mn-cs"/>
              </a:rPr>
              <a:t>Discriminatory language or action</a:t>
            </a:r>
          </a:p>
          <a:p>
            <a:r>
              <a:rPr lang="en-AU" sz="1200" kern="1200" dirty="0" smtClean="0">
                <a:solidFill>
                  <a:schemeClr val="tx1"/>
                </a:solidFill>
                <a:ea typeface="+mn-ea"/>
                <a:cs typeface="+mn-cs"/>
              </a:rPr>
              <a:t>Harassment</a:t>
            </a:r>
          </a:p>
          <a:p>
            <a:r>
              <a:rPr lang="en-AU" sz="1200" kern="1200" dirty="0" smtClean="0">
                <a:solidFill>
                  <a:schemeClr val="tx1"/>
                </a:solidFill>
                <a:ea typeface="+mn-ea"/>
                <a:cs typeface="+mn-cs"/>
              </a:rPr>
              <a:t>Indiscretions</a:t>
            </a:r>
          </a:p>
          <a:p>
            <a:r>
              <a:rPr lang="en-AU" sz="1200" kern="1200" dirty="0" smtClean="0">
                <a:solidFill>
                  <a:schemeClr val="tx1"/>
                </a:solidFill>
                <a:ea typeface="+mn-ea"/>
                <a:cs typeface="+mn-cs"/>
              </a:rPr>
              <a:t>Damage caused to property</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rooms.</a:t>
            </a:r>
          </a:p>
          <a:p>
            <a:pPr>
              <a:buFont typeface="Arial" pitchFamily="34" charset="0"/>
              <a:buNone/>
            </a:pPr>
            <a:endParaRPr lang="en-AU" b="0" i="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9639596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it </a:t>
            </a:r>
            <a:r>
              <a:rPr lang="en-AU" sz="1200" kern="1200" dirty="0" smtClean="0">
                <a:solidFill>
                  <a:schemeClr val="tx1"/>
                </a:solidFill>
                <a:ea typeface="+mn-ea"/>
                <a:cs typeface="+mn-cs"/>
              </a:rPr>
              <a:t>is a standard requirement safety plans </a:t>
            </a:r>
            <a:r>
              <a:rPr lang="en-AU" sz="1200" b="1" kern="1200" dirty="0" smtClean="0">
                <a:solidFill>
                  <a:schemeClr val="tx1"/>
                </a:solidFill>
                <a:ea typeface="+mn-ea"/>
                <a:cs typeface="+mn-cs"/>
              </a:rPr>
              <a:t>must</a:t>
            </a:r>
            <a:r>
              <a:rPr lang="en-AU" sz="1200" kern="1200" dirty="0" smtClean="0">
                <a:solidFill>
                  <a:schemeClr val="tx1"/>
                </a:solidFill>
                <a:ea typeface="+mn-ea"/>
                <a:cs typeface="+mn-cs"/>
              </a:rPr>
              <a:t> be prepared for </a:t>
            </a:r>
            <a:r>
              <a:rPr lang="en-AU" sz="1200" i="1" kern="1200" dirty="0" smtClean="0">
                <a:solidFill>
                  <a:schemeClr val="tx1"/>
                </a:solidFill>
                <a:ea typeface="+mn-ea"/>
                <a:cs typeface="+mn-cs"/>
              </a:rPr>
              <a:t>every</a:t>
            </a:r>
            <a:r>
              <a:rPr lang="en-AU" sz="1200" kern="1200" dirty="0" smtClean="0">
                <a:solidFill>
                  <a:schemeClr val="tx1"/>
                </a:solidFill>
                <a:ea typeface="+mn-ea"/>
                <a:cs typeface="+mn-cs"/>
              </a:rPr>
              <a:t> VIP visit explaining safety plans need to be prepared in order to:</a:t>
            </a:r>
          </a:p>
          <a:p>
            <a:pPr>
              <a:buFont typeface="Arial" pitchFamily="34" charset="0"/>
              <a:buChar char="•"/>
            </a:pPr>
            <a:r>
              <a:rPr lang="en-AU" sz="1200" kern="1200" dirty="0" smtClean="0">
                <a:solidFill>
                  <a:schemeClr val="tx1"/>
                </a:solidFill>
                <a:ea typeface="+mn-ea"/>
                <a:cs typeface="+mn-cs"/>
              </a:rPr>
              <a:t> Protect the VIP against threats, problems and danger – this is a primary reason the safety plans are created </a:t>
            </a:r>
          </a:p>
          <a:p>
            <a:pPr>
              <a:buFont typeface="Arial" pitchFamily="34" charset="0"/>
              <a:buChar char="•"/>
            </a:pPr>
            <a:r>
              <a:rPr lang="en-AU" sz="1200" kern="1200" dirty="0" smtClean="0">
                <a:solidFill>
                  <a:schemeClr val="tx1"/>
                </a:solidFill>
                <a:ea typeface="+mn-ea"/>
                <a:cs typeface="+mn-cs"/>
              </a:rPr>
              <a:t> Minimise the potential to adversely affect on others who may be impacted by the visit – such as other guests in the venue, and members of the public in general</a:t>
            </a:r>
          </a:p>
          <a:p>
            <a:pPr>
              <a:buFont typeface="Arial" pitchFamily="34" charset="0"/>
              <a:buChar char="•"/>
            </a:pPr>
            <a:r>
              <a:rPr lang="en-AU" sz="1200" kern="1200" dirty="0" smtClean="0">
                <a:solidFill>
                  <a:schemeClr val="tx1"/>
                </a:solidFill>
                <a:ea typeface="+mn-ea"/>
                <a:cs typeface="+mn-cs"/>
              </a:rPr>
              <a:t> Meet VIP expectations – all VIPs expect action to have been taken to guarantee their safety and provide a trouble-free visit.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8827353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a:t>
            </a:r>
            <a:r>
              <a:rPr lang="en-AU" baseline="0" noProof="0" dirty="0" smtClean="0"/>
              <a:t> giving reasons for preparation of safety plans for VIP visits:</a:t>
            </a:r>
          </a:p>
          <a:p>
            <a:pPr>
              <a:buFont typeface="Arial" pitchFamily="34" charset="0"/>
              <a:buChar char="•"/>
            </a:pPr>
            <a:r>
              <a:rPr lang="en-AU" sz="1200" kern="1200" dirty="0" smtClean="0">
                <a:solidFill>
                  <a:schemeClr val="tx1"/>
                </a:solidFill>
                <a:ea typeface="+mn-ea"/>
                <a:cs typeface="+mn-cs"/>
              </a:rPr>
              <a:t> Protect the reputation of the business in the public eye and in terms of marketplace positioning of the venue</a:t>
            </a:r>
          </a:p>
          <a:p>
            <a:pPr>
              <a:buFont typeface="Arial" pitchFamily="34" charset="0"/>
              <a:buChar char="•"/>
            </a:pPr>
            <a:r>
              <a:rPr lang="en-AU" sz="1200" kern="1200" dirty="0" smtClean="0">
                <a:solidFill>
                  <a:schemeClr val="tx1"/>
                </a:solidFill>
                <a:ea typeface="+mn-ea"/>
                <a:cs typeface="+mn-cs"/>
              </a:rPr>
              <a:t> Encourage repeat business so the VIP and other VIPs will use the venue when they return to or visit the area</a:t>
            </a:r>
          </a:p>
          <a:p>
            <a:pPr>
              <a:buFont typeface="Arial" pitchFamily="34" charset="0"/>
              <a:buChar char="•"/>
            </a:pPr>
            <a:r>
              <a:rPr lang="en-AU" sz="1200" kern="1200" dirty="0" smtClean="0">
                <a:solidFill>
                  <a:schemeClr val="tx1"/>
                </a:solidFill>
                <a:ea typeface="+mn-ea"/>
                <a:cs typeface="+mn-cs"/>
              </a:rPr>
              <a:t> Demonstrate due diligence in relation to the effective and professional management and operation of the business</a:t>
            </a:r>
          </a:p>
          <a:p>
            <a:pPr>
              <a:buFont typeface="Arial" pitchFamily="34" charset="0"/>
              <a:buChar char="•"/>
            </a:pPr>
            <a:r>
              <a:rPr lang="en-AU" sz="1200" kern="1200" dirty="0" smtClean="0">
                <a:solidFill>
                  <a:schemeClr val="tx1"/>
                </a:solidFill>
                <a:ea typeface="+mn-ea"/>
                <a:cs typeface="+mn-cs"/>
              </a:rPr>
              <a:t> Discharge ‘duty of care’ obligations;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venue has a common law duty of care to protect all people using the premises against foreseeable harm.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5054297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lists important points to note when preparing</a:t>
            </a:r>
            <a:r>
              <a:rPr lang="en-AU" baseline="0" noProof="0" dirty="0" smtClean="0"/>
              <a:t> safety plans for VIP visits:</a:t>
            </a:r>
          </a:p>
          <a:p>
            <a:pPr>
              <a:buFont typeface="Arial" pitchFamily="34" charset="0"/>
              <a:buChar char="•"/>
            </a:pPr>
            <a:r>
              <a:rPr lang="en-AU" sz="1200" kern="1200" dirty="0" smtClean="0">
                <a:solidFill>
                  <a:schemeClr val="tx1"/>
                </a:solidFill>
                <a:ea typeface="+mn-ea"/>
                <a:cs typeface="+mn-cs"/>
              </a:rPr>
              <a:t> They must always be prepared for every VIP visit.</a:t>
            </a:r>
            <a:r>
              <a:rPr lang="en-AU" sz="1200" kern="1200" baseline="0" dirty="0" smtClean="0">
                <a:solidFill>
                  <a:schemeClr val="tx1"/>
                </a:solidFill>
                <a:ea typeface="+mn-ea"/>
                <a:cs typeface="+mn-cs"/>
              </a:rPr>
              <a:t> N</a:t>
            </a:r>
            <a:r>
              <a:rPr lang="en-AU" sz="1200" kern="1200" dirty="0" smtClean="0">
                <a:solidFill>
                  <a:schemeClr val="tx1"/>
                </a:solidFill>
                <a:ea typeface="+mn-ea"/>
                <a:cs typeface="+mn-cs"/>
              </a:rPr>
              <a:t>ever feel you can omit this stage of planning and preparation</a:t>
            </a:r>
          </a:p>
          <a:p>
            <a:pPr>
              <a:buFont typeface="Arial" pitchFamily="34" charset="0"/>
              <a:buChar char="•"/>
            </a:pPr>
            <a:r>
              <a:rPr lang="en-AU" sz="1200" kern="1200" dirty="0" smtClean="0">
                <a:solidFill>
                  <a:schemeClr val="tx1"/>
                </a:solidFill>
                <a:ea typeface="+mn-ea"/>
                <a:cs typeface="+mn-cs"/>
              </a:rPr>
              <a:t> Plans must be in writing so they can be shared for information and comment, and so they can be used for reference purposes</a:t>
            </a:r>
          </a:p>
          <a:p>
            <a:pPr lvl="1">
              <a:buFont typeface="Arial" pitchFamily="34" charset="0"/>
              <a:buChar char="•"/>
            </a:pPr>
            <a:r>
              <a:rPr lang="en-AU" sz="1200" kern="1200" dirty="0" smtClean="0">
                <a:solidFill>
                  <a:schemeClr val="tx1"/>
                </a:solidFill>
                <a:ea typeface="+mn-ea"/>
                <a:cs typeface="+mn-cs"/>
              </a:rPr>
              <a:t> You can never have safety plans which exist only in your mind</a:t>
            </a:r>
          </a:p>
          <a:p>
            <a:pPr>
              <a:buFont typeface="Arial" pitchFamily="34" charset="0"/>
              <a:buChar char="•"/>
            </a:pPr>
            <a:r>
              <a:rPr lang="en-AU" sz="1200" kern="1200" dirty="0" smtClean="0">
                <a:solidFill>
                  <a:schemeClr val="tx1"/>
                </a:solidFill>
                <a:ea typeface="+mn-ea"/>
                <a:cs typeface="+mn-cs"/>
              </a:rPr>
              <a:t> All identified threats must be addressed by the plans you create</a:t>
            </a:r>
          </a:p>
          <a:p>
            <a:pPr lvl="1">
              <a:buFont typeface="Arial" pitchFamily="34" charset="0"/>
              <a:buChar char="•"/>
            </a:pPr>
            <a:r>
              <a:rPr lang="en-AU" sz="1200" kern="1200" dirty="0" smtClean="0">
                <a:solidFill>
                  <a:schemeClr val="tx1"/>
                </a:solidFill>
                <a:ea typeface="+mn-ea"/>
                <a:cs typeface="+mn-cs"/>
              </a:rPr>
              <a:t> If you have identified a potential risk or threat then there must be a plan for it</a:t>
            </a:r>
          </a:p>
          <a:p>
            <a:pPr>
              <a:buFont typeface="Arial" pitchFamily="34" charset="0"/>
              <a:buChar char="•"/>
            </a:pPr>
            <a:r>
              <a:rPr lang="en-AU" sz="1200" kern="1200" dirty="0" smtClean="0">
                <a:solidFill>
                  <a:schemeClr val="tx1"/>
                </a:solidFill>
                <a:ea typeface="+mn-ea"/>
                <a:cs typeface="+mn-cs"/>
              </a:rPr>
              <a:t> Some threats require several plans to be created. For example if you believe there is crowd threat on arrival for a VIP you may prepare a different safety plan for each of the following scenarios:</a:t>
            </a:r>
          </a:p>
          <a:p>
            <a:pPr lvl="1">
              <a:buFont typeface="Arial" pitchFamily="34" charset="0"/>
              <a:buChar char="•"/>
            </a:pPr>
            <a:r>
              <a:rPr lang="en-AU" sz="1200" kern="1200" dirty="0" smtClean="0">
                <a:solidFill>
                  <a:schemeClr val="tx1"/>
                </a:solidFill>
                <a:ea typeface="+mn-ea"/>
                <a:cs typeface="+mn-cs"/>
              </a:rPr>
              <a:t> Large, medium and small crowds</a:t>
            </a:r>
          </a:p>
          <a:p>
            <a:pPr lvl="1">
              <a:buFont typeface="Arial" pitchFamily="34" charset="0"/>
              <a:buChar char="•"/>
            </a:pPr>
            <a:r>
              <a:rPr lang="en-AU" sz="1200" kern="1200" dirty="0" smtClean="0">
                <a:solidFill>
                  <a:schemeClr val="tx1"/>
                </a:solidFill>
                <a:ea typeface="+mn-ea"/>
                <a:cs typeface="+mn-cs"/>
              </a:rPr>
              <a:t> Different locations of crowds – front entry area to the venue, side entries, car parks, gardens within the premises, rear entries to the property</a:t>
            </a:r>
          </a:p>
          <a:p>
            <a:pPr lvl="1">
              <a:buFont typeface="Arial" pitchFamily="34" charset="0"/>
              <a:buChar char="•"/>
            </a:pPr>
            <a:r>
              <a:rPr lang="en-AU" sz="1200" kern="1200" dirty="0" smtClean="0">
                <a:solidFill>
                  <a:schemeClr val="tx1"/>
                </a:solidFill>
                <a:ea typeface="+mn-ea"/>
                <a:cs typeface="+mn-cs"/>
              </a:rPr>
              <a:t> Different crowd moods.</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may prepare for:</a:t>
            </a:r>
          </a:p>
          <a:p>
            <a:pPr lvl="2">
              <a:buFont typeface="Arial" pitchFamily="34" charset="0"/>
              <a:buChar char="•"/>
            </a:pPr>
            <a:r>
              <a:rPr lang="en-AU" sz="1200" kern="1200" dirty="0" smtClean="0">
                <a:solidFill>
                  <a:schemeClr val="tx1"/>
                </a:solidFill>
                <a:ea typeface="+mn-ea"/>
                <a:cs typeface="+mn-cs"/>
              </a:rPr>
              <a:t> An angry/aggressive crowd</a:t>
            </a:r>
          </a:p>
          <a:p>
            <a:pPr lvl="2">
              <a:buFont typeface="Arial" pitchFamily="34" charset="0"/>
              <a:buChar char="•"/>
            </a:pPr>
            <a:r>
              <a:rPr lang="en-AU" sz="1200" kern="1200" dirty="0" smtClean="0">
                <a:solidFill>
                  <a:schemeClr val="tx1"/>
                </a:solidFill>
                <a:ea typeface="+mn-ea"/>
                <a:cs typeface="+mn-cs"/>
              </a:rPr>
              <a:t> A supportive/positive crowd.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7423523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continues listing important points to note when preparing</a:t>
            </a:r>
            <a:r>
              <a:rPr lang="en-AU" baseline="0" noProof="0" dirty="0" smtClean="0"/>
              <a:t> safety plans for VIP visits:</a:t>
            </a:r>
          </a:p>
          <a:p>
            <a:pPr>
              <a:buFont typeface="Arial" pitchFamily="34" charset="0"/>
              <a:buChar char="•"/>
            </a:pPr>
            <a:r>
              <a:rPr lang="en-AU" sz="1200" kern="1200" dirty="0" smtClean="0">
                <a:solidFill>
                  <a:schemeClr val="tx1"/>
                </a:solidFill>
                <a:ea typeface="+mn-ea"/>
                <a:cs typeface="+mn-cs"/>
              </a:rPr>
              <a:t> Communicate with others when developing the plans.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means there is commonly a need to cooperate with:</a:t>
            </a:r>
          </a:p>
          <a:p>
            <a:pPr lvl="1">
              <a:buFont typeface="Arial" pitchFamily="34" charset="0"/>
              <a:buChar char="•"/>
            </a:pPr>
            <a:r>
              <a:rPr lang="en-AU" sz="1200" kern="1200" dirty="0" smtClean="0">
                <a:solidFill>
                  <a:schemeClr val="tx1"/>
                </a:solidFill>
                <a:ea typeface="+mn-ea"/>
                <a:cs typeface="+mn-cs"/>
              </a:rPr>
              <a:t> Management of the venue</a:t>
            </a:r>
          </a:p>
          <a:p>
            <a:pPr lvl="1">
              <a:buFont typeface="Arial" pitchFamily="34" charset="0"/>
              <a:buChar char="•"/>
            </a:pPr>
            <a:r>
              <a:rPr lang="en-AU" sz="1200" kern="1200" dirty="0" smtClean="0">
                <a:solidFill>
                  <a:schemeClr val="tx1"/>
                </a:solidFill>
                <a:ea typeface="+mn-ea"/>
                <a:cs typeface="+mn-cs"/>
              </a:rPr>
              <a:t> Internal security staff</a:t>
            </a:r>
          </a:p>
          <a:p>
            <a:pPr lvl="1">
              <a:buFont typeface="Arial" pitchFamily="34" charset="0"/>
              <a:buChar char="•"/>
            </a:pPr>
            <a:r>
              <a:rPr lang="en-AU" sz="1200" kern="1200" dirty="0" smtClean="0">
                <a:solidFill>
                  <a:schemeClr val="tx1"/>
                </a:solidFill>
                <a:ea typeface="+mn-ea"/>
                <a:cs typeface="+mn-cs"/>
              </a:rPr>
              <a:t> Staff who have had previous experience with VIP visits at the venue</a:t>
            </a:r>
          </a:p>
          <a:p>
            <a:pPr lvl="1">
              <a:buFont typeface="Arial" pitchFamily="34" charset="0"/>
              <a:buChar char="•"/>
            </a:pPr>
            <a:r>
              <a:rPr lang="en-AU" sz="1200" kern="1200" dirty="0" smtClean="0">
                <a:solidFill>
                  <a:schemeClr val="tx1"/>
                </a:solidFill>
                <a:ea typeface="+mn-ea"/>
                <a:cs typeface="+mn-cs"/>
              </a:rPr>
              <a:t> Local police</a:t>
            </a:r>
          </a:p>
          <a:p>
            <a:pPr lvl="1">
              <a:buFont typeface="Arial" pitchFamily="34" charset="0"/>
              <a:buChar char="•"/>
            </a:pPr>
            <a:r>
              <a:rPr lang="en-AU" sz="1200" kern="1200" dirty="0" smtClean="0">
                <a:solidFill>
                  <a:schemeClr val="tx1"/>
                </a:solidFill>
                <a:ea typeface="+mn-ea"/>
                <a:cs typeface="+mn-cs"/>
              </a:rPr>
              <a:t> Representative, handlers and security staff employed by the VIP</a:t>
            </a:r>
          </a:p>
          <a:p>
            <a:pPr>
              <a:buFont typeface="Arial" pitchFamily="34" charset="0"/>
              <a:buChar char="•"/>
            </a:pPr>
            <a:r>
              <a:rPr lang="en-AU" sz="1200" kern="1200" dirty="0" smtClean="0">
                <a:solidFill>
                  <a:schemeClr val="tx1"/>
                </a:solidFill>
                <a:ea typeface="+mn-ea"/>
                <a:cs typeface="+mn-cs"/>
              </a:rPr>
              <a:t> Refer to previous internal documentation which exists in this regard.</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mean looking at and learning lessons from:</a:t>
            </a:r>
          </a:p>
          <a:p>
            <a:pPr lvl="1">
              <a:buFont typeface="Arial" pitchFamily="34" charset="0"/>
              <a:buChar char="•"/>
            </a:pPr>
            <a:r>
              <a:rPr lang="en-AU" sz="1200" kern="1200" dirty="0" smtClean="0">
                <a:solidFill>
                  <a:schemeClr val="tx1"/>
                </a:solidFill>
                <a:ea typeface="+mn-ea"/>
                <a:cs typeface="+mn-cs"/>
              </a:rPr>
              <a:t> Previous safety plans which have been prepared by the venue for earlier VIP visits</a:t>
            </a:r>
          </a:p>
          <a:p>
            <a:pPr lvl="1">
              <a:buFont typeface="Arial" pitchFamily="34" charset="0"/>
              <a:buChar char="•"/>
            </a:pPr>
            <a:r>
              <a:rPr lang="en-AU" sz="1200" kern="1200" dirty="0" smtClean="0">
                <a:solidFill>
                  <a:schemeClr val="tx1"/>
                </a:solidFill>
                <a:ea typeface="+mn-ea"/>
                <a:cs typeface="+mn-cs"/>
              </a:rPr>
              <a:t> Evaluations of previous VIP visits</a:t>
            </a:r>
          </a:p>
          <a:p>
            <a:pPr lvl="1">
              <a:buFont typeface="Arial" pitchFamily="34" charset="0"/>
              <a:buChar char="•"/>
            </a:pPr>
            <a:r>
              <a:rPr lang="en-AU" sz="1200" kern="1200" dirty="0" smtClean="0">
                <a:solidFill>
                  <a:schemeClr val="tx1"/>
                </a:solidFill>
                <a:ea typeface="+mn-ea"/>
                <a:cs typeface="+mn-cs"/>
              </a:rPr>
              <a:t> Any draft safety plans which were developed on the basis of feedback received and analysis undertaken after previous VIP visits (see later slides)</a:t>
            </a:r>
          </a:p>
          <a:p>
            <a:pPr>
              <a:buFont typeface="Arial" pitchFamily="34" charset="0"/>
              <a:buChar char="•"/>
            </a:pPr>
            <a:r>
              <a:rPr lang="en-AU" sz="1200" kern="1200" dirty="0" smtClean="0">
                <a:solidFill>
                  <a:schemeClr val="tx1"/>
                </a:solidFill>
                <a:ea typeface="+mn-ea"/>
                <a:cs typeface="+mn-cs"/>
              </a:rPr>
              <a:t> Prepare contingency plans.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are plans to follow (‘Plan B’) if the original plans cannot be implemented for some reason.</a:t>
            </a:r>
          </a:p>
          <a:p>
            <a:pPr>
              <a:buFont typeface="Arial" pitchFamily="34" charset="0"/>
              <a:buNone/>
            </a:pPr>
            <a:endParaRPr lang="en-AU" baseline="0" noProof="0" dirty="0" smtClean="0"/>
          </a:p>
          <a:p>
            <a:pPr>
              <a:buFont typeface="Arial" pitchFamily="34" charset="0"/>
              <a:buNone/>
            </a:pPr>
            <a:r>
              <a:rPr lang="en-AU" b="1" baseline="0" noProof="0" dirty="0" smtClean="0"/>
              <a:t>Class Activity – Guest Speaker</a:t>
            </a:r>
          </a:p>
          <a:p>
            <a:pPr>
              <a:buFont typeface="Arial" pitchFamily="34" charset="0"/>
              <a:buNone/>
            </a:pPr>
            <a:r>
              <a:rPr lang="en-AU" b="0" baseline="0" noProof="0" dirty="0" smtClean="0"/>
              <a:t>Trainer arranges for relevant manager from a local venue to attend and:</a:t>
            </a:r>
          </a:p>
          <a:p>
            <a:pPr>
              <a:buFont typeface="Arial" pitchFamily="34" charset="0"/>
              <a:buChar char="•"/>
            </a:pPr>
            <a:r>
              <a:rPr lang="en-AU" b="0" baseline="0" noProof="0" dirty="0" smtClean="0"/>
              <a:t> Discuss preparations for a VIP visit</a:t>
            </a:r>
          </a:p>
          <a:p>
            <a:pPr>
              <a:buFont typeface="Arial" pitchFamily="34" charset="0"/>
              <a:buChar char="•"/>
            </a:pPr>
            <a:r>
              <a:rPr lang="en-AU" b="0" baseline="0" noProof="0" dirty="0" smtClean="0"/>
              <a:t> Provide examples of VIP stays</a:t>
            </a:r>
          </a:p>
          <a:p>
            <a:pPr>
              <a:buFont typeface="Arial" pitchFamily="34" charset="0"/>
              <a:buChar char="•"/>
            </a:pPr>
            <a:r>
              <a:rPr lang="en-AU" b="0" baseline="0" noProof="0" dirty="0" smtClean="0"/>
              <a:t> Identify stakeholders for visits</a:t>
            </a:r>
          </a:p>
          <a:p>
            <a:pPr>
              <a:buFont typeface="Arial" pitchFamily="34" charset="0"/>
              <a:buChar char="•"/>
            </a:pPr>
            <a:r>
              <a:rPr lang="en-AU" b="0" baseline="0" noProof="0" dirty="0" smtClean="0"/>
              <a:t> Highlight liaison/communication required and/or undertaken with stakeholders</a:t>
            </a:r>
          </a:p>
          <a:p>
            <a:pPr>
              <a:buFont typeface="Arial" pitchFamily="34" charset="0"/>
              <a:buChar char="•"/>
            </a:pPr>
            <a:r>
              <a:rPr lang="en-AU" b="0" baseline="0" noProof="0" dirty="0" smtClean="0"/>
              <a:t> Provide sample safety plans</a:t>
            </a:r>
          </a:p>
          <a:p>
            <a:pPr>
              <a:buFont typeface="Arial" pitchFamily="34" charset="0"/>
              <a:buChar char="•"/>
            </a:pPr>
            <a:r>
              <a:rPr lang="en-AU" b="0" baseline="0" noProof="0" dirty="0" smtClean="0"/>
              <a:t> Discuss and explain safety plans.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169172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states safety plans must be based on information relating to:</a:t>
            </a:r>
          </a:p>
          <a:p>
            <a:pPr>
              <a:buFont typeface="Arial" pitchFamily="34" charset="0"/>
              <a:buChar char="•"/>
            </a:pPr>
            <a:r>
              <a:rPr lang="en-AU" sz="1200" kern="1200" dirty="0" smtClean="0">
                <a:solidFill>
                  <a:schemeClr val="tx1"/>
                </a:solidFill>
                <a:ea typeface="+mn-ea"/>
                <a:cs typeface="+mn-cs"/>
              </a:rPr>
              <a:t> The individual VIP who is visiting and the local response/reaction of the public to them</a:t>
            </a:r>
          </a:p>
          <a:p>
            <a:pPr>
              <a:buFont typeface="Arial" pitchFamily="34" charset="0"/>
              <a:buChar char="•"/>
            </a:pPr>
            <a:r>
              <a:rPr lang="en-AU" sz="1200" kern="1200" dirty="0" smtClean="0">
                <a:solidFill>
                  <a:schemeClr val="tx1"/>
                </a:solidFill>
                <a:ea typeface="+mn-ea"/>
                <a:cs typeface="+mn-cs"/>
              </a:rPr>
              <a:t> Reason/s for visit</a:t>
            </a:r>
          </a:p>
          <a:p>
            <a:pPr>
              <a:buFont typeface="Arial" pitchFamily="34" charset="0"/>
              <a:buChar char="•"/>
            </a:pPr>
            <a:r>
              <a:rPr lang="en-AU" sz="1200" kern="1200" dirty="0" smtClean="0">
                <a:solidFill>
                  <a:schemeClr val="tx1"/>
                </a:solidFill>
                <a:ea typeface="+mn-ea"/>
                <a:cs typeface="+mn-cs"/>
              </a:rPr>
              <a:t> The timing of the visit</a:t>
            </a:r>
          </a:p>
          <a:p>
            <a:pPr>
              <a:buFont typeface="Arial" pitchFamily="34" charset="0"/>
              <a:buChar char="•"/>
            </a:pPr>
            <a:r>
              <a:rPr lang="en-AU" sz="1200" kern="1200" dirty="0" smtClean="0">
                <a:solidFill>
                  <a:schemeClr val="tx1"/>
                </a:solidFill>
                <a:ea typeface="+mn-ea"/>
                <a:cs typeface="+mn-cs"/>
              </a:rPr>
              <a:t> The duration of the stay</a:t>
            </a:r>
          </a:p>
          <a:p>
            <a:pPr>
              <a:buFont typeface="Arial" pitchFamily="34" charset="0"/>
              <a:buChar char="•"/>
            </a:pPr>
            <a:r>
              <a:rPr lang="en-AU" sz="1200" kern="1200" dirty="0" smtClean="0">
                <a:solidFill>
                  <a:schemeClr val="tx1"/>
                </a:solidFill>
                <a:ea typeface="+mn-ea"/>
                <a:cs typeface="+mn-cs"/>
              </a:rPr>
              <a:t> Weather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Local political, social and economic conditions.</a:t>
            </a:r>
          </a:p>
          <a:p>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079941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stating safety plans must be based on information relating to:</a:t>
            </a:r>
          </a:p>
          <a:p>
            <a:pPr>
              <a:buFont typeface="Arial" pitchFamily="34" charset="0"/>
              <a:buChar char="•"/>
            </a:pPr>
            <a:r>
              <a:rPr lang="en-AU" sz="1200" kern="1200" dirty="0" smtClean="0">
                <a:solidFill>
                  <a:schemeClr val="tx1"/>
                </a:solidFill>
                <a:ea typeface="+mn-ea"/>
                <a:cs typeface="+mn-cs"/>
              </a:rPr>
              <a:t> The size and composition of the VIP party/entourage</a:t>
            </a:r>
          </a:p>
          <a:p>
            <a:pPr>
              <a:buFont typeface="Arial" pitchFamily="34" charset="0"/>
              <a:buChar char="•"/>
            </a:pPr>
            <a:r>
              <a:rPr lang="en-AU" sz="1200" kern="1200" dirty="0" smtClean="0">
                <a:solidFill>
                  <a:schemeClr val="tx1"/>
                </a:solidFill>
                <a:ea typeface="+mn-ea"/>
                <a:cs typeface="+mn-cs"/>
              </a:rPr>
              <a:t> Assistance available form local authorities</a:t>
            </a:r>
          </a:p>
          <a:p>
            <a:pPr>
              <a:buFont typeface="Arial" pitchFamily="34" charset="0"/>
              <a:buChar char="•"/>
            </a:pPr>
            <a:r>
              <a:rPr lang="en-AU" sz="1200" kern="1200" dirty="0" smtClean="0">
                <a:solidFill>
                  <a:schemeClr val="tx1"/>
                </a:solidFill>
                <a:ea typeface="+mn-ea"/>
                <a:cs typeface="+mn-cs"/>
              </a:rPr>
              <a:t> Input from VIP handlers/security staff and others associated with the VIP and/or their entourage</a:t>
            </a:r>
          </a:p>
          <a:p>
            <a:pPr>
              <a:buFont typeface="Arial" pitchFamily="34" charset="0"/>
              <a:buChar char="•"/>
            </a:pPr>
            <a:r>
              <a:rPr lang="en-AU" sz="1200" kern="1200" dirty="0" smtClean="0">
                <a:solidFill>
                  <a:schemeClr val="tx1"/>
                </a:solidFill>
                <a:ea typeface="+mn-ea"/>
                <a:cs typeface="+mn-cs"/>
              </a:rPr>
              <a:t> Experience with the VIP and their previous visits to the country and/or the property</a:t>
            </a:r>
          </a:p>
          <a:p>
            <a:pPr>
              <a:buFont typeface="Arial" pitchFamily="34" charset="0"/>
              <a:buChar char="•"/>
            </a:pPr>
            <a:r>
              <a:rPr lang="en-AU" sz="1200" kern="1200" dirty="0" smtClean="0">
                <a:solidFill>
                  <a:schemeClr val="tx1"/>
                </a:solidFill>
                <a:ea typeface="+mn-ea"/>
                <a:cs typeface="+mn-cs"/>
              </a:rPr>
              <a:t> Identified threats/intelligence received regarding the visit.</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r>
              <a:rPr lang="en-AU" b="1" baseline="0" noProof="0" dirty="0" smtClean="0"/>
              <a:t>Class Activity – Handout</a:t>
            </a:r>
          </a:p>
          <a:p>
            <a:pPr>
              <a:buFont typeface="Arial" pitchFamily="34" charset="0"/>
              <a:buNone/>
            </a:pPr>
            <a:r>
              <a:rPr lang="en-AU" b="0" baseline="0" noProof="0" dirty="0" smtClean="0"/>
              <a:t>Trainer distributes and discusses examples of safety plans from local venues for VIP visits.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4745109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AU" noProof="0" dirty="0" smtClean="0"/>
              <a:t>Trainer identifies safety plans must address the following specific requirements:</a:t>
            </a:r>
          </a:p>
          <a:p>
            <a:pPr>
              <a:buFont typeface="Arial" pitchFamily="34" charset="0"/>
              <a:buNone/>
            </a:pPr>
            <a:r>
              <a:rPr lang="en-AU" b="1" noProof="0" dirty="0" smtClean="0"/>
              <a:t>Preparing necessary procedures – ‘prior to arrival’</a:t>
            </a:r>
          </a:p>
          <a:p>
            <a:pPr>
              <a:buFont typeface="Arial" pitchFamily="34" charset="0"/>
              <a:buChar char="•"/>
            </a:pPr>
            <a:r>
              <a:rPr lang="en-AU" sz="1200" kern="1200" dirty="0" smtClean="0">
                <a:solidFill>
                  <a:schemeClr val="tx1"/>
                </a:solidFill>
                <a:ea typeface="+mn-ea"/>
                <a:cs typeface="+mn-cs"/>
              </a:rPr>
              <a:t> Whether the arrival is to be covert or ‘public’</a:t>
            </a:r>
          </a:p>
          <a:p>
            <a:pPr>
              <a:buFont typeface="Arial" pitchFamily="34" charset="0"/>
              <a:buChar char="•"/>
            </a:pPr>
            <a:r>
              <a:rPr lang="en-AU" sz="1200" kern="1200" dirty="0" smtClean="0">
                <a:solidFill>
                  <a:schemeClr val="tx1"/>
                </a:solidFill>
                <a:ea typeface="+mn-ea"/>
                <a:cs typeface="+mn-cs"/>
              </a:rPr>
              <a:t> Internal arrangements regarding rooms to be used by the VIP.</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ome VIPs will have a floor to themselves; some will require a vacant floor above and beneath them</a:t>
            </a:r>
          </a:p>
          <a:p>
            <a:pPr>
              <a:buFont typeface="Arial" pitchFamily="34" charset="0"/>
              <a:buChar char="•"/>
            </a:pPr>
            <a:r>
              <a:rPr lang="en-AU" sz="1200" kern="1200" dirty="0" smtClean="0">
                <a:solidFill>
                  <a:schemeClr val="tx1"/>
                </a:solidFill>
                <a:ea typeface="+mn-ea"/>
                <a:cs typeface="+mn-cs"/>
              </a:rPr>
              <a:t> Inspections, sweeps and checks to check the safety of the areas and rooms to be used</a:t>
            </a:r>
          </a:p>
          <a:p>
            <a:pPr>
              <a:buFont typeface="Arial" pitchFamily="34" charset="0"/>
              <a:buChar char="•"/>
            </a:pPr>
            <a:r>
              <a:rPr lang="en-AU" sz="1200" kern="1200" dirty="0" smtClean="0">
                <a:solidFill>
                  <a:schemeClr val="tx1"/>
                </a:solidFill>
                <a:ea typeface="+mn-ea"/>
                <a:cs typeface="+mn-cs"/>
              </a:rPr>
              <a:t> Liaison with others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internally and externally) including:</a:t>
            </a:r>
          </a:p>
          <a:p>
            <a:pPr lvl="1">
              <a:buFont typeface="Arial" pitchFamily="34" charset="0"/>
              <a:buChar char="•"/>
            </a:pPr>
            <a:r>
              <a:rPr lang="en-AU" sz="1200" kern="1200" dirty="0" smtClean="0">
                <a:solidFill>
                  <a:schemeClr val="tx1"/>
                </a:solidFill>
                <a:ea typeface="+mn-ea"/>
                <a:cs typeface="+mn-cs"/>
              </a:rPr>
              <a:t> Meetings and briefing sessions</a:t>
            </a:r>
          </a:p>
          <a:p>
            <a:pPr lvl="1">
              <a:buFont typeface="Arial" pitchFamily="34" charset="0"/>
              <a:buChar char="•"/>
            </a:pPr>
            <a:r>
              <a:rPr lang="en-AU" sz="1200" kern="1200" dirty="0" smtClean="0">
                <a:solidFill>
                  <a:schemeClr val="tx1"/>
                </a:solidFill>
                <a:ea typeface="+mn-ea"/>
                <a:cs typeface="+mn-cs"/>
              </a:rPr>
              <a:t> Drills and trails/practice runs</a:t>
            </a:r>
          </a:p>
          <a:p>
            <a:pPr>
              <a:buFont typeface="Arial" pitchFamily="34" charset="0"/>
              <a:buChar char="•"/>
            </a:pPr>
            <a:r>
              <a:rPr lang="en-AU" sz="1200" kern="1200" dirty="0" smtClean="0">
                <a:solidFill>
                  <a:schemeClr val="tx1"/>
                </a:solidFill>
                <a:ea typeface="+mn-ea"/>
                <a:cs typeface="+mn-cs"/>
              </a:rPr>
              <a:t> Development of communication protocols covering:</a:t>
            </a:r>
          </a:p>
          <a:p>
            <a:pPr lvl="1">
              <a:buFont typeface="Arial" pitchFamily="34" charset="0"/>
              <a:buChar char="•"/>
            </a:pPr>
            <a:r>
              <a:rPr lang="en-AU" sz="1200" kern="1200" dirty="0" smtClean="0">
                <a:solidFill>
                  <a:schemeClr val="tx1"/>
                </a:solidFill>
                <a:ea typeface="+mn-ea"/>
                <a:cs typeface="+mn-cs"/>
              </a:rPr>
              <a:t> Terms of address when speaking with the VIP</a:t>
            </a:r>
          </a:p>
          <a:p>
            <a:pPr lvl="1">
              <a:buFont typeface="Arial" pitchFamily="34" charset="0"/>
              <a:buChar char="•"/>
            </a:pPr>
            <a:r>
              <a:rPr lang="en-AU" sz="1200" kern="1200" dirty="0" smtClean="0">
                <a:solidFill>
                  <a:schemeClr val="tx1"/>
                </a:solidFill>
                <a:ea typeface="+mn-ea"/>
                <a:cs typeface="+mn-cs"/>
              </a:rPr>
              <a:t> Communication protocols between integrated internal security personnel</a:t>
            </a:r>
          </a:p>
          <a:p>
            <a:pPr>
              <a:buFont typeface="Arial" pitchFamily="34" charset="0"/>
              <a:buChar char="•"/>
            </a:pPr>
            <a:r>
              <a:rPr lang="en-AU" sz="1200" kern="1200" dirty="0" smtClean="0">
                <a:solidFill>
                  <a:schemeClr val="tx1"/>
                </a:solidFill>
                <a:ea typeface="+mn-ea"/>
                <a:cs typeface="+mn-cs"/>
              </a:rPr>
              <a:t> Communication protocols between the venue and external security services including police</a:t>
            </a:r>
          </a:p>
          <a:p>
            <a:pPr>
              <a:buFont typeface="Arial" pitchFamily="34" charset="0"/>
              <a:buChar char="•"/>
            </a:pPr>
            <a:r>
              <a:rPr lang="en-AU" sz="1200" kern="1200" dirty="0" smtClean="0">
                <a:solidFill>
                  <a:schemeClr val="tx1"/>
                </a:solidFill>
                <a:ea typeface="+mn-ea"/>
                <a:cs typeface="+mn-cs"/>
              </a:rPr>
              <a:t> Development and confirmation of schedule of events for the visit focussing on:</a:t>
            </a:r>
          </a:p>
          <a:p>
            <a:pPr lvl="1">
              <a:buFont typeface="Arial" pitchFamily="34" charset="0"/>
              <a:buChar char="•"/>
            </a:pPr>
            <a:r>
              <a:rPr lang="en-AU" sz="1200" kern="1200" dirty="0" smtClean="0">
                <a:solidFill>
                  <a:schemeClr val="tx1"/>
                </a:solidFill>
                <a:ea typeface="+mn-ea"/>
                <a:cs typeface="+mn-cs"/>
              </a:rPr>
              <a:t> Days and dates</a:t>
            </a:r>
          </a:p>
          <a:p>
            <a:pPr lvl="1">
              <a:buFont typeface="Arial" pitchFamily="34" charset="0"/>
              <a:buChar char="•"/>
            </a:pPr>
            <a:r>
              <a:rPr lang="en-AU" sz="1200" kern="1200" dirty="0" smtClean="0">
                <a:solidFill>
                  <a:schemeClr val="tx1"/>
                </a:solidFill>
                <a:ea typeface="+mn-ea"/>
                <a:cs typeface="+mn-cs"/>
              </a:rPr>
              <a:t> Timing</a:t>
            </a:r>
          </a:p>
          <a:p>
            <a:pPr lvl="1">
              <a:buFont typeface="Arial" pitchFamily="34" charset="0"/>
              <a:buChar char="•"/>
            </a:pPr>
            <a:r>
              <a:rPr lang="en-AU" sz="1200" kern="1200" dirty="0" smtClean="0">
                <a:solidFill>
                  <a:schemeClr val="tx1"/>
                </a:solidFill>
                <a:ea typeface="+mn-ea"/>
                <a:cs typeface="+mn-cs"/>
              </a:rPr>
              <a:t> Locations/destinations</a:t>
            </a:r>
          </a:p>
          <a:p>
            <a:pPr lvl="1">
              <a:buFont typeface="Arial" pitchFamily="34" charset="0"/>
              <a:buChar char="•"/>
            </a:pPr>
            <a:r>
              <a:rPr lang="en-AU" sz="1200" kern="1200" dirty="0" smtClean="0">
                <a:solidFill>
                  <a:schemeClr val="tx1"/>
                </a:solidFill>
                <a:ea typeface="+mn-ea"/>
                <a:cs typeface="+mn-cs"/>
              </a:rPr>
              <a:t> Associated issues </a:t>
            </a:r>
          </a:p>
          <a:p>
            <a:pPr lvl="1">
              <a:buFont typeface="Arial" pitchFamily="34" charset="0"/>
              <a:buChar char="•"/>
            </a:pPr>
            <a:r>
              <a:rPr lang="en-AU" sz="1200" kern="1200" dirty="0" smtClean="0">
                <a:solidFill>
                  <a:schemeClr val="tx1"/>
                </a:solidFill>
                <a:ea typeface="+mn-ea"/>
                <a:cs typeface="+mn-cs"/>
              </a:rPr>
              <a:t> Support required</a:t>
            </a:r>
          </a:p>
          <a:p>
            <a:pPr lvl="1">
              <a:buFont typeface="Arial" pitchFamily="34" charset="0"/>
              <a:buChar char="•"/>
            </a:pPr>
            <a:r>
              <a:rPr lang="en-AU" sz="1200" kern="1200" dirty="0" smtClean="0">
                <a:solidFill>
                  <a:schemeClr val="tx1"/>
                </a:solidFill>
                <a:ea typeface="+mn-ea"/>
                <a:cs typeface="+mn-cs"/>
              </a:rPr>
              <a:t> Distribution of schedule to those identified on a restricted Distribution List </a:t>
            </a:r>
          </a:p>
          <a:p>
            <a:pPr>
              <a:buFont typeface="Arial" pitchFamily="34" charset="0"/>
              <a:buChar char="•"/>
            </a:pPr>
            <a:r>
              <a:rPr lang="en-AU" sz="1200" kern="1200" dirty="0" smtClean="0">
                <a:solidFill>
                  <a:schemeClr val="tx1"/>
                </a:solidFill>
                <a:ea typeface="+mn-ea"/>
                <a:cs typeface="+mn-cs"/>
              </a:rPr>
              <a:t> Identification of internal and external staff to be used for service provision and arrangements, if required, for:</a:t>
            </a:r>
          </a:p>
          <a:p>
            <a:pPr>
              <a:buFont typeface="Arial" pitchFamily="34" charset="0"/>
              <a:buChar char="•"/>
            </a:pPr>
            <a:r>
              <a:rPr lang="en-AU" sz="1200" kern="1200" dirty="0" smtClean="0">
                <a:solidFill>
                  <a:schemeClr val="tx1"/>
                </a:solidFill>
                <a:ea typeface="+mn-ea"/>
                <a:cs typeface="+mn-cs"/>
              </a:rPr>
              <a:t> Screening those staff</a:t>
            </a:r>
          </a:p>
          <a:p>
            <a:pPr>
              <a:buFont typeface="Arial" pitchFamily="34" charset="0"/>
              <a:buChar char="•"/>
            </a:pPr>
            <a:r>
              <a:rPr lang="en-AU" sz="1200" kern="1200" dirty="0" smtClean="0">
                <a:solidFill>
                  <a:schemeClr val="tx1"/>
                </a:solidFill>
                <a:ea typeface="+mn-ea"/>
                <a:cs typeface="+mn-cs"/>
              </a:rPr>
              <a:t> Training</a:t>
            </a:r>
          </a:p>
          <a:p>
            <a:pPr>
              <a:buFont typeface="Arial" pitchFamily="34" charset="0"/>
              <a:buChar char="•"/>
            </a:pPr>
            <a:r>
              <a:rPr lang="en-AU" sz="1200" kern="1200" dirty="0" smtClean="0">
                <a:solidFill>
                  <a:schemeClr val="tx1"/>
                </a:solidFill>
                <a:ea typeface="+mn-ea"/>
                <a:cs typeface="+mn-cs"/>
              </a:rPr>
              <a:t> Briefing.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0994385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safety plans must address the following specific requirements:</a:t>
            </a:r>
          </a:p>
          <a:p>
            <a:r>
              <a:rPr lang="en-AU" sz="1200" b="1" kern="1200" dirty="0" smtClean="0">
                <a:solidFill>
                  <a:schemeClr val="tx1"/>
                </a:solidFill>
                <a:ea typeface="+mn-ea"/>
                <a:cs typeface="+mn-cs"/>
              </a:rPr>
              <a:t>‘On arrival’ procedures</a:t>
            </a:r>
            <a:r>
              <a:rPr lang="en-AU" sz="1200" kern="1200" dirty="0" smtClean="0">
                <a:solidFill>
                  <a:schemeClr val="tx1"/>
                </a:solidFill>
                <a:ea typeface="+mn-ea"/>
                <a:cs typeface="+mn-cs"/>
              </a:rPr>
              <a:t> – which can include coverage of:</a:t>
            </a:r>
          </a:p>
          <a:p>
            <a:pPr>
              <a:buFont typeface="Arial" pitchFamily="34" charset="0"/>
              <a:buChar char="•"/>
            </a:pPr>
            <a:r>
              <a:rPr lang="en-AU" sz="1200" kern="1200" dirty="0" smtClean="0">
                <a:solidFill>
                  <a:schemeClr val="tx1"/>
                </a:solidFill>
                <a:ea typeface="+mn-ea"/>
                <a:cs typeface="+mn-cs"/>
              </a:rPr>
              <a:t> Vehicles to be used</a:t>
            </a:r>
          </a:p>
          <a:p>
            <a:pPr>
              <a:buFont typeface="Arial" pitchFamily="34" charset="0"/>
              <a:buChar char="•"/>
            </a:pPr>
            <a:r>
              <a:rPr lang="en-AU" sz="1200" kern="1200" dirty="0" smtClean="0">
                <a:solidFill>
                  <a:schemeClr val="tx1"/>
                </a:solidFill>
                <a:ea typeface="+mn-ea"/>
                <a:cs typeface="+mn-cs"/>
              </a:rPr>
              <a:t> Drivers and security staff to be used</a:t>
            </a:r>
          </a:p>
          <a:p>
            <a:pPr>
              <a:buFont typeface="Arial" pitchFamily="34" charset="0"/>
              <a:buChar char="•"/>
            </a:pPr>
            <a:r>
              <a:rPr lang="en-AU" sz="1200" kern="1200" dirty="0" smtClean="0">
                <a:solidFill>
                  <a:schemeClr val="tx1"/>
                </a:solidFill>
                <a:ea typeface="+mn-ea"/>
                <a:cs typeface="+mn-cs"/>
              </a:rPr>
              <a:t> Identification of:</a:t>
            </a:r>
          </a:p>
          <a:p>
            <a:pPr lvl="1">
              <a:buFont typeface="Arial" pitchFamily="34" charset="0"/>
              <a:buChar char="•"/>
            </a:pPr>
            <a:r>
              <a:rPr lang="en-AU" sz="1200" kern="1200" dirty="0" smtClean="0">
                <a:solidFill>
                  <a:schemeClr val="tx1"/>
                </a:solidFill>
                <a:ea typeface="+mn-ea"/>
                <a:cs typeface="+mn-cs"/>
              </a:rPr>
              <a:t> Route to be used</a:t>
            </a:r>
          </a:p>
          <a:p>
            <a:pPr lvl="1">
              <a:buFont typeface="Arial" pitchFamily="34" charset="0"/>
              <a:buChar char="•"/>
            </a:pPr>
            <a:r>
              <a:rPr lang="en-AU" sz="1200" kern="1200" dirty="0" smtClean="0">
                <a:solidFill>
                  <a:schemeClr val="tx1"/>
                </a:solidFill>
                <a:ea typeface="+mn-ea"/>
                <a:cs typeface="+mn-cs"/>
              </a:rPr>
              <a:t> Entrance into the venue</a:t>
            </a:r>
          </a:p>
          <a:p>
            <a:pPr lvl="1">
              <a:buFont typeface="Arial" pitchFamily="34" charset="0"/>
              <a:buChar char="•"/>
            </a:pPr>
            <a:r>
              <a:rPr lang="en-AU" sz="1200" kern="1200" dirty="0" smtClean="0">
                <a:solidFill>
                  <a:schemeClr val="tx1"/>
                </a:solidFill>
                <a:ea typeface="+mn-ea"/>
                <a:cs typeface="+mn-cs"/>
              </a:rPr>
              <a:t> Crowd control</a:t>
            </a:r>
          </a:p>
          <a:p>
            <a:pPr lvl="1">
              <a:buFont typeface="Arial" pitchFamily="34" charset="0"/>
              <a:buChar char="•"/>
            </a:pPr>
            <a:r>
              <a:rPr lang="en-AU" sz="1200" kern="1200" dirty="0" smtClean="0">
                <a:solidFill>
                  <a:schemeClr val="tx1"/>
                </a:solidFill>
                <a:ea typeface="+mn-ea"/>
                <a:cs typeface="+mn-cs"/>
              </a:rPr>
              <a:t> Media liaison.</a:t>
            </a:r>
          </a:p>
          <a:p>
            <a:r>
              <a:rPr lang="en-AU" sz="1200" b="1" kern="1200" dirty="0" smtClean="0">
                <a:solidFill>
                  <a:schemeClr val="tx1"/>
                </a:solidFill>
                <a:ea typeface="+mn-ea"/>
                <a:cs typeface="+mn-cs"/>
              </a:rPr>
              <a:t>On arrival protocols </a:t>
            </a:r>
            <a:r>
              <a:rPr lang="en-AU" sz="1200" kern="1200" dirty="0" smtClean="0">
                <a:solidFill>
                  <a:schemeClr val="tx1"/>
                </a:solidFill>
                <a:ea typeface="+mn-ea"/>
                <a:cs typeface="+mn-cs"/>
              </a:rPr>
              <a:t>– which may relate to:</a:t>
            </a:r>
          </a:p>
          <a:p>
            <a:pPr>
              <a:buFont typeface="Arial" pitchFamily="34" charset="0"/>
              <a:buChar char="•"/>
            </a:pPr>
            <a:r>
              <a:rPr lang="en-AU" sz="1200" kern="1200" dirty="0" smtClean="0">
                <a:solidFill>
                  <a:schemeClr val="tx1"/>
                </a:solidFill>
                <a:ea typeface="+mn-ea"/>
                <a:cs typeface="+mn-cs"/>
              </a:rPr>
              <a:t> Movement from cars to the venue/lobby area</a:t>
            </a:r>
          </a:p>
          <a:p>
            <a:pPr>
              <a:buFont typeface="Arial" pitchFamily="34" charset="0"/>
              <a:buChar char="•"/>
            </a:pPr>
            <a:r>
              <a:rPr lang="en-AU" sz="1200" kern="1200" dirty="0" smtClean="0">
                <a:solidFill>
                  <a:schemeClr val="tx1"/>
                </a:solidFill>
                <a:ea typeface="+mn-ea"/>
                <a:cs typeface="+mn-cs"/>
              </a:rPr>
              <a:t> Meet and greet</a:t>
            </a:r>
          </a:p>
          <a:p>
            <a:pPr>
              <a:buFont typeface="Arial" pitchFamily="34" charset="0"/>
              <a:buChar char="•"/>
            </a:pPr>
            <a:r>
              <a:rPr lang="en-AU" sz="1200" kern="1200" dirty="0" smtClean="0">
                <a:solidFill>
                  <a:schemeClr val="tx1"/>
                </a:solidFill>
                <a:ea typeface="+mn-ea"/>
                <a:cs typeface="+mn-cs"/>
              </a:rPr>
              <a:t> Those who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want to be present</a:t>
            </a:r>
          </a:p>
          <a:p>
            <a:pPr>
              <a:buFont typeface="Arial" pitchFamily="34" charset="0"/>
              <a:buChar char="•"/>
            </a:pPr>
            <a:r>
              <a:rPr lang="en-AU" sz="1200" kern="1200" dirty="0" smtClean="0">
                <a:solidFill>
                  <a:schemeClr val="tx1"/>
                </a:solidFill>
                <a:ea typeface="+mn-ea"/>
                <a:cs typeface="+mn-cs"/>
              </a:rPr>
              <a:t> Speeches and other on arrival activities</a:t>
            </a:r>
          </a:p>
          <a:p>
            <a:pPr>
              <a:buFont typeface="Arial" pitchFamily="34" charset="0"/>
              <a:buChar char="•"/>
            </a:pPr>
            <a:r>
              <a:rPr lang="en-AU" sz="1200" kern="1200" dirty="0" smtClean="0">
                <a:solidFill>
                  <a:schemeClr val="tx1"/>
                </a:solidFill>
                <a:ea typeface="+mn-ea"/>
                <a:cs typeface="+mn-cs"/>
              </a:rPr>
              <a:t> Gift giving</a:t>
            </a:r>
          </a:p>
          <a:p>
            <a:pPr>
              <a:buFont typeface="Arial" pitchFamily="34" charset="0"/>
              <a:buChar char="•"/>
            </a:pPr>
            <a:r>
              <a:rPr lang="en-AU" sz="1200" kern="1200" dirty="0" smtClean="0">
                <a:solidFill>
                  <a:schemeClr val="tx1"/>
                </a:solidFill>
                <a:ea typeface="+mn-ea"/>
                <a:cs typeface="+mn-cs"/>
              </a:rPr>
              <a:t> Handling of luggage</a:t>
            </a:r>
          </a:p>
          <a:p>
            <a:pPr>
              <a:buFont typeface="Arial" pitchFamily="34" charset="0"/>
              <a:buChar char="•"/>
            </a:pPr>
            <a:r>
              <a:rPr lang="en-AU" sz="1200" kern="1200" dirty="0" smtClean="0">
                <a:solidFill>
                  <a:schemeClr val="tx1"/>
                </a:solidFill>
                <a:ea typeface="+mn-ea"/>
                <a:cs typeface="+mn-cs"/>
              </a:rPr>
              <a:t> Processing of registration of all people in the VIP entourage</a:t>
            </a:r>
          </a:p>
          <a:p>
            <a:pPr>
              <a:buFont typeface="Arial" pitchFamily="34" charset="0"/>
              <a:buChar char="•"/>
            </a:pPr>
            <a:r>
              <a:rPr lang="en-AU" sz="1200" kern="1200" dirty="0" smtClean="0">
                <a:solidFill>
                  <a:schemeClr val="tx1"/>
                </a:solidFill>
                <a:ea typeface="+mn-ea"/>
                <a:cs typeface="+mn-cs"/>
              </a:rPr>
              <a:t> Rooming procedures</a:t>
            </a:r>
          </a:p>
          <a:p>
            <a:pPr>
              <a:buFont typeface="Arial" pitchFamily="34" charset="0"/>
              <a:buChar char="•"/>
            </a:pPr>
            <a:r>
              <a:rPr lang="en-AU" sz="1200" kern="1200" dirty="0" smtClean="0">
                <a:solidFill>
                  <a:schemeClr val="tx1"/>
                </a:solidFill>
                <a:ea typeface="+mn-ea"/>
                <a:cs typeface="+mn-cs"/>
              </a:rPr>
              <a:t> Shut down/closure or limitations on normal venue operation when the VIP arrives at the property.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948098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safety plans must address the following specific requirements:</a:t>
            </a:r>
          </a:p>
          <a:p>
            <a:r>
              <a:rPr lang="en-AU" sz="1200" kern="1200" dirty="0" smtClean="0">
                <a:solidFill>
                  <a:schemeClr val="tx1"/>
                </a:solidFill>
                <a:ea typeface="+mn-ea"/>
                <a:cs typeface="+mn-cs"/>
              </a:rPr>
              <a:t> </a:t>
            </a:r>
            <a:r>
              <a:rPr lang="en-AU" sz="1200" b="1" kern="1200" dirty="0" smtClean="0">
                <a:solidFill>
                  <a:schemeClr val="tx1"/>
                </a:solidFill>
                <a:ea typeface="+mn-ea"/>
                <a:cs typeface="+mn-cs"/>
              </a:rPr>
              <a:t>‘During stay’ procedures </a:t>
            </a:r>
            <a:r>
              <a:rPr lang="en-AU" sz="1200" kern="1200" dirty="0" smtClean="0">
                <a:solidFill>
                  <a:schemeClr val="tx1"/>
                </a:solidFill>
                <a:ea typeface="+mn-ea"/>
                <a:cs typeface="+mn-cs"/>
              </a:rPr>
              <a:t>which should address:</a:t>
            </a:r>
          </a:p>
          <a:p>
            <a:pPr>
              <a:buFont typeface="Arial" pitchFamily="34" charset="0"/>
              <a:buChar char="•"/>
            </a:pPr>
            <a:r>
              <a:rPr lang="en-AU" sz="1200" kern="1200" dirty="0" smtClean="0">
                <a:solidFill>
                  <a:schemeClr val="tx1"/>
                </a:solidFill>
                <a:ea typeface="+mn-ea"/>
                <a:cs typeface="+mn-cs"/>
              </a:rPr>
              <a:t> Schedule and itinerary of the VIP</a:t>
            </a:r>
          </a:p>
          <a:p>
            <a:pPr>
              <a:buFont typeface="Arial" pitchFamily="34" charset="0"/>
              <a:buChar char="•"/>
            </a:pPr>
            <a:r>
              <a:rPr lang="en-AU" sz="1200" kern="1200" dirty="0" smtClean="0">
                <a:solidFill>
                  <a:schemeClr val="tx1"/>
                </a:solidFill>
                <a:ea typeface="+mn-ea"/>
                <a:cs typeface="+mn-cs"/>
              </a:rPr>
              <a:t> Schedule and itinerary for entourage</a:t>
            </a:r>
          </a:p>
          <a:p>
            <a:pPr>
              <a:buFont typeface="Arial" pitchFamily="34" charset="0"/>
              <a:buChar char="•"/>
            </a:pPr>
            <a:r>
              <a:rPr lang="en-AU" sz="1200" kern="1200" dirty="0" smtClean="0">
                <a:solidFill>
                  <a:schemeClr val="tx1"/>
                </a:solidFill>
                <a:ea typeface="+mn-ea"/>
                <a:cs typeface="+mn-cs"/>
              </a:rPr>
              <a:t> Venue staff to be used</a:t>
            </a:r>
          </a:p>
          <a:p>
            <a:pPr>
              <a:buFont typeface="Arial" pitchFamily="34" charset="0"/>
              <a:buChar char="•"/>
            </a:pPr>
            <a:r>
              <a:rPr lang="en-AU" sz="1200" kern="1200" dirty="0" smtClean="0">
                <a:solidFill>
                  <a:schemeClr val="tx1"/>
                </a:solidFill>
                <a:ea typeface="+mn-ea"/>
                <a:cs typeface="+mn-cs"/>
              </a:rPr>
              <a:t> Privacy requirements</a:t>
            </a:r>
          </a:p>
          <a:p>
            <a:pPr>
              <a:buFont typeface="Arial" pitchFamily="34" charset="0"/>
              <a:buChar char="•"/>
            </a:pPr>
            <a:r>
              <a:rPr lang="en-AU" sz="1200" kern="1200" dirty="0" smtClean="0">
                <a:solidFill>
                  <a:schemeClr val="tx1"/>
                </a:solidFill>
                <a:ea typeface="+mn-ea"/>
                <a:cs typeface="+mn-cs"/>
              </a:rPr>
              <a:t> Physical and other resource requirements</a:t>
            </a:r>
          </a:p>
          <a:p>
            <a:pPr>
              <a:buFont typeface="Arial" pitchFamily="34" charset="0"/>
              <a:buChar char="•"/>
            </a:pPr>
            <a:r>
              <a:rPr lang="en-AU" sz="1200" kern="1200" dirty="0" smtClean="0">
                <a:solidFill>
                  <a:schemeClr val="tx1"/>
                </a:solidFill>
                <a:ea typeface="+mn-ea"/>
                <a:cs typeface="+mn-cs"/>
              </a:rPr>
              <a:t> Internal security arrangements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which may include reference to:</a:t>
            </a:r>
          </a:p>
          <a:p>
            <a:pPr lvl="1">
              <a:buFont typeface="Arial" pitchFamily="34" charset="0"/>
              <a:buChar char="•"/>
            </a:pPr>
            <a:r>
              <a:rPr lang="en-AU" sz="1200" kern="1200" dirty="0" smtClean="0">
                <a:solidFill>
                  <a:schemeClr val="tx1"/>
                </a:solidFill>
                <a:ea typeface="+mn-ea"/>
                <a:cs typeface="+mn-cs"/>
              </a:rPr>
              <a:t> Video surveillance</a:t>
            </a:r>
          </a:p>
          <a:p>
            <a:pPr lvl="1">
              <a:buFont typeface="Arial" pitchFamily="34" charset="0"/>
              <a:buChar char="•"/>
            </a:pPr>
            <a:r>
              <a:rPr lang="en-AU" sz="1200" kern="1200" dirty="0" smtClean="0">
                <a:solidFill>
                  <a:schemeClr val="tx1"/>
                </a:solidFill>
                <a:ea typeface="+mn-ea"/>
                <a:cs typeface="+mn-cs"/>
              </a:rPr>
              <a:t> Static guards</a:t>
            </a:r>
          </a:p>
          <a:p>
            <a:pPr lvl="1">
              <a:buFont typeface="Arial" pitchFamily="34" charset="0"/>
              <a:buChar char="•"/>
            </a:pPr>
            <a:r>
              <a:rPr lang="en-AU" sz="1200" kern="1200" dirty="0" smtClean="0">
                <a:solidFill>
                  <a:schemeClr val="tx1"/>
                </a:solidFill>
                <a:ea typeface="+mn-ea"/>
                <a:cs typeface="+mn-cs"/>
              </a:rPr>
              <a:t> Close escorts</a:t>
            </a:r>
          </a:p>
          <a:p>
            <a:pPr lvl="1">
              <a:buFont typeface="Arial" pitchFamily="34" charset="0"/>
              <a:buChar char="•"/>
            </a:pPr>
            <a:r>
              <a:rPr lang="en-AU" sz="1200" kern="1200" dirty="0" smtClean="0">
                <a:solidFill>
                  <a:schemeClr val="tx1"/>
                </a:solidFill>
                <a:ea typeface="+mn-ea"/>
                <a:cs typeface="+mn-cs"/>
              </a:rPr>
              <a:t> Bodyguards</a:t>
            </a:r>
          </a:p>
          <a:p>
            <a:pPr lvl="1">
              <a:buFont typeface="Arial" pitchFamily="34" charset="0"/>
              <a:buChar char="•"/>
            </a:pPr>
            <a:r>
              <a:rPr lang="en-AU" sz="1200" kern="1200" dirty="0" smtClean="0">
                <a:solidFill>
                  <a:schemeClr val="tx1"/>
                </a:solidFill>
                <a:ea typeface="+mn-ea"/>
                <a:cs typeface="+mn-cs"/>
              </a:rPr>
              <a:t> Restrictions on access to the VIP and/or the area/s they are occupying when in-house.</a:t>
            </a:r>
          </a:p>
          <a:p>
            <a:r>
              <a:rPr lang="en-AU" sz="1200" b="1" kern="1200" dirty="0" smtClean="0">
                <a:solidFill>
                  <a:schemeClr val="tx1"/>
                </a:solidFill>
                <a:ea typeface="+mn-ea"/>
                <a:cs typeface="+mn-cs"/>
              </a:rPr>
              <a:t>‘On departure’ procedures</a:t>
            </a:r>
            <a:r>
              <a:rPr lang="en-AU" sz="1200" kern="1200" dirty="0" smtClean="0">
                <a:solidFill>
                  <a:schemeClr val="tx1"/>
                </a:solidFill>
                <a:ea typeface="+mn-ea"/>
                <a:cs typeface="+mn-cs"/>
              </a:rPr>
              <a:t>, addressing:</a:t>
            </a:r>
          </a:p>
          <a:p>
            <a:pPr>
              <a:buFont typeface="Arial" pitchFamily="34" charset="0"/>
              <a:buChar char="•"/>
            </a:pPr>
            <a:r>
              <a:rPr lang="en-AU" sz="1200" kern="1200" dirty="0" smtClean="0">
                <a:solidFill>
                  <a:schemeClr val="tx1"/>
                </a:solidFill>
                <a:ea typeface="+mn-ea"/>
                <a:cs typeface="+mn-cs"/>
              </a:rPr>
              <a:t> Timing requirements</a:t>
            </a:r>
          </a:p>
          <a:p>
            <a:pPr>
              <a:buFont typeface="Arial" pitchFamily="34" charset="0"/>
              <a:buChar char="•"/>
            </a:pPr>
            <a:r>
              <a:rPr lang="en-AU" sz="1200" kern="1200" dirty="0" smtClean="0">
                <a:solidFill>
                  <a:schemeClr val="tx1"/>
                </a:solidFill>
                <a:ea typeface="+mn-ea"/>
                <a:cs typeface="+mn-cs"/>
              </a:rPr>
              <a:t> Whether the departure is to be covert or ‘public’</a:t>
            </a:r>
          </a:p>
          <a:p>
            <a:pPr>
              <a:buFont typeface="Arial" pitchFamily="34" charset="0"/>
              <a:buChar char="•"/>
            </a:pPr>
            <a:r>
              <a:rPr lang="en-AU" sz="1200" kern="1200" dirty="0" smtClean="0">
                <a:solidFill>
                  <a:schemeClr val="tx1"/>
                </a:solidFill>
                <a:ea typeface="+mn-ea"/>
                <a:cs typeface="+mn-cs"/>
              </a:rPr>
              <a:t> Crowd control </a:t>
            </a:r>
          </a:p>
          <a:p>
            <a:pPr>
              <a:buFont typeface="Arial" pitchFamily="34" charset="0"/>
              <a:buChar char="•"/>
            </a:pPr>
            <a:r>
              <a:rPr lang="en-AU" sz="1200" kern="1200" dirty="0" smtClean="0">
                <a:solidFill>
                  <a:schemeClr val="tx1"/>
                </a:solidFill>
                <a:ea typeface="+mn-ea"/>
                <a:cs typeface="+mn-cs"/>
              </a:rPr>
              <a:t> Media notification </a:t>
            </a:r>
          </a:p>
          <a:p>
            <a:pPr>
              <a:buFont typeface="Arial" pitchFamily="34" charset="0"/>
              <a:buChar char="•"/>
            </a:pPr>
            <a:r>
              <a:rPr lang="en-AU" sz="1200" kern="1200" dirty="0" smtClean="0">
                <a:solidFill>
                  <a:schemeClr val="tx1"/>
                </a:solidFill>
                <a:ea typeface="+mn-ea"/>
                <a:cs typeface="+mn-cs"/>
              </a:rPr>
              <a:t> Transportation</a:t>
            </a:r>
          </a:p>
          <a:p>
            <a:pPr>
              <a:buFont typeface="Arial" pitchFamily="34" charset="0"/>
              <a:buChar char="•"/>
            </a:pPr>
            <a:r>
              <a:rPr lang="en-AU" sz="1200" kern="1200" dirty="0" smtClean="0">
                <a:solidFill>
                  <a:schemeClr val="tx1"/>
                </a:solidFill>
                <a:ea typeface="+mn-ea"/>
                <a:cs typeface="+mn-cs"/>
              </a:rPr>
              <a:t> Luggage handling</a:t>
            </a:r>
          </a:p>
          <a:p>
            <a:pPr>
              <a:buFont typeface="Arial" pitchFamily="34" charset="0"/>
              <a:buChar char="•"/>
            </a:pPr>
            <a:r>
              <a:rPr lang="en-AU" sz="1200" kern="1200" dirty="0" smtClean="0">
                <a:solidFill>
                  <a:schemeClr val="tx1"/>
                </a:solidFill>
                <a:ea typeface="+mn-ea"/>
                <a:cs typeface="+mn-cs"/>
              </a:rPr>
              <a:t> Account settlement</a:t>
            </a:r>
          </a:p>
          <a:p>
            <a:pPr>
              <a:buFont typeface="Arial" pitchFamily="34" charset="0"/>
              <a:buChar char="•"/>
            </a:pPr>
            <a:r>
              <a:rPr lang="en-AU" sz="1200" kern="1200" dirty="0" smtClean="0">
                <a:solidFill>
                  <a:schemeClr val="tx1"/>
                </a:solidFill>
                <a:ea typeface="+mn-ea"/>
                <a:cs typeface="+mn-cs"/>
              </a:rPr>
              <a:t> Formalities which need to be observed.</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9100382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safety plans must address the following specific requirements:</a:t>
            </a:r>
          </a:p>
          <a:p>
            <a:pPr>
              <a:buFont typeface="Arial" pitchFamily="34" charset="0"/>
              <a:buChar char="•"/>
            </a:pPr>
            <a:r>
              <a:rPr lang="en-AU" sz="1200" kern="1200" dirty="0" smtClean="0">
                <a:solidFill>
                  <a:schemeClr val="tx1"/>
                </a:solidFill>
                <a:ea typeface="+mn-ea"/>
                <a:cs typeface="+mn-cs"/>
              </a:rPr>
              <a:t> Preparing running sheets for distribution according to the relevant Distribution List internally and externally to reflect and communicate the list of activities, their sequence, timing and allocated responsibilities:</a:t>
            </a:r>
          </a:p>
          <a:p>
            <a:pPr>
              <a:buFont typeface="Arial" pitchFamily="34" charset="0"/>
              <a:buChar char="•"/>
            </a:pPr>
            <a:r>
              <a:rPr lang="en-AU" sz="1200" kern="1200" dirty="0" smtClean="0">
                <a:solidFill>
                  <a:schemeClr val="tx1"/>
                </a:solidFill>
                <a:ea typeface="+mn-ea"/>
                <a:cs typeface="+mn-cs"/>
              </a:rPr>
              <a:t> ‘On arrival’ </a:t>
            </a:r>
          </a:p>
          <a:p>
            <a:pPr>
              <a:buFont typeface="Arial" pitchFamily="34" charset="0"/>
              <a:buChar char="•"/>
            </a:pPr>
            <a:r>
              <a:rPr lang="en-AU" sz="1200" kern="1200" dirty="0" smtClean="0">
                <a:solidFill>
                  <a:schemeClr val="tx1"/>
                </a:solidFill>
                <a:ea typeface="+mn-ea"/>
                <a:cs typeface="+mn-cs"/>
              </a:rPr>
              <a:t> ‘During the stay’ </a:t>
            </a:r>
          </a:p>
          <a:p>
            <a:pPr>
              <a:buFont typeface="Arial" pitchFamily="34" charset="0"/>
              <a:buChar char="•"/>
            </a:pPr>
            <a:r>
              <a:rPr lang="en-AU" sz="1200" kern="1200" dirty="0" smtClean="0">
                <a:solidFill>
                  <a:schemeClr val="tx1"/>
                </a:solidFill>
                <a:ea typeface="+mn-ea"/>
                <a:cs typeface="+mn-cs"/>
              </a:rPr>
              <a:t> ‘On departure’.</a:t>
            </a:r>
          </a:p>
          <a:p>
            <a:pPr>
              <a:buFont typeface="Arial" pitchFamily="34" charset="0"/>
              <a:buNone/>
            </a:pPr>
            <a:endParaRPr lang="en-AU" noProof="0" dirty="0" smtClean="0"/>
          </a:p>
          <a:p>
            <a:pPr>
              <a:buFont typeface="Arial" pitchFamily="34" charset="0"/>
              <a:buNone/>
            </a:pPr>
            <a:r>
              <a:rPr lang="en-AU" b="1" noProof="0" dirty="0" smtClean="0"/>
              <a:t>Class Activity – Handouts</a:t>
            </a:r>
          </a:p>
          <a:p>
            <a:pPr>
              <a:buFont typeface="Arial" pitchFamily="34" charset="0"/>
              <a:buNone/>
            </a:pPr>
            <a:r>
              <a:rPr lang="en-AU" b="0" noProof="0" dirty="0" smtClean="0"/>
              <a:t>Trainer distributes and discusses a range of sample running sheets for different phases of VIP stay.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2137651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ea typeface="+mn-ea"/>
                <a:cs typeface="+mn-cs"/>
              </a:rPr>
              <a:t>safety plans should contain a section/Appendix:</a:t>
            </a:r>
          </a:p>
          <a:p>
            <a:pPr>
              <a:buFont typeface="Arial" pitchFamily="34" charset="0"/>
              <a:buChar char="•"/>
            </a:pPr>
            <a:r>
              <a:rPr lang="en-AU" sz="1200" kern="1200" dirty="0" smtClean="0">
                <a:solidFill>
                  <a:schemeClr val="tx1"/>
                </a:solidFill>
                <a:ea typeface="+mn-ea"/>
                <a:cs typeface="+mn-cs"/>
              </a:rPr>
              <a:t> Listing all relevant internal and external people with interest in and/or responsibilities for the VIP visit</a:t>
            </a:r>
          </a:p>
          <a:p>
            <a:pPr>
              <a:buFont typeface="Arial" pitchFamily="34" charset="0"/>
              <a:buChar char="•"/>
            </a:pPr>
            <a:r>
              <a:rPr lang="en-AU" sz="1200" kern="1200" dirty="0" smtClean="0">
                <a:solidFill>
                  <a:schemeClr val="tx1"/>
                </a:solidFill>
                <a:ea typeface="+mn-ea"/>
                <a:cs typeface="+mn-cs"/>
              </a:rPr>
              <a:t> Identifying their contact details.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may be a cell phone number, an internal extension number, a landline telephone number and/or an email address and/or fax number</a:t>
            </a:r>
          </a:p>
          <a:p>
            <a:pPr>
              <a:buFont typeface="Arial" pitchFamily="34" charset="0"/>
              <a:buChar char="•"/>
            </a:pPr>
            <a:r>
              <a:rPr lang="en-AU" sz="1200" kern="1200" dirty="0" smtClean="0">
                <a:solidFill>
                  <a:schemeClr val="tx1"/>
                </a:solidFill>
                <a:ea typeface="+mn-ea"/>
                <a:cs typeface="+mn-cs"/>
              </a:rPr>
              <a:t> Specifying their roles and responsibilities in regard to the visit.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should focus on identifying the areas for which they have the authority to make decisions and/or take action in relation to the visit</a:t>
            </a:r>
          </a:p>
          <a:p>
            <a:pPr>
              <a:buFont typeface="Arial" pitchFamily="34" charset="0"/>
              <a:buChar char="•"/>
            </a:pPr>
            <a:r>
              <a:rPr lang="en-AU" sz="1200" kern="1200" dirty="0" smtClean="0">
                <a:solidFill>
                  <a:schemeClr val="tx1"/>
                </a:solidFill>
                <a:ea typeface="+mn-ea"/>
                <a:cs typeface="+mn-cs"/>
              </a:rPr>
              <a:t> If personnel listed in this section reside in a different time zone it is standard practice to include details of the time difference</a:t>
            </a:r>
          </a:p>
          <a:p>
            <a:pPr>
              <a:buFont typeface="Arial" pitchFamily="34" charset="0"/>
              <a:buChar char="•"/>
            </a:pPr>
            <a:r>
              <a:rPr lang="en-AU" sz="1200" kern="1200" dirty="0" smtClean="0">
                <a:solidFill>
                  <a:schemeClr val="tx1"/>
                </a:solidFill>
                <a:ea typeface="+mn-ea"/>
                <a:cs typeface="+mn-cs"/>
              </a:rPr>
              <a:t> A list of country codes and international dialling protocols are often also included</a:t>
            </a:r>
          </a:p>
          <a:p>
            <a:pPr>
              <a:buFont typeface="Arial" pitchFamily="34" charset="0"/>
              <a:buChar char="•"/>
            </a:pPr>
            <a:r>
              <a:rPr lang="en-AU" sz="1200" kern="1200" dirty="0" smtClean="0">
                <a:solidFill>
                  <a:schemeClr val="tx1"/>
                </a:solidFill>
                <a:ea typeface="+mn-ea"/>
                <a:cs typeface="+mn-cs"/>
              </a:rPr>
              <a:t> A scheduled list of (face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face or telephone hook-up (VoIP or Skype) meetings should be prepared and communicated to relevant people to:</a:t>
            </a:r>
          </a:p>
          <a:p>
            <a:pPr lvl="1">
              <a:buFont typeface="Arial" pitchFamily="34" charset="0"/>
              <a:buChar char="•"/>
            </a:pPr>
            <a:r>
              <a:rPr lang="en-AU" sz="1200" kern="1200" dirty="0" smtClean="0">
                <a:solidFill>
                  <a:schemeClr val="tx1"/>
                </a:solidFill>
                <a:ea typeface="+mn-ea"/>
                <a:cs typeface="+mn-cs"/>
              </a:rPr>
              <a:t> Get to meet/know others</a:t>
            </a:r>
          </a:p>
          <a:p>
            <a:pPr lvl="1">
              <a:buFont typeface="Arial" pitchFamily="34" charset="0"/>
              <a:buChar char="•"/>
            </a:pPr>
            <a:r>
              <a:rPr lang="en-AU" sz="1200" kern="1200" dirty="0" smtClean="0">
                <a:solidFill>
                  <a:schemeClr val="tx1"/>
                </a:solidFill>
                <a:ea typeface="+mn-ea"/>
                <a:cs typeface="+mn-cs"/>
              </a:rPr>
              <a:t> Discuss requirements</a:t>
            </a:r>
          </a:p>
          <a:p>
            <a:pPr lvl="1">
              <a:buFont typeface="Arial" pitchFamily="34" charset="0"/>
              <a:buChar char="•"/>
            </a:pPr>
            <a:r>
              <a:rPr lang="en-AU" sz="1200" kern="1200" dirty="0" smtClean="0">
                <a:solidFill>
                  <a:schemeClr val="tx1"/>
                </a:solidFill>
                <a:ea typeface="+mn-ea"/>
                <a:cs typeface="+mn-cs"/>
              </a:rPr>
              <a:t> Confirm arrangements</a:t>
            </a:r>
          </a:p>
          <a:p>
            <a:pPr lvl="1">
              <a:buFont typeface="Arial" pitchFamily="34" charset="0"/>
              <a:buChar char="•"/>
            </a:pPr>
            <a:r>
              <a:rPr lang="en-AU" sz="1200" kern="1200" dirty="0" smtClean="0">
                <a:solidFill>
                  <a:schemeClr val="tx1"/>
                </a:solidFill>
                <a:ea typeface="+mn-ea"/>
                <a:cs typeface="+mn-cs"/>
              </a:rPr>
              <a:t> Exchange information.</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5037841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states safety plans should also address ‘roles and responsibilities for the following reasons:</a:t>
            </a:r>
          </a:p>
          <a:p>
            <a:pPr>
              <a:buFont typeface="Arial" pitchFamily="34" charset="0"/>
              <a:buChar char="•"/>
            </a:pPr>
            <a:r>
              <a:rPr lang="en-AU" sz="1200" kern="1200" dirty="0" smtClean="0">
                <a:solidFill>
                  <a:schemeClr val="tx1"/>
                </a:solidFill>
                <a:ea typeface="+mn-ea"/>
                <a:cs typeface="+mn-cs"/>
              </a:rPr>
              <a:t> Ensure only the people named on the list are allowed access to the VIP</a:t>
            </a:r>
          </a:p>
          <a:p>
            <a:pPr>
              <a:buFont typeface="Arial" pitchFamily="34" charset="0"/>
              <a:buChar char="•"/>
            </a:pPr>
            <a:r>
              <a:rPr lang="en-AU" sz="1200" kern="1200" dirty="0" smtClean="0">
                <a:solidFill>
                  <a:schemeClr val="tx1"/>
                </a:solidFill>
                <a:ea typeface="+mn-ea"/>
                <a:cs typeface="+mn-cs"/>
              </a:rPr>
              <a:t> Allocate individual members of venue staff to VIPs and their predicted/identified needs throughout their stay</a:t>
            </a:r>
          </a:p>
          <a:p>
            <a:pPr>
              <a:buFont typeface="Arial" pitchFamily="34" charset="0"/>
              <a:buChar char="•"/>
            </a:pPr>
            <a:r>
              <a:rPr lang="en-AU" sz="1200" kern="1200" dirty="0" smtClean="0">
                <a:solidFill>
                  <a:schemeClr val="tx1"/>
                </a:solidFill>
                <a:ea typeface="+mn-ea"/>
                <a:cs typeface="+mn-cs"/>
              </a:rPr>
              <a:t> Allow screening and background checks to be undertaken of all personnel</a:t>
            </a:r>
          </a:p>
          <a:p>
            <a:pPr>
              <a:buFont typeface="Arial" pitchFamily="34" charset="0"/>
              <a:buChar char="•"/>
            </a:pPr>
            <a:r>
              <a:rPr lang="en-AU" sz="1200" kern="1200" dirty="0" smtClean="0">
                <a:solidFill>
                  <a:schemeClr val="tx1"/>
                </a:solidFill>
                <a:ea typeface="+mn-ea"/>
                <a:cs typeface="+mn-cs"/>
              </a:rPr>
              <a:t> Give the VIP managers/handlers the opportunity to refuse/reject certain people they deem inappropriate or a security risk</a:t>
            </a:r>
          </a:p>
          <a:p>
            <a:pPr>
              <a:buFont typeface="Arial" pitchFamily="34" charset="0"/>
              <a:buChar char="•"/>
            </a:pPr>
            <a:r>
              <a:rPr lang="en-AU" sz="1200" kern="1200" dirty="0" smtClean="0">
                <a:solidFill>
                  <a:schemeClr val="tx1"/>
                </a:solidFill>
                <a:ea typeface="+mn-ea"/>
                <a:cs typeface="+mn-cs"/>
              </a:rPr>
              <a:t> Help generate the list of people who need to be included for visit-related:</a:t>
            </a:r>
          </a:p>
          <a:p>
            <a:pPr lvl="1">
              <a:buFont typeface="Arial" pitchFamily="34" charset="0"/>
              <a:buChar char="•"/>
            </a:pPr>
            <a:r>
              <a:rPr lang="en-AU" sz="1200" kern="1200" dirty="0" smtClean="0">
                <a:solidFill>
                  <a:schemeClr val="tx1"/>
                </a:solidFill>
                <a:ea typeface="+mn-ea"/>
                <a:cs typeface="+mn-cs"/>
              </a:rPr>
              <a:t> Training</a:t>
            </a:r>
          </a:p>
          <a:p>
            <a:pPr lvl="1">
              <a:buFont typeface="Arial" pitchFamily="34" charset="0"/>
              <a:buChar char="•"/>
            </a:pPr>
            <a:r>
              <a:rPr lang="en-AU" sz="1200" kern="1200" dirty="0" smtClean="0">
                <a:solidFill>
                  <a:schemeClr val="tx1"/>
                </a:solidFill>
                <a:ea typeface="+mn-ea"/>
                <a:cs typeface="+mn-cs"/>
              </a:rPr>
              <a:t> Briefings</a:t>
            </a:r>
          </a:p>
          <a:p>
            <a:pPr lvl="1">
              <a:buFont typeface="Arial" pitchFamily="34" charset="0"/>
              <a:buChar char="•"/>
            </a:pPr>
            <a:r>
              <a:rPr lang="en-AU" sz="1200" kern="1200" dirty="0" smtClean="0">
                <a:solidFill>
                  <a:schemeClr val="tx1"/>
                </a:solidFill>
                <a:ea typeface="+mn-ea"/>
                <a:cs typeface="+mn-cs"/>
              </a:rPr>
              <a:t> Distribution Lists.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4981826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identifies roles and responsibilities may relate to the following:</a:t>
            </a:r>
          </a:p>
          <a:p>
            <a:pPr>
              <a:buFont typeface="Arial" pitchFamily="34" charset="0"/>
              <a:buChar char="•"/>
            </a:pPr>
            <a:r>
              <a:rPr lang="en-AU" sz="1200" kern="1200" dirty="0" smtClean="0">
                <a:solidFill>
                  <a:schemeClr val="tx1"/>
                </a:solidFill>
                <a:ea typeface="+mn-ea"/>
                <a:cs typeface="+mn-cs"/>
              </a:rPr>
              <a:t> Chefs and kitchen staff</a:t>
            </a:r>
          </a:p>
          <a:p>
            <a:pPr>
              <a:buFont typeface="Arial" pitchFamily="34" charset="0"/>
              <a:buChar char="•"/>
            </a:pPr>
            <a:r>
              <a:rPr lang="en-AU" sz="1200" kern="1200" dirty="0" smtClean="0">
                <a:solidFill>
                  <a:schemeClr val="tx1"/>
                </a:solidFill>
                <a:ea typeface="+mn-ea"/>
                <a:cs typeface="+mn-cs"/>
              </a:rPr>
              <a:t> Venue security</a:t>
            </a:r>
          </a:p>
          <a:p>
            <a:pPr>
              <a:buFont typeface="Arial" pitchFamily="34" charset="0"/>
              <a:buChar char="•"/>
            </a:pPr>
            <a:r>
              <a:rPr lang="en-AU" sz="1200" kern="1200" dirty="0" smtClean="0">
                <a:solidFill>
                  <a:schemeClr val="tx1"/>
                </a:solidFill>
                <a:ea typeface="+mn-ea"/>
                <a:cs typeface="+mn-cs"/>
              </a:rPr>
              <a:t> Room attendants</a:t>
            </a:r>
          </a:p>
          <a:p>
            <a:pPr>
              <a:buFont typeface="Arial" pitchFamily="34" charset="0"/>
              <a:buChar char="•"/>
            </a:pPr>
            <a:r>
              <a:rPr lang="en-AU" sz="1200" kern="1200" dirty="0" smtClean="0">
                <a:solidFill>
                  <a:schemeClr val="tx1"/>
                </a:solidFill>
                <a:ea typeface="+mn-ea"/>
                <a:cs typeface="+mn-cs"/>
              </a:rPr>
              <a:t> Valets and butlers</a:t>
            </a:r>
          </a:p>
          <a:p>
            <a:pPr>
              <a:buFont typeface="Arial" pitchFamily="34" charset="0"/>
              <a:buChar char="•"/>
            </a:pPr>
            <a:r>
              <a:rPr lang="en-AU" sz="1200" kern="1200" dirty="0" smtClean="0">
                <a:solidFill>
                  <a:schemeClr val="tx1"/>
                </a:solidFill>
                <a:ea typeface="+mn-ea"/>
                <a:cs typeface="+mn-cs"/>
              </a:rPr>
              <a:t> Drivers</a:t>
            </a:r>
          </a:p>
          <a:p>
            <a:pPr>
              <a:buFont typeface="Arial" pitchFamily="34" charset="0"/>
              <a:buChar char="•"/>
            </a:pPr>
            <a:r>
              <a:rPr lang="en-AU" sz="1200" kern="1200" dirty="0" smtClean="0">
                <a:solidFill>
                  <a:schemeClr val="tx1"/>
                </a:solidFill>
                <a:ea typeface="+mn-ea"/>
                <a:cs typeface="+mn-cs"/>
              </a:rPr>
              <a:t> Personal assistants </a:t>
            </a:r>
          </a:p>
          <a:p>
            <a:pPr>
              <a:buFont typeface="Arial" pitchFamily="34" charset="0"/>
              <a:buChar char="•"/>
            </a:pPr>
            <a:r>
              <a:rPr lang="en-AU" sz="1200" kern="1200" dirty="0" smtClean="0">
                <a:solidFill>
                  <a:schemeClr val="tx1"/>
                </a:solidFill>
                <a:ea typeface="+mn-ea"/>
                <a:cs typeface="+mn-cs"/>
              </a:rPr>
              <a:t> Room service staff</a:t>
            </a:r>
          </a:p>
          <a:p>
            <a:pPr>
              <a:buFont typeface="Arial" pitchFamily="34" charset="0"/>
              <a:buChar char="•"/>
            </a:pPr>
            <a:r>
              <a:rPr lang="en-AU" sz="1200" kern="1200" dirty="0" smtClean="0">
                <a:solidFill>
                  <a:schemeClr val="tx1"/>
                </a:solidFill>
                <a:ea typeface="+mn-ea"/>
                <a:cs typeface="+mn-cs"/>
              </a:rPr>
              <a:t> Local guides</a:t>
            </a:r>
          </a:p>
          <a:p>
            <a:pPr>
              <a:buFont typeface="Arial" pitchFamily="34" charset="0"/>
              <a:buChar char="•"/>
            </a:pPr>
            <a:r>
              <a:rPr lang="en-AU" sz="1200" kern="1200" dirty="0" smtClean="0">
                <a:solidFill>
                  <a:schemeClr val="tx1"/>
                </a:solidFill>
                <a:ea typeface="+mn-ea"/>
                <a:cs typeface="+mn-cs"/>
              </a:rPr>
              <a:t> Managers of Front Office, Housekeeping, F&amp;B, Kitchen and Security.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41872595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need for communication to be included in safety plans stating:</a:t>
            </a:r>
          </a:p>
          <a:p>
            <a:r>
              <a:rPr lang="en-AU" sz="1200" kern="1200" dirty="0" smtClean="0">
                <a:solidFill>
                  <a:schemeClr val="tx1"/>
                </a:solidFill>
                <a:ea typeface="+mn-ea"/>
                <a:cs typeface="+mn-cs"/>
              </a:rPr>
              <a:t>An effective communication must be agreed between all stakeholders.</a:t>
            </a:r>
          </a:p>
          <a:p>
            <a:pPr>
              <a:buFont typeface="Arial" pitchFamily="34" charset="0"/>
              <a:buChar char="•"/>
            </a:pPr>
            <a:r>
              <a:rPr lang="en-AU" sz="1200" kern="1200" dirty="0" smtClean="0">
                <a:solidFill>
                  <a:schemeClr val="tx1"/>
                </a:solidFill>
                <a:ea typeface="+mn-ea"/>
                <a:cs typeface="+mn-cs"/>
              </a:rPr>
              <a:t> This communication plan must be developed and cannot be left to chance</a:t>
            </a:r>
          </a:p>
          <a:p>
            <a:pPr>
              <a:buFont typeface="Arial" pitchFamily="34" charset="0"/>
              <a:buChar char="•"/>
            </a:pPr>
            <a:r>
              <a:rPr lang="en-AU" sz="1200" kern="1200" dirty="0" smtClean="0">
                <a:solidFill>
                  <a:schemeClr val="tx1"/>
                </a:solidFill>
                <a:ea typeface="+mn-ea"/>
                <a:cs typeface="+mn-cs"/>
              </a:rPr>
              <a:t> Issues to be addressed when developing a communication strategy in this content include:</a:t>
            </a:r>
          </a:p>
          <a:p>
            <a:pPr lvl="1">
              <a:buFont typeface="Arial" pitchFamily="34" charset="0"/>
              <a:buChar char="•"/>
            </a:pPr>
            <a:r>
              <a:rPr lang="en-AU" sz="1200" kern="1200" dirty="0" smtClean="0">
                <a:solidFill>
                  <a:schemeClr val="tx1"/>
                </a:solidFill>
                <a:ea typeface="+mn-ea"/>
                <a:cs typeface="+mn-cs"/>
              </a:rPr>
              <a:t> Dates, times and locations for regular/scheduled face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face meetings including list of persons to attend. These meetings/briefings include pre-arrival and during stay events</a:t>
            </a:r>
          </a:p>
          <a:p>
            <a:pPr lvl="1">
              <a:buFont typeface="Arial" pitchFamily="34" charset="0"/>
              <a:buChar char="•"/>
            </a:pPr>
            <a:r>
              <a:rPr lang="en-AU" sz="1200" kern="1200" dirty="0" smtClean="0">
                <a:solidFill>
                  <a:schemeClr val="tx1"/>
                </a:solidFill>
                <a:ea typeface="+mn-ea"/>
                <a:cs typeface="+mn-cs"/>
              </a:rPr>
              <a:t> Daily briefings during the stay/visit.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are usually conducted:</a:t>
            </a:r>
          </a:p>
          <a:p>
            <a:pPr lvl="2">
              <a:buFont typeface="Arial" pitchFamily="34" charset="0"/>
              <a:buChar char="•"/>
            </a:pPr>
            <a:r>
              <a:rPr lang="en-AU" sz="1200" kern="1200" dirty="0" smtClean="0">
                <a:solidFill>
                  <a:schemeClr val="tx1"/>
                </a:solidFill>
                <a:ea typeface="+mn-ea"/>
                <a:cs typeface="+mn-cs"/>
              </a:rPr>
              <a:t> At start of each day – early in the morning</a:t>
            </a:r>
          </a:p>
          <a:p>
            <a:pPr lvl="2">
              <a:buFont typeface="Arial" pitchFamily="34" charset="0"/>
              <a:buChar char="•"/>
            </a:pPr>
            <a:r>
              <a:rPr lang="en-AU" sz="1200" kern="1200" dirty="0" smtClean="0">
                <a:solidFill>
                  <a:schemeClr val="tx1"/>
                </a:solidFill>
                <a:ea typeface="+mn-ea"/>
                <a:cs typeface="+mn-cs"/>
              </a:rPr>
              <a:t> During the day – often when the VIP is having lunch</a:t>
            </a:r>
          </a:p>
          <a:p>
            <a:pPr lvl="2">
              <a:buFont typeface="Arial" pitchFamily="34" charset="0"/>
              <a:buChar char="•"/>
            </a:pPr>
            <a:r>
              <a:rPr lang="en-AU" sz="1200" kern="1200" dirty="0" smtClean="0">
                <a:solidFill>
                  <a:schemeClr val="tx1"/>
                </a:solidFill>
                <a:ea typeface="+mn-ea"/>
                <a:cs typeface="+mn-cs"/>
              </a:rPr>
              <a:t> At end of day</a:t>
            </a:r>
          </a:p>
          <a:p>
            <a:pPr lvl="1">
              <a:buFont typeface="Arial" pitchFamily="34" charset="0"/>
              <a:buChar char="•"/>
            </a:pPr>
            <a:r>
              <a:rPr lang="en-AU" sz="1200" kern="1200" dirty="0" smtClean="0">
                <a:solidFill>
                  <a:schemeClr val="tx1"/>
                </a:solidFill>
                <a:ea typeface="+mn-ea"/>
                <a:cs typeface="+mn-cs"/>
              </a:rPr>
              <a:t> Method of communication to be used.</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will address:</a:t>
            </a:r>
          </a:p>
          <a:p>
            <a:pPr lvl="2">
              <a:buFont typeface="Arial" pitchFamily="34" charset="0"/>
              <a:buChar char="•"/>
            </a:pPr>
            <a:r>
              <a:rPr lang="en-AU" sz="1200" kern="1200" dirty="0" smtClean="0">
                <a:solidFill>
                  <a:schemeClr val="tx1"/>
                </a:solidFill>
                <a:ea typeface="+mn-ea"/>
                <a:cs typeface="+mn-cs"/>
              </a:rPr>
              <a:t> Preferred methods of communication by others</a:t>
            </a:r>
          </a:p>
          <a:p>
            <a:pPr lvl="2">
              <a:buFont typeface="Arial" pitchFamily="34" charset="0"/>
              <a:buChar char="•"/>
            </a:pPr>
            <a:r>
              <a:rPr lang="en-AU" sz="1200" kern="1200" dirty="0" smtClean="0">
                <a:solidFill>
                  <a:schemeClr val="tx1"/>
                </a:solidFill>
                <a:ea typeface="+mn-ea"/>
                <a:cs typeface="+mn-cs"/>
              </a:rPr>
              <a:t> Contact numbers</a:t>
            </a:r>
          </a:p>
          <a:p>
            <a:pPr lvl="2">
              <a:buFont typeface="Arial" pitchFamily="34" charset="0"/>
              <a:buChar char="•"/>
            </a:pPr>
            <a:r>
              <a:rPr lang="en-AU" sz="1200" kern="1200" dirty="0" smtClean="0">
                <a:solidFill>
                  <a:schemeClr val="tx1"/>
                </a:solidFill>
                <a:ea typeface="+mn-ea"/>
                <a:cs typeface="+mn-cs"/>
              </a:rPr>
              <a:t> Second-option methods to use, for example, where the preferred method is unavailable/inoperative</a:t>
            </a:r>
          </a:p>
          <a:p>
            <a:pPr lvl="1">
              <a:buFont typeface="Arial" pitchFamily="34" charset="0"/>
              <a:buChar char="•"/>
            </a:pPr>
            <a:r>
              <a:rPr lang="en-AU" sz="1200" kern="1200" dirty="0" smtClean="0">
                <a:solidFill>
                  <a:schemeClr val="tx1"/>
                </a:solidFill>
                <a:ea typeface="+mn-ea"/>
                <a:cs typeface="+mn-cs"/>
              </a:rPr>
              <a:t> Communication protocols for use where radio communications are to be used.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5354361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a:t>
            </a:r>
            <a:r>
              <a:rPr lang="en-AU" baseline="0" noProof="0" dirty="0" smtClean="0"/>
              <a:t> discusses control action to be included in safety plans which must address:</a:t>
            </a:r>
          </a:p>
          <a:p>
            <a:pPr>
              <a:buFont typeface="Arial" pitchFamily="34" charset="0"/>
              <a:buChar char="•"/>
            </a:pPr>
            <a:r>
              <a:rPr lang="en-AU" sz="1200" kern="1200" dirty="0" smtClean="0">
                <a:solidFill>
                  <a:schemeClr val="tx1"/>
                </a:solidFill>
                <a:ea typeface="+mn-ea"/>
                <a:cs typeface="+mn-cs"/>
              </a:rPr>
              <a:t> Controlling ingress and egress including:</a:t>
            </a:r>
          </a:p>
          <a:p>
            <a:pPr lvl="1">
              <a:buFont typeface="Arial" pitchFamily="34" charset="0"/>
              <a:buChar char="•"/>
            </a:pPr>
            <a:r>
              <a:rPr lang="en-AU" sz="1200" kern="1200" dirty="0" smtClean="0">
                <a:solidFill>
                  <a:schemeClr val="tx1"/>
                </a:solidFill>
                <a:ea typeface="+mn-ea"/>
                <a:cs typeface="+mn-cs"/>
              </a:rPr>
              <a:t> Identification of restricted and ‘no-go’ zones </a:t>
            </a:r>
          </a:p>
          <a:p>
            <a:pPr lvl="1">
              <a:buFont typeface="Arial" pitchFamily="34" charset="0"/>
              <a:buChar char="•"/>
            </a:pPr>
            <a:r>
              <a:rPr lang="en-AU" sz="1200" kern="1200" dirty="0" smtClean="0">
                <a:solidFill>
                  <a:schemeClr val="tx1"/>
                </a:solidFill>
                <a:ea typeface="+mn-ea"/>
                <a:cs typeface="+mn-cs"/>
              </a:rPr>
              <a:t> Determination of rear</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of</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premises access </a:t>
            </a:r>
          </a:p>
          <a:p>
            <a:pPr lvl="1">
              <a:buFont typeface="Arial" pitchFamily="34" charset="0"/>
              <a:buChar char="•"/>
            </a:pPr>
            <a:r>
              <a:rPr lang="en-AU" sz="1200" kern="1200" dirty="0" smtClean="0">
                <a:solidFill>
                  <a:schemeClr val="tx1"/>
                </a:solidFill>
                <a:ea typeface="+mn-ea"/>
                <a:cs typeface="+mn-cs"/>
              </a:rPr>
              <a:t> Staffing of doors </a:t>
            </a:r>
          </a:p>
          <a:p>
            <a:pPr lvl="1">
              <a:buFont typeface="Arial" pitchFamily="34" charset="0"/>
              <a:buChar char="•"/>
            </a:pPr>
            <a:r>
              <a:rPr lang="en-AU" sz="1200" kern="1200" dirty="0" smtClean="0">
                <a:solidFill>
                  <a:schemeClr val="tx1"/>
                </a:solidFill>
                <a:ea typeface="+mn-ea"/>
                <a:cs typeface="+mn-cs"/>
              </a:rPr>
              <a:t> Restricting movement of members of the public and unauthorised persons with reference to closing/locking doors, erecting barricades, keying off elevators and placement of re-direction signage</a:t>
            </a:r>
          </a:p>
          <a:p>
            <a:pPr lvl="1">
              <a:buFont typeface="Arial" pitchFamily="34" charset="0"/>
              <a:buChar char="•"/>
            </a:pPr>
            <a:r>
              <a:rPr lang="en-AU" sz="1200" kern="1200" dirty="0" smtClean="0">
                <a:solidFill>
                  <a:schemeClr val="tx1"/>
                </a:solidFill>
                <a:ea typeface="+mn-ea"/>
                <a:cs typeface="+mn-cs"/>
              </a:rPr>
              <a:t> Floor lock-downs</a:t>
            </a:r>
          </a:p>
          <a:p>
            <a:pPr>
              <a:buFont typeface="Arial" pitchFamily="34" charset="0"/>
              <a:buChar char="•"/>
            </a:pPr>
            <a:r>
              <a:rPr lang="en-AU" sz="1200" kern="1200" dirty="0" smtClean="0">
                <a:solidFill>
                  <a:schemeClr val="tx1"/>
                </a:solidFill>
                <a:ea typeface="+mn-ea"/>
                <a:cs typeface="+mn-cs"/>
              </a:rPr>
              <a:t> Security protocols such as:</a:t>
            </a:r>
          </a:p>
          <a:p>
            <a:pPr lvl="1">
              <a:buFont typeface="Arial" pitchFamily="34" charset="0"/>
              <a:buChar char="•"/>
            </a:pPr>
            <a:r>
              <a:rPr lang="en-AU" sz="1200" kern="1200" dirty="0" smtClean="0">
                <a:solidFill>
                  <a:schemeClr val="tx1"/>
                </a:solidFill>
                <a:ea typeface="+mn-ea"/>
                <a:cs typeface="+mn-cs"/>
              </a:rPr>
              <a:t> Identification and tagging of authorised personnel including security checks of same</a:t>
            </a:r>
          </a:p>
          <a:p>
            <a:pPr lvl="1">
              <a:buFont typeface="Arial" pitchFamily="34" charset="0"/>
              <a:buChar char="•"/>
            </a:pPr>
            <a:r>
              <a:rPr lang="en-AU" sz="1200" kern="1200" dirty="0" smtClean="0">
                <a:solidFill>
                  <a:schemeClr val="tx1"/>
                </a:solidFill>
                <a:ea typeface="+mn-ea"/>
                <a:cs typeface="+mn-cs"/>
              </a:rPr>
              <a:t> Identification of appropriate uniforms and equipment for security staff.</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here can often be an issue here regarding the carrying of concealed and other weapons which will need to be resolved in consultation with local police and/or government agencies</a:t>
            </a:r>
          </a:p>
          <a:p>
            <a:pPr lvl="1">
              <a:buFont typeface="Arial" pitchFamily="34" charset="0"/>
              <a:buChar char="•"/>
            </a:pPr>
            <a:r>
              <a:rPr lang="en-AU" sz="1200" kern="1200" dirty="0" smtClean="0">
                <a:solidFill>
                  <a:schemeClr val="tx1"/>
                </a:solidFill>
                <a:ea typeface="+mn-ea"/>
                <a:cs typeface="+mn-cs"/>
              </a:rPr>
              <a:t> Screening of:</a:t>
            </a:r>
          </a:p>
          <a:p>
            <a:pPr lvl="2">
              <a:buFont typeface="Arial" pitchFamily="34" charset="0"/>
              <a:buChar char="•"/>
            </a:pPr>
            <a:r>
              <a:rPr lang="en-AU" sz="1200" kern="1200" dirty="0" smtClean="0">
                <a:solidFill>
                  <a:schemeClr val="tx1"/>
                </a:solidFill>
                <a:ea typeface="+mn-ea"/>
                <a:cs typeface="+mn-cs"/>
              </a:rPr>
              <a:t> Mail, email, telephone calls</a:t>
            </a:r>
          </a:p>
          <a:p>
            <a:pPr lvl="1">
              <a:buFont typeface="Arial" pitchFamily="34" charset="0"/>
              <a:buChar char="•"/>
            </a:pPr>
            <a:r>
              <a:rPr lang="en-AU" sz="1200" kern="1200" dirty="0" smtClean="0">
                <a:solidFill>
                  <a:schemeClr val="tx1"/>
                </a:solidFill>
                <a:ea typeface="+mn-ea"/>
                <a:cs typeface="+mn-cs"/>
              </a:rPr>
              <a:t> Use of detection equipment and technology (X-ray devices and scanners/wands) in relation to:</a:t>
            </a:r>
          </a:p>
          <a:p>
            <a:pPr lvl="2">
              <a:buFont typeface="Arial" pitchFamily="34" charset="0"/>
              <a:buChar char="•"/>
            </a:pPr>
            <a:r>
              <a:rPr lang="en-AU" sz="1200" kern="1200" dirty="0" smtClean="0">
                <a:solidFill>
                  <a:schemeClr val="tx1"/>
                </a:solidFill>
                <a:ea typeface="+mn-ea"/>
                <a:cs typeface="+mn-cs"/>
              </a:rPr>
              <a:t> Visitors; Luggage; Parcels; Flowers; Gifts; Vehicles.</a:t>
            </a:r>
          </a:p>
          <a:p>
            <a:pPr>
              <a:buFont typeface="Arial" pitchFamily="34" charset="0"/>
              <a:buChar char="•"/>
            </a:pPr>
            <a:r>
              <a:rPr lang="en-AU" baseline="0" noProof="0" dirty="0" smtClean="0"/>
              <a:t> Emergency and evacuation procedures based on venue Emergency Management Plans modified as required to meet need of the VIP visit.</a:t>
            </a:r>
          </a:p>
          <a:p>
            <a:pPr>
              <a:buFont typeface="Arial" pitchFamily="34" charset="0"/>
              <a:buNone/>
            </a:pPr>
            <a:endParaRPr lang="en-AU" noProof="0" dirty="0" smtClean="0"/>
          </a:p>
          <a:p>
            <a:pPr>
              <a:buFont typeface="Arial" pitchFamily="34" charset="0"/>
              <a:buNone/>
            </a:pPr>
            <a:r>
              <a:rPr lang="en-AU" b="1" noProof="0" dirty="0" smtClean="0"/>
              <a:t>Class Activity – Handouts</a:t>
            </a:r>
          </a:p>
          <a:p>
            <a:pPr>
              <a:buFont typeface="Arial" pitchFamily="34" charset="0"/>
              <a:buNone/>
            </a:pPr>
            <a:r>
              <a:rPr lang="en-AU" b="0" noProof="0" dirty="0" smtClean="0"/>
              <a:t>Trainer distributes and discusses examples of safety plans:</a:t>
            </a:r>
          </a:p>
          <a:p>
            <a:pPr>
              <a:buFont typeface="Arial" pitchFamily="34" charset="0"/>
              <a:buChar char="•"/>
            </a:pPr>
            <a:r>
              <a:rPr lang="en-AU" b="0" noProof="0" dirty="0" smtClean="0"/>
              <a:t> Control action</a:t>
            </a:r>
          </a:p>
          <a:p>
            <a:pPr>
              <a:buFont typeface="Arial" pitchFamily="34" charset="0"/>
              <a:buChar char="•"/>
            </a:pPr>
            <a:r>
              <a:rPr lang="en-AU" b="0" noProof="0" dirty="0" smtClean="0"/>
              <a:t> Emergency procedures</a:t>
            </a:r>
          </a:p>
          <a:p>
            <a:pPr>
              <a:buFont typeface="Arial" pitchFamily="34" charset="0"/>
              <a:buChar char="•"/>
            </a:pPr>
            <a:r>
              <a:rPr lang="en-AU" b="0" noProof="0" dirty="0" smtClean="0"/>
              <a:t> Evacuation plans and procedures.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838468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a:t>
            </a:r>
            <a:r>
              <a:rPr lang="en-AU" baseline="0" noProof="0" dirty="0" smtClean="0"/>
              <a:t> discusses inclusion/role of insurance in relation to safety plans highlighting:</a:t>
            </a:r>
          </a:p>
          <a:p>
            <a:pPr>
              <a:buFont typeface="Arial" pitchFamily="34" charset="0"/>
              <a:buChar char="•"/>
            </a:pPr>
            <a:r>
              <a:rPr lang="en-AU" sz="1200" kern="1200" dirty="0" smtClean="0">
                <a:solidFill>
                  <a:schemeClr val="tx1"/>
                </a:solidFill>
                <a:ea typeface="+mn-ea"/>
                <a:cs typeface="+mn-cs"/>
              </a:rPr>
              <a:t> Liaise with management of the venue to determine their requirements in this regard</a:t>
            </a:r>
          </a:p>
          <a:p>
            <a:pPr>
              <a:buFont typeface="Arial" pitchFamily="34" charset="0"/>
              <a:buChar char="•"/>
            </a:pPr>
            <a:r>
              <a:rPr lang="en-AU" sz="1200" kern="1200" dirty="0" smtClean="0">
                <a:solidFill>
                  <a:schemeClr val="tx1"/>
                </a:solidFill>
                <a:ea typeface="+mn-ea"/>
                <a:cs typeface="+mn-cs"/>
              </a:rPr>
              <a:t> Read any existing insurance policies held by the venue to identify the coverage they provide</a:t>
            </a:r>
          </a:p>
          <a:p>
            <a:pPr>
              <a:buFont typeface="Arial" pitchFamily="34" charset="0"/>
              <a:buChar char="•"/>
            </a:pPr>
            <a:r>
              <a:rPr lang="en-AU" sz="1200" kern="1200" dirty="0" smtClean="0">
                <a:solidFill>
                  <a:schemeClr val="tx1"/>
                </a:solidFill>
                <a:ea typeface="+mn-ea"/>
                <a:cs typeface="+mn-cs"/>
              </a:rPr>
              <a:t> Determine if extra coverage or additional policies are required to meet the requirements of the VIP visit</a:t>
            </a:r>
          </a:p>
          <a:p>
            <a:pPr>
              <a:buFont typeface="Arial" pitchFamily="34" charset="0"/>
              <a:buChar char="•"/>
            </a:pPr>
            <a:r>
              <a:rPr lang="en-AU" sz="1200" kern="1200" dirty="0" smtClean="0">
                <a:solidFill>
                  <a:schemeClr val="tx1"/>
                </a:solidFill>
                <a:ea typeface="+mn-ea"/>
                <a:cs typeface="+mn-cs"/>
              </a:rPr>
              <a:t> Meet with insurers to:</a:t>
            </a:r>
          </a:p>
          <a:p>
            <a:pPr lvl="1">
              <a:buFont typeface="Arial" pitchFamily="34" charset="0"/>
              <a:buChar char="•"/>
            </a:pPr>
            <a:r>
              <a:rPr lang="en-AU" sz="1200" kern="1200" dirty="0" smtClean="0">
                <a:solidFill>
                  <a:schemeClr val="tx1"/>
                </a:solidFill>
                <a:ea typeface="+mn-ea"/>
                <a:cs typeface="+mn-cs"/>
              </a:rPr>
              <a:t> Discuss coverage available</a:t>
            </a:r>
          </a:p>
          <a:p>
            <a:pPr lvl="1">
              <a:buFont typeface="Arial" pitchFamily="34" charset="0"/>
              <a:buChar char="•"/>
            </a:pPr>
            <a:r>
              <a:rPr lang="en-AU" sz="1200" kern="1200" dirty="0" smtClean="0">
                <a:solidFill>
                  <a:schemeClr val="tx1"/>
                </a:solidFill>
                <a:ea typeface="+mn-ea"/>
                <a:cs typeface="+mn-cs"/>
              </a:rPr>
              <a:t> Fully disclose all matters relevant to the situation and the coverage required</a:t>
            </a:r>
          </a:p>
          <a:p>
            <a:pPr lvl="1">
              <a:buFont typeface="Arial" pitchFamily="34" charset="0"/>
              <a:buChar char="•"/>
            </a:pPr>
            <a:r>
              <a:rPr lang="en-AU" sz="1200" kern="1200" dirty="0" smtClean="0">
                <a:solidFill>
                  <a:schemeClr val="tx1"/>
                </a:solidFill>
                <a:ea typeface="+mn-ea"/>
                <a:cs typeface="+mn-cs"/>
              </a:rPr>
              <a:t> Determine the policy which best suits your needs</a:t>
            </a:r>
          </a:p>
          <a:p>
            <a:pPr lvl="1">
              <a:buFont typeface="Arial" pitchFamily="34" charset="0"/>
              <a:buChar char="•"/>
            </a:pPr>
            <a:r>
              <a:rPr lang="en-AU" sz="1200" kern="1200" dirty="0" smtClean="0">
                <a:solidFill>
                  <a:schemeClr val="tx1"/>
                </a:solidFill>
                <a:ea typeface="+mn-ea"/>
                <a:cs typeface="+mn-cs"/>
              </a:rPr>
              <a:t> Identify any requirements they insist on as a pre-requisite for issuing a policy.</a:t>
            </a:r>
            <a:r>
              <a:rPr lang="en-AU" sz="1200" kern="1200" baseline="0" dirty="0" smtClean="0">
                <a:solidFill>
                  <a:schemeClr val="tx1"/>
                </a:solidFill>
                <a:ea typeface="+mn-ea"/>
                <a:cs typeface="+mn-cs"/>
              </a:rPr>
              <a:t> M</a:t>
            </a:r>
            <a:r>
              <a:rPr lang="en-AU" sz="1200" kern="1200" dirty="0" smtClean="0">
                <a:solidFill>
                  <a:schemeClr val="tx1"/>
                </a:solidFill>
                <a:ea typeface="+mn-ea"/>
                <a:cs typeface="+mn-cs"/>
              </a:rPr>
              <a:t>ost policies of this nature come with requirements such as ensuring standard precautions are taken, and specifying nominated security measures are put in place</a:t>
            </a:r>
          </a:p>
          <a:p>
            <a:pPr>
              <a:buFont typeface="Arial" pitchFamily="34" charset="0"/>
              <a:buChar char="•"/>
            </a:pPr>
            <a:r>
              <a:rPr lang="en-AU" sz="1200" kern="1200" dirty="0" smtClean="0">
                <a:solidFill>
                  <a:schemeClr val="tx1"/>
                </a:solidFill>
                <a:ea typeface="+mn-ea"/>
                <a:cs typeface="+mn-cs"/>
              </a:rPr>
              <a:t> Take out the necessary policies and obtain:</a:t>
            </a:r>
          </a:p>
          <a:p>
            <a:pPr lvl="1">
              <a:buFont typeface="Arial" pitchFamily="34" charset="0"/>
              <a:buChar char="•"/>
            </a:pPr>
            <a:r>
              <a:rPr lang="en-AU" sz="1200" kern="1200" dirty="0" smtClean="0">
                <a:solidFill>
                  <a:schemeClr val="tx1"/>
                </a:solidFill>
                <a:ea typeface="+mn-ea"/>
                <a:cs typeface="+mn-cs"/>
              </a:rPr>
              <a:t> A copy of the policy as it applies to the risk being covered stating:</a:t>
            </a:r>
          </a:p>
          <a:p>
            <a:pPr lvl="2">
              <a:buFont typeface="Arial" pitchFamily="34" charset="0"/>
              <a:buChar char="•"/>
            </a:pPr>
            <a:r>
              <a:rPr lang="en-AU" sz="1200" kern="1200" dirty="0" smtClean="0">
                <a:solidFill>
                  <a:schemeClr val="tx1"/>
                </a:solidFill>
                <a:ea typeface="+mn-ea"/>
                <a:cs typeface="+mn-cs"/>
              </a:rPr>
              <a:t> Details of the coverage</a:t>
            </a:r>
          </a:p>
          <a:p>
            <a:pPr lvl="2">
              <a:buFont typeface="Arial" pitchFamily="34" charset="0"/>
              <a:buChar char="•"/>
            </a:pPr>
            <a:r>
              <a:rPr lang="en-AU" sz="1200" kern="1200" dirty="0" smtClean="0">
                <a:solidFill>
                  <a:schemeClr val="tx1"/>
                </a:solidFill>
                <a:ea typeface="+mn-ea"/>
                <a:cs typeface="+mn-cs"/>
              </a:rPr>
              <a:t> Amount insured</a:t>
            </a:r>
          </a:p>
          <a:p>
            <a:pPr lvl="2">
              <a:buFont typeface="Arial" pitchFamily="34" charset="0"/>
              <a:buChar char="•"/>
            </a:pPr>
            <a:r>
              <a:rPr lang="en-AU" sz="1200" kern="1200" dirty="0" smtClean="0">
                <a:solidFill>
                  <a:schemeClr val="tx1"/>
                </a:solidFill>
                <a:ea typeface="+mn-ea"/>
                <a:cs typeface="+mn-cs"/>
              </a:rPr>
              <a:t> Relevant days, dates, times and other pertinent information which may include locations, pre-requisites for coverage, numbers of people </a:t>
            </a:r>
          </a:p>
          <a:p>
            <a:pPr lvl="1">
              <a:buFont typeface="Arial" pitchFamily="34" charset="0"/>
              <a:buChar char="•"/>
            </a:pPr>
            <a:r>
              <a:rPr lang="en-AU" sz="1200" kern="1200" dirty="0" smtClean="0">
                <a:solidFill>
                  <a:schemeClr val="tx1"/>
                </a:solidFill>
                <a:ea typeface="+mn-ea"/>
                <a:cs typeface="+mn-cs"/>
              </a:rPr>
              <a:t> A receipt proving the premium was paid.</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representative from local insurer to attend and:</a:t>
            </a:r>
          </a:p>
          <a:p>
            <a:pPr>
              <a:buFont typeface="Arial" pitchFamily="34" charset="0"/>
              <a:buChar char="•"/>
            </a:pPr>
            <a:r>
              <a:rPr lang="en-AU" b="0" noProof="0" dirty="0" smtClean="0"/>
              <a:t> Identify role of insurance </a:t>
            </a:r>
          </a:p>
          <a:p>
            <a:pPr>
              <a:buFont typeface="Arial" pitchFamily="34" charset="0"/>
              <a:buChar char="•"/>
            </a:pPr>
            <a:r>
              <a:rPr lang="en-AU" b="0" noProof="0" dirty="0" smtClean="0"/>
              <a:t> Explain premiums and policies</a:t>
            </a:r>
          </a:p>
          <a:p>
            <a:pPr>
              <a:buFont typeface="Arial" pitchFamily="34" charset="0"/>
              <a:buChar char="•"/>
            </a:pPr>
            <a:r>
              <a:rPr lang="en-AU" b="0" noProof="0" dirty="0" smtClean="0"/>
              <a:t> Provide sample policies</a:t>
            </a:r>
          </a:p>
          <a:p>
            <a:pPr>
              <a:buFont typeface="Arial" pitchFamily="34" charset="0"/>
              <a:buChar char="•"/>
            </a:pPr>
            <a:r>
              <a:rPr lang="en-AU" b="0" noProof="0" dirty="0" smtClean="0"/>
              <a:t> Discuss special arrangements for insurance to cover VIP visits including identification of exclusions/exemptions.</a:t>
            </a:r>
          </a:p>
          <a:p>
            <a:pPr>
              <a:buFont typeface="Arial" pitchFamily="34" charset="0"/>
              <a:buChar char="•"/>
            </a:pPr>
            <a:endParaRPr lang="en-AU" b="0" noProof="0" dirty="0" smtClean="0"/>
          </a:p>
          <a:p>
            <a:pPr>
              <a:buFont typeface="Arial" pitchFamily="34" charset="0"/>
              <a:buNone/>
            </a:pPr>
            <a:endParaRPr lang="en-AU" b="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7873815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a:t>
            </a:r>
            <a:r>
              <a:rPr lang="en-AU" baseline="0" noProof="0" dirty="0" smtClean="0"/>
              <a:t> explains all safety plans need to be adequately resourced and the following applies:</a:t>
            </a:r>
          </a:p>
          <a:p>
            <a:pPr>
              <a:buFont typeface="Arial" pitchFamily="34" charset="0"/>
              <a:buChar char="•"/>
            </a:pPr>
            <a:r>
              <a:rPr lang="en-AU" sz="1200" kern="1200" dirty="0" smtClean="0">
                <a:solidFill>
                  <a:schemeClr val="tx1"/>
                </a:solidFill>
                <a:ea typeface="+mn-ea"/>
                <a:cs typeface="+mn-cs"/>
              </a:rPr>
              <a:t> The plan must be used as the basis for determining the resources required</a:t>
            </a:r>
          </a:p>
          <a:p>
            <a:pPr lvl="1">
              <a:buFont typeface="Arial" pitchFamily="34" charset="0"/>
              <a:buChar char="•"/>
            </a:pPr>
            <a:r>
              <a:rPr lang="en-AU" sz="1200" kern="1200" dirty="0" smtClean="0">
                <a:solidFill>
                  <a:schemeClr val="tx1"/>
                </a:solidFill>
                <a:ea typeface="+mn-ea"/>
                <a:cs typeface="+mn-cs"/>
              </a:rPr>
              <a:t> Using the plan as the central reference point helps ensure:</a:t>
            </a:r>
          </a:p>
          <a:p>
            <a:pPr lvl="2">
              <a:buFont typeface="Arial" pitchFamily="34" charset="0"/>
              <a:buChar char="•"/>
            </a:pPr>
            <a:r>
              <a:rPr lang="en-AU" sz="1200" kern="1200" dirty="0" smtClean="0">
                <a:solidFill>
                  <a:schemeClr val="tx1"/>
                </a:solidFill>
                <a:ea typeface="+mn-ea"/>
                <a:cs typeface="+mn-cs"/>
              </a:rPr>
              <a:t> All requirements of the plan are met</a:t>
            </a:r>
          </a:p>
          <a:p>
            <a:pPr lvl="2">
              <a:buFont typeface="Arial" pitchFamily="34" charset="0"/>
              <a:buChar char="•"/>
            </a:pPr>
            <a:r>
              <a:rPr lang="en-AU" sz="1200" kern="1200" dirty="0" smtClean="0">
                <a:solidFill>
                  <a:schemeClr val="tx1"/>
                </a:solidFill>
                <a:ea typeface="+mn-ea"/>
                <a:cs typeface="+mn-cs"/>
              </a:rPr>
              <a:t> No irrelevant/excess materials or items are purchased </a:t>
            </a:r>
          </a:p>
          <a:p>
            <a:pPr>
              <a:buFont typeface="Arial" pitchFamily="34" charset="0"/>
              <a:buChar char="•"/>
            </a:pPr>
            <a:r>
              <a:rPr lang="en-AU" sz="1200" kern="1200" dirty="0" smtClean="0">
                <a:solidFill>
                  <a:schemeClr val="tx1"/>
                </a:solidFill>
                <a:ea typeface="+mn-ea"/>
                <a:cs typeface="+mn-cs"/>
              </a:rPr>
              <a:t> Resources necessary to implement the plan must be obtained unless an alternative strategy can be developed which (a) achieves the original outcome, and (b) is approved by the client/VIP</a:t>
            </a:r>
          </a:p>
          <a:p>
            <a:pPr lvl="1">
              <a:buFont typeface="Arial" pitchFamily="34" charset="0"/>
              <a:buChar char="•"/>
            </a:pPr>
            <a:r>
              <a:rPr lang="en-AU" sz="1200" kern="1200" dirty="0" smtClean="0">
                <a:solidFill>
                  <a:schemeClr val="tx1"/>
                </a:solidFill>
                <a:ea typeface="+mn-ea"/>
                <a:cs typeface="+mn-cs"/>
              </a:rPr>
              <a:t> It is never acceptable to compromise the safety/security of a VIP by failing to provide the necessary resources</a:t>
            </a:r>
          </a:p>
          <a:p>
            <a:pPr>
              <a:buFont typeface="Arial" pitchFamily="34" charset="0"/>
              <a:buChar char="•"/>
            </a:pPr>
            <a:r>
              <a:rPr lang="en-AU" sz="1200" kern="1200" dirty="0" smtClean="0">
                <a:solidFill>
                  <a:schemeClr val="tx1"/>
                </a:solidFill>
                <a:ea typeface="+mn-ea"/>
                <a:cs typeface="+mn-cs"/>
              </a:rPr>
              <a:t> Resources can include five generic classifications – see below</a:t>
            </a:r>
          </a:p>
          <a:p>
            <a:pPr>
              <a:buFont typeface="Arial" pitchFamily="34" charset="0"/>
              <a:buChar char="•"/>
            </a:pPr>
            <a:r>
              <a:rPr lang="en-AU" sz="1200" kern="1200" dirty="0" smtClean="0">
                <a:solidFill>
                  <a:schemeClr val="tx1"/>
                </a:solidFill>
                <a:ea typeface="+mn-ea"/>
                <a:cs typeface="+mn-cs"/>
              </a:rPr>
              <a:t> The list of resources required is likely to change with every different VIP stay.</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ome (perhaps </a:t>
            </a:r>
            <a:r>
              <a:rPr lang="en-AU" sz="1200" i="1" kern="1200" dirty="0" smtClean="0">
                <a:solidFill>
                  <a:schemeClr val="tx1"/>
                </a:solidFill>
                <a:ea typeface="+mn-ea"/>
                <a:cs typeface="+mn-cs"/>
              </a:rPr>
              <a:t>many</a:t>
            </a:r>
            <a:r>
              <a:rPr lang="en-AU" sz="1200" kern="1200" dirty="0" smtClean="0">
                <a:solidFill>
                  <a:schemeClr val="tx1"/>
                </a:solidFill>
                <a:ea typeface="+mn-ea"/>
                <a:cs typeface="+mn-cs"/>
              </a:rPr>
              <a:t>) required resources can remain fairly constant but there is always the potential for individual VIPs to have unique resource requirements</a:t>
            </a:r>
          </a:p>
          <a:p>
            <a:pPr lvl="1">
              <a:buFont typeface="Arial" pitchFamily="34" charset="0"/>
              <a:buChar char="•"/>
            </a:pPr>
            <a:r>
              <a:rPr lang="en-AU" sz="1200" kern="1200" dirty="0" smtClean="0">
                <a:solidFill>
                  <a:schemeClr val="tx1"/>
                </a:solidFill>
                <a:ea typeface="+mn-ea"/>
                <a:cs typeface="+mn-cs"/>
              </a:rPr>
              <a:t> The key is to address identified resource needs rather than try to force your existing/limited resources to match and effectively address identified need.</a:t>
            </a:r>
          </a:p>
          <a:p>
            <a:pPr>
              <a:buFont typeface="Arial" pitchFamily="34" charset="0"/>
              <a:buNone/>
            </a:pPr>
            <a:endParaRPr lang="en-AU" noProof="0" dirty="0" smtClean="0"/>
          </a:p>
          <a:p>
            <a:pPr>
              <a:buFont typeface="Arial" pitchFamily="34" charset="0"/>
              <a:buNone/>
            </a:pPr>
            <a:r>
              <a:rPr lang="en-AU" b="1" noProof="0" dirty="0" smtClean="0"/>
              <a:t>Class Activity – Question and Answer</a:t>
            </a:r>
          </a:p>
          <a:p>
            <a:pPr>
              <a:buFont typeface="Arial" pitchFamily="34" charset="0"/>
              <a:buNone/>
            </a:pPr>
            <a:r>
              <a:rPr lang="en-AU" b="0" noProof="0" dirty="0" smtClean="0"/>
              <a:t>Trainer asks students to identify the five generic classifications of resources which need to be provided.</a:t>
            </a:r>
          </a:p>
          <a:p>
            <a:pPr>
              <a:buFont typeface="Arial" pitchFamily="34" charset="0"/>
              <a:buNone/>
            </a:pPr>
            <a:r>
              <a:rPr lang="en-AU" b="1" i="1" noProof="0" dirty="0" smtClean="0"/>
              <a:t>Answer</a:t>
            </a:r>
          </a:p>
          <a:p>
            <a:pPr>
              <a:buFont typeface="Arial" pitchFamily="34" charset="0"/>
              <a:buChar char="•"/>
            </a:pPr>
            <a:r>
              <a:rPr lang="en-AU" sz="1200" kern="1200" dirty="0" smtClean="0">
                <a:solidFill>
                  <a:schemeClr val="tx1"/>
                </a:solidFill>
                <a:ea typeface="+mn-ea"/>
                <a:cs typeface="+mn-cs"/>
              </a:rPr>
              <a:t> Time</a:t>
            </a:r>
          </a:p>
          <a:p>
            <a:pPr>
              <a:buFont typeface="Arial" pitchFamily="34" charset="0"/>
              <a:buChar char="•"/>
            </a:pPr>
            <a:r>
              <a:rPr lang="en-AU" sz="1200" kern="1200" dirty="0" smtClean="0">
                <a:solidFill>
                  <a:schemeClr val="tx1"/>
                </a:solidFill>
                <a:ea typeface="+mn-ea"/>
                <a:cs typeface="+mn-cs"/>
              </a:rPr>
              <a:t> Physical resources</a:t>
            </a:r>
          </a:p>
          <a:p>
            <a:pPr>
              <a:buFont typeface="Arial" pitchFamily="34" charset="0"/>
              <a:buChar char="•"/>
            </a:pPr>
            <a:r>
              <a:rPr lang="en-AU" sz="1200" kern="1200" dirty="0" smtClean="0">
                <a:solidFill>
                  <a:schemeClr val="tx1"/>
                </a:solidFill>
                <a:ea typeface="+mn-ea"/>
                <a:cs typeface="+mn-cs"/>
              </a:rPr>
              <a:t> Staff</a:t>
            </a:r>
          </a:p>
          <a:p>
            <a:pPr>
              <a:buFont typeface="Arial" pitchFamily="34" charset="0"/>
              <a:buChar char="•"/>
            </a:pPr>
            <a:r>
              <a:rPr lang="en-AU" sz="1200" kern="1200" dirty="0" smtClean="0">
                <a:solidFill>
                  <a:schemeClr val="tx1"/>
                </a:solidFill>
                <a:ea typeface="+mn-ea"/>
                <a:cs typeface="+mn-cs"/>
              </a:rPr>
              <a:t> Intelligence</a:t>
            </a:r>
          </a:p>
          <a:p>
            <a:pPr>
              <a:buFont typeface="Arial" pitchFamily="34" charset="0"/>
              <a:buChar char="•"/>
            </a:pPr>
            <a:r>
              <a:rPr lang="en-AU" sz="1200" kern="1200" dirty="0" smtClean="0">
                <a:solidFill>
                  <a:schemeClr val="tx1"/>
                </a:solidFill>
                <a:ea typeface="+mn-ea"/>
                <a:cs typeface="+mn-cs"/>
              </a:rPr>
              <a:t> Funds/money.</a:t>
            </a:r>
          </a:p>
          <a:p>
            <a:pPr>
              <a:buFont typeface="Arial" pitchFamily="34" charset="0"/>
              <a:buNone/>
            </a:pPr>
            <a:endParaRPr lang="en-AU" b="0" i="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1703638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a:t>
            </a:r>
            <a:r>
              <a:rPr lang="en-AU" baseline="0" noProof="0" dirty="0" smtClean="0"/>
              <a:t> provides examples of resources which may be required to support/enable safety plans for VIP visits:</a:t>
            </a:r>
          </a:p>
          <a:p>
            <a:r>
              <a:rPr lang="en-AU" sz="1200" b="1" kern="1200" dirty="0" smtClean="0">
                <a:solidFill>
                  <a:schemeClr val="tx1"/>
                </a:solidFill>
                <a:ea typeface="+mn-ea"/>
                <a:cs typeface="+mn-cs"/>
              </a:rPr>
              <a:t>Personnel </a:t>
            </a:r>
          </a:p>
          <a:p>
            <a:pPr>
              <a:buFont typeface="Arial" pitchFamily="34" charset="0"/>
              <a:buChar char="•"/>
            </a:pPr>
            <a:r>
              <a:rPr lang="en-AU" sz="1200" kern="1200" dirty="0" smtClean="0">
                <a:solidFill>
                  <a:schemeClr val="tx1"/>
                </a:solidFill>
                <a:ea typeface="+mn-ea"/>
                <a:cs typeface="+mn-cs"/>
              </a:rPr>
              <a:t> Internal and external security staff – bodyguards, static guards, patrols, crowd controllers, control room staff/operators, operators of hand-held detectors (scanners, wands and under-vehicle mirrors) and scanning devices (X-ray belts and walk-through detectors)</a:t>
            </a:r>
          </a:p>
          <a:p>
            <a:pPr>
              <a:buFont typeface="Arial" pitchFamily="34" charset="0"/>
              <a:buChar char="•"/>
            </a:pPr>
            <a:r>
              <a:rPr lang="en-AU" sz="1200" kern="1200" dirty="0" smtClean="0">
                <a:solidFill>
                  <a:schemeClr val="tx1"/>
                </a:solidFill>
                <a:ea typeface="+mn-ea"/>
                <a:cs typeface="+mn-cs"/>
              </a:rPr>
              <a:t> Specialist operational staff to:</a:t>
            </a:r>
          </a:p>
          <a:p>
            <a:pPr lvl="1">
              <a:buFont typeface="Arial" pitchFamily="34" charset="0"/>
              <a:buChar char="•"/>
            </a:pPr>
            <a:r>
              <a:rPr lang="en-AU" sz="1200" kern="1200" dirty="0" smtClean="0">
                <a:solidFill>
                  <a:schemeClr val="tx1"/>
                </a:solidFill>
                <a:ea typeface="+mn-ea"/>
                <a:cs typeface="+mn-cs"/>
              </a:rPr>
              <a:t> Provide nominated service to VIPs.</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is common practice in some venues to nominate certain staff as dedicated service providers to the VIP and/or their entourage. This means they only serve the VIP and no-one else allowing them to focus on delivering high-quality service and providing the standard of service expected by the VIP</a:t>
            </a:r>
          </a:p>
          <a:p>
            <a:pPr lvl="1">
              <a:buFont typeface="Arial" pitchFamily="34" charset="0"/>
              <a:buChar char="•"/>
            </a:pPr>
            <a:r>
              <a:rPr lang="en-AU" sz="1200" kern="1200" dirty="0" smtClean="0">
                <a:solidFill>
                  <a:schemeClr val="tx1"/>
                </a:solidFill>
                <a:ea typeface="+mn-ea"/>
                <a:cs typeface="+mn-cs"/>
              </a:rPr>
              <a:t> Maintain service delivery to other guests at the venue</a:t>
            </a:r>
          </a:p>
          <a:p>
            <a:pPr>
              <a:buFont typeface="Arial" pitchFamily="34" charset="0"/>
              <a:buChar char="•"/>
            </a:pPr>
            <a:r>
              <a:rPr lang="en-AU" sz="1200" kern="1200" dirty="0" smtClean="0">
                <a:solidFill>
                  <a:schemeClr val="tx1"/>
                </a:solidFill>
                <a:ea typeface="+mn-ea"/>
                <a:cs typeface="+mn-cs"/>
              </a:rPr>
              <a:t> Rostering staff to reflect the needs of the VIP visit.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may include:</a:t>
            </a:r>
          </a:p>
          <a:p>
            <a:pPr lvl="1">
              <a:buFont typeface="Arial" pitchFamily="34" charset="0"/>
              <a:buChar char="•"/>
            </a:pPr>
            <a:r>
              <a:rPr lang="en-AU" sz="1200" kern="1200" dirty="0" smtClean="0">
                <a:solidFill>
                  <a:schemeClr val="tx1"/>
                </a:solidFill>
                <a:ea typeface="+mn-ea"/>
                <a:cs typeface="+mn-cs"/>
              </a:rPr>
              <a:t> Allocating extra hours</a:t>
            </a:r>
          </a:p>
          <a:p>
            <a:pPr lvl="1">
              <a:buFont typeface="Arial" pitchFamily="34" charset="0"/>
              <a:buChar char="•"/>
            </a:pPr>
            <a:r>
              <a:rPr lang="en-AU" sz="1200" kern="1200" dirty="0" smtClean="0">
                <a:solidFill>
                  <a:schemeClr val="tx1"/>
                </a:solidFill>
                <a:ea typeface="+mn-ea"/>
                <a:cs typeface="+mn-cs"/>
              </a:rPr>
              <a:t> Back-filling of staff who are rostered on VIP duty</a:t>
            </a:r>
          </a:p>
          <a:p>
            <a:pPr lvl="1">
              <a:buFont typeface="Arial" pitchFamily="34" charset="0"/>
              <a:buChar char="•"/>
            </a:pPr>
            <a:r>
              <a:rPr lang="en-AU" sz="1200" kern="1200" dirty="0" smtClean="0">
                <a:solidFill>
                  <a:schemeClr val="tx1"/>
                </a:solidFill>
                <a:ea typeface="+mn-ea"/>
                <a:cs typeface="+mn-cs"/>
              </a:rPr>
              <a:t> Providing time for training, drills and briefing session.</a:t>
            </a:r>
          </a:p>
          <a:p>
            <a:r>
              <a:rPr lang="en-AU" sz="1200" b="1" kern="1200" dirty="0" smtClean="0">
                <a:solidFill>
                  <a:schemeClr val="tx1"/>
                </a:solidFill>
                <a:ea typeface="+mn-ea"/>
                <a:cs typeface="+mn-cs"/>
              </a:rPr>
              <a:t>Transport requirements </a:t>
            </a:r>
            <a:r>
              <a:rPr lang="en-AU" sz="1200" kern="1200" dirty="0" smtClean="0">
                <a:solidFill>
                  <a:schemeClr val="tx1"/>
                </a:solidFill>
                <a:ea typeface="+mn-ea"/>
                <a:cs typeface="+mn-cs"/>
              </a:rPr>
              <a:t>– these relate to:</a:t>
            </a:r>
          </a:p>
          <a:p>
            <a:pPr>
              <a:buFont typeface="Arial" pitchFamily="34" charset="0"/>
              <a:buChar char="•"/>
            </a:pPr>
            <a:r>
              <a:rPr lang="en-AU" sz="1200" kern="1200" dirty="0" smtClean="0">
                <a:solidFill>
                  <a:schemeClr val="tx1"/>
                </a:solidFill>
                <a:ea typeface="+mn-ea"/>
                <a:cs typeface="+mn-cs"/>
              </a:rPr>
              <a:t> Initial arrival to the venue</a:t>
            </a:r>
          </a:p>
          <a:p>
            <a:pPr>
              <a:buFont typeface="Arial" pitchFamily="34" charset="0"/>
              <a:buChar char="•"/>
            </a:pPr>
            <a:r>
              <a:rPr lang="en-AU" sz="1200" kern="1200" dirty="0" smtClean="0">
                <a:solidFill>
                  <a:schemeClr val="tx1"/>
                </a:solidFill>
                <a:ea typeface="+mn-ea"/>
                <a:cs typeface="+mn-cs"/>
              </a:rPr>
              <a:t> Final departure form the venue</a:t>
            </a:r>
          </a:p>
          <a:p>
            <a:pPr>
              <a:buFont typeface="Arial" pitchFamily="34" charset="0"/>
              <a:buChar char="•"/>
            </a:pPr>
            <a:r>
              <a:rPr lang="en-AU" sz="1200" kern="1200" dirty="0" smtClean="0">
                <a:solidFill>
                  <a:schemeClr val="tx1"/>
                </a:solidFill>
                <a:ea typeface="+mn-ea"/>
                <a:cs typeface="+mn-cs"/>
              </a:rPr>
              <a:t> Travel to and from engagements, appointments, trips and tours</a:t>
            </a:r>
          </a:p>
          <a:p>
            <a:pPr>
              <a:buFont typeface="Arial" pitchFamily="34" charset="0"/>
              <a:buChar char="•"/>
            </a:pPr>
            <a:r>
              <a:rPr lang="en-AU" sz="1200" kern="1200" dirty="0" smtClean="0">
                <a:solidFill>
                  <a:schemeClr val="tx1"/>
                </a:solidFill>
                <a:ea typeface="+mn-ea"/>
                <a:cs typeface="+mn-cs"/>
              </a:rPr>
              <a:t> Travel arrangements for all designated members of the VIP party/entourage</a:t>
            </a:r>
          </a:p>
          <a:p>
            <a:pPr>
              <a:buFont typeface="Arial" pitchFamily="34" charset="0"/>
              <a:buChar char="•"/>
            </a:pPr>
            <a:r>
              <a:rPr lang="en-AU" sz="1200" kern="1200" dirty="0" smtClean="0">
                <a:solidFill>
                  <a:schemeClr val="tx1"/>
                </a:solidFill>
                <a:ea typeface="+mn-ea"/>
                <a:cs typeface="+mn-cs"/>
              </a:rPr>
              <a:t> Transport of luggage, equipment and other materials accompanying the VIP</a:t>
            </a:r>
          </a:p>
          <a:p>
            <a:pPr>
              <a:buFont typeface="Arial" pitchFamily="34" charset="0"/>
              <a:buChar char="•"/>
            </a:pPr>
            <a:r>
              <a:rPr lang="en-AU" sz="1200" kern="1200" dirty="0" smtClean="0">
                <a:solidFill>
                  <a:schemeClr val="tx1"/>
                </a:solidFill>
                <a:ea typeface="+mn-ea"/>
                <a:cs typeface="+mn-cs"/>
              </a:rPr>
              <a:t> Vehicles and drivers</a:t>
            </a:r>
          </a:p>
          <a:p>
            <a:pPr>
              <a:buFont typeface="Arial" pitchFamily="34" charset="0"/>
              <a:buChar char="•"/>
            </a:pPr>
            <a:r>
              <a:rPr lang="en-AU" sz="1200" kern="1200" dirty="0" smtClean="0">
                <a:solidFill>
                  <a:schemeClr val="tx1"/>
                </a:solidFill>
                <a:ea typeface="+mn-ea"/>
                <a:cs typeface="+mn-cs"/>
              </a:rPr>
              <a:t> Bearers and porters</a:t>
            </a:r>
          </a:p>
          <a:p>
            <a:pPr>
              <a:buFont typeface="Arial" pitchFamily="34" charset="0"/>
              <a:buChar char="•"/>
            </a:pPr>
            <a:r>
              <a:rPr lang="en-AU" sz="1200" kern="1200" dirty="0" smtClean="0">
                <a:solidFill>
                  <a:schemeClr val="tx1"/>
                </a:solidFill>
                <a:ea typeface="+mn-ea"/>
                <a:cs typeface="+mn-cs"/>
              </a:rPr>
              <a:t> Provision of boxes, crates and other containers and ancillary requirements to facilitate packing and safe/secure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transport of items.</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99852609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providing examples of resources which may be required to support/enable safety plans for VIP visits:</a:t>
            </a:r>
          </a:p>
          <a:p>
            <a:r>
              <a:rPr lang="en-AU" sz="1200" b="1" kern="1200" dirty="0" smtClean="0">
                <a:solidFill>
                  <a:schemeClr val="tx1"/>
                </a:solidFill>
                <a:ea typeface="+mn-ea"/>
                <a:cs typeface="+mn-cs"/>
              </a:rPr>
              <a:t>Weapons </a:t>
            </a:r>
            <a:r>
              <a:rPr lang="en-AU" sz="1200" kern="1200" dirty="0" smtClean="0">
                <a:solidFill>
                  <a:schemeClr val="tx1"/>
                </a:solidFill>
                <a:ea typeface="+mn-ea"/>
                <a:cs typeface="+mn-cs"/>
              </a:rPr>
              <a:t>– while local laws will need to be considered you will need to communicate with authorities to determine their position in relation to the presence of weapons as part of a VIP visit. Licence and</a:t>
            </a:r>
            <a:r>
              <a:rPr lang="en-AU" sz="1200" kern="1200" baseline="0" dirty="0" smtClean="0">
                <a:solidFill>
                  <a:schemeClr val="tx1"/>
                </a:solidFill>
                <a:ea typeface="+mn-ea"/>
                <a:cs typeface="+mn-cs"/>
              </a:rPr>
              <a:t> registration requirements exist.</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General requirements require the holder of any firearm to have completed a stipulated training course and be approved and registered/licensed to carry/use In addition to firearms your preparations for a VIP visit may necessitate the presence of a variety of ‘less than lethal’ equipment such as:</a:t>
            </a:r>
          </a:p>
          <a:p>
            <a:pPr>
              <a:buFont typeface="Arial" pitchFamily="34" charset="0"/>
              <a:buChar char="•"/>
            </a:pPr>
            <a:r>
              <a:rPr lang="en-AU" sz="1200" kern="1200" dirty="0" smtClean="0">
                <a:solidFill>
                  <a:schemeClr val="tx1"/>
                </a:solidFill>
                <a:ea typeface="+mn-ea"/>
                <a:cs typeface="+mn-cs"/>
              </a:rPr>
              <a:t> Batons; Sprays – such as OC spray; Restraints; Handcuffs; Tasers.</a:t>
            </a:r>
          </a:p>
          <a:p>
            <a:r>
              <a:rPr lang="en-AU" sz="1200" b="1" kern="1200" dirty="0" smtClean="0">
                <a:solidFill>
                  <a:schemeClr val="tx1"/>
                </a:solidFill>
                <a:ea typeface="+mn-ea"/>
                <a:cs typeface="+mn-cs"/>
              </a:rPr>
              <a:t>Protective equipment </a:t>
            </a:r>
            <a:r>
              <a:rPr lang="en-AU" sz="1200" kern="1200" dirty="0" smtClean="0">
                <a:solidFill>
                  <a:schemeClr val="tx1"/>
                </a:solidFill>
                <a:ea typeface="+mn-ea"/>
                <a:cs typeface="+mn-cs"/>
              </a:rPr>
              <a:t>– where protests or riots are expected it is standard to acquire a range of PPE and clothing for use by security staff:</a:t>
            </a:r>
          </a:p>
          <a:p>
            <a:pPr>
              <a:buFont typeface="Arial" pitchFamily="34" charset="0"/>
              <a:buChar char="•"/>
            </a:pPr>
            <a:r>
              <a:rPr lang="en-AU" sz="1200" kern="1200" dirty="0" smtClean="0">
                <a:solidFill>
                  <a:schemeClr val="tx1"/>
                </a:solidFill>
                <a:ea typeface="+mn-ea"/>
                <a:cs typeface="+mn-cs"/>
              </a:rPr>
              <a:t> Helmets, shields; gauntlets,</a:t>
            </a:r>
            <a:r>
              <a:rPr lang="en-AU" sz="1200" kern="1200" baseline="0" dirty="0" smtClean="0">
                <a:solidFill>
                  <a:schemeClr val="tx1"/>
                </a:solidFill>
                <a:ea typeface="+mn-ea"/>
                <a:cs typeface="+mn-cs"/>
              </a:rPr>
              <a:t> b</a:t>
            </a:r>
            <a:r>
              <a:rPr lang="en-AU" sz="1200" kern="1200" dirty="0" smtClean="0">
                <a:solidFill>
                  <a:schemeClr val="tx1"/>
                </a:solidFill>
                <a:ea typeface="+mn-ea"/>
                <a:cs typeface="+mn-cs"/>
              </a:rPr>
              <a:t>ody armour,</a:t>
            </a:r>
            <a:r>
              <a:rPr lang="en-AU" sz="1200" kern="1200" baseline="0" dirty="0" smtClean="0">
                <a:solidFill>
                  <a:schemeClr val="tx1"/>
                </a:solidFill>
                <a:ea typeface="+mn-ea"/>
                <a:cs typeface="+mn-cs"/>
              </a:rPr>
              <a:t> st</a:t>
            </a:r>
            <a:r>
              <a:rPr lang="en-AU" sz="1200" kern="1200" dirty="0" smtClean="0">
                <a:solidFill>
                  <a:schemeClr val="tx1"/>
                </a:solidFill>
                <a:ea typeface="+mn-ea"/>
                <a:cs typeface="+mn-cs"/>
              </a:rPr>
              <a:t>eel-capped boots.</a:t>
            </a:r>
          </a:p>
          <a:p>
            <a:r>
              <a:rPr lang="en-AU" sz="1200" b="1" kern="1200" dirty="0" smtClean="0">
                <a:solidFill>
                  <a:schemeClr val="tx1"/>
                </a:solidFill>
                <a:ea typeface="+mn-ea"/>
                <a:cs typeface="+mn-cs"/>
              </a:rPr>
              <a:t>Barriers </a:t>
            </a:r>
            <a:r>
              <a:rPr lang="en-AU" sz="1200" kern="1200" dirty="0" smtClean="0">
                <a:solidFill>
                  <a:schemeClr val="tx1"/>
                </a:solidFill>
                <a:ea typeface="+mn-ea"/>
                <a:cs typeface="+mn-cs"/>
              </a:rPr>
              <a:t>– to limit access and control flow of foot traffic and vehicles:</a:t>
            </a:r>
          </a:p>
          <a:p>
            <a:pPr>
              <a:buFont typeface="Arial" pitchFamily="34" charset="0"/>
              <a:buChar char="•"/>
            </a:pPr>
            <a:r>
              <a:rPr lang="en-AU" sz="1200" kern="1200" dirty="0" smtClean="0">
                <a:solidFill>
                  <a:schemeClr val="tx1"/>
                </a:solidFill>
                <a:ea typeface="+mn-ea"/>
                <a:cs typeface="+mn-cs"/>
              </a:rPr>
              <a:t> Facilities to screen areas and restrict vision, bollards,</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ignage,</a:t>
            </a:r>
            <a:r>
              <a:rPr lang="en-AU" sz="1200" kern="1200" baseline="0" dirty="0" smtClean="0">
                <a:solidFill>
                  <a:schemeClr val="tx1"/>
                </a:solidFill>
                <a:ea typeface="+mn-ea"/>
                <a:cs typeface="+mn-cs"/>
              </a:rPr>
              <a:t> b</a:t>
            </a:r>
            <a:r>
              <a:rPr lang="en-AU" sz="1200" kern="1200" dirty="0" smtClean="0">
                <a:solidFill>
                  <a:schemeClr val="tx1"/>
                </a:solidFill>
                <a:ea typeface="+mn-ea"/>
                <a:cs typeface="+mn-cs"/>
              </a:rPr>
              <a:t>oom gates, chains and ropes.</a:t>
            </a:r>
          </a:p>
          <a:p>
            <a:pPr>
              <a:buFont typeface="Arial" pitchFamily="34" charset="0"/>
              <a:buNone/>
            </a:pPr>
            <a:endParaRPr lang="en-AU" baseline="0" noProof="0" dirty="0" smtClean="0"/>
          </a:p>
          <a:p>
            <a:pPr>
              <a:buFont typeface="Arial" pitchFamily="34" charset="0"/>
              <a:buNone/>
            </a:pPr>
            <a:r>
              <a:rPr lang="en-AU" b="1" baseline="0" noProof="0" dirty="0" smtClean="0"/>
              <a:t>Class Activity – Sample Items</a:t>
            </a:r>
          </a:p>
          <a:p>
            <a:pPr>
              <a:buFont typeface="Arial" pitchFamily="34" charset="0"/>
              <a:buNone/>
            </a:pPr>
            <a:r>
              <a:rPr lang="en-AU" b="0" baseline="0" noProof="0" dirty="0" smtClean="0"/>
              <a:t>Trainer shows students examples of items as listed and explains their use/role.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0913878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providing examples of resources which may be required to support/enable safety plans for VIP visits:</a:t>
            </a:r>
          </a:p>
          <a:p>
            <a:pPr>
              <a:buFont typeface="Arial" pitchFamily="34" charset="0"/>
              <a:buChar char="•"/>
            </a:pPr>
            <a:r>
              <a:rPr lang="en-AU" sz="1200" kern="1200" dirty="0" smtClean="0">
                <a:solidFill>
                  <a:schemeClr val="tx1"/>
                </a:solidFill>
                <a:ea typeface="+mn-ea"/>
                <a:cs typeface="+mn-cs"/>
              </a:rPr>
              <a:t> </a:t>
            </a:r>
            <a:r>
              <a:rPr lang="en-AU" sz="1200" b="1" kern="1200" dirty="0" smtClean="0">
                <a:solidFill>
                  <a:schemeClr val="tx1"/>
                </a:solidFill>
                <a:ea typeface="+mn-ea"/>
                <a:cs typeface="+mn-cs"/>
              </a:rPr>
              <a:t>Internal protocols </a:t>
            </a:r>
            <a:r>
              <a:rPr lang="en-AU" sz="1200" kern="1200" dirty="0" smtClean="0">
                <a:solidFill>
                  <a:schemeClr val="tx1"/>
                </a:solidFill>
                <a:ea typeface="+mn-ea"/>
                <a:cs typeface="+mn-cs"/>
              </a:rPr>
              <a:t>– the standard policies and procedures in the workplace may need to be considered whenever there is a VIP visit.  Consideration should look at the need to:</a:t>
            </a:r>
          </a:p>
          <a:p>
            <a:pPr lvl="1">
              <a:buFont typeface="Arial" pitchFamily="34" charset="0"/>
              <a:buChar char="•"/>
            </a:pPr>
            <a:r>
              <a:rPr lang="en-AU" sz="1200" kern="1200" dirty="0" smtClean="0">
                <a:solidFill>
                  <a:schemeClr val="tx1"/>
                </a:solidFill>
                <a:ea typeface="+mn-ea"/>
                <a:cs typeface="+mn-cs"/>
              </a:rPr>
              <a:t> Provide authority to override traditional internal scopes of authority</a:t>
            </a:r>
          </a:p>
          <a:p>
            <a:pPr lvl="1">
              <a:buFont typeface="Arial" pitchFamily="34" charset="0"/>
              <a:buChar char="•"/>
            </a:pPr>
            <a:r>
              <a:rPr lang="en-AU" sz="1200" kern="1200" dirty="0" smtClean="0">
                <a:solidFill>
                  <a:schemeClr val="tx1"/>
                </a:solidFill>
                <a:ea typeface="+mn-ea"/>
                <a:cs typeface="+mn-cs"/>
              </a:rPr>
              <a:t> Amend traditional lines of communication and/or authority</a:t>
            </a:r>
          </a:p>
          <a:p>
            <a:pPr lvl="1">
              <a:buFont typeface="Arial" pitchFamily="34" charset="0"/>
              <a:buChar char="•"/>
            </a:pPr>
            <a:r>
              <a:rPr lang="en-AU" sz="1200" kern="1200" dirty="0" smtClean="0">
                <a:solidFill>
                  <a:schemeClr val="tx1"/>
                </a:solidFill>
                <a:ea typeface="+mn-ea"/>
                <a:cs typeface="+mn-cs"/>
              </a:rPr>
              <a:t> Introduce new policies and procedures or revise existing ones for a limited period</a:t>
            </a:r>
          </a:p>
          <a:p>
            <a:pPr>
              <a:buFont typeface="Arial" pitchFamily="34" charset="0"/>
              <a:buChar char="•"/>
            </a:pPr>
            <a:r>
              <a:rPr lang="en-AU" sz="1200" kern="1200" dirty="0" smtClean="0">
                <a:solidFill>
                  <a:schemeClr val="tx1"/>
                </a:solidFill>
                <a:ea typeface="+mn-ea"/>
                <a:cs typeface="+mn-cs"/>
              </a:rPr>
              <a:t> </a:t>
            </a:r>
            <a:r>
              <a:rPr lang="en-AU" sz="1200" b="1" kern="1200" dirty="0" smtClean="0">
                <a:solidFill>
                  <a:schemeClr val="tx1"/>
                </a:solidFill>
                <a:ea typeface="+mn-ea"/>
                <a:cs typeface="+mn-cs"/>
              </a:rPr>
              <a:t>Cash or funding </a:t>
            </a:r>
            <a:r>
              <a:rPr lang="en-AU" sz="1200" kern="1200" dirty="0" smtClean="0">
                <a:solidFill>
                  <a:schemeClr val="tx1"/>
                </a:solidFill>
                <a:ea typeface="+mn-ea"/>
                <a:cs typeface="+mn-cs"/>
              </a:rPr>
              <a:t>– to:</a:t>
            </a:r>
          </a:p>
          <a:p>
            <a:pPr lvl="1">
              <a:buFont typeface="Arial" pitchFamily="34" charset="0"/>
              <a:buChar char="•"/>
            </a:pPr>
            <a:r>
              <a:rPr lang="en-AU" sz="1200" kern="1200" dirty="0" smtClean="0">
                <a:solidFill>
                  <a:schemeClr val="tx1"/>
                </a:solidFill>
                <a:ea typeface="+mn-ea"/>
                <a:cs typeface="+mn-cs"/>
              </a:rPr>
              <a:t> Enable purchasing of equipment</a:t>
            </a:r>
          </a:p>
          <a:p>
            <a:pPr lvl="1">
              <a:buFont typeface="Arial" pitchFamily="34" charset="0"/>
              <a:buChar char="•"/>
            </a:pPr>
            <a:r>
              <a:rPr lang="en-AU" sz="1200" kern="1200" dirty="0" smtClean="0">
                <a:solidFill>
                  <a:schemeClr val="tx1"/>
                </a:solidFill>
                <a:ea typeface="+mn-ea"/>
                <a:cs typeface="+mn-cs"/>
              </a:rPr>
              <a:t> Purchase external services</a:t>
            </a:r>
          </a:p>
          <a:p>
            <a:pPr lvl="1">
              <a:buFont typeface="Arial" pitchFamily="34" charset="0"/>
              <a:buChar char="•"/>
            </a:pPr>
            <a:r>
              <a:rPr lang="en-AU" sz="1200" kern="1200" dirty="0" smtClean="0">
                <a:solidFill>
                  <a:schemeClr val="tx1"/>
                </a:solidFill>
                <a:ea typeface="+mn-ea"/>
                <a:cs typeface="+mn-cs"/>
              </a:rPr>
              <a:t> Support staffing arrangements – such as training, extra staff, extra hours</a:t>
            </a:r>
          </a:p>
          <a:p>
            <a:pPr>
              <a:buFont typeface="Arial" pitchFamily="34" charset="0"/>
              <a:buChar char="•"/>
            </a:pPr>
            <a:r>
              <a:rPr lang="en-AU" sz="1200" kern="1200" dirty="0" smtClean="0">
                <a:solidFill>
                  <a:schemeClr val="tx1"/>
                </a:solidFill>
                <a:ea typeface="+mn-ea"/>
                <a:cs typeface="+mn-cs"/>
              </a:rPr>
              <a:t> </a:t>
            </a:r>
            <a:r>
              <a:rPr lang="en-AU" sz="1200" b="1" kern="1200" dirty="0" smtClean="0">
                <a:solidFill>
                  <a:schemeClr val="tx1"/>
                </a:solidFill>
                <a:ea typeface="+mn-ea"/>
                <a:cs typeface="+mn-cs"/>
              </a:rPr>
              <a:t>Operational documentation </a:t>
            </a:r>
            <a:r>
              <a:rPr lang="en-AU" sz="1200" kern="1200" dirty="0" smtClean="0">
                <a:solidFill>
                  <a:schemeClr val="tx1"/>
                </a:solidFill>
                <a:ea typeface="+mn-ea"/>
                <a:cs typeface="+mn-cs"/>
              </a:rPr>
              <a:t>– see following slide</a:t>
            </a:r>
          </a:p>
          <a:p>
            <a:pPr>
              <a:buFont typeface="Arial" pitchFamily="34" charset="0"/>
              <a:buChar char="•"/>
            </a:pPr>
            <a:r>
              <a:rPr lang="en-AU" sz="1200" b="1" kern="1200" dirty="0" smtClean="0">
                <a:solidFill>
                  <a:schemeClr val="tx1"/>
                </a:solidFill>
                <a:ea typeface="+mn-ea"/>
                <a:cs typeface="+mn-cs"/>
              </a:rPr>
              <a:t> Communication equipment </a:t>
            </a:r>
            <a:r>
              <a:rPr lang="en-AU" sz="1200" kern="1200" dirty="0" smtClean="0">
                <a:solidFill>
                  <a:schemeClr val="tx1"/>
                </a:solidFill>
                <a:ea typeface="+mn-ea"/>
                <a:cs typeface="+mn-cs"/>
              </a:rPr>
              <a:t>– see later slides</a:t>
            </a:r>
          </a:p>
          <a:p>
            <a:pPr>
              <a:buFont typeface="Arial" pitchFamily="34" charset="0"/>
              <a:buChar char="•"/>
            </a:pPr>
            <a:r>
              <a:rPr lang="en-AU" sz="1200" kern="1200" dirty="0" smtClean="0">
                <a:solidFill>
                  <a:schemeClr val="tx1"/>
                </a:solidFill>
                <a:ea typeface="+mn-ea"/>
                <a:cs typeface="+mn-cs"/>
              </a:rPr>
              <a:t> </a:t>
            </a:r>
            <a:r>
              <a:rPr lang="en-AU" sz="1200" b="1" kern="1200" dirty="0" smtClean="0">
                <a:solidFill>
                  <a:schemeClr val="tx1"/>
                </a:solidFill>
                <a:ea typeface="+mn-ea"/>
                <a:cs typeface="+mn-cs"/>
              </a:rPr>
              <a:t>Electronic surveillance and detection equipment</a:t>
            </a:r>
            <a:r>
              <a:rPr lang="en-AU" sz="1200" kern="1200" dirty="0" smtClean="0">
                <a:solidFill>
                  <a:schemeClr val="tx1"/>
                </a:solidFill>
                <a:ea typeface="+mn-ea"/>
                <a:cs typeface="+mn-cs"/>
              </a:rPr>
              <a:t> – see later slides</a:t>
            </a:r>
          </a:p>
          <a:p>
            <a:pPr>
              <a:buFont typeface="Arial" pitchFamily="34" charset="0"/>
              <a:buChar char="•"/>
            </a:pPr>
            <a:r>
              <a:rPr lang="en-AU" sz="1200" kern="1200" dirty="0" smtClean="0">
                <a:solidFill>
                  <a:schemeClr val="tx1"/>
                </a:solidFill>
                <a:ea typeface="+mn-ea"/>
                <a:cs typeface="+mn-cs"/>
              </a:rPr>
              <a:t> </a:t>
            </a:r>
            <a:r>
              <a:rPr lang="en-AU" sz="1200" b="1" kern="1200" dirty="0" smtClean="0">
                <a:solidFill>
                  <a:schemeClr val="tx1"/>
                </a:solidFill>
                <a:ea typeface="+mn-ea"/>
                <a:cs typeface="+mn-cs"/>
              </a:rPr>
              <a:t>Intelligence </a:t>
            </a:r>
            <a:r>
              <a:rPr lang="en-AU" sz="1200" kern="1200" dirty="0" smtClean="0">
                <a:solidFill>
                  <a:schemeClr val="tx1"/>
                </a:solidFill>
                <a:ea typeface="+mn-ea"/>
                <a:cs typeface="+mn-cs"/>
              </a:rPr>
              <a:t>– see later slides.</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6407105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identifies and explains operational documentation required:</a:t>
            </a:r>
          </a:p>
          <a:p>
            <a:pPr>
              <a:buFont typeface="Arial" pitchFamily="34" charset="0"/>
              <a:buChar char="•"/>
            </a:pPr>
            <a:r>
              <a:rPr lang="en-AU" sz="1200" kern="1200" dirty="0" smtClean="0">
                <a:solidFill>
                  <a:schemeClr val="tx1"/>
                </a:solidFill>
                <a:ea typeface="+mn-ea"/>
                <a:cs typeface="+mn-cs"/>
              </a:rPr>
              <a:t> Plans of the venue covering:</a:t>
            </a:r>
          </a:p>
          <a:p>
            <a:pPr lvl="1">
              <a:buFont typeface="Arial" pitchFamily="34" charset="0"/>
              <a:buChar char="•"/>
            </a:pPr>
            <a:r>
              <a:rPr lang="en-AU" sz="1200" kern="1200" dirty="0" smtClean="0">
                <a:solidFill>
                  <a:schemeClr val="tx1"/>
                </a:solidFill>
                <a:ea typeface="+mn-ea"/>
                <a:cs typeface="+mn-cs"/>
              </a:rPr>
              <a:t> General venue plans – inside and outside</a:t>
            </a:r>
          </a:p>
          <a:p>
            <a:pPr lvl="1">
              <a:buFont typeface="Arial" pitchFamily="34" charset="0"/>
              <a:buChar char="•"/>
            </a:pPr>
            <a:r>
              <a:rPr lang="en-AU" sz="1200" kern="1200" dirty="0" smtClean="0">
                <a:solidFill>
                  <a:schemeClr val="tx1"/>
                </a:solidFill>
                <a:ea typeface="+mn-ea"/>
                <a:cs typeface="+mn-cs"/>
              </a:rPr>
              <a:t> Floor-by-floor plans</a:t>
            </a:r>
          </a:p>
          <a:p>
            <a:pPr lvl="1">
              <a:buFont typeface="Arial" pitchFamily="34" charset="0"/>
              <a:buChar char="•"/>
            </a:pPr>
            <a:r>
              <a:rPr lang="en-AU" sz="1200" kern="1200" dirty="0" smtClean="0">
                <a:solidFill>
                  <a:schemeClr val="tx1"/>
                </a:solidFill>
                <a:ea typeface="+mn-ea"/>
                <a:cs typeface="+mn-cs"/>
              </a:rPr>
              <a:t> Evacuation plans</a:t>
            </a:r>
          </a:p>
          <a:p>
            <a:pPr lvl="1">
              <a:buFont typeface="Arial" pitchFamily="34" charset="0"/>
              <a:buChar char="•"/>
            </a:pPr>
            <a:r>
              <a:rPr lang="en-AU" sz="1200" kern="1200" dirty="0" smtClean="0">
                <a:solidFill>
                  <a:schemeClr val="tx1"/>
                </a:solidFill>
                <a:ea typeface="+mn-ea"/>
                <a:cs typeface="+mn-cs"/>
              </a:rPr>
              <a:t> Location of security and surveillance systems and technology</a:t>
            </a:r>
          </a:p>
          <a:p>
            <a:pPr>
              <a:buFont typeface="Arial" pitchFamily="34" charset="0"/>
              <a:buChar char="•"/>
            </a:pPr>
            <a:r>
              <a:rPr lang="en-AU" sz="1200" kern="1200" dirty="0" smtClean="0">
                <a:solidFill>
                  <a:schemeClr val="tx1"/>
                </a:solidFill>
                <a:ea typeface="+mn-ea"/>
                <a:cs typeface="+mn-cs"/>
              </a:rPr>
              <a:t> Maps of:</a:t>
            </a:r>
          </a:p>
          <a:p>
            <a:pPr lvl="1">
              <a:buFont typeface="Arial" pitchFamily="34" charset="0"/>
              <a:buChar char="•"/>
            </a:pPr>
            <a:r>
              <a:rPr lang="en-AU" sz="1200" kern="1200" dirty="0" smtClean="0">
                <a:solidFill>
                  <a:schemeClr val="tx1"/>
                </a:solidFill>
                <a:ea typeface="+mn-ea"/>
                <a:cs typeface="+mn-cs"/>
              </a:rPr>
              <a:t> The layout of the venue </a:t>
            </a:r>
          </a:p>
          <a:p>
            <a:pPr lvl="1">
              <a:buFont typeface="Arial" pitchFamily="34" charset="0"/>
              <a:buChar char="•"/>
            </a:pPr>
            <a:r>
              <a:rPr lang="en-AU" sz="1200" kern="1200" dirty="0" smtClean="0">
                <a:solidFill>
                  <a:schemeClr val="tx1"/>
                </a:solidFill>
                <a:ea typeface="+mn-ea"/>
                <a:cs typeface="+mn-cs"/>
              </a:rPr>
              <a:t> Local environs</a:t>
            </a:r>
          </a:p>
          <a:p>
            <a:pPr>
              <a:buFont typeface="Arial" pitchFamily="34" charset="0"/>
              <a:buChar char="•"/>
            </a:pPr>
            <a:r>
              <a:rPr lang="en-AU" sz="1200" kern="1200" dirty="0" smtClean="0">
                <a:solidFill>
                  <a:schemeClr val="tx1"/>
                </a:solidFill>
                <a:ea typeface="+mn-ea"/>
                <a:cs typeface="+mn-cs"/>
              </a:rPr>
              <a:t> Schedules and programmes which have been arranged for the VIP</a:t>
            </a:r>
          </a:p>
          <a:p>
            <a:pPr>
              <a:buFont typeface="Arial" pitchFamily="34" charset="0"/>
              <a:buChar char="•"/>
            </a:pPr>
            <a:r>
              <a:rPr lang="en-AU" sz="1200" kern="1200" dirty="0" smtClean="0">
                <a:solidFill>
                  <a:schemeClr val="tx1"/>
                </a:solidFill>
                <a:ea typeface="+mn-ea"/>
                <a:cs typeface="+mn-cs"/>
              </a:rPr>
              <a:t> Relevant venue SOPs and policies</a:t>
            </a:r>
          </a:p>
          <a:p>
            <a:pPr>
              <a:buFont typeface="Arial" pitchFamily="34" charset="0"/>
              <a:buChar char="•"/>
            </a:pPr>
            <a:r>
              <a:rPr lang="en-AU" sz="1200" kern="1200" dirty="0" smtClean="0">
                <a:solidFill>
                  <a:schemeClr val="tx1"/>
                </a:solidFill>
                <a:ea typeface="+mn-ea"/>
                <a:cs typeface="+mn-cs"/>
              </a:rPr>
              <a:t> Staff rosters for those working with the VIP</a:t>
            </a:r>
          </a:p>
          <a:p>
            <a:pPr>
              <a:buFont typeface="Arial" pitchFamily="34" charset="0"/>
              <a:buChar char="•"/>
            </a:pPr>
            <a:r>
              <a:rPr lang="en-AU" sz="1200" kern="1200" dirty="0" smtClean="0">
                <a:solidFill>
                  <a:schemeClr val="tx1"/>
                </a:solidFill>
                <a:ea typeface="+mn-ea"/>
                <a:cs typeface="+mn-cs"/>
              </a:rPr>
              <a:t> Running sheet to guide security activities – by identifying the work to be done, when it needs to be done, who is responsible for undertaking it and the resources available/to be used.</a:t>
            </a:r>
          </a:p>
          <a:p>
            <a:pPr>
              <a:buFont typeface="Arial" pitchFamily="34" charset="0"/>
              <a:buNone/>
            </a:pPr>
            <a:endParaRPr lang="en-AU" baseline="0" noProof="0" dirty="0" smtClean="0"/>
          </a:p>
          <a:p>
            <a:pPr>
              <a:buFont typeface="Arial" pitchFamily="34" charset="0"/>
              <a:buNone/>
            </a:pPr>
            <a:r>
              <a:rPr lang="en-AU" b="1" noProof="0" dirty="0" smtClean="0"/>
              <a:t>Class Activity – Handouts</a:t>
            </a:r>
          </a:p>
          <a:p>
            <a:pPr>
              <a:buFont typeface="Arial" pitchFamily="34" charset="0"/>
              <a:buNone/>
            </a:pPr>
            <a:r>
              <a:rPr lang="en-AU" b="0" noProof="0" dirty="0" smtClean="0"/>
              <a:t>Trainer distributes and discusses sample documents identified on the slide and explains their use/application.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23677874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identifies possible topics which running sheets may address:</a:t>
            </a:r>
          </a:p>
          <a:p>
            <a:pPr>
              <a:buFont typeface="Arial" pitchFamily="34" charset="0"/>
              <a:buChar char="•"/>
            </a:pPr>
            <a:r>
              <a:rPr lang="en-AU" sz="1200" kern="1200" dirty="0" smtClean="0">
                <a:solidFill>
                  <a:schemeClr val="tx1"/>
                </a:solidFill>
                <a:ea typeface="+mn-ea"/>
                <a:cs typeface="+mn-cs"/>
              </a:rPr>
              <a:t> Checking people on arrival for an event at the venue hosted by the VIP</a:t>
            </a:r>
          </a:p>
          <a:p>
            <a:pPr>
              <a:buFont typeface="Arial" pitchFamily="34" charset="0"/>
              <a:buChar char="•"/>
            </a:pPr>
            <a:r>
              <a:rPr lang="en-AU" sz="1200" kern="1200" dirty="0" smtClean="0">
                <a:solidFill>
                  <a:schemeClr val="tx1"/>
                </a:solidFill>
                <a:ea typeface="+mn-ea"/>
                <a:cs typeface="+mn-cs"/>
              </a:rPr>
              <a:t> Vehicle searches of:</a:t>
            </a:r>
          </a:p>
          <a:p>
            <a:pPr lvl="1">
              <a:buFont typeface="Arial" pitchFamily="34" charset="0"/>
              <a:buChar char="•"/>
            </a:pPr>
            <a:r>
              <a:rPr lang="en-AU" sz="1200" kern="1200" dirty="0" smtClean="0">
                <a:solidFill>
                  <a:schemeClr val="tx1"/>
                </a:solidFill>
                <a:ea typeface="+mn-ea"/>
                <a:cs typeface="+mn-cs"/>
              </a:rPr>
              <a:t> Vehicles arriving for the VIP or with goods for the VIP/their entourage</a:t>
            </a:r>
          </a:p>
          <a:p>
            <a:pPr lvl="1">
              <a:buFont typeface="Arial" pitchFamily="34" charset="0"/>
              <a:buChar char="•"/>
            </a:pPr>
            <a:r>
              <a:rPr lang="en-AU" sz="1200" kern="1200" dirty="0" smtClean="0">
                <a:solidFill>
                  <a:schemeClr val="tx1"/>
                </a:solidFill>
                <a:ea typeface="+mn-ea"/>
                <a:cs typeface="+mn-cs"/>
              </a:rPr>
              <a:t> Vehicles departing after visiting the VIP/their entourage</a:t>
            </a:r>
          </a:p>
          <a:p>
            <a:pPr>
              <a:buFont typeface="Arial" pitchFamily="34" charset="0"/>
              <a:buChar char="•"/>
            </a:pPr>
            <a:r>
              <a:rPr lang="en-AU" sz="1200" kern="1200" dirty="0" smtClean="0">
                <a:solidFill>
                  <a:schemeClr val="tx1"/>
                </a:solidFill>
                <a:ea typeface="+mn-ea"/>
                <a:cs typeface="+mn-cs"/>
              </a:rPr>
              <a:t> Dog searches</a:t>
            </a:r>
          </a:p>
          <a:p>
            <a:pPr>
              <a:buFont typeface="Arial" pitchFamily="34" charset="0"/>
              <a:buChar char="•"/>
            </a:pPr>
            <a:r>
              <a:rPr lang="en-AU" sz="1200" kern="1200" dirty="0" smtClean="0">
                <a:solidFill>
                  <a:schemeClr val="tx1"/>
                </a:solidFill>
                <a:ea typeface="+mn-ea"/>
                <a:cs typeface="+mn-cs"/>
              </a:rPr>
              <a:t> Electronic sweeps</a:t>
            </a:r>
          </a:p>
          <a:p>
            <a:pPr>
              <a:buFont typeface="Arial" pitchFamily="34" charset="0"/>
              <a:buChar char="•"/>
            </a:pPr>
            <a:r>
              <a:rPr lang="en-AU" sz="1200" kern="1200" dirty="0" smtClean="0">
                <a:solidFill>
                  <a:schemeClr val="tx1"/>
                </a:solidFill>
                <a:ea typeface="+mn-ea"/>
                <a:cs typeface="+mn-cs"/>
              </a:rPr>
              <a:t> Road closures</a:t>
            </a:r>
          </a:p>
          <a:p>
            <a:pPr>
              <a:buFont typeface="Arial" pitchFamily="34" charset="0"/>
              <a:buChar char="•"/>
            </a:pPr>
            <a:r>
              <a:rPr lang="en-AU" sz="1200" kern="1200" dirty="0" smtClean="0">
                <a:solidFill>
                  <a:schemeClr val="tx1"/>
                </a:solidFill>
                <a:ea typeface="+mn-ea"/>
                <a:cs typeface="+mn-cs"/>
              </a:rPr>
              <a:t> Crowd control activities</a:t>
            </a:r>
          </a:p>
          <a:p>
            <a:pPr>
              <a:buFont typeface="Arial" pitchFamily="34" charset="0"/>
              <a:buChar char="•"/>
            </a:pPr>
            <a:r>
              <a:rPr lang="en-AU" sz="1200" kern="1200" dirty="0" smtClean="0">
                <a:solidFill>
                  <a:schemeClr val="tx1"/>
                </a:solidFill>
                <a:ea typeface="+mn-ea"/>
                <a:cs typeface="+mn-cs"/>
              </a:rPr>
              <a:t> Observation and monitoring activities</a:t>
            </a:r>
          </a:p>
          <a:p>
            <a:pPr>
              <a:buFont typeface="Arial" pitchFamily="34" charset="0"/>
              <a:buChar char="•"/>
            </a:pPr>
            <a:r>
              <a:rPr lang="en-AU" sz="1200" kern="1200" dirty="0" smtClean="0">
                <a:solidFill>
                  <a:schemeClr val="tx1"/>
                </a:solidFill>
                <a:ea typeface="+mn-ea"/>
                <a:cs typeface="+mn-cs"/>
              </a:rPr>
              <a:t> Close escort duties</a:t>
            </a:r>
          </a:p>
          <a:p>
            <a:pPr>
              <a:buFont typeface="Arial" pitchFamily="34" charset="0"/>
              <a:buChar char="•"/>
            </a:pPr>
            <a:r>
              <a:rPr lang="en-AU" sz="1200" kern="1200" dirty="0" smtClean="0">
                <a:solidFill>
                  <a:schemeClr val="tx1"/>
                </a:solidFill>
                <a:ea typeface="+mn-ea"/>
                <a:cs typeface="+mn-cs"/>
              </a:rPr>
              <a:t> Loss prevention duties to protect goods/items (guard against theft) which belong to the VIP</a:t>
            </a:r>
          </a:p>
          <a:p>
            <a:pPr>
              <a:buFont typeface="Arial" pitchFamily="34" charset="0"/>
              <a:buChar char="•"/>
            </a:pPr>
            <a:r>
              <a:rPr lang="en-AU" sz="1200" kern="1200" dirty="0" smtClean="0">
                <a:solidFill>
                  <a:schemeClr val="tx1"/>
                </a:solidFill>
                <a:ea typeface="+mn-ea"/>
                <a:cs typeface="+mn-cs"/>
              </a:rPr>
              <a:t> Static guard duties providing a visible presence and deterrent</a:t>
            </a:r>
          </a:p>
          <a:p>
            <a:pPr>
              <a:buFont typeface="Arial" pitchFamily="34" charset="0"/>
              <a:buChar char="•"/>
            </a:pPr>
            <a:r>
              <a:rPr lang="en-AU" sz="1200" kern="1200" dirty="0" smtClean="0">
                <a:solidFill>
                  <a:schemeClr val="tx1"/>
                </a:solidFill>
                <a:ea typeface="+mn-ea"/>
                <a:cs typeface="+mn-cs"/>
              </a:rPr>
              <a:t> Inspection of areas prior to allowing the VIP into the area</a:t>
            </a:r>
          </a:p>
          <a:p>
            <a:pPr>
              <a:buFont typeface="Arial" pitchFamily="34" charset="0"/>
              <a:buChar char="•"/>
            </a:pPr>
            <a:r>
              <a:rPr lang="en-AU" sz="1200" kern="1200" dirty="0" smtClean="0">
                <a:solidFill>
                  <a:schemeClr val="tx1"/>
                </a:solidFill>
                <a:ea typeface="+mn-ea"/>
                <a:cs typeface="+mn-cs"/>
              </a:rPr>
              <a:t> Searching and clearance of nominated areas.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5381790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 identifies surveillance and detection equipment which may be required:</a:t>
            </a:r>
          </a:p>
          <a:p>
            <a:pPr>
              <a:buFont typeface="Arial" pitchFamily="34" charset="0"/>
              <a:buChar char="•"/>
            </a:pPr>
            <a:r>
              <a:rPr lang="en-AU" sz="1200" kern="1200" dirty="0" smtClean="0">
                <a:solidFill>
                  <a:schemeClr val="tx1"/>
                </a:solidFill>
                <a:ea typeface="+mn-ea"/>
                <a:cs typeface="+mn-cs"/>
              </a:rPr>
              <a:t> The overall security system used by the venue as incorporated into the security room.</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system will involve:</a:t>
            </a:r>
          </a:p>
          <a:p>
            <a:pPr lvl="1">
              <a:buFont typeface="Arial" pitchFamily="34" charset="0"/>
              <a:buChar char="•"/>
            </a:pPr>
            <a:r>
              <a:rPr lang="en-AU" sz="1200" kern="1200" dirty="0" smtClean="0">
                <a:solidFill>
                  <a:schemeClr val="tx1"/>
                </a:solidFill>
                <a:ea typeface="+mn-ea"/>
                <a:cs typeface="+mn-cs"/>
              </a:rPr>
              <a:t> Alarms for all security and detection sub-systems</a:t>
            </a:r>
          </a:p>
          <a:p>
            <a:pPr lvl="1">
              <a:buFont typeface="Arial" pitchFamily="34" charset="0"/>
              <a:buChar char="•"/>
            </a:pPr>
            <a:r>
              <a:rPr lang="en-AU" sz="1200" kern="1200" dirty="0" smtClean="0">
                <a:solidFill>
                  <a:schemeClr val="tx1"/>
                </a:solidFill>
                <a:ea typeface="+mn-ea"/>
                <a:cs typeface="+mn-cs"/>
              </a:rPr>
              <a:t> Screens/monitors and indicator boards</a:t>
            </a:r>
          </a:p>
          <a:p>
            <a:pPr>
              <a:buFont typeface="Arial" pitchFamily="34" charset="0"/>
              <a:buChar char="•"/>
            </a:pPr>
            <a:r>
              <a:rPr lang="en-AU" sz="1200" kern="1200" dirty="0" smtClean="0">
                <a:solidFill>
                  <a:schemeClr val="tx1"/>
                </a:solidFill>
                <a:ea typeface="+mn-ea"/>
                <a:cs typeface="+mn-cs"/>
              </a:rPr>
              <a:t> Electronic detection equipment which includes:</a:t>
            </a:r>
          </a:p>
          <a:p>
            <a:pPr lvl="1">
              <a:buFont typeface="Arial" pitchFamily="34" charset="0"/>
              <a:buChar char="•"/>
            </a:pPr>
            <a:r>
              <a:rPr lang="en-AU" sz="1200" kern="1200" dirty="0" smtClean="0">
                <a:solidFill>
                  <a:schemeClr val="tx1"/>
                </a:solidFill>
                <a:ea typeface="+mn-ea"/>
                <a:cs typeface="+mn-cs"/>
              </a:rPr>
              <a:t> Sensors to detect:</a:t>
            </a:r>
          </a:p>
          <a:p>
            <a:pPr lvl="2">
              <a:buFont typeface="Arial" pitchFamily="34" charset="0"/>
              <a:buChar char="•"/>
            </a:pPr>
            <a:r>
              <a:rPr lang="en-AU" sz="1200" kern="1200" dirty="0" smtClean="0">
                <a:solidFill>
                  <a:schemeClr val="tx1"/>
                </a:solidFill>
                <a:ea typeface="+mn-ea"/>
                <a:cs typeface="+mn-cs"/>
              </a:rPr>
              <a:t> Movement in a room/space (‘motion sensors’)</a:t>
            </a:r>
          </a:p>
          <a:p>
            <a:pPr lvl="2">
              <a:buFont typeface="Arial" pitchFamily="34" charset="0"/>
              <a:buChar char="•"/>
            </a:pPr>
            <a:r>
              <a:rPr lang="en-AU" sz="1200" kern="1200" dirty="0" smtClean="0">
                <a:solidFill>
                  <a:schemeClr val="tx1"/>
                </a:solidFill>
                <a:ea typeface="+mn-ea"/>
                <a:cs typeface="+mn-cs"/>
              </a:rPr>
              <a:t> A door or window which has been opened (‘intruder alarms’)</a:t>
            </a:r>
          </a:p>
          <a:p>
            <a:pPr lvl="2">
              <a:buFont typeface="Arial" pitchFamily="34" charset="0"/>
              <a:buChar char="•"/>
            </a:pPr>
            <a:r>
              <a:rPr lang="en-AU" sz="1200" kern="1200" dirty="0" smtClean="0">
                <a:solidFill>
                  <a:schemeClr val="tx1"/>
                </a:solidFill>
                <a:ea typeface="+mn-ea"/>
                <a:cs typeface="+mn-cs"/>
              </a:rPr>
              <a:t> Heat and/or smoke</a:t>
            </a:r>
          </a:p>
          <a:p>
            <a:pPr lvl="1">
              <a:buFont typeface="Arial" pitchFamily="34" charset="0"/>
              <a:buChar char="•"/>
            </a:pPr>
            <a:r>
              <a:rPr lang="en-AU" sz="1200" kern="1200" dirty="0" smtClean="0">
                <a:solidFill>
                  <a:schemeClr val="tx1"/>
                </a:solidFill>
                <a:ea typeface="+mn-ea"/>
                <a:cs typeface="+mn-cs"/>
              </a:rPr>
              <a:t> CCTV cameras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with:</a:t>
            </a:r>
          </a:p>
          <a:p>
            <a:pPr lvl="2">
              <a:buFont typeface="Arial" pitchFamily="34" charset="0"/>
              <a:buChar char="•"/>
            </a:pPr>
            <a:r>
              <a:rPr lang="en-AU" sz="1200" kern="1200" dirty="0" smtClean="0">
                <a:solidFill>
                  <a:schemeClr val="tx1"/>
                </a:solidFill>
                <a:ea typeface="+mn-ea"/>
                <a:cs typeface="+mn-cs"/>
              </a:rPr>
              <a:t> Recorders (DVRs)</a:t>
            </a:r>
          </a:p>
          <a:p>
            <a:pPr lvl="2">
              <a:buFont typeface="Arial" pitchFamily="34" charset="0"/>
              <a:buChar char="•"/>
            </a:pPr>
            <a:r>
              <a:rPr lang="en-AU" sz="1200" kern="1200" dirty="0" smtClean="0">
                <a:solidFill>
                  <a:schemeClr val="tx1"/>
                </a:solidFill>
                <a:ea typeface="+mn-ea"/>
                <a:cs typeface="+mn-cs"/>
              </a:rPr>
              <a:t> Monitors</a:t>
            </a:r>
          </a:p>
          <a:p>
            <a:pPr lvl="2">
              <a:buFont typeface="Arial" pitchFamily="34" charset="0"/>
              <a:buChar char="•"/>
            </a:pPr>
            <a:r>
              <a:rPr lang="en-AU" sz="1200" kern="1200" dirty="0" smtClean="0">
                <a:solidFill>
                  <a:schemeClr val="tx1"/>
                </a:solidFill>
                <a:ea typeface="+mn-ea"/>
                <a:cs typeface="+mn-cs"/>
              </a:rPr>
              <a:t> Standard ‘zoom’, ‘tilt’ and ‘pan’ facilities</a:t>
            </a:r>
          </a:p>
          <a:p>
            <a:pPr lvl="2">
              <a:buFont typeface="Arial" pitchFamily="34" charset="0"/>
              <a:buChar char="•"/>
            </a:pPr>
            <a:r>
              <a:rPr lang="en-AU" sz="1200" kern="1200" dirty="0" smtClean="0">
                <a:solidFill>
                  <a:schemeClr val="tx1"/>
                </a:solidFill>
                <a:ea typeface="+mn-ea"/>
                <a:cs typeface="+mn-cs"/>
              </a:rPr>
              <a:t> CCTV cameras may be ‘wired’ or ‘wireless’ and be of various types such as dome, bullet, covert/hidden, indoor and outdoor, and infrared security cameras (so-called ‘night vision’ cameras)</a:t>
            </a:r>
          </a:p>
          <a:p>
            <a:pPr lvl="2">
              <a:buFont typeface="Arial" pitchFamily="34" charset="0"/>
              <a:buChar char="•"/>
            </a:pPr>
            <a:r>
              <a:rPr lang="en-AU" sz="1200" kern="1200" dirty="0" smtClean="0">
                <a:solidFill>
                  <a:schemeClr val="tx1"/>
                </a:solidFill>
                <a:ea typeface="+mn-ea"/>
                <a:cs typeface="+mn-cs"/>
              </a:rPr>
              <a:t> Metal detectors including:</a:t>
            </a:r>
          </a:p>
          <a:p>
            <a:pPr lvl="3">
              <a:buFont typeface="Arial" pitchFamily="34" charset="0"/>
              <a:buChar char="•"/>
            </a:pPr>
            <a:r>
              <a:rPr lang="en-AU" sz="1200" kern="1200" dirty="0" smtClean="0">
                <a:solidFill>
                  <a:schemeClr val="tx1"/>
                </a:solidFill>
                <a:ea typeface="+mn-ea"/>
                <a:cs typeface="+mn-cs"/>
              </a:rPr>
              <a:t> Walk-through type</a:t>
            </a:r>
          </a:p>
          <a:p>
            <a:pPr lvl="3">
              <a:buFont typeface="Arial" pitchFamily="34" charset="0"/>
              <a:buChar char="•"/>
            </a:pPr>
            <a:r>
              <a:rPr lang="en-AU" sz="1200" kern="1200" dirty="0" smtClean="0">
                <a:solidFill>
                  <a:schemeClr val="tx1"/>
                </a:solidFill>
                <a:ea typeface="+mn-ea"/>
                <a:cs typeface="+mn-cs"/>
              </a:rPr>
              <a:t> Conveyor-belt scanners</a:t>
            </a:r>
          </a:p>
          <a:p>
            <a:pPr lvl="3">
              <a:buFont typeface="Arial" pitchFamily="34" charset="0"/>
              <a:buChar char="•"/>
            </a:pPr>
            <a:r>
              <a:rPr lang="en-AU" sz="1200" kern="1200" dirty="0" smtClean="0">
                <a:solidFill>
                  <a:schemeClr val="tx1"/>
                </a:solidFill>
                <a:ea typeface="+mn-ea"/>
                <a:cs typeface="+mn-cs"/>
              </a:rPr>
              <a:t> Hand-held wands</a:t>
            </a:r>
          </a:p>
          <a:p>
            <a:pPr lvl="2">
              <a:buFont typeface="Arial" pitchFamily="34" charset="0"/>
              <a:buChar char="•"/>
            </a:pPr>
            <a:r>
              <a:rPr lang="en-AU" sz="1200" kern="1200" dirty="0" smtClean="0">
                <a:solidFill>
                  <a:schemeClr val="tx1"/>
                </a:solidFill>
                <a:ea typeface="+mn-ea"/>
                <a:cs typeface="+mn-cs"/>
              </a:rPr>
              <a:t> Video analytic systems and software intended to facilitate crowd and person movement and to enable facial and specific object detection/recognition.</a:t>
            </a:r>
          </a:p>
          <a:p>
            <a:pPr>
              <a:buFont typeface="Arial" pitchFamily="34" charset="0"/>
              <a:buNone/>
            </a:pPr>
            <a:endParaRPr lang="en-AU" noProof="0" dirty="0" smtClean="0"/>
          </a:p>
          <a:p>
            <a:pPr>
              <a:buFont typeface="Arial" pitchFamily="34" charset="0"/>
              <a:buNone/>
            </a:pPr>
            <a:r>
              <a:rPr lang="en-AU" b="1" noProof="0" dirty="0" smtClean="0"/>
              <a:t>Class Activity – Internet Research</a:t>
            </a:r>
          </a:p>
          <a:p>
            <a:pPr>
              <a:buFont typeface="Arial" pitchFamily="34" charset="0"/>
              <a:buNone/>
            </a:pPr>
            <a:r>
              <a:rPr lang="en-AU" b="0" noProof="0" dirty="0" smtClean="0"/>
              <a:t>Trainer facilities class research into and discussion on the findings of security equipment with reference to the following and other appropriate sites:</a:t>
            </a:r>
          </a:p>
          <a:p>
            <a:pPr>
              <a:buFont typeface="Arial" pitchFamily="34" charset="0"/>
              <a:buChar char="•"/>
            </a:pPr>
            <a:r>
              <a:rPr lang="en-AU" sz="1200" u="sng" kern="1200" dirty="0" smtClean="0">
                <a:solidFill>
                  <a:schemeClr val="tx1"/>
                </a:solidFill>
                <a:ea typeface="+mn-ea"/>
                <a:cs typeface="+mn-cs"/>
              </a:rPr>
              <a:t> http://www.securitycameraking.com/securityinfo/2012/11/different-types-of-security-system-cameras/.</a:t>
            </a:r>
            <a:endParaRPr lang="en-AU" b="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13956307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surveillance and detection equipment which may be required:</a:t>
            </a:r>
          </a:p>
          <a:p>
            <a:pPr>
              <a:buFont typeface="Arial" pitchFamily="34" charset="0"/>
              <a:buChar char="•"/>
            </a:pPr>
            <a:r>
              <a:rPr lang="en-AU" sz="1200" kern="1200" dirty="0" smtClean="0">
                <a:solidFill>
                  <a:schemeClr val="tx1"/>
                </a:solidFill>
                <a:ea typeface="+mn-ea"/>
                <a:cs typeface="+mn-cs"/>
              </a:rPr>
              <a:t> Access control technology which may include:</a:t>
            </a:r>
          </a:p>
          <a:p>
            <a:pPr lvl="1">
              <a:buFont typeface="Arial" pitchFamily="34" charset="0"/>
              <a:buChar char="•"/>
            </a:pPr>
            <a:r>
              <a:rPr lang="en-AU" sz="1200" kern="1200" dirty="0" smtClean="0">
                <a:solidFill>
                  <a:schemeClr val="tx1"/>
                </a:solidFill>
                <a:ea typeface="+mn-ea"/>
                <a:cs typeface="+mn-cs"/>
              </a:rPr>
              <a:t> Biometric identification technology:</a:t>
            </a:r>
          </a:p>
          <a:p>
            <a:pPr lvl="2">
              <a:buFont typeface="Arial" pitchFamily="34" charset="0"/>
              <a:buChar char="•"/>
            </a:pPr>
            <a:r>
              <a:rPr lang="en-AU" sz="1200" kern="1200" dirty="0" smtClean="0">
                <a:solidFill>
                  <a:schemeClr val="tx1"/>
                </a:solidFill>
                <a:ea typeface="+mn-ea"/>
                <a:cs typeface="+mn-cs"/>
              </a:rPr>
              <a:t> Palm-scanning technology</a:t>
            </a:r>
          </a:p>
          <a:p>
            <a:pPr lvl="2">
              <a:buFont typeface="Arial" pitchFamily="34" charset="0"/>
              <a:buChar char="•"/>
            </a:pPr>
            <a:r>
              <a:rPr lang="en-AU" sz="1200" kern="1200" dirty="0" smtClean="0">
                <a:solidFill>
                  <a:schemeClr val="tx1"/>
                </a:solidFill>
                <a:ea typeface="+mn-ea"/>
                <a:cs typeface="+mn-cs"/>
              </a:rPr>
              <a:t> Retina and iris scanning technology</a:t>
            </a:r>
          </a:p>
          <a:p>
            <a:pPr lvl="1">
              <a:buFont typeface="Arial" pitchFamily="34" charset="0"/>
              <a:buChar char="•"/>
            </a:pPr>
            <a:r>
              <a:rPr lang="en-AU" sz="1200" kern="1200" dirty="0" smtClean="0">
                <a:solidFill>
                  <a:schemeClr val="tx1"/>
                </a:solidFill>
                <a:ea typeface="+mn-ea"/>
                <a:cs typeface="+mn-cs"/>
              </a:rPr>
              <a:t> Coded key pads</a:t>
            </a:r>
          </a:p>
          <a:p>
            <a:pPr lvl="1">
              <a:buFont typeface="Arial" pitchFamily="34" charset="0"/>
              <a:buChar char="•"/>
            </a:pPr>
            <a:r>
              <a:rPr lang="en-AU" sz="1200" kern="1200" dirty="0" smtClean="0">
                <a:solidFill>
                  <a:schemeClr val="tx1"/>
                </a:solidFill>
                <a:ea typeface="+mn-ea"/>
                <a:cs typeface="+mn-cs"/>
              </a:rPr>
              <a:t> Data capture technology/swipe card machines</a:t>
            </a:r>
          </a:p>
          <a:p>
            <a:pPr>
              <a:buFont typeface="Arial" pitchFamily="34" charset="0"/>
              <a:buChar char="•"/>
            </a:pPr>
            <a:r>
              <a:rPr lang="en-AU" sz="1200" kern="1200" dirty="0" smtClean="0">
                <a:solidFill>
                  <a:schemeClr val="tx1"/>
                </a:solidFill>
                <a:ea typeface="+mn-ea"/>
                <a:cs typeface="+mn-cs"/>
              </a:rPr>
              <a:t> Binoculars</a:t>
            </a:r>
          </a:p>
          <a:p>
            <a:pPr>
              <a:buFont typeface="Arial" pitchFamily="34" charset="0"/>
              <a:buChar char="•"/>
            </a:pPr>
            <a:r>
              <a:rPr lang="en-AU" sz="1200" kern="1200" dirty="0" smtClean="0">
                <a:solidFill>
                  <a:schemeClr val="tx1"/>
                </a:solidFill>
                <a:ea typeface="+mn-ea"/>
                <a:cs typeface="+mn-cs"/>
              </a:rPr>
              <a:t> Hand-held cameras:</a:t>
            </a:r>
          </a:p>
          <a:p>
            <a:pPr lvl="1">
              <a:buFont typeface="Arial" pitchFamily="34" charset="0"/>
              <a:buChar char="•"/>
            </a:pPr>
            <a:r>
              <a:rPr lang="en-AU" sz="1200" kern="1200" dirty="0" smtClean="0">
                <a:solidFill>
                  <a:schemeClr val="tx1"/>
                </a:solidFill>
                <a:ea typeface="+mn-ea"/>
                <a:cs typeface="+mn-cs"/>
              </a:rPr>
              <a:t> Video</a:t>
            </a:r>
          </a:p>
          <a:p>
            <a:pPr lvl="1">
              <a:buFont typeface="Arial" pitchFamily="34" charset="0"/>
              <a:buChar char="•"/>
            </a:pPr>
            <a:r>
              <a:rPr lang="en-AU" sz="1200" kern="1200" dirty="0" smtClean="0">
                <a:solidFill>
                  <a:schemeClr val="tx1"/>
                </a:solidFill>
                <a:ea typeface="+mn-ea"/>
                <a:cs typeface="+mn-cs"/>
              </a:rPr>
              <a:t> Still picture.</a:t>
            </a:r>
          </a:p>
          <a:p>
            <a:pPr>
              <a:buFont typeface="Arial" pitchFamily="34" charset="0"/>
              <a:buChar char="•"/>
            </a:pPr>
            <a:r>
              <a:rPr lang="en-AU" sz="1200" kern="1200" dirty="0" smtClean="0">
                <a:solidFill>
                  <a:schemeClr val="tx1"/>
                </a:solidFill>
                <a:ea typeface="+mn-ea"/>
                <a:cs typeface="+mn-cs"/>
              </a:rPr>
              <a:t> Audio surveillance equipment.</a:t>
            </a:r>
          </a:p>
          <a:p>
            <a:pPr>
              <a:buFont typeface="Arial" pitchFamily="34" charset="0"/>
              <a:buChar char="•"/>
            </a:pPr>
            <a:endParaRPr lang="en-AU" noProof="0" dirty="0" smtClean="0"/>
          </a:p>
          <a:p>
            <a:pPr>
              <a:buFont typeface="Arial" pitchFamily="34" charset="0"/>
              <a:buNone/>
            </a:pPr>
            <a:r>
              <a:rPr lang="en-AU" b="1" noProof="0" dirty="0" smtClean="0"/>
              <a:t>Class Activity – Guest Speaker </a:t>
            </a:r>
          </a:p>
          <a:p>
            <a:pPr>
              <a:buFont typeface="Arial" pitchFamily="34" charset="0"/>
              <a:buNone/>
            </a:pPr>
            <a:r>
              <a:rPr lang="en-AU" b="0" noProof="0" dirty="0" smtClean="0"/>
              <a:t>Trainer arranges for provider of security equipment to attend and:</a:t>
            </a:r>
          </a:p>
          <a:p>
            <a:pPr>
              <a:buFont typeface="Arial" pitchFamily="34" charset="0"/>
              <a:buChar char="•"/>
            </a:pPr>
            <a:r>
              <a:rPr lang="en-AU" b="0" noProof="0" dirty="0" smtClean="0"/>
              <a:t> Discuss security equipment and systems</a:t>
            </a:r>
          </a:p>
          <a:p>
            <a:pPr>
              <a:buFont typeface="Arial" pitchFamily="34" charset="0"/>
              <a:buChar char="•"/>
            </a:pPr>
            <a:r>
              <a:rPr lang="en-AU" b="0" noProof="0" dirty="0" smtClean="0"/>
              <a:t> Bring and demonstrate sample items  </a:t>
            </a:r>
          </a:p>
          <a:p>
            <a:pPr>
              <a:buFont typeface="Arial" pitchFamily="34" charset="0"/>
              <a:buChar char="•"/>
            </a:pPr>
            <a:r>
              <a:rPr lang="en-AU" b="0" noProof="0" dirty="0" smtClean="0"/>
              <a:t> Explain variations in options and applications</a:t>
            </a:r>
          </a:p>
          <a:p>
            <a:pPr>
              <a:buFont typeface="Arial" pitchFamily="34" charset="0"/>
              <a:buChar char="•"/>
            </a:pPr>
            <a:r>
              <a:rPr lang="en-AU" b="0" noProof="0" dirty="0" smtClean="0"/>
              <a:t> Supply promotion materials about different security items/equipment.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1374858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communication </a:t>
            </a:r>
            <a:r>
              <a:rPr lang="en-AU" sz="1200" kern="1200" dirty="0" smtClean="0">
                <a:solidFill>
                  <a:schemeClr val="tx1"/>
                </a:solidFill>
                <a:ea typeface="+mn-ea"/>
                <a:cs typeface="+mn-cs"/>
              </a:rPr>
              <a:t>equipment which might be needed:</a:t>
            </a:r>
          </a:p>
          <a:p>
            <a:pPr>
              <a:buFont typeface="Arial" pitchFamily="34" charset="0"/>
              <a:buChar char="•"/>
            </a:pPr>
            <a:r>
              <a:rPr lang="en-AU" sz="1200" kern="1200" dirty="0" smtClean="0">
                <a:solidFill>
                  <a:schemeClr val="tx1"/>
                </a:solidFill>
                <a:ea typeface="+mn-ea"/>
                <a:cs typeface="+mn-cs"/>
              </a:rPr>
              <a:t> Hand-held two-way radios (UHF and VHF) which may feature lapel microphones</a:t>
            </a:r>
          </a:p>
          <a:p>
            <a:pPr>
              <a:buFont typeface="Arial" pitchFamily="34" charset="0"/>
              <a:buChar char="•"/>
            </a:pPr>
            <a:r>
              <a:rPr lang="en-AU" sz="1200" kern="1200" dirty="0" smtClean="0">
                <a:solidFill>
                  <a:schemeClr val="tx1"/>
                </a:solidFill>
                <a:ea typeface="+mn-ea"/>
                <a:cs typeface="+mn-cs"/>
              </a:rPr>
              <a:t> Communication headsets with microphones and earpieces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allowing the hands to be free for other work</a:t>
            </a:r>
          </a:p>
          <a:p>
            <a:pPr>
              <a:buFont typeface="Arial" pitchFamily="34" charset="0"/>
              <a:buChar char="•"/>
            </a:pPr>
            <a:r>
              <a:rPr lang="en-AU" sz="1200" kern="1200" dirty="0" smtClean="0">
                <a:solidFill>
                  <a:schemeClr val="tx1"/>
                </a:solidFill>
                <a:ea typeface="+mn-ea"/>
                <a:cs typeface="+mn-cs"/>
              </a:rPr>
              <a:t> Intercoms for internal communication between two (or more) points</a:t>
            </a:r>
          </a:p>
          <a:p>
            <a:pPr>
              <a:buFont typeface="Arial" pitchFamily="34" charset="0"/>
              <a:buChar char="•"/>
            </a:pPr>
            <a:r>
              <a:rPr lang="en-AU" sz="1200" kern="1200" dirty="0" smtClean="0">
                <a:solidFill>
                  <a:schemeClr val="tx1"/>
                </a:solidFill>
                <a:ea typeface="+mn-ea"/>
                <a:cs typeface="+mn-cs"/>
              </a:rPr>
              <a:t> Landline telephones such as the internal telephony system in a venue.</a:t>
            </a:r>
          </a:p>
          <a:p>
            <a:pPr>
              <a:buFont typeface="Arial" pitchFamily="34" charset="0"/>
              <a:buNone/>
            </a:pPr>
            <a:endParaRPr lang="en-AU" noProof="0" dirty="0" smtClean="0"/>
          </a:p>
          <a:p>
            <a:pPr>
              <a:buFont typeface="Arial" pitchFamily="34" charset="0"/>
              <a:buNone/>
            </a:pPr>
            <a:r>
              <a:rPr lang="en-AU" b="1" noProof="0" dirty="0" smtClean="0"/>
              <a:t>Class Activity – Samples of Items</a:t>
            </a:r>
          </a:p>
          <a:p>
            <a:pPr>
              <a:buFont typeface="Arial" pitchFamily="34" charset="0"/>
              <a:buNone/>
            </a:pPr>
            <a:r>
              <a:rPr lang="en-AU" b="0" noProof="0" dirty="0" smtClean="0"/>
              <a:t>Trainer obtains, presents, demonstrates and/or explains items listed on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39305671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identifying communication </a:t>
            </a:r>
            <a:r>
              <a:rPr lang="en-AU" sz="1200" kern="1200" dirty="0" smtClean="0">
                <a:solidFill>
                  <a:schemeClr val="tx1"/>
                </a:solidFill>
                <a:ea typeface="+mn-ea"/>
                <a:cs typeface="+mn-cs"/>
              </a:rPr>
              <a:t>equipment which might be needed:</a:t>
            </a:r>
          </a:p>
          <a:p>
            <a:pPr>
              <a:buFont typeface="Arial" pitchFamily="34" charset="0"/>
              <a:buChar char="•"/>
            </a:pPr>
            <a:r>
              <a:rPr lang="en-AU" sz="1200" kern="1200" dirty="0" smtClean="0">
                <a:solidFill>
                  <a:schemeClr val="tx1"/>
                </a:solidFill>
                <a:ea typeface="+mn-ea"/>
                <a:cs typeface="+mn-cs"/>
              </a:rPr>
              <a:t> Cell phones provided by management</a:t>
            </a:r>
          </a:p>
          <a:p>
            <a:pPr>
              <a:buFont typeface="Arial" pitchFamily="34" charset="0"/>
              <a:buChar char="•"/>
            </a:pPr>
            <a:r>
              <a:rPr lang="en-AU" sz="1200" kern="1200" dirty="0" smtClean="0">
                <a:solidFill>
                  <a:schemeClr val="tx1"/>
                </a:solidFill>
                <a:ea typeface="+mn-ea"/>
                <a:cs typeface="+mn-cs"/>
              </a:rPr>
              <a:t> Pagers of limited use but can be used as a back-up to summon assistance or ask a security officer to check in/contact someone</a:t>
            </a:r>
          </a:p>
          <a:p>
            <a:pPr>
              <a:buFont typeface="Arial" pitchFamily="34" charset="0"/>
              <a:buChar char="•"/>
            </a:pPr>
            <a:r>
              <a:rPr lang="en-AU" sz="1200" kern="1200" dirty="0" smtClean="0">
                <a:solidFill>
                  <a:schemeClr val="tx1"/>
                </a:solidFill>
                <a:ea typeface="+mn-ea"/>
                <a:cs typeface="+mn-cs"/>
              </a:rPr>
              <a:t> Public address systems can be used to communicate generally with customers, or the systems can be used in defined areas/sections (sectors) only</a:t>
            </a:r>
          </a:p>
          <a:p>
            <a:pPr>
              <a:buFont typeface="Arial" pitchFamily="34" charset="0"/>
              <a:buChar char="•"/>
            </a:pPr>
            <a:r>
              <a:rPr lang="en-AU" sz="1200" kern="1200" dirty="0" smtClean="0">
                <a:solidFill>
                  <a:schemeClr val="tx1"/>
                </a:solidFill>
                <a:ea typeface="+mn-ea"/>
                <a:cs typeface="+mn-cs"/>
              </a:rPr>
              <a:t> Megaphones for communicating with the public where the PA system does not operate, as an alternative to the PA system or during emergencies and evacuations.</a:t>
            </a:r>
          </a:p>
          <a:p>
            <a:endParaRPr lang="en-AU" sz="1200" kern="1200" dirty="0" smtClean="0">
              <a:solidFill>
                <a:schemeClr val="tx1"/>
              </a:solidFill>
              <a:ea typeface="+mn-ea"/>
              <a:cs typeface="+mn-cs"/>
            </a:endParaRPr>
          </a:p>
          <a:p>
            <a:pPr>
              <a:buFont typeface="Arial" pitchFamily="34" charset="0"/>
              <a:buNone/>
            </a:pPr>
            <a:r>
              <a:rPr lang="en-AU" b="1" noProof="0" dirty="0" smtClean="0"/>
              <a:t>Class Activity – Samples of Items</a:t>
            </a:r>
          </a:p>
          <a:p>
            <a:pPr>
              <a:buFont typeface="Arial" pitchFamily="34" charset="0"/>
              <a:buNone/>
            </a:pPr>
            <a:r>
              <a:rPr lang="en-AU" b="0" noProof="0" dirty="0" smtClean="0"/>
              <a:t>Trainer obtains, presents, demonstrates and/or explains items listed on slide.</a:t>
            </a: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2787981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ea typeface="+mn-ea"/>
                <a:cs typeface="+mn-cs"/>
              </a:rPr>
              <a:t>standard options to obtain surveillance and communication equipment:</a:t>
            </a:r>
          </a:p>
          <a:p>
            <a:pPr>
              <a:buFont typeface="Arial" pitchFamily="34" charset="0"/>
              <a:buChar char="•"/>
            </a:pPr>
            <a:r>
              <a:rPr lang="en-AU" sz="1200" kern="1200" dirty="0" smtClean="0">
                <a:solidFill>
                  <a:schemeClr val="tx1"/>
                </a:solidFill>
                <a:ea typeface="+mn-ea"/>
                <a:cs typeface="+mn-cs"/>
              </a:rPr>
              <a:t> Buy – outright purchase</a:t>
            </a:r>
          </a:p>
          <a:p>
            <a:pPr>
              <a:buFont typeface="Arial" pitchFamily="34" charset="0"/>
              <a:buChar char="•"/>
            </a:pPr>
            <a:r>
              <a:rPr lang="en-AU" sz="1200" kern="1200" dirty="0" smtClean="0">
                <a:solidFill>
                  <a:schemeClr val="tx1"/>
                </a:solidFill>
                <a:ea typeface="+mn-ea"/>
                <a:cs typeface="+mn-cs"/>
              </a:rPr>
              <a:t> Borrow – from another venue (including competitors),</a:t>
            </a:r>
            <a:r>
              <a:rPr lang="en-AU" sz="1200" kern="1200" baseline="0" dirty="0" smtClean="0">
                <a:solidFill>
                  <a:schemeClr val="tx1"/>
                </a:solidFill>
                <a:ea typeface="+mn-ea"/>
                <a:cs typeface="+mn-cs"/>
              </a:rPr>
              <a:t> or Head Office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Rent/hire</a:t>
            </a:r>
          </a:p>
          <a:p>
            <a:pPr>
              <a:buFont typeface="Arial" pitchFamily="34" charset="0"/>
              <a:buChar char="•"/>
            </a:pPr>
            <a:r>
              <a:rPr lang="en-AU" sz="1200" kern="1200" dirty="0" smtClean="0">
                <a:solidFill>
                  <a:schemeClr val="tx1"/>
                </a:solidFill>
                <a:ea typeface="+mn-ea"/>
                <a:cs typeface="+mn-cs"/>
              </a:rPr>
              <a:t> Lease.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5695611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pre-requisite</a:t>
            </a:r>
            <a:r>
              <a:rPr lang="en-AU" baseline="0" noProof="0" dirty="0" smtClean="0"/>
              <a:t> preparations for equipment prior to a VIP visit:</a:t>
            </a:r>
            <a:endParaRPr lang="en-AU" noProof="0" dirty="0" smtClean="0"/>
          </a:p>
          <a:p>
            <a:pPr>
              <a:buFont typeface="Arial" pitchFamily="34" charset="0"/>
              <a:buChar char="•"/>
            </a:pPr>
            <a:r>
              <a:rPr lang="en-AU" sz="1200" kern="1200" dirty="0" smtClean="0">
                <a:solidFill>
                  <a:schemeClr val="tx1"/>
                </a:solidFill>
                <a:ea typeface="+mn-ea"/>
                <a:cs typeface="+mn-cs"/>
              </a:rPr>
              <a:t> Established a control and communications room which will be the command and control room in the event there is an emergency while the VIP is at the venue</a:t>
            </a:r>
          </a:p>
          <a:p>
            <a:pPr>
              <a:buFont typeface="Arial" pitchFamily="34" charset="0"/>
              <a:buChar char="•"/>
            </a:pPr>
            <a:r>
              <a:rPr lang="en-AU" sz="1200" kern="1200" dirty="0" smtClean="0">
                <a:solidFill>
                  <a:schemeClr val="tx1"/>
                </a:solidFill>
                <a:ea typeface="+mn-ea"/>
                <a:cs typeface="+mn-cs"/>
              </a:rPr>
              <a:t> Delivered necessary training to all staff who are involved in use of surveillance and communication equipment</a:t>
            </a:r>
          </a:p>
          <a:p>
            <a:pPr>
              <a:buFont typeface="Arial" pitchFamily="34" charset="0"/>
              <a:buChar char="•"/>
            </a:pPr>
            <a:r>
              <a:rPr lang="en-AU" sz="1200" kern="1200" dirty="0" smtClean="0">
                <a:solidFill>
                  <a:schemeClr val="tx1"/>
                </a:solidFill>
                <a:ea typeface="+mn-ea"/>
                <a:cs typeface="+mn-cs"/>
              </a:rPr>
              <a:t> Ensured sufficient logs, registers and documentation to support and record surveillance and monitoring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8899938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pre-requisite</a:t>
            </a:r>
            <a:r>
              <a:rPr lang="en-AU" baseline="0" noProof="0" dirty="0" smtClean="0"/>
              <a:t> preparations for equipment prior to a VIP visit:</a:t>
            </a:r>
          </a:p>
          <a:p>
            <a:pPr>
              <a:buFont typeface="Arial" pitchFamily="34" charset="0"/>
              <a:buChar char="•"/>
            </a:pPr>
            <a:r>
              <a:rPr lang="en-AU" sz="1200" kern="1200" dirty="0" smtClean="0">
                <a:solidFill>
                  <a:schemeClr val="tx1"/>
                </a:solidFill>
                <a:ea typeface="+mn-ea"/>
                <a:cs typeface="+mn-cs"/>
              </a:rPr>
              <a:t> Conducted tests of all workplace surveillance and communications equipment and recorded/document the fact this has been done</a:t>
            </a:r>
          </a:p>
          <a:p>
            <a:pPr>
              <a:buFont typeface="Arial" pitchFamily="34" charset="0"/>
              <a:buChar char="•"/>
            </a:pPr>
            <a:r>
              <a:rPr lang="en-AU" sz="1200" kern="1200" dirty="0" smtClean="0">
                <a:solidFill>
                  <a:schemeClr val="tx1"/>
                </a:solidFill>
                <a:ea typeface="+mn-ea"/>
                <a:cs typeface="+mn-cs"/>
              </a:rPr>
              <a:t> Developed standard communication protocols for using communication equipment – see below</a:t>
            </a:r>
          </a:p>
          <a:p>
            <a:pPr>
              <a:buFont typeface="Arial" pitchFamily="34" charset="0"/>
              <a:buChar char="•"/>
            </a:pPr>
            <a:r>
              <a:rPr lang="en-AU" sz="1200" kern="1200" dirty="0" smtClean="0">
                <a:solidFill>
                  <a:schemeClr val="tx1"/>
                </a:solidFill>
                <a:ea typeface="+mn-ea"/>
                <a:cs typeface="+mn-cs"/>
              </a:rPr>
              <a:t> Patched venue facilities into communications systems used by support agencies and personnel and tested these connections</a:t>
            </a:r>
          </a:p>
          <a:p>
            <a:pPr>
              <a:buFont typeface="Arial" pitchFamily="34" charset="0"/>
              <a:buChar char="•"/>
            </a:pPr>
            <a:r>
              <a:rPr lang="en-AU" sz="1200" kern="1200" dirty="0" smtClean="0">
                <a:solidFill>
                  <a:schemeClr val="tx1"/>
                </a:solidFill>
                <a:ea typeface="+mn-ea"/>
                <a:cs typeface="+mn-cs"/>
              </a:rPr>
              <a:t> Conducted a mock response scenario – a drill in response to a simulated emergency or event/incident.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2253467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and explains possible communication protocols:</a:t>
            </a:r>
          </a:p>
          <a:p>
            <a:pPr>
              <a:buFont typeface="Arial" pitchFamily="34" charset="0"/>
              <a:buChar char="•"/>
            </a:pPr>
            <a:r>
              <a:rPr lang="en-AU" sz="1200" kern="1200" dirty="0" smtClean="0">
                <a:solidFill>
                  <a:schemeClr val="tx1"/>
                </a:solidFill>
                <a:ea typeface="+mn-ea"/>
                <a:cs typeface="+mn-cs"/>
              </a:rPr>
              <a:t> Ensuring all two-way radio equipment is operational prior to patrol, especially checking battery levels are as required</a:t>
            </a:r>
          </a:p>
          <a:p>
            <a:pPr>
              <a:buFont typeface="Arial" pitchFamily="34" charset="0"/>
              <a:buChar char="•"/>
            </a:pPr>
            <a:r>
              <a:rPr lang="en-AU" sz="1200" kern="1200" dirty="0" smtClean="0">
                <a:solidFill>
                  <a:schemeClr val="tx1"/>
                </a:solidFill>
                <a:ea typeface="+mn-ea"/>
                <a:cs typeface="+mn-cs"/>
              </a:rPr>
              <a:t> Keeping communication lines clear unless addressing security issues – radios are communication devices and not toys </a:t>
            </a:r>
          </a:p>
          <a:p>
            <a:pPr>
              <a:buFont typeface="Arial" pitchFamily="34" charset="0"/>
              <a:buChar char="•"/>
            </a:pPr>
            <a:r>
              <a:rPr lang="en-AU" sz="1200" kern="1200" dirty="0" smtClean="0">
                <a:solidFill>
                  <a:schemeClr val="tx1"/>
                </a:solidFill>
                <a:ea typeface="+mn-ea"/>
                <a:cs typeface="+mn-cs"/>
              </a:rPr>
              <a:t> Using designated channels for communication</a:t>
            </a:r>
          </a:p>
          <a:p>
            <a:pPr>
              <a:buFont typeface="Arial" pitchFamily="34" charset="0"/>
              <a:buChar char="•"/>
            </a:pPr>
            <a:r>
              <a:rPr lang="en-AU" sz="1200" kern="1200" dirty="0" smtClean="0">
                <a:solidFill>
                  <a:schemeClr val="tx1"/>
                </a:solidFill>
                <a:ea typeface="+mn-ea"/>
                <a:cs typeface="+mn-cs"/>
              </a:rPr>
              <a:t> Using established protocols for:</a:t>
            </a:r>
          </a:p>
          <a:p>
            <a:pPr lvl="1">
              <a:buFont typeface="Arial" pitchFamily="34" charset="0"/>
              <a:buChar char="•"/>
            </a:pPr>
            <a:r>
              <a:rPr lang="en-AU" sz="1200" kern="1200" dirty="0" smtClean="0">
                <a:solidFill>
                  <a:schemeClr val="tx1"/>
                </a:solidFill>
                <a:ea typeface="+mn-ea"/>
                <a:cs typeface="+mn-cs"/>
              </a:rPr>
              <a:t> Responding to a transmission</a:t>
            </a:r>
          </a:p>
          <a:p>
            <a:pPr lvl="1">
              <a:buFont typeface="Arial" pitchFamily="34" charset="0"/>
              <a:buChar char="•"/>
            </a:pPr>
            <a:r>
              <a:rPr lang="en-AU" sz="1200" kern="1200" dirty="0" smtClean="0">
                <a:solidFill>
                  <a:schemeClr val="tx1"/>
                </a:solidFill>
                <a:ea typeface="+mn-ea"/>
                <a:cs typeface="+mn-cs"/>
              </a:rPr>
              <a:t> Sending a transmission</a:t>
            </a:r>
          </a:p>
          <a:p>
            <a:pPr lvl="1">
              <a:buFont typeface="Arial" pitchFamily="34" charset="0"/>
              <a:buChar char="•"/>
            </a:pPr>
            <a:r>
              <a:rPr lang="en-AU" sz="1200" kern="1200" dirty="0" smtClean="0">
                <a:solidFill>
                  <a:schemeClr val="tx1"/>
                </a:solidFill>
                <a:ea typeface="+mn-ea"/>
                <a:cs typeface="+mn-cs"/>
              </a:rPr>
              <a:t> Spelling out a name – using the phonetic alphabet (see below)</a:t>
            </a:r>
          </a:p>
          <a:p>
            <a:pPr>
              <a:buFont typeface="Arial" pitchFamily="34" charset="0"/>
              <a:buChar char="•"/>
            </a:pPr>
            <a:r>
              <a:rPr lang="en-AU" sz="1200" kern="1200" dirty="0" smtClean="0">
                <a:solidFill>
                  <a:schemeClr val="tx1"/>
                </a:solidFill>
                <a:ea typeface="+mn-ea"/>
                <a:cs typeface="+mn-cs"/>
              </a:rPr>
              <a:t> Knowing the emergency transmission word/phrase that will give your message priority and immediate attention/response – such as ‘Urgent’, ‘No duff’ or ‘Officer in trouble’.</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0881259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and explaining possible communication protocols:</a:t>
            </a:r>
          </a:p>
          <a:p>
            <a:pPr>
              <a:buFont typeface="Arial" pitchFamily="34" charset="0"/>
              <a:buChar char="•"/>
            </a:pPr>
            <a:r>
              <a:rPr lang="en-AU" sz="1200" kern="1200" dirty="0" smtClean="0">
                <a:solidFill>
                  <a:schemeClr val="tx1"/>
                </a:solidFill>
                <a:ea typeface="+mn-ea"/>
                <a:cs typeface="+mn-cs"/>
              </a:rPr>
              <a:t> Reporting-in/checking-in as required such as reporting-in at designated times, or after the completion of designated duties/inspections, on arrival ‘on scene’</a:t>
            </a:r>
          </a:p>
          <a:p>
            <a:pPr>
              <a:buFont typeface="Arial" pitchFamily="34" charset="0"/>
              <a:buChar char="•"/>
            </a:pPr>
            <a:r>
              <a:rPr lang="en-AU" sz="1200" kern="1200" dirty="0" smtClean="0">
                <a:solidFill>
                  <a:schemeClr val="tx1"/>
                </a:solidFill>
                <a:ea typeface="+mn-ea"/>
                <a:cs typeface="+mn-cs"/>
              </a:rPr>
              <a:t> Ensuring individual transmissions do not interrupt (talk over) another transmission</a:t>
            </a:r>
          </a:p>
          <a:p>
            <a:pPr>
              <a:buFont typeface="Arial" pitchFamily="34" charset="0"/>
              <a:buChar char="•"/>
            </a:pPr>
            <a:r>
              <a:rPr lang="en-AU" sz="1200" kern="1200" dirty="0" smtClean="0">
                <a:solidFill>
                  <a:schemeClr val="tx1"/>
                </a:solidFill>
                <a:ea typeface="+mn-ea"/>
                <a:cs typeface="+mn-cs"/>
              </a:rPr>
              <a:t> Using ‘over’ at the end of each sent transmission</a:t>
            </a:r>
          </a:p>
          <a:p>
            <a:pPr>
              <a:buFont typeface="Arial" pitchFamily="34" charset="0"/>
              <a:buChar char="•"/>
            </a:pPr>
            <a:r>
              <a:rPr lang="en-AU" sz="1200" kern="1200" dirty="0" smtClean="0">
                <a:solidFill>
                  <a:schemeClr val="tx1"/>
                </a:solidFill>
                <a:ea typeface="+mn-ea"/>
                <a:cs typeface="+mn-cs"/>
              </a:rPr>
              <a:t> Using ‘go ahead’ to indicate you are ready to receive</a:t>
            </a:r>
          </a:p>
          <a:p>
            <a:pPr>
              <a:buFont typeface="Arial" pitchFamily="34" charset="0"/>
              <a:buChar char="•"/>
            </a:pPr>
            <a:r>
              <a:rPr lang="en-AU" sz="1200" kern="1200" dirty="0" smtClean="0">
                <a:solidFill>
                  <a:schemeClr val="tx1"/>
                </a:solidFill>
                <a:ea typeface="+mn-ea"/>
                <a:cs typeface="+mn-cs"/>
              </a:rPr>
              <a:t> Identifying yourself clearly at the start of any transmission sequence – ‘Security Control, this is James Bond, over’</a:t>
            </a:r>
          </a:p>
          <a:p>
            <a:pPr>
              <a:buFont typeface="Arial" pitchFamily="34" charset="0"/>
              <a:buChar char="•"/>
            </a:pPr>
            <a:r>
              <a:rPr lang="en-AU" sz="1200" kern="1200" dirty="0" smtClean="0">
                <a:solidFill>
                  <a:schemeClr val="tx1"/>
                </a:solidFill>
                <a:ea typeface="+mn-ea"/>
                <a:cs typeface="+mn-cs"/>
              </a:rPr>
              <a:t> Refraining from swearing or using bad language when communicating</a:t>
            </a:r>
          </a:p>
          <a:p>
            <a:pPr>
              <a:buFont typeface="Arial" pitchFamily="34" charset="0"/>
              <a:buChar char="•"/>
            </a:pPr>
            <a:r>
              <a:rPr lang="en-AU" sz="1200" kern="1200" dirty="0" smtClean="0">
                <a:solidFill>
                  <a:schemeClr val="tx1"/>
                </a:solidFill>
                <a:ea typeface="+mn-ea"/>
                <a:cs typeface="+mn-cs"/>
              </a:rPr>
              <a:t> Not mentioning matters ‘over the air’ that are sensitive in nature or which could cause panic or distress if heard by a third party.</a:t>
            </a:r>
          </a:p>
          <a:p>
            <a:pPr>
              <a:buFont typeface="Arial" pitchFamily="34" charset="0"/>
              <a:buChar char="•"/>
            </a:pPr>
            <a:r>
              <a:rPr lang="en-AU" noProof="0" dirty="0" smtClean="0"/>
              <a:t> Using phonetic alphabet to spell out names.</a:t>
            </a:r>
          </a:p>
          <a:p>
            <a:pPr>
              <a:buFont typeface="Arial" pitchFamily="34" charset="0"/>
              <a:buNone/>
            </a:pPr>
            <a:endParaRPr lang="en-AU" noProof="0" dirty="0" smtClean="0"/>
          </a:p>
          <a:p>
            <a:pPr>
              <a:buFont typeface="Arial" pitchFamily="34" charset="0"/>
              <a:buNone/>
            </a:pPr>
            <a:r>
              <a:rPr lang="en-AU" sz="1200" b="1" kern="1200" baseline="0" dirty="0" smtClean="0">
                <a:solidFill>
                  <a:schemeClr val="tx1"/>
                </a:solidFill>
                <a:ea typeface="+mn-ea"/>
                <a:cs typeface="+mn-cs"/>
              </a:rPr>
              <a:t>Class Activity – Individual Exercises</a:t>
            </a:r>
          </a:p>
          <a:p>
            <a:pPr>
              <a:buFont typeface="Arial" pitchFamily="34" charset="0"/>
              <a:buNone/>
            </a:pPr>
            <a:r>
              <a:rPr lang="en-AU" sz="1200" b="0" kern="1200" baseline="0" dirty="0" smtClean="0">
                <a:solidFill>
                  <a:schemeClr val="tx1"/>
                </a:solidFill>
                <a:ea typeface="+mn-ea"/>
                <a:cs typeface="+mn-cs"/>
              </a:rPr>
              <a:t>Trainer distributed copy of phonetic alphabet (as contained in Trainee Manual) and asks students to:</a:t>
            </a:r>
          </a:p>
          <a:p>
            <a:pPr>
              <a:buFont typeface="Arial" pitchFamily="34" charset="0"/>
              <a:buChar char="•"/>
            </a:pPr>
            <a:r>
              <a:rPr lang="en-AU" sz="1200" b="0" kern="1200" baseline="0" dirty="0" smtClean="0">
                <a:solidFill>
                  <a:schemeClr val="tx1"/>
                </a:solidFill>
                <a:ea typeface="+mn-ea"/>
                <a:cs typeface="+mn-cs"/>
              </a:rPr>
              <a:t> Spell out their own name using the phonetic alphabet</a:t>
            </a:r>
          </a:p>
          <a:p>
            <a:pPr>
              <a:buFont typeface="Arial" pitchFamily="34" charset="0"/>
              <a:buChar char="•"/>
            </a:pPr>
            <a:r>
              <a:rPr lang="en-AU" sz="1200" b="0" kern="1200" baseline="0" dirty="0" smtClean="0">
                <a:solidFill>
                  <a:schemeClr val="tx1"/>
                </a:solidFill>
                <a:ea typeface="+mn-ea"/>
                <a:cs typeface="+mn-cs"/>
              </a:rPr>
              <a:t> Spell out the names of three other people using the phonetic alphabet.</a:t>
            </a:r>
            <a:endParaRPr lang="en-AU" sz="1200" b="0" kern="1200" dirty="0" smtClean="0">
              <a:solidFill>
                <a:schemeClr val="tx1"/>
              </a:solidFill>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23890265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AU" noProof="0" dirty="0" smtClean="0"/>
              <a:t>Trainer states </a:t>
            </a:r>
            <a:r>
              <a:rPr lang="en-AU" sz="1200" kern="1200" dirty="0" smtClean="0">
                <a:solidFill>
                  <a:schemeClr val="tx1"/>
                </a:solidFill>
                <a:ea typeface="+mn-ea"/>
                <a:cs typeface="+mn-cs"/>
              </a:rPr>
              <a:t>when a VIP visits there will be a need to select staff to provide for VIP safety explaining personnel required to provide for VIP safety may include:</a:t>
            </a:r>
          </a:p>
          <a:p>
            <a:pPr>
              <a:buFont typeface="Arial" pitchFamily="34" charset="0"/>
              <a:buChar char="•"/>
            </a:pPr>
            <a:r>
              <a:rPr lang="en-AU" sz="1200" kern="1200" dirty="0" smtClean="0">
                <a:solidFill>
                  <a:schemeClr val="tx1"/>
                </a:solidFill>
                <a:ea typeface="+mn-ea"/>
                <a:cs typeface="+mn-cs"/>
              </a:rPr>
              <a:t> External security companies who may provide:</a:t>
            </a:r>
          </a:p>
          <a:p>
            <a:pPr lvl="1">
              <a:buFont typeface="Arial" pitchFamily="34" charset="0"/>
              <a:buChar char="•"/>
            </a:pPr>
            <a:r>
              <a:rPr lang="en-AU" sz="1200" kern="1200" dirty="0" smtClean="0">
                <a:solidFill>
                  <a:schemeClr val="tx1"/>
                </a:solidFill>
                <a:ea typeface="+mn-ea"/>
                <a:cs typeface="+mn-cs"/>
              </a:rPr>
              <a:t> Bodyguards</a:t>
            </a:r>
          </a:p>
          <a:p>
            <a:pPr lvl="1">
              <a:buFont typeface="Arial" pitchFamily="34" charset="0"/>
              <a:buChar char="•"/>
            </a:pPr>
            <a:r>
              <a:rPr lang="en-AU" sz="1200" kern="1200" dirty="0" smtClean="0">
                <a:solidFill>
                  <a:schemeClr val="tx1"/>
                </a:solidFill>
                <a:ea typeface="+mn-ea"/>
                <a:cs typeface="+mn-cs"/>
              </a:rPr>
              <a:t> Close escorts</a:t>
            </a:r>
          </a:p>
          <a:p>
            <a:pPr lvl="1">
              <a:buFont typeface="Arial" pitchFamily="34" charset="0"/>
              <a:buChar char="•"/>
            </a:pPr>
            <a:r>
              <a:rPr lang="en-AU" sz="1200" kern="1200" dirty="0" smtClean="0">
                <a:solidFill>
                  <a:schemeClr val="tx1"/>
                </a:solidFill>
                <a:ea typeface="+mn-ea"/>
                <a:cs typeface="+mn-cs"/>
              </a:rPr>
              <a:t> Static guards</a:t>
            </a:r>
          </a:p>
          <a:p>
            <a:pPr lvl="1">
              <a:buFont typeface="Arial" pitchFamily="34" charset="0"/>
              <a:buChar char="•"/>
            </a:pPr>
            <a:r>
              <a:rPr lang="en-AU" sz="1200" kern="1200" dirty="0" smtClean="0">
                <a:solidFill>
                  <a:schemeClr val="tx1"/>
                </a:solidFill>
                <a:ea typeface="+mn-ea"/>
                <a:cs typeface="+mn-cs"/>
              </a:rPr>
              <a:t> Drivers</a:t>
            </a:r>
          </a:p>
          <a:p>
            <a:pPr lvl="1">
              <a:buFont typeface="Arial" pitchFamily="34" charset="0"/>
              <a:buChar char="•"/>
            </a:pPr>
            <a:r>
              <a:rPr lang="en-AU" sz="1200" kern="1200" dirty="0" smtClean="0">
                <a:solidFill>
                  <a:schemeClr val="tx1"/>
                </a:solidFill>
                <a:ea typeface="+mn-ea"/>
                <a:cs typeface="+mn-cs"/>
              </a:rPr>
              <a:t> Operators for security/detection equipment and devices</a:t>
            </a:r>
          </a:p>
          <a:p>
            <a:pPr>
              <a:buFont typeface="Arial" pitchFamily="34" charset="0"/>
              <a:buChar char="•"/>
            </a:pPr>
            <a:r>
              <a:rPr lang="en-AU" sz="1200" kern="1200" dirty="0" smtClean="0">
                <a:solidFill>
                  <a:schemeClr val="tx1"/>
                </a:solidFill>
                <a:ea typeface="+mn-ea"/>
                <a:cs typeface="+mn-cs"/>
              </a:rPr>
              <a:t> Police – to provide:</a:t>
            </a:r>
          </a:p>
          <a:p>
            <a:pPr lvl="1">
              <a:buFont typeface="Arial" pitchFamily="34" charset="0"/>
              <a:buChar char="•"/>
            </a:pPr>
            <a:r>
              <a:rPr lang="en-AU" sz="1200" kern="1200" dirty="0" smtClean="0">
                <a:solidFill>
                  <a:schemeClr val="tx1"/>
                </a:solidFill>
                <a:ea typeface="+mn-ea"/>
                <a:cs typeface="+mn-cs"/>
              </a:rPr>
              <a:t> Crowd control</a:t>
            </a:r>
          </a:p>
          <a:p>
            <a:pPr lvl="1">
              <a:buFont typeface="Arial" pitchFamily="34" charset="0"/>
              <a:buChar char="•"/>
            </a:pPr>
            <a:r>
              <a:rPr lang="en-AU" sz="1200" kern="1200" dirty="0" smtClean="0">
                <a:solidFill>
                  <a:schemeClr val="tx1"/>
                </a:solidFill>
                <a:ea typeface="+mn-ea"/>
                <a:cs typeface="+mn-cs"/>
              </a:rPr>
              <a:t> A legal presence </a:t>
            </a:r>
          </a:p>
          <a:p>
            <a:pPr lvl="1">
              <a:buFont typeface="Arial" pitchFamily="34" charset="0"/>
              <a:buChar char="•"/>
            </a:pPr>
            <a:r>
              <a:rPr lang="en-AU" sz="1200" kern="1200" dirty="0" smtClean="0">
                <a:solidFill>
                  <a:schemeClr val="tx1"/>
                </a:solidFill>
                <a:ea typeface="+mn-ea"/>
                <a:cs typeface="+mn-cs"/>
              </a:rPr>
              <a:t> A visible deterrence to potential criminals </a:t>
            </a:r>
          </a:p>
          <a:p>
            <a:pPr>
              <a:buFont typeface="Arial" pitchFamily="34" charset="0"/>
              <a:buChar char="•"/>
            </a:pPr>
            <a:r>
              <a:rPr lang="en-AU" sz="1200" kern="1200" dirty="0" smtClean="0">
                <a:solidFill>
                  <a:schemeClr val="tx1"/>
                </a:solidFill>
                <a:ea typeface="+mn-ea"/>
                <a:cs typeface="+mn-cs"/>
              </a:rPr>
              <a:t> Internal security staff:</a:t>
            </a:r>
          </a:p>
          <a:p>
            <a:pPr lvl="1">
              <a:buFont typeface="Arial" pitchFamily="34" charset="0"/>
              <a:buChar char="•"/>
            </a:pPr>
            <a:r>
              <a:rPr lang="en-AU" sz="1200" kern="1200" dirty="0" smtClean="0">
                <a:solidFill>
                  <a:schemeClr val="tx1"/>
                </a:solidFill>
                <a:ea typeface="+mn-ea"/>
                <a:cs typeface="+mn-cs"/>
              </a:rPr>
              <a:t> These are the regular security staff at the venue who provide normal patrol, detection and deterrent services</a:t>
            </a:r>
          </a:p>
          <a:p>
            <a:pPr lvl="1">
              <a:buFont typeface="Arial" pitchFamily="34" charset="0"/>
              <a:buChar char="•"/>
            </a:pPr>
            <a:r>
              <a:rPr lang="en-AU" sz="1200" kern="1200" dirty="0" smtClean="0">
                <a:solidFill>
                  <a:schemeClr val="tx1"/>
                </a:solidFill>
                <a:ea typeface="+mn-ea"/>
                <a:cs typeface="+mn-cs"/>
              </a:rPr>
              <a:t> The standard roster for internal security staff is commonly changed to:</a:t>
            </a:r>
          </a:p>
          <a:p>
            <a:pPr lvl="1">
              <a:buFont typeface="Arial" pitchFamily="34" charset="0"/>
              <a:buChar char="•"/>
            </a:pPr>
            <a:r>
              <a:rPr lang="en-AU" sz="1200" kern="1200" dirty="0" smtClean="0">
                <a:solidFill>
                  <a:schemeClr val="tx1"/>
                </a:solidFill>
                <a:ea typeface="+mn-ea"/>
                <a:cs typeface="+mn-cs"/>
              </a:rPr>
              <a:t> Extend the hours normally worked</a:t>
            </a:r>
          </a:p>
          <a:p>
            <a:pPr lvl="1">
              <a:buFont typeface="Arial" pitchFamily="34" charset="0"/>
              <a:buChar char="•"/>
            </a:pPr>
            <a:r>
              <a:rPr lang="en-AU" sz="1200" kern="1200" dirty="0" smtClean="0">
                <a:solidFill>
                  <a:schemeClr val="tx1"/>
                </a:solidFill>
                <a:ea typeface="+mn-ea"/>
                <a:cs typeface="+mn-cs"/>
              </a:rPr>
              <a:t> Increase the number of personnel on duty</a:t>
            </a:r>
          </a:p>
          <a:p>
            <a:pPr lvl="1">
              <a:buFont typeface="Arial" pitchFamily="34" charset="0"/>
              <a:buChar char="•"/>
            </a:pPr>
            <a:r>
              <a:rPr lang="en-AU" sz="1200" kern="1200" dirty="0" smtClean="0">
                <a:solidFill>
                  <a:schemeClr val="tx1"/>
                </a:solidFill>
                <a:ea typeface="+mn-ea"/>
                <a:cs typeface="+mn-cs"/>
              </a:rPr>
              <a:t> Allocate certain staff to VIP-only duty</a:t>
            </a:r>
          </a:p>
          <a:p>
            <a:pPr>
              <a:buFont typeface="Arial" pitchFamily="34" charset="0"/>
              <a:buChar char="•"/>
            </a:pPr>
            <a:r>
              <a:rPr lang="en-AU" sz="1200" kern="1200" dirty="0" smtClean="0">
                <a:solidFill>
                  <a:schemeClr val="tx1"/>
                </a:solidFill>
                <a:ea typeface="+mn-ea"/>
                <a:cs typeface="+mn-cs"/>
              </a:rPr>
              <a:t> Staff provided by, or accompanying VIP.</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can include:</a:t>
            </a:r>
          </a:p>
          <a:p>
            <a:pPr lvl="1">
              <a:buFont typeface="Arial" pitchFamily="34" charset="0"/>
              <a:buChar char="•"/>
            </a:pPr>
            <a:r>
              <a:rPr lang="en-AU" sz="1200" kern="1200" dirty="0" smtClean="0">
                <a:solidFill>
                  <a:schemeClr val="tx1"/>
                </a:solidFill>
                <a:ea typeface="+mn-ea"/>
                <a:cs typeface="+mn-cs"/>
              </a:rPr>
              <a:t> Personal bodyguards who:</a:t>
            </a:r>
          </a:p>
          <a:p>
            <a:pPr lvl="1">
              <a:buFont typeface="Arial" pitchFamily="34" charset="0"/>
              <a:buChar char="•"/>
            </a:pPr>
            <a:r>
              <a:rPr lang="en-AU" sz="1200" kern="1200" dirty="0" smtClean="0">
                <a:solidFill>
                  <a:schemeClr val="tx1"/>
                </a:solidFill>
                <a:ea typeface="+mn-ea"/>
                <a:cs typeface="+mn-cs"/>
              </a:rPr>
              <a:t> Are employed by the VIP</a:t>
            </a:r>
          </a:p>
          <a:p>
            <a:pPr lvl="1">
              <a:buFont typeface="Arial" pitchFamily="34" charset="0"/>
              <a:buChar char="•"/>
            </a:pPr>
            <a:r>
              <a:rPr lang="en-AU" sz="1200" kern="1200" dirty="0" smtClean="0">
                <a:solidFill>
                  <a:schemeClr val="tx1"/>
                </a:solidFill>
                <a:ea typeface="+mn-ea"/>
                <a:cs typeface="+mn-cs"/>
              </a:rPr>
              <a:t> Operate in rotation – cycling through a team so there is protection provided 24 hours a day</a:t>
            </a:r>
          </a:p>
          <a:p>
            <a:pPr lvl="1">
              <a:buFont typeface="Arial" pitchFamily="34" charset="0"/>
              <a:buChar char="•"/>
            </a:pPr>
            <a:r>
              <a:rPr lang="en-AU" sz="1200" kern="1200" dirty="0" smtClean="0">
                <a:solidFill>
                  <a:schemeClr val="tx1"/>
                </a:solidFill>
                <a:ea typeface="+mn-ea"/>
                <a:cs typeface="+mn-cs"/>
              </a:rPr>
              <a:t> Are in constant contact with the VIPO throughout their stay</a:t>
            </a:r>
          </a:p>
          <a:p>
            <a:pPr lvl="1">
              <a:buFont typeface="Arial" pitchFamily="34" charset="0"/>
              <a:buChar char="•"/>
            </a:pPr>
            <a:r>
              <a:rPr lang="en-AU" sz="1200" kern="1200" dirty="0" smtClean="0">
                <a:solidFill>
                  <a:schemeClr val="tx1"/>
                </a:solidFill>
                <a:ea typeface="+mn-ea"/>
                <a:cs typeface="+mn-cs"/>
              </a:rPr>
              <a:t> Minders and handlers.</a:t>
            </a:r>
          </a:p>
          <a:p>
            <a:pPr>
              <a:buFont typeface="Arial" pitchFamily="34" charset="0"/>
              <a:buChar char="•"/>
            </a:pPr>
            <a:r>
              <a:rPr lang="en-AU" sz="1200" kern="1200" dirty="0" smtClean="0">
                <a:solidFill>
                  <a:schemeClr val="tx1"/>
                </a:solidFill>
                <a:ea typeface="+mn-ea"/>
                <a:cs typeface="+mn-cs"/>
              </a:rPr>
              <a:t> All personnel who will be engaged in providing security (with the exception of local police) may need to have background checks/screening undertaken to clear them for duty.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ea typeface="+mn-ea"/>
                <a:cs typeface="+mn-cs"/>
              </a:rPr>
              <a:t>Class Activity – Guest Speaker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ea typeface="+mn-ea"/>
                <a:cs typeface="+mn-cs"/>
              </a:rPr>
              <a:t>Trainer arranges for representative from local security company to attend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 Describe services they can provide for a VIP visit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 Identify the equipment they use/have available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 Detail the liaison/communication which needs to occur</a:t>
            </a:r>
            <a:r>
              <a:rPr lang="en-AU" sz="1200" b="0" kern="1200" baseline="0" dirty="0" smtClean="0">
                <a:solidFill>
                  <a:schemeClr val="tx1"/>
                </a:solidFill>
                <a:ea typeface="+mn-ea"/>
                <a:cs typeface="+mn-cs"/>
              </a:rPr>
              <a:t> between a venue and themselves prior to and during a VIP visit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 Explain and give examples of costs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 Give details of experiences with VIP visits they have been involved with.</a:t>
            </a:r>
            <a:endParaRPr lang="en-AU" sz="1200" b="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57925233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the security-related tasks personnel may be required to undertake:</a:t>
            </a:r>
          </a:p>
          <a:p>
            <a:pPr>
              <a:buFont typeface="Arial" pitchFamily="34" charset="0"/>
              <a:buChar char="•"/>
            </a:pPr>
            <a:r>
              <a:rPr lang="en-AU" sz="1200" kern="1200" dirty="0" smtClean="0">
                <a:solidFill>
                  <a:schemeClr val="tx1"/>
                </a:solidFill>
                <a:ea typeface="+mn-ea"/>
                <a:cs typeface="+mn-cs"/>
              </a:rPr>
              <a:t> Security checks of:</a:t>
            </a:r>
          </a:p>
          <a:p>
            <a:pPr lvl="1">
              <a:buFont typeface="Arial" pitchFamily="34" charset="0"/>
              <a:buChar char="•"/>
            </a:pPr>
            <a:r>
              <a:rPr lang="en-AU" sz="1200" kern="1200" dirty="0" smtClean="0">
                <a:solidFill>
                  <a:schemeClr val="tx1"/>
                </a:solidFill>
                <a:ea typeface="+mn-ea"/>
                <a:cs typeface="+mn-cs"/>
              </a:rPr>
              <a:t> Rooms and spaces</a:t>
            </a:r>
          </a:p>
          <a:p>
            <a:pPr lvl="1">
              <a:buFont typeface="Arial" pitchFamily="34" charset="0"/>
              <a:buChar char="•"/>
            </a:pPr>
            <a:r>
              <a:rPr lang="en-AU" sz="1200" kern="1200" dirty="0" smtClean="0">
                <a:solidFill>
                  <a:schemeClr val="tx1"/>
                </a:solidFill>
                <a:ea typeface="+mn-ea"/>
                <a:cs typeface="+mn-cs"/>
              </a:rPr>
              <a:t> Vehicles</a:t>
            </a:r>
          </a:p>
          <a:p>
            <a:pPr lvl="1">
              <a:buFont typeface="Arial" pitchFamily="34" charset="0"/>
              <a:buChar char="•"/>
            </a:pPr>
            <a:r>
              <a:rPr lang="en-AU" sz="1200" kern="1200" dirty="0" smtClean="0">
                <a:solidFill>
                  <a:schemeClr val="tx1"/>
                </a:solidFill>
                <a:ea typeface="+mn-ea"/>
                <a:cs typeface="+mn-cs"/>
              </a:rPr>
              <a:t> Deliveries to VIP</a:t>
            </a:r>
          </a:p>
          <a:p>
            <a:pPr lvl="1">
              <a:buFont typeface="Arial" pitchFamily="34" charset="0"/>
              <a:buChar char="•"/>
            </a:pPr>
            <a:r>
              <a:rPr lang="en-AU" sz="1200" kern="1200" dirty="0" smtClean="0">
                <a:solidFill>
                  <a:schemeClr val="tx1"/>
                </a:solidFill>
                <a:ea typeface="+mn-ea"/>
                <a:cs typeface="+mn-cs"/>
              </a:rPr>
              <a:t> People requiring access to the VIP</a:t>
            </a:r>
          </a:p>
          <a:p>
            <a:pPr>
              <a:buFont typeface="Arial" pitchFamily="34" charset="0"/>
              <a:buChar char="•"/>
            </a:pPr>
            <a:r>
              <a:rPr lang="en-AU" sz="1200" kern="1200" dirty="0" smtClean="0">
                <a:solidFill>
                  <a:schemeClr val="tx1"/>
                </a:solidFill>
                <a:ea typeface="+mn-ea"/>
                <a:cs typeface="+mn-cs"/>
              </a:rPr>
              <a:t> Crowd control:</a:t>
            </a:r>
          </a:p>
          <a:p>
            <a:pPr lvl="1">
              <a:buFont typeface="Arial" pitchFamily="34" charset="0"/>
              <a:buChar char="•"/>
            </a:pPr>
            <a:r>
              <a:rPr lang="en-AU" sz="1200" kern="1200" dirty="0" smtClean="0">
                <a:solidFill>
                  <a:schemeClr val="tx1"/>
                </a:solidFill>
                <a:ea typeface="+mn-ea"/>
                <a:cs typeface="+mn-cs"/>
              </a:rPr>
              <a:t> Inside and outside the venue</a:t>
            </a:r>
          </a:p>
          <a:p>
            <a:pPr lvl="1">
              <a:buFont typeface="Arial" pitchFamily="34" charset="0"/>
              <a:buChar char="•"/>
            </a:pPr>
            <a:r>
              <a:rPr lang="en-AU" sz="1200" kern="1200" dirty="0" smtClean="0">
                <a:solidFill>
                  <a:schemeClr val="tx1"/>
                </a:solidFill>
                <a:ea typeface="+mn-ea"/>
                <a:cs typeface="+mn-cs"/>
              </a:rPr>
              <a:t> When the VIP moves</a:t>
            </a:r>
          </a:p>
          <a:p>
            <a:pPr lvl="1">
              <a:buFont typeface="Arial" pitchFamily="34" charset="0"/>
              <a:buChar char="•"/>
            </a:pPr>
            <a:r>
              <a:rPr lang="en-AU" sz="1200" kern="1200" dirty="0" smtClean="0">
                <a:solidFill>
                  <a:schemeClr val="tx1"/>
                </a:solidFill>
                <a:ea typeface="+mn-ea"/>
                <a:cs typeface="+mn-cs"/>
              </a:rPr>
              <a:t> When the VIP engages in an activity or appearance</a:t>
            </a:r>
          </a:p>
          <a:p>
            <a:pPr>
              <a:buFont typeface="Arial" pitchFamily="34" charset="0"/>
              <a:buChar char="•"/>
            </a:pPr>
            <a:r>
              <a:rPr lang="en-AU" sz="1200" kern="1200" dirty="0" smtClean="0">
                <a:solidFill>
                  <a:schemeClr val="tx1"/>
                </a:solidFill>
                <a:ea typeface="+mn-ea"/>
                <a:cs typeface="+mn-cs"/>
              </a:rPr>
              <a:t> Access control in relation to: </a:t>
            </a:r>
          </a:p>
          <a:p>
            <a:pPr lvl="1">
              <a:buFont typeface="Arial" pitchFamily="34" charset="0"/>
              <a:buChar char="•"/>
            </a:pPr>
            <a:r>
              <a:rPr lang="en-AU" sz="1200" kern="1200" dirty="0" smtClean="0">
                <a:solidFill>
                  <a:schemeClr val="tx1"/>
                </a:solidFill>
                <a:ea typeface="+mn-ea"/>
                <a:cs typeface="+mn-cs"/>
              </a:rPr>
              <a:t> Determining who gets access to the VIP</a:t>
            </a:r>
          </a:p>
          <a:p>
            <a:pPr lvl="1">
              <a:buFont typeface="Arial" pitchFamily="34" charset="0"/>
              <a:buChar char="•"/>
            </a:pPr>
            <a:r>
              <a:rPr lang="en-AU" sz="1200" kern="1200" dirty="0" smtClean="0">
                <a:solidFill>
                  <a:schemeClr val="tx1"/>
                </a:solidFill>
                <a:ea typeface="+mn-ea"/>
                <a:cs typeface="+mn-cs"/>
              </a:rPr>
              <a:t> Controlling time people spend with the VIP</a:t>
            </a:r>
          </a:p>
          <a:p>
            <a:pPr lvl="1">
              <a:buFont typeface="Arial" pitchFamily="34" charset="0"/>
              <a:buChar char="•"/>
            </a:pPr>
            <a:r>
              <a:rPr lang="en-AU" sz="1200" kern="1200" dirty="0" smtClean="0">
                <a:solidFill>
                  <a:schemeClr val="tx1"/>
                </a:solidFill>
                <a:ea typeface="+mn-ea"/>
                <a:cs typeface="+mn-cs"/>
              </a:rPr>
              <a:t> Securing areas where access is granted.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0714429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the security-related tasks personnel may be required to undertake:</a:t>
            </a:r>
          </a:p>
          <a:p>
            <a:pPr>
              <a:buFont typeface="Arial" pitchFamily="34" charset="0"/>
              <a:buChar char="•"/>
            </a:pPr>
            <a:r>
              <a:rPr lang="en-AU" sz="1200" kern="1200" dirty="0" smtClean="0">
                <a:solidFill>
                  <a:schemeClr val="tx1"/>
                </a:solidFill>
                <a:ea typeface="+mn-ea"/>
                <a:cs typeface="+mn-cs"/>
              </a:rPr>
              <a:t> Background checks on staff as identified</a:t>
            </a:r>
          </a:p>
          <a:p>
            <a:pPr>
              <a:buFont typeface="Arial" pitchFamily="34" charset="0"/>
              <a:buChar char="•"/>
            </a:pPr>
            <a:r>
              <a:rPr lang="en-AU" sz="1200" kern="1200" dirty="0" smtClean="0">
                <a:solidFill>
                  <a:schemeClr val="tx1"/>
                </a:solidFill>
                <a:ea typeface="+mn-ea"/>
                <a:cs typeface="+mn-cs"/>
              </a:rPr>
              <a:t> Observation and monitoring of all factors likely to impact the security of the VIP. This can include observation and monitoring of:</a:t>
            </a:r>
          </a:p>
          <a:p>
            <a:pPr lvl="1">
              <a:buFont typeface="Arial" pitchFamily="34" charset="0"/>
              <a:buChar char="•"/>
            </a:pPr>
            <a:r>
              <a:rPr lang="en-AU" sz="1200" kern="1200" dirty="0" smtClean="0">
                <a:solidFill>
                  <a:schemeClr val="tx1"/>
                </a:solidFill>
                <a:ea typeface="+mn-ea"/>
                <a:cs typeface="+mn-cs"/>
              </a:rPr>
              <a:t> Crowds</a:t>
            </a:r>
          </a:p>
          <a:p>
            <a:pPr lvl="1">
              <a:buFont typeface="Arial" pitchFamily="34" charset="0"/>
              <a:buChar char="•"/>
            </a:pPr>
            <a:r>
              <a:rPr lang="en-AU" sz="1200" kern="1200" dirty="0" smtClean="0">
                <a:solidFill>
                  <a:schemeClr val="tx1"/>
                </a:solidFill>
                <a:ea typeface="+mn-ea"/>
                <a:cs typeface="+mn-cs"/>
              </a:rPr>
              <a:t> Individuals</a:t>
            </a:r>
          </a:p>
          <a:p>
            <a:pPr lvl="1">
              <a:buFont typeface="Arial" pitchFamily="34" charset="0"/>
              <a:buChar char="•"/>
            </a:pPr>
            <a:r>
              <a:rPr lang="en-AU" sz="1200" kern="1200" dirty="0" smtClean="0">
                <a:solidFill>
                  <a:schemeClr val="tx1"/>
                </a:solidFill>
                <a:ea typeface="+mn-ea"/>
                <a:cs typeface="+mn-cs"/>
              </a:rPr>
              <a:t> Weather</a:t>
            </a:r>
          </a:p>
          <a:p>
            <a:pPr lvl="1">
              <a:buFont typeface="Arial" pitchFamily="34" charset="0"/>
              <a:buChar char="•"/>
            </a:pPr>
            <a:r>
              <a:rPr lang="en-AU" sz="1200" kern="1200" dirty="0" smtClean="0">
                <a:solidFill>
                  <a:schemeClr val="tx1"/>
                </a:solidFill>
                <a:ea typeface="+mn-ea"/>
                <a:cs typeface="+mn-cs"/>
              </a:rPr>
              <a:t> Traffic patterns</a:t>
            </a:r>
          </a:p>
          <a:p>
            <a:pPr lvl="1">
              <a:buFont typeface="Arial" pitchFamily="34" charset="0"/>
              <a:buChar char="•"/>
            </a:pPr>
            <a:r>
              <a:rPr lang="en-AU" sz="1200" kern="1200" dirty="0" smtClean="0">
                <a:solidFill>
                  <a:schemeClr val="tx1"/>
                </a:solidFill>
                <a:ea typeface="+mn-ea"/>
                <a:cs typeface="+mn-cs"/>
              </a:rPr>
              <a:t> Security systems and alarms</a:t>
            </a:r>
          </a:p>
          <a:p>
            <a:pPr lvl="1">
              <a:buFont typeface="Arial" pitchFamily="34" charset="0"/>
              <a:buChar char="•"/>
            </a:pPr>
            <a:r>
              <a:rPr lang="en-AU" sz="1200" kern="1200" dirty="0" smtClean="0">
                <a:solidFill>
                  <a:schemeClr val="tx1"/>
                </a:solidFill>
                <a:ea typeface="+mn-ea"/>
                <a:cs typeface="+mn-cs"/>
              </a:rPr>
              <a:t> Communications</a:t>
            </a:r>
          </a:p>
          <a:p>
            <a:pPr>
              <a:buFont typeface="Arial" pitchFamily="34" charset="0"/>
              <a:buChar char="•"/>
            </a:pPr>
            <a:r>
              <a:rPr lang="en-AU" sz="1200" kern="1200" dirty="0" smtClean="0">
                <a:solidFill>
                  <a:schemeClr val="tx1"/>
                </a:solidFill>
                <a:ea typeface="+mn-ea"/>
                <a:cs typeface="+mn-cs"/>
              </a:rPr>
              <a:t> Liaison with each other</a:t>
            </a:r>
          </a:p>
          <a:p>
            <a:pPr>
              <a:buFont typeface="Arial" pitchFamily="34" charset="0"/>
              <a:buChar char="•"/>
            </a:pPr>
            <a:r>
              <a:rPr lang="en-AU" sz="1200" kern="1200" dirty="0" smtClean="0">
                <a:solidFill>
                  <a:schemeClr val="tx1"/>
                </a:solidFill>
                <a:ea typeface="+mn-ea"/>
                <a:cs typeface="+mn-cs"/>
              </a:rPr>
              <a:t> Close escort duties – see following slide.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112616479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close escort duties stating  </a:t>
            </a:r>
            <a:r>
              <a:rPr lang="en-AU" sz="1200" kern="1200" dirty="0" smtClean="0">
                <a:solidFill>
                  <a:schemeClr val="tx1"/>
                </a:solidFill>
                <a:ea typeface="+mn-ea"/>
                <a:cs typeface="+mn-cs"/>
              </a:rPr>
              <a:t>these duties performed by bodyguards, also known as security escorts or CPOs and explaining bodyguards may be:</a:t>
            </a:r>
          </a:p>
          <a:p>
            <a:pPr>
              <a:buFont typeface="Arial" pitchFamily="34" charset="0"/>
              <a:buChar char="•"/>
            </a:pPr>
            <a:r>
              <a:rPr lang="en-AU" sz="1200" kern="1200" dirty="0" smtClean="0">
                <a:solidFill>
                  <a:schemeClr val="tx1"/>
                </a:solidFill>
                <a:ea typeface="+mn-ea"/>
                <a:cs typeface="+mn-cs"/>
              </a:rPr>
              <a:t> Venue employees with special skills – venue staff who perform close escort duties will commonly have special training/accreditation in:</a:t>
            </a:r>
          </a:p>
          <a:p>
            <a:pPr lvl="1">
              <a:buFont typeface="Arial" pitchFamily="34" charset="0"/>
              <a:buChar char="•"/>
            </a:pPr>
            <a:r>
              <a:rPr lang="en-US" sz="1200" kern="1200" dirty="0" smtClean="0">
                <a:solidFill>
                  <a:schemeClr val="tx1"/>
                </a:solidFill>
                <a:ea typeface="+mn-ea"/>
                <a:cs typeface="+mn-cs"/>
              </a:rPr>
              <a:t> Driving – with a focus on defensive and evasive driving techniques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Martial arts and close combat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First aid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Firearms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Provided by external security companies.</a:t>
            </a:r>
          </a:p>
          <a:p>
            <a:pPr>
              <a:buFont typeface="Arial" pitchFamily="34" charset="0"/>
              <a:buNone/>
            </a:pPr>
            <a:endParaRPr lang="en-AU" sz="1200" b="1" kern="1200" noProof="0" dirty="0" smtClean="0">
              <a:solidFill>
                <a:schemeClr val="tx1"/>
              </a:solidFill>
              <a:ea typeface="+mn-ea"/>
              <a:cs typeface="+mn-cs"/>
            </a:endParaRPr>
          </a:p>
          <a:p>
            <a:pPr>
              <a:buFont typeface="Arial" pitchFamily="34" charset="0"/>
              <a:buNone/>
            </a:pPr>
            <a:r>
              <a:rPr lang="en-AU" sz="1200" b="1" kern="1200" noProof="0" dirty="0" smtClean="0">
                <a:solidFill>
                  <a:schemeClr val="tx1"/>
                </a:solidFill>
                <a:ea typeface="+mn-ea"/>
                <a:cs typeface="+mn-cs"/>
              </a:rPr>
              <a:t>Class Activity – Guest Speaker</a:t>
            </a:r>
          </a:p>
          <a:p>
            <a:pPr>
              <a:buFont typeface="Arial" pitchFamily="34" charset="0"/>
              <a:buNone/>
            </a:pPr>
            <a:r>
              <a:rPr lang="en-AU" b="0" noProof="0" dirty="0" smtClean="0"/>
              <a:t>Trainer arranges for representative from a security company to attend and discuss:</a:t>
            </a:r>
          </a:p>
          <a:p>
            <a:pPr>
              <a:buFont typeface="Arial" pitchFamily="34" charset="0"/>
              <a:buChar char="•"/>
            </a:pPr>
            <a:r>
              <a:rPr lang="en-AU" sz="1200" kern="1200" noProof="0" dirty="0" smtClean="0">
                <a:solidFill>
                  <a:schemeClr val="tx1"/>
                </a:solidFill>
                <a:ea typeface="+mn-ea"/>
                <a:cs typeface="+mn-cs"/>
              </a:rPr>
              <a:t> Provision and role of CPOs</a:t>
            </a:r>
          </a:p>
          <a:p>
            <a:pPr>
              <a:buFont typeface="Arial" pitchFamily="34" charset="0"/>
              <a:buChar char="•"/>
            </a:pPr>
            <a:r>
              <a:rPr lang="en-AU" sz="1200" kern="1200" noProof="0" dirty="0" smtClean="0">
                <a:solidFill>
                  <a:schemeClr val="tx1"/>
                </a:solidFill>
                <a:ea typeface="+mn-ea"/>
                <a:cs typeface="+mn-cs"/>
              </a:rPr>
              <a:t> Duties performed</a:t>
            </a:r>
          </a:p>
          <a:p>
            <a:pPr>
              <a:buFont typeface="Arial" pitchFamily="34" charset="0"/>
              <a:buChar char="•"/>
            </a:pPr>
            <a:r>
              <a:rPr lang="en-AU" sz="1200" kern="1200" noProof="0" dirty="0" smtClean="0">
                <a:solidFill>
                  <a:schemeClr val="tx1"/>
                </a:solidFill>
                <a:ea typeface="+mn-ea"/>
                <a:cs typeface="+mn-cs"/>
              </a:rPr>
              <a:t> Anecdotes</a:t>
            </a:r>
          </a:p>
          <a:p>
            <a:pPr>
              <a:buFont typeface="Arial" pitchFamily="34" charset="0"/>
              <a:buChar char="•"/>
            </a:pPr>
            <a:r>
              <a:rPr lang="en-AU" sz="1200" kern="1200" noProof="0" dirty="0" smtClean="0">
                <a:solidFill>
                  <a:schemeClr val="tx1"/>
                </a:solidFill>
                <a:ea typeface="+mn-ea"/>
                <a:cs typeface="+mn-cs"/>
              </a:rPr>
              <a:t> Cost.</a:t>
            </a:r>
          </a:p>
          <a:p>
            <a:pPr>
              <a:buFont typeface="Arial" pitchFamily="34" charset="0"/>
              <a:buChar char="•"/>
            </a:pPr>
            <a:endParaRPr lang="en-AU" sz="1200" kern="1200" noProof="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28307691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activities/responsibilities of</a:t>
            </a:r>
            <a:r>
              <a:rPr lang="en-AU" baseline="0" noProof="0" dirty="0" smtClean="0"/>
              <a:t> bodyguards:</a:t>
            </a:r>
          </a:p>
          <a:p>
            <a:pPr>
              <a:buFont typeface="Arial" pitchFamily="34" charset="0"/>
              <a:buChar char="•"/>
            </a:pPr>
            <a:r>
              <a:rPr lang="en-AU" sz="1200" kern="1200" dirty="0" smtClean="0">
                <a:solidFill>
                  <a:schemeClr val="tx1"/>
                </a:solidFill>
                <a:ea typeface="+mn-ea"/>
                <a:cs typeface="+mn-cs"/>
              </a:rPr>
              <a:t> Planning travel arrangements to and from the venue:</a:t>
            </a:r>
          </a:p>
          <a:p>
            <a:pPr lvl="1">
              <a:buFont typeface="Arial" pitchFamily="34" charset="0"/>
              <a:buChar char="•"/>
            </a:pPr>
            <a:r>
              <a:rPr lang="en-US" sz="1200" kern="1200" dirty="0" smtClean="0">
                <a:solidFill>
                  <a:schemeClr val="tx1"/>
                </a:solidFill>
                <a:ea typeface="+mn-ea"/>
                <a:cs typeface="+mn-cs"/>
              </a:rPr>
              <a:t> Routes – primary and secondary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Means of transportation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Decoys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Security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Itinerary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Planning movement within the venue:</a:t>
            </a:r>
          </a:p>
          <a:p>
            <a:pPr lvl="1">
              <a:buFont typeface="Arial" pitchFamily="34" charset="0"/>
              <a:buChar char="•"/>
            </a:pPr>
            <a:r>
              <a:rPr lang="en-US" sz="1200" kern="1200" dirty="0" smtClean="0">
                <a:solidFill>
                  <a:schemeClr val="tx1"/>
                </a:solidFill>
                <a:ea typeface="+mn-ea"/>
                <a:cs typeface="+mn-cs"/>
              </a:rPr>
              <a:t> On arrival</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When attending meetings, appointments, meals and other nominated engagements or activities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On departure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Driving duties including:</a:t>
            </a:r>
          </a:p>
          <a:p>
            <a:pPr lvl="1">
              <a:buFont typeface="Arial" pitchFamily="34" charset="0"/>
              <a:buChar char="•"/>
            </a:pPr>
            <a:r>
              <a:rPr lang="en-AU" sz="1200" kern="1200" dirty="0" smtClean="0">
                <a:solidFill>
                  <a:schemeClr val="tx1"/>
                </a:solidFill>
                <a:ea typeface="+mn-ea"/>
                <a:cs typeface="+mn-cs"/>
              </a:rPr>
              <a:t> Movement of person from,</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airport to venue</a:t>
            </a:r>
          </a:p>
          <a:p>
            <a:pPr lvl="1">
              <a:buFont typeface="Arial" pitchFamily="34" charset="0"/>
              <a:buChar char="•"/>
            </a:pPr>
            <a:r>
              <a:rPr lang="en-AU" sz="1200" kern="1200" dirty="0" smtClean="0">
                <a:solidFill>
                  <a:schemeClr val="tx1"/>
                </a:solidFill>
                <a:ea typeface="+mn-ea"/>
                <a:cs typeface="+mn-cs"/>
              </a:rPr>
              <a:t> Travel as required throughout their stay to local attractions, destinations, engagement and return</a:t>
            </a:r>
          </a:p>
          <a:p>
            <a:pPr lvl="1">
              <a:buFont typeface="Arial" pitchFamily="34" charset="0"/>
              <a:buChar char="•"/>
            </a:pPr>
            <a:r>
              <a:rPr lang="en-AU" sz="1200" kern="1200" dirty="0" smtClean="0">
                <a:solidFill>
                  <a:schemeClr val="tx1"/>
                </a:solidFill>
                <a:ea typeface="+mn-ea"/>
                <a:cs typeface="+mn-cs"/>
              </a:rPr>
              <a:t> Travel on departure.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2481861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 continues presenting activities/responsibilities of</a:t>
            </a:r>
            <a:r>
              <a:rPr lang="en-AU" baseline="0" noProof="0" dirty="0" smtClean="0"/>
              <a:t> bodyguards:</a:t>
            </a:r>
          </a:p>
          <a:p>
            <a:pPr>
              <a:buFont typeface="Arial" pitchFamily="34" charset="0"/>
              <a:buChar char="•"/>
            </a:pPr>
            <a:r>
              <a:rPr lang="en-AU" sz="1200" kern="1200" dirty="0" smtClean="0">
                <a:solidFill>
                  <a:schemeClr val="tx1"/>
                </a:solidFill>
                <a:ea typeface="+mn-ea"/>
                <a:cs typeface="+mn-cs"/>
              </a:rPr>
              <a:t> Physically inspecting (searching and checking) and electronic ‘sweeping’ of rooms, venue facilities and vehicles to:</a:t>
            </a:r>
          </a:p>
          <a:p>
            <a:pPr lvl="1">
              <a:buFont typeface="Arial" pitchFamily="34" charset="0"/>
              <a:buChar char="•"/>
            </a:pPr>
            <a:r>
              <a:rPr lang="en-AU" sz="1200" kern="1200" dirty="0" smtClean="0">
                <a:solidFill>
                  <a:schemeClr val="tx1"/>
                </a:solidFill>
                <a:ea typeface="+mn-ea"/>
                <a:cs typeface="+mn-cs"/>
              </a:rPr>
              <a:t> Detect and neutralize bugging/surveillance devices, detect and defend against explosive devices, identify and respond to ‘other threats’</a:t>
            </a:r>
          </a:p>
          <a:p>
            <a:pPr>
              <a:buFont typeface="Arial" pitchFamily="34" charset="0"/>
              <a:buChar char="•"/>
            </a:pPr>
            <a:r>
              <a:rPr lang="en-AU" sz="1200" kern="1200" dirty="0" smtClean="0">
                <a:solidFill>
                  <a:schemeClr val="tx1"/>
                </a:solidFill>
                <a:ea typeface="+mn-ea"/>
                <a:cs typeface="+mn-cs"/>
              </a:rPr>
              <a:t> Undertaking background checks on people who will meet or be in close proximity to the client.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may involve checks on:</a:t>
            </a:r>
          </a:p>
          <a:p>
            <a:pPr lvl="1">
              <a:buFont typeface="Arial" pitchFamily="34" charset="0"/>
              <a:buChar char="•"/>
            </a:pPr>
            <a:r>
              <a:rPr lang="en-AU" sz="1200" kern="1200" dirty="0" smtClean="0">
                <a:solidFill>
                  <a:schemeClr val="tx1"/>
                </a:solidFill>
                <a:ea typeface="+mn-ea"/>
                <a:cs typeface="+mn-cs"/>
              </a:rPr>
              <a:t> Service staff, identified members of the public, suppliers and providers</a:t>
            </a:r>
          </a:p>
          <a:p>
            <a:pPr>
              <a:buFont typeface="Arial" pitchFamily="34" charset="0"/>
              <a:buChar char="•"/>
            </a:pPr>
            <a:r>
              <a:rPr lang="en-AU" sz="1200" kern="1200" dirty="0" smtClean="0">
                <a:solidFill>
                  <a:schemeClr val="tx1"/>
                </a:solidFill>
                <a:ea typeface="+mn-ea"/>
                <a:cs typeface="+mn-cs"/>
              </a:rPr>
              <a:t> Protecting the client against identified and emergent threats such as:</a:t>
            </a:r>
          </a:p>
          <a:p>
            <a:pPr lvl="1">
              <a:buFont typeface="Arial" pitchFamily="34" charset="0"/>
              <a:buChar char="•"/>
            </a:pPr>
            <a:r>
              <a:rPr lang="en-AU" sz="1200" kern="1200" dirty="0" smtClean="0">
                <a:solidFill>
                  <a:schemeClr val="tx1"/>
                </a:solidFill>
                <a:ea typeface="+mn-ea"/>
                <a:cs typeface="+mn-cs"/>
              </a:rPr>
              <a:t> Intrusive media,</a:t>
            </a:r>
            <a:r>
              <a:rPr lang="en-AU" sz="1200" kern="1200" baseline="0" dirty="0" smtClean="0">
                <a:solidFill>
                  <a:schemeClr val="tx1"/>
                </a:solidFill>
                <a:ea typeface="+mn-ea"/>
                <a:cs typeface="+mn-cs"/>
              </a:rPr>
              <a:t> u</a:t>
            </a:r>
            <a:r>
              <a:rPr lang="en-AU" sz="1200" kern="1200" dirty="0" smtClean="0">
                <a:solidFill>
                  <a:schemeClr val="tx1"/>
                </a:solidFill>
                <a:ea typeface="+mn-ea"/>
                <a:cs typeface="+mn-cs"/>
              </a:rPr>
              <a:t>nwanted people,</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talkers, known persons who are classified as threats.</a:t>
            </a:r>
          </a:p>
          <a:p>
            <a:r>
              <a:rPr lang="en-AU" sz="1200" kern="1200" dirty="0" smtClean="0">
                <a:solidFill>
                  <a:schemeClr val="tx1"/>
                </a:solidFill>
                <a:ea typeface="+mn-ea"/>
                <a:cs typeface="+mn-cs"/>
              </a:rPr>
              <a:t>Accompanying the client to: </a:t>
            </a:r>
          </a:p>
          <a:p>
            <a:pPr lvl="1">
              <a:buFont typeface="Arial" pitchFamily="34" charset="0"/>
              <a:buChar char="•"/>
            </a:pPr>
            <a:r>
              <a:rPr lang="en-AU" sz="1200" kern="1200" dirty="0" smtClean="0">
                <a:solidFill>
                  <a:schemeClr val="tx1"/>
                </a:solidFill>
                <a:ea typeface="+mn-ea"/>
                <a:cs typeface="+mn-cs"/>
              </a:rPr>
              <a:t> Provide a physical presence and give the client a sense of safety and security, present a visible deterrence to threats, provide venue information and service as required, respond to threats and incidents, communicate with other bodyguards, security staff and agents/authorities, facilitate movement within the venue and access to required areas, monitor implementation of protection plans, observe and note issues for immediate action and/or later follow-up, clear the way</a:t>
            </a:r>
          </a:p>
          <a:p>
            <a:pPr>
              <a:buFont typeface="Arial" pitchFamily="34" charset="0"/>
              <a:buChar char="•"/>
            </a:pPr>
            <a:r>
              <a:rPr lang="en-AU" sz="1200" kern="1200" dirty="0" smtClean="0">
                <a:solidFill>
                  <a:schemeClr val="tx1"/>
                </a:solidFill>
                <a:ea typeface="+mn-ea"/>
                <a:cs typeface="+mn-cs"/>
              </a:rPr>
              <a:t> Facilitating the carrying of valuable items in the presence of, or separate from the client which will involve:</a:t>
            </a:r>
          </a:p>
          <a:p>
            <a:pPr lvl="1">
              <a:buFont typeface="Arial" pitchFamily="34" charset="0"/>
              <a:buChar char="•"/>
            </a:pPr>
            <a:r>
              <a:rPr lang="en-AU" sz="1200" kern="1200" dirty="0" smtClean="0">
                <a:solidFill>
                  <a:schemeClr val="tx1"/>
                </a:solidFill>
                <a:ea typeface="+mn-ea"/>
                <a:cs typeface="+mn-cs"/>
              </a:rPr>
              <a:t> Participating in the planning process – routes, timing, equipment to be used, threat analysis,</a:t>
            </a:r>
            <a:r>
              <a:rPr lang="en-AU" sz="1200" kern="1200" baseline="0" dirty="0" smtClean="0">
                <a:solidFill>
                  <a:schemeClr val="tx1"/>
                </a:solidFill>
                <a:ea typeface="+mn-ea"/>
                <a:cs typeface="+mn-cs"/>
              </a:rPr>
              <a:t> p</a:t>
            </a:r>
            <a:r>
              <a:rPr lang="en-AU" sz="1200" kern="1200" dirty="0" smtClean="0">
                <a:solidFill>
                  <a:schemeClr val="tx1"/>
                </a:solidFill>
                <a:ea typeface="+mn-ea"/>
                <a:cs typeface="+mn-cs"/>
              </a:rPr>
              <a:t>hysically accompanying those who are carrying the valuable items – to afford a physical presence and deterrent value, clearing the way – for those who are physically carrying the items,</a:t>
            </a:r>
            <a:r>
              <a:rPr lang="en-AU" sz="1200" kern="1200" baseline="0" dirty="0" smtClean="0">
                <a:solidFill>
                  <a:schemeClr val="tx1"/>
                </a:solidFill>
                <a:ea typeface="+mn-ea"/>
                <a:cs typeface="+mn-cs"/>
              </a:rPr>
              <a:t> o</a:t>
            </a:r>
            <a:r>
              <a:rPr lang="en-AU" sz="1200" kern="1200" dirty="0" smtClean="0">
                <a:solidFill>
                  <a:schemeClr val="tx1"/>
                </a:solidFill>
                <a:ea typeface="+mn-ea"/>
                <a:cs typeface="+mn-cs"/>
              </a:rPr>
              <a:t>verseeing the carriage of the items – to ensure those involved move the items to where they are supposed to go, according to the plans made, and nothing is lost or stolen on the way.</a:t>
            </a:r>
          </a:p>
          <a:p>
            <a:pPr lvl="0">
              <a:buFont typeface="Arial" pitchFamily="34" charset="0"/>
              <a:buNone/>
            </a:pPr>
            <a:endParaRPr lang="en-AU" sz="1200" kern="1200" dirty="0" smtClean="0">
              <a:solidFill>
                <a:schemeClr val="tx1"/>
              </a:solidFill>
              <a:ea typeface="+mn-ea"/>
              <a:cs typeface="+mn-cs"/>
            </a:endParaRPr>
          </a:p>
          <a:p>
            <a:pPr lvl="0">
              <a:buFont typeface="Arial" pitchFamily="34" charset="0"/>
              <a:buNone/>
            </a:pPr>
            <a:r>
              <a:rPr lang="en-AU" sz="1200" b="1" kern="1200" dirty="0" smtClean="0">
                <a:solidFill>
                  <a:schemeClr val="tx1"/>
                </a:solidFill>
                <a:ea typeface="+mn-ea"/>
                <a:cs typeface="+mn-cs"/>
              </a:rPr>
              <a:t>Class Activity – Guest Speaker</a:t>
            </a:r>
          </a:p>
          <a:p>
            <a:pPr lvl="0">
              <a:buFont typeface="Arial" pitchFamily="34" charset="0"/>
              <a:buNone/>
            </a:pPr>
            <a:r>
              <a:rPr lang="en-AU" sz="1200" b="0" kern="1200" dirty="0" smtClean="0">
                <a:solidFill>
                  <a:schemeClr val="tx1"/>
                </a:solidFill>
                <a:ea typeface="+mn-ea"/>
                <a:cs typeface="+mn-cs"/>
              </a:rPr>
              <a:t>Trainer arranges for CPO/bodyguard to attend and:</a:t>
            </a:r>
          </a:p>
          <a:p>
            <a:pPr lvl="0">
              <a:buFont typeface="Arial" pitchFamily="34" charset="0"/>
              <a:buChar char="•"/>
            </a:pPr>
            <a:r>
              <a:rPr lang="en-AU" sz="1200" b="0" kern="1200" dirty="0" smtClean="0">
                <a:solidFill>
                  <a:schemeClr val="tx1"/>
                </a:solidFill>
                <a:ea typeface="+mn-ea"/>
                <a:cs typeface="+mn-cs"/>
              </a:rPr>
              <a:t> Identify their roles and responsibilities</a:t>
            </a:r>
          </a:p>
          <a:p>
            <a:pPr lvl="0">
              <a:buFont typeface="Arial" pitchFamily="34" charset="0"/>
              <a:buChar char="•"/>
            </a:pPr>
            <a:r>
              <a:rPr lang="en-AU" sz="1200" b="0" kern="1200" dirty="0" smtClean="0">
                <a:solidFill>
                  <a:schemeClr val="tx1"/>
                </a:solidFill>
                <a:ea typeface="+mn-ea"/>
                <a:cs typeface="+mn-cs"/>
              </a:rPr>
              <a:t> Tell anecdotes</a:t>
            </a:r>
          </a:p>
          <a:p>
            <a:pPr lvl="0">
              <a:buFont typeface="Arial" pitchFamily="34" charset="0"/>
              <a:buChar char="•"/>
            </a:pPr>
            <a:r>
              <a:rPr lang="en-AU" sz="1200" b="0" kern="1200" dirty="0" smtClean="0">
                <a:solidFill>
                  <a:schemeClr val="tx1"/>
                </a:solidFill>
                <a:ea typeface="+mn-ea"/>
                <a:cs typeface="+mn-cs"/>
              </a:rPr>
              <a:t> Provide advice and warnings.</a:t>
            </a:r>
          </a:p>
          <a:p>
            <a:pPr lvl="0">
              <a:buFont typeface="Arial" pitchFamily="34" charset="0"/>
              <a:buNone/>
            </a:pPr>
            <a:endParaRPr lang="en-AU" sz="1200" b="0" kern="1200" dirty="0" smtClean="0">
              <a:solidFill>
                <a:schemeClr val="tx1"/>
              </a:solidFill>
              <a:ea typeface="+mn-ea"/>
              <a:cs typeface="+mn-cs"/>
            </a:endParaRP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8780234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advises </a:t>
            </a:r>
            <a:r>
              <a:rPr lang="en-AU" sz="1200" kern="1200" dirty="0" smtClean="0">
                <a:solidFill>
                  <a:schemeClr val="tx1"/>
                </a:solidFill>
                <a:ea typeface="+mn-ea"/>
                <a:cs typeface="+mn-cs"/>
              </a:rPr>
              <a:t>when safety plans have been finalised and approved, and all necessary arrangements have been made to enable implementation of the plans it next remains to inform venue staff about these plans.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Trainer identifies who plans and information may need to be shared with:</a:t>
            </a:r>
          </a:p>
          <a:p>
            <a:pPr>
              <a:buFont typeface="Arial" pitchFamily="34" charset="0"/>
              <a:buChar char="•"/>
            </a:pPr>
            <a:r>
              <a:rPr lang="en-AU" sz="1200" kern="1200" dirty="0" smtClean="0">
                <a:solidFill>
                  <a:schemeClr val="tx1"/>
                </a:solidFill>
                <a:ea typeface="+mn-ea"/>
                <a:cs typeface="+mn-cs"/>
              </a:rPr>
              <a:t> Local police and authorities</a:t>
            </a:r>
          </a:p>
          <a:p>
            <a:pPr>
              <a:buFont typeface="Arial" pitchFamily="34" charset="0"/>
              <a:buChar char="•"/>
            </a:pPr>
            <a:r>
              <a:rPr lang="en-AU" sz="1200" kern="1200" dirty="0" smtClean="0">
                <a:solidFill>
                  <a:schemeClr val="tx1"/>
                </a:solidFill>
                <a:ea typeface="+mn-ea"/>
                <a:cs typeface="+mn-cs"/>
              </a:rPr>
              <a:t> External service/security providers </a:t>
            </a:r>
          </a:p>
          <a:p>
            <a:pPr>
              <a:buFont typeface="Arial" pitchFamily="34" charset="0"/>
              <a:buChar char="•"/>
            </a:pPr>
            <a:r>
              <a:rPr lang="en-AU" sz="1200" kern="1200" dirty="0" smtClean="0">
                <a:solidFill>
                  <a:schemeClr val="tx1"/>
                </a:solidFill>
                <a:ea typeface="+mn-ea"/>
                <a:cs typeface="+mn-cs"/>
              </a:rPr>
              <a:t> Managers, minders, handlers and staff employed directly by the VIP</a:t>
            </a:r>
          </a:p>
          <a:p>
            <a:pPr>
              <a:buFont typeface="Arial" pitchFamily="34" charset="0"/>
              <a:buChar char="•"/>
            </a:pPr>
            <a:r>
              <a:rPr lang="en-AU" sz="1200" kern="1200" dirty="0" smtClean="0">
                <a:solidFill>
                  <a:schemeClr val="tx1"/>
                </a:solidFill>
                <a:ea typeface="+mn-ea"/>
                <a:cs typeface="+mn-cs"/>
              </a:rPr>
              <a:t> Internal venue staff – with operational and/or security-related obligations/responsibilities.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65077390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identifies options for sharing/communicating relevant information:</a:t>
            </a:r>
          </a:p>
          <a:p>
            <a:pPr>
              <a:buFont typeface="Arial" pitchFamily="34" charset="0"/>
              <a:buChar char="•"/>
            </a:pPr>
            <a:r>
              <a:rPr lang="en-AU" sz="1200" kern="1200" dirty="0" smtClean="0">
                <a:solidFill>
                  <a:schemeClr val="tx1"/>
                </a:solidFill>
                <a:ea typeface="+mn-ea"/>
                <a:cs typeface="+mn-cs"/>
              </a:rPr>
              <a:t> Meetings and briefings  </a:t>
            </a:r>
          </a:p>
          <a:p>
            <a:pPr>
              <a:buFont typeface="Arial" pitchFamily="34" charset="0"/>
              <a:buChar char="•"/>
            </a:pPr>
            <a:r>
              <a:rPr lang="en-AU" sz="1200" kern="1200" dirty="0" smtClean="0">
                <a:solidFill>
                  <a:schemeClr val="tx1"/>
                </a:solidFill>
                <a:ea typeface="+mn-ea"/>
                <a:cs typeface="+mn-cs"/>
              </a:rPr>
              <a:t> Distribution of documents, such as:</a:t>
            </a:r>
          </a:p>
          <a:p>
            <a:pPr lvl="1">
              <a:buFont typeface="Arial" pitchFamily="34" charset="0"/>
              <a:buChar char="•"/>
            </a:pPr>
            <a:r>
              <a:rPr lang="en-AU" sz="1200" kern="1200" dirty="0" smtClean="0">
                <a:solidFill>
                  <a:schemeClr val="tx1"/>
                </a:solidFill>
                <a:ea typeface="+mn-ea"/>
                <a:cs typeface="+mn-cs"/>
              </a:rPr>
              <a:t> Safety plans</a:t>
            </a:r>
          </a:p>
          <a:p>
            <a:pPr lvl="1">
              <a:buFont typeface="Arial" pitchFamily="34" charset="0"/>
              <a:buChar char="•"/>
            </a:pPr>
            <a:r>
              <a:rPr lang="en-AU" sz="1200" kern="1200" dirty="0" smtClean="0">
                <a:solidFill>
                  <a:schemeClr val="tx1"/>
                </a:solidFill>
                <a:ea typeface="+mn-ea"/>
                <a:cs typeface="+mn-cs"/>
              </a:rPr>
              <a:t> Schedules and programmes</a:t>
            </a:r>
          </a:p>
          <a:p>
            <a:pPr lvl="1">
              <a:buFont typeface="Arial" pitchFamily="34" charset="0"/>
              <a:buChar char="•"/>
            </a:pPr>
            <a:r>
              <a:rPr lang="en-AU" sz="1200" kern="1200" dirty="0" smtClean="0">
                <a:solidFill>
                  <a:schemeClr val="tx1"/>
                </a:solidFill>
                <a:ea typeface="+mn-ea"/>
                <a:cs typeface="+mn-cs"/>
              </a:rPr>
              <a:t> Running sheets</a:t>
            </a:r>
          </a:p>
          <a:p>
            <a:pPr lvl="1">
              <a:buFont typeface="Arial" pitchFamily="34" charset="0"/>
              <a:buChar char="•"/>
            </a:pPr>
            <a:r>
              <a:rPr lang="en-AU" sz="1200" kern="1200" dirty="0" smtClean="0">
                <a:solidFill>
                  <a:schemeClr val="tx1"/>
                </a:solidFill>
                <a:ea typeface="+mn-ea"/>
                <a:cs typeface="+mn-cs"/>
              </a:rPr>
              <a:t> Contact list for security personnel</a:t>
            </a:r>
          </a:p>
          <a:p>
            <a:pPr lvl="1">
              <a:buFont typeface="Arial" pitchFamily="34" charset="0"/>
              <a:buChar char="•"/>
            </a:pPr>
            <a:r>
              <a:rPr lang="en-AU" sz="1200" kern="1200" dirty="0" smtClean="0">
                <a:solidFill>
                  <a:schemeClr val="tx1"/>
                </a:solidFill>
                <a:ea typeface="+mn-ea"/>
                <a:cs typeface="+mn-cs"/>
              </a:rPr>
              <a:t> New/revised SOPs for the visit – see below</a:t>
            </a:r>
          </a:p>
          <a:p>
            <a:pPr>
              <a:buFont typeface="Arial" pitchFamily="34" charset="0"/>
              <a:buChar char="•"/>
            </a:pPr>
            <a:r>
              <a:rPr lang="en-AU" sz="1200" kern="1200" dirty="0" smtClean="0">
                <a:solidFill>
                  <a:schemeClr val="tx1"/>
                </a:solidFill>
                <a:ea typeface="+mn-ea"/>
                <a:cs typeface="+mn-cs"/>
              </a:rPr>
              <a:t> Rosters</a:t>
            </a:r>
          </a:p>
          <a:p>
            <a:pPr>
              <a:buFont typeface="Arial" pitchFamily="34" charset="0"/>
              <a:buChar char="•"/>
            </a:pPr>
            <a:r>
              <a:rPr lang="en-AU" sz="1200" kern="1200" dirty="0" smtClean="0">
                <a:solidFill>
                  <a:schemeClr val="tx1"/>
                </a:solidFill>
                <a:ea typeface="+mn-ea"/>
                <a:cs typeface="+mn-cs"/>
              </a:rPr>
              <a:t> Venues may produce a ‘VIP Visit’ manual containing all the above together with additional details (such as a biography of the VIP; where they have been and where they are going next). </a:t>
            </a:r>
          </a:p>
          <a:p>
            <a:pPr>
              <a:buFont typeface="Arial" pitchFamily="34" charset="0"/>
              <a:buChar char="•"/>
            </a:pPr>
            <a:r>
              <a:rPr lang="en-AU" sz="1200" kern="1200" dirty="0" smtClean="0">
                <a:solidFill>
                  <a:schemeClr val="tx1"/>
                </a:solidFill>
                <a:ea typeface="+mn-ea"/>
                <a:cs typeface="+mn-cs"/>
              </a:rPr>
              <a:t> Email</a:t>
            </a:r>
          </a:p>
          <a:p>
            <a:pPr>
              <a:buFont typeface="Arial" pitchFamily="34" charset="0"/>
              <a:buChar char="•"/>
            </a:pPr>
            <a:r>
              <a:rPr lang="en-AU" sz="1200" kern="1200" dirty="0" smtClean="0">
                <a:solidFill>
                  <a:schemeClr val="tx1"/>
                </a:solidFill>
                <a:ea typeface="+mn-ea"/>
                <a:cs typeface="+mn-cs"/>
              </a:rPr>
              <a:t> Memorandum.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68641620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presents points to note regarding communicating plans and information:</a:t>
            </a:r>
          </a:p>
          <a:p>
            <a:pPr>
              <a:buFont typeface="Arial" pitchFamily="34" charset="0"/>
              <a:buChar char="•"/>
            </a:pPr>
            <a:r>
              <a:rPr lang="en-AU" sz="1200" kern="1200" dirty="0" smtClean="0">
                <a:solidFill>
                  <a:schemeClr val="tx1"/>
                </a:solidFill>
                <a:ea typeface="+mn-ea"/>
                <a:cs typeface="+mn-cs"/>
              </a:rPr>
              <a:t> A combination of approaches will achieve the best results – never rely on one approach only</a:t>
            </a:r>
          </a:p>
          <a:p>
            <a:pPr>
              <a:buFont typeface="Arial" pitchFamily="34" charset="0"/>
              <a:buChar char="•"/>
            </a:pPr>
            <a:r>
              <a:rPr lang="en-AU" sz="1200" kern="1200" dirty="0" smtClean="0">
                <a:solidFill>
                  <a:schemeClr val="tx1"/>
                </a:solidFill>
                <a:ea typeface="+mn-ea"/>
                <a:cs typeface="+mn-cs"/>
              </a:rPr>
              <a:t> Be sure to use languages which will be understood by the staff – different staff may require different languages</a:t>
            </a:r>
          </a:p>
          <a:p>
            <a:pPr>
              <a:buFont typeface="Arial" pitchFamily="34" charset="0"/>
              <a:buChar char="•"/>
            </a:pPr>
            <a:r>
              <a:rPr lang="en-AU" sz="1200" kern="1200" dirty="0" smtClean="0">
                <a:solidFill>
                  <a:schemeClr val="tx1"/>
                </a:solidFill>
                <a:ea typeface="+mn-ea"/>
                <a:cs typeface="+mn-cs"/>
              </a:rPr>
              <a:t> Prepare a list of staff who need to be provided with information and track attendance at meetings so appropriate follow-up can occur</a:t>
            </a:r>
          </a:p>
          <a:p>
            <a:pPr>
              <a:buFont typeface="Arial" pitchFamily="34" charset="0"/>
              <a:buChar char="•"/>
            </a:pPr>
            <a:r>
              <a:rPr lang="en-AU" sz="1200" kern="1200" dirty="0" smtClean="0">
                <a:solidFill>
                  <a:schemeClr val="tx1"/>
                </a:solidFill>
                <a:ea typeface="+mn-ea"/>
                <a:cs typeface="+mn-cs"/>
              </a:rPr>
              <a:t> Record your efforts at providing information to staff so you can prove what you have done if the need to do so arises</a:t>
            </a:r>
          </a:p>
          <a:p>
            <a:pPr>
              <a:buFont typeface="Arial" pitchFamily="34" charset="0"/>
              <a:buChar char="•"/>
            </a:pPr>
            <a:r>
              <a:rPr lang="en-AU" sz="1200" kern="1200" dirty="0" smtClean="0">
                <a:solidFill>
                  <a:schemeClr val="tx1"/>
                </a:solidFill>
                <a:ea typeface="+mn-ea"/>
                <a:cs typeface="+mn-cs"/>
              </a:rPr>
              <a:t> Stress to staff the information you are providing them with is confidential.</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hey must not share it with anyone else</a:t>
            </a:r>
          </a:p>
          <a:p>
            <a:pPr>
              <a:buFont typeface="Arial" pitchFamily="34" charset="0"/>
              <a:buChar char="•"/>
            </a:pPr>
            <a:r>
              <a:rPr lang="en-AU" sz="1200" kern="1200" dirty="0" smtClean="0">
                <a:solidFill>
                  <a:schemeClr val="tx1"/>
                </a:solidFill>
                <a:ea typeface="+mn-ea"/>
                <a:cs typeface="+mn-cs"/>
              </a:rPr>
              <a:t> It is vital secrecy is maintained regarding preventative measures which have been taken</a:t>
            </a:r>
          </a:p>
          <a:p>
            <a:pPr>
              <a:buFont typeface="Arial" pitchFamily="34" charset="0"/>
              <a:buChar char="•"/>
            </a:pPr>
            <a:r>
              <a:rPr lang="en-AU" sz="1200" kern="1200" dirty="0" smtClean="0">
                <a:solidFill>
                  <a:schemeClr val="tx1"/>
                </a:solidFill>
                <a:ea typeface="+mn-ea"/>
                <a:cs typeface="+mn-cs"/>
              </a:rPr>
              <a:t> Details and information must only be provided on a ‘need to know’ basis.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information relating to a VIP visit and the arrangements which have been made is </a:t>
            </a:r>
            <a:r>
              <a:rPr lang="en-AU" sz="1200" b="1" kern="1200" dirty="0" smtClean="0">
                <a:solidFill>
                  <a:schemeClr val="tx1"/>
                </a:solidFill>
                <a:ea typeface="+mn-ea"/>
                <a:cs typeface="+mn-cs"/>
              </a:rPr>
              <a:t>not</a:t>
            </a:r>
            <a:r>
              <a:rPr lang="en-AU" sz="1200" kern="1200" dirty="0" smtClean="0">
                <a:solidFill>
                  <a:schemeClr val="tx1"/>
                </a:solidFill>
                <a:ea typeface="+mn-ea"/>
                <a:cs typeface="+mn-cs"/>
              </a:rPr>
              <a:t> for general release to all staff.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80980339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identifies topics/issues to address when sharing/communicating information:</a:t>
            </a:r>
          </a:p>
          <a:p>
            <a:pPr>
              <a:buFont typeface="Arial" pitchFamily="34" charset="0"/>
              <a:buChar char="•"/>
            </a:pPr>
            <a:r>
              <a:rPr lang="en-AU" sz="1200" kern="1200" dirty="0" smtClean="0">
                <a:solidFill>
                  <a:schemeClr val="tx1"/>
                </a:solidFill>
                <a:ea typeface="+mn-ea"/>
                <a:cs typeface="+mn-cs"/>
              </a:rPr>
              <a:t> Advising of changes to standard operating procedures.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include:</a:t>
            </a:r>
          </a:p>
          <a:p>
            <a:pPr lvl="1">
              <a:buFont typeface="Arial" pitchFamily="34" charset="0"/>
              <a:buChar char="•"/>
            </a:pPr>
            <a:r>
              <a:rPr lang="en-AU" sz="1200" kern="1200" dirty="0" smtClean="0">
                <a:solidFill>
                  <a:schemeClr val="tx1"/>
                </a:solidFill>
                <a:ea typeface="+mn-ea"/>
                <a:cs typeface="+mn-cs"/>
              </a:rPr>
              <a:t> Revisions to definitions and classifications of ‘restricted areas’ for the duration of the visit</a:t>
            </a:r>
          </a:p>
          <a:p>
            <a:pPr lvl="1">
              <a:buFont typeface="Arial" pitchFamily="34" charset="0"/>
              <a:buChar char="•"/>
            </a:pPr>
            <a:r>
              <a:rPr lang="en-AU" sz="1200" kern="1200" dirty="0" smtClean="0">
                <a:solidFill>
                  <a:schemeClr val="tx1"/>
                </a:solidFill>
                <a:ea typeface="+mn-ea"/>
                <a:cs typeface="+mn-cs"/>
              </a:rPr>
              <a:t> Provision of no-go zones where members of the public and/or any persons are prohibited entry</a:t>
            </a:r>
          </a:p>
          <a:p>
            <a:pPr lvl="1">
              <a:buFont typeface="Arial" pitchFamily="34" charset="0"/>
              <a:buChar char="•"/>
            </a:pPr>
            <a:r>
              <a:rPr lang="en-AU" sz="1200" kern="1200" dirty="0" smtClean="0">
                <a:solidFill>
                  <a:schemeClr val="tx1"/>
                </a:solidFill>
                <a:ea typeface="+mn-ea"/>
                <a:cs typeface="+mn-cs"/>
              </a:rPr>
              <a:t> Allocation of standard duties to other personnel to release certain staff for VIP-dedicated duties</a:t>
            </a:r>
          </a:p>
          <a:p>
            <a:pPr>
              <a:buFont typeface="Arial" pitchFamily="34" charset="0"/>
              <a:buChar char="•"/>
            </a:pPr>
            <a:r>
              <a:rPr lang="en-AU" sz="1200" kern="1200" dirty="0" smtClean="0">
                <a:solidFill>
                  <a:schemeClr val="tx1"/>
                </a:solidFill>
                <a:ea typeface="+mn-ea"/>
                <a:cs typeface="+mn-cs"/>
              </a:rPr>
              <a:t> Advising of;</a:t>
            </a:r>
          </a:p>
          <a:p>
            <a:pPr lvl="1">
              <a:buFont typeface="Arial" pitchFamily="34" charset="0"/>
              <a:buChar char="•"/>
            </a:pPr>
            <a:r>
              <a:rPr lang="en-AU" sz="1200" kern="1200" dirty="0" smtClean="0">
                <a:solidFill>
                  <a:schemeClr val="tx1"/>
                </a:solidFill>
                <a:ea typeface="+mn-ea"/>
                <a:cs typeface="+mn-cs"/>
              </a:rPr>
              <a:t> Emergency procedures as they apply to the VIP </a:t>
            </a:r>
          </a:p>
          <a:p>
            <a:pPr lvl="1">
              <a:buFont typeface="Arial" pitchFamily="34" charset="0"/>
              <a:buChar char="•"/>
            </a:pPr>
            <a:r>
              <a:rPr lang="en-AU" sz="1200" kern="1200" dirty="0" smtClean="0">
                <a:solidFill>
                  <a:schemeClr val="tx1"/>
                </a:solidFill>
                <a:ea typeface="+mn-ea"/>
                <a:cs typeface="+mn-cs"/>
              </a:rPr>
              <a:t> Evacuation procedures that have been established</a:t>
            </a:r>
          </a:p>
          <a:p>
            <a:pPr lvl="1">
              <a:buFont typeface="Arial" pitchFamily="34" charset="0"/>
              <a:buChar char="•"/>
            </a:pPr>
            <a:r>
              <a:rPr lang="en-AU" sz="1200" kern="1200" dirty="0" smtClean="0">
                <a:solidFill>
                  <a:schemeClr val="tx1"/>
                </a:solidFill>
                <a:ea typeface="+mn-ea"/>
                <a:cs typeface="+mn-cs"/>
              </a:rPr>
              <a:t> Special requests made by the VIP and/or the entourage</a:t>
            </a:r>
          </a:p>
          <a:p>
            <a:pPr lvl="1">
              <a:buFont typeface="Arial" pitchFamily="34" charset="0"/>
              <a:buChar char="•"/>
            </a:pPr>
            <a:r>
              <a:rPr lang="en-AU" sz="1200" kern="1200" dirty="0" smtClean="0">
                <a:solidFill>
                  <a:schemeClr val="tx1"/>
                </a:solidFill>
                <a:ea typeface="+mn-ea"/>
                <a:cs typeface="+mn-cs"/>
              </a:rPr>
              <a:t> Threat warnings explaining specifics of the threat, threat level and planned responses/threat mitigation </a:t>
            </a:r>
          </a:p>
          <a:p>
            <a:pPr>
              <a:buFont typeface="Arial" pitchFamily="34" charset="0"/>
              <a:buChar char="•"/>
            </a:pPr>
            <a:r>
              <a:rPr lang="en-AU" sz="1200" kern="1200" dirty="0" smtClean="0">
                <a:solidFill>
                  <a:schemeClr val="tx1"/>
                </a:solidFill>
                <a:ea typeface="+mn-ea"/>
                <a:cs typeface="+mn-cs"/>
              </a:rPr>
              <a:t> Notifying staff of drills to be undertaken prior to actual arrival of VIP specifying: </a:t>
            </a:r>
          </a:p>
          <a:p>
            <a:pPr lvl="1">
              <a:buFont typeface="Arial" pitchFamily="34" charset="0"/>
              <a:buChar char="•"/>
            </a:pPr>
            <a:r>
              <a:rPr lang="en-AU" sz="1200" kern="1200" dirty="0" smtClean="0">
                <a:solidFill>
                  <a:schemeClr val="tx1"/>
                </a:solidFill>
                <a:ea typeface="+mn-ea"/>
                <a:cs typeface="+mn-cs"/>
              </a:rPr>
              <a:t> Focus for the drill/s</a:t>
            </a:r>
          </a:p>
          <a:p>
            <a:pPr lvl="1">
              <a:buFont typeface="Arial" pitchFamily="34" charset="0"/>
              <a:buChar char="•"/>
            </a:pPr>
            <a:r>
              <a:rPr lang="en-AU" sz="1200" kern="1200" dirty="0" smtClean="0">
                <a:solidFill>
                  <a:schemeClr val="tx1"/>
                </a:solidFill>
                <a:ea typeface="+mn-ea"/>
                <a:cs typeface="+mn-cs"/>
              </a:rPr>
              <a:t> Rationale for the drill/s</a:t>
            </a:r>
          </a:p>
          <a:p>
            <a:pPr lvl="1">
              <a:buFont typeface="Arial" pitchFamily="34" charset="0"/>
              <a:buChar char="•"/>
            </a:pPr>
            <a:r>
              <a:rPr lang="en-AU" sz="1200" kern="1200" dirty="0" smtClean="0">
                <a:solidFill>
                  <a:schemeClr val="tx1"/>
                </a:solidFill>
                <a:ea typeface="+mn-ea"/>
                <a:cs typeface="+mn-cs"/>
              </a:rPr>
              <a:t> Date and time</a:t>
            </a:r>
          </a:p>
          <a:p>
            <a:pPr lvl="1">
              <a:buFont typeface="Arial" pitchFamily="34" charset="0"/>
              <a:buChar char="•"/>
            </a:pPr>
            <a:r>
              <a:rPr lang="en-AU" sz="1200" kern="1200" dirty="0" smtClean="0">
                <a:solidFill>
                  <a:schemeClr val="tx1"/>
                </a:solidFill>
                <a:ea typeface="+mn-ea"/>
                <a:cs typeface="+mn-cs"/>
              </a:rPr>
              <a:t> Roles and responsibilities</a:t>
            </a:r>
          </a:p>
          <a:p>
            <a:pPr lvl="1">
              <a:buFont typeface="Arial" pitchFamily="34" charset="0"/>
              <a:buChar char="•"/>
            </a:pPr>
            <a:r>
              <a:rPr lang="en-AU" sz="1200" kern="1200" dirty="0" smtClean="0">
                <a:solidFill>
                  <a:schemeClr val="tx1"/>
                </a:solidFill>
                <a:ea typeface="+mn-ea"/>
                <a:cs typeface="+mn-cs"/>
              </a:rPr>
              <a:t> Reference to emergency and evacuation procedures for the visit.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338121628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AU" noProof="0" dirty="0" smtClean="0"/>
              <a:t>Trainer</a:t>
            </a:r>
            <a:r>
              <a:rPr lang="en-AU" baseline="0" noProof="0" dirty="0" smtClean="0"/>
              <a:t> continues identifying topics/issues to address when sharing/communicating information:</a:t>
            </a:r>
          </a:p>
          <a:p>
            <a:pPr>
              <a:buFont typeface="Arial" pitchFamily="34" charset="0"/>
              <a:buChar char="•"/>
            </a:pPr>
            <a:r>
              <a:rPr lang="en-AU" sz="1200" kern="1200" dirty="0" smtClean="0">
                <a:solidFill>
                  <a:schemeClr val="tx1"/>
                </a:solidFill>
                <a:ea typeface="+mn-ea"/>
                <a:cs typeface="+mn-cs"/>
              </a:rPr>
              <a:t> Prohibiting certain/standard activities relating to interactions between staff and the VIP.</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standard prohibitions include:</a:t>
            </a:r>
          </a:p>
          <a:p>
            <a:pPr lvl="1">
              <a:buFont typeface="Arial" pitchFamily="34" charset="0"/>
              <a:buChar char="•"/>
            </a:pPr>
            <a:r>
              <a:rPr lang="en-AU" sz="1200" kern="1200" dirty="0" smtClean="0">
                <a:solidFill>
                  <a:schemeClr val="tx1"/>
                </a:solidFill>
                <a:ea typeface="+mn-ea"/>
                <a:cs typeface="+mn-cs"/>
              </a:rPr>
              <a:t> No taking of photographs </a:t>
            </a:r>
          </a:p>
          <a:p>
            <a:pPr lvl="1">
              <a:buFont typeface="Arial" pitchFamily="34" charset="0"/>
              <a:buChar char="•"/>
            </a:pPr>
            <a:r>
              <a:rPr lang="en-AU" sz="1200" kern="1200" dirty="0" smtClean="0">
                <a:solidFill>
                  <a:schemeClr val="tx1"/>
                </a:solidFill>
                <a:ea typeface="+mn-ea"/>
                <a:cs typeface="+mn-cs"/>
              </a:rPr>
              <a:t> No staring</a:t>
            </a:r>
          </a:p>
          <a:p>
            <a:pPr lvl="1">
              <a:buFont typeface="Arial" pitchFamily="34" charset="0"/>
              <a:buChar char="•"/>
            </a:pPr>
            <a:r>
              <a:rPr lang="en-AU" sz="1200" kern="1200" dirty="0" smtClean="0">
                <a:solidFill>
                  <a:schemeClr val="tx1"/>
                </a:solidFill>
                <a:ea typeface="+mn-ea"/>
                <a:cs typeface="+mn-cs"/>
              </a:rPr>
              <a:t> No pointing</a:t>
            </a:r>
          </a:p>
          <a:p>
            <a:pPr lvl="1">
              <a:buFont typeface="Arial" pitchFamily="34" charset="0"/>
              <a:buChar char="•"/>
            </a:pPr>
            <a:r>
              <a:rPr lang="en-AU" sz="1200" kern="1200" dirty="0" smtClean="0">
                <a:solidFill>
                  <a:schemeClr val="tx1"/>
                </a:solidFill>
                <a:ea typeface="+mn-ea"/>
                <a:cs typeface="+mn-cs"/>
              </a:rPr>
              <a:t> No seeking of autographs</a:t>
            </a:r>
          </a:p>
          <a:p>
            <a:pPr lvl="1">
              <a:buFont typeface="Arial" pitchFamily="34" charset="0"/>
              <a:buChar char="•"/>
            </a:pPr>
            <a:r>
              <a:rPr lang="en-AU" sz="1200" kern="1200" dirty="0" smtClean="0">
                <a:solidFill>
                  <a:schemeClr val="tx1"/>
                </a:solidFill>
                <a:ea typeface="+mn-ea"/>
                <a:cs typeface="+mn-cs"/>
              </a:rPr>
              <a:t> No proactive contact with the VIP – staff (with the exception of management) are expected to </a:t>
            </a:r>
            <a:r>
              <a:rPr lang="en-AU" sz="1200" i="1" kern="1200" dirty="0" smtClean="0">
                <a:solidFill>
                  <a:schemeClr val="tx1"/>
                </a:solidFill>
                <a:ea typeface="+mn-ea"/>
                <a:cs typeface="+mn-cs"/>
              </a:rPr>
              <a:t>respond</a:t>
            </a:r>
            <a:r>
              <a:rPr lang="en-AU" sz="1200" kern="1200" dirty="0" smtClean="0">
                <a:solidFill>
                  <a:schemeClr val="tx1"/>
                </a:solidFill>
                <a:ea typeface="+mn-ea"/>
                <a:cs typeface="+mn-cs"/>
              </a:rPr>
              <a:t> to requests for service rather than initiate contact</a:t>
            </a:r>
          </a:p>
          <a:p>
            <a:pPr>
              <a:buFont typeface="Arial" pitchFamily="34" charset="0"/>
              <a:buChar char="•"/>
            </a:pPr>
            <a:r>
              <a:rPr lang="en-AU" sz="1200" kern="1200" dirty="0" smtClean="0">
                <a:solidFill>
                  <a:schemeClr val="tx1"/>
                </a:solidFill>
                <a:ea typeface="+mn-ea"/>
                <a:cs typeface="+mn-cs"/>
              </a:rPr>
              <a:t> Prohibiting staff contact with media – see below.</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Question and Answers</a:t>
            </a:r>
          </a:p>
          <a:p>
            <a:pPr>
              <a:buFont typeface="Arial" pitchFamily="34" charset="0"/>
              <a:buNone/>
            </a:pPr>
            <a:r>
              <a:rPr lang="en-AU" sz="1200" b="0" kern="1200" dirty="0" smtClean="0">
                <a:solidFill>
                  <a:schemeClr val="tx1"/>
                </a:solidFill>
                <a:ea typeface="+mn-ea"/>
                <a:cs typeface="+mn-cs"/>
              </a:rPr>
              <a:t>Trainer asks students to identify activities traditionally not allowed between venue staff and the media regarding a VIP visit/stay.</a:t>
            </a:r>
          </a:p>
          <a:p>
            <a:pPr>
              <a:buFont typeface="Arial" pitchFamily="34" charset="0"/>
              <a:buNone/>
            </a:pPr>
            <a:r>
              <a:rPr lang="en-AU" sz="1200" b="1" i="1" kern="1200" dirty="0" smtClean="0">
                <a:solidFill>
                  <a:schemeClr val="tx1"/>
                </a:solidFill>
                <a:ea typeface="+mn-ea"/>
                <a:cs typeface="+mn-cs"/>
              </a:rPr>
              <a:t>Possible</a:t>
            </a:r>
            <a:r>
              <a:rPr lang="en-AU" sz="1200" b="1" i="1" kern="1200" baseline="0" dirty="0" smtClean="0">
                <a:solidFill>
                  <a:schemeClr val="tx1"/>
                </a:solidFill>
                <a:ea typeface="+mn-ea"/>
                <a:cs typeface="+mn-cs"/>
              </a:rPr>
              <a:t> answers</a:t>
            </a:r>
            <a:endParaRPr lang="en-AU" sz="1200" b="1" i="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Not talking to the media – such as no answering of questions asked by the media and no interviews with the media</a:t>
            </a:r>
          </a:p>
          <a:p>
            <a:pPr>
              <a:buFont typeface="Arial" pitchFamily="34" charset="0"/>
              <a:buChar char="•"/>
            </a:pPr>
            <a:r>
              <a:rPr lang="en-AU" sz="1200" kern="1200" dirty="0" smtClean="0">
                <a:solidFill>
                  <a:schemeClr val="tx1"/>
                </a:solidFill>
                <a:ea typeface="+mn-ea"/>
                <a:cs typeface="+mn-cs"/>
              </a:rPr>
              <a:t> Not releasing information about the VIP (or arrangements for the stay/visit) to the media</a:t>
            </a:r>
          </a:p>
          <a:p>
            <a:pPr>
              <a:buFont typeface="Arial" pitchFamily="34" charset="0"/>
              <a:buChar char="•"/>
            </a:pPr>
            <a:r>
              <a:rPr lang="en-AU" sz="1200" kern="1200" dirty="0" smtClean="0">
                <a:solidFill>
                  <a:schemeClr val="tx1"/>
                </a:solidFill>
                <a:ea typeface="+mn-ea"/>
                <a:cs typeface="+mn-cs"/>
              </a:rPr>
              <a:t> Not sharing with the media anything relating to the stay of the VIP at the venue such as:</a:t>
            </a:r>
          </a:p>
          <a:p>
            <a:pPr>
              <a:buFont typeface="Arial" pitchFamily="34" charset="0"/>
              <a:buChar char="•"/>
            </a:pPr>
            <a:r>
              <a:rPr lang="en-AU" sz="1200" kern="1200" dirty="0" smtClean="0">
                <a:solidFill>
                  <a:schemeClr val="tx1"/>
                </a:solidFill>
                <a:ea typeface="+mn-ea"/>
                <a:cs typeface="+mn-cs"/>
              </a:rPr>
              <a:t> Not communicating who the VIP met with, dined with, entertained or had in their room</a:t>
            </a:r>
          </a:p>
          <a:p>
            <a:pPr>
              <a:buFont typeface="Arial" pitchFamily="34" charset="0"/>
              <a:buChar char="•"/>
            </a:pPr>
            <a:r>
              <a:rPr lang="en-AU" sz="1200" kern="1200" dirty="0" smtClean="0">
                <a:solidFill>
                  <a:schemeClr val="tx1"/>
                </a:solidFill>
                <a:ea typeface="+mn-ea"/>
                <a:cs typeface="+mn-cs"/>
              </a:rPr>
              <a:t> Not mentioning anything about what they said, did or the way they behaved and/or treated others</a:t>
            </a:r>
          </a:p>
          <a:p>
            <a:pPr>
              <a:buFont typeface="Arial" pitchFamily="34" charset="0"/>
              <a:buChar char="•"/>
            </a:pPr>
            <a:r>
              <a:rPr lang="en-AU" sz="1200" kern="1200" dirty="0" smtClean="0">
                <a:solidFill>
                  <a:schemeClr val="tx1"/>
                </a:solidFill>
                <a:ea typeface="+mn-ea"/>
                <a:cs typeface="+mn-cs"/>
              </a:rPr>
              <a:t> Not advising of any excesses, indiscretions or illegal/dubious behaviour.</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428100100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AU" noProof="0" dirty="0" smtClean="0"/>
              <a:t>Trainer advises </a:t>
            </a:r>
            <a:r>
              <a:rPr lang="en-AU" sz="1200" kern="1200" dirty="0" smtClean="0">
                <a:solidFill>
                  <a:schemeClr val="tx1"/>
                </a:solidFill>
                <a:ea typeface="+mn-ea"/>
                <a:cs typeface="+mn-cs"/>
              </a:rPr>
              <a:t>most VIP visits will involve a need for interaction with the media highlighting before taking action in relation to establishing contact with the media and putting media liaison facilities in place the following must be addressed:</a:t>
            </a:r>
          </a:p>
          <a:p>
            <a:pPr>
              <a:buFont typeface="Arial" pitchFamily="34" charset="0"/>
              <a:buChar char="•"/>
            </a:pPr>
            <a:r>
              <a:rPr lang="en-AU" sz="1200" kern="1200" dirty="0" smtClean="0">
                <a:solidFill>
                  <a:schemeClr val="tx1"/>
                </a:solidFill>
                <a:ea typeface="+mn-ea"/>
                <a:cs typeface="+mn-cs"/>
              </a:rPr>
              <a:t> Determine the orientation of the VIP towards media attention and coverage of their visit:</a:t>
            </a:r>
          </a:p>
          <a:p>
            <a:pPr lvl="1">
              <a:buFont typeface="Arial" pitchFamily="34" charset="0"/>
              <a:buChar char="•"/>
            </a:pPr>
            <a:r>
              <a:rPr lang="en-AU" sz="1200" kern="1200" dirty="0" smtClean="0">
                <a:solidFill>
                  <a:schemeClr val="tx1"/>
                </a:solidFill>
                <a:ea typeface="+mn-ea"/>
                <a:cs typeface="+mn-cs"/>
              </a:rPr>
              <a:t> Do they want all the media coverage possible?</a:t>
            </a:r>
          </a:p>
          <a:p>
            <a:pPr lvl="1">
              <a:buFont typeface="Arial" pitchFamily="34" charset="0"/>
              <a:buChar char="•"/>
            </a:pPr>
            <a:r>
              <a:rPr lang="en-AU" sz="1200" kern="1200" dirty="0" smtClean="0">
                <a:solidFill>
                  <a:schemeClr val="tx1"/>
                </a:solidFill>
                <a:ea typeface="+mn-ea"/>
                <a:cs typeface="+mn-cs"/>
              </a:rPr>
              <a:t> Do they want the least amount of attention possible?</a:t>
            </a:r>
          </a:p>
          <a:p>
            <a:pPr lvl="1">
              <a:buFont typeface="Arial" pitchFamily="34" charset="0"/>
              <a:buChar char="•"/>
            </a:pPr>
            <a:r>
              <a:rPr lang="en-AU" sz="1200" kern="1200" dirty="0" smtClean="0">
                <a:solidFill>
                  <a:schemeClr val="tx1"/>
                </a:solidFill>
                <a:ea typeface="+mn-ea"/>
                <a:cs typeface="+mn-cs"/>
              </a:rPr>
              <a:t> When are they prepared/able to meet with the media?</a:t>
            </a:r>
          </a:p>
          <a:p>
            <a:pPr lvl="1">
              <a:buFont typeface="Arial" pitchFamily="34" charset="0"/>
              <a:buChar char="•"/>
            </a:pPr>
            <a:r>
              <a:rPr lang="en-AU" sz="1200" kern="1200" dirty="0" smtClean="0">
                <a:solidFill>
                  <a:schemeClr val="tx1"/>
                </a:solidFill>
                <a:ea typeface="+mn-ea"/>
                <a:cs typeface="+mn-cs"/>
              </a:rPr>
              <a:t> Where do they want media interviews to take place? Do they have a preferred location or a certain context? International VIPs often want interviews to be conducted against a setting which reflects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the country/destination they are speaking from</a:t>
            </a:r>
          </a:p>
          <a:p>
            <a:pPr lvl="1">
              <a:buFont typeface="Arial" pitchFamily="34" charset="0"/>
              <a:buChar char="•"/>
            </a:pPr>
            <a:r>
              <a:rPr lang="en-AU" sz="1200" kern="1200" dirty="0" smtClean="0">
                <a:solidFill>
                  <a:schemeClr val="tx1"/>
                </a:solidFill>
                <a:ea typeface="+mn-ea"/>
                <a:cs typeface="+mn-cs"/>
              </a:rPr>
              <a:t> Will they be prepared to give TV interviews? Some VIPs will only do ‘off camera’ interviews and refuse to be recorded: other VIPs prefer to be recorded as they believe this helps retain the message they want to send</a:t>
            </a:r>
          </a:p>
          <a:p>
            <a:pPr>
              <a:buFont typeface="Arial" pitchFamily="34" charset="0"/>
              <a:buChar char="•"/>
            </a:pPr>
            <a:r>
              <a:rPr lang="en-AU" sz="1200" kern="1200" dirty="0" smtClean="0">
                <a:solidFill>
                  <a:schemeClr val="tx1"/>
                </a:solidFill>
                <a:ea typeface="+mn-ea"/>
                <a:cs typeface="+mn-cs"/>
              </a:rPr>
              <a:t> Identify the information they have developed to share/give to the media.</a:t>
            </a:r>
            <a:r>
              <a:rPr lang="en-AU" sz="1200" kern="1200" baseline="0" dirty="0" smtClean="0">
                <a:solidFill>
                  <a:schemeClr val="tx1"/>
                </a:solidFill>
                <a:ea typeface="+mn-ea"/>
                <a:cs typeface="+mn-cs"/>
              </a:rPr>
              <a:t> M</a:t>
            </a:r>
            <a:r>
              <a:rPr lang="en-AU" sz="1200" kern="1200" dirty="0" smtClean="0">
                <a:solidFill>
                  <a:schemeClr val="tx1"/>
                </a:solidFill>
                <a:ea typeface="+mn-ea"/>
                <a:cs typeface="+mn-cs"/>
              </a:rPr>
              <a:t>any VIPs have Media Liaison officers or PR people who have prepared and have available for release to the media:</a:t>
            </a:r>
          </a:p>
          <a:p>
            <a:pPr lvl="1">
              <a:buFont typeface="Arial" pitchFamily="34" charset="0"/>
              <a:buChar char="•"/>
            </a:pPr>
            <a:r>
              <a:rPr lang="en-AU" sz="1200" kern="1200" dirty="0" smtClean="0">
                <a:solidFill>
                  <a:schemeClr val="tx1"/>
                </a:solidFill>
                <a:ea typeface="+mn-ea"/>
                <a:cs typeface="+mn-cs"/>
              </a:rPr>
              <a:t> Biographies of the VIP</a:t>
            </a:r>
          </a:p>
          <a:p>
            <a:pPr lvl="1">
              <a:buFont typeface="Arial" pitchFamily="34" charset="0"/>
              <a:buChar char="•"/>
            </a:pPr>
            <a:r>
              <a:rPr lang="en-AU" sz="1200" kern="1200" dirty="0" smtClean="0">
                <a:solidFill>
                  <a:schemeClr val="tx1"/>
                </a:solidFill>
                <a:ea typeface="+mn-ea"/>
                <a:cs typeface="+mn-cs"/>
              </a:rPr>
              <a:t> Media kits</a:t>
            </a:r>
          </a:p>
          <a:p>
            <a:pPr lvl="1">
              <a:buFont typeface="Arial" pitchFamily="34" charset="0"/>
              <a:buChar char="•"/>
            </a:pPr>
            <a:r>
              <a:rPr lang="en-AU" sz="1200" kern="1200" dirty="0" smtClean="0">
                <a:solidFill>
                  <a:schemeClr val="tx1"/>
                </a:solidFill>
                <a:ea typeface="+mn-ea"/>
                <a:cs typeface="+mn-cs"/>
              </a:rPr>
              <a:t> Programmes and schedules</a:t>
            </a:r>
          </a:p>
          <a:p>
            <a:pPr>
              <a:buFont typeface="Arial" pitchFamily="34" charset="0"/>
              <a:buChar char="•"/>
            </a:pPr>
            <a:r>
              <a:rPr lang="en-AU" sz="1200" kern="1200" dirty="0" smtClean="0">
                <a:solidFill>
                  <a:schemeClr val="tx1"/>
                </a:solidFill>
                <a:ea typeface="+mn-ea"/>
                <a:cs typeface="+mn-cs"/>
              </a:rPr>
              <a:t> Find out dates and times,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if any,</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the VIP has set aside to meet with the media</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a:t>
            </a:r>
          </a:p>
          <a:p>
            <a:pPr lvl="1">
              <a:buFont typeface="Arial" pitchFamily="34" charset="0"/>
              <a:buChar char="•"/>
            </a:pPr>
            <a:r>
              <a:rPr lang="en-AU" sz="1200" kern="1200" dirty="0" smtClean="0">
                <a:solidFill>
                  <a:schemeClr val="tx1"/>
                </a:solidFill>
                <a:ea typeface="+mn-ea"/>
                <a:cs typeface="+mn-cs"/>
              </a:rPr>
              <a:t> One-on-one and group interviews</a:t>
            </a:r>
          </a:p>
          <a:p>
            <a:pPr lvl="1">
              <a:buFont typeface="Arial" pitchFamily="34" charset="0"/>
              <a:buChar char="•"/>
            </a:pPr>
            <a:r>
              <a:rPr lang="en-AU" sz="1200" kern="1200" dirty="0" smtClean="0">
                <a:solidFill>
                  <a:schemeClr val="tx1"/>
                </a:solidFill>
                <a:ea typeface="+mn-ea"/>
                <a:cs typeface="+mn-cs"/>
              </a:rPr>
              <a:t> Photo opportunities</a:t>
            </a:r>
          </a:p>
          <a:p>
            <a:pPr>
              <a:buFont typeface="Arial" pitchFamily="34" charset="0"/>
              <a:buChar char="•"/>
            </a:pPr>
            <a:r>
              <a:rPr lang="en-AU" sz="1200" kern="1200" dirty="0" smtClean="0">
                <a:solidFill>
                  <a:schemeClr val="tx1"/>
                </a:solidFill>
                <a:ea typeface="+mn-ea"/>
                <a:cs typeface="+mn-cs"/>
              </a:rPr>
              <a:t> Liaise with VIP managers/minders to determine the security and other arrangements for media contact such as:</a:t>
            </a:r>
          </a:p>
          <a:p>
            <a:pPr lvl="1">
              <a:buFont typeface="Arial" pitchFamily="34" charset="0"/>
              <a:buChar char="•"/>
            </a:pPr>
            <a:r>
              <a:rPr lang="en-AU" sz="1200" kern="1200" dirty="0" smtClean="0">
                <a:solidFill>
                  <a:schemeClr val="tx1"/>
                </a:solidFill>
                <a:ea typeface="+mn-ea"/>
                <a:cs typeface="+mn-cs"/>
              </a:rPr>
              <a:t> Procedures for screening media access to the VIP</a:t>
            </a:r>
          </a:p>
          <a:p>
            <a:pPr lvl="1">
              <a:buFont typeface="Arial" pitchFamily="34" charset="0"/>
              <a:buChar char="•"/>
            </a:pPr>
            <a:r>
              <a:rPr lang="en-AU" sz="1200" kern="1200" dirty="0" smtClean="0">
                <a:solidFill>
                  <a:schemeClr val="tx1"/>
                </a:solidFill>
                <a:ea typeface="+mn-ea"/>
                <a:cs typeface="+mn-cs"/>
              </a:rPr>
              <a:t> Close protection arrangements</a:t>
            </a:r>
          </a:p>
          <a:p>
            <a:pPr lvl="1">
              <a:buFont typeface="Arial" pitchFamily="34" charset="0"/>
              <a:buChar char="•"/>
            </a:pPr>
            <a:r>
              <a:rPr lang="en-AU" sz="1200" kern="1200" dirty="0" smtClean="0">
                <a:solidFill>
                  <a:schemeClr val="tx1"/>
                </a:solidFill>
                <a:ea typeface="+mn-ea"/>
                <a:cs typeface="+mn-cs"/>
              </a:rPr>
              <a:t> Time constraints and booking schedules.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r>
              <a:rPr lang="en-AU" b="1" noProof="0" dirty="0" smtClean="0"/>
              <a:t>Class Activity – Handouts</a:t>
            </a:r>
          </a:p>
          <a:p>
            <a:pPr>
              <a:buFont typeface="Arial" pitchFamily="34" charset="0"/>
              <a:buNone/>
            </a:pPr>
            <a:r>
              <a:rPr lang="en-AU" b="0" noProof="0" dirty="0" smtClean="0"/>
              <a:t>Trainer distributes and discusses sample:</a:t>
            </a:r>
          </a:p>
          <a:p>
            <a:pPr>
              <a:buFont typeface="Arial" pitchFamily="34" charset="0"/>
              <a:buChar char="•"/>
            </a:pPr>
            <a:r>
              <a:rPr lang="en-AU" b="0" noProof="0" dirty="0" smtClean="0"/>
              <a:t> Media kits</a:t>
            </a:r>
          </a:p>
          <a:p>
            <a:pPr>
              <a:buFont typeface="Arial" pitchFamily="34" charset="0"/>
              <a:buChar char="•"/>
            </a:pPr>
            <a:r>
              <a:rPr lang="en-AU" b="0" noProof="0" dirty="0" smtClean="0"/>
              <a:t> VIP biographies.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19811014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presents </a:t>
            </a:r>
            <a:r>
              <a:rPr lang="en-AU" sz="1200" kern="1200" dirty="0" smtClean="0">
                <a:solidFill>
                  <a:schemeClr val="tx1"/>
                </a:solidFill>
                <a:ea typeface="+mn-ea"/>
                <a:cs typeface="+mn-cs"/>
              </a:rPr>
              <a:t>activities involved in establishing media liaison facilities and procedures:</a:t>
            </a:r>
          </a:p>
          <a:p>
            <a:pPr>
              <a:buFont typeface="Arial" pitchFamily="34" charset="0"/>
              <a:buChar char="•"/>
            </a:pPr>
            <a:r>
              <a:rPr lang="en-AU" sz="1200" kern="1200" dirty="0" smtClean="0">
                <a:solidFill>
                  <a:schemeClr val="tx1"/>
                </a:solidFill>
                <a:ea typeface="+mn-ea"/>
                <a:cs typeface="+mn-cs"/>
              </a:rPr>
              <a:t> Creating a media room which media can use during the visit as a meeting point and work room for their reporting on the event</a:t>
            </a:r>
          </a:p>
          <a:p>
            <a:pPr>
              <a:buFont typeface="Arial" pitchFamily="34" charset="0"/>
              <a:buChar char="•"/>
            </a:pPr>
            <a:r>
              <a:rPr lang="en-AU" sz="1200" kern="1200" dirty="0" smtClean="0">
                <a:solidFill>
                  <a:schemeClr val="tx1"/>
                </a:solidFill>
                <a:ea typeface="+mn-ea"/>
                <a:cs typeface="+mn-cs"/>
              </a:rPr>
              <a:t> Identifying and preparing an interview room.</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is a room where group interviews are conducted when</a:t>
            </a:r>
            <a:r>
              <a:rPr lang="en-AU" sz="1200" kern="1200" baseline="0" dirty="0" smtClean="0">
                <a:solidFill>
                  <a:schemeClr val="tx1"/>
                </a:solidFill>
                <a:ea typeface="+mn-ea"/>
                <a:cs typeface="+mn-cs"/>
              </a:rPr>
              <a:t> and i</a:t>
            </a:r>
            <a:r>
              <a:rPr lang="en-AU" sz="1200" kern="1200" dirty="0" smtClean="0">
                <a:solidFill>
                  <a:schemeClr val="tx1"/>
                </a:solidFill>
                <a:ea typeface="+mn-ea"/>
                <a:cs typeface="+mn-cs"/>
              </a:rPr>
              <a:t>f the VIP agrees to them. The room should feature:</a:t>
            </a:r>
          </a:p>
          <a:p>
            <a:pPr lvl="1">
              <a:buFont typeface="Arial" pitchFamily="34" charset="0"/>
              <a:buChar char="•"/>
            </a:pPr>
            <a:r>
              <a:rPr lang="en-AU" sz="1200" kern="1200" dirty="0" smtClean="0">
                <a:solidFill>
                  <a:schemeClr val="tx1"/>
                </a:solidFill>
                <a:ea typeface="+mn-ea"/>
                <a:cs typeface="+mn-cs"/>
              </a:rPr>
              <a:t> Adequate seating for the number of media representatives expected</a:t>
            </a:r>
          </a:p>
          <a:p>
            <a:pPr lvl="1">
              <a:buFont typeface="Arial" pitchFamily="34" charset="0"/>
              <a:buChar char="•"/>
            </a:pPr>
            <a:r>
              <a:rPr lang="en-AU" sz="1200" kern="1200" dirty="0" smtClean="0">
                <a:solidFill>
                  <a:schemeClr val="tx1"/>
                </a:solidFill>
                <a:ea typeface="+mn-ea"/>
                <a:cs typeface="+mn-cs"/>
              </a:rPr>
              <a:t> A background/back-drop which features the name of the venue</a:t>
            </a:r>
          </a:p>
          <a:p>
            <a:pPr lvl="1">
              <a:buFont typeface="Arial" pitchFamily="34" charset="0"/>
              <a:buChar char="•"/>
            </a:pPr>
            <a:r>
              <a:rPr lang="en-AU" sz="1200" kern="1200" dirty="0" smtClean="0">
                <a:solidFill>
                  <a:schemeClr val="tx1"/>
                </a:solidFill>
                <a:ea typeface="+mn-ea"/>
                <a:cs typeface="+mn-cs"/>
              </a:rPr>
              <a:t> A main table with facilities to support microphones</a:t>
            </a:r>
          </a:p>
          <a:p>
            <a:pPr lvl="1">
              <a:buFont typeface="Arial" pitchFamily="34" charset="0"/>
              <a:buChar char="•"/>
            </a:pPr>
            <a:r>
              <a:rPr lang="en-AU" sz="1200" kern="1200" dirty="0" smtClean="0">
                <a:solidFill>
                  <a:schemeClr val="tx1"/>
                </a:solidFill>
                <a:ea typeface="+mn-ea"/>
                <a:cs typeface="+mn-cs"/>
              </a:rPr>
              <a:t> Suitable power, lighting and video/TV connections</a:t>
            </a:r>
          </a:p>
          <a:p>
            <a:pPr>
              <a:buFont typeface="Arial" pitchFamily="34" charset="0"/>
              <a:buChar char="•"/>
            </a:pPr>
            <a:r>
              <a:rPr lang="en-AU" sz="1200" kern="1200" dirty="0" smtClean="0">
                <a:solidFill>
                  <a:schemeClr val="tx1"/>
                </a:solidFill>
                <a:ea typeface="+mn-ea"/>
                <a:cs typeface="+mn-cs"/>
              </a:rPr>
              <a:t> Developing procedures for media contact in the event of:</a:t>
            </a:r>
          </a:p>
          <a:p>
            <a:pPr lvl="1">
              <a:buFont typeface="Arial" pitchFamily="34" charset="0"/>
              <a:buChar char="•"/>
            </a:pPr>
            <a:r>
              <a:rPr lang="en-AU" sz="1200" kern="1200" dirty="0" smtClean="0">
                <a:solidFill>
                  <a:schemeClr val="tx1"/>
                </a:solidFill>
                <a:ea typeface="+mn-ea"/>
                <a:cs typeface="+mn-cs"/>
              </a:rPr>
              <a:t> Breaking news</a:t>
            </a:r>
          </a:p>
          <a:p>
            <a:pPr lvl="1">
              <a:buFont typeface="Arial" pitchFamily="34" charset="0"/>
              <a:buChar char="•"/>
            </a:pPr>
            <a:r>
              <a:rPr lang="en-AU" sz="1200" kern="1200" dirty="0" smtClean="0">
                <a:solidFill>
                  <a:schemeClr val="tx1"/>
                </a:solidFill>
                <a:ea typeface="+mn-ea"/>
                <a:cs typeface="+mn-cs"/>
              </a:rPr>
              <a:t> Special announcements</a:t>
            </a:r>
          </a:p>
          <a:p>
            <a:pPr lvl="1">
              <a:buFont typeface="Arial" pitchFamily="34" charset="0"/>
              <a:buChar char="•"/>
            </a:pPr>
            <a:r>
              <a:rPr lang="en-AU" sz="1200" kern="1200" dirty="0" smtClean="0">
                <a:solidFill>
                  <a:schemeClr val="tx1"/>
                </a:solidFill>
                <a:ea typeface="+mn-ea"/>
                <a:cs typeface="+mn-cs"/>
              </a:rPr>
              <a:t> Regular/daily communications such as morning and evening updates provided to the media by the PR/media liaison person travelling with the VIP</a:t>
            </a:r>
          </a:p>
          <a:p>
            <a:pPr lvl="1">
              <a:buFont typeface="Arial" pitchFamily="34" charset="0"/>
              <a:buChar char="•"/>
            </a:pPr>
            <a:r>
              <a:rPr lang="en-AU" sz="1200" kern="1200" dirty="0" smtClean="0">
                <a:solidFill>
                  <a:schemeClr val="tx1"/>
                </a:solidFill>
                <a:ea typeface="+mn-ea"/>
                <a:cs typeface="+mn-cs"/>
              </a:rPr>
              <a:t> Problems </a:t>
            </a:r>
          </a:p>
          <a:p>
            <a:pPr lvl="1">
              <a:buFont typeface="Arial" pitchFamily="34" charset="0"/>
              <a:buChar char="•"/>
            </a:pPr>
            <a:r>
              <a:rPr lang="en-AU" sz="1200" kern="1200" dirty="0" smtClean="0">
                <a:solidFill>
                  <a:schemeClr val="tx1"/>
                </a:solidFill>
                <a:ea typeface="+mn-ea"/>
                <a:cs typeface="+mn-cs"/>
              </a:rPr>
              <a:t> Emergencies </a:t>
            </a:r>
          </a:p>
          <a:p>
            <a:pPr lvl="1">
              <a:buFont typeface="Arial" pitchFamily="34" charset="0"/>
              <a:buChar char="•"/>
            </a:pPr>
            <a:r>
              <a:rPr lang="en-AU" sz="1200" kern="1200" dirty="0" smtClean="0">
                <a:solidFill>
                  <a:schemeClr val="tx1"/>
                </a:solidFill>
                <a:ea typeface="+mn-ea"/>
                <a:cs typeface="+mn-cs"/>
              </a:rPr>
              <a:t> Breaches of security.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119015357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presenting </a:t>
            </a:r>
            <a:r>
              <a:rPr lang="en-AU" sz="1200" kern="1200" dirty="0" smtClean="0">
                <a:solidFill>
                  <a:schemeClr val="tx1"/>
                </a:solidFill>
                <a:ea typeface="+mn-ea"/>
                <a:cs typeface="+mn-cs"/>
              </a:rPr>
              <a:t>activities involved in establishing media liaison facilities and procedures:</a:t>
            </a:r>
          </a:p>
          <a:p>
            <a:pPr>
              <a:buFont typeface="Arial" pitchFamily="34" charset="0"/>
              <a:buChar char="•"/>
            </a:pPr>
            <a:r>
              <a:rPr lang="en-AU" sz="1200" kern="1200" dirty="0" smtClean="0">
                <a:solidFill>
                  <a:schemeClr val="tx1"/>
                </a:solidFill>
                <a:ea typeface="+mn-ea"/>
                <a:cs typeface="+mn-cs"/>
              </a:rPr>
              <a:t> Nominating a single media contact person for the venue and providing relevant contact details to facilitate contact.</a:t>
            </a:r>
          </a:p>
          <a:p>
            <a:pPr>
              <a:buFont typeface="Arial" pitchFamily="34" charset="0"/>
              <a:buChar char="•"/>
            </a:pPr>
            <a:r>
              <a:rPr lang="en-AU" sz="1200" kern="1200" dirty="0" smtClean="0">
                <a:solidFill>
                  <a:schemeClr val="tx1"/>
                </a:solidFill>
                <a:ea typeface="+mn-ea"/>
                <a:cs typeface="+mn-cs"/>
              </a:rPr>
              <a:t> Advising times and dates available for media interviews and:</a:t>
            </a:r>
          </a:p>
          <a:p>
            <a:pPr lvl="1">
              <a:buFont typeface="Arial" pitchFamily="34" charset="0"/>
              <a:buChar char="•"/>
            </a:pPr>
            <a:r>
              <a:rPr lang="en-AU" sz="1200" kern="1200" dirty="0" smtClean="0">
                <a:solidFill>
                  <a:schemeClr val="tx1"/>
                </a:solidFill>
                <a:ea typeface="+mn-ea"/>
                <a:cs typeface="+mn-cs"/>
              </a:rPr>
              <a:t> Screening applicants for interviews</a:t>
            </a:r>
          </a:p>
          <a:p>
            <a:pPr lvl="1">
              <a:buFont typeface="Arial" pitchFamily="34" charset="0"/>
              <a:buChar char="•"/>
            </a:pPr>
            <a:r>
              <a:rPr lang="en-AU" sz="1200" kern="1200" dirty="0" smtClean="0">
                <a:solidFill>
                  <a:schemeClr val="tx1"/>
                </a:solidFill>
                <a:ea typeface="+mn-ea"/>
                <a:cs typeface="+mn-cs"/>
              </a:rPr>
              <a:t> Making bookings</a:t>
            </a:r>
          </a:p>
          <a:p>
            <a:pPr lvl="1">
              <a:buFont typeface="Arial" pitchFamily="34" charset="0"/>
              <a:buChar char="•"/>
            </a:pPr>
            <a:r>
              <a:rPr lang="en-AU" sz="1200" kern="1200" dirty="0" smtClean="0">
                <a:solidFill>
                  <a:schemeClr val="tx1"/>
                </a:solidFill>
                <a:ea typeface="+mn-ea"/>
                <a:cs typeface="+mn-cs"/>
              </a:rPr>
              <a:t> Communicating bookings to VIP/manager</a:t>
            </a:r>
          </a:p>
          <a:p>
            <a:pPr>
              <a:buFont typeface="Arial" pitchFamily="34" charset="0"/>
              <a:buChar char="•"/>
            </a:pPr>
            <a:r>
              <a:rPr lang="en-AU" sz="1200" kern="1200" dirty="0" smtClean="0">
                <a:solidFill>
                  <a:schemeClr val="tx1"/>
                </a:solidFill>
                <a:ea typeface="+mn-ea"/>
                <a:cs typeface="+mn-cs"/>
              </a:rPr>
              <a:t> Preparing media releases about:</a:t>
            </a:r>
          </a:p>
          <a:p>
            <a:pPr lvl="1">
              <a:buFont typeface="Arial" pitchFamily="34" charset="0"/>
              <a:buChar char="•"/>
            </a:pPr>
            <a:r>
              <a:rPr lang="en-AU" sz="1200" kern="1200" dirty="0" smtClean="0">
                <a:solidFill>
                  <a:schemeClr val="tx1"/>
                </a:solidFill>
                <a:ea typeface="+mn-ea"/>
                <a:cs typeface="+mn-cs"/>
              </a:rPr>
              <a:t> The VIP</a:t>
            </a:r>
          </a:p>
          <a:p>
            <a:pPr lvl="1">
              <a:buFont typeface="Arial" pitchFamily="34" charset="0"/>
              <a:buChar char="•"/>
            </a:pPr>
            <a:r>
              <a:rPr lang="en-AU" sz="1200" kern="1200" dirty="0" smtClean="0">
                <a:solidFill>
                  <a:schemeClr val="tx1"/>
                </a:solidFill>
                <a:ea typeface="+mn-ea"/>
                <a:cs typeface="+mn-cs"/>
              </a:rPr>
              <a:t> Their visit</a:t>
            </a:r>
          </a:p>
          <a:p>
            <a:pPr lvl="1">
              <a:buFont typeface="Arial" pitchFamily="34" charset="0"/>
              <a:buChar char="•"/>
            </a:pPr>
            <a:r>
              <a:rPr lang="en-AU" sz="1200" kern="1200" dirty="0" smtClean="0">
                <a:solidFill>
                  <a:schemeClr val="tx1"/>
                </a:solidFill>
                <a:ea typeface="+mn-ea"/>
                <a:cs typeface="+mn-cs"/>
              </a:rPr>
              <a:t> Activities they have participated in:</a:t>
            </a:r>
          </a:p>
          <a:p>
            <a:pPr lvl="2">
              <a:buFont typeface="Arial" pitchFamily="34" charset="0"/>
              <a:buChar char="•"/>
            </a:pPr>
            <a:r>
              <a:rPr lang="en-AU" sz="1200" kern="1200" dirty="0" smtClean="0">
                <a:solidFill>
                  <a:schemeClr val="tx1"/>
                </a:solidFill>
                <a:ea typeface="+mn-ea"/>
                <a:cs typeface="+mn-cs"/>
              </a:rPr>
              <a:t> Standard requirements are the VIP or their managers need to approve any media releases prior to their distribution</a:t>
            </a:r>
          </a:p>
          <a:p>
            <a:pPr lvl="2">
              <a:buFont typeface="Arial" pitchFamily="34" charset="0"/>
              <a:buChar char="•"/>
            </a:pPr>
            <a:r>
              <a:rPr lang="en-AU" sz="1200" kern="1200" dirty="0" smtClean="0">
                <a:solidFill>
                  <a:schemeClr val="tx1"/>
                </a:solidFill>
                <a:ea typeface="+mn-ea"/>
                <a:cs typeface="+mn-cs"/>
              </a:rPr>
              <a:t> Always keep a copy of media releases and always keep a copy of approval granted to distribute media releases.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ea typeface="+mn-ea"/>
                <a:cs typeface="+mn-cs"/>
              </a:rPr>
              <a:t>Class Activity – Individual Exercise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ea typeface="+mn-ea"/>
                <a:cs typeface="+mn-cs"/>
              </a:rPr>
              <a:t>Trainer provides samples media releases</a:t>
            </a:r>
            <a:r>
              <a:rPr lang="en-AU" sz="1200" b="0" kern="1200" baseline="0" dirty="0" smtClean="0">
                <a:solidFill>
                  <a:schemeClr val="tx1"/>
                </a:solidFill>
                <a:ea typeface="+mn-ea"/>
                <a:cs typeface="+mn-cs"/>
              </a:rPr>
              <a:t> as a model and asks students to prepare a media release for e nominated/mock VIP visit at a simulated venue for a fictitious VIP visit.</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22723450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presenting </a:t>
            </a:r>
            <a:r>
              <a:rPr lang="en-AU" sz="1200" kern="1200" dirty="0" smtClean="0">
                <a:solidFill>
                  <a:schemeClr val="tx1"/>
                </a:solidFill>
                <a:ea typeface="+mn-ea"/>
                <a:cs typeface="+mn-cs"/>
              </a:rPr>
              <a:t>activities involved in establishing media liaison facilities and procedures:</a:t>
            </a:r>
          </a:p>
          <a:p>
            <a:pPr>
              <a:buFont typeface="Arial" pitchFamily="34" charset="0"/>
              <a:buChar char="•"/>
            </a:pPr>
            <a:r>
              <a:rPr lang="en-AU" sz="1200" kern="1200" dirty="0" smtClean="0">
                <a:solidFill>
                  <a:schemeClr val="tx1"/>
                </a:solidFill>
                <a:ea typeface="+mn-ea"/>
                <a:cs typeface="+mn-cs"/>
              </a:rPr>
              <a:t> Preparing and distributing required media protocols for the VIP visit which may include:</a:t>
            </a:r>
          </a:p>
          <a:p>
            <a:pPr lvl="1">
              <a:buFont typeface="Arial" pitchFamily="34" charset="0"/>
              <a:buChar char="•"/>
            </a:pPr>
            <a:r>
              <a:rPr lang="en-AU" sz="1200" kern="1200" dirty="0" smtClean="0">
                <a:solidFill>
                  <a:schemeClr val="tx1"/>
                </a:solidFill>
                <a:ea typeface="+mn-ea"/>
                <a:cs typeface="+mn-cs"/>
              </a:rPr>
              <a:t> Forms of address to use when talking to the VIP</a:t>
            </a:r>
          </a:p>
          <a:p>
            <a:pPr lvl="1">
              <a:buFont typeface="Arial" pitchFamily="34" charset="0"/>
              <a:buChar char="•"/>
            </a:pPr>
            <a:r>
              <a:rPr lang="en-AU" sz="1200" kern="1200" dirty="0" smtClean="0">
                <a:solidFill>
                  <a:schemeClr val="tx1"/>
                </a:solidFill>
                <a:ea typeface="+mn-ea"/>
                <a:cs typeface="+mn-cs"/>
              </a:rPr>
              <a:t> Need for question lists to be submitted in advance</a:t>
            </a:r>
          </a:p>
          <a:p>
            <a:pPr lvl="1">
              <a:buFont typeface="Arial" pitchFamily="34" charset="0"/>
              <a:buChar char="•"/>
            </a:pPr>
            <a:r>
              <a:rPr lang="en-AU" sz="1200" kern="1200" dirty="0" smtClean="0">
                <a:solidFill>
                  <a:schemeClr val="tx1"/>
                </a:solidFill>
                <a:ea typeface="+mn-ea"/>
                <a:cs typeface="+mn-cs"/>
              </a:rPr>
              <a:t> Bans on photographs or filming</a:t>
            </a:r>
          </a:p>
          <a:p>
            <a:pPr lvl="1">
              <a:buFont typeface="Arial" pitchFamily="34" charset="0"/>
              <a:buChar char="•"/>
            </a:pPr>
            <a:r>
              <a:rPr lang="en-AU" sz="1200" kern="1200" dirty="0" smtClean="0">
                <a:solidFill>
                  <a:schemeClr val="tx1"/>
                </a:solidFill>
                <a:ea typeface="+mn-ea"/>
                <a:cs typeface="+mn-cs"/>
              </a:rPr>
              <a:t> Topics which must not be discussed/mentioned</a:t>
            </a:r>
          </a:p>
          <a:p>
            <a:pPr lvl="1">
              <a:buFont typeface="Arial" pitchFamily="34" charset="0"/>
              <a:buChar char="•"/>
            </a:pPr>
            <a:r>
              <a:rPr lang="en-AU" sz="1200" kern="1200" dirty="0" smtClean="0">
                <a:solidFill>
                  <a:schemeClr val="tx1"/>
                </a:solidFill>
                <a:ea typeface="+mn-ea"/>
                <a:cs typeface="+mn-cs"/>
              </a:rPr>
              <a:t> Signing a media agreement indicating formal compliance with requirements</a:t>
            </a:r>
          </a:p>
          <a:p>
            <a:pPr>
              <a:buFont typeface="Arial" pitchFamily="34" charset="0"/>
              <a:buChar char="•"/>
            </a:pPr>
            <a:r>
              <a:rPr lang="en-AU" sz="1200" kern="1200" dirty="0" smtClean="0">
                <a:solidFill>
                  <a:schemeClr val="tx1"/>
                </a:solidFill>
                <a:ea typeface="+mn-ea"/>
                <a:cs typeface="+mn-cs"/>
              </a:rPr>
              <a:t> Determining hospitality to be provided to the media which may include:</a:t>
            </a:r>
          </a:p>
          <a:p>
            <a:pPr lvl="1">
              <a:buFont typeface="Arial" pitchFamily="34" charset="0"/>
              <a:buChar char="•"/>
            </a:pPr>
            <a:r>
              <a:rPr lang="en-AU" sz="1200" kern="1200" dirty="0" smtClean="0">
                <a:solidFill>
                  <a:schemeClr val="tx1"/>
                </a:solidFill>
                <a:ea typeface="+mn-ea"/>
                <a:cs typeface="+mn-cs"/>
              </a:rPr>
              <a:t> Accommodation in relatively</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limited cases such as where the venue believes it can gain positive PR from offering it</a:t>
            </a:r>
          </a:p>
          <a:p>
            <a:pPr lvl="1">
              <a:buFont typeface="Arial" pitchFamily="34" charset="0"/>
              <a:buChar char="•"/>
            </a:pPr>
            <a:r>
              <a:rPr lang="en-AU" sz="1200" kern="1200" dirty="0" smtClean="0">
                <a:solidFill>
                  <a:schemeClr val="tx1"/>
                </a:solidFill>
                <a:ea typeface="+mn-ea"/>
                <a:cs typeface="+mn-cs"/>
              </a:rPr>
              <a:t> Food and beverages which can include:</a:t>
            </a:r>
          </a:p>
          <a:p>
            <a:pPr lvl="2">
              <a:buFont typeface="Arial" pitchFamily="34" charset="0"/>
              <a:buChar char="•"/>
            </a:pPr>
            <a:r>
              <a:rPr lang="en-AU" sz="1200" kern="1200" dirty="0" smtClean="0">
                <a:solidFill>
                  <a:schemeClr val="tx1"/>
                </a:solidFill>
                <a:ea typeface="+mn-ea"/>
                <a:cs typeface="+mn-cs"/>
              </a:rPr>
              <a:t> Light snacks and refreshments</a:t>
            </a:r>
          </a:p>
          <a:p>
            <a:pPr lvl="2">
              <a:buFont typeface="Arial" pitchFamily="34" charset="0"/>
              <a:buChar char="•"/>
            </a:pPr>
            <a:r>
              <a:rPr lang="en-AU" sz="1200" kern="1200" dirty="0" smtClean="0">
                <a:solidFill>
                  <a:schemeClr val="tx1"/>
                </a:solidFill>
                <a:ea typeface="+mn-ea"/>
                <a:cs typeface="+mn-cs"/>
              </a:rPr>
              <a:t> Full meals</a:t>
            </a:r>
          </a:p>
          <a:p>
            <a:pPr lvl="2">
              <a:buFont typeface="Arial" pitchFamily="34" charset="0"/>
              <a:buChar char="•"/>
            </a:pPr>
            <a:r>
              <a:rPr lang="en-AU" sz="1200" kern="1200" dirty="0" smtClean="0">
                <a:solidFill>
                  <a:schemeClr val="tx1"/>
                </a:solidFill>
                <a:ea typeface="+mn-ea"/>
                <a:cs typeface="+mn-cs"/>
              </a:rPr>
              <a:t> Tea, coffee and non-alcoholic beverages</a:t>
            </a:r>
          </a:p>
          <a:p>
            <a:pPr lvl="2">
              <a:buFont typeface="Arial" pitchFamily="34" charset="0"/>
              <a:buChar char="•"/>
            </a:pPr>
            <a:r>
              <a:rPr lang="en-AU" sz="1200" kern="1200" dirty="0" smtClean="0">
                <a:solidFill>
                  <a:schemeClr val="tx1"/>
                </a:solidFill>
                <a:ea typeface="+mn-ea"/>
                <a:cs typeface="+mn-cs"/>
              </a:rPr>
              <a:t> Wine, spirits and beer</a:t>
            </a:r>
          </a:p>
          <a:p>
            <a:pPr lvl="1">
              <a:buFont typeface="Arial" pitchFamily="34" charset="0"/>
              <a:buChar char="•"/>
            </a:pPr>
            <a:r>
              <a:rPr lang="en-AU" sz="1200" kern="1200" dirty="0" smtClean="0">
                <a:solidFill>
                  <a:schemeClr val="tx1"/>
                </a:solidFill>
                <a:ea typeface="+mn-ea"/>
                <a:cs typeface="+mn-cs"/>
              </a:rPr>
              <a:t> Entertainment and/or general access to venue facilities</a:t>
            </a:r>
          </a:p>
          <a:p>
            <a:pPr lvl="1">
              <a:buFont typeface="Arial" pitchFamily="34" charset="0"/>
              <a:buChar char="•"/>
            </a:pPr>
            <a:r>
              <a:rPr lang="en-AU" sz="1200" kern="1200" dirty="0" smtClean="0">
                <a:solidFill>
                  <a:schemeClr val="tx1"/>
                </a:solidFill>
                <a:ea typeface="+mn-ea"/>
                <a:cs typeface="+mn-cs"/>
              </a:rPr>
              <a:t> It is important to negotiate with the VIP as to what they want to provide for the media and what they are prepared to pay for.</a:t>
            </a:r>
          </a:p>
          <a:p>
            <a:pPr lvl="1">
              <a:buFont typeface="Arial" pitchFamily="34" charset="0"/>
              <a:buChar char="•"/>
            </a:pPr>
            <a:r>
              <a:rPr lang="en-AU" sz="1200" kern="1200" dirty="0" smtClean="0">
                <a:solidFill>
                  <a:schemeClr val="tx1"/>
                </a:solidFill>
                <a:ea typeface="+mn-ea"/>
                <a:cs typeface="+mn-cs"/>
              </a:rPr>
              <a:t> There is never a situation where the media can be given whatever they want, without limit however the venue may be prepared to contribute to costs in order to generate positive media relations</a:t>
            </a:r>
          </a:p>
          <a:p>
            <a:pPr>
              <a:buFont typeface="Arial" pitchFamily="34" charset="0"/>
              <a:buChar char="•"/>
            </a:pPr>
            <a:r>
              <a:rPr lang="en-AU" sz="1200" kern="1200" dirty="0" smtClean="0">
                <a:solidFill>
                  <a:schemeClr val="tx1"/>
                </a:solidFill>
                <a:ea typeface="+mn-ea"/>
                <a:cs typeface="+mn-cs"/>
              </a:rPr>
              <a:t> Advising media of arrangements which have been made (see above) which is usually done through a telephone call and/or email contact.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37627083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ea typeface="+mn-ea"/>
                <a:cs typeface="+mn-cs"/>
              </a:rPr>
              <a:t>it is recommended and standard practice to conduct drills for the safety plans which have been developed for a VIP visit explaining drills should be conducted of approved safety plans in order to:</a:t>
            </a:r>
          </a:p>
          <a:p>
            <a:pPr>
              <a:buFont typeface="Arial" pitchFamily="34" charset="0"/>
              <a:buChar char="•"/>
            </a:pPr>
            <a:r>
              <a:rPr lang="en-AU" sz="1200" kern="1200" dirty="0" smtClean="0">
                <a:solidFill>
                  <a:schemeClr val="tx1"/>
                </a:solidFill>
                <a:ea typeface="+mn-ea"/>
                <a:cs typeface="+mn-cs"/>
              </a:rPr>
              <a:t> Demonstrate due diligence in your management of the VIP visit</a:t>
            </a:r>
          </a:p>
          <a:p>
            <a:pPr>
              <a:buFont typeface="Arial" pitchFamily="34" charset="0"/>
              <a:buChar char="•"/>
            </a:pPr>
            <a:r>
              <a:rPr lang="en-AU" sz="1200" kern="1200" dirty="0" smtClean="0">
                <a:solidFill>
                  <a:schemeClr val="tx1"/>
                </a:solidFill>
                <a:ea typeface="+mn-ea"/>
                <a:cs typeface="+mn-cs"/>
              </a:rPr>
              <a:t> Give staff experience and practice in implementing requirements so they can better respond when</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if an actual emergency arises</a:t>
            </a:r>
          </a:p>
          <a:p>
            <a:pPr>
              <a:buFont typeface="Arial" pitchFamily="34" charset="0"/>
              <a:buChar char="•"/>
            </a:pPr>
            <a:r>
              <a:rPr lang="en-AU" sz="1200" kern="1200" dirty="0" smtClean="0">
                <a:solidFill>
                  <a:schemeClr val="tx1"/>
                </a:solidFill>
                <a:ea typeface="+mn-ea"/>
                <a:cs typeface="+mn-cs"/>
              </a:rPr>
              <a:t> Prove the plan/s – drills can help:</a:t>
            </a:r>
          </a:p>
          <a:p>
            <a:pPr>
              <a:buFont typeface="Wingdings" pitchFamily="2" charset="2"/>
              <a:buChar char="§"/>
            </a:pPr>
            <a:r>
              <a:rPr lang="en-AU" sz="1200" kern="1200" dirty="0" smtClean="0">
                <a:solidFill>
                  <a:schemeClr val="tx1"/>
                </a:solidFill>
                <a:ea typeface="+mn-ea"/>
                <a:cs typeface="+mn-cs"/>
              </a:rPr>
              <a:t> Identify problems or unacceptable situations which were not visible when planning occurred</a:t>
            </a:r>
          </a:p>
          <a:p>
            <a:pPr>
              <a:buFont typeface="Wingdings" pitchFamily="2" charset="2"/>
              <a:buChar char="§"/>
            </a:pPr>
            <a:r>
              <a:rPr lang="en-AU" sz="1200" kern="1200" dirty="0" smtClean="0">
                <a:solidFill>
                  <a:schemeClr val="tx1"/>
                </a:solidFill>
                <a:ea typeface="+mn-ea"/>
                <a:cs typeface="+mn-cs"/>
              </a:rPr>
              <a:t> Verify responses and actions stated in the plan/s</a:t>
            </a:r>
          </a:p>
          <a:p>
            <a:pPr>
              <a:buFont typeface="Wingdings" pitchFamily="2" charset="2"/>
              <a:buChar char="§"/>
            </a:pPr>
            <a:r>
              <a:rPr lang="en-AU" sz="1200" kern="1200" dirty="0" smtClean="0">
                <a:solidFill>
                  <a:schemeClr val="tx1"/>
                </a:solidFill>
                <a:ea typeface="+mn-ea"/>
                <a:cs typeface="+mn-cs"/>
              </a:rPr>
              <a:t> Generate options and alternatives for emergency responses and action.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253809517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factors/issues to consider when conducting safety plan drills:</a:t>
            </a:r>
          </a:p>
          <a:p>
            <a:pPr>
              <a:buFont typeface="Arial" pitchFamily="34" charset="0"/>
              <a:buChar char="•"/>
            </a:pPr>
            <a:r>
              <a:rPr lang="en-AU" sz="1200" kern="1200" dirty="0" smtClean="0">
                <a:solidFill>
                  <a:schemeClr val="tx1"/>
                </a:solidFill>
                <a:ea typeface="+mn-ea"/>
                <a:cs typeface="+mn-cs"/>
              </a:rPr>
              <a:t> Include all stakeholders – internal staff, external providers, members of the VIP entourage and local emergency service workers</a:t>
            </a:r>
          </a:p>
          <a:p>
            <a:pPr>
              <a:buFont typeface="Arial" pitchFamily="34" charset="0"/>
              <a:buChar char="•"/>
            </a:pPr>
            <a:r>
              <a:rPr lang="en-AU" sz="1200" kern="1200" dirty="0" smtClean="0">
                <a:solidFill>
                  <a:schemeClr val="tx1"/>
                </a:solidFill>
                <a:ea typeface="+mn-ea"/>
                <a:cs typeface="+mn-cs"/>
              </a:rPr>
              <a:t> Notify the authorities you are conducting a drill so they do not initiate an emergency response if members of the public contact them to advise of an issue</a:t>
            </a:r>
          </a:p>
          <a:p>
            <a:pPr>
              <a:buFont typeface="Arial" pitchFamily="34" charset="0"/>
              <a:buChar char="•"/>
            </a:pPr>
            <a:r>
              <a:rPr lang="en-AU" sz="1200" kern="1200" dirty="0" smtClean="0">
                <a:solidFill>
                  <a:schemeClr val="tx1"/>
                </a:solidFill>
                <a:ea typeface="+mn-ea"/>
                <a:cs typeface="+mn-cs"/>
              </a:rPr>
              <a:t> Trial all details of the safety plans which have been developed</a:t>
            </a:r>
          </a:p>
          <a:p>
            <a:pPr>
              <a:buFont typeface="Arial" pitchFamily="34" charset="0"/>
              <a:buChar char="•"/>
            </a:pPr>
            <a:r>
              <a:rPr lang="en-AU" sz="1200" kern="1200" dirty="0" smtClean="0">
                <a:solidFill>
                  <a:schemeClr val="tx1"/>
                </a:solidFill>
                <a:ea typeface="+mn-ea"/>
                <a:cs typeface="+mn-cs"/>
              </a:rPr>
              <a:t> Test communications and surveillance equipment and protocols as part of the drill</a:t>
            </a:r>
          </a:p>
          <a:p>
            <a:pPr>
              <a:buFont typeface="Arial" pitchFamily="34" charset="0"/>
              <a:buChar char="•"/>
            </a:pPr>
            <a:r>
              <a:rPr lang="en-AU" sz="1200" kern="1200" dirty="0" smtClean="0">
                <a:solidFill>
                  <a:schemeClr val="tx1"/>
                </a:solidFill>
                <a:ea typeface="+mn-ea"/>
                <a:cs typeface="+mn-cs"/>
              </a:rPr>
              <a:t> Conduct drills focusing on potential/probable safety breaches and identified threats.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407890419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factors/issues to consider when conducting safety plan drills:</a:t>
            </a:r>
          </a:p>
          <a:p>
            <a:pPr>
              <a:buFont typeface="Arial" pitchFamily="34" charset="0"/>
              <a:buChar char="•"/>
            </a:pPr>
            <a:r>
              <a:rPr lang="en-AU" sz="1200" kern="1200" dirty="0" smtClean="0">
                <a:solidFill>
                  <a:schemeClr val="tx1"/>
                </a:solidFill>
                <a:ea typeface="+mn-ea"/>
                <a:cs typeface="+mn-cs"/>
              </a:rPr>
              <a:t> The focus for each drill should vary so participants are exposed to a variety of ‘realistic’ situations.</a:t>
            </a:r>
          </a:p>
          <a:p>
            <a:pPr lvl="1">
              <a:buFont typeface="Arial" pitchFamily="34" charset="0"/>
              <a:buChar char="•"/>
            </a:pPr>
            <a:r>
              <a:rPr lang="en-AU" sz="1200" kern="1200" dirty="0" smtClean="0">
                <a:solidFill>
                  <a:schemeClr val="tx1"/>
                </a:solidFill>
                <a:ea typeface="+mn-ea"/>
                <a:cs typeface="+mn-cs"/>
              </a:rPr>
              <a:t> Drills should be proper and detailed dress rehearsals’ rather than ‘activities’ simply designed to ‘tick the box’ for complying with the need to undertake a drill.</a:t>
            </a:r>
          </a:p>
          <a:p>
            <a:pPr lvl="1">
              <a:buFont typeface="Arial" pitchFamily="34" charset="0"/>
              <a:buChar char="•"/>
            </a:pPr>
            <a:r>
              <a:rPr lang="en-AU" sz="1200" kern="1200" dirty="0" smtClean="0">
                <a:solidFill>
                  <a:schemeClr val="tx1"/>
                </a:solidFill>
                <a:ea typeface="+mn-ea"/>
                <a:cs typeface="+mn-cs"/>
              </a:rPr>
              <a:t> Incorporating reality into the drills means:</a:t>
            </a:r>
          </a:p>
          <a:p>
            <a:pPr lvl="2">
              <a:buFont typeface="Arial" pitchFamily="34" charset="0"/>
              <a:buChar char="•"/>
            </a:pPr>
            <a:r>
              <a:rPr lang="en-AU" sz="1200" kern="1200" dirty="0" smtClean="0">
                <a:solidFill>
                  <a:schemeClr val="tx1"/>
                </a:solidFill>
                <a:ea typeface="+mn-ea"/>
                <a:cs typeface="+mn-cs"/>
              </a:rPr>
              <a:t> Conducting drills at different times of the day with an emphasis on drills at night because many emergencies occur at night </a:t>
            </a:r>
          </a:p>
          <a:p>
            <a:pPr lvl="2">
              <a:buFont typeface="Arial" pitchFamily="34" charset="0"/>
              <a:buChar char="•"/>
            </a:pPr>
            <a:r>
              <a:rPr lang="en-AU" sz="1200" kern="1200" dirty="0" smtClean="0">
                <a:solidFill>
                  <a:schemeClr val="tx1"/>
                </a:solidFill>
                <a:ea typeface="+mn-ea"/>
                <a:cs typeface="+mn-cs"/>
              </a:rPr>
              <a:t> Conducting drills on different days of the week because the pattern and level of trade can vary significantly on different times creating new/different conditions</a:t>
            </a:r>
          </a:p>
          <a:p>
            <a:pPr lvl="2">
              <a:buFont typeface="Arial" pitchFamily="34" charset="0"/>
              <a:buChar char="•"/>
            </a:pPr>
            <a:r>
              <a:rPr lang="en-AU" sz="1200" kern="1200" dirty="0" smtClean="0">
                <a:solidFill>
                  <a:schemeClr val="tx1"/>
                </a:solidFill>
                <a:ea typeface="+mn-ea"/>
                <a:cs typeface="+mn-cs"/>
              </a:rPr>
              <a:t> Integration of realistic ‘problems’ into the drills. For example, the evacuation drill should/could include some factor introducing an element of unpredictability or surprise into it. For example, the drill may involve: </a:t>
            </a:r>
          </a:p>
          <a:p>
            <a:pPr lvl="3">
              <a:buFont typeface="Arial" pitchFamily="34" charset="0"/>
              <a:buChar char="•"/>
            </a:pPr>
            <a:r>
              <a:rPr lang="en-AU" sz="1200" kern="1200" dirty="0" smtClean="0">
                <a:solidFill>
                  <a:schemeClr val="tx1"/>
                </a:solidFill>
                <a:ea typeface="+mn-ea"/>
                <a:cs typeface="+mn-cs"/>
              </a:rPr>
              <a:t> Unexpected reactions from the VIP and/or their entourage</a:t>
            </a:r>
          </a:p>
          <a:p>
            <a:pPr lvl="3">
              <a:buFont typeface="Arial" pitchFamily="34" charset="0"/>
              <a:buChar char="•"/>
            </a:pPr>
            <a:r>
              <a:rPr lang="en-AU" sz="1200" kern="1200" dirty="0" smtClean="0">
                <a:solidFill>
                  <a:schemeClr val="tx1"/>
                </a:solidFill>
                <a:ea typeface="+mn-ea"/>
                <a:cs typeface="+mn-cs"/>
              </a:rPr>
              <a:t> People trapped in rooms</a:t>
            </a:r>
          </a:p>
          <a:p>
            <a:pPr lvl="3">
              <a:buFont typeface="Arial" pitchFamily="34" charset="0"/>
              <a:buChar char="•"/>
            </a:pPr>
            <a:r>
              <a:rPr lang="en-AU" sz="1200" kern="1200" dirty="0" smtClean="0">
                <a:solidFill>
                  <a:schemeClr val="tx1"/>
                </a:solidFill>
                <a:ea typeface="+mn-ea"/>
                <a:cs typeface="+mn-cs"/>
              </a:rPr>
              <a:t> Blocked primary and/or secondary evacuation routes.</a:t>
            </a:r>
          </a:p>
          <a:p>
            <a:pPr lvl="3">
              <a:buFont typeface="Arial" pitchFamily="34" charset="0"/>
              <a:buChar char="•"/>
            </a:pPr>
            <a:r>
              <a:rPr lang="en-AU" sz="1200" kern="1200" dirty="0" smtClean="0">
                <a:solidFill>
                  <a:schemeClr val="tx1"/>
                </a:solidFill>
                <a:ea typeface="+mn-ea"/>
                <a:cs typeface="+mn-cs"/>
              </a:rPr>
              <a:t> Evaluate the drills involving all stakeholders and participants.</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219734062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factors/issues to consider when conducting safety plan drills:</a:t>
            </a:r>
          </a:p>
          <a:p>
            <a:pPr>
              <a:buFont typeface="Arial" pitchFamily="34" charset="0"/>
              <a:buChar char="•"/>
            </a:pPr>
            <a:r>
              <a:rPr lang="en-AU" sz="1200" kern="1200" dirty="0" smtClean="0">
                <a:solidFill>
                  <a:schemeClr val="tx1"/>
                </a:solidFill>
                <a:ea typeface="+mn-ea"/>
                <a:cs typeface="+mn-cs"/>
              </a:rPr>
              <a:t> Revise safety plans on the basis of feedback/observation of drills and re-circulate as necessary</a:t>
            </a:r>
          </a:p>
          <a:p>
            <a:pPr>
              <a:buFont typeface="Arial" pitchFamily="34" charset="0"/>
              <a:buChar char="•"/>
            </a:pPr>
            <a:r>
              <a:rPr lang="en-AU" sz="1200" kern="1200" dirty="0" smtClean="0">
                <a:solidFill>
                  <a:schemeClr val="tx1"/>
                </a:solidFill>
                <a:ea typeface="+mn-ea"/>
                <a:cs typeface="+mn-cs"/>
              </a:rPr>
              <a:t> Record dates and times of all drills and the names of those who participated</a:t>
            </a:r>
          </a:p>
          <a:p>
            <a:pPr>
              <a:buFont typeface="Arial" pitchFamily="34" charset="0"/>
              <a:buChar char="•"/>
            </a:pPr>
            <a:r>
              <a:rPr lang="en-AU" sz="1200" kern="1200" dirty="0" smtClean="0">
                <a:solidFill>
                  <a:schemeClr val="tx1"/>
                </a:solidFill>
                <a:ea typeface="+mn-ea"/>
                <a:cs typeface="+mn-cs"/>
              </a:rPr>
              <a:t> Re-run drills based on alterations made to safety plans on the basis of observation and feedback.</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63577833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39533006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42139101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preparing for implementing plans for VIP safety by asking questions such as:</a:t>
            </a:r>
          </a:p>
          <a:p>
            <a:pPr>
              <a:buFont typeface="Arial" pitchFamily="34" charset="0"/>
              <a:buChar char="•"/>
            </a:pPr>
            <a:r>
              <a:rPr lang="en-US" b="0" baseline="0" dirty="0" smtClean="0"/>
              <a:t> What are the elements of VIP safety plans?</a:t>
            </a:r>
          </a:p>
          <a:p>
            <a:pPr>
              <a:buFont typeface="Arial" pitchFamily="34" charset="0"/>
              <a:buChar char="•"/>
            </a:pPr>
            <a:r>
              <a:rPr lang="en-US" b="0" baseline="0" dirty="0" smtClean="0"/>
              <a:t> What do think would be necessary pre-arrival procedures which need to be developed/applied?</a:t>
            </a:r>
          </a:p>
          <a:p>
            <a:pPr>
              <a:buFont typeface="Arial" pitchFamily="34" charset="0"/>
              <a:buChar char="•"/>
            </a:pPr>
            <a:r>
              <a:rPr lang="en-US" b="0" baseline="0" dirty="0" smtClean="0"/>
              <a:t> What pre-arrival checks do you think would need to be undertaken?</a:t>
            </a:r>
          </a:p>
          <a:p>
            <a:pPr>
              <a:buFont typeface="Arial" pitchFamily="34" charset="0"/>
              <a:buChar char="•"/>
            </a:pPr>
            <a:r>
              <a:rPr lang="en-US" b="0" baseline="0" dirty="0" smtClean="0"/>
              <a:t> How would you meet and escort a VIP?</a:t>
            </a:r>
          </a:p>
          <a:p>
            <a:pPr>
              <a:buFont typeface="Arial" pitchFamily="34" charset="0"/>
              <a:buChar char="•"/>
            </a:pPr>
            <a:r>
              <a:rPr lang="en-US" b="0" baseline="0" dirty="0" smtClean="0"/>
              <a:t> What might be entailed in maintaining the safety of a VIP during their stay?</a:t>
            </a:r>
            <a:endParaRPr lang="en-US" b="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92956124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ea typeface="+mn-ea"/>
                <a:cs typeface="+mn-cs"/>
              </a:rPr>
              <a:t>states a standard requirement prior to a VIP visit is to implement the planned pre-arrival preparations as identified in the planning and preparation phase explaining these preparations occur over a </a:t>
            </a:r>
            <a:r>
              <a:rPr lang="en-AU" sz="1200" i="1" kern="1200" dirty="0" smtClean="0">
                <a:solidFill>
                  <a:schemeClr val="tx1"/>
                </a:solidFill>
                <a:ea typeface="+mn-ea"/>
                <a:cs typeface="+mn-cs"/>
              </a:rPr>
              <a:t>range</a:t>
            </a:r>
            <a:r>
              <a:rPr lang="en-AU" sz="1200" kern="1200" dirty="0" smtClean="0">
                <a:solidFill>
                  <a:schemeClr val="tx1"/>
                </a:solidFill>
                <a:ea typeface="+mn-ea"/>
                <a:cs typeface="+mn-cs"/>
              </a:rPr>
              <a:t> of timelines, for example:</a:t>
            </a:r>
          </a:p>
          <a:p>
            <a:pPr>
              <a:buFont typeface="Arial" pitchFamily="34" charset="0"/>
              <a:buChar char="•"/>
            </a:pPr>
            <a:r>
              <a:rPr lang="en-AU" sz="1200" kern="1200" dirty="0" smtClean="0">
                <a:solidFill>
                  <a:schemeClr val="tx1"/>
                </a:solidFill>
                <a:ea typeface="+mn-ea"/>
                <a:cs typeface="+mn-cs"/>
              </a:rPr>
              <a:t> Buying, installing, commissioning and testing new security systems and technology may take place six months in advance of the visit </a:t>
            </a:r>
          </a:p>
          <a:p>
            <a:pPr>
              <a:buFont typeface="Arial" pitchFamily="34" charset="0"/>
              <a:buChar char="•"/>
            </a:pPr>
            <a:r>
              <a:rPr lang="en-AU" sz="1200" kern="1200" dirty="0" smtClean="0">
                <a:solidFill>
                  <a:schemeClr val="tx1"/>
                </a:solidFill>
                <a:ea typeface="+mn-ea"/>
                <a:cs typeface="+mn-cs"/>
              </a:rPr>
              <a:t> Staff training and painting rooms can occur three months plus in advance of the arrival of the VIP and their entourage</a:t>
            </a:r>
          </a:p>
          <a:p>
            <a:pPr>
              <a:buFont typeface="Arial" pitchFamily="34" charset="0"/>
              <a:buChar char="•"/>
            </a:pPr>
            <a:r>
              <a:rPr lang="en-AU" sz="1200" kern="1200" dirty="0" smtClean="0">
                <a:solidFill>
                  <a:schemeClr val="tx1"/>
                </a:solidFill>
                <a:ea typeface="+mn-ea"/>
                <a:cs typeface="+mn-cs"/>
              </a:rPr>
              <a:t> Preparing in-door facilities for the visit will take place one to two days in advance</a:t>
            </a:r>
          </a:p>
          <a:p>
            <a:pPr>
              <a:buFont typeface="Arial" pitchFamily="34" charset="0"/>
              <a:buChar char="•"/>
            </a:pPr>
            <a:r>
              <a:rPr lang="en-AU" sz="1200" kern="1200" dirty="0" smtClean="0">
                <a:solidFill>
                  <a:schemeClr val="tx1"/>
                </a:solidFill>
                <a:ea typeface="+mn-ea"/>
                <a:cs typeface="+mn-cs"/>
              </a:rPr>
              <a:t> Erecting barricades and cordons may occur on the day or within 24 hours of the arrival of the VIP</a:t>
            </a:r>
          </a:p>
          <a:p>
            <a:pPr>
              <a:buFont typeface="Arial" pitchFamily="34" charset="0"/>
              <a:buChar char="•"/>
            </a:pPr>
            <a:r>
              <a:rPr lang="en-AU" sz="1200" kern="1200" dirty="0" smtClean="0">
                <a:solidFill>
                  <a:schemeClr val="tx1"/>
                </a:solidFill>
                <a:ea typeface="+mn-ea"/>
                <a:cs typeface="+mn-cs"/>
              </a:rPr>
              <a:t> Cleaning of spaces, rooms and facilities may occur hours before the VIP arrives.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168663332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examples of pre-arrival preparations:</a:t>
            </a:r>
          </a:p>
          <a:p>
            <a:r>
              <a:rPr lang="en-AU" sz="1200" b="1" kern="1200" dirty="0" smtClean="0">
                <a:solidFill>
                  <a:schemeClr val="tx1"/>
                </a:solidFill>
                <a:ea typeface="+mn-ea"/>
                <a:cs typeface="+mn-cs"/>
              </a:rPr>
              <a:t>Training staff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Staff identified as providing service to the VIP and their party will need to be trained in required responsibilities and tasks which can relate to:</a:t>
            </a:r>
          </a:p>
          <a:p>
            <a:pPr lvl="1">
              <a:buFont typeface="Arial" pitchFamily="34" charset="0"/>
              <a:buChar char="•"/>
            </a:pPr>
            <a:r>
              <a:rPr lang="en-AU" sz="1200" kern="1200" dirty="0" smtClean="0">
                <a:solidFill>
                  <a:schemeClr val="tx1"/>
                </a:solidFill>
                <a:ea typeface="+mn-ea"/>
                <a:cs typeface="+mn-cs"/>
              </a:rPr>
              <a:t> Use of relevant equipment, systems, technology and utensils </a:t>
            </a:r>
          </a:p>
          <a:p>
            <a:pPr lvl="1">
              <a:buFont typeface="Arial" pitchFamily="34" charset="0"/>
              <a:buChar char="•"/>
            </a:pPr>
            <a:r>
              <a:rPr lang="en-AU" sz="1200" kern="1200" dirty="0" smtClean="0">
                <a:solidFill>
                  <a:schemeClr val="tx1"/>
                </a:solidFill>
                <a:ea typeface="+mn-ea"/>
                <a:cs typeface="+mn-cs"/>
              </a:rPr>
              <a:t> Cultural awareness and sensitivity</a:t>
            </a:r>
          </a:p>
          <a:p>
            <a:pPr lvl="1">
              <a:buFont typeface="Arial" pitchFamily="34" charset="0"/>
              <a:buChar char="•"/>
            </a:pPr>
            <a:r>
              <a:rPr lang="en-AU" sz="1200" kern="1200" dirty="0" smtClean="0">
                <a:solidFill>
                  <a:schemeClr val="tx1"/>
                </a:solidFill>
                <a:ea typeface="+mn-ea"/>
                <a:cs typeface="+mn-cs"/>
              </a:rPr>
              <a:t> Application of designated protocols</a:t>
            </a:r>
          </a:p>
          <a:p>
            <a:pPr lvl="1">
              <a:buFont typeface="Arial" pitchFamily="34" charset="0"/>
              <a:buChar char="•"/>
            </a:pPr>
            <a:r>
              <a:rPr lang="en-AU" sz="1200" kern="1200" dirty="0" smtClean="0">
                <a:solidFill>
                  <a:schemeClr val="tx1"/>
                </a:solidFill>
                <a:ea typeface="+mn-ea"/>
                <a:cs typeface="+mn-cs"/>
              </a:rPr>
              <a:t> Practical operational requirements</a:t>
            </a:r>
          </a:p>
          <a:p>
            <a:pPr lvl="1">
              <a:buFont typeface="Arial" pitchFamily="34" charset="0"/>
              <a:buChar char="•"/>
            </a:pPr>
            <a:r>
              <a:rPr lang="en-AU" sz="1200" kern="1200" dirty="0" smtClean="0">
                <a:solidFill>
                  <a:schemeClr val="tx1"/>
                </a:solidFill>
                <a:ea typeface="+mn-ea"/>
                <a:cs typeface="+mn-cs"/>
              </a:rPr>
              <a:t> Revisions to standard venue practices as required for the VIP visit.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92701366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examples of pre-arrival preparations:</a:t>
            </a:r>
          </a:p>
          <a:p>
            <a:r>
              <a:rPr lang="en-AU" sz="1200" b="1" kern="1200" dirty="0" smtClean="0">
                <a:solidFill>
                  <a:schemeClr val="tx1"/>
                </a:solidFill>
                <a:ea typeface="+mn-ea"/>
                <a:cs typeface="+mn-cs"/>
              </a:rPr>
              <a:t>Providing food and beverages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Activities which need to be addressed in relation to supplying food and beverages for the VIP and their entourage may include:</a:t>
            </a:r>
          </a:p>
          <a:p>
            <a:pPr lvl="1">
              <a:buFont typeface="Arial" pitchFamily="34" charset="0"/>
              <a:buChar char="•"/>
            </a:pPr>
            <a:r>
              <a:rPr lang="en-AU" sz="1200" kern="1200" dirty="0" smtClean="0">
                <a:solidFill>
                  <a:schemeClr val="tx1"/>
                </a:solidFill>
                <a:ea typeface="+mn-ea"/>
                <a:cs typeface="+mn-cs"/>
              </a:rPr>
              <a:t> Identifying types of food and beverages required such as,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snacks/refreshments, meals, banquets, suppers</a:t>
            </a:r>
          </a:p>
          <a:p>
            <a:pPr lvl="1">
              <a:buFont typeface="Arial" pitchFamily="34" charset="0"/>
              <a:buChar char="•"/>
            </a:pPr>
            <a:r>
              <a:rPr lang="en-AU" sz="1200" kern="1200" dirty="0" smtClean="0">
                <a:solidFill>
                  <a:schemeClr val="tx1"/>
                </a:solidFill>
                <a:ea typeface="+mn-ea"/>
                <a:cs typeface="+mn-cs"/>
              </a:rPr>
              <a:t> Identifying timing requirements, dates and numbers </a:t>
            </a:r>
          </a:p>
          <a:p>
            <a:pPr lvl="1">
              <a:buFont typeface="Arial" pitchFamily="34" charset="0"/>
              <a:buChar char="•"/>
            </a:pPr>
            <a:r>
              <a:rPr lang="en-AU" sz="1200" kern="1200" dirty="0" smtClean="0">
                <a:solidFill>
                  <a:schemeClr val="tx1"/>
                </a:solidFill>
                <a:ea typeface="+mn-ea"/>
                <a:cs typeface="+mn-cs"/>
              </a:rPr>
              <a:t> Identifying items required/preferred by name of dish, brand name of beverages, cooking style </a:t>
            </a:r>
          </a:p>
          <a:p>
            <a:pPr lvl="1">
              <a:buFont typeface="Arial" pitchFamily="34" charset="0"/>
              <a:buChar char="•"/>
            </a:pPr>
            <a:r>
              <a:rPr lang="en-AU" sz="1200" kern="1200" dirty="0" smtClean="0">
                <a:solidFill>
                  <a:schemeClr val="tx1"/>
                </a:solidFill>
                <a:ea typeface="+mn-ea"/>
                <a:cs typeface="+mn-cs"/>
              </a:rPr>
              <a:t> Purchasing raw materials/ingredients</a:t>
            </a:r>
          </a:p>
          <a:p>
            <a:pPr lvl="1">
              <a:buFont typeface="Arial" pitchFamily="34" charset="0"/>
              <a:buChar char="•"/>
            </a:pPr>
            <a:r>
              <a:rPr lang="en-AU" sz="1200" kern="1200" dirty="0" smtClean="0">
                <a:solidFill>
                  <a:schemeClr val="tx1"/>
                </a:solidFill>
                <a:ea typeface="+mn-ea"/>
                <a:cs typeface="+mn-cs"/>
              </a:rPr>
              <a:t> Trialling and taste-testing recipes</a:t>
            </a:r>
          </a:p>
          <a:p>
            <a:pPr lvl="1">
              <a:buFont typeface="Arial" pitchFamily="34" charset="0"/>
              <a:buChar char="•"/>
            </a:pPr>
            <a:r>
              <a:rPr lang="en-AU" sz="1200" kern="1200" dirty="0" smtClean="0">
                <a:solidFill>
                  <a:schemeClr val="tx1"/>
                </a:solidFill>
                <a:ea typeface="+mn-ea"/>
                <a:cs typeface="+mn-cs"/>
              </a:rPr>
              <a:t> Determining presentation and service protocols.</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39665661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examples of pre-arrival preparations:</a:t>
            </a:r>
          </a:p>
          <a:p>
            <a:r>
              <a:rPr lang="en-AU" sz="1200" b="1" kern="1200" dirty="0" smtClean="0">
                <a:solidFill>
                  <a:schemeClr val="tx1"/>
                </a:solidFill>
                <a:ea typeface="+mn-ea"/>
                <a:cs typeface="+mn-cs"/>
              </a:rPr>
              <a:t>Preparing and providing support facilities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Providing necessary support facilities for the visit will involve providing and preparing certain facilities required not only by the VIP but also for their entourage, visitors, media and others who will be attending the venue to meet the VIP and attend VIP-related events/functions</a:t>
            </a:r>
          </a:p>
          <a:p>
            <a:pPr>
              <a:buFont typeface="Arial" pitchFamily="34" charset="0"/>
              <a:buChar char="•"/>
            </a:pPr>
            <a:r>
              <a:rPr lang="en-AU" sz="1200" kern="1200" dirty="0" smtClean="0">
                <a:solidFill>
                  <a:schemeClr val="tx1"/>
                </a:solidFill>
                <a:ea typeface="+mn-ea"/>
                <a:cs typeface="+mn-cs"/>
              </a:rPr>
              <a:t> Preparations for these facilities may involve a range of actions ranging from significant to the very basic such as:</a:t>
            </a:r>
          </a:p>
          <a:p>
            <a:pPr lvl="1">
              <a:buFont typeface="Arial" pitchFamily="34" charset="0"/>
              <a:buChar char="•"/>
            </a:pPr>
            <a:r>
              <a:rPr lang="en-AU" sz="1200" kern="1200" dirty="0" smtClean="0">
                <a:solidFill>
                  <a:schemeClr val="tx1"/>
                </a:solidFill>
                <a:ea typeface="+mn-ea"/>
                <a:cs typeface="+mn-cs"/>
              </a:rPr>
              <a:t> Refurbishment</a:t>
            </a:r>
          </a:p>
          <a:p>
            <a:pPr lvl="1">
              <a:buFont typeface="Arial" pitchFamily="34" charset="0"/>
              <a:buChar char="•"/>
            </a:pPr>
            <a:r>
              <a:rPr lang="en-AU" sz="1200" kern="1200" dirty="0" smtClean="0">
                <a:solidFill>
                  <a:schemeClr val="tx1"/>
                </a:solidFill>
                <a:ea typeface="+mn-ea"/>
                <a:cs typeface="+mn-cs"/>
              </a:rPr>
              <a:t> Painting</a:t>
            </a:r>
          </a:p>
          <a:p>
            <a:pPr lvl="1">
              <a:buFont typeface="Arial" pitchFamily="34" charset="0"/>
              <a:buChar char="•"/>
            </a:pPr>
            <a:r>
              <a:rPr lang="en-AU" sz="1200" kern="1200" dirty="0" smtClean="0">
                <a:solidFill>
                  <a:schemeClr val="tx1"/>
                </a:solidFill>
                <a:ea typeface="+mn-ea"/>
                <a:cs typeface="+mn-cs"/>
              </a:rPr>
              <a:t> Service and maintenance to items in the area to ensure they are fully functional</a:t>
            </a:r>
          </a:p>
          <a:p>
            <a:pPr lvl="1">
              <a:buFont typeface="Arial" pitchFamily="34" charset="0"/>
              <a:buChar char="•"/>
            </a:pPr>
            <a:r>
              <a:rPr lang="en-AU" sz="1200" kern="1200" dirty="0" smtClean="0">
                <a:solidFill>
                  <a:schemeClr val="tx1"/>
                </a:solidFill>
                <a:ea typeface="+mn-ea"/>
                <a:cs typeface="+mn-cs"/>
              </a:rPr>
              <a:t> Cleaning</a:t>
            </a:r>
          </a:p>
          <a:p>
            <a:pPr lvl="1">
              <a:buFont typeface="Arial" pitchFamily="34" charset="0"/>
              <a:buChar char="•"/>
            </a:pPr>
            <a:r>
              <a:rPr lang="en-AU" sz="1200" kern="1200" dirty="0" smtClean="0">
                <a:solidFill>
                  <a:schemeClr val="tx1"/>
                </a:solidFill>
                <a:ea typeface="+mn-ea"/>
                <a:cs typeface="+mn-cs"/>
              </a:rPr>
              <a:t> Replenishment of supplies</a:t>
            </a:r>
          </a:p>
          <a:p>
            <a:pPr lvl="1">
              <a:buFont typeface="Arial" pitchFamily="34" charset="0"/>
              <a:buChar char="•"/>
            </a:pPr>
            <a:r>
              <a:rPr lang="en-AU" sz="1200" kern="1200" dirty="0" smtClean="0">
                <a:solidFill>
                  <a:schemeClr val="tx1"/>
                </a:solidFill>
                <a:ea typeface="+mn-ea"/>
                <a:cs typeface="+mn-cs"/>
              </a:rPr>
              <a:t> Closing of areas to the public at a designated time to prevent unauthorized use of the areas (which may compromise the appearance of the facilities) and to help maintain security.</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3606218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examples of pre-arrival preparations identifying ‘support areas’ which may need to be prepared:</a:t>
            </a:r>
          </a:p>
          <a:p>
            <a:pPr>
              <a:buFont typeface="Arial" pitchFamily="34" charset="0"/>
              <a:buChar char="•"/>
            </a:pPr>
            <a:r>
              <a:rPr lang="en-AU" sz="1200" kern="1200" dirty="0" smtClean="0">
                <a:solidFill>
                  <a:schemeClr val="tx1"/>
                </a:solidFill>
                <a:ea typeface="+mn-ea"/>
                <a:cs typeface="+mn-cs"/>
              </a:rPr>
              <a:t> Toilets and wash rooms</a:t>
            </a:r>
          </a:p>
          <a:p>
            <a:pPr>
              <a:buFont typeface="Arial" pitchFamily="34" charset="0"/>
              <a:buChar char="•"/>
            </a:pPr>
            <a:r>
              <a:rPr lang="en-AU" sz="1200" kern="1200" dirty="0" smtClean="0">
                <a:solidFill>
                  <a:schemeClr val="tx1"/>
                </a:solidFill>
                <a:ea typeface="+mn-ea"/>
                <a:cs typeface="+mn-cs"/>
              </a:rPr>
              <a:t> Make-up rooms </a:t>
            </a:r>
          </a:p>
          <a:p>
            <a:pPr>
              <a:buFont typeface="Arial" pitchFamily="34" charset="0"/>
              <a:buChar char="•"/>
            </a:pPr>
            <a:r>
              <a:rPr lang="en-AU" sz="1200" kern="1200" dirty="0" smtClean="0">
                <a:solidFill>
                  <a:schemeClr val="tx1"/>
                </a:solidFill>
                <a:ea typeface="+mn-ea"/>
                <a:cs typeface="+mn-cs"/>
              </a:rPr>
              <a:t> Media interview rooms </a:t>
            </a:r>
          </a:p>
          <a:p>
            <a:pPr>
              <a:buFont typeface="Arial" pitchFamily="34" charset="0"/>
              <a:buChar char="•"/>
            </a:pPr>
            <a:r>
              <a:rPr lang="en-AU" sz="1200" kern="1200" dirty="0" smtClean="0">
                <a:solidFill>
                  <a:schemeClr val="tx1"/>
                </a:solidFill>
                <a:ea typeface="+mn-ea"/>
                <a:cs typeface="+mn-cs"/>
              </a:rPr>
              <a:t> Change rooms</a:t>
            </a:r>
          </a:p>
          <a:p>
            <a:pPr>
              <a:buFont typeface="Arial" pitchFamily="34" charset="0"/>
              <a:buChar char="•"/>
            </a:pPr>
            <a:r>
              <a:rPr lang="en-AU" sz="1200" kern="1200" dirty="0" smtClean="0">
                <a:solidFill>
                  <a:schemeClr val="tx1"/>
                </a:solidFill>
                <a:ea typeface="+mn-ea"/>
                <a:cs typeface="+mn-cs"/>
              </a:rPr>
              <a:t> Holding rooms for luggage and other items</a:t>
            </a:r>
          </a:p>
          <a:p>
            <a:pPr>
              <a:buFont typeface="Arial" pitchFamily="34" charset="0"/>
              <a:buChar char="•"/>
            </a:pPr>
            <a:r>
              <a:rPr lang="en-AU" sz="1200" kern="1200" dirty="0" smtClean="0">
                <a:solidFill>
                  <a:schemeClr val="tx1"/>
                </a:solidFill>
                <a:ea typeface="+mn-ea"/>
                <a:cs typeface="+mn-cs"/>
              </a:rPr>
              <a:t> Business support where support staff can conduct business-related activities on behalf of the VIP.</a:t>
            </a:r>
          </a:p>
          <a:p>
            <a:pPr>
              <a:buFont typeface="Arial" pitchFamily="34" charset="0"/>
              <a:buNone/>
            </a:pPr>
            <a:endParaRPr lang="en-AU" noProof="0" dirty="0" smtClean="0"/>
          </a:p>
          <a:p>
            <a:pPr>
              <a:buFont typeface="Arial" pitchFamily="34" charset="0"/>
              <a:buNone/>
            </a:pPr>
            <a:r>
              <a:rPr lang="en-AU" b="1" noProof="0" dirty="0" smtClean="0"/>
              <a:t>Class</a:t>
            </a:r>
            <a:r>
              <a:rPr lang="en-AU" b="1" baseline="0" noProof="0" dirty="0" smtClean="0"/>
              <a:t> Activity – Questions and Answers</a:t>
            </a:r>
          </a:p>
          <a:p>
            <a:pPr>
              <a:buFont typeface="Arial" pitchFamily="34" charset="0"/>
              <a:buNone/>
            </a:pPr>
            <a:r>
              <a:rPr lang="en-AU" b="0" baseline="0" noProof="0" dirty="0" smtClean="0"/>
              <a:t>Trainer asks students to identify aspects of each of the listed areas which might require attention before a VIP visit in terms of preparation.</a:t>
            </a:r>
            <a:endParaRPr lang="en-AU" b="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93965878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examples of pre-arrival preparations:</a:t>
            </a:r>
          </a:p>
          <a:p>
            <a:r>
              <a:rPr lang="en-AU" sz="1200" b="1" kern="1200" dirty="0" smtClean="0">
                <a:solidFill>
                  <a:schemeClr val="tx1"/>
                </a:solidFill>
                <a:ea typeface="+mn-ea"/>
                <a:cs typeface="+mn-cs"/>
              </a:rPr>
              <a:t>Controlling access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Controlling access must be undertaken in accordance with safety plan which can include requirements relating to:</a:t>
            </a:r>
          </a:p>
          <a:p>
            <a:pPr lvl="1">
              <a:buFont typeface="Arial" pitchFamily="34" charset="0"/>
              <a:buChar char="•"/>
            </a:pPr>
            <a:r>
              <a:rPr lang="en-AU" sz="1200" kern="1200" dirty="0" smtClean="0">
                <a:solidFill>
                  <a:schemeClr val="tx1"/>
                </a:solidFill>
                <a:ea typeface="+mn-ea"/>
                <a:cs typeface="+mn-cs"/>
              </a:rPr>
              <a:t> Closing and locking doors, gates, windows and other access points</a:t>
            </a:r>
          </a:p>
          <a:p>
            <a:pPr lvl="1">
              <a:buFont typeface="Arial" pitchFamily="34" charset="0"/>
              <a:buChar char="•"/>
            </a:pPr>
            <a:r>
              <a:rPr lang="en-AU" sz="1200" kern="1200" dirty="0" smtClean="0">
                <a:solidFill>
                  <a:schemeClr val="tx1"/>
                </a:solidFill>
                <a:ea typeface="+mn-ea"/>
                <a:cs typeface="+mn-cs"/>
              </a:rPr>
              <a:t> Positioning signage to advise of:</a:t>
            </a:r>
          </a:p>
          <a:p>
            <a:pPr lvl="2">
              <a:buFont typeface="Arial" pitchFamily="34" charset="0"/>
              <a:buChar char="•"/>
            </a:pPr>
            <a:r>
              <a:rPr lang="en-AU" sz="1200" kern="1200" dirty="0" smtClean="0">
                <a:solidFill>
                  <a:schemeClr val="tx1"/>
                </a:solidFill>
                <a:ea typeface="+mn-ea"/>
                <a:cs typeface="+mn-cs"/>
              </a:rPr>
              <a:t> Closed areas</a:t>
            </a:r>
          </a:p>
          <a:p>
            <a:pPr lvl="2">
              <a:buFont typeface="Arial" pitchFamily="34" charset="0"/>
              <a:buChar char="•"/>
            </a:pPr>
            <a:r>
              <a:rPr lang="en-AU" sz="1200" kern="1200" dirty="0" smtClean="0">
                <a:solidFill>
                  <a:schemeClr val="tx1"/>
                </a:solidFill>
                <a:ea typeface="+mn-ea"/>
                <a:cs typeface="+mn-cs"/>
              </a:rPr>
              <a:t> Restricted access</a:t>
            </a:r>
          </a:p>
          <a:p>
            <a:pPr lvl="2">
              <a:buFont typeface="Arial" pitchFamily="34" charset="0"/>
              <a:buChar char="•"/>
            </a:pPr>
            <a:r>
              <a:rPr lang="en-AU" sz="1200" kern="1200" dirty="0" smtClean="0">
                <a:solidFill>
                  <a:schemeClr val="tx1"/>
                </a:solidFill>
                <a:ea typeface="+mn-ea"/>
                <a:cs typeface="+mn-cs"/>
              </a:rPr>
              <a:t> Detours</a:t>
            </a:r>
          </a:p>
          <a:p>
            <a:pPr lvl="1">
              <a:buFont typeface="Arial" pitchFamily="34" charset="0"/>
              <a:buChar char="•"/>
            </a:pPr>
            <a:r>
              <a:rPr lang="en-AU" sz="1200" kern="1200" dirty="0" smtClean="0">
                <a:solidFill>
                  <a:schemeClr val="tx1"/>
                </a:solidFill>
                <a:ea typeface="+mn-ea"/>
                <a:cs typeface="+mn-cs"/>
              </a:rPr>
              <a:t> Erecting physical barricades </a:t>
            </a:r>
          </a:p>
          <a:p>
            <a:pPr lvl="1">
              <a:buFont typeface="Arial" pitchFamily="34" charset="0"/>
              <a:buChar char="•"/>
            </a:pPr>
            <a:r>
              <a:rPr lang="en-AU" sz="1200" kern="1200" dirty="0" smtClean="0">
                <a:solidFill>
                  <a:schemeClr val="tx1"/>
                </a:solidFill>
                <a:ea typeface="+mn-ea"/>
                <a:cs typeface="+mn-cs"/>
              </a:rPr>
              <a:t> Cordoning off areas.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155701645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examples of pre-arrival preparations related to controlling access:</a:t>
            </a:r>
          </a:p>
          <a:p>
            <a:pPr>
              <a:buFont typeface="Arial" pitchFamily="34" charset="0"/>
              <a:buChar char="•"/>
            </a:pPr>
            <a:r>
              <a:rPr lang="en-AU" sz="1200" kern="1200" dirty="0" smtClean="0">
                <a:solidFill>
                  <a:schemeClr val="tx1"/>
                </a:solidFill>
                <a:ea typeface="+mn-ea"/>
                <a:cs typeface="+mn-cs"/>
              </a:rPr>
              <a:t> Inspecting vehicles for</a:t>
            </a:r>
            <a:r>
              <a:rPr lang="en-AU" sz="1200" kern="1200" baseline="0" dirty="0" smtClean="0">
                <a:solidFill>
                  <a:schemeClr val="tx1"/>
                </a:solidFill>
                <a:ea typeface="+mn-ea"/>
                <a:cs typeface="+mn-cs"/>
              </a:rPr>
              <a:t> explosives; to ensure only authorised vehicles are permitted access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Screening luggage and articles</a:t>
            </a:r>
          </a:p>
          <a:p>
            <a:pPr>
              <a:buFont typeface="Arial" pitchFamily="34" charset="0"/>
              <a:buChar char="•"/>
            </a:pPr>
            <a:r>
              <a:rPr lang="en-AU" sz="1200" kern="1200" dirty="0" smtClean="0">
                <a:solidFill>
                  <a:schemeClr val="tx1"/>
                </a:solidFill>
                <a:ea typeface="+mn-ea"/>
                <a:cs typeface="+mn-cs"/>
              </a:rPr>
              <a:t> Conducting personal screening</a:t>
            </a:r>
          </a:p>
          <a:p>
            <a:pPr>
              <a:buFont typeface="Arial" pitchFamily="34" charset="0"/>
              <a:buChar char="•"/>
            </a:pPr>
            <a:r>
              <a:rPr lang="en-AU" sz="1200" kern="1200" dirty="0" smtClean="0">
                <a:solidFill>
                  <a:schemeClr val="tx1"/>
                </a:solidFill>
                <a:ea typeface="+mn-ea"/>
                <a:cs typeface="+mn-cs"/>
              </a:rPr>
              <a:t> Issuing identification cards</a:t>
            </a:r>
          </a:p>
          <a:p>
            <a:pPr>
              <a:buFont typeface="Arial" pitchFamily="34" charset="0"/>
              <a:buChar char="•"/>
            </a:pPr>
            <a:r>
              <a:rPr lang="en-AU" sz="1200" kern="1200" dirty="0" smtClean="0">
                <a:solidFill>
                  <a:schemeClr val="tx1"/>
                </a:solidFill>
                <a:ea typeface="+mn-ea"/>
                <a:cs typeface="+mn-cs"/>
              </a:rPr>
              <a:t> Positioning guards and security staff at nominated locations.</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3687496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examples of pre-arrival preparations:</a:t>
            </a:r>
          </a:p>
          <a:p>
            <a:r>
              <a:rPr lang="en-AU" sz="1200" b="1" kern="1200" dirty="0" smtClean="0">
                <a:solidFill>
                  <a:schemeClr val="tx1"/>
                </a:solidFill>
                <a:ea typeface="+mn-ea"/>
                <a:cs typeface="+mn-cs"/>
              </a:rPr>
              <a:t>Addressing operational issues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There will always be a need to:</a:t>
            </a:r>
          </a:p>
          <a:p>
            <a:pPr lvl="1">
              <a:buFont typeface="Arial" pitchFamily="34" charset="0"/>
              <a:buChar char="•"/>
            </a:pPr>
            <a:r>
              <a:rPr lang="en-AU" sz="1200" kern="1200" dirty="0" smtClean="0">
                <a:solidFill>
                  <a:schemeClr val="tx1"/>
                </a:solidFill>
                <a:ea typeface="+mn-ea"/>
                <a:cs typeface="+mn-cs"/>
              </a:rPr>
              <a:t> Re-allocate staff to different tasks as required to reflect the involvement of certain venue staff with the VIP visit</a:t>
            </a:r>
          </a:p>
          <a:p>
            <a:pPr lvl="1">
              <a:buFont typeface="Arial" pitchFamily="34" charset="0"/>
              <a:buChar char="•"/>
            </a:pPr>
            <a:r>
              <a:rPr lang="en-AU" sz="1200" kern="1200" dirty="0" smtClean="0">
                <a:solidFill>
                  <a:schemeClr val="tx1"/>
                </a:solidFill>
                <a:ea typeface="+mn-ea"/>
                <a:cs typeface="+mn-cs"/>
              </a:rPr>
              <a:t> Draft revised rosters for the visit period</a:t>
            </a:r>
          </a:p>
          <a:p>
            <a:pPr lvl="1">
              <a:buFont typeface="Arial" pitchFamily="34" charset="0"/>
              <a:buChar char="•"/>
            </a:pPr>
            <a:r>
              <a:rPr lang="en-AU" sz="1200" kern="1200" dirty="0" smtClean="0">
                <a:solidFill>
                  <a:schemeClr val="tx1"/>
                </a:solidFill>
                <a:ea typeface="+mn-ea"/>
                <a:cs typeface="+mn-cs"/>
              </a:rPr>
              <a:t> Advise staff within the venue in relation to:</a:t>
            </a:r>
          </a:p>
          <a:p>
            <a:pPr lvl="2">
              <a:buFont typeface="Arial" pitchFamily="34" charset="0"/>
              <a:buChar char="•"/>
            </a:pPr>
            <a:r>
              <a:rPr lang="en-AU" sz="1200" kern="1200" dirty="0" smtClean="0">
                <a:solidFill>
                  <a:schemeClr val="tx1"/>
                </a:solidFill>
                <a:ea typeface="+mn-ea"/>
                <a:cs typeface="+mn-cs"/>
              </a:rPr>
              <a:t> Revised/new standard operating procedures for the visit</a:t>
            </a:r>
          </a:p>
          <a:p>
            <a:pPr lvl="2">
              <a:buFont typeface="Arial" pitchFamily="34" charset="0"/>
              <a:buChar char="•"/>
            </a:pPr>
            <a:r>
              <a:rPr lang="en-AU" sz="1200" kern="1200" dirty="0" smtClean="0">
                <a:solidFill>
                  <a:schemeClr val="tx1"/>
                </a:solidFill>
                <a:ea typeface="+mn-ea"/>
                <a:cs typeface="+mn-cs"/>
              </a:rPr>
              <a:t> Changed operating times for areas of the venue</a:t>
            </a:r>
          </a:p>
          <a:p>
            <a:pPr lvl="2">
              <a:buFont typeface="Arial" pitchFamily="34" charset="0"/>
              <a:buChar char="•"/>
            </a:pPr>
            <a:r>
              <a:rPr lang="en-AU" sz="1200" kern="1200" dirty="0" smtClean="0">
                <a:solidFill>
                  <a:schemeClr val="tx1"/>
                </a:solidFill>
                <a:ea typeface="+mn-ea"/>
                <a:cs typeface="+mn-cs"/>
              </a:rPr>
              <a:t> Expected impacts of the visit on other guests and strategies to address and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mitigate these.</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420061413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importance of/need to </a:t>
            </a:r>
            <a:r>
              <a:rPr lang="en-AU" sz="1200" kern="1200" dirty="0" smtClean="0">
                <a:solidFill>
                  <a:schemeClr val="tx1"/>
                </a:solidFill>
                <a:ea typeface="+mn-ea"/>
                <a:cs typeface="+mn-cs"/>
              </a:rPr>
              <a:t>apply pre-arrival preparations :</a:t>
            </a:r>
          </a:p>
          <a:p>
            <a:pPr>
              <a:buFont typeface="Arial" pitchFamily="34" charset="0"/>
              <a:buChar char="•"/>
            </a:pPr>
            <a:r>
              <a:rPr lang="en-AU" sz="1200" kern="1200" dirty="0" smtClean="0">
                <a:solidFill>
                  <a:schemeClr val="tx1"/>
                </a:solidFill>
                <a:ea typeface="+mn-ea"/>
                <a:cs typeface="+mn-cs"/>
              </a:rPr>
              <a:t> Optimise safety and security of the VIP</a:t>
            </a:r>
          </a:p>
          <a:p>
            <a:pPr>
              <a:buFont typeface="Arial" pitchFamily="34" charset="0"/>
              <a:buChar char="•"/>
            </a:pPr>
            <a:r>
              <a:rPr lang="en-AU" sz="1200" kern="1200" dirty="0" smtClean="0">
                <a:solidFill>
                  <a:schemeClr val="tx1"/>
                </a:solidFill>
                <a:ea typeface="+mn-ea"/>
                <a:cs typeface="+mn-cs"/>
              </a:rPr>
              <a:t> Meet expectations of VIP and their entourage</a:t>
            </a:r>
          </a:p>
          <a:p>
            <a:pPr>
              <a:buFont typeface="Arial" pitchFamily="34" charset="0"/>
              <a:buChar char="•"/>
            </a:pPr>
            <a:r>
              <a:rPr lang="en-AU" sz="1200" kern="1200" dirty="0" smtClean="0">
                <a:solidFill>
                  <a:schemeClr val="tx1"/>
                </a:solidFill>
                <a:ea typeface="+mn-ea"/>
                <a:cs typeface="+mn-cs"/>
              </a:rPr>
              <a:t> Keep promises made or which are imposed under the terms of any contract which might apply</a:t>
            </a:r>
          </a:p>
          <a:p>
            <a:pPr>
              <a:buFont typeface="Arial" pitchFamily="34" charset="0"/>
              <a:buChar char="•"/>
            </a:pPr>
            <a:r>
              <a:rPr lang="en-AU" sz="1200" kern="1200" dirty="0" smtClean="0">
                <a:solidFill>
                  <a:schemeClr val="tx1"/>
                </a:solidFill>
                <a:ea typeface="+mn-ea"/>
                <a:cs typeface="+mn-cs"/>
              </a:rPr>
              <a:t> Help deliver seamless and high-level service to the VIP and their entourage</a:t>
            </a:r>
          </a:p>
          <a:p>
            <a:pPr>
              <a:buFont typeface="Arial" pitchFamily="34" charset="0"/>
              <a:buChar char="•"/>
            </a:pPr>
            <a:r>
              <a:rPr lang="en-AU" sz="1200" kern="1200" dirty="0" smtClean="0">
                <a:solidFill>
                  <a:schemeClr val="tx1"/>
                </a:solidFill>
                <a:ea typeface="+mn-ea"/>
                <a:cs typeface="+mn-cs"/>
              </a:rPr>
              <a:t> Demonstrate importance the venue places on the visit and the VIP.</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220736590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explains</a:t>
            </a:r>
            <a:r>
              <a:rPr lang="en-AU" baseline="0" noProof="0" dirty="0" smtClean="0"/>
              <a:t> </a:t>
            </a:r>
            <a:r>
              <a:rPr lang="en-AU" sz="1200" kern="1200" dirty="0" smtClean="0">
                <a:solidFill>
                  <a:schemeClr val="tx1"/>
                </a:solidFill>
                <a:ea typeface="+mn-ea"/>
                <a:cs typeface="+mn-cs"/>
              </a:rPr>
              <a:t>immediately prior to the arrival of the VIP there is a requirement to conduct identified pre-arrival checks presenting points to note about the timing and context of these checks:</a:t>
            </a:r>
          </a:p>
          <a:p>
            <a:pPr>
              <a:buFont typeface="Arial" pitchFamily="34" charset="0"/>
              <a:buChar char="•"/>
            </a:pPr>
            <a:r>
              <a:rPr lang="en-AU" sz="1200" kern="1200" dirty="0" smtClean="0">
                <a:solidFill>
                  <a:schemeClr val="tx1"/>
                </a:solidFill>
                <a:ea typeface="+mn-ea"/>
                <a:cs typeface="+mn-cs"/>
              </a:rPr>
              <a:t> Comparing ‘actual’ venue preparation/condition against the safety plan requirements, featuring:</a:t>
            </a:r>
          </a:p>
          <a:p>
            <a:pPr lvl="1">
              <a:buFont typeface="Arial" pitchFamily="34" charset="0"/>
              <a:buChar char="•"/>
            </a:pPr>
            <a:r>
              <a:rPr lang="en-AU" sz="1200" kern="1200" dirty="0" smtClean="0">
                <a:solidFill>
                  <a:schemeClr val="tx1"/>
                </a:solidFill>
                <a:ea typeface="+mn-ea"/>
                <a:cs typeface="+mn-cs"/>
              </a:rPr>
              <a:t> Physical inspections of the venue</a:t>
            </a:r>
          </a:p>
          <a:p>
            <a:pPr lvl="1">
              <a:buFont typeface="Arial" pitchFamily="34" charset="0"/>
              <a:buChar char="•"/>
            </a:pPr>
            <a:r>
              <a:rPr lang="en-AU" sz="1200" kern="1200" dirty="0" smtClean="0">
                <a:solidFill>
                  <a:schemeClr val="tx1"/>
                </a:solidFill>
                <a:ea typeface="+mn-ea"/>
                <a:cs typeface="+mn-cs"/>
              </a:rPr>
              <a:t> Testing of equipment and systems</a:t>
            </a:r>
          </a:p>
          <a:p>
            <a:pPr lvl="1">
              <a:buFont typeface="Arial" pitchFamily="34" charset="0"/>
              <a:buChar char="•"/>
            </a:pPr>
            <a:r>
              <a:rPr lang="en-AU" sz="1200" kern="1200" dirty="0" smtClean="0">
                <a:solidFill>
                  <a:schemeClr val="tx1"/>
                </a:solidFill>
                <a:ea typeface="+mn-ea"/>
                <a:cs typeface="+mn-cs"/>
              </a:rPr>
              <a:t> Implementing actions identified as being required in the safety plan</a:t>
            </a:r>
          </a:p>
          <a:p>
            <a:pPr>
              <a:buFont typeface="Arial" pitchFamily="34" charset="0"/>
              <a:buChar char="•"/>
            </a:pPr>
            <a:r>
              <a:rPr lang="en-AU" sz="1200" kern="1200" dirty="0" smtClean="0">
                <a:solidFill>
                  <a:schemeClr val="tx1"/>
                </a:solidFill>
                <a:ea typeface="+mn-ea"/>
                <a:cs typeface="+mn-cs"/>
              </a:rPr>
              <a:t> Pre-arrival checks are conducted close to the expected arrival time of the VIP.</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exact time of these checks will vary.</a:t>
            </a:r>
          </a:p>
          <a:p>
            <a:pPr lvl="1">
              <a:buFont typeface="Arial" pitchFamily="34" charset="0"/>
              <a:buChar char="•"/>
            </a:pPr>
            <a:r>
              <a:rPr lang="en-AU" sz="1200" kern="1200" dirty="0" smtClean="0">
                <a:solidFill>
                  <a:schemeClr val="tx1"/>
                </a:solidFill>
                <a:ea typeface="+mn-ea"/>
                <a:cs typeface="+mn-cs"/>
              </a:rPr>
              <a:t> Some checks will be done ‘within 24 hours’, others will be undertaken within hours of the ETA and some checks will be ongoing.</a:t>
            </a:r>
          </a:p>
          <a:p>
            <a:pPr>
              <a:buFont typeface="Arial" pitchFamily="34" charset="0"/>
              <a:buChar char="•"/>
            </a:pPr>
            <a:r>
              <a:rPr lang="en-AU" sz="1200" kern="1200" dirty="0" smtClean="0">
                <a:solidFill>
                  <a:schemeClr val="tx1"/>
                </a:solidFill>
                <a:ea typeface="+mn-ea"/>
                <a:cs typeface="+mn-cs"/>
              </a:rPr>
              <a:t> Once pre-arrival checks have been completed, the areas which have been checked need to secured, </a:t>
            </a:r>
            <a:r>
              <a:rPr lang="en-AU" sz="1200" kern="1200" baseline="0" dirty="0" smtClean="0">
                <a:solidFill>
                  <a:schemeClr val="tx1"/>
                </a:solidFill>
                <a:ea typeface="+mn-ea"/>
                <a:cs typeface="+mn-cs"/>
              </a:rPr>
              <a:t>f</a:t>
            </a:r>
            <a:r>
              <a:rPr lang="en-AU" sz="1200" kern="1200" dirty="0" smtClean="0">
                <a:solidFill>
                  <a:schemeClr val="tx1"/>
                </a:solidFill>
                <a:ea typeface="+mn-ea"/>
                <a:cs typeface="+mn-cs"/>
              </a:rPr>
              <a:t>or example to:</a:t>
            </a:r>
          </a:p>
          <a:p>
            <a:pPr lvl="1">
              <a:buFont typeface="Arial" pitchFamily="34" charset="0"/>
              <a:buChar char="•"/>
            </a:pPr>
            <a:r>
              <a:rPr lang="en-AU" sz="1200" kern="1200" dirty="0" smtClean="0">
                <a:solidFill>
                  <a:schemeClr val="tx1"/>
                </a:solidFill>
                <a:ea typeface="+mn-ea"/>
                <a:cs typeface="+mn-cs"/>
              </a:rPr>
              <a:t> Prevent secure areas from being compromised/breached</a:t>
            </a:r>
          </a:p>
          <a:p>
            <a:pPr lvl="1">
              <a:buFont typeface="Arial" pitchFamily="34" charset="0"/>
              <a:buChar char="•"/>
            </a:pPr>
            <a:r>
              <a:rPr lang="en-AU" sz="1200" kern="1200" dirty="0" smtClean="0">
                <a:solidFill>
                  <a:schemeClr val="tx1"/>
                </a:solidFill>
                <a:ea typeface="+mn-ea"/>
                <a:cs typeface="+mn-cs"/>
              </a:rPr>
              <a:t> Stop unauthorized use of areas which may spoil presentation/appearance of facilities and areas.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276227440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a:t>
            </a:r>
            <a:r>
              <a:rPr lang="en-AU" sz="1200" kern="1200" dirty="0" smtClean="0">
                <a:solidFill>
                  <a:schemeClr val="tx1"/>
                </a:solidFill>
                <a:ea typeface="+mn-ea"/>
                <a:cs typeface="+mn-cs"/>
              </a:rPr>
              <a:t>presenting points to note about the timing and context of pre-arrival checks:</a:t>
            </a:r>
            <a:endParaRPr lang="en-AU" noProof="0" dirty="0" smtClean="0"/>
          </a:p>
          <a:p>
            <a:pPr>
              <a:buFont typeface="Arial" pitchFamily="34" charset="0"/>
              <a:buChar char="•"/>
            </a:pPr>
            <a:r>
              <a:rPr lang="en-AU" sz="1200" kern="1200" dirty="0" smtClean="0">
                <a:solidFill>
                  <a:schemeClr val="tx1"/>
                </a:solidFill>
                <a:ea typeface="+mn-ea"/>
                <a:cs typeface="+mn-cs"/>
              </a:rPr>
              <a:t> These checks are often collaborative events.</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will usually be required to:</a:t>
            </a:r>
          </a:p>
          <a:p>
            <a:pPr lvl="1">
              <a:buFont typeface="Arial" pitchFamily="34" charset="0"/>
              <a:buChar char="•"/>
            </a:pPr>
            <a:r>
              <a:rPr lang="en-AU" sz="1200" kern="1200" dirty="0" smtClean="0">
                <a:solidFill>
                  <a:schemeClr val="tx1"/>
                </a:solidFill>
                <a:ea typeface="+mn-ea"/>
                <a:cs typeface="+mn-cs"/>
              </a:rPr>
              <a:t> Undertake the checks with VIP representatives or representatives from their security personnel, the police or other authorities</a:t>
            </a:r>
          </a:p>
          <a:p>
            <a:pPr lvl="1">
              <a:buFont typeface="Arial" pitchFamily="34" charset="0"/>
              <a:buChar char="•"/>
            </a:pPr>
            <a:r>
              <a:rPr lang="en-AU" sz="1200" kern="1200" dirty="0" smtClean="0">
                <a:solidFill>
                  <a:schemeClr val="tx1"/>
                </a:solidFill>
                <a:ea typeface="+mn-ea"/>
                <a:cs typeface="+mn-cs"/>
              </a:rPr>
              <a:t> Allow other security personnel and/or authorities to undertake their own, independent set of pre-arrival checklist.</a:t>
            </a:r>
          </a:p>
          <a:p>
            <a:pPr>
              <a:buFont typeface="Arial" pitchFamily="34" charset="0"/>
              <a:buChar char="•"/>
            </a:pPr>
            <a:r>
              <a:rPr lang="en-AU" sz="1200" kern="1200" dirty="0" smtClean="0">
                <a:solidFill>
                  <a:schemeClr val="tx1"/>
                </a:solidFill>
                <a:ea typeface="+mn-ea"/>
                <a:cs typeface="+mn-cs"/>
              </a:rPr>
              <a:t> A checklist should be used as part of the checking process to:</a:t>
            </a:r>
          </a:p>
          <a:p>
            <a:pPr lvl="1">
              <a:buFont typeface="Arial" pitchFamily="34" charset="0"/>
              <a:buChar char="•"/>
            </a:pPr>
            <a:r>
              <a:rPr lang="en-AU" sz="1200" kern="1200" dirty="0" smtClean="0">
                <a:solidFill>
                  <a:schemeClr val="tx1"/>
                </a:solidFill>
                <a:ea typeface="+mn-ea"/>
                <a:cs typeface="+mn-cs"/>
              </a:rPr>
              <a:t> Ensure no area is over-looked </a:t>
            </a:r>
          </a:p>
          <a:p>
            <a:pPr lvl="1">
              <a:buFont typeface="Arial" pitchFamily="34" charset="0"/>
              <a:buChar char="•"/>
            </a:pPr>
            <a:r>
              <a:rPr lang="en-AU" sz="1200" kern="1200" dirty="0" smtClean="0">
                <a:solidFill>
                  <a:schemeClr val="tx1"/>
                </a:solidFill>
                <a:ea typeface="+mn-ea"/>
                <a:cs typeface="+mn-cs"/>
              </a:rPr>
              <a:t> Record the fact the check was undertaken</a:t>
            </a:r>
          </a:p>
          <a:p>
            <a:pPr lvl="1">
              <a:buFont typeface="Arial" pitchFamily="34" charset="0"/>
              <a:buChar char="•"/>
            </a:pPr>
            <a:r>
              <a:rPr lang="en-AU" sz="1200" kern="1200" dirty="0" smtClean="0">
                <a:solidFill>
                  <a:schemeClr val="tx1"/>
                </a:solidFill>
                <a:ea typeface="+mn-ea"/>
                <a:cs typeface="+mn-cs"/>
              </a:rPr>
              <a:t> Note issues to be addressed</a:t>
            </a:r>
          </a:p>
          <a:p>
            <a:pPr>
              <a:buFont typeface="Arial" pitchFamily="34" charset="0"/>
              <a:buChar char="•"/>
            </a:pPr>
            <a:r>
              <a:rPr lang="en-AU" sz="1200" kern="1200" dirty="0" smtClean="0">
                <a:solidFill>
                  <a:schemeClr val="tx1"/>
                </a:solidFill>
                <a:ea typeface="+mn-ea"/>
                <a:cs typeface="+mn-cs"/>
              </a:rPr>
              <a:t> Identified issues must be addressed.</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can include:</a:t>
            </a:r>
          </a:p>
          <a:p>
            <a:pPr lvl="1">
              <a:buFont typeface="Arial" pitchFamily="34" charset="0"/>
              <a:buChar char="•"/>
            </a:pPr>
            <a:r>
              <a:rPr lang="en-AU" sz="1200" kern="1200" dirty="0" smtClean="0">
                <a:solidFill>
                  <a:schemeClr val="tx1"/>
                </a:solidFill>
                <a:ea typeface="+mn-ea"/>
                <a:cs typeface="+mn-cs"/>
              </a:rPr>
              <a:t> Variances between safety plans and what is discovered as part of the checks, tests and inspections</a:t>
            </a:r>
          </a:p>
          <a:p>
            <a:pPr lvl="1">
              <a:buFont typeface="Arial" pitchFamily="34" charset="0"/>
              <a:buChar char="•"/>
            </a:pPr>
            <a:r>
              <a:rPr lang="en-AU" sz="1200" kern="1200" dirty="0" smtClean="0">
                <a:solidFill>
                  <a:schemeClr val="tx1"/>
                </a:solidFill>
                <a:ea typeface="+mn-ea"/>
                <a:cs typeface="+mn-cs"/>
              </a:rPr>
              <a:t> Issues arising</a:t>
            </a:r>
          </a:p>
          <a:p>
            <a:pPr lvl="1">
              <a:buFont typeface="Arial" pitchFamily="34" charset="0"/>
              <a:buChar char="•"/>
            </a:pPr>
            <a:r>
              <a:rPr lang="en-AU" sz="1200" kern="1200" dirty="0" smtClean="0">
                <a:solidFill>
                  <a:schemeClr val="tx1"/>
                </a:solidFill>
                <a:ea typeface="+mn-ea"/>
                <a:cs typeface="+mn-cs"/>
              </a:rPr>
              <a:t> Changed conditions</a:t>
            </a:r>
          </a:p>
          <a:p>
            <a:pPr lvl="1">
              <a:buFont typeface="Arial" pitchFamily="34" charset="0"/>
              <a:buChar char="•"/>
            </a:pPr>
            <a:r>
              <a:rPr lang="en-AU" sz="1200" kern="1200" dirty="0" smtClean="0">
                <a:solidFill>
                  <a:schemeClr val="tx1"/>
                </a:solidFill>
                <a:ea typeface="+mn-ea"/>
                <a:cs typeface="+mn-cs"/>
              </a:rPr>
              <a:t> New/revised threats.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388499199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examples of pre-arrival checks which may need to be undertaken:</a:t>
            </a:r>
          </a:p>
          <a:p>
            <a:pPr>
              <a:buFont typeface="Arial" pitchFamily="34" charset="0"/>
              <a:buChar char="•"/>
            </a:pPr>
            <a:r>
              <a:rPr lang="en-AU" sz="1200" kern="1200" dirty="0" smtClean="0">
                <a:solidFill>
                  <a:schemeClr val="tx1"/>
                </a:solidFill>
                <a:ea typeface="+mn-ea"/>
                <a:cs typeface="+mn-cs"/>
              </a:rPr>
              <a:t> Confirming functional operation of communications and control centre which can include:</a:t>
            </a:r>
          </a:p>
          <a:p>
            <a:pPr lvl="1">
              <a:buFont typeface="Arial" pitchFamily="34" charset="0"/>
              <a:buChar char="•"/>
            </a:pPr>
            <a:r>
              <a:rPr lang="en-AU" sz="1200" kern="1200" dirty="0" smtClean="0">
                <a:solidFill>
                  <a:schemeClr val="tx1"/>
                </a:solidFill>
                <a:ea typeface="+mn-ea"/>
                <a:cs typeface="+mn-cs"/>
              </a:rPr>
              <a:t> Physical checks/tests of comms devices</a:t>
            </a:r>
          </a:p>
          <a:p>
            <a:pPr lvl="1">
              <a:buFont typeface="Arial" pitchFamily="34" charset="0"/>
              <a:buChar char="•"/>
            </a:pPr>
            <a:r>
              <a:rPr lang="en-AU" sz="1200" kern="1200" dirty="0" smtClean="0">
                <a:solidFill>
                  <a:schemeClr val="tx1"/>
                </a:solidFill>
                <a:ea typeface="+mn-ea"/>
                <a:cs typeface="+mn-cs"/>
              </a:rPr>
              <a:t> Running system checks to verify operational status</a:t>
            </a:r>
          </a:p>
          <a:p>
            <a:pPr lvl="1">
              <a:buFont typeface="Arial" pitchFamily="34" charset="0"/>
              <a:buChar char="•"/>
            </a:pPr>
            <a:r>
              <a:rPr lang="en-AU" sz="1200" kern="1200" dirty="0" smtClean="0">
                <a:solidFill>
                  <a:schemeClr val="tx1"/>
                </a:solidFill>
                <a:ea typeface="+mn-ea"/>
                <a:cs typeface="+mn-cs"/>
              </a:rPr>
              <a:t> Testing of alarms and detection devices</a:t>
            </a:r>
          </a:p>
          <a:p>
            <a:pPr lvl="1">
              <a:buFont typeface="Arial" pitchFamily="34" charset="0"/>
              <a:buChar char="•"/>
            </a:pPr>
            <a:r>
              <a:rPr lang="en-AU" sz="1200" kern="1200" dirty="0" smtClean="0">
                <a:solidFill>
                  <a:schemeClr val="tx1"/>
                </a:solidFill>
                <a:ea typeface="+mn-ea"/>
                <a:cs typeface="+mn-cs"/>
              </a:rPr>
              <a:t> Verifying readiness and operational status of security devices</a:t>
            </a:r>
          </a:p>
          <a:p>
            <a:pPr lvl="1">
              <a:buFont typeface="Arial" pitchFamily="34" charset="0"/>
              <a:buChar char="•"/>
            </a:pPr>
            <a:r>
              <a:rPr lang="en-AU" sz="1200" kern="1200" dirty="0" smtClean="0">
                <a:solidFill>
                  <a:schemeClr val="tx1"/>
                </a:solidFill>
                <a:ea typeface="+mn-ea"/>
                <a:cs typeface="+mn-cs"/>
              </a:rPr>
              <a:t> Sighting availability/presence of emergency plans, evacuations plans and contact lists as appropriate to the visit</a:t>
            </a:r>
          </a:p>
          <a:p>
            <a:pPr>
              <a:buFont typeface="Arial" pitchFamily="34" charset="0"/>
              <a:buChar char="•"/>
            </a:pPr>
            <a:r>
              <a:rPr lang="en-AU" sz="1200" kern="1200" dirty="0" smtClean="0">
                <a:solidFill>
                  <a:schemeClr val="tx1"/>
                </a:solidFill>
                <a:ea typeface="+mn-ea"/>
                <a:cs typeface="+mn-cs"/>
              </a:rPr>
              <a:t> Keying off elevators in accordance with safety plan including:</a:t>
            </a:r>
          </a:p>
          <a:p>
            <a:pPr lvl="1">
              <a:buFont typeface="Arial" pitchFamily="34" charset="0"/>
              <a:buChar char="•"/>
            </a:pPr>
            <a:r>
              <a:rPr lang="en-AU" sz="1200" kern="1200" dirty="0" smtClean="0">
                <a:solidFill>
                  <a:schemeClr val="tx1"/>
                </a:solidFill>
                <a:ea typeface="+mn-ea"/>
                <a:cs typeface="+mn-cs"/>
              </a:rPr>
              <a:t> Ensuring lifts by-pass nominated floors</a:t>
            </a:r>
          </a:p>
          <a:p>
            <a:pPr lvl="1">
              <a:buFont typeface="Arial" pitchFamily="34" charset="0"/>
              <a:buChar char="•"/>
            </a:pPr>
            <a:r>
              <a:rPr lang="en-AU" sz="1200" kern="1200" dirty="0" smtClean="0">
                <a:solidFill>
                  <a:schemeClr val="tx1"/>
                </a:solidFill>
                <a:ea typeface="+mn-ea"/>
                <a:cs typeface="+mn-cs"/>
              </a:rPr>
              <a:t> Closing down certain elevators </a:t>
            </a:r>
          </a:p>
          <a:p>
            <a:pPr lvl="1">
              <a:buFont typeface="Arial" pitchFamily="34" charset="0"/>
              <a:buChar char="•"/>
            </a:pPr>
            <a:r>
              <a:rPr lang="en-AU" sz="1200" kern="1200" dirty="0" smtClean="0">
                <a:solidFill>
                  <a:schemeClr val="tx1"/>
                </a:solidFill>
                <a:ea typeface="+mn-ea"/>
                <a:cs typeface="+mn-cs"/>
              </a:rPr>
              <a:t> Providing elevator keys to VIP security staff</a:t>
            </a:r>
          </a:p>
          <a:p>
            <a:pPr>
              <a:buFont typeface="Arial" pitchFamily="34" charset="0"/>
              <a:buChar char="•"/>
            </a:pPr>
            <a:r>
              <a:rPr lang="en-AU" sz="1200" kern="1200" dirty="0" smtClean="0">
                <a:solidFill>
                  <a:schemeClr val="tx1"/>
                </a:solidFill>
                <a:ea typeface="+mn-ea"/>
                <a:cs typeface="+mn-cs"/>
              </a:rPr>
              <a:t> Conducting sweeps of area looking for as relevant/appropriate to the VIP:</a:t>
            </a:r>
          </a:p>
          <a:p>
            <a:pPr lvl="1">
              <a:buFont typeface="Arial" pitchFamily="34" charset="0"/>
              <a:buChar char="•"/>
            </a:pPr>
            <a:r>
              <a:rPr lang="en-AU" sz="1200" kern="1200" dirty="0" smtClean="0">
                <a:solidFill>
                  <a:schemeClr val="tx1"/>
                </a:solidFill>
                <a:ea typeface="+mn-ea"/>
                <a:cs typeface="+mn-cs"/>
              </a:rPr>
              <a:t> Suspicious packages </a:t>
            </a:r>
          </a:p>
          <a:p>
            <a:pPr lvl="1">
              <a:buFont typeface="Arial" pitchFamily="34" charset="0"/>
              <a:buChar char="•"/>
            </a:pPr>
            <a:r>
              <a:rPr lang="en-AU" sz="1200" kern="1200" dirty="0" smtClean="0">
                <a:solidFill>
                  <a:schemeClr val="tx1"/>
                </a:solidFill>
                <a:ea typeface="+mn-ea"/>
                <a:cs typeface="+mn-cs"/>
              </a:rPr>
              <a:t> Unauthorised persons</a:t>
            </a:r>
          </a:p>
          <a:p>
            <a:pPr lvl="1">
              <a:buFont typeface="Arial" pitchFamily="34" charset="0"/>
              <a:buChar char="•"/>
            </a:pPr>
            <a:r>
              <a:rPr lang="en-AU" sz="1200" kern="1200" dirty="0" smtClean="0">
                <a:solidFill>
                  <a:schemeClr val="tx1"/>
                </a:solidFill>
                <a:ea typeface="+mn-ea"/>
                <a:cs typeface="+mn-cs"/>
              </a:rPr>
              <a:t> Electronic surveillance.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379582303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 continues presenting examples of pre-arrival checks which may need to be undertaken:</a:t>
            </a:r>
          </a:p>
          <a:p>
            <a:pPr>
              <a:buFont typeface="Arial" pitchFamily="34" charset="0"/>
              <a:buChar char="•"/>
            </a:pPr>
            <a:r>
              <a:rPr lang="en-AU" sz="1200" kern="1200" dirty="0" smtClean="0">
                <a:solidFill>
                  <a:schemeClr val="tx1"/>
                </a:solidFill>
                <a:ea typeface="+mn-ea"/>
                <a:cs typeface="+mn-cs"/>
              </a:rPr>
              <a:t> Confirming identity of all persons within restricted areas via standard protocols such as:</a:t>
            </a:r>
          </a:p>
          <a:p>
            <a:pPr lvl="1">
              <a:buFont typeface="Arial" pitchFamily="34" charset="0"/>
              <a:buChar char="•"/>
            </a:pPr>
            <a:r>
              <a:rPr lang="en-AU" sz="1200" kern="1200" dirty="0" smtClean="0">
                <a:solidFill>
                  <a:schemeClr val="tx1"/>
                </a:solidFill>
                <a:ea typeface="+mn-ea"/>
                <a:cs typeface="+mn-cs"/>
              </a:rPr>
              <a:t> Uniforms</a:t>
            </a:r>
          </a:p>
          <a:p>
            <a:pPr lvl="1">
              <a:buFont typeface="Arial" pitchFamily="34" charset="0"/>
              <a:buChar char="•"/>
            </a:pPr>
            <a:r>
              <a:rPr lang="en-AU" sz="1200" kern="1200" dirty="0" smtClean="0">
                <a:solidFill>
                  <a:schemeClr val="tx1"/>
                </a:solidFill>
                <a:ea typeface="+mn-ea"/>
                <a:cs typeface="+mn-cs"/>
              </a:rPr>
              <a:t> ID cards</a:t>
            </a:r>
          </a:p>
          <a:p>
            <a:pPr lvl="1">
              <a:buFont typeface="Arial" pitchFamily="34" charset="0"/>
              <a:buChar char="•"/>
            </a:pPr>
            <a:r>
              <a:rPr lang="en-AU" sz="1200" kern="1200" dirty="0" smtClean="0">
                <a:solidFill>
                  <a:schemeClr val="tx1"/>
                </a:solidFill>
                <a:ea typeface="+mn-ea"/>
                <a:cs typeface="+mn-cs"/>
              </a:rPr>
              <a:t> Personal recognition of individuals</a:t>
            </a:r>
          </a:p>
          <a:p>
            <a:pPr lvl="1">
              <a:buFont typeface="Arial" pitchFamily="34" charset="0"/>
              <a:buChar char="•"/>
            </a:pPr>
            <a:r>
              <a:rPr lang="en-AU" sz="1200" kern="1200" dirty="0" smtClean="0">
                <a:solidFill>
                  <a:schemeClr val="tx1"/>
                </a:solidFill>
                <a:ea typeface="+mn-ea"/>
                <a:cs typeface="+mn-cs"/>
              </a:rPr>
              <a:t> Bio-security protocols</a:t>
            </a:r>
          </a:p>
          <a:p>
            <a:pPr>
              <a:buFont typeface="Arial" pitchFamily="34" charset="0"/>
              <a:buChar char="•"/>
            </a:pPr>
            <a:r>
              <a:rPr lang="en-AU" sz="1200" kern="1200" dirty="0" smtClean="0">
                <a:solidFill>
                  <a:schemeClr val="tx1"/>
                </a:solidFill>
                <a:ea typeface="+mn-ea"/>
                <a:cs typeface="+mn-cs"/>
              </a:rPr>
              <a:t> Checking locked areas.</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is always important to check locked areas which exist in designated security areas.</a:t>
            </a:r>
          </a:p>
          <a:p>
            <a:pPr lvl="1">
              <a:buFont typeface="Arial" pitchFamily="34" charset="0"/>
              <a:buChar char="•"/>
            </a:pPr>
            <a:r>
              <a:rPr lang="en-AU" sz="1200" kern="1200" dirty="0" smtClean="0">
                <a:solidFill>
                  <a:schemeClr val="tx1"/>
                </a:solidFill>
                <a:ea typeface="+mn-ea"/>
                <a:cs typeface="+mn-cs"/>
              </a:rPr>
              <a:t> These checks must address:</a:t>
            </a:r>
          </a:p>
          <a:p>
            <a:pPr lvl="2">
              <a:buFont typeface="Arial" pitchFamily="34" charset="0"/>
              <a:buChar char="•"/>
            </a:pPr>
            <a:r>
              <a:rPr lang="en-AU" sz="1200" kern="1200" dirty="0" smtClean="0">
                <a:solidFill>
                  <a:schemeClr val="tx1"/>
                </a:solidFill>
                <a:ea typeface="+mn-ea"/>
                <a:cs typeface="+mn-cs"/>
              </a:rPr>
              <a:t> Internal and external areas</a:t>
            </a:r>
          </a:p>
          <a:p>
            <a:pPr lvl="2">
              <a:buFont typeface="Arial" pitchFamily="34" charset="0"/>
              <a:buChar char="•"/>
            </a:pPr>
            <a:r>
              <a:rPr lang="en-AU" sz="1200" kern="1200" dirty="0" smtClean="0">
                <a:solidFill>
                  <a:schemeClr val="tx1"/>
                </a:solidFill>
                <a:ea typeface="+mn-ea"/>
                <a:cs typeface="+mn-cs"/>
              </a:rPr>
              <a:t> Front-of-house and back-of-house.</a:t>
            </a:r>
          </a:p>
          <a:p>
            <a:pPr lvl="1">
              <a:buFont typeface="Arial" pitchFamily="34" charset="0"/>
              <a:buChar char="•"/>
            </a:pPr>
            <a:r>
              <a:rPr lang="en-AU" sz="1200" kern="1200" dirty="0" smtClean="0">
                <a:solidFill>
                  <a:schemeClr val="tx1"/>
                </a:solidFill>
                <a:ea typeface="+mn-ea"/>
                <a:cs typeface="+mn-cs"/>
              </a:rPr>
              <a:t> You can never assume a locked door equates to a safe and secure area as:</a:t>
            </a:r>
          </a:p>
          <a:p>
            <a:pPr lvl="2">
              <a:buFont typeface="Arial" pitchFamily="34" charset="0"/>
              <a:buChar char="•"/>
            </a:pPr>
            <a:r>
              <a:rPr lang="en-AU" sz="1200" kern="1200" dirty="0" smtClean="0">
                <a:solidFill>
                  <a:schemeClr val="tx1"/>
                </a:solidFill>
                <a:ea typeface="+mn-ea"/>
                <a:cs typeface="+mn-cs"/>
              </a:rPr>
              <a:t> Someone may be hiding inside a locked area</a:t>
            </a:r>
          </a:p>
          <a:p>
            <a:pPr lvl="2">
              <a:buFont typeface="Arial" pitchFamily="34" charset="0"/>
              <a:buChar char="•"/>
            </a:pPr>
            <a:r>
              <a:rPr lang="en-AU" sz="1200" kern="1200" dirty="0" smtClean="0">
                <a:solidFill>
                  <a:schemeClr val="tx1"/>
                </a:solidFill>
                <a:ea typeface="+mn-ea"/>
                <a:cs typeface="+mn-cs"/>
              </a:rPr>
              <a:t> Someone may have planted a device in the area.</a:t>
            </a:r>
          </a:p>
          <a:p>
            <a:pPr lvl="2">
              <a:buFont typeface="Arial" pitchFamily="34" charset="0"/>
              <a:buChar char="•"/>
            </a:pPr>
            <a:r>
              <a:rPr lang="en-AU" sz="1200" kern="1200" dirty="0" smtClean="0">
                <a:solidFill>
                  <a:schemeClr val="tx1"/>
                </a:solidFill>
                <a:ea typeface="+mn-ea"/>
                <a:cs typeface="+mn-cs"/>
              </a:rPr>
              <a:t> Always remember ‘a locked door only keeps out honest people’.</a:t>
            </a:r>
          </a:p>
          <a:p>
            <a:pPr>
              <a:buFont typeface="Arial" pitchFamily="34" charset="0"/>
              <a:buChar char="•"/>
            </a:pPr>
            <a:r>
              <a:rPr lang="en-AU" sz="1200" kern="1200" dirty="0" smtClean="0">
                <a:solidFill>
                  <a:schemeClr val="tx1"/>
                </a:solidFill>
                <a:ea typeface="+mn-ea"/>
                <a:cs typeface="+mn-cs"/>
              </a:rPr>
              <a:t> Confirming lines of sight are protected and/or available as required for:</a:t>
            </a:r>
          </a:p>
          <a:p>
            <a:pPr lvl="1">
              <a:buFont typeface="Arial" pitchFamily="34" charset="0"/>
              <a:buChar char="•"/>
            </a:pPr>
            <a:r>
              <a:rPr lang="en-AU" sz="1200" kern="1200" dirty="0" smtClean="0">
                <a:solidFill>
                  <a:schemeClr val="tx1"/>
                </a:solidFill>
                <a:ea typeface="+mn-ea"/>
                <a:cs typeface="+mn-cs"/>
              </a:rPr>
              <a:t> CCTV/remote surveillance</a:t>
            </a:r>
          </a:p>
          <a:p>
            <a:pPr lvl="1">
              <a:buFont typeface="Arial" pitchFamily="34" charset="0"/>
              <a:buChar char="•"/>
            </a:pPr>
            <a:r>
              <a:rPr lang="en-AU" sz="1200" kern="1200" dirty="0" smtClean="0">
                <a:solidFill>
                  <a:schemeClr val="tx1"/>
                </a:solidFill>
                <a:ea typeface="+mn-ea"/>
                <a:cs typeface="+mn-cs"/>
              </a:rPr>
              <a:t> Live observation</a:t>
            </a:r>
          </a:p>
          <a:p>
            <a:pPr>
              <a:buFont typeface="Arial" pitchFamily="34" charset="0"/>
              <a:buChar char="•"/>
            </a:pPr>
            <a:r>
              <a:rPr lang="en-AU" sz="1200" kern="1200" dirty="0" smtClean="0">
                <a:solidFill>
                  <a:schemeClr val="tx1"/>
                </a:solidFill>
                <a:ea typeface="+mn-ea"/>
                <a:cs typeface="+mn-cs"/>
              </a:rPr>
              <a:t> Confirming:</a:t>
            </a:r>
          </a:p>
          <a:p>
            <a:pPr lvl="1">
              <a:buFont typeface="Arial" pitchFamily="34" charset="0"/>
              <a:buChar char="•"/>
            </a:pPr>
            <a:r>
              <a:rPr lang="en-AU" sz="1200" kern="1200" dirty="0" smtClean="0">
                <a:solidFill>
                  <a:schemeClr val="tx1"/>
                </a:solidFill>
                <a:ea typeface="+mn-ea"/>
                <a:cs typeface="+mn-cs"/>
              </a:rPr>
              <a:t> Key personnel are in position in accordance with safety plan </a:t>
            </a:r>
          </a:p>
          <a:p>
            <a:pPr lvl="1">
              <a:buFont typeface="Arial" pitchFamily="34" charset="0"/>
              <a:buChar char="•"/>
            </a:pPr>
            <a:r>
              <a:rPr lang="en-AU" sz="1200" kern="1200" dirty="0" smtClean="0">
                <a:solidFill>
                  <a:schemeClr val="tx1"/>
                </a:solidFill>
                <a:ea typeface="+mn-ea"/>
                <a:cs typeface="+mn-cs"/>
              </a:rPr>
              <a:t> Security of all areas in accordance with safety plan</a:t>
            </a:r>
          </a:p>
          <a:p>
            <a:pPr lvl="1">
              <a:buFont typeface="Arial" pitchFamily="34" charset="0"/>
              <a:buChar char="•"/>
            </a:pPr>
            <a:r>
              <a:rPr lang="en-AU" sz="1200" kern="1200" dirty="0" smtClean="0">
                <a:solidFill>
                  <a:schemeClr val="tx1"/>
                </a:solidFill>
                <a:ea typeface="+mn-ea"/>
                <a:cs typeface="+mn-cs"/>
              </a:rPr>
              <a:t> Finalisation of pre-arrival preparations</a:t>
            </a:r>
          </a:p>
          <a:p>
            <a:pPr lvl="1">
              <a:buFont typeface="Arial" pitchFamily="34" charset="0"/>
              <a:buChar char="•"/>
            </a:pPr>
            <a:r>
              <a:rPr lang="en-AU" sz="1200" kern="1200" dirty="0" smtClean="0">
                <a:solidFill>
                  <a:schemeClr val="tx1"/>
                </a:solidFill>
                <a:ea typeface="+mn-ea"/>
                <a:cs typeface="+mn-cs"/>
              </a:rPr>
              <a:t> All pre-arrival checks and briefings have been competed</a:t>
            </a:r>
          </a:p>
          <a:p>
            <a:pPr lvl="1">
              <a:buFont typeface="Arial" pitchFamily="34" charset="0"/>
              <a:buChar char="•"/>
            </a:pPr>
            <a:r>
              <a:rPr lang="en-AU" sz="1200" kern="1200" dirty="0" smtClean="0">
                <a:solidFill>
                  <a:schemeClr val="tx1"/>
                </a:solidFill>
                <a:ea typeface="+mn-ea"/>
                <a:cs typeface="+mn-cs"/>
              </a:rPr>
              <a:t> Necessary follow-up action on the basis of identified issues have been effectively addressed</a:t>
            </a:r>
          </a:p>
          <a:p>
            <a:pPr lvl="1">
              <a:buFont typeface="Arial" pitchFamily="34" charset="0"/>
              <a:buChar char="•"/>
            </a:pPr>
            <a:r>
              <a:rPr lang="en-AU" sz="1200" kern="1200" dirty="0" smtClean="0">
                <a:solidFill>
                  <a:schemeClr val="tx1"/>
                </a:solidFill>
                <a:ea typeface="+mn-ea"/>
                <a:cs typeface="+mn-cs"/>
              </a:rPr>
              <a:t> Final arrangements for the visit including last minute changes</a:t>
            </a:r>
          </a:p>
          <a:p>
            <a:pPr>
              <a:buFont typeface="Arial" pitchFamily="34" charset="0"/>
              <a:buChar char="•"/>
            </a:pPr>
            <a:r>
              <a:rPr lang="en-AU" sz="1200" kern="1200" dirty="0" smtClean="0">
                <a:solidFill>
                  <a:schemeClr val="tx1"/>
                </a:solidFill>
                <a:ea typeface="+mn-ea"/>
                <a:cs typeface="+mn-cs"/>
              </a:rPr>
              <a:t> Issuing ‘all clear’ notification to internal and external stakeholders indicating all checks have been competed in accordance with safety plans and the venue is ready for the arrival of the VIP.</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4215394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advises </a:t>
            </a:r>
            <a:r>
              <a:rPr lang="en-AU" sz="1200" kern="1200" dirty="0" smtClean="0">
                <a:solidFill>
                  <a:schemeClr val="tx1"/>
                </a:solidFill>
                <a:ea typeface="+mn-ea"/>
                <a:cs typeface="+mn-cs"/>
              </a:rPr>
              <a:t>on arrival of the VIP/s and their entourage there may be a need to meet and escort them, explaining: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Discussions with managers/minders will have determined need for this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Venue may be required to play a ‘passive’ or ‘active’ role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Safety plan must provide the basis for action.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95308085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activities required for a ‘passive’ role:</a:t>
            </a:r>
          </a:p>
          <a:p>
            <a:pPr>
              <a:buFont typeface="Arial" pitchFamily="34" charset="0"/>
              <a:buChar char="•"/>
            </a:pPr>
            <a:r>
              <a:rPr lang="en-AU" sz="1200" kern="1200" dirty="0" smtClean="0">
                <a:solidFill>
                  <a:schemeClr val="tx1"/>
                </a:solidFill>
                <a:ea typeface="+mn-ea"/>
                <a:cs typeface="+mn-cs"/>
              </a:rPr>
              <a:t> Allow designated ‘others’ to take the primary role in meeting and greeting.</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may include management of the venue, other security personnel or other VIPs</a:t>
            </a:r>
          </a:p>
          <a:p>
            <a:pPr>
              <a:buFont typeface="Arial" pitchFamily="34" charset="0"/>
              <a:buChar char="•"/>
            </a:pPr>
            <a:r>
              <a:rPr lang="en-AU" sz="1200" kern="1200" dirty="0" smtClean="0">
                <a:solidFill>
                  <a:schemeClr val="tx1"/>
                </a:solidFill>
                <a:ea typeface="+mn-ea"/>
                <a:cs typeface="+mn-cs"/>
              </a:rPr>
              <a:t> Work under the direction of other security personnel responding to their instructions and performing allocated tasks as deemed necessary at the time and by the circumstances</a:t>
            </a:r>
          </a:p>
          <a:p>
            <a:pPr>
              <a:buFont typeface="Arial" pitchFamily="34" charset="0"/>
              <a:buChar char="•"/>
            </a:pPr>
            <a:r>
              <a:rPr lang="en-AU" sz="1200" kern="1200" dirty="0" smtClean="0">
                <a:solidFill>
                  <a:schemeClr val="tx1"/>
                </a:solidFill>
                <a:ea typeface="+mn-ea"/>
                <a:cs typeface="+mn-cs"/>
              </a:rPr>
              <a:t> Observe and monitor the arrival and provide status reports to other security staff or agencies</a:t>
            </a:r>
          </a:p>
          <a:p>
            <a:pPr>
              <a:buFont typeface="Arial" pitchFamily="34" charset="0"/>
              <a:buChar char="•"/>
            </a:pPr>
            <a:r>
              <a:rPr lang="en-AU" sz="1200" kern="1200" dirty="0" smtClean="0">
                <a:solidFill>
                  <a:schemeClr val="tx1"/>
                </a:solidFill>
                <a:ea typeface="+mn-ea"/>
                <a:cs typeface="+mn-cs"/>
              </a:rPr>
              <a:t> Observation in this context always involves a combination of ‘eyes on’ surveillance as well as electronic surveillance and recording of procedures</a:t>
            </a:r>
          </a:p>
          <a:p>
            <a:pPr>
              <a:buFont typeface="Arial" pitchFamily="34" charset="0"/>
              <a:buChar char="•"/>
            </a:pPr>
            <a:r>
              <a:rPr lang="en-AU" sz="1200" kern="1200" dirty="0" smtClean="0">
                <a:solidFill>
                  <a:schemeClr val="tx1"/>
                </a:solidFill>
                <a:ea typeface="+mn-ea"/>
                <a:cs typeface="+mn-cs"/>
              </a:rPr>
              <a:t> Maintain the integrity/security of areas already checked and pronounced as ‘all clear’ to ensure there are no unauthorised intrusions</a:t>
            </a:r>
          </a:p>
          <a:p>
            <a:pPr>
              <a:buFont typeface="Arial" pitchFamily="34" charset="0"/>
              <a:buChar char="•"/>
            </a:pPr>
            <a:r>
              <a:rPr lang="en-AU" sz="1200" kern="1200" dirty="0" smtClean="0">
                <a:solidFill>
                  <a:schemeClr val="tx1"/>
                </a:solidFill>
                <a:ea typeface="+mn-ea"/>
                <a:cs typeface="+mn-cs"/>
              </a:rPr>
              <a:t> Provide a secondary/back-up role only needing to take action in the event of an incident.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228158775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explains activities required for an ‘active’ role:</a:t>
            </a:r>
          </a:p>
          <a:p>
            <a:pPr>
              <a:buFont typeface="Arial" pitchFamily="34" charset="0"/>
              <a:buChar char="•"/>
            </a:pPr>
            <a:r>
              <a:rPr lang="en-AU" sz="1200" kern="1200" dirty="0" smtClean="0">
                <a:solidFill>
                  <a:schemeClr val="tx1"/>
                </a:solidFill>
                <a:ea typeface="+mn-ea"/>
                <a:cs typeface="+mn-cs"/>
              </a:rPr>
              <a:t> Securing nominated areas.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will be :</a:t>
            </a:r>
          </a:p>
          <a:p>
            <a:pPr lvl="1">
              <a:buFont typeface="Arial" pitchFamily="34" charset="0"/>
              <a:buChar char="•"/>
            </a:pPr>
            <a:r>
              <a:rPr lang="en-AU" sz="1200" kern="1200" dirty="0" smtClean="0">
                <a:solidFill>
                  <a:schemeClr val="tx1"/>
                </a:solidFill>
                <a:ea typeface="+mn-ea"/>
                <a:cs typeface="+mn-cs"/>
              </a:rPr>
              <a:t> Nominated arrival area such as the basement of the venue or the main entrance area at the front of the venue </a:t>
            </a:r>
          </a:p>
          <a:p>
            <a:pPr lvl="1">
              <a:buFont typeface="Arial" pitchFamily="34" charset="0"/>
              <a:buChar char="•"/>
            </a:pPr>
            <a:r>
              <a:rPr lang="en-AU" sz="1200" kern="1200" dirty="0" smtClean="0">
                <a:solidFill>
                  <a:schemeClr val="tx1"/>
                </a:solidFill>
                <a:ea typeface="+mn-ea"/>
                <a:cs typeface="+mn-cs"/>
              </a:rPr>
              <a:t> Entry route for the VIP from the arrival point at the venue to the first identified location (such as the media interview room, the lobby, a dining area, a meeting area or direct to their accommodation/room</a:t>
            </a:r>
          </a:p>
          <a:p>
            <a:pPr>
              <a:buFont typeface="Arial" pitchFamily="34" charset="0"/>
              <a:buChar char="•"/>
            </a:pPr>
            <a:r>
              <a:rPr lang="en-AU" sz="1200" kern="1200" dirty="0" smtClean="0">
                <a:solidFill>
                  <a:schemeClr val="tx1"/>
                </a:solidFill>
                <a:ea typeface="+mn-ea"/>
                <a:cs typeface="+mn-cs"/>
              </a:rPr>
              <a:t> Identifying VIP/VIPs.</a:t>
            </a:r>
            <a:r>
              <a:rPr lang="en-AU" sz="1200" kern="1200" baseline="0" dirty="0" smtClean="0">
                <a:solidFill>
                  <a:schemeClr val="tx1"/>
                </a:solidFill>
                <a:ea typeface="+mn-ea"/>
                <a:cs typeface="+mn-cs"/>
              </a:rPr>
              <a:t> P</a:t>
            </a:r>
            <a:r>
              <a:rPr lang="en-AU" sz="1200" kern="1200" dirty="0" smtClean="0">
                <a:solidFill>
                  <a:schemeClr val="tx1"/>
                </a:solidFill>
                <a:ea typeface="+mn-ea"/>
                <a:cs typeface="+mn-cs"/>
              </a:rPr>
              <a:t>revious attention needs to have been paid to:</a:t>
            </a:r>
          </a:p>
          <a:p>
            <a:pPr lvl="1">
              <a:buFont typeface="Arial" pitchFamily="34" charset="0"/>
              <a:buChar char="•"/>
            </a:pPr>
            <a:r>
              <a:rPr lang="en-AU" sz="1200" kern="1200" dirty="0" smtClean="0">
                <a:solidFill>
                  <a:schemeClr val="tx1"/>
                </a:solidFill>
                <a:ea typeface="+mn-ea"/>
                <a:cs typeface="+mn-cs"/>
              </a:rPr>
              <a:t> Enable you to identify the VIP/s by sight</a:t>
            </a:r>
          </a:p>
          <a:p>
            <a:pPr lvl="1">
              <a:buFont typeface="Arial" pitchFamily="34" charset="0"/>
              <a:buChar char="•"/>
            </a:pPr>
            <a:r>
              <a:rPr lang="en-AU" sz="1200" kern="1200" dirty="0" smtClean="0">
                <a:solidFill>
                  <a:schemeClr val="tx1"/>
                </a:solidFill>
                <a:ea typeface="+mn-ea"/>
                <a:cs typeface="+mn-cs"/>
              </a:rPr>
              <a:t> Allow you to determine who is a legitimate member of the entourage – photo ID cards for this purpose may have been issued in advance and it is necessary to check/verify:</a:t>
            </a:r>
          </a:p>
          <a:p>
            <a:pPr lvl="2">
              <a:buFont typeface="Arial" pitchFamily="34" charset="0"/>
              <a:buChar char="•"/>
            </a:pPr>
            <a:r>
              <a:rPr lang="en-AU" sz="1200" kern="1200" dirty="0" smtClean="0">
                <a:solidFill>
                  <a:schemeClr val="tx1"/>
                </a:solidFill>
                <a:ea typeface="+mn-ea"/>
                <a:cs typeface="+mn-cs"/>
              </a:rPr>
              <a:t> All persons in the party have ID</a:t>
            </a:r>
          </a:p>
          <a:p>
            <a:pPr lvl="2">
              <a:buFont typeface="Arial" pitchFamily="34" charset="0"/>
              <a:buChar char="•"/>
            </a:pPr>
            <a:r>
              <a:rPr lang="en-AU" sz="1200" kern="1200" dirty="0" smtClean="0">
                <a:solidFill>
                  <a:schemeClr val="tx1"/>
                </a:solidFill>
                <a:ea typeface="+mn-ea"/>
                <a:cs typeface="+mn-cs"/>
              </a:rPr>
              <a:t> The photo ID matches the person carrying the ID</a:t>
            </a:r>
          </a:p>
          <a:p>
            <a:pPr>
              <a:buFont typeface="Arial" pitchFamily="34" charset="0"/>
              <a:buChar char="•"/>
            </a:pPr>
            <a:r>
              <a:rPr lang="en-AU" sz="1200" kern="1200" dirty="0" smtClean="0">
                <a:solidFill>
                  <a:schemeClr val="tx1"/>
                </a:solidFill>
                <a:ea typeface="+mn-ea"/>
                <a:cs typeface="+mn-cs"/>
              </a:rPr>
              <a:t> Supporting the work of external security staff to facilitate arrival which will necessitate:</a:t>
            </a:r>
          </a:p>
          <a:p>
            <a:pPr lvl="1">
              <a:buFont typeface="Arial" pitchFamily="34" charset="0"/>
              <a:buChar char="•"/>
            </a:pPr>
            <a:r>
              <a:rPr lang="en-AU" sz="1200" kern="1200" dirty="0" smtClean="0">
                <a:solidFill>
                  <a:schemeClr val="tx1"/>
                </a:solidFill>
                <a:ea typeface="+mn-ea"/>
                <a:cs typeface="+mn-cs"/>
              </a:rPr>
              <a:t> Integrating your activities with theirs</a:t>
            </a:r>
          </a:p>
          <a:p>
            <a:pPr lvl="1">
              <a:buFont typeface="Arial" pitchFamily="34" charset="0"/>
              <a:buChar char="•"/>
            </a:pPr>
            <a:r>
              <a:rPr lang="en-AU" sz="1200" kern="1200" dirty="0" smtClean="0">
                <a:solidFill>
                  <a:schemeClr val="tx1"/>
                </a:solidFill>
                <a:ea typeface="+mn-ea"/>
                <a:cs typeface="+mn-cs"/>
              </a:rPr>
              <a:t> Regular communication/liaison (face-to-face or via radio) to: </a:t>
            </a:r>
          </a:p>
          <a:p>
            <a:pPr lvl="2">
              <a:buFont typeface="Arial" pitchFamily="34" charset="0"/>
              <a:buChar char="•"/>
            </a:pPr>
            <a:r>
              <a:rPr lang="en-AU" sz="1200" kern="1200" dirty="0" smtClean="0">
                <a:solidFill>
                  <a:schemeClr val="tx1"/>
                </a:solidFill>
                <a:ea typeface="+mn-ea"/>
                <a:cs typeface="+mn-cs"/>
              </a:rPr>
              <a:t> Determine requirements</a:t>
            </a:r>
          </a:p>
          <a:p>
            <a:pPr lvl="2">
              <a:buFont typeface="Arial" pitchFamily="34" charset="0"/>
              <a:buChar char="•"/>
            </a:pPr>
            <a:r>
              <a:rPr lang="en-AU" sz="1200" kern="1200" dirty="0" smtClean="0">
                <a:solidFill>
                  <a:schemeClr val="tx1"/>
                </a:solidFill>
                <a:ea typeface="+mn-ea"/>
                <a:cs typeface="+mn-cs"/>
              </a:rPr>
              <a:t> Provide updates</a:t>
            </a:r>
          </a:p>
          <a:p>
            <a:pPr lvl="2">
              <a:buFont typeface="Arial" pitchFamily="34" charset="0"/>
              <a:buChar char="•"/>
            </a:pPr>
            <a:r>
              <a:rPr lang="en-AU" sz="1200" kern="1200" dirty="0" smtClean="0">
                <a:solidFill>
                  <a:schemeClr val="tx1"/>
                </a:solidFill>
                <a:ea typeface="+mn-ea"/>
                <a:cs typeface="+mn-cs"/>
              </a:rPr>
              <a:t> Give advice based on your local and venue knowledge</a:t>
            </a:r>
          </a:p>
          <a:p>
            <a:pPr lvl="2">
              <a:buFont typeface="Arial" pitchFamily="34" charset="0"/>
              <a:buChar char="•"/>
            </a:pPr>
            <a:r>
              <a:rPr lang="en-AU" sz="1200" kern="1200" dirty="0" smtClean="0">
                <a:solidFill>
                  <a:schemeClr val="tx1"/>
                </a:solidFill>
                <a:ea typeface="+mn-ea"/>
                <a:cs typeface="+mn-cs"/>
              </a:rPr>
              <a:t> Confirm status and notify ‘all clears’ and issues arising.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69875064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explaining activities required for an ‘active’ role:</a:t>
            </a:r>
          </a:p>
          <a:p>
            <a:pPr>
              <a:buFont typeface="Arial" pitchFamily="34" charset="0"/>
              <a:buChar char="•"/>
            </a:pPr>
            <a:r>
              <a:rPr lang="en-AU" sz="1200" kern="1200" dirty="0" smtClean="0">
                <a:solidFill>
                  <a:schemeClr val="tx1"/>
                </a:solidFill>
                <a:ea typeface="+mn-ea"/>
                <a:cs typeface="+mn-cs"/>
              </a:rPr>
              <a:t> Handling secure entry to building.</a:t>
            </a:r>
          </a:p>
          <a:p>
            <a:pPr lvl="1">
              <a:buFont typeface="Arial" pitchFamily="34" charset="0"/>
              <a:buChar char="•"/>
            </a:pPr>
            <a:r>
              <a:rPr lang="en-AU" sz="1200" kern="1200" dirty="0" smtClean="0">
                <a:solidFill>
                  <a:schemeClr val="tx1"/>
                </a:solidFill>
                <a:ea typeface="+mn-ea"/>
                <a:cs typeface="+mn-cs"/>
              </a:rPr>
              <a:t> ‘Secure entry’ means safe entry. The nature of the secure entry can, however, vary considerably as different VIPs allow different entry protocols. For example:</a:t>
            </a:r>
          </a:p>
          <a:p>
            <a:pPr lvl="2">
              <a:buFont typeface="Arial" pitchFamily="34" charset="0"/>
              <a:buChar char="•"/>
            </a:pPr>
            <a:r>
              <a:rPr lang="en-AU" sz="1200" kern="1200" dirty="0" smtClean="0">
                <a:solidFill>
                  <a:schemeClr val="tx1"/>
                </a:solidFill>
                <a:ea typeface="+mn-ea"/>
                <a:cs typeface="+mn-cs"/>
              </a:rPr>
              <a:t> Some VIPs will want a rapid entry as devoid as possible of interruption or interference</a:t>
            </a:r>
          </a:p>
          <a:p>
            <a:pPr lvl="2">
              <a:buFont typeface="Arial" pitchFamily="34" charset="0"/>
              <a:buChar char="•"/>
            </a:pPr>
            <a:r>
              <a:rPr lang="en-AU" sz="1200" kern="1200" dirty="0" smtClean="0">
                <a:solidFill>
                  <a:schemeClr val="tx1"/>
                </a:solidFill>
                <a:ea typeface="+mn-ea"/>
                <a:cs typeface="+mn-cs"/>
              </a:rPr>
              <a:t> Other VIPs will accept meeting people in a crowd, signing autographs, posing for photographs and even impromptu media interviews.</a:t>
            </a:r>
          </a:p>
          <a:p>
            <a:pPr lvl="2">
              <a:buFont typeface="Arial" pitchFamily="34" charset="0"/>
              <a:buChar char="•"/>
            </a:pPr>
            <a:r>
              <a:rPr lang="en-AU" sz="1200" kern="1200" dirty="0" smtClean="0">
                <a:solidFill>
                  <a:schemeClr val="tx1"/>
                </a:solidFill>
                <a:ea typeface="+mn-ea"/>
                <a:cs typeface="+mn-cs"/>
              </a:rPr>
              <a:t> The physical location chosen as the arrival point (and the barricades and cordons established) will reflect this orientation.</a:t>
            </a:r>
          </a:p>
          <a:p>
            <a:pPr>
              <a:buFont typeface="Arial" pitchFamily="34" charset="0"/>
              <a:buChar char="•"/>
            </a:pPr>
            <a:r>
              <a:rPr lang="en-AU" sz="1200" kern="1200" dirty="0" smtClean="0">
                <a:solidFill>
                  <a:schemeClr val="tx1"/>
                </a:solidFill>
                <a:ea typeface="+mn-ea"/>
                <a:cs typeface="+mn-cs"/>
              </a:rPr>
              <a:t> Monitoring crowds and observing environment for threats.</a:t>
            </a:r>
            <a:r>
              <a:rPr lang="en-AU" sz="1200" kern="1200" baseline="0" dirty="0" smtClean="0">
                <a:solidFill>
                  <a:schemeClr val="tx1"/>
                </a:solidFill>
                <a:ea typeface="+mn-ea"/>
                <a:cs typeface="+mn-cs"/>
              </a:rPr>
              <a:t> W</a:t>
            </a:r>
            <a:r>
              <a:rPr lang="en-AU" sz="1200" kern="1200" dirty="0" smtClean="0">
                <a:solidFill>
                  <a:schemeClr val="tx1"/>
                </a:solidFill>
                <a:ea typeface="+mn-ea"/>
                <a:cs typeface="+mn-cs"/>
              </a:rPr>
              <a:t>hether you take a primary or secondary role when a VIP arrives you will always have responsibility for monitoring and observing ‘others’ who are present. Attention should be focussed on identifying and responding to:</a:t>
            </a:r>
          </a:p>
          <a:p>
            <a:pPr lvl="1">
              <a:buFont typeface="Arial" pitchFamily="34" charset="0"/>
              <a:buChar char="•"/>
            </a:pPr>
            <a:r>
              <a:rPr lang="en-AU" sz="1200" kern="1200" dirty="0" smtClean="0">
                <a:solidFill>
                  <a:schemeClr val="tx1"/>
                </a:solidFill>
                <a:ea typeface="+mn-ea"/>
                <a:cs typeface="+mn-cs"/>
              </a:rPr>
              <a:t> Intoxicated persons </a:t>
            </a:r>
          </a:p>
          <a:p>
            <a:pPr lvl="1">
              <a:buFont typeface="Arial" pitchFamily="34" charset="0"/>
              <a:buChar char="•"/>
            </a:pPr>
            <a:r>
              <a:rPr lang="en-AU" sz="1200" kern="1200" dirty="0" smtClean="0">
                <a:solidFill>
                  <a:schemeClr val="tx1"/>
                </a:solidFill>
                <a:ea typeface="+mn-ea"/>
                <a:cs typeface="+mn-cs"/>
              </a:rPr>
              <a:t> Drug-affected persons </a:t>
            </a:r>
          </a:p>
          <a:p>
            <a:pPr lvl="1">
              <a:buFont typeface="Arial" pitchFamily="34" charset="0"/>
              <a:buChar char="•"/>
            </a:pPr>
            <a:r>
              <a:rPr lang="en-AU" sz="1200" kern="1200" dirty="0" smtClean="0">
                <a:solidFill>
                  <a:schemeClr val="tx1"/>
                </a:solidFill>
                <a:ea typeface="+mn-ea"/>
                <a:cs typeface="+mn-cs"/>
              </a:rPr>
              <a:t> Persons causing public nuisance </a:t>
            </a:r>
          </a:p>
          <a:p>
            <a:pPr lvl="1">
              <a:buFont typeface="Arial" pitchFamily="34" charset="0"/>
              <a:buChar char="•"/>
            </a:pPr>
            <a:r>
              <a:rPr lang="en-AU" sz="1200" kern="1200" dirty="0" smtClean="0">
                <a:solidFill>
                  <a:schemeClr val="tx1"/>
                </a:solidFill>
                <a:ea typeface="+mn-ea"/>
                <a:cs typeface="+mn-cs"/>
              </a:rPr>
              <a:t> Political activists </a:t>
            </a:r>
          </a:p>
          <a:p>
            <a:pPr lvl="1">
              <a:buFont typeface="Arial" pitchFamily="34" charset="0"/>
              <a:buChar char="•"/>
            </a:pPr>
            <a:r>
              <a:rPr lang="en-AU" sz="1200" kern="1200" dirty="0" smtClean="0">
                <a:solidFill>
                  <a:schemeClr val="tx1"/>
                </a:solidFill>
                <a:ea typeface="+mn-ea"/>
                <a:cs typeface="+mn-cs"/>
              </a:rPr>
              <a:t> Mentally deranged persons</a:t>
            </a:r>
          </a:p>
          <a:p>
            <a:pPr lvl="1">
              <a:buFont typeface="Arial" pitchFamily="34" charset="0"/>
              <a:buChar char="•"/>
            </a:pPr>
            <a:r>
              <a:rPr lang="en-AU" sz="1200" kern="1200" dirty="0" smtClean="0">
                <a:solidFill>
                  <a:schemeClr val="tx1"/>
                </a:solidFill>
                <a:ea typeface="+mn-ea"/>
                <a:cs typeface="+mn-cs"/>
              </a:rPr>
              <a:t> Known trouble-makers</a:t>
            </a:r>
          </a:p>
          <a:p>
            <a:pPr lvl="1">
              <a:buFont typeface="Arial" pitchFamily="34" charset="0"/>
              <a:buChar char="•"/>
            </a:pPr>
            <a:r>
              <a:rPr lang="en-AU" sz="1200" kern="1200" dirty="0" smtClean="0">
                <a:solidFill>
                  <a:schemeClr val="tx1"/>
                </a:solidFill>
                <a:ea typeface="+mn-ea"/>
                <a:cs typeface="+mn-cs"/>
              </a:rPr>
              <a:t> Suspicious persons</a:t>
            </a:r>
          </a:p>
          <a:p>
            <a:pPr lvl="1">
              <a:buFont typeface="Arial" pitchFamily="34" charset="0"/>
              <a:buChar char="•"/>
            </a:pPr>
            <a:r>
              <a:rPr lang="en-AU" sz="1200" kern="1200" dirty="0" smtClean="0">
                <a:solidFill>
                  <a:schemeClr val="tx1"/>
                </a:solidFill>
                <a:ea typeface="+mn-ea"/>
                <a:cs typeface="+mn-cs"/>
              </a:rPr>
              <a:t> People found in restricted/off limits areas</a:t>
            </a:r>
          </a:p>
          <a:p>
            <a:pPr lvl="1">
              <a:buFont typeface="Arial" pitchFamily="34" charset="0"/>
              <a:buChar char="•"/>
            </a:pPr>
            <a:r>
              <a:rPr lang="en-AU" sz="1200" kern="1200" dirty="0" smtClean="0">
                <a:solidFill>
                  <a:schemeClr val="tx1"/>
                </a:solidFill>
                <a:ea typeface="+mn-ea"/>
                <a:cs typeface="+mn-cs"/>
              </a:rPr>
              <a:t> Threatening behaviour.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420916731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explaining activities required for an ‘active’ role:</a:t>
            </a:r>
          </a:p>
          <a:p>
            <a:pPr>
              <a:buFont typeface="Arial" pitchFamily="34" charset="0"/>
              <a:buChar char="•"/>
            </a:pPr>
            <a:r>
              <a:rPr lang="en-AU" sz="1200" kern="1200" dirty="0" smtClean="0">
                <a:solidFill>
                  <a:schemeClr val="tx1"/>
                </a:solidFill>
                <a:ea typeface="+mn-ea"/>
                <a:cs typeface="+mn-cs"/>
              </a:rPr>
              <a:t> Maintaining communications.</a:t>
            </a:r>
            <a:r>
              <a:rPr lang="en-AU" sz="1200" kern="1200" baseline="0" dirty="0" smtClean="0">
                <a:solidFill>
                  <a:schemeClr val="tx1"/>
                </a:solidFill>
                <a:ea typeface="+mn-ea"/>
                <a:cs typeface="+mn-cs"/>
              </a:rPr>
              <a:t> N</a:t>
            </a:r>
            <a:r>
              <a:rPr lang="en-AU" sz="1200" kern="1200" dirty="0" smtClean="0">
                <a:solidFill>
                  <a:schemeClr val="tx1"/>
                </a:solidFill>
                <a:ea typeface="+mn-ea"/>
                <a:cs typeface="+mn-cs"/>
              </a:rPr>
              <a:t>ot only do you need to maintain contact with external security providers but you also need to:</a:t>
            </a:r>
          </a:p>
          <a:p>
            <a:pPr lvl="1">
              <a:buFont typeface="Arial" pitchFamily="34" charset="0"/>
              <a:buChar char="•"/>
            </a:pPr>
            <a:r>
              <a:rPr lang="en-AU" sz="1200" kern="1200" dirty="0" smtClean="0">
                <a:solidFill>
                  <a:schemeClr val="tx1"/>
                </a:solidFill>
                <a:ea typeface="+mn-ea"/>
                <a:cs typeface="+mn-cs"/>
              </a:rPr>
              <a:t> Notify your communication and control room of identified threats and issues arising</a:t>
            </a:r>
          </a:p>
          <a:p>
            <a:pPr lvl="1">
              <a:buFont typeface="Arial" pitchFamily="34" charset="0"/>
              <a:buChar char="•"/>
            </a:pPr>
            <a:r>
              <a:rPr lang="en-AU" sz="1200" kern="1200" dirty="0" smtClean="0">
                <a:solidFill>
                  <a:schemeClr val="tx1"/>
                </a:solidFill>
                <a:ea typeface="+mn-ea"/>
                <a:cs typeface="+mn-cs"/>
              </a:rPr>
              <a:t> Advise of progress of the arrival providing checks when pre-determined points/locations have been reached</a:t>
            </a:r>
          </a:p>
          <a:p>
            <a:pPr lvl="1">
              <a:buFont typeface="Arial" pitchFamily="34" charset="0"/>
              <a:buChar char="•"/>
            </a:pPr>
            <a:r>
              <a:rPr lang="en-AU" sz="1200" kern="1200" dirty="0" smtClean="0">
                <a:solidFill>
                  <a:schemeClr val="tx1"/>
                </a:solidFill>
                <a:ea typeface="+mn-ea"/>
                <a:cs typeface="+mn-cs"/>
              </a:rPr>
              <a:t> Inform about deviations from scheduled running sheet explaining reasons and identifying the alternative action/routes being taken</a:t>
            </a:r>
          </a:p>
          <a:p>
            <a:pPr lvl="2">
              <a:buFont typeface="Arial" pitchFamily="34" charset="0"/>
              <a:buChar char="•"/>
            </a:pPr>
            <a:r>
              <a:rPr lang="en-AU" sz="1200" kern="1200" dirty="0" smtClean="0">
                <a:solidFill>
                  <a:schemeClr val="tx1"/>
                </a:solidFill>
                <a:ea typeface="+mn-ea"/>
                <a:cs typeface="+mn-cs"/>
              </a:rPr>
              <a:t> A nominated/single communications channel is used for general communications so all security staff can make and monitor transmissions (with alternate channels pre-allocated for certain personnel and events).</a:t>
            </a:r>
          </a:p>
          <a:p>
            <a:pPr>
              <a:buFont typeface="Arial" pitchFamily="34" charset="0"/>
              <a:buChar char="•"/>
            </a:pPr>
            <a:r>
              <a:rPr lang="en-AU" sz="1200" kern="1200" dirty="0" smtClean="0">
                <a:solidFill>
                  <a:schemeClr val="tx1"/>
                </a:solidFill>
                <a:ea typeface="+mn-ea"/>
                <a:cs typeface="+mn-cs"/>
              </a:rPr>
              <a:t> Requesting assistance where threats or problems arise. It is vital to appreciate:</a:t>
            </a:r>
          </a:p>
          <a:p>
            <a:pPr lvl="1">
              <a:buFont typeface="Arial" pitchFamily="34" charset="0"/>
              <a:buChar char="•"/>
            </a:pPr>
            <a:r>
              <a:rPr lang="en-AU" sz="1200" kern="1200" dirty="0" smtClean="0">
                <a:solidFill>
                  <a:schemeClr val="tx1"/>
                </a:solidFill>
                <a:ea typeface="+mn-ea"/>
                <a:cs typeface="+mn-cs"/>
              </a:rPr>
              <a:t> You should always be alert to the potential for threats/problems</a:t>
            </a:r>
          </a:p>
          <a:p>
            <a:pPr lvl="1">
              <a:buFont typeface="Arial" pitchFamily="34" charset="0"/>
              <a:buChar char="•"/>
            </a:pPr>
            <a:r>
              <a:rPr lang="en-AU" sz="1200" kern="1200" dirty="0" smtClean="0">
                <a:solidFill>
                  <a:schemeClr val="tx1"/>
                </a:solidFill>
                <a:ea typeface="+mn-ea"/>
                <a:cs typeface="+mn-cs"/>
              </a:rPr>
              <a:t> You have back-up/support available to you</a:t>
            </a:r>
          </a:p>
          <a:p>
            <a:pPr lvl="1">
              <a:buFont typeface="Arial" pitchFamily="34" charset="0"/>
              <a:buChar char="•"/>
            </a:pPr>
            <a:r>
              <a:rPr lang="en-AU" sz="1200" kern="1200" dirty="0" smtClean="0">
                <a:solidFill>
                  <a:schemeClr val="tx1"/>
                </a:solidFill>
                <a:ea typeface="+mn-ea"/>
                <a:cs typeface="+mn-cs"/>
              </a:rPr>
              <a:t> You must call for assistance </a:t>
            </a:r>
            <a:r>
              <a:rPr lang="en-AU" sz="1200" b="1" kern="1200" dirty="0" smtClean="0">
                <a:solidFill>
                  <a:schemeClr val="tx1"/>
                </a:solidFill>
                <a:ea typeface="+mn-ea"/>
                <a:cs typeface="+mn-cs"/>
              </a:rPr>
              <a:t>as part of your initial response</a:t>
            </a:r>
            <a:r>
              <a:rPr lang="en-AU" sz="1200" kern="1200" dirty="0" smtClean="0">
                <a:solidFill>
                  <a:schemeClr val="tx1"/>
                </a:solidFill>
                <a:ea typeface="+mn-ea"/>
                <a:cs typeface="+mn-cs"/>
              </a:rPr>
              <a:t> to any identified threat/problem.</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is never enough to simply respond to a situation, you must also ALWAYS advise others of the issue:</a:t>
            </a:r>
          </a:p>
          <a:p>
            <a:pPr lvl="2">
              <a:buFont typeface="Arial" pitchFamily="34" charset="0"/>
              <a:buChar char="•"/>
            </a:pPr>
            <a:r>
              <a:rPr lang="en-AU" sz="1200" kern="1200" dirty="0" smtClean="0">
                <a:solidFill>
                  <a:schemeClr val="tx1"/>
                </a:solidFill>
                <a:ea typeface="+mn-ea"/>
                <a:cs typeface="+mn-cs"/>
              </a:rPr>
              <a:t> And advise of the support required</a:t>
            </a:r>
          </a:p>
          <a:p>
            <a:pPr lvl="2">
              <a:buFont typeface="Arial" pitchFamily="34" charset="0"/>
              <a:buChar char="•"/>
            </a:pPr>
            <a:r>
              <a:rPr lang="en-AU" sz="1200" kern="1200" dirty="0" smtClean="0">
                <a:solidFill>
                  <a:schemeClr val="tx1"/>
                </a:solidFill>
                <a:ea typeface="+mn-ea"/>
                <a:cs typeface="+mn-cs"/>
              </a:rPr>
              <a:t> So they can activate their SOP of automatically sending help to you/your area.</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1" noProof="0" dirty="0" smtClean="0"/>
              <a:t>Class Activity – Guest Speaker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0" noProof="0" dirty="0" smtClean="0"/>
              <a:t>Trainer arranges for suitable person from local venue</a:t>
            </a:r>
            <a:r>
              <a:rPr lang="en-AU" b="0" baseline="0" noProof="0" dirty="0" smtClean="0"/>
              <a:t> to attend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noProof="0" dirty="0" smtClean="0"/>
              <a:t> Discuss arrangements for meeting and escorting VIPs and their entourage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noProof="0" dirty="0" smtClean="0"/>
              <a:t> Explain ‘points to note’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noProof="0" dirty="0" smtClean="0"/>
              <a:t> Provide tips on successful implementation of this stage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noProof="0" dirty="0" smtClean="0"/>
              <a:t> Detail personal experiences/anecdotes.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b="0" baseline="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108308129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explaining activities required for an ‘active’ role:</a:t>
            </a:r>
          </a:p>
          <a:p>
            <a:pPr>
              <a:buFont typeface="Arial" pitchFamily="34" charset="0"/>
              <a:buChar char="•"/>
            </a:pPr>
            <a:r>
              <a:rPr lang="en-AU" sz="1200" kern="1200" dirty="0" smtClean="0">
                <a:solidFill>
                  <a:schemeClr val="tx1"/>
                </a:solidFill>
                <a:ea typeface="+mn-ea"/>
                <a:cs typeface="+mn-cs"/>
              </a:rPr>
              <a:t> Matching required security level:</a:t>
            </a:r>
          </a:p>
          <a:p>
            <a:pPr lvl="1">
              <a:buFont typeface="Arial" pitchFamily="34" charset="0"/>
              <a:buChar char="•"/>
            </a:pPr>
            <a:r>
              <a:rPr lang="en-AU" sz="1200" kern="1200" dirty="0" smtClean="0">
                <a:solidFill>
                  <a:schemeClr val="tx1"/>
                </a:solidFill>
                <a:ea typeface="+mn-ea"/>
                <a:cs typeface="+mn-cs"/>
              </a:rPr>
              <a:t> In accordance with agreed requirements of the safety plan</a:t>
            </a:r>
          </a:p>
          <a:p>
            <a:pPr lvl="1">
              <a:buFont typeface="Arial" pitchFamily="34" charset="0"/>
              <a:buChar char="•"/>
            </a:pPr>
            <a:r>
              <a:rPr lang="en-AU" sz="1200" kern="1200" dirty="0" smtClean="0">
                <a:solidFill>
                  <a:schemeClr val="tx1"/>
                </a:solidFill>
                <a:ea typeface="+mn-ea"/>
                <a:cs typeface="+mn-cs"/>
              </a:rPr>
              <a:t> To address the degree of threat or danger identified.</a:t>
            </a:r>
          </a:p>
          <a:p>
            <a:pPr lvl="2">
              <a:buFont typeface="Arial" pitchFamily="34" charset="0"/>
              <a:buChar char="•"/>
            </a:pPr>
            <a:r>
              <a:rPr lang="en-AU" sz="1200" kern="1200" dirty="0" smtClean="0">
                <a:solidFill>
                  <a:schemeClr val="tx1"/>
                </a:solidFill>
                <a:ea typeface="+mn-ea"/>
                <a:cs typeface="+mn-cs"/>
              </a:rPr>
              <a:t> This means it is necessary to:</a:t>
            </a:r>
          </a:p>
          <a:p>
            <a:pPr lvl="3">
              <a:buFont typeface="Arial" pitchFamily="34" charset="0"/>
              <a:buChar char="•"/>
            </a:pPr>
            <a:r>
              <a:rPr lang="en-AU" sz="1200" kern="1200" dirty="0" smtClean="0">
                <a:solidFill>
                  <a:schemeClr val="tx1"/>
                </a:solidFill>
                <a:ea typeface="+mn-ea"/>
                <a:cs typeface="+mn-cs"/>
              </a:rPr>
              <a:t> Implement planned security arrangements regardless of what may appear to be a reduced threat level </a:t>
            </a:r>
          </a:p>
          <a:p>
            <a:pPr lvl="3">
              <a:buFont typeface="Arial" pitchFamily="34" charset="0"/>
              <a:buChar char="•"/>
            </a:pPr>
            <a:r>
              <a:rPr lang="en-AU" sz="1200" kern="1200" dirty="0" smtClean="0">
                <a:solidFill>
                  <a:schemeClr val="tx1"/>
                </a:solidFill>
                <a:ea typeface="+mn-ea"/>
                <a:cs typeface="+mn-cs"/>
              </a:rPr>
              <a:t> Maintain Situational Awareness at all times – see below</a:t>
            </a:r>
          </a:p>
          <a:p>
            <a:pPr lvl="3">
              <a:buFont typeface="Arial" pitchFamily="34" charset="0"/>
              <a:buChar char="•"/>
            </a:pPr>
            <a:r>
              <a:rPr lang="en-AU" sz="1200" kern="1200" dirty="0" smtClean="0">
                <a:solidFill>
                  <a:schemeClr val="tx1"/>
                </a:solidFill>
                <a:ea typeface="+mn-ea"/>
                <a:cs typeface="+mn-cs"/>
              </a:rPr>
              <a:t> Adapt security plans and procedures on the basis of VIP requests and preferences, where possible</a:t>
            </a:r>
          </a:p>
          <a:p>
            <a:pPr>
              <a:buFont typeface="Arial" pitchFamily="34" charset="0"/>
              <a:buChar char="•"/>
            </a:pPr>
            <a:r>
              <a:rPr lang="en-AU" sz="1200" kern="1200" dirty="0" smtClean="0">
                <a:solidFill>
                  <a:schemeClr val="tx1"/>
                </a:solidFill>
                <a:ea typeface="+mn-ea"/>
                <a:cs typeface="+mn-cs"/>
              </a:rPr>
              <a:t> Providing escort services.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include:</a:t>
            </a:r>
          </a:p>
          <a:p>
            <a:pPr lvl="1">
              <a:buFont typeface="Arial" pitchFamily="34" charset="0"/>
              <a:buChar char="•"/>
            </a:pPr>
            <a:r>
              <a:rPr lang="en-AU" sz="1200" kern="1200" dirty="0" smtClean="0">
                <a:solidFill>
                  <a:schemeClr val="tx1"/>
                </a:solidFill>
                <a:ea typeface="+mn-ea"/>
                <a:cs typeface="+mn-cs"/>
              </a:rPr>
              <a:t> Working in cooperation with other security staff</a:t>
            </a:r>
          </a:p>
          <a:p>
            <a:pPr lvl="1">
              <a:buFont typeface="Arial" pitchFamily="34" charset="0"/>
              <a:buChar char="•"/>
            </a:pPr>
            <a:r>
              <a:rPr lang="en-AU" sz="1200" kern="1200" dirty="0" smtClean="0">
                <a:solidFill>
                  <a:schemeClr val="tx1"/>
                </a:solidFill>
                <a:ea typeface="+mn-ea"/>
                <a:cs typeface="+mn-cs"/>
              </a:rPr>
              <a:t> Overseeing transport of luggage and belongings into the venue</a:t>
            </a:r>
          </a:p>
          <a:p>
            <a:pPr lvl="1">
              <a:buFont typeface="Arial" pitchFamily="34" charset="0"/>
              <a:buChar char="•"/>
            </a:pPr>
            <a:r>
              <a:rPr lang="en-AU" sz="1200" kern="1200" dirty="0" smtClean="0">
                <a:solidFill>
                  <a:schemeClr val="tx1"/>
                </a:solidFill>
                <a:ea typeface="+mn-ea"/>
                <a:cs typeface="+mn-cs"/>
              </a:rPr>
              <a:t> Providing close escort services</a:t>
            </a:r>
          </a:p>
          <a:p>
            <a:pPr lvl="1">
              <a:buFont typeface="Arial" pitchFamily="34" charset="0"/>
              <a:buChar char="•"/>
            </a:pPr>
            <a:r>
              <a:rPr lang="en-AU" sz="1200" kern="1200" dirty="0" smtClean="0">
                <a:solidFill>
                  <a:schemeClr val="tx1"/>
                </a:solidFill>
                <a:ea typeface="+mn-ea"/>
                <a:cs typeface="+mn-cs"/>
              </a:rPr>
              <a:t> Accompanying VIPs to designated ‘first arrival’ location</a:t>
            </a:r>
          </a:p>
          <a:p>
            <a:pPr lvl="1">
              <a:buFont typeface="Arial" pitchFamily="34" charset="0"/>
              <a:buChar char="•"/>
            </a:pPr>
            <a:r>
              <a:rPr lang="en-AU" sz="1200" kern="1200" dirty="0" smtClean="0">
                <a:solidFill>
                  <a:schemeClr val="tx1"/>
                </a:solidFill>
                <a:ea typeface="+mn-ea"/>
                <a:cs typeface="+mn-cs"/>
              </a:rPr>
              <a:t> Confirming security of ‘first arrival’ location prior to entering that area/location</a:t>
            </a:r>
          </a:p>
          <a:p>
            <a:pPr lvl="1">
              <a:buFont typeface="Arial" pitchFamily="34" charset="0"/>
              <a:buChar char="•"/>
            </a:pPr>
            <a:r>
              <a:rPr lang="en-AU" sz="1200" kern="1200" dirty="0" smtClean="0">
                <a:solidFill>
                  <a:schemeClr val="tx1"/>
                </a:solidFill>
                <a:ea typeface="+mn-ea"/>
                <a:cs typeface="+mn-cs"/>
              </a:rPr>
              <a:t> Responding to on-the-spot demands or preferences of the VIP as they,</a:t>
            </a:r>
            <a:r>
              <a:rPr lang="en-AU" sz="1200" kern="1200" baseline="0" dirty="0" smtClean="0">
                <a:solidFill>
                  <a:schemeClr val="tx1"/>
                </a:solidFill>
                <a:ea typeface="+mn-ea"/>
                <a:cs typeface="+mn-cs"/>
              </a:rPr>
              <a:t> f</a:t>
            </a:r>
            <a:r>
              <a:rPr lang="en-AU" sz="1200" kern="1200" dirty="0" smtClean="0">
                <a:solidFill>
                  <a:schemeClr val="tx1"/>
                </a:solidFill>
                <a:ea typeface="+mn-ea"/>
                <a:cs typeface="+mn-cs"/>
              </a:rPr>
              <a:t>or example, decide to do things not previously identified or planned for</a:t>
            </a:r>
          </a:p>
          <a:p>
            <a:pPr lvl="1">
              <a:buFont typeface="Arial" pitchFamily="34" charset="0"/>
              <a:buChar char="•"/>
            </a:pPr>
            <a:r>
              <a:rPr lang="en-AU" sz="1200" kern="1200" dirty="0" smtClean="0">
                <a:solidFill>
                  <a:schemeClr val="tx1"/>
                </a:solidFill>
                <a:ea typeface="+mn-ea"/>
                <a:cs typeface="+mn-cs"/>
              </a:rPr>
              <a:t> Determining alternative action and routes where a threat is identified</a:t>
            </a:r>
          </a:p>
          <a:p>
            <a:pPr lvl="1">
              <a:buFont typeface="Arial" pitchFamily="34" charset="0"/>
              <a:buChar char="•"/>
            </a:pPr>
            <a:r>
              <a:rPr lang="en-AU" sz="1200" kern="1200" dirty="0" smtClean="0">
                <a:solidFill>
                  <a:schemeClr val="tx1"/>
                </a:solidFill>
                <a:ea typeface="+mn-ea"/>
                <a:cs typeface="+mn-cs"/>
              </a:rPr>
              <a:t> Handing over provision of security at ‘first arrival’ location to designated ‘first arrival’ location staff.</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1" noProof="0" dirty="0" smtClean="0"/>
              <a:t>Class Activity – Excursion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0" noProof="0" dirty="0" smtClean="0"/>
              <a:t>Trainer arranges excursion to local venue.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0" noProof="0" dirty="0" smtClean="0"/>
              <a:t>Excursion should (where/as possible) seek to address following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noProof="0" dirty="0" smtClean="0"/>
              <a:t> Talk to managers involved in VIP visits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noProof="0" dirty="0" smtClean="0"/>
              <a:t> Talk to security staff involved in VIP visits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noProof="0" dirty="0" smtClean="0"/>
              <a:t> Observe planning and preparation activities for a VIP visit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noProof="0" dirty="0" smtClean="0"/>
              <a:t> Observe actual/simulated preparations and pre-arrival checks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noProof="0" dirty="0" smtClean="0"/>
              <a:t> Observe arrival, meeting and escorting of VIP and entourage.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0" noProof="0" dirty="0" smtClean="0"/>
              <a:t>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57990035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stresses </a:t>
            </a:r>
            <a:r>
              <a:rPr lang="en-AU" sz="1200" kern="1200" dirty="0" smtClean="0">
                <a:solidFill>
                  <a:schemeClr val="tx1"/>
                </a:solidFill>
                <a:ea typeface="+mn-ea"/>
                <a:cs typeface="+mn-cs"/>
              </a:rPr>
              <a:t>those providing security services must operate in a situation where they are fully aware of everything happening in their environment: this is referred to as ‘Situational awareness’.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Situational awareness may be seen as being completely aware of the environment/situation you are in and knowing:</a:t>
            </a:r>
          </a:p>
          <a:p>
            <a:pPr>
              <a:buFont typeface="Arial" pitchFamily="34" charset="0"/>
              <a:buChar char="•"/>
            </a:pPr>
            <a:r>
              <a:rPr lang="en-AU" sz="1200" kern="1200" dirty="0" smtClean="0">
                <a:solidFill>
                  <a:schemeClr val="tx1"/>
                </a:solidFill>
                <a:ea typeface="+mn-ea"/>
                <a:cs typeface="+mn-cs"/>
              </a:rPr>
              <a:t> What the situation is normally like when everything is safe and secure</a:t>
            </a:r>
          </a:p>
          <a:p>
            <a:pPr>
              <a:buFont typeface="Arial" pitchFamily="34" charset="0"/>
              <a:buChar char="•"/>
            </a:pPr>
            <a:r>
              <a:rPr lang="en-AU" sz="1200" kern="1200" dirty="0" smtClean="0">
                <a:solidFill>
                  <a:schemeClr val="tx1"/>
                </a:solidFill>
                <a:ea typeface="+mn-ea"/>
                <a:cs typeface="+mn-cs"/>
              </a:rPr>
              <a:t> If it is changing </a:t>
            </a:r>
          </a:p>
          <a:p>
            <a:pPr>
              <a:buFont typeface="Arial" pitchFamily="34" charset="0"/>
              <a:buChar char="•"/>
            </a:pPr>
            <a:r>
              <a:rPr lang="en-AU" sz="1200" kern="1200" dirty="0" smtClean="0">
                <a:solidFill>
                  <a:schemeClr val="tx1"/>
                </a:solidFill>
                <a:ea typeface="+mn-ea"/>
                <a:cs typeface="+mn-cs"/>
              </a:rPr>
              <a:t> How it is changing </a:t>
            </a:r>
          </a:p>
          <a:p>
            <a:pPr>
              <a:buFont typeface="Arial" pitchFamily="34" charset="0"/>
              <a:buChar char="•"/>
            </a:pPr>
            <a:r>
              <a:rPr lang="en-AU" sz="1200" kern="1200" dirty="0" smtClean="0">
                <a:solidFill>
                  <a:schemeClr val="tx1"/>
                </a:solidFill>
                <a:ea typeface="+mn-ea"/>
                <a:cs typeface="+mn-cs"/>
              </a:rPr>
              <a:t> Why it is changing</a:t>
            </a:r>
          </a:p>
          <a:p>
            <a:pPr>
              <a:buFont typeface="Arial" pitchFamily="34" charset="0"/>
              <a:buChar char="•"/>
            </a:pPr>
            <a:r>
              <a:rPr lang="en-AU" sz="1200" kern="1200" dirty="0" smtClean="0">
                <a:solidFill>
                  <a:schemeClr val="tx1"/>
                </a:solidFill>
                <a:ea typeface="+mn-ea"/>
                <a:cs typeface="+mn-cs"/>
              </a:rPr>
              <a:t> The threat presented by changing circumstances. </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190814505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AU" sz="1200" kern="1200" dirty="0" smtClean="0">
                <a:solidFill>
                  <a:schemeClr val="tx1"/>
                </a:solidFill>
                <a:ea typeface="+mn-ea"/>
                <a:cs typeface="+mn-cs"/>
              </a:rPr>
              <a:t>Situational Awareness relies heavily on:</a:t>
            </a:r>
          </a:p>
          <a:p>
            <a:pPr>
              <a:buFont typeface="Arial" pitchFamily="34" charset="0"/>
              <a:buChar char="•"/>
            </a:pPr>
            <a:r>
              <a:rPr lang="en-AU" sz="1200" kern="1200" dirty="0" smtClean="0">
                <a:solidFill>
                  <a:schemeClr val="tx1"/>
                </a:solidFill>
                <a:ea typeface="+mn-ea"/>
                <a:cs typeface="+mn-cs"/>
              </a:rPr>
              <a:t> Keeping your eyes and ears open to keep the inflow of information coming in to you/your senses</a:t>
            </a:r>
          </a:p>
          <a:p>
            <a:pPr>
              <a:buFont typeface="Arial" pitchFamily="34" charset="0"/>
              <a:buChar char="•"/>
            </a:pPr>
            <a:r>
              <a:rPr lang="en-AU" sz="1200" kern="1200" dirty="0" smtClean="0">
                <a:solidFill>
                  <a:schemeClr val="tx1"/>
                </a:solidFill>
                <a:ea typeface="+mn-ea"/>
                <a:cs typeface="+mn-cs"/>
              </a:rPr>
              <a:t> Analysing everything:</a:t>
            </a:r>
          </a:p>
          <a:p>
            <a:pPr lvl="1">
              <a:buFont typeface="Arial" pitchFamily="34" charset="0"/>
              <a:buChar char="•"/>
            </a:pPr>
            <a:r>
              <a:rPr lang="en-US" sz="1200" kern="1200" dirty="0" smtClean="0">
                <a:solidFill>
                  <a:schemeClr val="tx1"/>
                </a:solidFill>
                <a:ea typeface="+mn-ea"/>
                <a:cs typeface="+mn-cs"/>
              </a:rPr>
              <a:t> What was that noise?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Why did the noise happen?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Where did it come from?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What does it indicate?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What action do I need to take in response?</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73379797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ea typeface="+mn-ea"/>
                <a:cs typeface="+mn-cs"/>
              </a:rPr>
              <a:t>Situational Awareness is the basis for:</a:t>
            </a:r>
          </a:p>
          <a:p>
            <a:pPr>
              <a:buFont typeface="Arial" pitchFamily="34" charset="0"/>
              <a:buChar char="•"/>
            </a:pPr>
            <a:r>
              <a:rPr lang="en-AU" sz="1200" kern="1200" dirty="0" smtClean="0">
                <a:solidFill>
                  <a:schemeClr val="tx1"/>
                </a:solidFill>
                <a:ea typeface="+mn-ea"/>
                <a:cs typeface="+mn-cs"/>
              </a:rPr>
              <a:t> Determining threat situations</a:t>
            </a:r>
          </a:p>
          <a:p>
            <a:pPr>
              <a:buFont typeface="Arial" pitchFamily="34" charset="0"/>
              <a:buChar char="•"/>
            </a:pPr>
            <a:r>
              <a:rPr lang="en-AU" sz="1200" kern="1200" dirty="0" smtClean="0">
                <a:solidFill>
                  <a:schemeClr val="tx1"/>
                </a:solidFill>
                <a:ea typeface="+mn-ea"/>
                <a:cs typeface="+mn-cs"/>
              </a:rPr>
              <a:t> Identifying action needing to be taken</a:t>
            </a:r>
          </a:p>
          <a:p>
            <a:pPr>
              <a:buFont typeface="Arial" pitchFamily="34" charset="0"/>
              <a:buChar char="•"/>
            </a:pPr>
            <a:r>
              <a:rPr lang="en-AU" sz="1200" kern="1200" dirty="0" smtClean="0">
                <a:solidFill>
                  <a:schemeClr val="tx1"/>
                </a:solidFill>
                <a:ea typeface="+mn-ea"/>
                <a:cs typeface="+mn-cs"/>
              </a:rPr>
              <a:t> Identifying what is ‘normal’ and things are not normal</a:t>
            </a:r>
          </a:p>
          <a:p>
            <a:pPr>
              <a:buFont typeface="Arial" pitchFamily="34" charset="0"/>
              <a:buChar char="•"/>
            </a:pPr>
            <a:r>
              <a:rPr lang="en-AU" sz="1200" kern="1200" dirty="0" smtClean="0">
                <a:solidFill>
                  <a:schemeClr val="tx1"/>
                </a:solidFill>
                <a:ea typeface="+mn-ea"/>
                <a:cs typeface="+mn-cs"/>
              </a:rPr>
              <a:t> Prompt and effective responses.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11900674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indicates </a:t>
            </a:r>
            <a:r>
              <a:rPr lang="en-AU" sz="1200" kern="1200" dirty="0" smtClean="0">
                <a:solidFill>
                  <a:schemeClr val="tx1"/>
                </a:solidFill>
                <a:ea typeface="+mn-ea"/>
                <a:cs typeface="+mn-cs"/>
              </a:rPr>
              <a:t>when the VIP and their party has arrived in the venue the aim becomes one of maintaining their safety and security while they remain at the venue emphasising:</a:t>
            </a:r>
          </a:p>
          <a:p>
            <a:pPr>
              <a:buFont typeface="Arial" pitchFamily="34" charset="0"/>
              <a:buChar char="•"/>
            </a:pPr>
            <a:r>
              <a:rPr lang="en-AU" sz="1200" kern="1200" dirty="0" smtClean="0">
                <a:solidFill>
                  <a:schemeClr val="tx1"/>
                </a:solidFill>
                <a:ea typeface="+mn-ea"/>
                <a:cs typeface="+mn-cs"/>
              </a:rPr>
              <a:t> Maintaining safety and security of VIPs includes providing security and safety for:</a:t>
            </a:r>
          </a:p>
          <a:p>
            <a:pPr lvl="1">
              <a:buFont typeface="Arial" pitchFamily="34" charset="0"/>
              <a:buChar char="•"/>
            </a:pPr>
            <a:r>
              <a:rPr lang="en-AU" sz="1200" kern="1200" dirty="0" smtClean="0">
                <a:solidFill>
                  <a:schemeClr val="tx1"/>
                </a:solidFill>
                <a:ea typeface="+mn-ea"/>
                <a:cs typeface="+mn-cs"/>
              </a:rPr>
              <a:t> Their entourage</a:t>
            </a:r>
          </a:p>
          <a:p>
            <a:pPr lvl="1">
              <a:buFont typeface="Arial" pitchFamily="34" charset="0"/>
              <a:buChar char="•"/>
            </a:pPr>
            <a:r>
              <a:rPr lang="en-AU" sz="1200" kern="1200" dirty="0" smtClean="0">
                <a:solidFill>
                  <a:schemeClr val="tx1"/>
                </a:solidFill>
                <a:ea typeface="+mn-ea"/>
                <a:cs typeface="+mn-cs"/>
              </a:rPr>
              <a:t> Other guests at the venue</a:t>
            </a:r>
          </a:p>
          <a:p>
            <a:pPr lvl="1">
              <a:buFont typeface="Arial" pitchFamily="34" charset="0"/>
              <a:buChar char="•"/>
            </a:pPr>
            <a:r>
              <a:rPr lang="en-AU" sz="1200" kern="1200" dirty="0" smtClean="0">
                <a:solidFill>
                  <a:schemeClr val="tx1"/>
                </a:solidFill>
                <a:ea typeface="+mn-ea"/>
                <a:cs typeface="+mn-cs"/>
              </a:rPr>
              <a:t> Members of the public in, and visitors to the venue</a:t>
            </a:r>
          </a:p>
          <a:p>
            <a:pPr>
              <a:buFont typeface="Arial" pitchFamily="34" charset="0"/>
              <a:buChar char="•"/>
            </a:pPr>
            <a:r>
              <a:rPr lang="en-AU" sz="1200" kern="1200" dirty="0" smtClean="0">
                <a:solidFill>
                  <a:schemeClr val="tx1"/>
                </a:solidFill>
                <a:ea typeface="+mn-ea"/>
                <a:cs typeface="+mn-cs"/>
              </a:rPr>
              <a:t> The agreed safety plans are implemented subject to changes as necessitated by:</a:t>
            </a:r>
          </a:p>
          <a:p>
            <a:pPr lvl="1">
              <a:buFont typeface="Arial" pitchFamily="34" charset="0"/>
              <a:buChar char="•"/>
            </a:pPr>
            <a:r>
              <a:rPr lang="en-AU" sz="1200" kern="1200" dirty="0" smtClean="0">
                <a:solidFill>
                  <a:schemeClr val="tx1"/>
                </a:solidFill>
                <a:ea typeface="+mn-ea"/>
                <a:cs typeface="+mn-cs"/>
              </a:rPr>
              <a:t> Situations/issues arising</a:t>
            </a:r>
          </a:p>
          <a:p>
            <a:pPr lvl="1">
              <a:buFont typeface="Arial" pitchFamily="34" charset="0"/>
              <a:buChar char="•"/>
            </a:pPr>
            <a:r>
              <a:rPr lang="en-AU" sz="1200" kern="1200" dirty="0" smtClean="0">
                <a:solidFill>
                  <a:schemeClr val="tx1"/>
                </a:solidFill>
                <a:ea typeface="+mn-ea"/>
                <a:cs typeface="+mn-cs"/>
              </a:rPr>
              <a:t> Changing needs for the visit</a:t>
            </a:r>
          </a:p>
          <a:p>
            <a:pPr lvl="1">
              <a:buFont typeface="Arial" pitchFamily="34" charset="0"/>
              <a:buChar char="•"/>
            </a:pPr>
            <a:r>
              <a:rPr lang="en-AU" sz="1200" kern="1200" dirty="0" smtClean="0">
                <a:solidFill>
                  <a:schemeClr val="tx1"/>
                </a:solidFill>
                <a:ea typeface="+mn-ea"/>
                <a:cs typeface="+mn-cs"/>
              </a:rPr>
              <a:t> Preferences/requests from the VIP</a:t>
            </a:r>
          </a:p>
          <a:p>
            <a:pPr>
              <a:buFont typeface="Arial" pitchFamily="34" charset="0"/>
              <a:buChar char="•"/>
            </a:pPr>
            <a:r>
              <a:rPr lang="en-AU" sz="1200" kern="1200" dirty="0" smtClean="0">
                <a:solidFill>
                  <a:schemeClr val="tx1"/>
                </a:solidFill>
                <a:ea typeface="+mn-ea"/>
                <a:cs typeface="+mn-cs"/>
              </a:rPr>
              <a:t> Safety of people continues to take priority over security of assets.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361618469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activities to maintain safety and security of VIP:</a:t>
            </a:r>
          </a:p>
          <a:p>
            <a:pPr>
              <a:buFont typeface="Arial" pitchFamily="34" charset="0"/>
              <a:buChar char="•"/>
            </a:pPr>
            <a:r>
              <a:rPr lang="en-AU" sz="1200" kern="1200" dirty="0" smtClean="0">
                <a:solidFill>
                  <a:schemeClr val="tx1"/>
                </a:solidFill>
                <a:ea typeface="+mn-ea"/>
                <a:cs typeface="+mn-cs"/>
              </a:rPr>
              <a:t> Conducting on-going visual and electronic sweeps as required/planned of:</a:t>
            </a:r>
          </a:p>
          <a:p>
            <a:pPr lvl="1">
              <a:buFont typeface="Arial" pitchFamily="34" charset="0"/>
              <a:buChar char="•"/>
            </a:pPr>
            <a:r>
              <a:rPr lang="en-AU" sz="1200" kern="1200" dirty="0" smtClean="0">
                <a:solidFill>
                  <a:schemeClr val="tx1"/>
                </a:solidFill>
                <a:ea typeface="+mn-ea"/>
                <a:cs typeface="+mn-cs"/>
              </a:rPr>
              <a:t> VIP accommodation rooms</a:t>
            </a:r>
          </a:p>
          <a:p>
            <a:pPr lvl="1">
              <a:buFont typeface="Arial" pitchFamily="34" charset="0"/>
              <a:buChar char="•"/>
            </a:pPr>
            <a:r>
              <a:rPr lang="en-AU" sz="1200" kern="1200" dirty="0" smtClean="0">
                <a:solidFill>
                  <a:schemeClr val="tx1"/>
                </a:solidFill>
                <a:ea typeface="+mn-ea"/>
                <a:cs typeface="+mn-cs"/>
              </a:rPr>
              <a:t> VIP floor and adjacent floors</a:t>
            </a:r>
          </a:p>
          <a:p>
            <a:pPr lvl="1">
              <a:buFont typeface="Arial" pitchFamily="34" charset="0"/>
              <a:buChar char="•"/>
            </a:pPr>
            <a:r>
              <a:rPr lang="en-AU" sz="1200" kern="1200" dirty="0" smtClean="0">
                <a:solidFill>
                  <a:schemeClr val="tx1"/>
                </a:solidFill>
                <a:ea typeface="+mn-ea"/>
                <a:cs typeface="+mn-cs"/>
              </a:rPr>
              <a:t> Routes to taken by the VIP</a:t>
            </a:r>
          </a:p>
          <a:p>
            <a:pPr lvl="1">
              <a:buFont typeface="Arial" pitchFamily="34" charset="0"/>
              <a:buChar char="•"/>
            </a:pPr>
            <a:r>
              <a:rPr lang="en-AU" sz="1200" kern="1200" dirty="0" smtClean="0">
                <a:solidFill>
                  <a:schemeClr val="tx1"/>
                </a:solidFill>
                <a:ea typeface="+mn-ea"/>
                <a:cs typeface="+mn-cs"/>
              </a:rPr>
              <a:t> Rooms to be used by the VIP such as dining areas, bars, meeting rooms or conference areas</a:t>
            </a:r>
          </a:p>
          <a:p>
            <a:pPr lvl="1">
              <a:buFont typeface="Arial" pitchFamily="34" charset="0"/>
              <a:buChar char="•"/>
            </a:pPr>
            <a:r>
              <a:rPr lang="en-AU" sz="1200" kern="1200" dirty="0" smtClean="0">
                <a:solidFill>
                  <a:schemeClr val="tx1"/>
                </a:solidFill>
                <a:ea typeface="+mn-ea"/>
                <a:cs typeface="+mn-cs"/>
              </a:rPr>
              <a:t> Vehicles</a:t>
            </a:r>
          </a:p>
          <a:p>
            <a:pPr>
              <a:buFont typeface="Arial" pitchFamily="34" charset="0"/>
              <a:buChar char="•"/>
            </a:pPr>
            <a:r>
              <a:rPr lang="en-AU" sz="1200" kern="1200" dirty="0" smtClean="0">
                <a:solidFill>
                  <a:schemeClr val="tx1"/>
                </a:solidFill>
                <a:ea typeface="+mn-ea"/>
                <a:cs typeface="+mn-cs"/>
              </a:rPr>
              <a:t> Conducting searches – see below</a:t>
            </a:r>
          </a:p>
          <a:p>
            <a:pPr>
              <a:buFont typeface="Arial" pitchFamily="34" charset="0"/>
              <a:buChar char="•"/>
            </a:pPr>
            <a:r>
              <a:rPr lang="en-AU" sz="1200" kern="1200" dirty="0" smtClean="0">
                <a:solidFill>
                  <a:schemeClr val="tx1"/>
                </a:solidFill>
                <a:ea typeface="+mn-ea"/>
                <a:cs typeface="+mn-cs"/>
              </a:rPr>
              <a:t> Maintaining restricted access to facilities and no-go zones by:</a:t>
            </a:r>
          </a:p>
          <a:p>
            <a:pPr lvl="1">
              <a:buFont typeface="Arial" pitchFamily="34" charset="0"/>
              <a:buChar char="•"/>
            </a:pPr>
            <a:r>
              <a:rPr lang="en-AU" sz="1200" kern="1200" dirty="0" smtClean="0">
                <a:solidFill>
                  <a:schemeClr val="tx1"/>
                </a:solidFill>
                <a:ea typeface="+mn-ea"/>
                <a:cs typeface="+mn-cs"/>
              </a:rPr>
              <a:t> Patrolling nominated areas</a:t>
            </a:r>
          </a:p>
          <a:p>
            <a:pPr lvl="1">
              <a:buFont typeface="Arial" pitchFamily="34" charset="0"/>
              <a:buChar char="•"/>
            </a:pPr>
            <a:r>
              <a:rPr lang="en-AU" sz="1200" kern="1200" dirty="0" smtClean="0">
                <a:solidFill>
                  <a:schemeClr val="tx1"/>
                </a:solidFill>
                <a:ea typeface="+mn-ea"/>
                <a:cs typeface="+mn-cs"/>
              </a:rPr>
              <a:t> Posting static guards</a:t>
            </a:r>
          </a:p>
          <a:p>
            <a:pPr lvl="1">
              <a:buFont typeface="Arial" pitchFamily="34" charset="0"/>
              <a:buChar char="•"/>
            </a:pPr>
            <a:r>
              <a:rPr lang="en-AU" sz="1200" kern="1200" dirty="0" smtClean="0">
                <a:solidFill>
                  <a:schemeClr val="tx1"/>
                </a:solidFill>
                <a:ea typeface="+mn-ea"/>
                <a:cs typeface="+mn-cs"/>
              </a:rPr>
              <a:t> Monitoring video surveillance</a:t>
            </a:r>
          </a:p>
          <a:p>
            <a:pPr lvl="1">
              <a:buFont typeface="Arial" pitchFamily="34" charset="0"/>
              <a:buChar char="•"/>
            </a:pPr>
            <a:r>
              <a:rPr lang="en-AU" sz="1200" kern="1200" dirty="0" smtClean="0">
                <a:solidFill>
                  <a:schemeClr val="tx1"/>
                </a:solidFill>
                <a:ea typeface="+mn-ea"/>
                <a:cs typeface="+mn-cs"/>
              </a:rPr>
              <a:t> Monitoring security system alerts and alarms.</a:t>
            </a:r>
          </a:p>
          <a:p>
            <a:pPr>
              <a:buFont typeface="Arial" pitchFamily="34" charset="0"/>
              <a:buNone/>
            </a:pPr>
            <a:endParaRPr lang="en-AU" noProof="0" dirty="0" smtClean="0"/>
          </a:p>
          <a:p>
            <a:pPr>
              <a:buFont typeface="Arial" pitchFamily="34" charset="0"/>
              <a:buNone/>
            </a:pPr>
            <a:r>
              <a:rPr lang="en-AU" b="1" noProof="0" dirty="0" smtClean="0"/>
              <a:t>Class Activity – Questions and Answer</a:t>
            </a:r>
          </a:p>
          <a:p>
            <a:pPr>
              <a:buFont typeface="Arial" pitchFamily="34" charset="0"/>
              <a:buNone/>
            </a:pPr>
            <a:r>
              <a:rPr lang="en-AU" b="0" noProof="0" dirty="0" smtClean="0"/>
              <a:t>Trainer asks students to identify what may need</a:t>
            </a:r>
            <a:r>
              <a:rPr lang="en-AU" b="0" baseline="0" noProof="0" dirty="0" smtClean="0"/>
              <a:t> to be searched as part of the ‘searching’ activity to maintain safety and security if VIP.</a:t>
            </a:r>
          </a:p>
          <a:p>
            <a:pPr>
              <a:buFont typeface="Arial" pitchFamily="34" charset="0"/>
              <a:buNone/>
            </a:pPr>
            <a:r>
              <a:rPr lang="en-AU" b="1" i="1" baseline="0" noProof="0" dirty="0" smtClean="0"/>
              <a:t>Possible answers</a:t>
            </a:r>
          </a:p>
          <a:p>
            <a:pPr>
              <a:buFont typeface="Arial" pitchFamily="34" charset="0"/>
              <a:buChar char="•"/>
            </a:pPr>
            <a:r>
              <a:rPr lang="en-AU" sz="1200" kern="1200" dirty="0" smtClean="0">
                <a:solidFill>
                  <a:schemeClr val="tx1"/>
                </a:solidFill>
                <a:ea typeface="+mn-ea"/>
                <a:cs typeface="+mn-cs"/>
              </a:rPr>
              <a:t> Luggage</a:t>
            </a:r>
          </a:p>
          <a:p>
            <a:pPr>
              <a:buFont typeface="Arial" pitchFamily="34" charset="0"/>
              <a:buChar char="•"/>
            </a:pPr>
            <a:r>
              <a:rPr lang="en-AU" sz="1200" kern="1200" dirty="0" smtClean="0">
                <a:solidFill>
                  <a:schemeClr val="tx1"/>
                </a:solidFill>
                <a:ea typeface="+mn-ea"/>
                <a:cs typeface="+mn-cs"/>
              </a:rPr>
              <a:t> Gifts offered to VIP</a:t>
            </a:r>
          </a:p>
          <a:p>
            <a:pPr>
              <a:buFont typeface="Arial" pitchFamily="34" charset="0"/>
              <a:buChar char="•"/>
            </a:pPr>
            <a:r>
              <a:rPr lang="en-AU" sz="1200" kern="1200" dirty="0" smtClean="0">
                <a:solidFill>
                  <a:schemeClr val="tx1"/>
                </a:solidFill>
                <a:ea typeface="+mn-ea"/>
                <a:cs typeface="+mn-cs"/>
              </a:rPr>
              <a:t> Visitors</a:t>
            </a:r>
          </a:p>
          <a:p>
            <a:pPr>
              <a:buFont typeface="Arial" pitchFamily="34" charset="0"/>
              <a:buChar char="•"/>
            </a:pPr>
            <a:r>
              <a:rPr lang="en-AU" sz="1200" kern="1200" dirty="0" smtClean="0">
                <a:solidFill>
                  <a:schemeClr val="tx1"/>
                </a:solidFill>
                <a:ea typeface="+mn-ea"/>
                <a:cs typeface="+mn-cs"/>
              </a:rPr>
              <a:t> Staff</a:t>
            </a:r>
          </a:p>
          <a:p>
            <a:pPr>
              <a:buFont typeface="Arial" pitchFamily="34" charset="0"/>
              <a:buChar char="•"/>
            </a:pPr>
            <a:r>
              <a:rPr lang="en-AU" sz="1200" kern="1200" dirty="0" smtClean="0">
                <a:solidFill>
                  <a:schemeClr val="tx1"/>
                </a:solidFill>
                <a:ea typeface="+mn-ea"/>
                <a:cs typeface="+mn-cs"/>
              </a:rPr>
              <a:t> Vehicles.</a:t>
            </a:r>
          </a:p>
          <a:p>
            <a:pPr>
              <a:buFont typeface="Arial" pitchFamily="34" charset="0"/>
              <a:buNone/>
            </a:pPr>
            <a:endParaRPr lang="en-AU" b="0" i="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09607725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presenting activities to maintain safety and security of VIP:</a:t>
            </a:r>
          </a:p>
          <a:p>
            <a:pPr>
              <a:buFont typeface="Arial" pitchFamily="34" charset="0"/>
              <a:buChar char="•"/>
            </a:pPr>
            <a:r>
              <a:rPr lang="en-AU" sz="1200" kern="1200" dirty="0" smtClean="0">
                <a:solidFill>
                  <a:schemeClr val="tx1"/>
                </a:solidFill>
                <a:ea typeface="+mn-ea"/>
                <a:cs typeface="+mn-cs"/>
              </a:rPr>
              <a:t> Confirming security protocols are being adhered to – see below</a:t>
            </a:r>
          </a:p>
          <a:p>
            <a:pPr lvl="0">
              <a:buFont typeface="Arial" pitchFamily="34" charset="0"/>
              <a:buChar char="•"/>
            </a:pPr>
            <a:r>
              <a:rPr lang="en-AU" sz="1200" kern="1200" dirty="0" smtClean="0">
                <a:solidFill>
                  <a:schemeClr val="tx1"/>
                </a:solidFill>
                <a:ea typeface="+mn-ea"/>
                <a:cs typeface="+mn-cs"/>
              </a:rPr>
              <a:t> Checking identity of persons in the vicinity.</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should involve:</a:t>
            </a:r>
          </a:p>
          <a:p>
            <a:pPr lvl="1">
              <a:buFont typeface="Arial" pitchFamily="34" charset="0"/>
              <a:buChar char="•"/>
            </a:pPr>
            <a:r>
              <a:rPr lang="en-AU" sz="1200" kern="1200" dirty="0" smtClean="0">
                <a:solidFill>
                  <a:schemeClr val="tx1"/>
                </a:solidFill>
                <a:ea typeface="+mn-ea"/>
                <a:cs typeface="+mn-cs"/>
              </a:rPr>
              <a:t> Asking for identification</a:t>
            </a:r>
          </a:p>
          <a:p>
            <a:pPr lvl="1">
              <a:buFont typeface="Arial" pitchFamily="34" charset="0"/>
              <a:buChar char="•"/>
            </a:pPr>
            <a:r>
              <a:rPr lang="en-AU" sz="1200" kern="1200" dirty="0" smtClean="0">
                <a:solidFill>
                  <a:schemeClr val="tx1"/>
                </a:solidFill>
                <a:ea typeface="+mn-ea"/>
                <a:cs typeface="+mn-cs"/>
              </a:rPr>
              <a:t> Visual recognition</a:t>
            </a:r>
          </a:p>
          <a:p>
            <a:pPr lvl="1">
              <a:buFont typeface="Arial" pitchFamily="34" charset="0"/>
              <a:buChar char="•"/>
            </a:pPr>
            <a:r>
              <a:rPr lang="en-AU" sz="1200" kern="1200" dirty="0" smtClean="0">
                <a:solidFill>
                  <a:schemeClr val="tx1"/>
                </a:solidFill>
                <a:ea typeface="+mn-ea"/>
                <a:cs typeface="+mn-cs"/>
              </a:rPr>
              <a:t> Recording details of persons who are checked </a:t>
            </a:r>
          </a:p>
          <a:p>
            <a:pPr lvl="1">
              <a:buFont typeface="Arial" pitchFamily="34" charset="0"/>
              <a:buChar char="•"/>
            </a:pPr>
            <a:r>
              <a:rPr lang="en-AU" sz="1200" kern="1200" dirty="0" smtClean="0">
                <a:solidFill>
                  <a:schemeClr val="tx1"/>
                </a:solidFill>
                <a:ea typeface="+mn-ea"/>
                <a:cs typeface="+mn-cs"/>
              </a:rPr>
              <a:t> Detaining or removing suspicious persons</a:t>
            </a:r>
          </a:p>
          <a:p>
            <a:pPr>
              <a:buFont typeface="Arial" pitchFamily="34" charset="0"/>
              <a:buChar char="•"/>
            </a:pPr>
            <a:r>
              <a:rPr lang="en-AU" sz="1200" kern="1200" dirty="0" smtClean="0">
                <a:solidFill>
                  <a:schemeClr val="tx1"/>
                </a:solidFill>
                <a:ea typeface="+mn-ea"/>
                <a:cs typeface="+mn-cs"/>
              </a:rPr>
              <a:t> Liaising with external security staff and authorities as well as relevant internal venue staff.</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relates to communicating with these people and  cooperating and collaborating with them to:</a:t>
            </a:r>
          </a:p>
          <a:p>
            <a:pPr lvl="1">
              <a:buFont typeface="Arial" pitchFamily="34" charset="0"/>
              <a:buChar char="•"/>
            </a:pPr>
            <a:r>
              <a:rPr lang="en-AU" sz="1200" kern="1200" dirty="0" smtClean="0">
                <a:solidFill>
                  <a:schemeClr val="tx1"/>
                </a:solidFill>
                <a:ea typeface="+mn-ea"/>
                <a:cs typeface="+mn-cs"/>
              </a:rPr>
              <a:t> Assist as required/requested</a:t>
            </a:r>
          </a:p>
          <a:p>
            <a:pPr lvl="1">
              <a:buFont typeface="Arial" pitchFamily="34" charset="0"/>
              <a:buChar char="•"/>
            </a:pPr>
            <a:r>
              <a:rPr lang="en-AU" sz="1200" kern="1200" dirty="0" smtClean="0">
                <a:solidFill>
                  <a:schemeClr val="tx1"/>
                </a:solidFill>
                <a:ea typeface="+mn-ea"/>
                <a:cs typeface="+mn-cs"/>
              </a:rPr>
              <a:t> Provide updates on progress</a:t>
            </a:r>
          </a:p>
          <a:p>
            <a:pPr lvl="1">
              <a:buFont typeface="Arial" pitchFamily="34" charset="0"/>
              <a:buChar char="•"/>
            </a:pPr>
            <a:r>
              <a:rPr lang="en-AU" sz="1200" kern="1200" dirty="0" smtClean="0">
                <a:solidFill>
                  <a:schemeClr val="tx1"/>
                </a:solidFill>
                <a:ea typeface="+mn-ea"/>
                <a:cs typeface="+mn-cs"/>
              </a:rPr>
              <a:t> Inform of changes</a:t>
            </a:r>
          </a:p>
          <a:p>
            <a:pPr lvl="1">
              <a:buFont typeface="Arial" pitchFamily="34" charset="0"/>
              <a:buChar char="•"/>
            </a:pPr>
            <a:r>
              <a:rPr lang="en-AU" sz="1200" kern="1200" dirty="0" smtClean="0">
                <a:solidFill>
                  <a:schemeClr val="tx1"/>
                </a:solidFill>
                <a:ea typeface="+mn-ea"/>
                <a:cs typeface="+mn-cs"/>
              </a:rPr>
              <a:t> Perform tasks as instructed.</a:t>
            </a:r>
          </a:p>
          <a:p>
            <a:pPr>
              <a:buFont typeface="Arial" pitchFamily="34" charset="0"/>
              <a:buNone/>
            </a:pPr>
            <a:endParaRPr lang="en-AU" noProof="0" dirty="0" smtClean="0"/>
          </a:p>
          <a:p>
            <a:pPr>
              <a:buFont typeface="Arial" pitchFamily="34" charset="0"/>
              <a:buNone/>
            </a:pPr>
            <a:r>
              <a:rPr lang="en-AU" b="1" noProof="0" dirty="0" smtClean="0"/>
              <a:t>Class Activity – Questions and Answer</a:t>
            </a:r>
          </a:p>
          <a:p>
            <a:pPr>
              <a:buFont typeface="Arial" pitchFamily="34" charset="0"/>
              <a:buNone/>
            </a:pPr>
            <a:r>
              <a:rPr lang="en-AU" b="0" noProof="0" dirty="0" smtClean="0"/>
              <a:t>Trainer asks students to identify how security protocols are being adhered </a:t>
            </a:r>
            <a:r>
              <a:rPr lang="en-AU" b="0" baseline="0" noProof="0" dirty="0" smtClean="0"/>
              <a:t>as part of maintaining safety and security if VIP.</a:t>
            </a:r>
          </a:p>
          <a:p>
            <a:pPr>
              <a:buFont typeface="Arial" pitchFamily="34" charset="0"/>
              <a:buNone/>
            </a:pPr>
            <a:r>
              <a:rPr lang="en-AU" b="1" i="1" baseline="0" noProof="0" dirty="0" smtClean="0"/>
              <a:t>Possible answers</a:t>
            </a:r>
          </a:p>
          <a:p>
            <a:pPr lvl="0">
              <a:buFont typeface="Arial" pitchFamily="34" charset="0"/>
              <a:buChar char="•"/>
            </a:pPr>
            <a:r>
              <a:rPr lang="en-AU" sz="1200" kern="1200" dirty="0" smtClean="0">
                <a:solidFill>
                  <a:schemeClr val="tx1"/>
                </a:solidFill>
                <a:ea typeface="+mn-ea"/>
                <a:cs typeface="+mn-cs"/>
              </a:rPr>
              <a:t> Observing staff practice</a:t>
            </a:r>
          </a:p>
          <a:p>
            <a:pPr lvl="0">
              <a:buFont typeface="Arial" pitchFamily="34" charset="0"/>
              <a:buChar char="•"/>
            </a:pPr>
            <a:r>
              <a:rPr lang="en-AU" sz="1200" kern="1200" dirty="0" smtClean="0">
                <a:solidFill>
                  <a:schemeClr val="tx1"/>
                </a:solidFill>
                <a:ea typeface="+mn-ea"/>
                <a:cs typeface="+mn-cs"/>
              </a:rPr>
              <a:t> Confirming requirements have been met such as:</a:t>
            </a:r>
          </a:p>
          <a:p>
            <a:pPr lvl="1">
              <a:buFont typeface="Arial" pitchFamily="34" charset="0"/>
              <a:buChar char="•"/>
            </a:pPr>
            <a:r>
              <a:rPr lang="en-AU" sz="1200" kern="1200" dirty="0" smtClean="0">
                <a:solidFill>
                  <a:schemeClr val="tx1"/>
                </a:solidFill>
                <a:ea typeface="+mn-ea"/>
                <a:cs typeface="+mn-cs"/>
              </a:rPr>
              <a:t> Checking doors which should be locked are in fact locked</a:t>
            </a:r>
          </a:p>
          <a:p>
            <a:pPr lvl="1">
              <a:buFont typeface="Arial" pitchFamily="34" charset="0"/>
              <a:buChar char="•"/>
            </a:pPr>
            <a:r>
              <a:rPr lang="en-AU" sz="1200" kern="1200" dirty="0" smtClean="0">
                <a:solidFill>
                  <a:schemeClr val="tx1"/>
                </a:solidFill>
                <a:ea typeface="+mn-ea"/>
                <a:cs typeface="+mn-cs"/>
              </a:rPr>
              <a:t> Visually verifying guards are in place as and where required</a:t>
            </a:r>
          </a:p>
          <a:p>
            <a:pPr lvl="1">
              <a:buFont typeface="Arial" pitchFamily="34" charset="0"/>
              <a:buChar char="•"/>
            </a:pPr>
            <a:r>
              <a:rPr lang="en-AU" sz="1200" kern="1200" dirty="0" smtClean="0">
                <a:solidFill>
                  <a:schemeClr val="tx1"/>
                </a:solidFill>
                <a:ea typeface="+mn-ea"/>
                <a:cs typeface="+mn-cs"/>
              </a:rPr>
              <a:t> Reviewing records of work done such as inspection checklists, patrol logs, visitor registers.</a:t>
            </a:r>
          </a:p>
          <a:p>
            <a:pPr>
              <a:buFont typeface="Arial" pitchFamily="34" charset="0"/>
              <a:buNone/>
            </a:pPr>
            <a:endParaRPr lang="en-AU" b="1" i="1"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358576920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continues presenting activities to maintain safety and security of VIP:</a:t>
            </a:r>
          </a:p>
          <a:p>
            <a:pPr>
              <a:buFont typeface="Arial" pitchFamily="34" charset="0"/>
              <a:buChar char="•"/>
            </a:pPr>
            <a:r>
              <a:rPr lang="en-AU" sz="1200" kern="1200" dirty="0" smtClean="0">
                <a:solidFill>
                  <a:schemeClr val="tx1"/>
                </a:solidFill>
                <a:ea typeface="+mn-ea"/>
                <a:cs typeface="+mn-cs"/>
              </a:rPr>
              <a:t> Maintaining guard duties inside and outside the building which can include:</a:t>
            </a:r>
          </a:p>
          <a:p>
            <a:pPr lvl="1">
              <a:buFont typeface="Arial" pitchFamily="34" charset="0"/>
              <a:buChar char="•"/>
            </a:pPr>
            <a:r>
              <a:rPr lang="en-AU" sz="1200" kern="1200" dirty="0" smtClean="0">
                <a:solidFill>
                  <a:schemeClr val="tx1"/>
                </a:solidFill>
                <a:ea typeface="+mn-ea"/>
                <a:cs typeface="+mn-cs"/>
              </a:rPr>
              <a:t> Standing guard at pre-determined points</a:t>
            </a:r>
          </a:p>
          <a:p>
            <a:pPr lvl="1">
              <a:buFont typeface="Arial" pitchFamily="34" charset="0"/>
              <a:buChar char="•"/>
            </a:pPr>
            <a:r>
              <a:rPr lang="en-AU" sz="1200" kern="1200" dirty="0" smtClean="0">
                <a:solidFill>
                  <a:schemeClr val="tx1"/>
                </a:solidFill>
                <a:ea typeface="+mn-ea"/>
                <a:cs typeface="+mn-cs"/>
              </a:rPr>
              <a:t> Being a physical presence/deterrent</a:t>
            </a:r>
          </a:p>
          <a:p>
            <a:pPr lvl="1">
              <a:buFont typeface="Arial" pitchFamily="34" charset="0"/>
              <a:buChar char="•"/>
            </a:pPr>
            <a:r>
              <a:rPr lang="en-AU" sz="1200" kern="1200" dirty="0" smtClean="0">
                <a:solidFill>
                  <a:schemeClr val="tx1"/>
                </a:solidFill>
                <a:ea typeface="+mn-ea"/>
                <a:cs typeface="+mn-cs"/>
              </a:rPr>
              <a:t> Providing close escort for the VIP</a:t>
            </a:r>
          </a:p>
          <a:p>
            <a:pPr lvl="1">
              <a:buFont typeface="Arial" pitchFamily="34" charset="0"/>
              <a:buChar char="•"/>
            </a:pPr>
            <a:r>
              <a:rPr lang="en-AU" sz="1200" kern="1200" dirty="0" smtClean="0">
                <a:solidFill>
                  <a:schemeClr val="tx1"/>
                </a:solidFill>
                <a:ea typeface="+mn-ea"/>
                <a:cs typeface="+mn-cs"/>
              </a:rPr>
              <a:t> Monitoring security, surveillance and communication systems</a:t>
            </a:r>
          </a:p>
          <a:p>
            <a:pPr lvl="1">
              <a:buFont typeface="Arial" pitchFamily="34" charset="0"/>
              <a:buChar char="•"/>
            </a:pPr>
            <a:r>
              <a:rPr lang="en-AU" sz="1200" kern="1200" dirty="0" smtClean="0">
                <a:solidFill>
                  <a:schemeClr val="tx1"/>
                </a:solidFill>
                <a:ea typeface="+mn-ea"/>
                <a:cs typeface="+mn-cs"/>
              </a:rPr>
              <a:t> Escorting staff who are to provide service to the VIP</a:t>
            </a:r>
          </a:p>
          <a:p>
            <a:pPr lvl="1">
              <a:buFont typeface="Arial" pitchFamily="34" charset="0"/>
              <a:buChar char="•"/>
            </a:pPr>
            <a:r>
              <a:rPr lang="en-AU" sz="1200" kern="1200" dirty="0" smtClean="0">
                <a:solidFill>
                  <a:schemeClr val="tx1"/>
                </a:solidFill>
                <a:ea typeface="+mn-ea"/>
                <a:cs typeface="+mn-cs"/>
              </a:rPr>
              <a:t> Preventing loss</a:t>
            </a:r>
          </a:p>
          <a:p>
            <a:pPr lvl="1">
              <a:buFont typeface="Arial" pitchFamily="34" charset="0"/>
              <a:buChar char="•"/>
            </a:pPr>
            <a:r>
              <a:rPr lang="en-AU" sz="1200" kern="1200" dirty="0" smtClean="0">
                <a:solidFill>
                  <a:schemeClr val="tx1"/>
                </a:solidFill>
                <a:ea typeface="+mn-ea"/>
                <a:cs typeface="+mn-cs"/>
              </a:rPr>
              <a:t> Redirecting unwanted persons</a:t>
            </a:r>
          </a:p>
          <a:p>
            <a:pPr>
              <a:buFont typeface="Arial" pitchFamily="34" charset="0"/>
              <a:buChar char="•"/>
            </a:pPr>
            <a:r>
              <a:rPr lang="en-AU" sz="1200" kern="1200" dirty="0" smtClean="0">
                <a:solidFill>
                  <a:schemeClr val="tx1"/>
                </a:solidFill>
                <a:ea typeface="+mn-ea"/>
                <a:cs typeface="+mn-cs"/>
              </a:rPr>
              <a:t> Checking vehicles including:</a:t>
            </a:r>
          </a:p>
          <a:p>
            <a:pPr lvl="1">
              <a:buFont typeface="Arial" pitchFamily="34" charset="0"/>
              <a:buChar char="•"/>
            </a:pPr>
            <a:r>
              <a:rPr lang="en-AU" sz="1200" kern="1200" dirty="0" smtClean="0">
                <a:solidFill>
                  <a:schemeClr val="tx1"/>
                </a:solidFill>
                <a:ea typeface="+mn-ea"/>
                <a:cs typeface="+mn-cs"/>
              </a:rPr>
              <a:t> All vehicles entering the premises </a:t>
            </a:r>
          </a:p>
          <a:p>
            <a:pPr lvl="1">
              <a:buFont typeface="Arial" pitchFamily="34" charset="0"/>
              <a:buChar char="•"/>
            </a:pPr>
            <a:r>
              <a:rPr lang="en-AU" sz="1200" kern="1200" dirty="0" smtClean="0">
                <a:solidFill>
                  <a:schemeClr val="tx1"/>
                </a:solidFill>
                <a:ea typeface="+mn-ea"/>
                <a:cs typeface="+mn-cs"/>
              </a:rPr>
              <a:t> Those parked close by</a:t>
            </a:r>
          </a:p>
          <a:p>
            <a:pPr lvl="1">
              <a:buFont typeface="Arial" pitchFamily="34" charset="0"/>
              <a:buChar char="•"/>
            </a:pPr>
            <a:r>
              <a:rPr lang="en-AU" sz="1200" kern="1200" dirty="0" smtClean="0">
                <a:solidFill>
                  <a:schemeClr val="tx1"/>
                </a:solidFill>
                <a:ea typeface="+mn-ea"/>
                <a:cs typeface="+mn-cs"/>
              </a:rPr>
              <a:t> Parked vehicles with engine running</a:t>
            </a:r>
          </a:p>
          <a:p>
            <a:pPr lvl="1">
              <a:buFont typeface="Arial" pitchFamily="34" charset="0"/>
              <a:buChar char="•"/>
            </a:pPr>
            <a:r>
              <a:rPr lang="en-AU" sz="1200" kern="1200" dirty="0" smtClean="0">
                <a:solidFill>
                  <a:schemeClr val="tx1"/>
                </a:solidFill>
                <a:ea typeface="+mn-ea"/>
                <a:cs typeface="+mn-cs"/>
              </a:rPr>
              <a:t> Vehicles parked in ‘No parking’ areas</a:t>
            </a:r>
          </a:p>
          <a:p>
            <a:pPr lvl="1">
              <a:buFont typeface="Arial" pitchFamily="34" charset="0"/>
              <a:buChar char="•"/>
            </a:pPr>
            <a:r>
              <a:rPr lang="en-AU" sz="1200" kern="1200" dirty="0" smtClean="0">
                <a:solidFill>
                  <a:schemeClr val="tx1"/>
                </a:solidFill>
                <a:ea typeface="+mn-ea"/>
                <a:cs typeface="+mn-cs"/>
              </a:rPr>
              <a:t> Vehicles without required ‘Vehicle Pass’</a:t>
            </a:r>
          </a:p>
          <a:p>
            <a:pPr lvl="1">
              <a:buFont typeface="Arial" pitchFamily="34" charset="0"/>
              <a:buChar char="•"/>
            </a:pPr>
            <a:r>
              <a:rPr lang="en-AU" sz="1200" kern="1200" dirty="0" smtClean="0">
                <a:solidFill>
                  <a:schemeClr val="tx1"/>
                </a:solidFill>
                <a:ea typeface="+mn-ea"/>
                <a:cs typeface="+mn-cs"/>
              </a:rPr>
              <a:t> There is no specific definition of a suspicious vehicle but a range of indicators exist: see ‘Suspicious vehicles’ below</a:t>
            </a:r>
          </a:p>
          <a:p>
            <a:pPr lvl="1">
              <a:buFont typeface="Arial" pitchFamily="34" charset="0"/>
              <a:buChar char="•"/>
            </a:pPr>
            <a:r>
              <a:rPr lang="en-AU" sz="1200" kern="1200" dirty="0" smtClean="0">
                <a:solidFill>
                  <a:schemeClr val="tx1"/>
                </a:solidFill>
                <a:ea typeface="+mn-ea"/>
                <a:cs typeface="+mn-cs"/>
              </a:rPr>
              <a:t> Investigating and/or removing suspicious vehicles</a:t>
            </a:r>
          </a:p>
          <a:p>
            <a:pPr>
              <a:buFont typeface="Arial" pitchFamily="34" charset="0"/>
              <a:buChar char="•"/>
            </a:pPr>
            <a:r>
              <a:rPr lang="en-AU" sz="1200" kern="1200" dirty="0" smtClean="0">
                <a:solidFill>
                  <a:schemeClr val="tx1"/>
                </a:solidFill>
                <a:ea typeface="+mn-ea"/>
                <a:cs typeface="+mn-cs"/>
              </a:rPr>
              <a:t> Protecting the privacy of the VIP by:</a:t>
            </a:r>
          </a:p>
          <a:p>
            <a:pPr lvl="1">
              <a:buFont typeface="Arial" pitchFamily="34" charset="0"/>
              <a:buChar char="•"/>
            </a:pPr>
            <a:r>
              <a:rPr lang="en-AU" sz="1200" kern="1200" dirty="0" smtClean="0">
                <a:solidFill>
                  <a:schemeClr val="tx1"/>
                </a:solidFill>
                <a:ea typeface="+mn-ea"/>
                <a:cs typeface="+mn-cs"/>
              </a:rPr>
              <a:t> Screening telephone calls to VIPs</a:t>
            </a:r>
          </a:p>
          <a:p>
            <a:pPr lvl="1">
              <a:buFont typeface="Arial" pitchFamily="34" charset="0"/>
              <a:buChar char="•"/>
            </a:pPr>
            <a:r>
              <a:rPr lang="en-AU" sz="1200" kern="1200" dirty="0" smtClean="0">
                <a:solidFill>
                  <a:schemeClr val="tx1"/>
                </a:solidFill>
                <a:ea typeface="+mn-ea"/>
                <a:cs typeface="+mn-cs"/>
              </a:rPr>
              <a:t> Screening other communications such as personal callers, notes and written communications</a:t>
            </a:r>
          </a:p>
          <a:p>
            <a:pPr lvl="1">
              <a:buFont typeface="Arial" pitchFamily="34" charset="0"/>
              <a:buChar char="•"/>
            </a:pPr>
            <a:r>
              <a:rPr lang="en-AU" sz="1200" kern="1200" dirty="0" smtClean="0">
                <a:solidFill>
                  <a:schemeClr val="tx1"/>
                </a:solidFill>
                <a:ea typeface="+mn-ea"/>
                <a:cs typeface="+mn-cs"/>
              </a:rPr>
              <a:t> Deliveries to VIPs</a:t>
            </a:r>
          </a:p>
          <a:p>
            <a:pPr>
              <a:buFont typeface="Arial" pitchFamily="34" charset="0"/>
              <a:buChar char="•"/>
            </a:pPr>
            <a:r>
              <a:rPr lang="en-AU" sz="1200" kern="1200" dirty="0" smtClean="0">
                <a:solidFill>
                  <a:schemeClr val="tx1"/>
                </a:solidFill>
                <a:ea typeface="+mn-ea"/>
                <a:cs typeface="+mn-cs"/>
              </a:rPr>
              <a:t> Restricting the movement of VIPs where:</a:t>
            </a:r>
          </a:p>
          <a:p>
            <a:pPr lvl="1">
              <a:buFont typeface="Arial" pitchFamily="34" charset="0"/>
              <a:buChar char="•"/>
            </a:pPr>
            <a:r>
              <a:rPr lang="en-AU" sz="1200" kern="1200" dirty="0" smtClean="0">
                <a:solidFill>
                  <a:schemeClr val="tx1"/>
                </a:solidFill>
                <a:ea typeface="+mn-ea"/>
                <a:cs typeface="+mn-cs"/>
              </a:rPr>
              <a:t> Security is compromised</a:t>
            </a:r>
          </a:p>
          <a:p>
            <a:pPr lvl="1">
              <a:buFont typeface="Arial" pitchFamily="34" charset="0"/>
              <a:buChar char="•"/>
            </a:pPr>
            <a:r>
              <a:rPr lang="en-AU" sz="1200" kern="1200" dirty="0" smtClean="0">
                <a:solidFill>
                  <a:schemeClr val="tx1"/>
                </a:solidFill>
                <a:ea typeface="+mn-ea"/>
                <a:cs typeface="+mn-cs"/>
              </a:rPr>
              <a:t> Threats are identified</a:t>
            </a:r>
          </a:p>
          <a:p>
            <a:pPr lvl="1">
              <a:buFont typeface="Arial" pitchFamily="34" charset="0"/>
              <a:buChar char="•"/>
            </a:pPr>
            <a:r>
              <a:rPr lang="en-AU" sz="1200" kern="1200" dirty="0" smtClean="0">
                <a:solidFill>
                  <a:schemeClr val="tx1"/>
                </a:solidFill>
                <a:ea typeface="+mn-ea"/>
                <a:cs typeface="+mn-cs"/>
              </a:rPr>
              <a:t> Proposed routes are unavailable</a:t>
            </a:r>
          </a:p>
          <a:p>
            <a:pPr lvl="1">
              <a:buFont typeface="Arial" pitchFamily="34" charset="0"/>
              <a:buChar char="•"/>
            </a:pPr>
            <a:r>
              <a:rPr lang="en-AU" sz="1200" kern="1200" dirty="0" smtClean="0">
                <a:solidFill>
                  <a:schemeClr val="tx1"/>
                </a:solidFill>
                <a:ea typeface="+mn-ea"/>
                <a:cs typeface="+mn-cs"/>
              </a:rPr>
              <a:t> Advice/direction from other security staff is received to this effect.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48457035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possible indicators of ‘suspicious vehicles’:</a:t>
            </a:r>
          </a:p>
          <a:p>
            <a:pPr>
              <a:buFont typeface="Arial" pitchFamily="34" charset="0"/>
              <a:buChar char="•"/>
            </a:pPr>
            <a:r>
              <a:rPr lang="en-AU" sz="1200" kern="1200" dirty="0" smtClean="0">
                <a:solidFill>
                  <a:schemeClr val="tx1"/>
                </a:solidFill>
                <a:ea typeface="+mn-ea"/>
                <a:cs typeface="+mn-cs"/>
              </a:rPr>
              <a:t> Emits an odd odour of chemicals, fuel, fertilizer or gunpowder</a:t>
            </a:r>
          </a:p>
          <a:p>
            <a:pPr>
              <a:buFont typeface="Arial" pitchFamily="34" charset="0"/>
              <a:buChar char="•"/>
            </a:pPr>
            <a:r>
              <a:rPr lang="en-AU" sz="1200" kern="1200" dirty="0" smtClean="0">
                <a:solidFill>
                  <a:schemeClr val="tx1"/>
                </a:solidFill>
                <a:ea typeface="+mn-ea"/>
                <a:cs typeface="+mn-cs"/>
              </a:rPr>
              <a:t> Doesn’t “fit” its surroundings – e.g. too expensive or too cheap, a delivery</a:t>
            </a:r>
            <a:r>
              <a:rPr lang="en-AU" sz="1200" kern="1200" baseline="0" dirty="0" smtClean="0">
                <a:solidFill>
                  <a:schemeClr val="tx1"/>
                </a:solidFill>
                <a:ea typeface="+mn-ea"/>
                <a:cs typeface="+mn-cs"/>
              </a:rPr>
              <a:t> van</a:t>
            </a:r>
            <a:r>
              <a:rPr lang="en-AU" sz="1200" kern="1200" dirty="0" smtClean="0">
                <a:solidFill>
                  <a:schemeClr val="tx1"/>
                </a:solidFill>
                <a:ea typeface="+mn-ea"/>
                <a:cs typeface="+mn-cs"/>
              </a:rPr>
              <a:t> in an area usually occupied by passenger cars</a:t>
            </a:r>
          </a:p>
          <a:p>
            <a:pPr>
              <a:buFont typeface="Arial" pitchFamily="34" charset="0"/>
              <a:buChar char="•"/>
            </a:pPr>
            <a:r>
              <a:rPr lang="en-AU" sz="1200" kern="1200" dirty="0" smtClean="0">
                <a:solidFill>
                  <a:schemeClr val="tx1"/>
                </a:solidFill>
                <a:ea typeface="+mn-ea"/>
                <a:cs typeface="+mn-cs"/>
              </a:rPr>
              <a:t> Has missing license plates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or an older vehicle with new or temporary tags</a:t>
            </a:r>
          </a:p>
          <a:p>
            <a:pPr>
              <a:buFont typeface="Arial" pitchFamily="34" charset="0"/>
              <a:buChar char="•"/>
            </a:pPr>
            <a:r>
              <a:rPr lang="en-AU" sz="1200" kern="1200" dirty="0" smtClean="0">
                <a:solidFill>
                  <a:schemeClr val="tx1"/>
                </a:solidFill>
                <a:ea typeface="+mn-ea"/>
                <a:cs typeface="+mn-cs"/>
              </a:rPr>
              <a:t> Is sagging on its springs which could indicate a load of explosives</a:t>
            </a:r>
          </a:p>
          <a:p>
            <a:pPr>
              <a:buFont typeface="Arial" pitchFamily="34" charset="0"/>
              <a:buChar char="•"/>
            </a:pPr>
            <a:r>
              <a:rPr lang="en-AU" sz="1200" kern="1200" dirty="0" smtClean="0">
                <a:solidFill>
                  <a:schemeClr val="tx1"/>
                </a:solidFill>
                <a:ea typeface="+mn-ea"/>
                <a:cs typeface="+mn-cs"/>
              </a:rPr>
              <a:t> Is parked awkwardly or parked in an unauthorized place.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86476317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possible indicators of ‘suspicious vehicles’:</a:t>
            </a:r>
          </a:p>
          <a:p>
            <a:pPr>
              <a:buFont typeface="Arial" pitchFamily="34" charset="0"/>
              <a:buChar char="•"/>
            </a:pPr>
            <a:r>
              <a:rPr lang="en-AU" sz="1200" kern="1200" dirty="0" smtClean="0">
                <a:solidFill>
                  <a:schemeClr val="tx1"/>
                </a:solidFill>
                <a:ea typeface="+mn-ea"/>
                <a:cs typeface="+mn-cs"/>
              </a:rPr>
              <a:t> Moves slowly and repeatedly through an area</a:t>
            </a:r>
          </a:p>
          <a:p>
            <a:pPr>
              <a:buFont typeface="Arial" pitchFamily="34" charset="0"/>
              <a:buChar char="•"/>
            </a:pPr>
            <a:r>
              <a:rPr lang="en-AU" sz="1200" kern="1200" dirty="0" smtClean="0">
                <a:solidFill>
                  <a:schemeClr val="tx1"/>
                </a:solidFill>
                <a:ea typeface="+mn-ea"/>
                <a:cs typeface="+mn-cs"/>
              </a:rPr>
              <a:t> Has tinted windows or otherwise blocked view inside </a:t>
            </a:r>
          </a:p>
          <a:p>
            <a:pPr>
              <a:buFont typeface="Arial" pitchFamily="34" charset="0"/>
              <a:buChar char="•"/>
            </a:pPr>
            <a:r>
              <a:rPr lang="en-AU" sz="1200" kern="1200" dirty="0" smtClean="0">
                <a:solidFill>
                  <a:schemeClr val="tx1"/>
                </a:solidFill>
                <a:ea typeface="+mn-ea"/>
                <a:cs typeface="+mn-cs"/>
              </a:rPr>
              <a:t> Has been left in the same spot for an unusually long period of time</a:t>
            </a:r>
          </a:p>
          <a:p>
            <a:pPr>
              <a:buFont typeface="Arial" pitchFamily="34" charset="0"/>
              <a:buChar char="•"/>
            </a:pPr>
            <a:r>
              <a:rPr lang="en-AU" sz="1200" kern="1200" dirty="0" smtClean="0">
                <a:solidFill>
                  <a:schemeClr val="tx1"/>
                </a:solidFill>
                <a:ea typeface="+mn-ea"/>
                <a:cs typeface="+mn-cs"/>
              </a:rPr>
              <a:t> Is left idling in an unusual spot or unusual way (e.g. door ajar or window open)</a:t>
            </a:r>
          </a:p>
          <a:p>
            <a:pPr>
              <a:buFont typeface="Arial" pitchFamily="34" charset="0"/>
              <a:buChar char="•"/>
            </a:pPr>
            <a:r>
              <a:rPr lang="en-AU" sz="1200" kern="1200" dirty="0" smtClean="0">
                <a:solidFill>
                  <a:schemeClr val="tx1"/>
                </a:solidFill>
                <a:ea typeface="+mn-ea"/>
                <a:cs typeface="+mn-cs"/>
              </a:rPr>
              <a:t> Occupants are seen leaving in a hurried or strange manner.</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303833633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states </a:t>
            </a:r>
            <a:r>
              <a:rPr lang="en-AU" sz="1200" kern="1200" dirty="0" smtClean="0">
                <a:solidFill>
                  <a:schemeClr val="tx1"/>
                </a:solidFill>
                <a:ea typeface="+mn-ea"/>
                <a:cs typeface="+mn-cs"/>
              </a:rPr>
              <a:t>in the same way you were under obligations when the VIP arrived, so too will there be responsibilities when they depart reminding students ‘departing’[ refers to:</a:t>
            </a:r>
          </a:p>
          <a:p>
            <a:pPr>
              <a:buFont typeface="Arial" pitchFamily="34" charset="0"/>
              <a:buChar char="•"/>
            </a:pPr>
            <a:r>
              <a:rPr lang="en-AU" sz="1200" kern="1200" dirty="0" smtClean="0">
                <a:solidFill>
                  <a:schemeClr val="tx1"/>
                </a:solidFill>
                <a:ea typeface="+mn-ea"/>
                <a:cs typeface="+mn-cs"/>
              </a:rPr>
              <a:t> Occasions where the VIP leaves the venue with the intention of returning</a:t>
            </a:r>
          </a:p>
          <a:p>
            <a:pPr>
              <a:buFont typeface="Arial" pitchFamily="34" charset="0"/>
              <a:buChar char="•"/>
            </a:pPr>
            <a:r>
              <a:rPr lang="en-AU" sz="1200" kern="1200" dirty="0" smtClean="0">
                <a:solidFill>
                  <a:schemeClr val="tx1"/>
                </a:solidFill>
                <a:ea typeface="+mn-ea"/>
                <a:cs typeface="+mn-cs"/>
              </a:rPr>
              <a:t> The final departure of the VIP when their visit is completed.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64219441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‘points to note’ regarding departures of VIPs:</a:t>
            </a:r>
          </a:p>
          <a:p>
            <a:pPr>
              <a:buFont typeface="Arial" pitchFamily="34" charset="0"/>
              <a:buChar char="•"/>
            </a:pPr>
            <a:r>
              <a:rPr lang="en-AU" sz="1200" kern="1200" dirty="0" smtClean="0">
                <a:solidFill>
                  <a:schemeClr val="tx1"/>
                </a:solidFill>
                <a:ea typeface="+mn-ea"/>
                <a:cs typeface="+mn-cs"/>
              </a:rPr>
              <a:t> Must use the safety plan as the basis for action</a:t>
            </a:r>
          </a:p>
          <a:p>
            <a:pPr>
              <a:buFont typeface="Arial" pitchFamily="34" charset="0"/>
              <a:buChar char="•"/>
            </a:pPr>
            <a:r>
              <a:rPr lang="en-AU" sz="1200" kern="1200" dirty="0" smtClean="0">
                <a:solidFill>
                  <a:schemeClr val="tx1"/>
                </a:solidFill>
                <a:ea typeface="+mn-ea"/>
                <a:cs typeface="+mn-cs"/>
              </a:rPr>
              <a:t> May be required to play a support/passive role instead of a primary role</a:t>
            </a:r>
          </a:p>
          <a:p>
            <a:pPr>
              <a:buFont typeface="Arial" pitchFamily="34" charset="0"/>
              <a:buChar char="•"/>
            </a:pPr>
            <a:r>
              <a:rPr lang="en-AU" sz="1200" kern="1200" dirty="0" smtClean="0">
                <a:solidFill>
                  <a:schemeClr val="tx1"/>
                </a:solidFill>
                <a:ea typeface="+mn-ea"/>
                <a:cs typeface="+mn-cs"/>
              </a:rPr>
              <a:t> May be required to arrange many different products and services – see below</a:t>
            </a:r>
          </a:p>
          <a:p>
            <a:pPr lvl="0">
              <a:buFont typeface="Arial" pitchFamily="34" charset="0"/>
              <a:buChar char="•"/>
            </a:pPr>
            <a:r>
              <a:rPr lang="en-AU" sz="1200" kern="1200" dirty="0" smtClean="0">
                <a:solidFill>
                  <a:schemeClr val="tx1"/>
                </a:solidFill>
                <a:ea typeface="+mn-ea"/>
                <a:cs typeface="+mn-cs"/>
              </a:rPr>
              <a:t> Need to arrange and implement pre-departure activities and checks in the same way you undertook pre-arrival activities and checks.</a:t>
            </a:r>
          </a:p>
          <a:p>
            <a:pPr>
              <a:buFont typeface="Arial" pitchFamily="34" charset="0"/>
              <a:buNone/>
            </a:pPr>
            <a:endParaRPr lang="en-AU" noProof="0" dirty="0" smtClean="0"/>
          </a:p>
          <a:p>
            <a:pPr>
              <a:buFont typeface="Arial" pitchFamily="34" charset="0"/>
              <a:buNone/>
            </a:pPr>
            <a:r>
              <a:rPr lang="en-AU" b="1" noProof="0" dirty="0" smtClean="0"/>
              <a:t>Class Activity – Question and Answer</a:t>
            </a:r>
          </a:p>
          <a:p>
            <a:pPr>
              <a:buFont typeface="Arial" pitchFamily="34" charset="0"/>
              <a:buNone/>
            </a:pPr>
            <a:r>
              <a:rPr lang="en-AU" b="0" noProof="0" dirty="0" smtClean="0"/>
              <a:t>Trainer asks students to identify examples of</a:t>
            </a:r>
            <a:r>
              <a:rPr lang="en-AU" b="0" baseline="0" noProof="0" dirty="0" smtClean="0"/>
              <a:t> products/services which venue may be required to arrange to facilitate VIP departures from the venue.</a:t>
            </a:r>
          </a:p>
          <a:p>
            <a:pPr>
              <a:buFont typeface="Arial" pitchFamily="34" charset="0"/>
              <a:buNone/>
            </a:pPr>
            <a:r>
              <a:rPr lang="en-AU" b="1" i="1" baseline="0" noProof="0" dirty="0" smtClean="0"/>
              <a:t>Possible answers</a:t>
            </a:r>
          </a:p>
          <a:p>
            <a:pPr lvl="0">
              <a:buFont typeface="Arial" pitchFamily="34" charset="0"/>
              <a:buChar char="•"/>
            </a:pPr>
            <a:r>
              <a:rPr lang="en-AU" sz="1200" kern="1200" dirty="0" smtClean="0">
                <a:solidFill>
                  <a:schemeClr val="tx1"/>
                </a:solidFill>
                <a:ea typeface="+mn-ea"/>
                <a:cs typeface="+mn-cs"/>
              </a:rPr>
              <a:t> Drivers </a:t>
            </a:r>
          </a:p>
          <a:p>
            <a:pPr lvl="0">
              <a:buFont typeface="Arial" pitchFamily="34" charset="0"/>
              <a:buChar char="•"/>
            </a:pPr>
            <a:r>
              <a:rPr lang="en-AU" sz="1200" kern="1200" dirty="0" smtClean="0">
                <a:solidFill>
                  <a:schemeClr val="tx1"/>
                </a:solidFill>
                <a:ea typeface="+mn-ea"/>
                <a:cs typeface="+mn-cs"/>
              </a:rPr>
              <a:t> Vehicles </a:t>
            </a:r>
          </a:p>
          <a:p>
            <a:pPr lvl="0">
              <a:buFont typeface="Arial" pitchFamily="34" charset="0"/>
              <a:buChar char="•"/>
            </a:pPr>
            <a:r>
              <a:rPr lang="en-AU" sz="1200" kern="1200" dirty="0" smtClean="0">
                <a:solidFill>
                  <a:schemeClr val="tx1"/>
                </a:solidFill>
                <a:ea typeface="+mn-ea"/>
                <a:cs typeface="+mn-cs"/>
              </a:rPr>
              <a:t> Routes and itinerary </a:t>
            </a:r>
          </a:p>
          <a:p>
            <a:pPr lvl="0">
              <a:buFont typeface="Arial" pitchFamily="34" charset="0"/>
              <a:buChar char="•"/>
            </a:pPr>
            <a:r>
              <a:rPr lang="en-AU" sz="1200" kern="1200" dirty="0" smtClean="0">
                <a:solidFill>
                  <a:schemeClr val="tx1"/>
                </a:solidFill>
                <a:ea typeface="+mn-ea"/>
                <a:cs typeface="+mn-cs"/>
              </a:rPr>
              <a:t> Travel tickets and documentation</a:t>
            </a:r>
          </a:p>
          <a:p>
            <a:pPr lvl="0">
              <a:buFont typeface="Arial" pitchFamily="34" charset="0"/>
              <a:buChar char="•"/>
            </a:pPr>
            <a:r>
              <a:rPr lang="en-AU" sz="1200" kern="1200" dirty="0" smtClean="0">
                <a:solidFill>
                  <a:schemeClr val="tx1"/>
                </a:solidFill>
                <a:ea typeface="+mn-ea"/>
                <a:cs typeface="+mn-cs"/>
              </a:rPr>
              <a:t> Transportation of luggage</a:t>
            </a:r>
          </a:p>
          <a:p>
            <a:pPr lvl="0">
              <a:buFont typeface="Arial" pitchFamily="34" charset="0"/>
              <a:buChar char="•"/>
            </a:pPr>
            <a:r>
              <a:rPr lang="en-AU" sz="1200" kern="1200" dirty="0" smtClean="0">
                <a:solidFill>
                  <a:schemeClr val="tx1"/>
                </a:solidFill>
                <a:ea typeface="+mn-ea"/>
                <a:cs typeface="+mn-cs"/>
              </a:rPr>
              <a:t> Customs and immigration issues</a:t>
            </a:r>
          </a:p>
          <a:p>
            <a:pPr lvl="0">
              <a:buFont typeface="Arial" pitchFamily="34" charset="0"/>
              <a:buChar char="•"/>
            </a:pPr>
            <a:r>
              <a:rPr lang="en-AU" sz="1200" kern="1200" dirty="0" smtClean="0">
                <a:solidFill>
                  <a:schemeClr val="tx1"/>
                </a:solidFill>
                <a:ea typeface="+mn-ea"/>
                <a:cs typeface="+mn-cs"/>
              </a:rPr>
              <a:t> Entry tickets to tourist attractions, sporting and/or entertainment events.</a:t>
            </a:r>
          </a:p>
          <a:p>
            <a:pPr>
              <a:buFont typeface="Arial" pitchFamily="34" charset="0"/>
              <a:buNone/>
            </a:pPr>
            <a:endParaRPr lang="en-AU" b="0" i="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160736846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a:t>
            </a:r>
            <a:r>
              <a:rPr lang="en-AU" baseline="0" noProof="0" dirty="0" smtClean="0"/>
              <a:t> and describes range of possible departure activities:</a:t>
            </a:r>
          </a:p>
          <a:p>
            <a:pPr>
              <a:buFont typeface="Arial" pitchFamily="34" charset="0"/>
              <a:buChar char="•"/>
            </a:pPr>
            <a:r>
              <a:rPr lang="en-AU" sz="1200" kern="1200" dirty="0" smtClean="0">
                <a:solidFill>
                  <a:schemeClr val="tx1"/>
                </a:solidFill>
                <a:ea typeface="+mn-ea"/>
                <a:cs typeface="+mn-cs"/>
              </a:rPr>
              <a:t> Keying off lifts in accordance with safety plan</a:t>
            </a:r>
          </a:p>
          <a:p>
            <a:pPr>
              <a:buFont typeface="Arial" pitchFamily="34" charset="0"/>
              <a:buChar char="•"/>
            </a:pPr>
            <a:r>
              <a:rPr lang="en-AU" sz="1200" kern="1200" dirty="0" smtClean="0">
                <a:solidFill>
                  <a:schemeClr val="tx1"/>
                </a:solidFill>
                <a:ea typeface="+mn-ea"/>
                <a:cs typeface="+mn-cs"/>
              </a:rPr>
              <a:t> Clearing  departure/exit routes – internal hallways/passages as well as external vehicle departure routes</a:t>
            </a:r>
          </a:p>
          <a:p>
            <a:pPr>
              <a:buFont typeface="Arial" pitchFamily="34" charset="0"/>
              <a:buChar char="•"/>
            </a:pPr>
            <a:r>
              <a:rPr lang="en-AU" sz="1200" kern="1200" dirty="0" smtClean="0">
                <a:solidFill>
                  <a:schemeClr val="tx1"/>
                </a:solidFill>
                <a:ea typeface="+mn-ea"/>
                <a:cs typeface="+mn-cs"/>
              </a:rPr>
              <a:t> Conducting sweep of area for suspicious packages and unauthorised persons</a:t>
            </a:r>
          </a:p>
          <a:p>
            <a:pPr>
              <a:buFont typeface="Arial" pitchFamily="34" charset="0"/>
              <a:buChar char="•"/>
            </a:pPr>
            <a:r>
              <a:rPr lang="en-AU" sz="1200" kern="1200" dirty="0" smtClean="0">
                <a:solidFill>
                  <a:schemeClr val="tx1"/>
                </a:solidFill>
                <a:ea typeface="+mn-ea"/>
                <a:cs typeface="+mn-cs"/>
              </a:rPr>
              <a:t> Confirming identity of all persons within restricted areas.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78273130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and describing range of possible departure activities:</a:t>
            </a:r>
          </a:p>
          <a:p>
            <a:pPr>
              <a:buFont typeface="Arial" pitchFamily="34" charset="0"/>
              <a:buChar char="•"/>
            </a:pPr>
            <a:r>
              <a:rPr lang="en-AU" sz="1200" kern="1200" dirty="0" smtClean="0">
                <a:solidFill>
                  <a:schemeClr val="tx1"/>
                </a:solidFill>
                <a:ea typeface="+mn-ea"/>
                <a:cs typeface="+mn-cs"/>
              </a:rPr>
              <a:t> Checking locked areas</a:t>
            </a:r>
          </a:p>
          <a:p>
            <a:pPr>
              <a:buFont typeface="Arial" pitchFamily="34" charset="0"/>
              <a:buChar char="•"/>
            </a:pPr>
            <a:r>
              <a:rPr lang="en-AU" sz="1200" kern="1200" dirty="0" smtClean="0">
                <a:solidFill>
                  <a:schemeClr val="tx1"/>
                </a:solidFill>
                <a:ea typeface="+mn-ea"/>
                <a:cs typeface="+mn-cs"/>
              </a:rPr>
              <a:t> Confirming lines of sight are protected and/or available as required</a:t>
            </a:r>
          </a:p>
          <a:p>
            <a:pPr>
              <a:buFont typeface="Arial" pitchFamily="34" charset="0"/>
              <a:buChar char="•"/>
            </a:pPr>
            <a:r>
              <a:rPr lang="en-AU" sz="1200" kern="1200" dirty="0" smtClean="0">
                <a:solidFill>
                  <a:schemeClr val="tx1"/>
                </a:solidFill>
                <a:ea typeface="+mn-ea"/>
                <a:cs typeface="+mn-cs"/>
              </a:rPr>
              <a:t> Conducting communication checks</a:t>
            </a:r>
          </a:p>
          <a:p>
            <a:pPr>
              <a:buFont typeface="Arial" pitchFamily="34" charset="0"/>
              <a:buChar char="•"/>
            </a:pPr>
            <a:r>
              <a:rPr lang="en-AU" sz="1200" kern="1200" dirty="0" smtClean="0">
                <a:solidFill>
                  <a:schemeClr val="tx1"/>
                </a:solidFill>
                <a:ea typeface="+mn-ea"/>
                <a:cs typeface="+mn-cs"/>
              </a:rPr>
              <a:t> Confirming key personnel are in position in accordance with safety plan.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361808709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and describing range of possible departure activities:</a:t>
            </a:r>
          </a:p>
          <a:p>
            <a:pPr>
              <a:buFont typeface="Arial" pitchFamily="34" charset="0"/>
              <a:buChar char="•"/>
            </a:pPr>
            <a:r>
              <a:rPr lang="en-AU" sz="1200" kern="1200" dirty="0" smtClean="0">
                <a:solidFill>
                  <a:schemeClr val="tx1"/>
                </a:solidFill>
                <a:ea typeface="+mn-ea"/>
                <a:cs typeface="+mn-cs"/>
              </a:rPr>
              <a:t> Confirming security of all areas in accordance with safety plan </a:t>
            </a:r>
          </a:p>
          <a:p>
            <a:pPr>
              <a:buFont typeface="Arial" pitchFamily="34" charset="0"/>
              <a:buChar char="•"/>
            </a:pPr>
            <a:r>
              <a:rPr lang="en-AU" sz="1200" kern="1200" dirty="0" smtClean="0">
                <a:solidFill>
                  <a:schemeClr val="tx1"/>
                </a:solidFill>
                <a:ea typeface="+mn-ea"/>
                <a:cs typeface="+mn-cs"/>
              </a:rPr>
              <a:t> Updating staff of last minute changes</a:t>
            </a:r>
          </a:p>
          <a:p>
            <a:pPr>
              <a:buFont typeface="Arial" pitchFamily="34" charset="0"/>
              <a:buChar char="•"/>
            </a:pPr>
            <a:r>
              <a:rPr lang="en-AU" sz="1200" kern="1200" dirty="0" smtClean="0">
                <a:solidFill>
                  <a:schemeClr val="tx1"/>
                </a:solidFill>
                <a:ea typeface="+mn-ea"/>
                <a:cs typeface="+mn-cs"/>
              </a:rPr>
              <a:t> Issuing ‘all clear/ready to exit’ notification</a:t>
            </a:r>
          </a:p>
          <a:p>
            <a:pPr>
              <a:buFont typeface="Arial" pitchFamily="34" charset="0"/>
              <a:buChar char="•"/>
            </a:pPr>
            <a:r>
              <a:rPr lang="en-AU" sz="1200" kern="1200" dirty="0" smtClean="0">
                <a:solidFill>
                  <a:schemeClr val="tx1"/>
                </a:solidFill>
                <a:ea typeface="+mn-ea"/>
                <a:cs typeface="+mn-cs"/>
              </a:rPr>
              <a:t> Integrating and liaising with external security staff to facilitate departure.</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250756124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and describing range of possible departure activities:</a:t>
            </a:r>
          </a:p>
          <a:p>
            <a:pPr>
              <a:buFont typeface="Arial" pitchFamily="34" charset="0"/>
              <a:buChar char="•"/>
            </a:pPr>
            <a:r>
              <a:rPr lang="en-AU" sz="1200" kern="1200" dirty="0" smtClean="0">
                <a:solidFill>
                  <a:schemeClr val="tx1"/>
                </a:solidFill>
                <a:ea typeface="+mn-ea"/>
                <a:cs typeface="+mn-cs"/>
              </a:rPr>
              <a:t> Handling secure departure from rooms and building</a:t>
            </a:r>
          </a:p>
          <a:p>
            <a:pPr>
              <a:buFont typeface="Arial" pitchFamily="34" charset="0"/>
              <a:buChar char="•"/>
            </a:pPr>
            <a:r>
              <a:rPr lang="en-AU" sz="1200" kern="1200" dirty="0" smtClean="0">
                <a:solidFill>
                  <a:schemeClr val="tx1"/>
                </a:solidFill>
                <a:ea typeface="+mn-ea"/>
                <a:cs typeface="+mn-cs"/>
              </a:rPr>
              <a:t> Monitoring crowds and observing environment for threats as previously identified</a:t>
            </a:r>
          </a:p>
          <a:p>
            <a:pPr>
              <a:buFont typeface="Arial" pitchFamily="34" charset="0"/>
              <a:buChar char="•"/>
            </a:pPr>
            <a:r>
              <a:rPr lang="en-AU" sz="1200" kern="1200" dirty="0" smtClean="0">
                <a:solidFill>
                  <a:schemeClr val="tx1"/>
                </a:solidFill>
                <a:ea typeface="+mn-ea"/>
                <a:cs typeface="+mn-cs"/>
              </a:rPr>
              <a:t> Notifying communication and control room of threats, progress and deviations from scheduled running sheet</a:t>
            </a:r>
          </a:p>
          <a:p>
            <a:pPr>
              <a:buFont typeface="Arial" pitchFamily="34" charset="0"/>
              <a:buChar char="•"/>
            </a:pPr>
            <a:r>
              <a:rPr lang="en-AU" sz="1200" kern="1200" dirty="0" smtClean="0">
                <a:solidFill>
                  <a:schemeClr val="tx1"/>
                </a:solidFill>
                <a:ea typeface="+mn-ea"/>
                <a:cs typeface="+mn-cs"/>
              </a:rPr>
              <a:t> Requesting assistance where threat or problems arise.</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230983875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and describing range of possible departure activities:</a:t>
            </a:r>
          </a:p>
          <a:p>
            <a:pPr>
              <a:buFont typeface="Arial" pitchFamily="34" charset="0"/>
              <a:buChar char="•"/>
            </a:pPr>
            <a:r>
              <a:rPr lang="en-AU" sz="1200" kern="1200" dirty="0" smtClean="0">
                <a:solidFill>
                  <a:schemeClr val="tx1"/>
                </a:solidFill>
                <a:ea typeface="+mn-ea"/>
                <a:cs typeface="+mn-cs"/>
              </a:rPr>
              <a:t> Matching security level to degree of threat or danger identified</a:t>
            </a:r>
          </a:p>
          <a:p>
            <a:pPr>
              <a:buFont typeface="Arial" pitchFamily="34" charset="0"/>
              <a:buChar char="•"/>
            </a:pPr>
            <a:r>
              <a:rPr lang="en-AU" sz="1200" kern="1200" dirty="0" smtClean="0">
                <a:solidFill>
                  <a:schemeClr val="tx1"/>
                </a:solidFill>
                <a:ea typeface="+mn-ea"/>
                <a:cs typeface="+mn-cs"/>
              </a:rPr>
              <a:t> Adapting security procedures on the basis of VIP requests and preferences, where possible</a:t>
            </a:r>
          </a:p>
          <a:p>
            <a:pPr>
              <a:buFont typeface="Arial" pitchFamily="34" charset="0"/>
              <a:buChar char="•"/>
            </a:pPr>
            <a:r>
              <a:rPr lang="en-AU" sz="1200" kern="1200" dirty="0" smtClean="0">
                <a:solidFill>
                  <a:schemeClr val="tx1"/>
                </a:solidFill>
                <a:ea typeface="+mn-ea"/>
                <a:cs typeface="+mn-cs"/>
              </a:rPr>
              <a:t> Accompanying VIPs to designated departure location</a:t>
            </a:r>
          </a:p>
          <a:p>
            <a:pPr>
              <a:buFont typeface="Arial" pitchFamily="34" charset="0"/>
              <a:buChar char="•"/>
            </a:pPr>
            <a:r>
              <a:rPr lang="en-AU" sz="1200" kern="1200" dirty="0" smtClean="0">
                <a:solidFill>
                  <a:schemeClr val="tx1"/>
                </a:solidFill>
                <a:ea typeface="+mn-ea"/>
                <a:cs typeface="+mn-cs"/>
              </a:rPr>
              <a:t> Confirming security of departure location.</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46317920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and describing range of possible departure activities:</a:t>
            </a:r>
          </a:p>
          <a:p>
            <a:pPr>
              <a:buFont typeface="Arial" pitchFamily="34" charset="0"/>
              <a:buChar char="•"/>
            </a:pPr>
            <a:r>
              <a:rPr lang="en-AU" sz="1200" kern="1200" dirty="0" smtClean="0">
                <a:solidFill>
                  <a:schemeClr val="tx1"/>
                </a:solidFill>
                <a:ea typeface="+mn-ea"/>
                <a:cs typeface="+mn-cs"/>
              </a:rPr>
              <a:t> Checking vehicles including vehicles entering the premises and those parked close by</a:t>
            </a:r>
          </a:p>
          <a:p>
            <a:pPr>
              <a:buFont typeface="Arial" pitchFamily="34" charset="0"/>
              <a:buChar char="•"/>
            </a:pPr>
            <a:r>
              <a:rPr lang="en-AU" sz="1200" kern="1200" dirty="0" smtClean="0">
                <a:solidFill>
                  <a:schemeClr val="tx1"/>
                </a:solidFill>
                <a:ea typeface="+mn-ea"/>
                <a:cs typeface="+mn-cs"/>
              </a:rPr>
              <a:t> Removing unauthorised vehicles and persons </a:t>
            </a:r>
          </a:p>
          <a:p>
            <a:pPr>
              <a:buFont typeface="Arial" pitchFamily="34" charset="0"/>
              <a:buChar char="•"/>
            </a:pPr>
            <a:r>
              <a:rPr lang="en-AU" sz="1200" kern="1200" dirty="0" smtClean="0">
                <a:solidFill>
                  <a:schemeClr val="tx1"/>
                </a:solidFill>
                <a:ea typeface="+mn-ea"/>
                <a:cs typeface="+mn-cs"/>
              </a:rPr>
              <a:t> Handing over security at departure point to other designated security staff.</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15638827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404821259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53841242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conducting evaluations after VIP has departed by asking questions such as:</a:t>
            </a:r>
          </a:p>
          <a:p>
            <a:pPr>
              <a:buFont typeface="Arial" pitchFamily="34" charset="0"/>
              <a:buChar char="•"/>
            </a:pPr>
            <a:r>
              <a:rPr lang="en-US" b="0" dirty="0" smtClean="0"/>
              <a:t> Why is it important to undertake these evaluations?</a:t>
            </a:r>
          </a:p>
          <a:p>
            <a:pPr>
              <a:buFont typeface="Arial" pitchFamily="34" charset="0"/>
              <a:buChar char="•"/>
            </a:pPr>
            <a:r>
              <a:rPr lang="en-US" b="0" dirty="0" smtClean="0"/>
              <a:t> Who might be involved in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1118357187"/>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advises </a:t>
            </a:r>
            <a:r>
              <a:rPr lang="en-AU" sz="1200" kern="1200" dirty="0" smtClean="0">
                <a:solidFill>
                  <a:schemeClr val="tx1"/>
                </a:solidFill>
                <a:ea typeface="+mn-ea"/>
                <a:cs typeface="+mn-cs"/>
              </a:rPr>
              <a:t>standard practice is to conduct a de-briefing after nominated circumstances such as functions, events, and incidents explaining these are held to:</a:t>
            </a:r>
          </a:p>
          <a:p>
            <a:pPr>
              <a:buFont typeface="Arial" pitchFamily="34" charset="0"/>
              <a:buChar char="•"/>
            </a:pPr>
            <a:r>
              <a:rPr lang="en-AU" sz="1200" kern="1200" dirty="0" smtClean="0">
                <a:solidFill>
                  <a:schemeClr val="tx1"/>
                </a:solidFill>
                <a:ea typeface="+mn-ea"/>
                <a:cs typeface="+mn-cs"/>
              </a:rPr>
              <a:t> Finalise the visit according to the visit plans</a:t>
            </a:r>
          </a:p>
          <a:p>
            <a:pPr>
              <a:buFont typeface="Arial" pitchFamily="34" charset="0"/>
              <a:buChar char="•"/>
            </a:pPr>
            <a:r>
              <a:rPr lang="en-AU" sz="1200" kern="1200" dirty="0" smtClean="0">
                <a:solidFill>
                  <a:schemeClr val="tx1"/>
                </a:solidFill>
                <a:ea typeface="+mn-ea"/>
                <a:cs typeface="+mn-cs"/>
              </a:rPr>
              <a:t> Capture suggestions, advice and recommendations to improve service for future VIP and other visits</a:t>
            </a:r>
          </a:p>
          <a:p>
            <a:pPr>
              <a:buFont typeface="Arial" pitchFamily="34" charset="0"/>
              <a:buChar char="•"/>
            </a:pPr>
            <a:r>
              <a:rPr lang="en-AU" sz="1200" kern="1200" dirty="0" smtClean="0">
                <a:solidFill>
                  <a:schemeClr val="tx1"/>
                </a:solidFill>
                <a:ea typeface="+mn-ea"/>
                <a:cs typeface="+mn-cs"/>
              </a:rPr>
              <a:t> Learn lessons which can be used for future VIP visits – see later slides</a:t>
            </a:r>
          </a:p>
          <a:p>
            <a:pPr>
              <a:buFont typeface="Arial" pitchFamily="34" charset="0"/>
              <a:buChar char="•"/>
            </a:pPr>
            <a:r>
              <a:rPr lang="en-AU" sz="1200" kern="1200" dirty="0" smtClean="0">
                <a:solidFill>
                  <a:schemeClr val="tx1"/>
                </a:solidFill>
                <a:ea typeface="+mn-ea"/>
                <a:cs typeface="+mn-cs"/>
              </a:rPr>
              <a:t> Provide a forum for stakeholders to discuss the visit</a:t>
            </a:r>
          </a:p>
          <a:p>
            <a:pPr>
              <a:buFont typeface="Arial" pitchFamily="34" charset="0"/>
              <a:buChar char="•"/>
            </a:pPr>
            <a:r>
              <a:rPr lang="en-AU" sz="1200" kern="1200" dirty="0" smtClean="0">
                <a:solidFill>
                  <a:schemeClr val="tx1"/>
                </a:solidFill>
                <a:ea typeface="+mn-ea"/>
                <a:cs typeface="+mn-cs"/>
              </a:rPr>
              <a:t> Identify and solve problems.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relevant visit/functions manager from local venue to attend and speak to students about:</a:t>
            </a:r>
          </a:p>
          <a:p>
            <a:pPr>
              <a:buFont typeface="Arial" pitchFamily="34" charset="0"/>
              <a:buChar char="•"/>
            </a:pPr>
            <a:r>
              <a:rPr lang="en-AU" sz="1200" kern="1200" noProof="0" dirty="0" smtClean="0">
                <a:solidFill>
                  <a:schemeClr val="tx1"/>
                </a:solidFill>
                <a:ea typeface="+mn-ea"/>
                <a:cs typeface="+mn-cs"/>
              </a:rPr>
              <a:t> Finalising VIP visits</a:t>
            </a:r>
          </a:p>
          <a:p>
            <a:pPr>
              <a:buFont typeface="Arial" pitchFamily="34" charset="0"/>
              <a:buChar char="•"/>
            </a:pPr>
            <a:r>
              <a:rPr lang="en-AU" sz="1200" kern="1200" noProof="0" dirty="0" smtClean="0">
                <a:solidFill>
                  <a:schemeClr val="tx1"/>
                </a:solidFill>
                <a:ea typeface="+mn-ea"/>
                <a:cs typeface="+mn-cs"/>
              </a:rPr>
              <a:t> Arranging</a:t>
            </a:r>
            <a:r>
              <a:rPr lang="en-AU" sz="1200" kern="1200" baseline="0" noProof="0" dirty="0" smtClean="0">
                <a:solidFill>
                  <a:schemeClr val="tx1"/>
                </a:solidFill>
                <a:ea typeface="+mn-ea"/>
                <a:cs typeface="+mn-cs"/>
              </a:rPr>
              <a:t> and conducting debriefings</a:t>
            </a:r>
          </a:p>
          <a:p>
            <a:pPr>
              <a:buFont typeface="Arial" pitchFamily="34" charset="0"/>
              <a:buChar char="•"/>
            </a:pPr>
            <a:r>
              <a:rPr lang="en-AU" sz="1200" kern="1200" baseline="0" noProof="0" dirty="0" smtClean="0">
                <a:solidFill>
                  <a:schemeClr val="tx1"/>
                </a:solidFill>
                <a:ea typeface="+mn-ea"/>
                <a:cs typeface="+mn-cs"/>
              </a:rPr>
              <a:t> Examples of the use of debriefings.</a:t>
            </a:r>
            <a:endParaRPr lang="en-AU" sz="1200" kern="1200" noProof="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34982831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explain why de-briefing sessions are held after VIP visit:</a:t>
            </a:r>
          </a:p>
          <a:p>
            <a:pPr>
              <a:buFont typeface="Arial" pitchFamily="34" charset="0"/>
              <a:buChar char="•"/>
            </a:pPr>
            <a:r>
              <a:rPr lang="en-AU" sz="1200" kern="1200" dirty="0" smtClean="0">
                <a:solidFill>
                  <a:schemeClr val="tx1"/>
                </a:solidFill>
                <a:ea typeface="+mn-ea"/>
                <a:cs typeface="+mn-cs"/>
              </a:rPr>
              <a:t> Obtain feedback from those involved: </a:t>
            </a:r>
          </a:p>
          <a:p>
            <a:pPr lvl="1">
              <a:buFont typeface="Arial" pitchFamily="34" charset="0"/>
              <a:buChar char="•"/>
            </a:pPr>
            <a:r>
              <a:rPr lang="en-AU" sz="1200" kern="1200" dirty="0" smtClean="0">
                <a:solidFill>
                  <a:schemeClr val="tx1"/>
                </a:solidFill>
                <a:ea typeface="+mn-ea"/>
                <a:cs typeface="+mn-cs"/>
              </a:rPr>
              <a:t> ‘Directly’ which is comment from staff/people who worked on the visit providing their comment/input</a:t>
            </a:r>
          </a:p>
          <a:p>
            <a:pPr lvl="1">
              <a:buFont typeface="Arial" pitchFamily="34" charset="0"/>
              <a:buChar char="•"/>
            </a:pPr>
            <a:r>
              <a:rPr lang="en-AU" sz="1200" kern="1200" dirty="0" smtClean="0">
                <a:solidFill>
                  <a:schemeClr val="tx1"/>
                </a:solidFill>
                <a:ea typeface="+mn-ea"/>
                <a:cs typeface="+mn-cs"/>
              </a:rPr>
              <a:t> ‘Indirectly’ which relates to staff passing on feedback they over-heard from the VIP and/their entourage while they were at the venue</a:t>
            </a:r>
          </a:p>
          <a:p>
            <a:pPr>
              <a:buFont typeface="Arial" pitchFamily="34" charset="0"/>
              <a:buChar char="•"/>
            </a:pPr>
            <a:r>
              <a:rPr lang="en-AU" sz="1200" kern="1200" dirty="0" smtClean="0">
                <a:solidFill>
                  <a:schemeClr val="tx1"/>
                </a:solidFill>
                <a:ea typeface="+mn-ea"/>
                <a:cs typeface="+mn-cs"/>
              </a:rPr>
              <a:t> Address issues and/or complaints raised by:</a:t>
            </a:r>
          </a:p>
          <a:p>
            <a:pPr lvl="1">
              <a:buFont typeface="Arial" pitchFamily="34" charset="0"/>
              <a:buChar char="•"/>
            </a:pPr>
            <a:r>
              <a:rPr lang="en-AU" sz="1200" kern="1200" dirty="0" smtClean="0">
                <a:solidFill>
                  <a:schemeClr val="tx1"/>
                </a:solidFill>
                <a:ea typeface="+mn-ea"/>
                <a:cs typeface="+mn-cs"/>
              </a:rPr>
              <a:t> The VIP or their managers/team</a:t>
            </a:r>
          </a:p>
          <a:p>
            <a:pPr lvl="1">
              <a:buFont typeface="Arial" pitchFamily="34" charset="0"/>
              <a:buChar char="•"/>
            </a:pPr>
            <a:r>
              <a:rPr lang="en-AU" sz="1200" kern="1200" dirty="0" smtClean="0">
                <a:solidFill>
                  <a:schemeClr val="tx1"/>
                </a:solidFill>
                <a:ea typeface="+mn-ea"/>
                <a:cs typeface="+mn-cs"/>
              </a:rPr>
              <a:t> Staff who worked on the visit</a:t>
            </a:r>
          </a:p>
          <a:p>
            <a:pPr lvl="1">
              <a:buFont typeface="Arial" pitchFamily="34" charset="0"/>
              <a:buChar char="•"/>
            </a:pPr>
            <a:r>
              <a:rPr lang="en-AU" sz="1200" kern="1200" dirty="0" smtClean="0">
                <a:solidFill>
                  <a:schemeClr val="tx1"/>
                </a:solidFill>
                <a:ea typeface="+mn-ea"/>
                <a:cs typeface="+mn-cs"/>
              </a:rPr>
              <a:t> Other stakeholders</a:t>
            </a:r>
          </a:p>
          <a:p>
            <a:pPr>
              <a:buFont typeface="Arial" pitchFamily="34" charset="0"/>
              <a:buChar char="•"/>
            </a:pPr>
            <a:r>
              <a:rPr lang="en-AU" sz="1200" kern="1200" dirty="0" smtClean="0">
                <a:solidFill>
                  <a:schemeClr val="tx1"/>
                </a:solidFill>
                <a:ea typeface="+mn-ea"/>
                <a:cs typeface="+mn-cs"/>
              </a:rPr>
              <a:t> Assist external stakeholders with their evaluation of the visit.</a:t>
            </a:r>
            <a:r>
              <a:rPr lang="en-AU" sz="1200" kern="1200" baseline="0" dirty="0" smtClean="0">
                <a:solidFill>
                  <a:schemeClr val="tx1"/>
                </a:solidFill>
                <a:ea typeface="+mn-ea"/>
                <a:cs typeface="+mn-cs"/>
              </a:rPr>
              <a:t> G</a:t>
            </a:r>
            <a:r>
              <a:rPr lang="en-AU" sz="1200" kern="1200" dirty="0" smtClean="0">
                <a:solidFill>
                  <a:schemeClr val="tx1"/>
                </a:solidFill>
                <a:ea typeface="+mn-ea"/>
                <a:cs typeface="+mn-cs"/>
              </a:rPr>
              <a:t>overnment agencies/embassies and the police will commonly undertake their own de-briefing so:</a:t>
            </a:r>
          </a:p>
          <a:p>
            <a:pPr lvl="1">
              <a:buFont typeface="Arial" pitchFamily="34" charset="0"/>
              <a:buChar char="•"/>
            </a:pPr>
            <a:r>
              <a:rPr lang="en-AU" sz="1200" kern="1200" dirty="0" smtClean="0">
                <a:solidFill>
                  <a:schemeClr val="tx1"/>
                </a:solidFill>
                <a:ea typeface="+mn-ea"/>
                <a:cs typeface="+mn-cs"/>
              </a:rPr>
              <a:t> They will be expecting to be asked to be part of your debriefing</a:t>
            </a:r>
          </a:p>
          <a:p>
            <a:pPr lvl="1">
              <a:buFont typeface="Arial" pitchFamily="34" charset="0"/>
              <a:buChar char="•"/>
            </a:pPr>
            <a:r>
              <a:rPr lang="en-AU" sz="1200" kern="1200" dirty="0" smtClean="0">
                <a:solidFill>
                  <a:schemeClr val="tx1"/>
                </a:solidFill>
                <a:ea typeface="+mn-ea"/>
                <a:cs typeface="+mn-cs"/>
              </a:rPr>
              <a:t> They will want you to participate in their debriefing</a:t>
            </a:r>
          </a:p>
          <a:p>
            <a:pPr>
              <a:buFont typeface="Arial" pitchFamily="34" charset="0"/>
              <a:buChar char="•"/>
            </a:pPr>
            <a:r>
              <a:rPr lang="en-AU" sz="1200" kern="1200" dirty="0" smtClean="0">
                <a:solidFill>
                  <a:schemeClr val="tx1"/>
                </a:solidFill>
                <a:ea typeface="+mn-ea"/>
                <a:cs typeface="+mn-cs"/>
              </a:rPr>
              <a:t> Serve as the basis for information gathering and sharing so others can benefit from what occurred as part of the visit</a:t>
            </a:r>
          </a:p>
          <a:p>
            <a:pPr>
              <a:buFont typeface="Arial" pitchFamily="34" charset="0"/>
              <a:buChar char="•"/>
            </a:pPr>
            <a:r>
              <a:rPr lang="en-AU" sz="1200" kern="1200" dirty="0" smtClean="0">
                <a:solidFill>
                  <a:schemeClr val="tx1"/>
                </a:solidFill>
                <a:ea typeface="+mn-ea"/>
                <a:cs typeface="+mn-cs"/>
              </a:rPr>
              <a:t> Thank staff and other participants for the role they played in the visit and pass on any compliments and congratulations received from the VIP in order to:</a:t>
            </a:r>
          </a:p>
          <a:p>
            <a:pPr lvl="1">
              <a:buFont typeface="Arial" pitchFamily="34" charset="0"/>
              <a:buChar char="•"/>
            </a:pPr>
            <a:r>
              <a:rPr lang="en-AU" sz="1200" kern="1200" dirty="0" smtClean="0">
                <a:solidFill>
                  <a:schemeClr val="tx1"/>
                </a:solidFill>
                <a:ea typeface="+mn-ea"/>
                <a:cs typeface="+mn-cs"/>
              </a:rPr>
              <a:t> Acknowledge the work they did</a:t>
            </a:r>
          </a:p>
          <a:p>
            <a:pPr lvl="1">
              <a:buFont typeface="Arial" pitchFamily="34" charset="0"/>
              <a:buChar char="•"/>
            </a:pPr>
            <a:r>
              <a:rPr lang="en-AU" sz="1200" kern="1200" dirty="0" smtClean="0">
                <a:solidFill>
                  <a:schemeClr val="tx1"/>
                </a:solidFill>
                <a:ea typeface="+mn-ea"/>
                <a:cs typeface="+mn-cs"/>
              </a:rPr>
              <a:t> Reinforce positive actions and attitudes.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96436795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keys to debriefings:</a:t>
            </a:r>
          </a:p>
          <a:p>
            <a:pPr>
              <a:buFont typeface="Arial" pitchFamily="34" charset="0"/>
              <a:buChar char="•"/>
            </a:pPr>
            <a:r>
              <a:rPr lang="en-AU" sz="1200" kern="1200" dirty="0" smtClean="0">
                <a:solidFill>
                  <a:schemeClr val="tx1"/>
                </a:solidFill>
                <a:ea typeface="+mn-ea"/>
                <a:cs typeface="+mn-cs"/>
              </a:rPr>
              <a:t> Schedule the debriefing session/s.</a:t>
            </a:r>
            <a:r>
              <a:rPr lang="en-AU" sz="1200" kern="1200" baseline="0" dirty="0" smtClean="0">
                <a:solidFill>
                  <a:schemeClr val="tx1"/>
                </a:solidFill>
                <a:ea typeface="+mn-ea"/>
                <a:cs typeface="+mn-cs"/>
              </a:rPr>
              <a:t> D</a:t>
            </a:r>
            <a:r>
              <a:rPr lang="en-AU" sz="1200" kern="1200" dirty="0" smtClean="0">
                <a:solidFill>
                  <a:schemeClr val="tx1"/>
                </a:solidFill>
                <a:ea typeface="+mn-ea"/>
                <a:cs typeface="+mn-cs"/>
              </a:rPr>
              <a:t>o not leave de-briefings to chance as they may not occur.</a:t>
            </a:r>
          </a:p>
          <a:p>
            <a:pPr lvl="1">
              <a:buFont typeface="Arial" pitchFamily="34" charset="0"/>
              <a:buChar char="•"/>
            </a:pPr>
            <a:r>
              <a:rPr lang="en-AU" sz="1200" kern="1200" dirty="0" smtClean="0">
                <a:solidFill>
                  <a:schemeClr val="tx1"/>
                </a:solidFill>
                <a:ea typeface="+mn-ea"/>
                <a:cs typeface="+mn-cs"/>
              </a:rPr>
              <a:t> Scheduling these sessions also:</a:t>
            </a:r>
          </a:p>
          <a:p>
            <a:pPr lvl="2">
              <a:buFont typeface="Arial" pitchFamily="34" charset="0"/>
              <a:buChar char="•"/>
            </a:pPr>
            <a:r>
              <a:rPr lang="en-AU" sz="1200" kern="1200" dirty="0" smtClean="0">
                <a:solidFill>
                  <a:schemeClr val="tx1"/>
                </a:solidFill>
                <a:ea typeface="+mn-ea"/>
                <a:cs typeface="+mn-cs"/>
              </a:rPr>
              <a:t> Allows for suitable planning to take place</a:t>
            </a:r>
          </a:p>
          <a:p>
            <a:pPr lvl="2">
              <a:buFont typeface="Arial" pitchFamily="34" charset="0"/>
              <a:buChar char="•"/>
            </a:pPr>
            <a:r>
              <a:rPr lang="en-AU" sz="1200" kern="1200" dirty="0" smtClean="0">
                <a:solidFill>
                  <a:schemeClr val="tx1"/>
                </a:solidFill>
                <a:ea typeface="+mn-ea"/>
                <a:cs typeface="+mn-cs"/>
              </a:rPr>
              <a:t> Optimises attendance</a:t>
            </a:r>
          </a:p>
          <a:p>
            <a:pPr>
              <a:buFont typeface="Arial" pitchFamily="34" charset="0"/>
              <a:buChar char="•"/>
            </a:pPr>
            <a:r>
              <a:rPr lang="en-AU" sz="1200" kern="1200" dirty="0" smtClean="0">
                <a:solidFill>
                  <a:schemeClr val="tx1"/>
                </a:solidFill>
                <a:ea typeface="+mn-ea"/>
                <a:cs typeface="+mn-cs"/>
              </a:rPr>
              <a:t> Hold debriefings shortly after the visit has concluded.</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may need to time to undertake other associated VIP visit activities (cleanup, returning venue to normal operation, account finalisation, internal reporting, media liaison) but standard practice is to have the debriefing sessions finalised within seven days of the end of the visit (while details are still fresh in the minds of those involved).</a:t>
            </a:r>
          </a:p>
          <a:p>
            <a:pPr>
              <a:buFont typeface="Arial" pitchFamily="34" charset="0"/>
              <a:buChar char="•"/>
            </a:pPr>
            <a:r>
              <a:rPr lang="en-AU" sz="1200" kern="1200" dirty="0" smtClean="0">
                <a:solidFill>
                  <a:schemeClr val="tx1"/>
                </a:solidFill>
                <a:ea typeface="+mn-ea"/>
                <a:cs typeface="+mn-cs"/>
              </a:rPr>
              <a:t> Consider holding daily debriefing sessions such as at 10:00PM daily to act as building blocks for the final debriefing. These sessions will:</a:t>
            </a:r>
          </a:p>
          <a:p>
            <a:pPr lvl="1">
              <a:buFont typeface="Arial" pitchFamily="34" charset="0"/>
              <a:buChar char="•"/>
            </a:pPr>
            <a:r>
              <a:rPr lang="en-AU" sz="1200" kern="1200" dirty="0" smtClean="0">
                <a:solidFill>
                  <a:schemeClr val="tx1"/>
                </a:solidFill>
                <a:ea typeface="+mn-ea"/>
                <a:cs typeface="+mn-cs"/>
              </a:rPr>
              <a:t> Record issues for later discussion at the final debriefing session</a:t>
            </a:r>
          </a:p>
          <a:p>
            <a:pPr lvl="1">
              <a:buFont typeface="Arial" pitchFamily="34" charset="0"/>
              <a:buChar char="•"/>
            </a:pPr>
            <a:r>
              <a:rPr lang="en-AU" sz="1200" kern="1200" dirty="0" smtClean="0">
                <a:solidFill>
                  <a:schemeClr val="tx1"/>
                </a:solidFill>
                <a:ea typeface="+mn-ea"/>
                <a:cs typeface="+mn-cs"/>
              </a:rPr>
              <a:t> Address issues arising</a:t>
            </a:r>
          </a:p>
          <a:p>
            <a:pPr lvl="1">
              <a:buFont typeface="Arial" pitchFamily="34" charset="0"/>
              <a:buChar char="•"/>
            </a:pPr>
            <a:r>
              <a:rPr lang="en-AU" sz="1200" kern="1200" dirty="0" smtClean="0">
                <a:solidFill>
                  <a:schemeClr val="tx1"/>
                </a:solidFill>
                <a:ea typeface="+mn-ea"/>
                <a:cs typeface="+mn-cs"/>
              </a:rPr>
              <a:t> Make changes to prepared schedules and running sheets.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63092139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providing keys to debriefings:</a:t>
            </a:r>
          </a:p>
          <a:p>
            <a:pPr>
              <a:buFont typeface="Arial" pitchFamily="34" charset="0"/>
              <a:buChar char="•"/>
            </a:pPr>
            <a:r>
              <a:rPr lang="en-AU" sz="1200" kern="1200" dirty="0" smtClean="0">
                <a:solidFill>
                  <a:schemeClr val="tx1"/>
                </a:solidFill>
                <a:ea typeface="+mn-ea"/>
                <a:cs typeface="+mn-cs"/>
              </a:rPr>
              <a:t> Face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face meetings are the best debriefing option but attendance at these sessions is never possible for all stakeholders. </a:t>
            </a:r>
          </a:p>
          <a:p>
            <a:pPr lvl="1">
              <a:buFont typeface="Arial" pitchFamily="34" charset="0"/>
              <a:buChar char="•"/>
            </a:pPr>
            <a:r>
              <a:rPr lang="en-AU" sz="1200" kern="1200" dirty="0" smtClean="0">
                <a:solidFill>
                  <a:schemeClr val="tx1"/>
                </a:solidFill>
                <a:ea typeface="+mn-ea"/>
                <a:cs typeface="+mn-cs"/>
              </a:rPr>
              <a:t> In many cases however some external stakeholders do not have the same interest or investment in de-briefings that you have.</a:t>
            </a:r>
          </a:p>
          <a:p>
            <a:pPr lvl="1">
              <a:buFont typeface="Arial" pitchFamily="34" charset="0"/>
              <a:buChar char="•"/>
            </a:pPr>
            <a:r>
              <a:rPr lang="en-AU" sz="1200" kern="1200" dirty="0" smtClean="0">
                <a:solidFill>
                  <a:schemeClr val="tx1"/>
                </a:solidFill>
                <a:ea typeface="+mn-ea"/>
                <a:cs typeface="+mn-cs"/>
              </a:rPr>
              <a:t> Where ‘important’ external stakeholders are unable or unwilling to attend face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face de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briefing sessions you must arrange an alternate de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briefing option which may involve:</a:t>
            </a:r>
          </a:p>
          <a:p>
            <a:pPr lvl="2">
              <a:buFont typeface="Arial" pitchFamily="34" charset="0"/>
              <a:buChar char="•"/>
            </a:pPr>
            <a:r>
              <a:rPr lang="en-AU" sz="1200" kern="1200" dirty="0" smtClean="0">
                <a:solidFill>
                  <a:schemeClr val="tx1"/>
                </a:solidFill>
                <a:ea typeface="+mn-ea"/>
                <a:cs typeface="+mn-cs"/>
              </a:rPr>
              <a:t> Brief one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on</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one meetings conducted at the stakeholder’s workplace/venue</a:t>
            </a:r>
          </a:p>
          <a:p>
            <a:pPr lvl="2">
              <a:buFont typeface="Arial" pitchFamily="34" charset="0"/>
              <a:buChar char="•"/>
            </a:pPr>
            <a:r>
              <a:rPr lang="en-AU" sz="1200" kern="1200" dirty="0" smtClean="0">
                <a:solidFill>
                  <a:schemeClr val="tx1"/>
                </a:solidFill>
                <a:ea typeface="+mn-ea"/>
                <a:cs typeface="+mn-cs"/>
              </a:rPr>
              <a:t> Telephone interview</a:t>
            </a:r>
          </a:p>
          <a:p>
            <a:pPr lvl="2">
              <a:buFont typeface="Arial" pitchFamily="34" charset="0"/>
              <a:buChar char="•"/>
            </a:pPr>
            <a:r>
              <a:rPr lang="en-AU" sz="1200" kern="1200" dirty="0" smtClean="0">
                <a:solidFill>
                  <a:schemeClr val="tx1"/>
                </a:solidFill>
                <a:ea typeface="+mn-ea"/>
                <a:cs typeface="+mn-cs"/>
              </a:rPr>
              <a:t> Use of a paper-based questionnaire which may be mailed, emailed or faxed to respondents</a:t>
            </a:r>
          </a:p>
          <a:p>
            <a:pPr>
              <a:buFont typeface="Arial" pitchFamily="34" charset="0"/>
              <a:buChar char="•"/>
            </a:pPr>
            <a:r>
              <a:rPr lang="en-AU" sz="1200" kern="1200" dirty="0" smtClean="0">
                <a:solidFill>
                  <a:schemeClr val="tx1"/>
                </a:solidFill>
                <a:ea typeface="+mn-ea"/>
                <a:cs typeface="+mn-cs"/>
              </a:rPr>
              <a:t> Notify ‘required participants’ of the de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briefing and:</a:t>
            </a:r>
          </a:p>
          <a:p>
            <a:pPr lvl="1">
              <a:buFont typeface="Arial" pitchFamily="34" charset="0"/>
              <a:buChar char="•"/>
            </a:pPr>
            <a:r>
              <a:rPr lang="en-AU" sz="1200" kern="1200" dirty="0" smtClean="0">
                <a:solidFill>
                  <a:schemeClr val="tx1"/>
                </a:solidFill>
                <a:ea typeface="+mn-ea"/>
                <a:cs typeface="+mn-cs"/>
              </a:rPr>
              <a:t> Urge them to diarise the planned date and time</a:t>
            </a:r>
          </a:p>
          <a:p>
            <a:pPr lvl="1">
              <a:buFont typeface="Arial" pitchFamily="34" charset="0"/>
              <a:buChar char="•"/>
            </a:pPr>
            <a:r>
              <a:rPr lang="en-AU" sz="1200" kern="1200" dirty="0" smtClean="0">
                <a:solidFill>
                  <a:schemeClr val="tx1"/>
                </a:solidFill>
                <a:ea typeface="+mn-ea"/>
                <a:cs typeface="+mn-cs"/>
              </a:rPr>
              <a:t> Explain why their attendance is important</a:t>
            </a:r>
          </a:p>
          <a:p>
            <a:pPr lvl="1">
              <a:buFont typeface="Arial" pitchFamily="34" charset="0"/>
              <a:buChar char="•"/>
            </a:pPr>
            <a:r>
              <a:rPr lang="en-AU" sz="1200" kern="1200" dirty="0" smtClean="0">
                <a:solidFill>
                  <a:schemeClr val="tx1"/>
                </a:solidFill>
                <a:ea typeface="+mn-ea"/>
                <a:cs typeface="+mn-cs"/>
              </a:rPr>
              <a:t> Encourage them to attend</a:t>
            </a:r>
          </a:p>
          <a:p>
            <a:pPr>
              <a:buFont typeface="Arial" pitchFamily="34" charset="0"/>
              <a:buChar char="•"/>
            </a:pPr>
            <a:r>
              <a:rPr lang="en-AU" sz="1200" kern="1200" dirty="0" smtClean="0">
                <a:solidFill>
                  <a:schemeClr val="tx1"/>
                </a:solidFill>
                <a:ea typeface="+mn-ea"/>
                <a:cs typeface="+mn-cs"/>
              </a:rPr>
              <a:t> Allocate sufficient time for the sessions.</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cannot complete a worthwhile debriefing in five minutes. Determinants of length of debriefing include:</a:t>
            </a:r>
          </a:p>
          <a:p>
            <a:pPr lvl="1">
              <a:buFont typeface="Arial" pitchFamily="34" charset="0"/>
              <a:buChar char="•"/>
            </a:pPr>
            <a:r>
              <a:rPr lang="en-AU" sz="1200" kern="1200" dirty="0" smtClean="0">
                <a:solidFill>
                  <a:schemeClr val="tx1"/>
                </a:solidFill>
                <a:ea typeface="+mn-ea"/>
                <a:cs typeface="+mn-cs"/>
              </a:rPr>
              <a:t> Name/type of VIP</a:t>
            </a:r>
          </a:p>
          <a:p>
            <a:pPr lvl="1">
              <a:buFont typeface="Arial" pitchFamily="34" charset="0"/>
              <a:buChar char="•"/>
            </a:pPr>
            <a:r>
              <a:rPr lang="en-AU" sz="1200" kern="1200" dirty="0" smtClean="0">
                <a:solidFill>
                  <a:schemeClr val="tx1"/>
                </a:solidFill>
                <a:ea typeface="+mn-ea"/>
                <a:cs typeface="+mn-cs"/>
              </a:rPr>
              <a:t> The length of the visit</a:t>
            </a:r>
          </a:p>
          <a:p>
            <a:pPr lvl="1">
              <a:buFont typeface="Arial" pitchFamily="34" charset="0"/>
              <a:buChar char="•"/>
            </a:pPr>
            <a:r>
              <a:rPr lang="en-AU" sz="1200" kern="1200" dirty="0" smtClean="0">
                <a:solidFill>
                  <a:schemeClr val="tx1"/>
                </a:solidFill>
                <a:ea typeface="+mn-ea"/>
                <a:cs typeface="+mn-cs"/>
              </a:rPr>
              <a:t> Complexity of the visit in terms of products and services provided by the venue</a:t>
            </a:r>
          </a:p>
          <a:p>
            <a:pPr lvl="1">
              <a:buFont typeface="Arial" pitchFamily="34" charset="0"/>
              <a:buChar char="•"/>
            </a:pPr>
            <a:r>
              <a:rPr lang="en-AU" sz="1200" kern="1200" dirty="0" smtClean="0">
                <a:solidFill>
                  <a:schemeClr val="tx1"/>
                </a:solidFill>
                <a:ea typeface="+mn-ea"/>
                <a:cs typeface="+mn-cs"/>
              </a:rPr>
              <a:t> Revenue generated</a:t>
            </a:r>
          </a:p>
          <a:p>
            <a:pPr lvl="1">
              <a:buFont typeface="Arial" pitchFamily="34" charset="0"/>
              <a:buChar char="•"/>
            </a:pPr>
            <a:r>
              <a:rPr lang="en-AU" sz="1200" kern="1200" dirty="0" smtClean="0">
                <a:solidFill>
                  <a:schemeClr val="tx1"/>
                </a:solidFill>
                <a:ea typeface="+mn-ea"/>
                <a:cs typeface="+mn-cs"/>
              </a:rPr>
              <a:t> Number of internal and external stakeholders involved.</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348042970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keys to debriefings:</a:t>
            </a:r>
          </a:p>
          <a:p>
            <a:pPr>
              <a:buFont typeface="Arial" pitchFamily="34" charset="0"/>
              <a:buChar char="•"/>
            </a:pPr>
            <a:r>
              <a:rPr lang="en-AU" sz="1200" kern="1200" dirty="0" smtClean="0">
                <a:solidFill>
                  <a:schemeClr val="tx1"/>
                </a:solidFill>
                <a:ea typeface="+mn-ea"/>
                <a:cs typeface="+mn-cs"/>
              </a:rPr>
              <a:t> Include internal and external stakeholders as relevant to the individual VIP visit (see previous notes)</a:t>
            </a:r>
          </a:p>
          <a:p>
            <a:pPr>
              <a:buFont typeface="Arial" pitchFamily="34" charset="0"/>
              <a:buChar char="•"/>
            </a:pPr>
            <a:r>
              <a:rPr lang="en-AU" sz="1200" kern="1200" dirty="0" smtClean="0">
                <a:solidFill>
                  <a:schemeClr val="tx1"/>
                </a:solidFill>
                <a:ea typeface="+mn-ea"/>
                <a:cs typeface="+mn-cs"/>
              </a:rPr>
              <a:t> Prepare and circulate in advance an agenda for the session identifying the topics, issues and areas to be addressed. Make sure you address all aspects of the visit including the planning and implementation phases. Common topics for consideration include:</a:t>
            </a:r>
          </a:p>
          <a:p>
            <a:pPr lvl="1">
              <a:buFont typeface="Arial" pitchFamily="34" charset="0"/>
              <a:buChar char="•"/>
            </a:pPr>
            <a:r>
              <a:rPr lang="en-AU" sz="1200" kern="1200" dirty="0" smtClean="0">
                <a:solidFill>
                  <a:schemeClr val="tx1"/>
                </a:solidFill>
                <a:ea typeface="+mn-ea"/>
                <a:cs typeface="+mn-cs"/>
              </a:rPr>
              <a:t> Communications</a:t>
            </a:r>
          </a:p>
          <a:p>
            <a:pPr lvl="1">
              <a:buFont typeface="Arial" pitchFamily="34" charset="0"/>
              <a:buChar char="•"/>
            </a:pPr>
            <a:r>
              <a:rPr lang="en-AU" sz="1200" kern="1200" dirty="0" smtClean="0">
                <a:solidFill>
                  <a:schemeClr val="tx1"/>
                </a:solidFill>
                <a:ea typeface="+mn-ea"/>
                <a:cs typeface="+mn-cs"/>
              </a:rPr>
              <a:t> Decision making</a:t>
            </a:r>
          </a:p>
          <a:p>
            <a:pPr lvl="1">
              <a:buFont typeface="Arial" pitchFamily="34" charset="0"/>
              <a:buChar char="•"/>
            </a:pPr>
            <a:r>
              <a:rPr lang="en-AU" sz="1200" kern="1200" dirty="0" smtClean="0">
                <a:solidFill>
                  <a:schemeClr val="tx1"/>
                </a:solidFill>
                <a:ea typeface="+mn-ea"/>
                <a:cs typeface="+mn-cs"/>
              </a:rPr>
              <a:t> Compliance</a:t>
            </a:r>
          </a:p>
          <a:p>
            <a:pPr lvl="1">
              <a:buFont typeface="Arial" pitchFamily="34" charset="0"/>
              <a:buChar char="•"/>
            </a:pPr>
            <a:r>
              <a:rPr lang="en-AU" sz="1200" kern="1200" dirty="0" smtClean="0">
                <a:solidFill>
                  <a:schemeClr val="tx1"/>
                </a:solidFill>
                <a:ea typeface="+mn-ea"/>
                <a:cs typeface="+mn-cs"/>
              </a:rPr>
              <a:t> Liaison</a:t>
            </a:r>
          </a:p>
          <a:p>
            <a:pPr lvl="1">
              <a:buFont typeface="Arial" pitchFamily="34" charset="0"/>
              <a:buChar char="•"/>
            </a:pPr>
            <a:r>
              <a:rPr lang="en-AU" sz="1200" kern="1200" dirty="0" smtClean="0">
                <a:solidFill>
                  <a:schemeClr val="tx1"/>
                </a:solidFill>
                <a:ea typeface="+mn-ea"/>
                <a:cs typeface="+mn-cs"/>
              </a:rPr>
              <a:t> Timing issues</a:t>
            </a:r>
          </a:p>
          <a:p>
            <a:pPr lvl="1">
              <a:buFont typeface="Arial" pitchFamily="34" charset="0"/>
              <a:buChar char="•"/>
            </a:pPr>
            <a:r>
              <a:rPr lang="en-AU" sz="1200" kern="1200" dirty="0" smtClean="0">
                <a:solidFill>
                  <a:schemeClr val="tx1"/>
                </a:solidFill>
                <a:ea typeface="+mn-ea"/>
                <a:cs typeface="+mn-cs"/>
              </a:rPr>
              <a:t> Teamwork</a:t>
            </a:r>
          </a:p>
          <a:p>
            <a:pPr lvl="1">
              <a:buFont typeface="Arial" pitchFamily="34" charset="0"/>
              <a:buChar char="•"/>
            </a:pPr>
            <a:r>
              <a:rPr lang="en-AU" sz="1200" kern="1200" dirty="0" smtClean="0">
                <a:solidFill>
                  <a:schemeClr val="tx1"/>
                </a:solidFill>
                <a:ea typeface="+mn-ea"/>
                <a:cs typeface="+mn-cs"/>
              </a:rPr>
              <a:t> Products and services</a:t>
            </a:r>
          </a:p>
          <a:p>
            <a:pPr>
              <a:buFont typeface="Arial" pitchFamily="34" charset="0"/>
              <a:buChar char="•"/>
            </a:pPr>
            <a:r>
              <a:rPr lang="en-AU" sz="1200" kern="1200" dirty="0" smtClean="0">
                <a:solidFill>
                  <a:schemeClr val="tx1"/>
                </a:solidFill>
                <a:ea typeface="+mn-ea"/>
                <a:cs typeface="+mn-cs"/>
              </a:rPr>
              <a:t> Record the debriefing session by, for example, taking minutes, or taking audio and/visual recordings.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334808323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providing keys to de-briefings:</a:t>
            </a:r>
          </a:p>
          <a:p>
            <a:pPr>
              <a:buFont typeface="Arial" pitchFamily="34" charset="0"/>
              <a:buChar char="•"/>
            </a:pPr>
            <a:r>
              <a:rPr lang="en-AU" sz="1200" kern="1200" dirty="0" smtClean="0">
                <a:solidFill>
                  <a:schemeClr val="tx1"/>
                </a:solidFill>
                <a:ea typeface="+mn-ea"/>
                <a:cs typeface="+mn-cs"/>
              </a:rPr>
              <a:t> Ensure discussions and considerations are, to the best extent possible, ‘evidence-based’ as opposed to being based on suppositions, half-truths and assumptions</a:t>
            </a:r>
          </a:p>
          <a:p>
            <a:pPr>
              <a:buFont typeface="Arial" pitchFamily="34" charset="0"/>
              <a:buChar char="•"/>
            </a:pPr>
            <a:r>
              <a:rPr lang="en-AU" sz="1200" kern="1200" dirty="0" smtClean="0">
                <a:solidFill>
                  <a:schemeClr val="tx1"/>
                </a:solidFill>
                <a:ea typeface="+mn-ea"/>
                <a:cs typeface="+mn-cs"/>
              </a:rPr>
              <a:t> Take charge of the debriefing.</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must provide leadership, direction and management for each session to prevent the sessions becoming disorganised, unfocussed and ineffective.</a:t>
            </a:r>
          </a:p>
          <a:p>
            <a:pPr lvl="1">
              <a:buFont typeface="Arial" pitchFamily="34" charset="0"/>
              <a:buChar char="•"/>
            </a:pPr>
            <a:r>
              <a:rPr lang="en-AU" sz="1200" kern="1200" dirty="0" smtClean="0">
                <a:solidFill>
                  <a:schemeClr val="tx1"/>
                </a:solidFill>
                <a:ea typeface="+mn-ea"/>
                <a:cs typeface="+mn-cs"/>
              </a:rPr>
              <a:t> It is vital to explain/reinforce the reasons for the session and what the focus and expected outcomes are.</a:t>
            </a:r>
          </a:p>
          <a:p>
            <a:pPr>
              <a:buFont typeface="Arial" pitchFamily="34" charset="0"/>
              <a:buChar char="•"/>
            </a:pPr>
            <a:r>
              <a:rPr lang="en-AU" sz="1200" kern="1200" dirty="0" smtClean="0">
                <a:solidFill>
                  <a:schemeClr val="tx1"/>
                </a:solidFill>
                <a:ea typeface="+mn-ea"/>
                <a:cs typeface="+mn-cs"/>
              </a:rPr>
              <a:t> Ask lots of questions.</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must actively solicit input rather than expect or wait for contributions to be forthcoming: see below </a:t>
            </a:r>
          </a:p>
          <a:p>
            <a:pPr>
              <a:buFont typeface="Arial" pitchFamily="34" charset="0"/>
              <a:buChar char="•"/>
            </a:pPr>
            <a:r>
              <a:rPr lang="en-AU" sz="1200" kern="1200" dirty="0" smtClean="0">
                <a:solidFill>
                  <a:schemeClr val="tx1"/>
                </a:solidFill>
                <a:ea typeface="+mn-ea"/>
                <a:cs typeface="+mn-cs"/>
              </a:rPr>
              <a:t>When anyone provides legitimate criticism or comment:</a:t>
            </a:r>
          </a:p>
          <a:p>
            <a:pPr lvl="1">
              <a:buFont typeface="Arial" pitchFamily="34" charset="0"/>
              <a:buChar char="•"/>
            </a:pPr>
            <a:r>
              <a:rPr lang="en-AU" sz="1200" kern="1200" dirty="0" smtClean="0">
                <a:solidFill>
                  <a:schemeClr val="tx1"/>
                </a:solidFill>
                <a:ea typeface="+mn-ea"/>
                <a:cs typeface="+mn-cs"/>
              </a:rPr>
              <a:t> Thank them</a:t>
            </a:r>
          </a:p>
          <a:p>
            <a:pPr lvl="1">
              <a:buFont typeface="Arial" pitchFamily="34" charset="0"/>
              <a:buChar char="•"/>
            </a:pPr>
            <a:r>
              <a:rPr lang="en-AU" sz="1200" kern="1200" dirty="0" smtClean="0">
                <a:solidFill>
                  <a:schemeClr val="tx1"/>
                </a:solidFill>
                <a:ea typeface="+mn-ea"/>
                <a:cs typeface="+mn-cs"/>
              </a:rPr>
              <a:t> Ask them how the situation:</a:t>
            </a:r>
          </a:p>
          <a:p>
            <a:pPr lvl="2">
              <a:buFont typeface="Arial" pitchFamily="34" charset="0"/>
              <a:buChar char="•"/>
            </a:pPr>
            <a:r>
              <a:rPr lang="en-AU" sz="1200" kern="1200" dirty="0" smtClean="0">
                <a:solidFill>
                  <a:schemeClr val="tx1"/>
                </a:solidFill>
                <a:ea typeface="+mn-ea"/>
                <a:cs typeface="+mn-cs"/>
              </a:rPr>
              <a:t> Could have been avoided</a:t>
            </a:r>
          </a:p>
          <a:p>
            <a:pPr lvl="2">
              <a:buFont typeface="Arial" pitchFamily="34" charset="0"/>
              <a:buChar char="•"/>
            </a:pPr>
            <a:r>
              <a:rPr lang="en-AU" sz="1200" kern="1200" dirty="0" smtClean="0">
                <a:solidFill>
                  <a:schemeClr val="tx1"/>
                </a:solidFill>
                <a:ea typeface="+mn-ea"/>
                <a:cs typeface="+mn-cs"/>
              </a:rPr>
              <a:t> Can be avoided next time.</a:t>
            </a:r>
          </a:p>
          <a:p>
            <a:pPr>
              <a:buFont typeface="Arial" pitchFamily="34" charset="0"/>
              <a:buNone/>
            </a:pPr>
            <a:endParaRPr lang="en-AU" noProof="0" dirty="0" smtClean="0"/>
          </a:p>
          <a:p>
            <a:pPr>
              <a:buFont typeface="Arial" pitchFamily="34" charset="0"/>
              <a:buNone/>
            </a:pPr>
            <a:r>
              <a:rPr lang="en-AU" b="1" noProof="0" dirty="0" smtClean="0"/>
              <a:t>Class Activity – Question and Answers</a:t>
            </a:r>
          </a:p>
          <a:p>
            <a:pPr>
              <a:buFont typeface="Arial" pitchFamily="34" charset="0"/>
              <a:buNone/>
            </a:pPr>
            <a:r>
              <a:rPr lang="en-AU" b="0" noProof="0" dirty="0" smtClean="0"/>
              <a:t>Trainer asks students for examples of questions which could be asked as part of a de-briefing session after a VIP visit.</a:t>
            </a:r>
          </a:p>
          <a:p>
            <a:pPr>
              <a:buFont typeface="Arial" pitchFamily="34" charset="0"/>
              <a:buNone/>
            </a:pPr>
            <a:r>
              <a:rPr lang="en-AU" b="1" i="1" noProof="0" dirty="0" smtClean="0"/>
              <a:t>Possible answers</a:t>
            </a:r>
          </a:p>
          <a:p>
            <a:pPr>
              <a:buFont typeface="Arial" pitchFamily="34" charset="0"/>
              <a:buChar char="•"/>
            </a:pPr>
            <a:r>
              <a:rPr lang="en-AU" sz="1200" kern="1200" dirty="0" smtClean="0">
                <a:solidFill>
                  <a:schemeClr val="tx1"/>
                </a:solidFill>
                <a:ea typeface="+mn-ea"/>
                <a:cs typeface="+mn-cs"/>
              </a:rPr>
              <a:t> What took place – as identified in schedules, planning and through running sheets</a:t>
            </a:r>
          </a:p>
          <a:p>
            <a:pPr lvl="0">
              <a:buFont typeface="Arial" pitchFamily="34" charset="0"/>
              <a:buChar char="•"/>
            </a:pPr>
            <a:r>
              <a:rPr lang="en-AU" sz="1200" kern="1200" dirty="0" smtClean="0">
                <a:solidFill>
                  <a:schemeClr val="tx1"/>
                </a:solidFill>
                <a:ea typeface="+mn-ea"/>
                <a:cs typeface="+mn-cs"/>
              </a:rPr>
              <a:t> Things which went well</a:t>
            </a:r>
          </a:p>
          <a:p>
            <a:pPr lvl="0">
              <a:buFont typeface="Arial" pitchFamily="34" charset="0"/>
              <a:buChar char="•"/>
            </a:pPr>
            <a:r>
              <a:rPr lang="en-AU" sz="1200" kern="1200" dirty="0" smtClean="0">
                <a:solidFill>
                  <a:schemeClr val="tx1"/>
                </a:solidFill>
                <a:ea typeface="+mn-ea"/>
                <a:cs typeface="+mn-cs"/>
              </a:rPr>
              <a:t> Things which went poorly</a:t>
            </a:r>
          </a:p>
          <a:p>
            <a:pPr lvl="0">
              <a:buFont typeface="Arial" pitchFamily="34" charset="0"/>
              <a:buChar char="•"/>
            </a:pPr>
            <a:r>
              <a:rPr lang="en-AU" sz="1200" kern="1200" dirty="0" smtClean="0">
                <a:solidFill>
                  <a:schemeClr val="tx1"/>
                </a:solidFill>
                <a:ea typeface="+mn-ea"/>
                <a:cs typeface="+mn-cs"/>
              </a:rPr>
              <a:t> Things which need doing differently next time.</a:t>
            </a:r>
          </a:p>
          <a:p>
            <a:pPr>
              <a:buFont typeface="Arial" pitchFamily="34" charset="0"/>
              <a:buNone/>
            </a:pPr>
            <a:endParaRPr lang="en-AU" b="1" i="1"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372676593"/>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ea typeface="+mn-ea"/>
                <a:cs typeface="+mn-cs"/>
              </a:rPr>
              <a:t>a critical aspect of any evaluation of a VIP visit is to analyse all responses to breaches of VIP safety/security explaining analysis of responses to breaches should occur to:</a:t>
            </a:r>
          </a:p>
          <a:p>
            <a:pPr>
              <a:buFont typeface="Arial" pitchFamily="34" charset="0"/>
              <a:buChar char="•"/>
            </a:pPr>
            <a:r>
              <a:rPr lang="en-AU" sz="1200" kern="1200" dirty="0" smtClean="0">
                <a:solidFill>
                  <a:schemeClr val="tx1"/>
                </a:solidFill>
                <a:ea typeface="+mn-ea"/>
                <a:cs typeface="+mn-cs"/>
              </a:rPr>
              <a:t> Identify causal factors</a:t>
            </a:r>
          </a:p>
          <a:p>
            <a:pPr>
              <a:buFont typeface="Arial" pitchFamily="34" charset="0"/>
              <a:buChar char="•"/>
            </a:pPr>
            <a:r>
              <a:rPr lang="en-AU" sz="1200" kern="1200" dirty="0" smtClean="0">
                <a:solidFill>
                  <a:schemeClr val="tx1"/>
                </a:solidFill>
                <a:ea typeface="+mn-ea"/>
                <a:cs typeface="+mn-cs"/>
              </a:rPr>
              <a:t> Assess responses</a:t>
            </a:r>
          </a:p>
          <a:p>
            <a:pPr>
              <a:buFont typeface="Arial" pitchFamily="34" charset="0"/>
              <a:buChar char="•"/>
            </a:pPr>
            <a:r>
              <a:rPr lang="en-AU" sz="1200" kern="1200" dirty="0" smtClean="0">
                <a:solidFill>
                  <a:schemeClr val="tx1"/>
                </a:solidFill>
                <a:ea typeface="+mn-ea"/>
                <a:cs typeface="+mn-cs"/>
              </a:rPr>
              <a:t> Evaluate relevant planning</a:t>
            </a:r>
          </a:p>
          <a:p>
            <a:pPr>
              <a:buFont typeface="Arial" pitchFamily="34" charset="0"/>
              <a:buChar char="•"/>
            </a:pPr>
            <a:r>
              <a:rPr lang="en-AU" sz="1200" kern="1200" dirty="0" smtClean="0">
                <a:solidFill>
                  <a:schemeClr val="tx1"/>
                </a:solidFill>
                <a:ea typeface="+mn-ea"/>
                <a:cs typeface="+mn-cs"/>
              </a:rPr>
              <a:t> Prevent recurrence.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162960005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explaining need to analyse responses to breaches of safety/security as part of VIP visit evaluation process:</a:t>
            </a:r>
          </a:p>
          <a:p>
            <a:pPr>
              <a:buFont typeface="Arial" pitchFamily="34" charset="0"/>
              <a:buChar char="•"/>
            </a:pPr>
            <a:r>
              <a:rPr lang="en-AU" sz="1200" kern="1200" dirty="0" smtClean="0">
                <a:solidFill>
                  <a:schemeClr val="tx1"/>
                </a:solidFill>
                <a:ea typeface="+mn-ea"/>
                <a:cs typeface="+mn-cs"/>
              </a:rPr>
              <a:t> Improve future responses to similar breaches </a:t>
            </a:r>
          </a:p>
          <a:p>
            <a:pPr>
              <a:buFont typeface="Arial" pitchFamily="34" charset="0"/>
              <a:buChar char="•"/>
            </a:pPr>
            <a:r>
              <a:rPr lang="en-AU" sz="1200" kern="1200" dirty="0" smtClean="0">
                <a:solidFill>
                  <a:schemeClr val="tx1"/>
                </a:solidFill>
                <a:ea typeface="+mn-ea"/>
                <a:cs typeface="+mn-cs"/>
              </a:rPr>
              <a:t> Demonstrate due diligence</a:t>
            </a:r>
          </a:p>
          <a:p>
            <a:pPr>
              <a:buFont typeface="Arial" pitchFamily="34" charset="0"/>
              <a:buChar char="•"/>
            </a:pPr>
            <a:r>
              <a:rPr lang="en-AU" sz="1200" kern="1200" dirty="0" smtClean="0">
                <a:solidFill>
                  <a:schemeClr val="tx1"/>
                </a:solidFill>
                <a:ea typeface="+mn-ea"/>
                <a:cs typeface="+mn-cs"/>
              </a:rPr>
              <a:t> Discharge duty of care requirements for future VIP visits</a:t>
            </a:r>
          </a:p>
          <a:p>
            <a:pPr>
              <a:buFont typeface="Arial" pitchFamily="34" charset="0"/>
              <a:buChar char="•"/>
            </a:pPr>
            <a:r>
              <a:rPr lang="en-AU" sz="1200" kern="1200" dirty="0" smtClean="0">
                <a:solidFill>
                  <a:schemeClr val="tx1"/>
                </a:solidFill>
                <a:ea typeface="+mn-ea"/>
                <a:cs typeface="+mn-cs"/>
              </a:rPr>
              <a:t> Show external stakeholders your serious and professional attitude/orientation to safety and security and your desire to improve responses and prevent recurrence. </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111443983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 identifies analysis should address:</a:t>
            </a:r>
          </a:p>
          <a:p>
            <a:pPr>
              <a:buFont typeface="Arial" pitchFamily="34" charset="0"/>
              <a:buChar char="•"/>
            </a:pPr>
            <a:r>
              <a:rPr lang="en-AU" sz="1200" kern="1200" dirty="0" smtClean="0">
                <a:solidFill>
                  <a:schemeClr val="tx1"/>
                </a:solidFill>
                <a:ea typeface="+mn-ea"/>
                <a:cs typeface="+mn-cs"/>
              </a:rPr>
              <a:t> The planning stage such as:</a:t>
            </a:r>
          </a:p>
          <a:p>
            <a:pPr lvl="1">
              <a:buFont typeface="Arial" pitchFamily="34" charset="0"/>
              <a:buChar char="•"/>
            </a:pPr>
            <a:r>
              <a:rPr lang="en-AU" sz="1200" kern="1200" dirty="0" smtClean="0">
                <a:solidFill>
                  <a:schemeClr val="tx1"/>
                </a:solidFill>
                <a:ea typeface="+mn-ea"/>
                <a:cs typeface="+mn-cs"/>
              </a:rPr>
              <a:t> Risk/threat identification</a:t>
            </a:r>
          </a:p>
          <a:p>
            <a:pPr lvl="1">
              <a:buFont typeface="Arial" pitchFamily="34" charset="0"/>
              <a:buChar char="•"/>
            </a:pPr>
            <a:r>
              <a:rPr lang="en-AU" sz="1200" kern="1200" dirty="0" smtClean="0">
                <a:solidFill>
                  <a:schemeClr val="tx1"/>
                </a:solidFill>
                <a:ea typeface="+mn-ea"/>
                <a:cs typeface="+mn-cs"/>
              </a:rPr>
              <a:t> Risk/threat analysis</a:t>
            </a:r>
          </a:p>
          <a:p>
            <a:pPr lvl="1">
              <a:buFont typeface="Arial" pitchFamily="34" charset="0"/>
              <a:buChar char="•"/>
            </a:pPr>
            <a:r>
              <a:rPr lang="en-AU" sz="1200" kern="1200" dirty="0" smtClean="0">
                <a:solidFill>
                  <a:schemeClr val="tx1"/>
                </a:solidFill>
                <a:ea typeface="+mn-ea"/>
                <a:cs typeface="+mn-cs"/>
              </a:rPr>
              <a:t> Risk/threat control</a:t>
            </a:r>
          </a:p>
          <a:p>
            <a:pPr lvl="1">
              <a:buFont typeface="Arial" pitchFamily="34" charset="0"/>
              <a:buChar char="•"/>
            </a:pPr>
            <a:r>
              <a:rPr lang="en-AU" sz="1200" kern="1200" dirty="0" smtClean="0">
                <a:solidFill>
                  <a:schemeClr val="tx1"/>
                </a:solidFill>
                <a:ea typeface="+mn-ea"/>
                <a:cs typeface="+mn-cs"/>
              </a:rPr>
              <a:t> Safety plans which were formulated</a:t>
            </a:r>
          </a:p>
          <a:p>
            <a:pPr lvl="1">
              <a:buFont typeface="Arial" pitchFamily="34" charset="0"/>
              <a:buChar char="•"/>
            </a:pPr>
            <a:r>
              <a:rPr lang="en-AU" sz="1200" kern="1200" dirty="0" smtClean="0">
                <a:solidFill>
                  <a:schemeClr val="tx1"/>
                </a:solidFill>
                <a:ea typeface="+mn-ea"/>
                <a:cs typeface="+mn-cs"/>
              </a:rPr>
              <a:t> Resources and systems which were acquired/deployed</a:t>
            </a:r>
          </a:p>
          <a:p>
            <a:pPr>
              <a:buFont typeface="Arial" pitchFamily="34" charset="0"/>
              <a:buChar char="•"/>
            </a:pPr>
            <a:r>
              <a:rPr lang="en-AU" sz="1200" kern="1200" dirty="0" smtClean="0">
                <a:solidFill>
                  <a:schemeClr val="tx1"/>
                </a:solidFill>
                <a:ea typeface="+mn-ea"/>
                <a:cs typeface="+mn-cs"/>
              </a:rPr>
              <a:t> The implementation stage which looks at the context in which the breach took place and may look at:</a:t>
            </a:r>
          </a:p>
          <a:p>
            <a:pPr lvl="1">
              <a:buFont typeface="Arial" pitchFamily="34" charset="0"/>
              <a:buChar char="•"/>
            </a:pPr>
            <a:r>
              <a:rPr lang="en-AU" sz="1200" kern="1200" dirty="0" smtClean="0">
                <a:solidFill>
                  <a:schemeClr val="tx1"/>
                </a:solidFill>
                <a:ea typeface="+mn-ea"/>
                <a:cs typeface="+mn-cs"/>
              </a:rPr>
              <a:t> Situational factors</a:t>
            </a:r>
          </a:p>
          <a:p>
            <a:pPr lvl="1">
              <a:buFont typeface="Arial" pitchFamily="34" charset="0"/>
              <a:buChar char="•"/>
            </a:pPr>
            <a:r>
              <a:rPr lang="en-AU" sz="1200" kern="1200" dirty="0" smtClean="0">
                <a:solidFill>
                  <a:schemeClr val="tx1"/>
                </a:solidFill>
                <a:ea typeface="+mn-ea"/>
                <a:cs typeface="+mn-cs"/>
              </a:rPr>
              <a:t> Timing</a:t>
            </a:r>
          </a:p>
          <a:p>
            <a:pPr lvl="1">
              <a:buFont typeface="Arial" pitchFamily="34" charset="0"/>
              <a:buChar char="•"/>
            </a:pPr>
            <a:r>
              <a:rPr lang="en-AU" sz="1200" kern="1200" dirty="0" smtClean="0">
                <a:solidFill>
                  <a:schemeClr val="tx1"/>
                </a:solidFill>
                <a:ea typeface="+mn-ea"/>
                <a:cs typeface="+mn-cs"/>
              </a:rPr>
              <a:t> Location </a:t>
            </a:r>
          </a:p>
          <a:p>
            <a:pPr lvl="1">
              <a:buFont typeface="Arial" pitchFamily="34" charset="0"/>
              <a:buChar char="•"/>
            </a:pPr>
            <a:r>
              <a:rPr lang="en-AU" sz="1200" kern="1200" dirty="0" smtClean="0">
                <a:solidFill>
                  <a:schemeClr val="tx1"/>
                </a:solidFill>
                <a:ea typeface="+mn-ea"/>
                <a:cs typeface="+mn-cs"/>
              </a:rPr>
              <a:t> Communications</a:t>
            </a:r>
          </a:p>
          <a:p>
            <a:pPr lvl="1">
              <a:buFont typeface="Arial" pitchFamily="34" charset="0"/>
              <a:buChar char="•"/>
            </a:pPr>
            <a:r>
              <a:rPr lang="en-AU" sz="1200" kern="1200" dirty="0" smtClean="0">
                <a:solidFill>
                  <a:schemeClr val="tx1"/>
                </a:solidFill>
                <a:ea typeface="+mn-ea"/>
                <a:cs typeface="+mn-cs"/>
              </a:rPr>
              <a:t> Available intelligence</a:t>
            </a:r>
          </a:p>
          <a:p>
            <a:pPr lvl="1">
              <a:buFont typeface="Arial" pitchFamily="34" charset="0"/>
              <a:buChar char="•"/>
            </a:pPr>
            <a:r>
              <a:rPr lang="en-AU" sz="1200" kern="1200" dirty="0" smtClean="0">
                <a:solidFill>
                  <a:schemeClr val="tx1"/>
                </a:solidFill>
                <a:ea typeface="+mn-ea"/>
                <a:cs typeface="+mn-cs"/>
              </a:rPr>
              <a:t> Threat/problem indicators</a:t>
            </a:r>
          </a:p>
          <a:p>
            <a:pPr>
              <a:buFont typeface="Arial" pitchFamily="34" charset="0"/>
              <a:buChar char="•"/>
            </a:pPr>
            <a:r>
              <a:rPr lang="en-AU" sz="1200" kern="1200" dirty="0" smtClean="0">
                <a:solidFill>
                  <a:schemeClr val="tx1"/>
                </a:solidFill>
                <a:ea typeface="+mn-ea"/>
                <a:cs typeface="+mn-cs"/>
              </a:rPr>
              <a:t> The actual response which was provided ‘at the time’ – see below.</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Questions and Answers</a:t>
            </a:r>
          </a:p>
          <a:p>
            <a:pPr>
              <a:buFont typeface="Arial" pitchFamily="34" charset="0"/>
              <a:buNone/>
            </a:pPr>
            <a:r>
              <a:rPr lang="en-AU" sz="1200" b="0" kern="1200" dirty="0" smtClean="0">
                <a:solidFill>
                  <a:schemeClr val="tx1"/>
                </a:solidFill>
                <a:ea typeface="+mn-ea"/>
                <a:cs typeface="+mn-cs"/>
              </a:rPr>
              <a:t>Trainer asks students to identify issues which could/should be addressed when analysing actual response to breach situations.</a:t>
            </a:r>
          </a:p>
          <a:p>
            <a:pPr>
              <a:buFont typeface="Arial" pitchFamily="34" charset="0"/>
              <a:buNone/>
            </a:pPr>
            <a:r>
              <a:rPr lang="en-AU" sz="1200" b="1" i="1" kern="1200" dirty="0" smtClean="0">
                <a:solidFill>
                  <a:schemeClr val="tx1"/>
                </a:solidFill>
                <a:ea typeface="+mn-ea"/>
                <a:cs typeface="+mn-cs"/>
              </a:rPr>
              <a:t>Possible answers</a:t>
            </a:r>
          </a:p>
          <a:p>
            <a:pPr lvl="0">
              <a:buFont typeface="Arial" pitchFamily="34" charset="0"/>
              <a:buChar char="•"/>
            </a:pPr>
            <a:r>
              <a:rPr lang="en-AU" sz="1200" kern="1200" dirty="0" smtClean="0">
                <a:solidFill>
                  <a:schemeClr val="tx1"/>
                </a:solidFill>
                <a:ea typeface="+mn-ea"/>
                <a:cs typeface="+mn-cs"/>
              </a:rPr>
              <a:t> Speed of response</a:t>
            </a:r>
          </a:p>
          <a:p>
            <a:pPr lvl="0">
              <a:buFont typeface="Arial" pitchFamily="34" charset="0"/>
              <a:buChar char="•"/>
            </a:pPr>
            <a:r>
              <a:rPr lang="en-AU" sz="1200" kern="1200" dirty="0" smtClean="0">
                <a:solidFill>
                  <a:schemeClr val="tx1"/>
                </a:solidFill>
                <a:ea typeface="+mn-ea"/>
                <a:cs typeface="+mn-cs"/>
              </a:rPr>
              <a:t> Staff involved</a:t>
            </a:r>
          </a:p>
          <a:p>
            <a:pPr lvl="0">
              <a:buFont typeface="Arial" pitchFamily="34" charset="0"/>
              <a:buChar char="•"/>
            </a:pPr>
            <a:r>
              <a:rPr lang="en-AU" sz="1200" kern="1200" dirty="0" smtClean="0">
                <a:solidFill>
                  <a:schemeClr val="tx1"/>
                </a:solidFill>
                <a:ea typeface="+mn-ea"/>
                <a:cs typeface="+mn-cs"/>
              </a:rPr>
              <a:t> Resources deployed/used</a:t>
            </a:r>
          </a:p>
          <a:p>
            <a:pPr lvl="0">
              <a:buFont typeface="Arial" pitchFamily="34" charset="0"/>
              <a:buChar char="•"/>
            </a:pPr>
            <a:r>
              <a:rPr lang="en-AU" sz="1200" kern="1200" dirty="0" smtClean="0">
                <a:solidFill>
                  <a:schemeClr val="tx1"/>
                </a:solidFill>
                <a:ea typeface="+mn-ea"/>
                <a:cs typeface="+mn-cs"/>
              </a:rPr>
              <a:t> Effectiveness of response</a:t>
            </a:r>
          </a:p>
          <a:p>
            <a:pPr lvl="0">
              <a:buFont typeface="Arial" pitchFamily="34" charset="0"/>
              <a:buChar char="•"/>
            </a:pPr>
            <a:r>
              <a:rPr lang="en-AU" sz="1200" kern="1200" dirty="0" smtClean="0">
                <a:solidFill>
                  <a:schemeClr val="tx1"/>
                </a:solidFill>
                <a:ea typeface="+mn-ea"/>
                <a:cs typeface="+mn-cs"/>
              </a:rPr>
              <a:t> Relationship between ‘planned’ response and ‘actual’ response</a:t>
            </a:r>
          </a:p>
          <a:p>
            <a:pPr lvl="0">
              <a:buFont typeface="Arial" pitchFamily="34" charset="0"/>
              <a:buChar char="•"/>
            </a:pPr>
            <a:r>
              <a:rPr lang="en-AU" sz="1200" kern="1200" dirty="0" smtClean="0">
                <a:solidFill>
                  <a:schemeClr val="tx1"/>
                </a:solidFill>
                <a:ea typeface="+mn-ea"/>
                <a:cs typeface="+mn-cs"/>
              </a:rPr>
              <a:t> Impact of the breach</a:t>
            </a:r>
          </a:p>
          <a:p>
            <a:pPr lvl="0">
              <a:buFont typeface="Arial" pitchFamily="34" charset="0"/>
              <a:buChar char="•"/>
            </a:pPr>
            <a:r>
              <a:rPr lang="en-AU" sz="1200" kern="1200" dirty="0" smtClean="0">
                <a:solidFill>
                  <a:schemeClr val="tx1"/>
                </a:solidFill>
                <a:ea typeface="+mn-ea"/>
                <a:cs typeface="+mn-cs"/>
              </a:rPr>
              <a:t> Problems, questions and issues raised by the VIP as a result of the breach.</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managers/security personnel associated with the VIP will always want to be provided with information generated as a result of the breach analysis so they can:</a:t>
            </a:r>
          </a:p>
          <a:p>
            <a:pPr lvl="1">
              <a:buFont typeface="Arial" pitchFamily="34" charset="0"/>
              <a:buChar char="•"/>
            </a:pPr>
            <a:r>
              <a:rPr lang="en-AU" sz="1200" kern="1200" dirty="0" smtClean="0">
                <a:solidFill>
                  <a:schemeClr val="tx1"/>
                </a:solidFill>
                <a:ea typeface="+mn-ea"/>
                <a:cs typeface="+mn-cs"/>
              </a:rPr>
              <a:t> Integrate lessons learned into their future practice</a:t>
            </a:r>
          </a:p>
          <a:p>
            <a:pPr lvl="1">
              <a:buFont typeface="Arial" pitchFamily="34" charset="0"/>
              <a:buChar char="•"/>
            </a:pPr>
            <a:r>
              <a:rPr lang="en-AU" sz="1200" kern="1200" dirty="0" smtClean="0">
                <a:solidFill>
                  <a:schemeClr val="tx1"/>
                </a:solidFill>
                <a:ea typeface="+mn-ea"/>
                <a:cs typeface="+mn-cs"/>
              </a:rPr>
              <a:t> Communicate relevant lessons to future VIP host venues.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3997924378"/>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AU" noProof="0" dirty="0" smtClean="0"/>
              <a:t>Trainer provides general context for analysing breaches:</a:t>
            </a:r>
          </a:p>
          <a:p>
            <a:pPr>
              <a:buFont typeface="Arial" pitchFamily="34" charset="0"/>
              <a:buChar char="•"/>
            </a:pPr>
            <a:r>
              <a:rPr lang="en-AU" sz="1200" kern="1200" dirty="0" smtClean="0">
                <a:solidFill>
                  <a:schemeClr val="tx1"/>
                </a:solidFill>
                <a:ea typeface="+mn-ea"/>
                <a:cs typeface="+mn-cs"/>
              </a:rPr>
              <a:t> It is best and usual to use a combination of analysis techniques rather than use just one.</a:t>
            </a:r>
          </a:p>
          <a:p>
            <a:pPr lvl="1">
              <a:buFont typeface="Arial" pitchFamily="34" charset="0"/>
              <a:buChar char="•"/>
            </a:pPr>
            <a:r>
              <a:rPr lang="en-AU" sz="1200" kern="1200" dirty="0" smtClean="0">
                <a:solidFill>
                  <a:schemeClr val="tx1"/>
                </a:solidFill>
                <a:ea typeface="+mn-ea"/>
                <a:cs typeface="+mn-cs"/>
              </a:rPr>
              <a:t> The aim must be to undertake a 360˚ analysis which examines breaches from every relevant angle</a:t>
            </a:r>
          </a:p>
          <a:p>
            <a:pPr>
              <a:buFont typeface="Arial" pitchFamily="34" charset="0"/>
              <a:buChar char="•"/>
            </a:pPr>
            <a:r>
              <a:rPr lang="en-AU" sz="1200" kern="1200" dirty="0" smtClean="0">
                <a:solidFill>
                  <a:schemeClr val="tx1"/>
                </a:solidFill>
                <a:ea typeface="+mn-ea"/>
                <a:cs typeface="+mn-cs"/>
              </a:rPr>
              <a:t> A ‘no blame’ policy should apply to the analysis.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means individuals/staff will not be blamed or punished (that is, they will not be sacked) providing:</a:t>
            </a:r>
          </a:p>
          <a:p>
            <a:pPr lvl="1">
              <a:buFont typeface="Arial" pitchFamily="34" charset="0"/>
              <a:buChar char="•"/>
            </a:pPr>
            <a:r>
              <a:rPr lang="en-AU" sz="1200" kern="1200" dirty="0" smtClean="0">
                <a:solidFill>
                  <a:schemeClr val="tx1"/>
                </a:solidFill>
                <a:ea typeface="+mn-ea"/>
                <a:cs typeface="+mn-cs"/>
              </a:rPr>
              <a:t> They tell the truth even if the truth proves:</a:t>
            </a:r>
          </a:p>
          <a:p>
            <a:pPr lvl="2">
              <a:buFont typeface="Arial" pitchFamily="34" charset="0"/>
              <a:buChar char="•"/>
            </a:pPr>
            <a:r>
              <a:rPr lang="en-AU" sz="1200" kern="1200" dirty="0" smtClean="0">
                <a:solidFill>
                  <a:schemeClr val="tx1"/>
                </a:solidFill>
                <a:ea typeface="+mn-ea"/>
                <a:cs typeface="+mn-cs"/>
              </a:rPr>
              <a:t> They failed to follow required monitoring or observation directions or SOPs </a:t>
            </a:r>
          </a:p>
          <a:p>
            <a:pPr lvl="2">
              <a:buFont typeface="Arial" pitchFamily="34" charset="0"/>
              <a:buChar char="•"/>
            </a:pPr>
            <a:r>
              <a:rPr lang="en-AU" sz="1200" kern="1200" dirty="0" smtClean="0">
                <a:solidFill>
                  <a:schemeClr val="tx1"/>
                </a:solidFill>
                <a:ea typeface="+mn-ea"/>
                <a:cs typeface="+mn-cs"/>
              </a:rPr>
              <a:t> They failed to identify/notice an issue, indicator or threat</a:t>
            </a:r>
          </a:p>
          <a:p>
            <a:pPr lvl="2">
              <a:buFont typeface="Arial" pitchFamily="34" charset="0"/>
              <a:buChar char="•"/>
            </a:pPr>
            <a:r>
              <a:rPr lang="en-AU" sz="1200" kern="1200" dirty="0" smtClean="0">
                <a:solidFill>
                  <a:schemeClr val="tx1"/>
                </a:solidFill>
                <a:ea typeface="+mn-ea"/>
                <a:cs typeface="+mn-cs"/>
              </a:rPr>
              <a:t> They failed to respond/react correctly when the breach materialised</a:t>
            </a:r>
          </a:p>
          <a:p>
            <a:pPr lvl="1">
              <a:buFont typeface="Arial" pitchFamily="34" charset="0"/>
              <a:buChar char="•"/>
            </a:pPr>
            <a:r>
              <a:rPr lang="en-AU" sz="1200" kern="1200" dirty="0" smtClean="0">
                <a:solidFill>
                  <a:schemeClr val="tx1"/>
                </a:solidFill>
                <a:ea typeface="+mn-ea"/>
                <a:cs typeface="+mn-cs"/>
              </a:rPr>
              <a:t> Their sub-standard/unacceptable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action was not intentional or deliberate. The intention of this approach is to determine exactly and honestly what happened and whether:</a:t>
            </a:r>
          </a:p>
          <a:p>
            <a:pPr lvl="2">
              <a:buFont typeface="Arial" pitchFamily="34" charset="0"/>
              <a:buChar char="•"/>
            </a:pPr>
            <a:r>
              <a:rPr lang="en-AU" sz="1200" kern="1200" dirty="0" smtClean="0">
                <a:solidFill>
                  <a:schemeClr val="tx1"/>
                </a:solidFill>
                <a:ea typeface="+mn-ea"/>
                <a:cs typeface="+mn-cs"/>
              </a:rPr>
              <a:t> The plans were effective but were not implemented as required,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meaning the problem is with the staff and not the plan/s</a:t>
            </a:r>
          </a:p>
          <a:p>
            <a:pPr lvl="2">
              <a:buFont typeface="Arial" pitchFamily="34" charset="0"/>
              <a:buChar char="•"/>
            </a:pPr>
            <a:r>
              <a:rPr lang="en-AU" sz="1200" kern="1200" dirty="0" smtClean="0">
                <a:solidFill>
                  <a:schemeClr val="tx1"/>
                </a:solidFill>
                <a:ea typeface="+mn-ea"/>
                <a:cs typeface="+mn-cs"/>
              </a:rPr>
              <a:t> The plans were followed but proved to be ineffective,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 meaning the issue lies with the plans and not with the staff or the equipment.</a:t>
            </a:r>
          </a:p>
          <a:p>
            <a:pPr lvl="2">
              <a:buFont typeface="Arial" pitchFamily="34" charset="0"/>
              <a:buChar char="•"/>
            </a:pPr>
            <a:r>
              <a:rPr lang="en-AU" sz="1200" kern="1200" dirty="0" smtClean="0">
                <a:solidFill>
                  <a:schemeClr val="tx1"/>
                </a:solidFill>
                <a:ea typeface="+mn-ea"/>
                <a:cs typeface="+mn-cs"/>
              </a:rPr>
              <a:t> The reality is staff will tend to lie about their actions if they fear being fired (or other consequences), and these lies have the potential to hugely skew the investigation, the findings and the subsequent action which flows from the process.</a:t>
            </a:r>
          </a:p>
          <a:p>
            <a:pPr>
              <a:buFont typeface="Arial" pitchFamily="34" charset="0"/>
              <a:buChar char="•"/>
            </a:pPr>
            <a:r>
              <a:rPr lang="en-AU" sz="1200" kern="1200" dirty="0" smtClean="0">
                <a:solidFill>
                  <a:schemeClr val="tx1"/>
                </a:solidFill>
                <a:ea typeface="+mn-ea"/>
                <a:cs typeface="+mn-cs"/>
              </a:rPr>
              <a:t> The extent of the analysis (that is, the time and money spent on the analysis) depends on:</a:t>
            </a:r>
          </a:p>
          <a:p>
            <a:pPr lvl="1">
              <a:buFont typeface="Arial" pitchFamily="34" charset="0"/>
              <a:buChar char="•"/>
            </a:pPr>
            <a:r>
              <a:rPr lang="en-AU" sz="1200" kern="1200" dirty="0" smtClean="0">
                <a:solidFill>
                  <a:schemeClr val="tx1"/>
                </a:solidFill>
                <a:ea typeface="+mn-ea"/>
                <a:cs typeface="+mn-cs"/>
              </a:rPr>
              <a:t> The type/nature of the breach – an assault will necessitate more analysis than the presence of an unauthorized vehicle in a restricted area</a:t>
            </a:r>
          </a:p>
          <a:p>
            <a:pPr lvl="1">
              <a:buFont typeface="Arial" pitchFamily="34" charset="0"/>
              <a:buChar char="•"/>
            </a:pPr>
            <a:r>
              <a:rPr lang="en-AU" sz="1200" kern="1200" dirty="0" smtClean="0">
                <a:solidFill>
                  <a:schemeClr val="tx1"/>
                </a:solidFill>
                <a:ea typeface="+mn-ea"/>
                <a:cs typeface="+mn-cs"/>
              </a:rPr>
              <a:t> The importance/significance placed on the incident by others (such as the VIP, their minders/managers, police)</a:t>
            </a:r>
          </a:p>
          <a:p>
            <a:pPr lvl="1">
              <a:buFont typeface="Arial" pitchFamily="34" charset="0"/>
              <a:buChar char="•"/>
            </a:pPr>
            <a:r>
              <a:rPr lang="en-AU" sz="1200" kern="1200" dirty="0" smtClean="0">
                <a:solidFill>
                  <a:schemeClr val="tx1"/>
                </a:solidFill>
                <a:ea typeface="+mn-ea"/>
                <a:cs typeface="+mn-cs"/>
              </a:rPr>
              <a:t> The impact of the breach which can relate to issues such as:</a:t>
            </a:r>
          </a:p>
          <a:p>
            <a:pPr lvl="2">
              <a:buFont typeface="Arial" pitchFamily="34" charset="0"/>
              <a:buChar char="•"/>
            </a:pPr>
            <a:r>
              <a:rPr lang="en-AU" sz="1200" kern="1200" dirty="0" smtClean="0">
                <a:solidFill>
                  <a:schemeClr val="tx1"/>
                </a:solidFill>
                <a:ea typeface="+mn-ea"/>
                <a:cs typeface="+mn-cs"/>
              </a:rPr>
              <a:t> Injuries and damage which occurred</a:t>
            </a:r>
          </a:p>
          <a:p>
            <a:pPr lvl="2">
              <a:buFont typeface="Arial" pitchFamily="34" charset="0"/>
              <a:buChar char="•"/>
            </a:pPr>
            <a:r>
              <a:rPr lang="en-AU" sz="1200" kern="1200" dirty="0" smtClean="0">
                <a:solidFill>
                  <a:schemeClr val="tx1"/>
                </a:solidFill>
                <a:ea typeface="+mn-ea"/>
                <a:cs typeface="+mn-cs"/>
              </a:rPr>
              <a:t> Media exposure</a:t>
            </a:r>
          </a:p>
          <a:p>
            <a:pPr lvl="2">
              <a:buFont typeface="Arial" pitchFamily="34" charset="0"/>
              <a:buChar char="•"/>
            </a:pPr>
            <a:r>
              <a:rPr lang="en-AU" sz="1200" kern="1200" dirty="0" smtClean="0">
                <a:solidFill>
                  <a:schemeClr val="tx1"/>
                </a:solidFill>
                <a:ea typeface="+mn-ea"/>
                <a:cs typeface="+mn-cs"/>
              </a:rPr>
              <a:t> Financial liability or other legal exposure of the venue as a result of the incident.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27271000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a:t>
            </a:r>
            <a:r>
              <a:rPr lang="en-AU" baseline="0" noProof="0" dirty="0" smtClean="0"/>
              <a:t> standard analysis techniques which can be used to analyse breaches:</a:t>
            </a:r>
          </a:p>
          <a:p>
            <a:pPr>
              <a:buFont typeface="Arial" pitchFamily="34" charset="0"/>
              <a:buChar char="•"/>
            </a:pPr>
            <a:r>
              <a:rPr lang="en-AU" sz="1200" kern="1200" dirty="0" smtClean="0">
                <a:solidFill>
                  <a:schemeClr val="tx1"/>
                </a:solidFill>
                <a:ea typeface="+mn-ea"/>
                <a:cs typeface="+mn-cs"/>
              </a:rPr>
              <a:t> Watching and analysing video-tape of the incident</a:t>
            </a:r>
          </a:p>
          <a:p>
            <a:pPr>
              <a:buFont typeface="Arial" pitchFamily="34" charset="0"/>
              <a:buChar char="•"/>
            </a:pPr>
            <a:r>
              <a:rPr lang="en-AU" sz="1200" kern="1200" dirty="0" smtClean="0">
                <a:solidFill>
                  <a:schemeClr val="tx1"/>
                </a:solidFill>
                <a:ea typeface="+mn-ea"/>
                <a:cs typeface="+mn-cs"/>
              </a:rPr>
              <a:t> Interviewing staff involved in the security event</a:t>
            </a:r>
          </a:p>
          <a:p>
            <a:pPr>
              <a:buFont typeface="Arial" pitchFamily="34" charset="0"/>
              <a:buChar char="•"/>
            </a:pPr>
            <a:r>
              <a:rPr lang="en-AU" sz="1200" kern="1200" dirty="0" smtClean="0">
                <a:solidFill>
                  <a:schemeClr val="tx1"/>
                </a:solidFill>
                <a:ea typeface="+mn-ea"/>
                <a:cs typeface="+mn-cs"/>
              </a:rPr>
              <a:t> Speaking to those who were impacted by the breach</a:t>
            </a:r>
          </a:p>
          <a:p>
            <a:pPr>
              <a:buFont typeface="Arial" pitchFamily="34" charset="0"/>
              <a:buChar char="•"/>
            </a:pPr>
            <a:r>
              <a:rPr lang="en-AU" sz="1200" kern="1200" dirty="0" smtClean="0">
                <a:solidFill>
                  <a:schemeClr val="tx1"/>
                </a:solidFill>
                <a:ea typeface="+mn-ea"/>
                <a:cs typeface="+mn-cs"/>
              </a:rPr>
              <a:t> Interviewing persons who breached security.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3572123859"/>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standard analysis techniques which can be used to analyse breaches:</a:t>
            </a:r>
          </a:p>
          <a:p>
            <a:pPr>
              <a:buFont typeface="Arial" pitchFamily="34" charset="0"/>
              <a:buChar char="•"/>
            </a:pPr>
            <a:r>
              <a:rPr lang="en-AU" sz="1200" kern="1200" dirty="0" smtClean="0">
                <a:solidFill>
                  <a:schemeClr val="tx1"/>
                </a:solidFill>
                <a:ea typeface="+mn-ea"/>
                <a:cs typeface="+mn-cs"/>
              </a:rPr>
              <a:t> Visiting and investigating the scene/site of the breach </a:t>
            </a:r>
          </a:p>
          <a:p>
            <a:pPr>
              <a:buFont typeface="Arial" pitchFamily="34" charset="0"/>
              <a:buChar char="•"/>
            </a:pPr>
            <a:r>
              <a:rPr lang="en-AU" sz="1200" kern="1200" dirty="0" smtClean="0">
                <a:solidFill>
                  <a:schemeClr val="tx1"/>
                </a:solidFill>
                <a:ea typeface="+mn-ea"/>
                <a:cs typeface="+mn-cs"/>
              </a:rPr>
              <a:t> Using evidence/information from external stakeholders</a:t>
            </a:r>
          </a:p>
          <a:p>
            <a:pPr>
              <a:buFont typeface="Arial" pitchFamily="34" charset="0"/>
              <a:buChar char="•"/>
            </a:pPr>
            <a:r>
              <a:rPr lang="en-AU" sz="1200" kern="1200" dirty="0" smtClean="0">
                <a:solidFill>
                  <a:schemeClr val="tx1"/>
                </a:solidFill>
                <a:ea typeface="+mn-ea"/>
                <a:cs typeface="+mn-cs"/>
              </a:rPr>
              <a:t> Seeking answers to standard questions – see below.</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Class Activity – Question and Answers</a:t>
            </a:r>
          </a:p>
          <a:p>
            <a:r>
              <a:rPr lang="en-AU" sz="1200" b="0" kern="1200" dirty="0" smtClean="0">
                <a:solidFill>
                  <a:schemeClr val="tx1"/>
                </a:solidFill>
                <a:ea typeface="+mn-ea"/>
                <a:cs typeface="+mn-cs"/>
              </a:rPr>
              <a:t>Trainer asks students to identify questions which could/should be asked when analysing breaches.</a:t>
            </a:r>
          </a:p>
          <a:p>
            <a:endParaRPr lang="en-AU" sz="1200" b="1" i="1" kern="1200" dirty="0" smtClean="0">
              <a:solidFill>
                <a:schemeClr val="tx1"/>
              </a:solidFill>
              <a:ea typeface="+mn-ea"/>
              <a:cs typeface="+mn-cs"/>
            </a:endParaRPr>
          </a:p>
          <a:p>
            <a:r>
              <a:rPr lang="en-AU" sz="1200" b="1" i="1" kern="1200" dirty="0" smtClean="0">
                <a:solidFill>
                  <a:schemeClr val="tx1"/>
                </a:solidFill>
                <a:ea typeface="+mn-ea"/>
                <a:cs typeface="+mn-cs"/>
              </a:rPr>
              <a:t>Possible answers</a:t>
            </a:r>
          </a:p>
          <a:p>
            <a:pPr>
              <a:buFont typeface="Arial" pitchFamily="34" charset="0"/>
              <a:buChar char="•"/>
            </a:pPr>
            <a:r>
              <a:rPr lang="en-AU" sz="1200" kern="1200" dirty="0" smtClean="0">
                <a:solidFill>
                  <a:schemeClr val="tx1"/>
                </a:solidFill>
                <a:ea typeface="+mn-ea"/>
                <a:cs typeface="+mn-cs"/>
              </a:rPr>
              <a:t> Why did it happen? </a:t>
            </a:r>
          </a:p>
          <a:p>
            <a:pPr>
              <a:buFont typeface="Arial" pitchFamily="34" charset="0"/>
              <a:buChar char="•"/>
            </a:pPr>
            <a:r>
              <a:rPr lang="en-AU" sz="1200" kern="1200" dirty="0" smtClean="0">
                <a:solidFill>
                  <a:schemeClr val="tx1"/>
                </a:solidFill>
                <a:ea typeface="+mn-ea"/>
                <a:cs typeface="+mn-cs"/>
              </a:rPr>
              <a:t> Who was involved? </a:t>
            </a:r>
          </a:p>
          <a:p>
            <a:pPr>
              <a:buFont typeface="Arial" pitchFamily="34" charset="0"/>
              <a:buChar char="•"/>
            </a:pPr>
            <a:r>
              <a:rPr lang="en-AU" sz="1200" kern="1200" dirty="0" smtClean="0">
                <a:solidFill>
                  <a:schemeClr val="tx1"/>
                </a:solidFill>
                <a:ea typeface="+mn-ea"/>
                <a:cs typeface="+mn-cs"/>
              </a:rPr>
              <a:t> Where did it happen? </a:t>
            </a:r>
          </a:p>
          <a:p>
            <a:pPr>
              <a:buFont typeface="Arial" pitchFamily="34" charset="0"/>
              <a:buChar char="•"/>
            </a:pPr>
            <a:r>
              <a:rPr lang="en-AU" sz="1200" kern="1200" dirty="0" smtClean="0">
                <a:solidFill>
                  <a:schemeClr val="tx1"/>
                </a:solidFill>
                <a:ea typeface="+mn-ea"/>
                <a:cs typeface="+mn-cs"/>
              </a:rPr>
              <a:t> What happened as a result? </a:t>
            </a:r>
          </a:p>
          <a:p>
            <a:pPr>
              <a:buFont typeface="Arial" pitchFamily="34" charset="0"/>
              <a:buChar char="•"/>
            </a:pPr>
            <a:r>
              <a:rPr lang="en-AU" sz="1200" kern="1200" dirty="0" smtClean="0">
                <a:solidFill>
                  <a:schemeClr val="tx1"/>
                </a:solidFill>
                <a:ea typeface="+mn-ea"/>
                <a:cs typeface="+mn-cs"/>
              </a:rPr>
              <a:t> What could have happened as a result?</a:t>
            </a:r>
          </a:p>
          <a:p>
            <a:pPr>
              <a:buFont typeface="Arial" pitchFamily="34" charset="0"/>
              <a:buChar char="•"/>
            </a:pPr>
            <a:r>
              <a:rPr lang="en-AU" sz="1200" kern="1200" dirty="0" smtClean="0">
                <a:solidFill>
                  <a:schemeClr val="tx1"/>
                </a:solidFill>
                <a:ea typeface="+mn-ea"/>
                <a:cs typeface="+mn-cs"/>
              </a:rPr>
              <a:t> With the benefit of hindsight, what were the indicators a breach:</a:t>
            </a:r>
          </a:p>
          <a:p>
            <a:pPr>
              <a:buFont typeface="Arial" pitchFamily="34" charset="0"/>
              <a:buChar char="•"/>
            </a:pPr>
            <a:r>
              <a:rPr lang="en-AU" sz="1200" kern="1200" dirty="0" smtClean="0">
                <a:solidFill>
                  <a:schemeClr val="tx1"/>
                </a:solidFill>
                <a:ea typeface="+mn-ea"/>
                <a:cs typeface="+mn-cs"/>
              </a:rPr>
              <a:t> Was about to occur?</a:t>
            </a:r>
          </a:p>
          <a:p>
            <a:pPr>
              <a:buFont typeface="Arial" pitchFamily="34" charset="0"/>
              <a:buChar char="•"/>
            </a:pPr>
            <a:r>
              <a:rPr lang="en-AU" sz="1200" kern="1200" dirty="0" smtClean="0">
                <a:solidFill>
                  <a:schemeClr val="tx1"/>
                </a:solidFill>
                <a:ea typeface="+mn-ea"/>
                <a:cs typeface="+mn-cs"/>
              </a:rPr>
              <a:t> Had occurred?</a:t>
            </a:r>
          </a:p>
          <a:p>
            <a:pPr>
              <a:buFont typeface="Arial" pitchFamily="34" charset="0"/>
              <a:buChar char="•"/>
            </a:pPr>
            <a:r>
              <a:rPr lang="en-AU" sz="1200" kern="1200" dirty="0" smtClean="0">
                <a:solidFill>
                  <a:schemeClr val="tx1"/>
                </a:solidFill>
                <a:ea typeface="+mn-ea"/>
                <a:cs typeface="+mn-cs"/>
              </a:rPr>
              <a:t> How can it be prevented in the future? </a:t>
            </a:r>
          </a:p>
          <a:p>
            <a:pPr>
              <a:buFont typeface="Arial" pitchFamily="34" charset="0"/>
              <a:buChar char="•"/>
            </a:pPr>
            <a:r>
              <a:rPr lang="en-AU" sz="1200" kern="1200" dirty="0" smtClean="0">
                <a:solidFill>
                  <a:schemeClr val="tx1"/>
                </a:solidFill>
                <a:ea typeface="+mn-ea"/>
                <a:cs typeface="+mn-cs"/>
              </a:rPr>
              <a:t> Was it an equipment or human failure?</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271806713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activities involved in documenting lessons learned from evaluations/analysis</a:t>
            </a:r>
            <a:r>
              <a:rPr lang="en-AU" baseline="0" noProof="0" dirty="0" smtClean="0"/>
              <a:t> of VIP visits:</a:t>
            </a:r>
          </a:p>
          <a:p>
            <a:pPr>
              <a:buFont typeface="Arial" pitchFamily="34" charset="0"/>
              <a:buChar char="•"/>
            </a:pPr>
            <a:r>
              <a:rPr lang="en-AU" sz="1200" kern="1200" dirty="0" smtClean="0">
                <a:solidFill>
                  <a:schemeClr val="tx1"/>
                </a:solidFill>
                <a:ea typeface="+mn-ea"/>
                <a:cs typeface="+mn-cs"/>
              </a:rPr>
              <a:t> Writing down the lessons learned describing the situation/s that gave rise to the lesson, and what the exact nature of the lesson is (that is, how subsequent VIP visits should take into account the lessons learned)</a:t>
            </a:r>
          </a:p>
          <a:p>
            <a:pPr>
              <a:buFont typeface="Arial" pitchFamily="34" charset="0"/>
              <a:buChar char="•"/>
            </a:pPr>
            <a:r>
              <a:rPr lang="en-AU" sz="1200" kern="1200" dirty="0" smtClean="0">
                <a:solidFill>
                  <a:schemeClr val="tx1"/>
                </a:solidFill>
                <a:ea typeface="+mn-ea"/>
                <a:cs typeface="+mn-cs"/>
              </a:rPr>
              <a:t> Attaching supporting/accompanying documentation to the lesson such as (as appropriate) written feedback from stakeholders, observations made at the time, witness statements, photographic evidence</a:t>
            </a:r>
          </a:p>
          <a:p>
            <a:pPr>
              <a:buFont typeface="Arial" pitchFamily="34" charset="0"/>
              <a:buChar char="•"/>
            </a:pPr>
            <a:r>
              <a:rPr lang="en-AU" sz="1200" kern="1200" dirty="0" smtClean="0">
                <a:solidFill>
                  <a:schemeClr val="tx1"/>
                </a:solidFill>
                <a:ea typeface="+mn-ea"/>
                <a:cs typeface="+mn-cs"/>
              </a:rPr>
              <a:t> Including basic data – name of the project, details of project team/management team, date/s, and base project documents used in the project (such as the project management plan)</a:t>
            </a:r>
          </a:p>
          <a:p>
            <a:pPr>
              <a:buFont typeface="Arial" pitchFamily="34" charset="0"/>
              <a:buChar char="•"/>
            </a:pPr>
            <a:r>
              <a:rPr lang="en-AU" sz="1200" kern="1200" dirty="0" smtClean="0">
                <a:solidFill>
                  <a:schemeClr val="tx1"/>
                </a:solidFill>
                <a:ea typeface="+mn-ea"/>
                <a:cs typeface="+mn-cs"/>
              </a:rPr>
              <a:t> Communicating the lessons learned – see later slides ‘Sharing information from the evaluation’</a:t>
            </a:r>
          </a:p>
          <a:p>
            <a:pPr>
              <a:buFont typeface="Arial" pitchFamily="34" charset="0"/>
              <a:buChar char="•"/>
            </a:pPr>
            <a:r>
              <a:rPr lang="en-AU" sz="1200" kern="1200" dirty="0" smtClean="0">
                <a:solidFill>
                  <a:schemeClr val="tx1"/>
                </a:solidFill>
                <a:ea typeface="+mn-ea"/>
                <a:cs typeface="+mn-cs"/>
              </a:rPr>
              <a:t> Filing the base/source documents and data – filing will/should occur in a physical, paper-based format and electronic format</a:t>
            </a:r>
          </a:p>
          <a:p>
            <a:pPr lvl="1">
              <a:buFont typeface="Arial" pitchFamily="34" charset="0"/>
              <a:buChar char="•"/>
            </a:pPr>
            <a:r>
              <a:rPr lang="en-AU" sz="1200" kern="1200" dirty="0" smtClean="0">
                <a:solidFill>
                  <a:schemeClr val="tx1"/>
                </a:solidFill>
                <a:ea typeface="+mn-ea"/>
                <a:cs typeface="+mn-cs"/>
              </a:rPr>
              <a:t> Attention must be paid to ensuring ‘relevant others’ know where this information and/or documents are physically located so they can access it when required.</a:t>
            </a:r>
          </a:p>
          <a:p>
            <a:pPr lvl="1">
              <a:buFont typeface="Arial" pitchFamily="34" charset="0"/>
              <a:buChar char="•"/>
            </a:pPr>
            <a:r>
              <a:rPr lang="en-AU" sz="1200" kern="1200" dirty="0" smtClean="0">
                <a:solidFill>
                  <a:schemeClr val="tx1"/>
                </a:solidFill>
                <a:ea typeface="+mn-ea"/>
                <a:cs typeface="+mn-cs"/>
              </a:rPr>
              <a:t> Standard filing protocols should apply to ensure:</a:t>
            </a:r>
          </a:p>
          <a:p>
            <a:pPr lvl="2">
              <a:buFont typeface="Arial" pitchFamily="34" charset="0"/>
              <a:buChar char="•"/>
            </a:pPr>
            <a:r>
              <a:rPr lang="en-AU" sz="1200" kern="1200" dirty="0" smtClean="0">
                <a:solidFill>
                  <a:schemeClr val="tx1"/>
                </a:solidFill>
                <a:ea typeface="+mn-ea"/>
                <a:cs typeface="+mn-cs"/>
              </a:rPr>
              <a:t> Security </a:t>
            </a:r>
          </a:p>
          <a:p>
            <a:pPr lvl="2">
              <a:buFont typeface="Arial" pitchFamily="34" charset="0"/>
              <a:buChar char="•"/>
            </a:pPr>
            <a:r>
              <a:rPr lang="en-AU" sz="1200" kern="1200" dirty="0" smtClean="0">
                <a:solidFill>
                  <a:schemeClr val="tx1"/>
                </a:solidFill>
                <a:ea typeface="+mn-ea"/>
                <a:cs typeface="+mn-cs"/>
              </a:rPr>
              <a:t> Protect confidentiality </a:t>
            </a:r>
          </a:p>
          <a:p>
            <a:pPr lvl="2">
              <a:buFont typeface="Arial" pitchFamily="34" charset="0"/>
              <a:buChar char="•"/>
            </a:pPr>
            <a:r>
              <a:rPr lang="en-AU" sz="1200" kern="1200" dirty="0" smtClean="0">
                <a:solidFill>
                  <a:schemeClr val="tx1"/>
                </a:solidFill>
                <a:ea typeface="+mn-ea"/>
                <a:cs typeface="+mn-cs"/>
              </a:rPr>
              <a:t> Track/record use of the documents.</a:t>
            </a: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367775036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ways to incorporate lessons learned into future safety plans and activities for VIP visits:</a:t>
            </a:r>
          </a:p>
          <a:p>
            <a:pPr>
              <a:buFont typeface="Arial" pitchFamily="34" charset="0"/>
              <a:buChar char="•"/>
            </a:pPr>
            <a:r>
              <a:rPr lang="en-AU" sz="1200" kern="1200" dirty="0" smtClean="0">
                <a:solidFill>
                  <a:schemeClr val="tx1"/>
                </a:solidFill>
                <a:ea typeface="+mn-ea"/>
                <a:cs typeface="+mn-cs"/>
              </a:rPr>
              <a:t> Circulate lessons learned to other staff/stakeholders – see following ‘Sharing information’</a:t>
            </a:r>
          </a:p>
          <a:p>
            <a:pPr>
              <a:buFont typeface="Arial" pitchFamily="34" charset="0"/>
              <a:buChar char="•"/>
            </a:pPr>
            <a:r>
              <a:rPr lang="en-AU" sz="1200" kern="1200" dirty="0" smtClean="0">
                <a:solidFill>
                  <a:schemeClr val="tx1"/>
                </a:solidFill>
                <a:ea typeface="+mn-ea"/>
                <a:cs typeface="+mn-cs"/>
              </a:rPr>
              <a:t> Integrate lessons learned into venue training for security and other relevant staff</a:t>
            </a:r>
          </a:p>
          <a:p>
            <a:pPr>
              <a:buFont typeface="Arial" pitchFamily="34" charset="0"/>
              <a:buChar char="•"/>
            </a:pPr>
            <a:r>
              <a:rPr lang="en-AU" sz="1200" kern="1200" dirty="0" smtClean="0">
                <a:solidFill>
                  <a:schemeClr val="tx1"/>
                </a:solidFill>
                <a:ea typeface="+mn-ea"/>
                <a:cs typeface="+mn-cs"/>
              </a:rPr>
              <a:t> Revise venue policies and procedures to include the lessons learned ensuring:</a:t>
            </a:r>
          </a:p>
          <a:p>
            <a:pPr lvl="1">
              <a:buFont typeface="Arial" pitchFamily="34" charset="0"/>
              <a:buChar char="•"/>
            </a:pPr>
            <a:r>
              <a:rPr lang="en-AU" sz="1200" kern="1200" dirty="0" smtClean="0">
                <a:solidFill>
                  <a:schemeClr val="tx1"/>
                </a:solidFill>
                <a:ea typeface="+mn-ea"/>
                <a:cs typeface="+mn-cs"/>
              </a:rPr>
              <a:t> Version control protocols are implemented to maintain currency of documents</a:t>
            </a:r>
          </a:p>
          <a:p>
            <a:pPr lvl="1">
              <a:buFont typeface="Arial" pitchFamily="34" charset="0"/>
              <a:buChar char="•"/>
            </a:pPr>
            <a:r>
              <a:rPr lang="en-AU" sz="1200" kern="1200" dirty="0" smtClean="0">
                <a:solidFill>
                  <a:schemeClr val="tx1"/>
                </a:solidFill>
                <a:ea typeface="+mn-ea"/>
                <a:cs typeface="+mn-cs"/>
              </a:rPr>
              <a:t> Revised versions are circulated as required</a:t>
            </a:r>
          </a:p>
          <a:p>
            <a:pPr lvl="1">
              <a:buFont typeface="Arial" pitchFamily="34" charset="0"/>
              <a:buChar char="•"/>
            </a:pPr>
            <a:r>
              <a:rPr lang="en-AU" sz="1200" kern="1200" dirty="0" smtClean="0">
                <a:solidFill>
                  <a:schemeClr val="tx1"/>
                </a:solidFill>
                <a:ea typeface="+mn-ea"/>
                <a:cs typeface="+mn-cs"/>
              </a:rPr>
              <a:t> Old versions are removed from circulation</a:t>
            </a:r>
          </a:p>
          <a:p>
            <a:pPr>
              <a:buFont typeface="Arial" pitchFamily="34" charset="0"/>
              <a:buChar char="•"/>
            </a:pPr>
            <a:r>
              <a:rPr lang="en-AU" sz="1200" kern="1200" dirty="0" smtClean="0">
                <a:solidFill>
                  <a:schemeClr val="tx1"/>
                </a:solidFill>
                <a:ea typeface="+mn-ea"/>
                <a:cs typeface="+mn-cs"/>
              </a:rPr>
              <a:t> Hold special staff-management meetings to:</a:t>
            </a:r>
          </a:p>
          <a:p>
            <a:pPr lvl="1">
              <a:buFont typeface="Arial" pitchFamily="34" charset="0"/>
              <a:buChar char="•"/>
            </a:pPr>
            <a:r>
              <a:rPr lang="en-AU" sz="1200" kern="1200" dirty="0" smtClean="0">
                <a:solidFill>
                  <a:schemeClr val="tx1"/>
                </a:solidFill>
                <a:ea typeface="+mn-ea"/>
                <a:cs typeface="+mn-cs"/>
              </a:rPr>
              <a:t> Background the visit</a:t>
            </a:r>
          </a:p>
          <a:p>
            <a:pPr lvl="1">
              <a:buFont typeface="Arial" pitchFamily="34" charset="0"/>
              <a:buChar char="•"/>
            </a:pPr>
            <a:r>
              <a:rPr lang="en-AU" sz="1200" kern="1200" dirty="0" smtClean="0">
                <a:solidFill>
                  <a:schemeClr val="tx1"/>
                </a:solidFill>
                <a:ea typeface="+mn-ea"/>
                <a:cs typeface="+mn-cs"/>
              </a:rPr>
              <a:t> Detail the review/evaluation process</a:t>
            </a:r>
          </a:p>
          <a:p>
            <a:pPr lvl="1">
              <a:buFont typeface="Arial" pitchFamily="34" charset="0"/>
              <a:buChar char="•"/>
            </a:pPr>
            <a:r>
              <a:rPr lang="en-AU" sz="1200" kern="1200" dirty="0" smtClean="0">
                <a:solidFill>
                  <a:schemeClr val="tx1"/>
                </a:solidFill>
                <a:ea typeface="+mn-ea"/>
                <a:cs typeface="+mn-cs"/>
              </a:rPr>
              <a:t> Discuss the lessons learned</a:t>
            </a:r>
          </a:p>
          <a:p>
            <a:pPr lvl="1">
              <a:buFont typeface="Arial" pitchFamily="34" charset="0"/>
              <a:buChar char="•"/>
            </a:pPr>
            <a:r>
              <a:rPr lang="en-AU" sz="1200" kern="1200" dirty="0" smtClean="0">
                <a:solidFill>
                  <a:schemeClr val="tx1"/>
                </a:solidFill>
                <a:ea typeface="+mn-ea"/>
                <a:cs typeface="+mn-cs"/>
              </a:rPr>
              <a:t> Identify the impact of these on operation of the venue.</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3059474059"/>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ways to incorporate lessons learned into future safety plans and activities for VIP visits:</a:t>
            </a:r>
          </a:p>
          <a:p>
            <a:pPr>
              <a:buFont typeface="Arial" pitchFamily="34" charset="0"/>
              <a:buChar char="•"/>
            </a:pPr>
            <a:r>
              <a:rPr lang="en-AU" sz="1200" kern="1200" dirty="0" smtClean="0">
                <a:solidFill>
                  <a:schemeClr val="tx1"/>
                </a:solidFill>
                <a:ea typeface="+mn-ea"/>
                <a:cs typeface="+mn-cs"/>
              </a:rPr>
              <a:t> Provide SOP for managers which makes it mandatory for them to:</a:t>
            </a:r>
          </a:p>
          <a:p>
            <a:pPr lvl="1">
              <a:buFont typeface="Arial" pitchFamily="34" charset="0"/>
              <a:buChar char="•"/>
            </a:pPr>
            <a:r>
              <a:rPr lang="en-AU" sz="1200" kern="1200" dirty="0" smtClean="0">
                <a:solidFill>
                  <a:schemeClr val="tx1"/>
                </a:solidFill>
                <a:ea typeface="+mn-ea"/>
                <a:cs typeface="+mn-cs"/>
              </a:rPr>
              <a:t> Talk to nominated staff </a:t>
            </a:r>
            <a:r>
              <a:rPr lang="en-AU" sz="1200" i="1" kern="1200" dirty="0" smtClean="0">
                <a:solidFill>
                  <a:schemeClr val="tx1"/>
                </a:solidFill>
                <a:ea typeface="+mn-ea"/>
                <a:cs typeface="+mn-cs"/>
              </a:rPr>
              <a:t>previously involved</a:t>
            </a:r>
            <a:r>
              <a:rPr lang="en-AU" sz="1200" kern="1200" dirty="0" smtClean="0">
                <a:solidFill>
                  <a:schemeClr val="tx1"/>
                </a:solidFill>
                <a:ea typeface="+mn-ea"/>
                <a:cs typeface="+mn-cs"/>
              </a:rPr>
              <a:t> with VIP visits before they start planning the next VIP visit</a:t>
            </a:r>
          </a:p>
          <a:p>
            <a:pPr lvl="1">
              <a:buFont typeface="Arial" pitchFamily="34" charset="0"/>
              <a:buChar char="•"/>
            </a:pPr>
            <a:r>
              <a:rPr lang="en-AU" sz="1200" kern="1200" dirty="0" smtClean="0">
                <a:solidFill>
                  <a:schemeClr val="tx1"/>
                </a:solidFill>
                <a:ea typeface="+mn-ea"/>
                <a:cs typeface="+mn-cs"/>
              </a:rPr>
              <a:t> Read/review evaluations (‘lessons learned’) from previous VIP visits</a:t>
            </a:r>
          </a:p>
          <a:p>
            <a:pPr>
              <a:buFont typeface="Arial" pitchFamily="34" charset="0"/>
              <a:buChar char="•"/>
            </a:pPr>
            <a:r>
              <a:rPr lang="en-AU" sz="1200" kern="1200" dirty="0" smtClean="0">
                <a:solidFill>
                  <a:schemeClr val="tx1"/>
                </a:solidFill>
                <a:ea typeface="+mn-ea"/>
                <a:cs typeface="+mn-cs"/>
              </a:rPr>
              <a:t> Use existing/prepared safety plans as the basis for:</a:t>
            </a:r>
          </a:p>
          <a:p>
            <a:pPr lvl="1">
              <a:buFont typeface="Arial" pitchFamily="34" charset="0"/>
              <a:buChar char="•"/>
            </a:pPr>
            <a:r>
              <a:rPr lang="en-AU" sz="1200" kern="1200" dirty="0" smtClean="0">
                <a:solidFill>
                  <a:schemeClr val="tx1"/>
                </a:solidFill>
                <a:ea typeface="+mn-ea"/>
                <a:cs typeface="+mn-cs"/>
              </a:rPr>
              <a:t> Re-drafting revised plans to reflect issues identified during the evaluation and analysis process</a:t>
            </a:r>
          </a:p>
          <a:p>
            <a:pPr lvl="1">
              <a:buFont typeface="Arial" pitchFamily="34" charset="0"/>
              <a:buChar char="•"/>
            </a:pPr>
            <a:r>
              <a:rPr lang="en-AU" sz="1200" kern="1200" dirty="0" smtClean="0">
                <a:solidFill>
                  <a:schemeClr val="tx1"/>
                </a:solidFill>
                <a:ea typeface="+mn-ea"/>
                <a:cs typeface="+mn-cs"/>
              </a:rPr>
              <a:t> Developing new plans as opposed to fine-tuning existing plans</a:t>
            </a:r>
          </a:p>
          <a:p>
            <a:pPr lvl="1">
              <a:buFont typeface="Arial" pitchFamily="34" charset="0"/>
              <a:buChar char="•"/>
            </a:pPr>
            <a:r>
              <a:rPr lang="en-AU" sz="1200" kern="1200" dirty="0" smtClean="0">
                <a:solidFill>
                  <a:schemeClr val="tx1"/>
                </a:solidFill>
                <a:ea typeface="+mn-ea"/>
                <a:cs typeface="+mn-cs"/>
              </a:rPr>
              <a:t> Adding new topics and considerations to existing plans</a:t>
            </a:r>
          </a:p>
          <a:p>
            <a:pPr lvl="1">
              <a:buFont typeface="Arial" pitchFamily="34" charset="0"/>
              <a:buChar char="•"/>
            </a:pPr>
            <a:r>
              <a:rPr lang="en-AU" sz="1200" kern="1200" dirty="0" smtClean="0">
                <a:solidFill>
                  <a:schemeClr val="tx1"/>
                </a:solidFill>
                <a:ea typeface="+mn-ea"/>
                <a:cs typeface="+mn-cs"/>
              </a:rPr>
              <a:t> Incorporating new/revised responses and controls to plans</a:t>
            </a:r>
          </a:p>
          <a:p>
            <a:pPr lvl="1">
              <a:buFont typeface="Arial" pitchFamily="34" charset="0"/>
              <a:buChar char="•"/>
            </a:pPr>
            <a:r>
              <a:rPr lang="en-AU" sz="1200" kern="1200" dirty="0" smtClean="0">
                <a:solidFill>
                  <a:schemeClr val="tx1"/>
                </a:solidFill>
                <a:ea typeface="+mn-ea"/>
                <a:cs typeface="+mn-cs"/>
              </a:rPr>
              <a:t> Changing the formant of the plans</a:t>
            </a:r>
          </a:p>
          <a:p>
            <a:pPr lvl="1">
              <a:buFont typeface="Arial" pitchFamily="34" charset="0"/>
              <a:buChar char="•"/>
            </a:pPr>
            <a:r>
              <a:rPr lang="en-AU" sz="1200" kern="1200" dirty="0" smtClean="0">
                <a:solidFill>
                  <a:schemeClr val="tx1"/>
                </a:solidFill>
                <a:ea typeface="+mn-ea"/>
                <a:cs typeface="+mn-cs"/>
              </a:rPr>
              <a:t> Revising allocation of roles and responsibilities as determined necessary by the evaluation</a:t>
            </a:r>
          </a:p>
          <a:p>
            <a:pPr lvl="1">
              <a:buFont typeface="Arial" pitchFamily="34" charset="0"/>
              <a:buChar char="•"/>
            </a:pPr>
            <a:r>
              <a:rPr lang="en-AU" sz="1200" kern="1200" dirty="0" smtClean="0">
                <a:solidFill>
                  <a:schemeClr val="tx1"/>
                </a:solidFill>
                <a:ea typeface="+mn-ea"/>
                <a:cs typeface="+mn-cs"/>
              </a:rPr>
              <a:t> Amending timelines.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1256231625"/>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ways to share information from evaluations and analyses:</a:t>
            </a:r>
          </a:p>
          <a:p>
            <a:pPr>
              <a:buFont typeface="Arial" pitchFamily="34" charset="0"/>
              <a:buChar char="•"/>
            </a:pPr>
            <a:r>
              <a:rPr lang="en-AU" sz="1200" kern="1200" dirty="0" smtClean="0">
                <a:solidFill>
                  <a:schemeClr val="tx1"/>
                </a:solidFill>
                <a:ea typeface="+mn-ea"/>
                <a:cs typeface="+mn-cs"/>
              </a:rPr>
              <a:t> Make a verbal report to:</a:t>
            </a:r>
          </a:p>
          <a:p>
            <a:pPr lvl="1">
              <a:buFont typeface="Arial" pitchFamily="34" charset="0"/>
              <a:buChar char="•"/>
            </a:pPr>
            <a:r>
              <a:rPr lang="en-AU" sz="1200" kern="1200" dirty="0" smtClean="0">
                <a:solidFill>
                  <a:schemeClr val="tx1"/>
                </a:solidFill>
                <a:ea typeface="+mn-ea"/>
                <a:cs typeface="+mn-cs"/>
              </a:rPr>
              <a:t> Management</a:t>
            </a:r>
          </a:p>
          <a:p>
            <a:pPr lvl="1">
              <a:buFont typeface="Arial" pitchFamily="34" charset="0"/>
              <a:buChar char="•"/>
            </a:pPr>
            <a:r>
              <a:rPr lang="en-AU" sz="1200" kern="1200" dirty="0" smtClean="0">
                <a:solidFill>
                  <a:schemeClr val="tx1"/>
                </a:solidFill>
                <a:ea typeface="+mn-ea"/>
                <a:cs typeface="+mn-cs"/>
              </a:rPr>
              <a:t> Nominated stakeholders – internal and/or external</a:t>
            </a:r>
          </a:p>
          <a:p>
            <a:pPr>
              <a:buFont typeface="Arial" pitchFamily="34" charset="0"/>
              <a:buChar char="•"/>
            </a:pPr>
            <a:r>
              <a:rPr lang="en-AU" sz="1200" kern="1200" dirty="0" smtClean="0">
                <a:solidFill>
                  <a:schemeClr val="tx1"/>
                </a:solidFill>
                <a:ea typeface="+mn-ea"/>
                <a:cs typeface="+mn-cs"/>
              </a:rPr>
              <a:t> Do a formal presentation on the findings which will entail a need to:</a:t>
            </a:r>
          </a:p>
          <a:p>
            <a:pPr lvl="1">
              <a:buFont typeface="Arial" pitchFamily="34" charset="0"/>
              <a:buChar char="•"/>
            </a:pPr>
            <a:r>
              <a:rPr lang="en-AU" sz="1200" kern="1200" dirty="0" smtClean="0">
                <a:solidFill>
                  <a:schemeClr val="tx1"/>
                </a:solidFill>
                <a:ea typeface="+mn-ea"/>
                <a:cs typeface="+mn-cs"/>
              </a:rPr>
              <a:t> Verbally present the final evaluation </a:t>
            </a:r>
          </a:p>
          <a:p>
            <a:pPr lvl="1">
              <a:buFont typeface="Arial" pitchFamily="34" charset="0"/>
              <a:buChar char="•"/>
            </a:pPr>
            <a:r>
              <a:rPr lang="en-AU" sz="1200" kern="1200" dirty="0" smtClean="0">
                <a:solidFill>
                  <a:schemeClr val="tx1"/>
                </a:solidFill>
                <a:ea typeface="+mn-ea"/>
                <a:cs typeface="+mn-cs"/>
              </a:rPr>
              <a:t> Explain aspects of it</a:t>
            </a:r>
          </a:p>
          <a:p>
            <a:pPr lvl="1">
              <a:buFont typeface="Arial" pitchFamily="34" charset="0"/>
              <a:buChar char="•"/>
            </a:pPr>
            <a:r>
              <a:rPr lang="en-AU" sz="1200" kern="1200" dirty="0" smtClean="0">
                <a:solidFill>
                  <a:schemeClr val="tx1"/>
                </a:solidFill>
                <a:ea typeface="+mn-ea"/>
                <a:cs typeface="+mn-cs"/>
              </a:rPr>
              <a:t> Defend decisions made</a:t>
            </a:r>
          </a:p>
          <a:p>
            <a:pPr lvl="1">
              <a:buFont typeface="Arial" pitchFamily="34" charset="0"/>
              <a:buChar char="•"/>
            </a:pPr>
            <a:r>
              <a:rPr lang="en-AU" sz="1200" kern="1200" dirty="0" smtClean="0">
                <a:solidFill>
                  <a:schemeClr val="tx1"/>
                </a:solidFill>
                <a:ea typeface="+mn-ea"/>
                <a:cs typeface="+mn-cs"/>
              </a:rPr>
              <a:t> Justify expenditure</a:t>
            </a:r>
          </a:p>
          <a:p>
            <a:pPr lvl="1">
              <a:buFont typeface="Arial" pitchFamily="34" charset="0"/>
              <a:buChar char="•"/>
            </a:pPr>
            <a:r>
              <a:rPr lang="en-AU" sz="1200" kern="1200" dirty="0" smtClean="0">
                <a:solidFill>
                  <a:schemeClr val="tx1"/>
                </a:solidFill>
                <a:ea typeface="+mn-ea"/>
                <a:cs typeface="+mn-cs"/>
              </a:rPr>
              <a:t> Confirm or clarify points arising</a:t>
            </a:r>
          </a:p>
          <a:p>
            <a:pPr lvl="1">
              <a:buFont typeface="Arial" pitchFamily="34" charset="0"/>
              <a:buChar char="•"/>
            </a:pPr>
            <a:r>
              <a:rPr lang="en-AU" sz="1200" kern="1200" dirty="0" smtClean="0">
                <a:solidFill>
                  <a:schemeClr val="tx1"/>
                </a:solidFill>
                <a:ea typeface="+mn-ea"/>
                <a:cs typeface="+mn-cs"/>
              </a:rPr>
              <a:t> Provide supporting/evidentiary documentation</a:t>
            </a:r>
          </a:p>
          <a:p>
            <a:pPr>
              <a:buFont typeface="Arial" pitchFamily="34" charset="0"/>
              <a:buChar char="•"/>
            </a:pPr>
            <a:r>
              <a:rPr lang="en-AU" sz="1200" kern="1200" dirty="0" smtClean="0">
                <a:solidFill>
                  <a:schemeClr val="tx1"/>
                </a:solidFill>
                <a:ea typeface="+mn-ea"/>
                <a:cs typeface="+mn-cs"/>
              </a:rPr>
              <a:t> Distribute draft safety plans for future VIP visits which have been prepared incorporating ‘lessons learned’ from the previous visit.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3453809334"/>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ways to share information from evaluations and analyses:</a:t>
            </a:r>
          </a:p>
          <a:p>
            <a:pPr>
              <a:buFont typeface="Arial" pitchFamily="34" charset="0"/>
              <a:buChar char="•"/>
            </a:pPr>
            <a:r>
              <a:rPr lang="en-AU" sz="1200" kern="1200" dirty="0" smtClean="0">
                <a:solidFill>
                  <a:schemeClr val="tx1"/>
                </a:solidFill>
                <a:ea typeface="+mn-ea"/>
                <a:cs typeface="+mn-cs"/>
              </a:rPr>
              <a:t> Circulate a formal report on the visit </a:t>
            </a:r>
          </a:p>
          <a:p>
            <a:pPr>
              <a:buFont typeface="Arial" pitchFamily="34" charset="0"/>
              <a:buChar char="•"/>
            </a:pPr>
            <a:r>
              <a:rPr lang="en-AU" sz="1200" kern="1200" dirty="0" smtClean="0">
                <a:solidFill>
                  <a:schemeClr val="tx1"/>
                </a:solidFill>
                <a:ea typeface="+mn-ea"/>
                <a:cs typeface="+mn-cs"/>
              </a:rPr>
              <a:t> Meet with key internal figures to discuss the findings.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would include:</a:t>
            </a:r>
          </a:p>
          <a:p>
            <a:pPr lvl="1">
              <a:buFont typeface="Arial" pitchFamily="34" charset="0"/>
              <a:buChar char="•"/>
            </a:pPr>
            <a:r>
              <a:rPr lang="en-AU" sz="1200" kern="1200" dirty="0" smtClean="0">
                <a:solidFill>
                  <a:schemeClr val="tx1"/>
                </a:solidFill>
                <a:ea typeface="+mn-ea"/>
                <a:cs typeface="+mn-cs"/>
              </a:rPr>
              <a:t> Managers and supervisors</a:t>
            </a:r>
          </a:p>
          <a:p>
            <a:pPr lvl="1">
              <a:buFont typeface="Arial" pitchFamily="34" charset="0"/>
              <a:buChar char="•"/>
            </a:pPr>
            <a:r>
              <a:rPr lang="en-AU" sz="1200" kern="1200" dirty="0" smtClean="0">
                <a:solidFill>
                  <a:schemeClr val="tx1"/>
                </a:solidFill>
                <a:ea typeface="+mn-ea"/>
                <a:cs typeface="+mn-cs"/>
              </a:rPr>
              <a:t> Other people with security management responsibilities</a:t>
            </a:r>
          </a:p>
          <a:p>
            <a:pPr lvl="1">
              <a:buFont typeface="Arial" pitchFamily="34" charset="0"/>
              <a:buChar char="•"/>
            </a:pPr>
            <a:r>
              <a:rPr lang="en-AU" sz="1200" kern="1200" dirty="0" smtClean="0">
                <a:solidFill>
                  <a:schemeClr val="tx1"/>
                </a:solidFill>
                <a:ea typeface="+mn-ea"/>
                <a:cs typeface="+mn-cs"/>
              </a:rPr>
              <a:t> Trainers and training staff so they integrate findings into in-house training</a:t>
            </a:r>
          </a:p>
          <a:p>
            <a:pPr lvl="1">
              <a:buFont typeface="Arial" pitchFamily="34" charset="0"/>
              <a:buChar char="•"/>
            </a:pPr>
            <a:r>
              <a:rPr lang="en-AU" sz="1200" kern="1200" dirty="0" smtClean="0">
                <a:solidFill>
                  <a:schemeClr val="tx1"/>
                </a:solidFill>
                <a:ea typeface="+mn-ea"/>
                <a:cs typeface="+mn-cs"/>
              </a:rPr>
              <a:t> Those with responsibility for preparing and updating venue policies and procedures so findings can be formalized into internal SOPs</a:t>
            </a:r>
          </a:p>
          <a:p>
            <a:pPr>
              <a:buFont typeface="Arial" pitchFamily="34" charset="0"/>
              <a:buChar char="•"/>
            </a:pPr>
            <a:r>
              <a:rPr lang="en-AU" sz="1200" kern="1200" dirty="0" smtClean="0">
                <a:solidFill>
                  <a:schemeClr val="tx1"/>
                </a:solidFill>
                <a:ea typeface="+mn-ea"/>
                <a:cs typeface="+mn-cs"/>
              </a:rPr>
              <a:t> Share the findings with relevant external stakeholders (police, third party security providers, VIP management) as approved by management.</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307422164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13995749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45196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4/6/2015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4/6/2015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4/6/2015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4/6/2015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4/6/2015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89.wmf"/></Relationships>
</file>

<file path=ppt/slides/_rels/slide9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notesSlide" Target="../notesSlides/notesSlide124.xml"/><Relationship Id="rId1" Type="http://schemas.openxmlformats.org/officeDocument/2006/relationships/slideLayout" Target="../slideLayouts/slideLayout2.xml"/><Relationship Id="rId4" Type="http://schemas.openxmlformats.org/officeDocument/2006/relationships/image" Target="../media/image118.wmf"/></Relationships>
</file>

<file path=ppt/slides/_rels/slide1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476672"/>
            <a:ext cx="7776192" cy="1152128"/>
          </a:xfrm>
        </p:spPr>
        <p:txBody>
          <a:bodyPr>
            <a:normAutofit fontScale="90000"/>
          </a:bodyPr>
          <a:lstStyle/>
          <a:p>
            <a:r>
              <a:rPr lang="en-AU" sz="4000" dirty="0" smtClean="0">
                <a:ln w="5000" cmpd="sng">
                  <a:noFill/>
                  <a:prstDash val="solid"/>
                </a:ln>
                <a:solidFill>
                  <a:srgbClr val="FF6600"/>
                </a:solidFill>
                <a:latin typeface="Helvetica" pitchFamily="34" charset="0"/>
              </a:rPr>
              <a:t>PROVIDE FOR THE SAFETY </a:t>
            </a:r>
            <a:br>
              <a:rPr lang="en-AU" sz="4000" dirty="0" smtClean="0">
                <a:ln w="5000" cmpd="sng">
                  <a:noFill/>
                  <a:prstDash val="solid"/>
                </a:ln>
                <a:solidFill>
                  <a:srgbClr val="FF6600"/>
                </a:solidFill>
                <a:latin typeface="Helvetica" pitchFamily="34" charset="0"/>
              </a:rPr>
            </a:br>
            <a:r>
              <a:rPr lang="en-AU" sz="4000" dirty="0" smtClean="0">
                <a:ln w="5000" cmpd="sng">
                  <a:noFill/>
                  <a:prstDash val="solid"/>
                </a:ln>
                <a:solidFill>
                  <a:srgbClr val="FF6600"/>
                </a:solidFill>
                <a:latin typeface="Helvetica" pitchFamily="34" charset="0"/>
              </a:rPr>
              <a:t>OF VIPs</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916832"/>
            <a:ext cx="2541268" cy="433758"/>
          </a:xfrm>
        </p:spPr>
        <p:txBody>
          <a:bodyPr>
            <a:normAutofit/>
          </a:bodyPr>
          <a:lstStyle/>
          <a:p>
            <a:r>
              <a:rPr lang="en-AU" sz="2100" b="1" dirty="0" smtClean="0">
                <a:latin typeface="Helvetica" pitchFamily="34" charset="0"/>
              </a:rPr>
              <a:t>D1.HSS.CL4.06</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pic>
        <p:nvPicPr>
          <p:cNvPr id="5" name="Picture 2" descr="C:\Documents and Settings\danielc\Desktop\Vip photos\566713_arrested.jpg"/>
          <p:cNvPicPr>
            <a:picLocks noChangeAspect="1" noChangeArrowheads="1"/>
          </p:cNvPicPr>
          <p:nvPr/>
        </p:nvPicPr>
        <p:blipFill>
          <a:blip r:embed="rId3" cstate="print"/>
          <a:srcRect/>
          <a:stretch>
            <a:fillRect/>
          </a:stretch>
        </p:blipFill>
        <p:spPr bwMode="auto">
          <a:xfrm>
            <a:off x="1142976" y="2857496"/>
            <a:ext cx="2299572" cy="26431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7" name="Picture 3" descr="C:\Documents and Settings\danielc\Desktop\Vip photos\585892_helicopter_2.jpg"/>
          <p:cNvPicPr>
            <a:picLocks noChangeAspect="1" noChangeArrowheads="1"/>
          </p:cNvPicPr>
          <p:nvPr/>
        </p:nvPicPr>
        <p:blipFill>
          <a:blip r:embed="rId4" cstate="print"/>
          <a:srcRect/>
          <a:stretch>
            <a:fillRect/>
          </a:stretch>
        </p:blipFill>
        <p:spPr bwMode="auto">
          <a:xfrm>
            <a:off x="5643570" y="2571744"/>
            <a:ext cx="2133600" cy="2857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descr="C:\Documents and Settings\danielc\Desktop\Vip photos\1401761_save_the_qeen.jpg"/>
          <p:cNvPicPr>
            <a:picLocks noChangeAspect="1" noChangeArrowheads="1"/>
          </p:cNvPicPr>
          <p:nvPr/>
        </p:nvPicPr>
        <p:blipFill>
          <a:blip r:embed="rId5" cstate="print"/>
          <a:srcRect/>
          <a:stretch>
            <a:fillRect/>
          </a:stretch>
        </p:blipFill>
        <p:spPr bwMode="auto">
          <a:xfrm>
            <a:off x="3357554" y="3500438"/>
            <a:ext cx="2500310" cy="16668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for the safety of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a:p>
            <a:pPr marL="360000" indent="-360000">
              <a:spcBef>
                <a:spcPts val="600"/>
              </a:spcBef>
              <a:spcAft>
                <a:spcPts val="1200"/>
              </a:spcAft>
            </a:pPr>
            <a:r>
              <a:rPr lang="en-US" sz="2200" dirty="0" smtClean="0">
                <a:latin typeface="Helvetica" pitchFamily="34" charset="0"/>
              </a:rPr>
              <a:t>Prepare for visits by VIPs</a:t>
            </a:r>
          </a:p>
          <a:p>
            <a:pPr marL="360000" indent="-360000">
              <a:spcBef>
                <a:spcPts val="600"/>
              </a:spcBef>
              <a:spcAft>
                <a:spcPts val="1200"/>
              </a:spcAft>
            </a:pPr>
            <a:r>
              <a:rPr lang="en-US" sz="2200" dirty="0" smtClean="0">
                <a:latin typeface="Helvetica" pitchFamily="34" charset="0"/>
              </a:rPr>
              <a:t>Implement plans for VIP safety</a:t>
            </a:r>
          </a:p>
          <a:p>
            <a:pPr marL="360000" indent="-360000">
              <a:spcBef>
                <a:spcPts val="600"/>
              </a:spcBef>
              <a:spcAft>
                <a:spcPts val="1200"/>
              </a:spcAft>
            </a:pPr>
            <a:r>
              <a:rPr lang="en-US" sz="2200" dirty="0" smtClean="0">
                <a:latin typeface="Helvetica" pitchFamily="34" charset="0"/>
              </a:rPr>
              <a:t>Conduct evaluation of plans following departure of VIP</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1026" name="Picture 2" descr="C:\Documents and Settings\danielc\Local Settings\Temporary Internet Files\Content.IE5\29XKYQ1Q\MP900444315[1].jpg"/>
          <p:cNvPicPr>
            <a:picLocks noChangeAspect="1" noChangeArrowheads="1"/>
          </p:cNvPicPr>
          <p:nvPr/>
        </p:nvPicPr>
        <p:blipFill>
          <a:blip r:embed="rId3" cstate="print"/>
          <a:srcRect/>
          <a:stretch>
            <a:fillRect/>
          </a:stretch>
        </p:blipFill>
        <p:spPr bwMode="auto">
          <a:xfrm>
            <a:off x="6072198" y="1714488"/>
            <a:ext cx="2012654" cy="1333885"/>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00B050"/>
              </a:buClr>
            </a:pPr>
            <a:r>
              <a:rPr lang="en-US" sz="2200" dirty="0" smtClean="0"/>
              <a:t>Oral questions</a:t>
            </a:r>
          </a:p>
          <a:p>
            <a:pPr marL="360000" indent="-360000">
              <a:spcBef>
                <a:spcPts val="600"/>
              </a:spcBef>
              <a:spcAft>
                <a:spcPts val="1200"/>
              </a:spcAft>
              <a:buClr>
                <a:srgbClr val="00B050"/>
              </a:buClr>
            </a:pPr>
            <a:r>
              <a:rPr lang="en-US" sz="2200" dirty="0" smtClean="0"/>
              <a:t>Written questions</a:t>
            </a:r>
          </a:p>
          <a:p>
            <a:pPr marL="360000" indent="-360000">
              <a:spcBef>
                <a:spcPts val="600"/>
              </a:spcBef>
              <a:spcAft>
                <a:spcPts val="1200"/>
              </a:spcAft>
              <a:buClr>
                <a:srgbClr val="00B050"/>
              </a:buClr>
            </a:pPr>
            <a:r>
              <a:rPr lang="en-US" sz="2200" dirty="0" smtClean="0"/>
              <a:t>Work projects</a:t>
            </a:r>
          </a:p>
          <a:p>
            <a:pPr marL="360000" indent="-360000">
              <a:spcBef>
                <a:spcPts val="600"/>
              </a:spcBef>
              <a:spcAft>
                <a:spcPts val="1200"/>
              </a:spcAft>
              <a:buClr>
                <a:srgbClr val="00B050"/>
              </a:buClr>
            </a:pPr>
            <a:r>
              <a:rPr lang="en-US" sz="2200" dirty="0" smtClean="0"/>
              <a:t>Workplace observation of practical skills</a:t>
            </a:r>
          </a:p>
          <a:p>
            <a:pPr marL="360000" indent="-360000">
              <a:spcBef>
                <a:spcPts val="600"/>
              </a:spcBef>
              <a:spcAft>
                <a:spcPts val="1200"/>
              </a:spcAft>
              <a:buClr>
                <a:srgbClr val="00B050"/>
              </a:buClr>
            </a:pPr>
            <a:r>
              <a:rPr lang="en-US" sz="2200" dirty="0" smtClean="0"/>
              <a:t>Practical exercises</a:t>
            </a:r>
          </a:p>
          <a:p>
            <a:pPr marL="360000" indent="-360000">
              <a:spcBef>
                <a:spcPts val="600"/>
              </a:spcBef>
              <a:spcAft>
                <a:spcPts val="1200"/>
              </a:spcAft>
              <a:buClr>
                <a:srgbClr val="00B050"/>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000760" y="2143116"/>
            <a:ext cx="2238389" cy="1490128"/>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for visits by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the nature of the visit by VIP</a:t>
            </a:r>
          </a:p>
          <a:p>
            <a:pPr marL="360000" indent="-360000">
              <a:spcBef>
                <a:spcPts val="600"/>
              </a:spcBef>
              <a:spcAft>
                <a:spcPts val="1200"/>
              </a:spcAft>
            </a:pPr>
            <a:r>
              <a:rPr lang="en-US" sz="2200" dirty="0" smtClean="0">
                <a:latin typeface="Helvetica" pitchFamily="34" charset="0"/>
              </a:rPr>
              <a:t>Liaise with relevant people regarding the visit</a:t>
            </a:r>
          </a:p>
          <a:p>
            <a:pPr marL="360000" indent="-360000">
              <a:spcBef>
                <a:spcPts val="600"/>
              </a:spcBef>
              <a:spcAft>
                <a:spcPts val="1200"/>
              </a:spcAft>
            </a:pPr>
            <a:r>
              <a:rPr lang="en-US" sz="2200" dirty="0" smtClean="0">
                <a:latin typeface="Helvetica" pitchFamily="34" charset="0"/>
              </a:rPr>
              <a:t>Identify factors impacting on VIP safety while at the premises</a:t>
            </a:r>
          </a:p>
          <a:p>
            <a:pPr marL="360000" indent="-360000">
              <a:spcBef>
                <a:spcPts val="600"/>
              </a:spcBef>
              <a:spcAft>
                <a:spcPts val="1200"/>
              </a:spcAft>
            </a:pPr>
            <a:r>
              <a:rPr lang="en-US" sz="2200" dirty="0" smtClean="0">
                <a:latin typeface="Helvetica" pitchFamily="34" charset="0"/>
              </a:rPr>
              <a:t>Create safety plans for the VIP visit</a:t>
            </a:r>
          </a:p>
          <a:p>
            <a:pPr marL="360000" indent="-360000">
              <a:spcBef>
                <a:spcPts val="600"/>
              </a:spcBef>
              <a:spcAft>
                <a:spcPts val="1200"/>
              </a:spcAft>
            </a:pPr>
            <a:r>
              <a:rPr lang="en-US" sz="2200" dirty="0" smtClean="0">
                <a:latin typeface="Helvetica" pitchFamily="34" charset="0"/>
              </a:rPr>
              <a:t>Identify resources required to support safety plans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500694" y="2143116"/>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643702" y="264318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214546" y="3643314"/>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429256" y="414338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286644" y="4714884"/>
            <a:ext cx="399154" cy="527046"/>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for visits by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Acquire necessary surveillance and communication equipment</a:t>
            </a:r>
          </a:p>
          <a:p>
            <a:pPr marL="360000" indent="-360000">
              <a:spcBef>
                <a:spcPts val="600"/>
              </a:spcBef>
              <a:spcAft>
                <a:spcPts val="1200"/>
              </a:spcAft>
            </a:pPr>
            <a:r>
              <a:rPr lang="en-US" sz="2200" dirty="0" smtClean="0">
                <a:latin typeface="Helvetica" pitchFamily="34" charset="0"/>
              </a:rPr>
              <a:t>Select staff to provide for VIP safety</a:t>
            </a:r>
          </a:p>
          <a:p>
            <a:pPr marL="360000" indent="-360000">
              <a:spcBef>
                <a:spcPts val="600"/>
              </a:spcBef>
              <a:spcAft>
                <a:spcPts val="1200"/>
              </a:spcAft>
            </a:pPr>
            <a:r>
              <a:rPr lang="en-US" sz="2200" dirty="0" smtClean="0">
                <a:latin typeface="Helvetica" pitchFamily="34" charset="0"/>
              </a:rPr>
              <a:t>Provide information to staff in relation to VIP safety and plans</a:t>
            </a:r>
          </a:p>
          <a:p>
            <a:pPr marL="360000" indent="-360000">
              <a:spcBef>
                <a:spcPts val="600"/>
              </a:spcBef>
              <a:spcAft>
                <a:spcPts val="1200"/>
              </a:spcAft>
            </a:pPr>
            <a:r>
              <a:rPr lang="en-US" sz="2200" dirty="0" smtClean="0">
                <a:latin typeface="Helvetica" pitchFamily="34" charset="0"/>
              </a:rPr>
              <a:t>Establish media liaison facilities and procedures</a:t>
            </a:r>
          </a:p>
          <a:p>
            <a:pPr marL="360000" indent="-360000">
              <a:spcBef>
                <a:spcPts val="600"/>
              </a:spcBef>
              <a:spcAft>
                <a:spcPts val="1200"/>
              </a:spcAft>
            </a:pPr>
            <a:r>
              <a:rPr lang="en-US" sz="2200" dirty="0" smtClean="0">
                <a:latin typeface="Helvetica" pitchFamily="34" charset="0"/>
              </a:rPr>
              <a:t>Conduct drills to trial safety plans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386896" y="1928802"/>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500694" y="242886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1785918" y="335756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000892" y="392906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214942" y="4500570"/>
            <a:ext cx="399154" cy="527046"/>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Step 1 for a VIP visit is to identify the nature of the visit and the VIP.</a:t>
            </a:r>
          </a:p>
          <a:p>
            <a:pPr marL="0" indent="0">
              <a:spcBef>
                <a:spcPts val="600"/>
              </a:spcBef>
              <a:spcAft>
                <a:spcPts val="1200"/>
              </a:spcAft>
              <a:buNone/>
            </a:pPr>
            <a:r>
              <a:rPr lang="en-US" sz="2200" dirty="0" smtClean="0">
                <a:latin typeface="Helvetica" pitchFamily="34" charset="0"/>
              </a:rPr>
              <a:t>VIP = Very Important Person.</a:t>
            </a:r>
          </a:p>
          <a:p>
            <a:pPr marL="0" indent="0">
              <a:spcBef>
                <a:spcPts val="600"/>
              </a:spcBef>
              <a:spcAft>
                <a:spcPts val="1200"/>
              </a:spcAft>
              <a:buNone/>
            </a:pPr>
            <a:r>
              <a:rPr lang="en-US" sz="2200" dirty="0" smtClean="0">
                <a:latin typeface="Helvetica" pitchFamily="34" charset="0"/>
              </a:rPr>
              <a:t>VIPs may be:</a:t>
            </a:r>
          </a:p>
          <a:p>
            <a:pPr marL="360000" indent="-360000">
              <a:spcBef>
                <a:spcPts val="600"/>
              </a:spcBef>
              <a:spcAft>
                <a:spcPts val="1200"/>
              </a:spcAft>
            </a:pPr>
            <a:r>
              <a:rPr lang="en-US" sz="2200" dirty="0" smtClean="0">
                <a:latin typeface="Helvetica" pitchFamily="34" charset="0"/>
              </a:rPr>
              <a:t>Male or female</a:t>
            </a:r>
          </a:p>
          <a:p>
            <a:pPr marL="360000" indent="-360000">
              <a:spcBef>
                <a:spcPts val="600"/>
              </a:spcBef>
              <a:spcAft>
                <a:spcPts val="1200"/>
              </a:spcAft>
            </a:pPr>
            <a:r>
              <a:rPr lang="en-US" sz="2200" dirty="0" smtClean="0">
                <a:latin typeface="Helvetica" pitchFamily="34" charset="0"/>
              </a:rPr>
              <a:t>Local or foreign</a:t>
            </a:r>
          </a:p>
          <a:p>
            <a:pPr marL="360000" indent="-360000">
              <a:spcBef>
                <a:spcPts val="600"/>
              </a:spcBef>
              <a:spcAft>
                <a:spcPts val="1200"/>
              </a:spcAft>
            </a:pPr>
            <a:r>
              <a:rPr lang="en-US" sz="2200" dirty="0" smtClean="0">
                <a:latin typeface="Helvetica" pitchFamily="34" charset="0"/>
              </a:rPr>
              <a:t>On their own or accompanied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C:\Documents and Settings\danielc\Desktop\1058533_vip_access.jpg"/>
          <p:cNvPicPr/>
          <p:nvPr/>
        </p:nvPicPr>
        <p:blipFill>
          <a:blip r:embed="rId3" cstate="print"/>
          <a:srcRect r="6188"/>
          <a:stretch>
            <a:fillRect/>
          </a:stretch>
        </p:blipFill>
        <p:spPr bwMode="auto">
          <a:xfrm>
            <a:off x="6072198" y="2786058"/>
            <a:ext cx="1945216" cy="13772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‘Entourage’ = those who accompany the VIP:</a:t>
            </a:r>
          </a:p>
          <a:p>
            <a:pPr marL="360000" indent="-360000">
              <a:spcBef>
                <a:spcPts val="600"/>
              </a:spcBef>
              <a:spcAft>
                <a:spcPts val="1200"/>
              </a:spcAft>
            </a:pPr>
            <a:r>
              <a:rPr lang="en-US" sz="2200" dirty="0" smtClean="0">
                <a:latin typeface="Helvetica" pitchFamily="34" charset="0"/>
              </a:rPr>
              <a:t>Personal staff of the VIP:</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Personal assistants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Media liaison and PR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Cooks/chefs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Bodyguards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Valets</a:t>
            </a:r>
          </a:p>
          <a:p>
            <a:pPr marL="360000" indent="-360000">
              <a:spcBef>
                <a:spcPts val="600"/>
              </a:spcBef>
              <a:spcAft>
                <a:spcPts val="1200"/>
              </a:spcAft>
            </a:pPr>
            <a:r>
              <a:rPr lang="en-US" sz="2200" dirty="0" smtClean="0">
                <a:latin typeface="Helvetica" pitchFamily="34" charset="0"/>
              </a:rPr>
              <a:t>Third party security providers and contractors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2050" name="Picture 2" descr="C:\Documents and Settings\danielc\Desktop\Vip photos\711240_celebrity.jpg"/>
          <p:cNvPicPr>
            <a:picLocks noChangeAspect="1" noChangeArrowheads="1"/>
          </p:cNvPicPr>
          <p:nvPr/>
        </p:nvPicPr>
        <p:blipFill>
          <a:blip r:embed="rId3" cstate="print"/>
          <a:srcRect/>
          <a:stretch>
            <a:fillRect/>
          </a:stretch>
        </p:blipFill>
        <p:spPr bwMode="auto">
          <a:xfrm>
            <a:off x="5857884" y="2428868"/>
            <a:ext cx="2190744" cy="1460496"/>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VIPs may include:</a:t>
            </a:r>
          </a:p>
          <a:p>
            <a:pPr marL="360000" indent="-360000">
              <a:spcBef>
                <a:spcPts val="600"/>
              </a:spcBef>
              <a:spcAft>
                <a:spcPts val="1200"/>
              </a:spcAft>
            </a:pPr>
            <a:r>
              <a:rPr lang="en-US" sz="2200" dirty="0" smtClean="0">
                <a:latin typeface="Helvetica" pitchFamily="34" charset="0"/>
              </a:rPr>
              <a:t>Royalty: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Kings </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Queens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Others?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3074" name="Picture 2" descr="C:\Documents and Settings\danielc\Local Settings\Temporary Internet Files\Content.IE5\112MAXTI\MP900341641[1].jpg"/>
          <p:cNvPicPr>
            <a:picLocks noChangeAspect="1" noChangeArrowheads="1"/>
          </p:cNvPicPr>
          <p:nvPr/>
        </p:nvPicPr>
        <p:blipFill>
          <a:blip r:embed="rId3" cstate="print"/>
          <a:srcRect/>
          <a:stretch>
            <a:fillRect/>
          </a:stretch>
        </p:blipFill>
        <p:spPr bwMode="auto">
          <a:xfrm>
            <a:off x="5214942" y="2428868"/>
            <a:ext cx="1508380" cy="2114552"/>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Politicians: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Presidents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Others?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4098" name="Picture 2" descr="C:\Documents and Settings\danielc\Local Settings\Temporary Internet Files\Content.IE5\UMECW9PM\MC900231219[1].wmf"/>
          <p:cNvPicPr>
            <a:picLocks noChangeAspect="1" noChangeArrowheads="1"/>
          </p:cNvPicPr>
          <p:nvPr/>
        </p:nvPicPr>
        <p:blipFill>
          <a:blip r:embed="rId3" cstate="print"/>
          <a:srcRect/>
          <a:stretch>
            <a:fillRect/>
          </a:stretch>
        </p:blipFill>
        <p:spPr bwMode="auto">
          <a:xfrm>
            <a:off x="4977852" y="1785926"/>
            <a:ext cx="2292600" cy="1714512"/>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Entertainers: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Pop/rock stars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Bands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Film stars/actors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TV performers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122" name="Picture 2" descr="C:\Documents and Settings\danielc\Local Settings\Temporary Internet Files\Content.IE5\Y88G682L\MC900057594[1].wmf"/>
          <p:cNvPicPr>
            <a:picLocks noChangeAspect="1" noChangeArrowheads="1"/>
          </p:cNvPicPr>
          <p:nvPr/>
        </p:nvPicPr>
        <p:blipFill>
          <a:blip r:embed="rId3" cstate="print"/>
          <a:srcRect/>
          <a:stretch>
            <a:fillRect/>
          </a:stretch>
        </p:blipFill>
        <p:spPr bwMode="auto">
          <a:xfrm>
            <a:off x="5643570" y="2285992"/>
            <a:ext cx="877824" cy="1809598"/>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Sports stars: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Local/domestic and foreign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Individuals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Teams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All types of sports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146" name="Picture 2" descr="C:\Program Files\Microsoft Office\MEDIA\CAGCAT10\j0285698.wmf"/>
          <p:cNvPicPr>
            <a:picLocks noChangeAspect="1" noChangeArrowheads="1"/>
          </p:cNvPicPr>
          <p:nvPr/>
        </p:nvPicPr>
        <p:blipFill>
          <a:blip r:embed="rId3" cstate="print"/>
          <a:srcRect/>
          <a:stretch>
            <a:fillRect/>
          </a:stretch>
        </p:blipFill>
        <p:spPr bwMode="auto">
          <a:xfrm>
            <a:off x="5786446" y="2143116"/>
            <a:ext cx="1707185" cy="1824228"/>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Celebrities: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Popular people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People with certain fame or notoriety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Competition winners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Those with a high or prominent profile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Anyone with a high-profile media presence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7171" name="Picture 3" descr="C:\Documents and Settings\danielc\Local Settings\Temporary Internet Files\Content.IE5\Y88G682L\MC900434435[1].wmf"/>
          <p:cNvPicPr>
            <a:picLocks noChangeAspect="1" noChangeArrowheads="1"/>
          </p:cNvPicPr>
          <p:nvPr/>
        </p:nvPicPr>
        <p:blipFill>
          <a:blip r:embed="rId3" cstate="print"/>
          <a:srcRect/>
          <a:stretch>
            <a:fillRect/>
          </a:stretch>
        </p:blipFill>
        <p:spPr bwMode="auto">
          <a:xfrm>
            <a:off x="6500826" y="2428868"/>
            <a:ext cx="1393825" cy="1831975"/>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Those who have received special honours: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Knights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Medal holders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Award-winners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8195" name="Picture 3" descr="C:\Documents and Settings\danielc\Local Settings\Temporary Internet Files\Content.IE5\XGIII3N1\MC900441936[1].wmf"/>
          <p:cNvPicPr>
            <a:picLocks noChangeAspect="1" noChangeArrowheads="1"/>
          </p:cNvPicPr>
          <p:nvPr/>
        </p:nvPicPr>
        <p:blipFill>
          <a:blip r:embed="rId3" cstate="print"/>
          <a:srcRect/>
          <a:stretch>
            <a:fillRect/>
          </a:stretch>
        </p:blipFill>
        <p:spPr bwMode="auto">
          <a:xfrm>
            <a:off x="5643570" y="2428868"/>
            <a:ext cx="2051050" cy="1787525"/>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VIPs may visit:</a:t>
            </a:r>
          </a:p>
          <a:p>
            <a:pPr marL="360000" indent="-360000">
              <a:spcBef>
                <a:spcPts val="600"/>
              </a:spcBef>
              <a:spcAft>
                <a:spcPts val="1200"/>
              </a:spcAft>
            </a:pPr>
            <a:r>
              <a:rPr lang="en-US" sz="2200" dirty="0" smtClean="0">
                <a:latin typeface="Helvetica" pitchFamily="34" charset="0"/>
              </a:rPr>
              <a:t>As a stopover which is part of a longer journey</a:t>
            </a:r>
          </a:p>
          <a:p>
            <a:pPr marL="360000" indent="-360000">
              <a:spcBef>
                <a:spcPts val="600"/>
              </a:spcBef>
              <a:spcAft>
                <a:spcPts val="1200"/>
              </a:spcAft>
            </a:pPr>
            <a:r>
              <a:rPr lang="en-US" sz="2200" dirty="0" smtClean="0">
                <a:latin typeface="Helvetica" pitchFamily="34" charset="0"/>
              </a:rPr>
              <a:t>To perform in a professional capacity</a:t>
            </a:r>
          </a:p>
          <a:p>
            <a:pPr marL="360000" indent="-360000">
              <a:spcBef>
                <a:spcPts val="600"/>
              </a:spcBef>
              <a:spcAft>
                <a:spcPts val="1200"/>
              </a:spcAft>
            </a:pPr>
            <a:r>
              <a:rPr lang="en-US" sz="2200" dirty="0" smtClean="0">
                <a:latin typeface="Helvetica" pitchFamily="34" charset="0"/>
              </a:rPr>
              <a:t>For holidays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descr="430278_limousine_2.jpg"/>
          <p:cNvPicPr/>
          <p:nvPr/>
        </p:nvPicPr>
        <p:blipFill>
          <a:blip r:embed="rId3" cstate="print"/>
          <a:srcRect b="16406"/>
          <a:stretch>
            <a:fillRect/>
          </a:stretch>
        </p:blipFill>
        <p:spPr>
          <a:xfrm>
            <a:off x="6357950" y="2786058"/>
            <a:ext cx="1945217" cy="1207911"/>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Additional details of VIP visit to identify include:</a:t>
            </a:r>
          </a:p>
          <a:p>
            <a:pPr marL="360000" indent="-360000">
              <a:spcBef>
                <a:spcPts val="600"/>
              </a:spcBef>
              <a:spcAft>
                <a:spcPts val="1200"/>
              </a:spcAft>
            </a:pPr>
            <a:r>
              <a:rPr lang="en-US" sz="2200" dirty="0" smtClean="0">
                <a:latin typeface="Helvetica" pitchFamily="34" charset="0"/>
              </a:rPr>
              <a:t>Dates of visit and arrival</a:t>
            </a:r>
          </a:p>
          <a:p>
            <a:pPr marL="360000" indent="-360000">
              <a:spcBef>
                <a:spcPts val="600"/>
              </a:spcBef>
              <a:spcAft>
                <a:spcPts val="1200"/>
              </a:spcAft>
            </a:pPr>
            <a:r>
              <a:rPr lang="en-US" sz="2200" dirty="0" smtClean="0">
                <a:latin typeface="Helvetica" pitchFamily="34" charset="0"/>
              </a:rPr>
              <a:t>Relevant times and duration</a:t>
            </a:r>
          </a:p>
          <a:p>
            <a:pPr marL="360000" indent="-360000">
              <a:spcBef>
                <a:spcPts val="600"/>
              </a:spcBef>
              <a:spcAft>
                <a:spcPts val="1200"/>
              </a:spcAft>
            </a:pPr>
            <a:r>
              <a:rPr lang="en-US" sz="2200" dirty="0" smtClean="0">
                <a:latin typeface="Helvetica" pitchFamily="34" charset="0"/>
              </a:rPr>
              <a:t>Entourage details</a:t>
            </a:r>
          </a:p>
          <a:p>
            <a:pPr marL="360000" indent="-360000">
              <a:spcBef>
                <a:spcPts val="600"/>
              </a:spcBef>
              <a:spcAft>
                <a:spcPts val="1200"/>
              </a:spcAft>
            </a:pPr>
            <a:r>
              <a:rPr lang="en-US" sz="2200" dirty="0" smtClean="0">
                <a:latin typeface="Helvetica" pitchFamily="34" charset="0"/>
              </a:rPr>
              <a:t>Special requests, arrangements, preferences and requirements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9218" name="Picture 2" descr="C:\Documents and Settings\danielc\Local Settings\Temporary Internet Files\Content.IE5\V9A2RTT8\MC900434914[1].png"/>
          <p:cNvPicPr>
            <a:picLocks noChangeAspect="1" noChangeArrowheads="1"/>
          </p:cNvPicPr>
          <p:nvPr/>
        </p:nvPicPr>
        <p:blipFill>
          <a:blip r:embed="rId3" cstate="print"/>
          <a:srcRect/>
          <a:stretch>
            <a:fillRect/>
          </a:stretch>
        </p:blipFill>
        <p:spPr bwMode="auto">
          <a:xfrm>
            <a:off x="6215074" y="2214554"/>
            <a:ext cx="1500047" cy="1500047"/>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of visit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identifying details about an upcoming VIP visit:</a:t>
            </a:r>
          </a:p>
          <a:p>
            <a:pPr marL="360000" indent="-360000">
              <a:spcBef>
                <a:spcPts val="600"/>
              </a:spcBef>
              <a:spcAft>
                <a:spcPts val="1200"/>
              </a:spcAft>
            </a:pPr>
            <a:r>
              <a:rPr lang="en-US" sz="2200" dirty="0" smtClean="0">
                <a:latin typeface="Helvetica" pitchFamily="34" charset="0"/>
              </a:rPr>
              <a:t>Record the details – never rely on memory and  </a:t>
            </a:r>
            <a:br>
              <a:rPr lang="en-US" sz="2200" dirty="0" smtClean="0">
                <a:latin typeface="Helvetica" pitchFamily="34" charset="0"/>
              </a:rPr>
            </a:br>
            <a:r>
              <a:rPr lang="en-US" sz="2200" dirty="0" smtClean="0">
                <a:latin typeface="Helvetica" pitchFamily="34" charset="0"/>
              </a:rPr>
              <a:t>never rely on others</a:t>
            </a:r>
          </a:p>
          <a:p>
            <a:pPr marL="360000" indent="-360000">
              <a:spcBef>
                <a:spcPts val="600"/>
              </a:spcBef>
              <a:spcAft>
                <a:spcPts val="1200"/>
              </a:spcAft>
            </a:pPr>
            <a:r>
              <a:rPr lang="en-US" sz="2200" dirty="0" smtClean="0">
                <a:latin typeface="Helvetica" pitchFamily="34" charset="0"/>
              </a:rPr>
              <a:t>Use a small notebook – it’s low-tech but very </a:t>
            </a:r>
            <a:br>
              <a:rPr lang="en-US" sz="2200" dirty="0" smtClean="0">
                <a:latin typeface="Helvetica" pitchFamily="34" charset="0"/>
              </a:rPr>
            </a:br>
            <a:r>
              <a:rPr lang="en-US" sz="2200" dirty="0" smtClean="0">
                <a:latin typeface="Helvetica" pitchFamily="34" charset="0"/>
              </a:rPr>
              <a:t>effective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10242" name="Picture 2" descr="C:\Documents and Settings\danielc\Local Settings\Temporary Internet Files\Content.IE5\3Y3SDCJX\MP900448685[1].jpg"/>
          <p:cNvPicPr>
            <a:picLocks noChangeAspect="1" noChangeArrowheads="1"/>
          </p:cNvPicPr>
          <p:nvPr/>
        </p:nvPicPr>
        <p:blipFill>
          <a:blip r:embed="rId3" cstate="print"/>
          <a:srcRect/>
          <a:stretch>
            <a:fillRect/>
          </a:stretch>
        </p:blipFill>
        <p:spPr bwMode="auto">
          <a:xfrm>
            <a:off x="6876256" y="2780928"/>
            <a:ext cx="1571620" cy="235743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All VIP visits require ‘liaison’ with others:</a:t>
            </a:r>
          </a:p>
          <a:p>
            <a:pPr marL="360000" indent="-360000">
              <a:spcBef>
                <a:spcPts val="600"/>
              </a:spcBef>
              <a:spcAft>
                <a:spcPts val="1200"/>
              </a:spcAft>
            </a:pPr>
            <a:r>
              <a:rPr lang="en-US" sz="2200" dirty="0" smtClean="0">
                <a:latin typeface="Helvetica" pitchFamily="34" charset="0"/>
              </a:rPr>
              <a:t>Communication must be two-way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VIP/entourage to you</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You to VIP/entourage/managers</a:t>
            </a:r>
          </a:p>
          <a:p>
            <a:pPr marL="360000" indent="-360000">
              <a:spcBef>
                <a:spcPts val="600"/>
              </a:spcBef>
              <a:spcAft>
                <a:spcPts val="1200"/>
              </a:spcAft>
            </a:pPr>
            <a:r>
              <a:rPr lang="en-US" sz="2200" dirty="0" smtClean="0">
                <a:latin typeface="Helvetica" pitchFamily="34" charset="0"/>
              </a:rPr>
              <a:t>Make sure you document all communications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11266" name="Picture 2" descr="C:\Documents and Settings\danielc\Local Settings\Temporary Internet Files\Content.IE5\XGIII3N1\MP900448686[1].jpg"/>
          <p:cNvPicPr>
            <a:picLocks noChangeAspect="1" noChangeArrowheads="1"/>
          </p:cNvPicPr>
          <p:nvPr/>
        </p:nvPicPr>
        <p:blipFill>
          <a:blip r:embed="rId3" cstate="print"/>
          <a:srcRect/>
          <a:stretch>
            <a:fillRect/>
          </a:stretch>
        </p:blipFill>
        <p:spPr bwMode="auto">
          <a:xfrm>
            <a:off x="6143636" y="2214554"/>
            <a:ext cx="2071670" cy="1381114"/>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Liaison and communication may be required with:</a:t>
            </a:r>
          </a:p>
          <a:p>
            <a:pPr marL="360000" indent="-360000">
              <a:spcBef>
                <a:spcPts val="600"/>
              </a:spcBef>
              <a:spcAft>
                <a:spcPts val="1200"/>
              </a:spcAft>
            </a:pPr>
            <a:r>
              <a:rPr lang="en-US" sz="2200" dirty="0" smtClean="0">
                <a:latin typeface="Helvetica" pitchFamily="34" charset="0"/>
              </a:rPr>
              <a:t>Managers – tour managers/VIP managers and handlers</a:t>
            </a:r>
          </a:p>
          <a:p>
            <a:pPr marL="360000" indent="-360000">
              <a:spcBef>
                <a:spcPts val="600"/>
              </a:spcBef>
              <a:spcAft>
                <a:spcPts val="1200"/>
              </a:spcAft>
            </a:pPr>
            <a:r>
              <a:rPr lang="en-US" sz="2200" dirty="0" smtClean="0">
                <a:latin typeface="Helvetica" pitchFamily="34" charset="0"/>
              </a:rPr>
              <a:t>Local authorities</a:t>
            </a:r>
          </a:p>
          <a:p>
            <a:pPr marL="360000" indent="-360000">
              <a:spcBef>
                <a:spcPts val="600"/>
              </a:spcBef>
              <a:spcAft>
                <a:spcPts val="1200"/>
              </a:spcAft>
            </a:pPr>
            <a:r>
              <a:rPr lang="en-US" sz="2200" dirty="0" smtClean="0">
                <a:latin typeface="Helvetica" pitchFamily="34" charset="0"/>
              </a:rPr>
              <a:t>VIP staff and entourage</a:t>
            </a:r>
          </a:p>
          <a:p>
            <a:pPr marL="360000" indent="-360000">
              <a:spcBef>
                <a:spcPts val="600"/>
              </a:spcBef>
              <a:spcAft>
                <a:spcPts val="1200"/>
              </a:spcAft>
            </a:pPr>
            <a:r>
              <a:rPr lang="en-US" sz="2200" dirty="0" smtClean="0">
                <a:latin typeface="Helvetica" pitchFamily="34" charset="0"/>
              </a:rPr>
              <a:t>Security staff</a:t>
            </a:r>
          </a:p>
          <a:p>
            <a:pPr marL="360000" indent="-360000">
              <a:spcBef>
                <a:spcPts val="600"/>
              </a:spcBef>
              <a:spcAft>
                <a:spcPts val="1200"/>
              </a:spcAft>
            </a:pPr>
            <a:r>
              <a:rPr lang="en-US" sz="2200" dirty="0" smtClean="0">
                <a:latin typeface="Helvetica" pitchFamily="34" charset="0"/>
              </a:rPr>
              <a:t>Government/embassy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descr="C:\Documents and Settings\danielc\Local Settings\Temporary Internet Files\Content.IE5\XGIII3N1\MC900233435[1].wmf"/>
          <p:cNvPicPr/>
          <p:nvPr/>
        </p:nvPicPr>
        <p:blipFill>
          <a:blip r:embed="rId3" cstate="print"/>
          <a:srcRect/>
          <a:stretch>
            <a:fillRect/>
          </a:stretch>
        </p:blipFill>
        <p:spPr bwMode="auto">
          <a:xfrm>
            <a:off x="6215074" y="2928934"/>
            <a:ext cx="1245306" cy="16030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VIP managers and handlers:</a:t>
            </a:r>
          </a:p>
          <a:p>
            <a:pPr marL="360000" indent="-360000">
              <a:spcBef>
                <a:spcPts val="600"/>
              </a:spcBef>
              <a:spcAft>
                <a:spcPts val="1200"/>
              </a:spcAft>
            </a:pPr>
            <a:r>
              <a:rPr lang="en-US" sz="2200" dirty="0" smtClean="0">
                <a:latin typeface="Helvetica" pitchFamily="34" charset="0"/>
              </a:rPr>
              <a:t>Not all VIPs have/travel with managers or handlers</a:t>
            </a:r>
          </a:p>
          <a:p>
            <a:pPr marL="360000" indent="-360000">
              <a:spcBef>
                <a:spcPts val="600"/>
              </a:spcBef>
              <a:spcAft>
                <a:spcPts val="1200"/>
              </a:spcAft>
            </a:pPr>
            <a:r>
              <a:rPr lang="en-US" sz="2200" dirty="0" smtClean="0">
                <a:latin typeface="Helvetica" pitchFamily="34" charset="0"/>
              </a:rPr>
              <a:t>They are responsible for arranging and organising the visit</a:t>
            </a:r>
          </a:p>
          <a:p>
            <a:pPr marL="360000" indent="-360000">
              <a:spcBef>
                <a:spcPts val="600"/>
              </a:spcBef>
              <a:spcAft>
                <a:spcPts val="1200"/>
              </a:spcAft>
            </a:pPr>
            <a:r>
              <a:rPr lang="en-US" sz="2200" dirty="0" smtClean="0">
                <a:latin typeface="Helvetica" pitchFamily="34" charset="0"/>
              </a:rPr>
              <a:t>They manage problems and issues on behalf of the VIP</a:t>
            </a:r>
          </a:p>
          <a:p>
            <a:pPr marL="360000" indent="-360000">
              <a:spcBef>
                <a:spcPts val="600"/>
              </a:spcBef>
              <a:spcAft>
                <a:spcPts val="1200"/>
              </a:spcAft>
            </a:pPr>
            <a:r>
              <a:rPr lang="en-US" sz="2200" dirty="0" smtClean="0">
                <a:latin typeface="Helvetica" pitchFamily="34" charset="0"/>
              </a:rPr>
              <a:t>There will be regular communication with them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C:\Documents and Settings\danielc\Desktop\1105263_one_call.jpg"/>
          <p:cNvPicPr/>
          <p:nvPr/>
        </p:nvPicPr>
        <p:blipFill>
          <a:blip r:embed="rId3" cstate="print"/>
          <a:srcRect/>
          <a:stretch>
            <a:fillRect/>
          </a:stretch>
        </p:blipFill>
        <p:spPr bwMode="auto">
          <a:xfrm>
            <a:off x="3712280" y="4572008"/>
            <a:ext cx="1719439" cy="128693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Managers/handlers will:</a:t>
            </a:r>
          </a:p>
          <a:p>
            <a:pPr marL="360000" indent="-360000">
              <a:spcBef>
                <a:spcPts val="600"/>
              </a:spcBef>
              <a:spcAft>
                <a:spcPts val="1200"/>
              </a:spcAft>
            </a:pPr>
            <a:r>
              <a:rPr lang="en-US" sz="2200" dirty="0" smtClean="0">
                <a:latin typeface="Helvetica" pitchFamily="34" charset="0"/>
              </a:rPr>
              <a:t>Provide you with standard requirements</a:t>
            </a:r>
          </a:p>
          <a:p>
            <a:pPr marL="360000" indent="-360000">
              <a:spcBef>
                <a:spcPts val="600"/>
              </a:spcBef>
              <a:spcAft>
                <a:spcPts val="1200"/>
              </a:spcAft>
            </a:pPr>
            <a:r>
              <a:rPr lang="en-US" sz="2200" dirty="0" smtClean="0">
                <a:latin typeface="Helvetica" pitchFamily="34" charset="0"/>
              </a:rPr>
              <a:t>Provide you with updates as they take place</a:t>
            </a:r>
          </a:p>
          <a:p>
            <a:pPr marL="360000" indent="-360000">
              <a:spcBef>
                <a:spcPts val="600"/>
              </a:spcBef>
              <a:spcAft>
                <a:spcPts val="1200"/>
              </a:spcAft>
            </a:pPr>
            <a:r>
              <a:rPr lang="en-US" sz="2200" dirty="0" smtClean="0">
                <a:latin typeface="Helvetica" pitchFamily="34" charset="0"/>
              </a:rPr>
              <a:t>Demand you communicate with them to advise of issues, provide updates and confirm arrangements</a:t>
            </a:r>
          </a:p>
          <a:p>
            <a:pPr marL="360000" indent="-360000">
              <a:spcBef>
                <a:spcPts val="600"/>
              </a:spcBef>
              <a:spcAft>
                <a:spcPts val="1200"/>
              </a:spcAft>
            </a:pPr>
            <a:r>
              <a:rPr lang="en-US" sz="2200" dirty="0" smtClean="0">
                <a:latin typeface="Helvetica" pitchFamily="34" charset="0"/>
              </a:rPr>
              <a:t>Expect to be able to contact you easily 24/7</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12290" name="Picture 2" descr="C:\Documents and Settings\danielc\Local Settings\Temporary Internet Files\Content.IE5\UMECW9PM\MP900448494[1].jpg"/>
          <p:cNvPicPr>
            <a:picLocks noChangeAspect="1" noChangeArrowheads="1"/>
          </p:cNvPicPr>
          <p:nvPr/>
        </p:nvPicPr>
        <p:blipFill>
          <a:blip r:embed="rId3" cstate="print"/>
          <a:srcRect/>
          <a:stretch>
            <a:fillRect/>
          </a:stretch>
        </p:blipFill>
        <p:spPr bwMode="auto">
          <a:xfrm>
            <a:off x="3428992" y="4857760"/>
            <a:ext cx="1928827" cy="1285884"/>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Local authorities include:</a:t>
            </a:r>
          </a:p>
          <a:p>
            <a:pPr marL="360000" indent="-360000">
              <a:spcBef>
                <a:spcPts val="600"/>
              </a:spcBef>
              <a:spcAft>
                <a:spcPts val="1200"/>
              </a:spcAft>
            </a:pPr>
            <a:r>
              <a:rPr lang="en-US" sz="2200" dirty="0" smtClean="0">
                <a:latin typeface="Helvetica" pitchFamily="34" charset="0"/>
              </a:rPr>
              <a:t>Local politicians</a:t>
            </a:r>
          </a:p>
          <a:p>
            <a:pPr marL="360000" indent="-360000">
              <a:spcBef>
                <a:spcPts val="600"/>
              </a:spcBef>
              <a:spcAft>
                <a:spcPts val="1200"/>
              </a:spcAft>
            </a:pPr>
            <a:r>
              <a:rPr lang="en-US" sz="2200" dirty="0" smtClean="0">
                <a:latin typeface="Helvetica" pitchFamily="34" charset="0"/>
              </a:rPr>
              <a:t>Local council</a:t>
            </a:r>
          </a:p>
          <a:p>
            <a:pPr marL="360000" indent="-360000">
              <a:spcBef>
                <a:spcPts val="600"/>
              </a:spcBef>
              <a:spcAft>
                <a:spcPts val="1200"/>
              </a:spcAft>
            </a:pPr>
            <a:r>
              <a:rPr lang="en-US" sz="2200" dirty="0" smtClean="0">
                <a:latin typeface="Helvetica" pitchFamily="34" charset="0"/>
              </a:rPr>
              <a:t>Managers, department heads, heads of authorities and agencies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13314" name="Picture 2" descr="C:\Documents and Settings\danielc\Local Settings\Temporary Internet Files\Content.IE5\Y88G682L\MP900448576[1].jpg"/>
          <p:cNvPicPr>
            <a:picLocks noChangeAspect="1" noChangeArrowheads="1"/>
          </p:cNvPicPr>
          <p:nvPr/>
        </p:nvPicPr>
        <p:blipFill>
          <a:blip r:embed="rId3" cstate="print"/>
          <a:srcRect/>
          <a:stretch>
            <a:fillRect/>
          </a:stretch>
        </p:blipFill>
        <p:spPr bwMode="auto">
          <a:xfrm>
            <a:off x="6215074" y="1071546"/>
            <a:ext cx="1381119" cy="2071678"/>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Local police will always be advised of a VIP visit:</a:t>
            </a:r>
          </a:p>
          <a:p>
            <a:pPr marL="360000" indent="-360000">
              <a:spcBef>
                <a:spcPts val="600"/>
              </a:spcBef>
              <a:spcAft>
                <a:spcPts val="1200"/>
              </a:spcAft>
            </a:pPr>
            <a:r>
              <a:rPr lang="en-US" sz="2200" dirty="0" smtClean="0">
                <a:latin typeface="Helvetica" pitchFamily="34" charset="0"/>
              </a:rPr>
              <a:t>For operational reasons</a:t>
            </a:r>
          </a:p>
          <a:p>
            <a:pPr marL="360000" indent="-360000">
              <a:spcBef>
                <a:spcPts val="600"/>
              </a:spcBef>
              <a:spcAft>
                <a:spcPts val="1200"/>
              </a:spcAft>
            </a:pPr>
            <a:r>
              <a:rPr lang="en-US" sz="2200" dirty="0" smtClean="0">
                <a:latin typeface="Helvetica" pitchFamily="34" charset="0"/>
              </a:rPr>
              <a:t>As a courtesy</a:t>
            </a:r>
          </a:p>
          <a:p>
            <a:pPr marL="360000" indent="-360000">
              <a:spcBef>
                <a:spcPts val="600"/>
              </a:spcBef>
              <a:spcAft>
                <a:spcPts val="1200"/>
              </a:spcAft>
            </a:pPr>
            <a:r>
              <a:rPr lang="en-US" sz="2200" dirty="0" smtClean="0">
                <a:latin typeface="Helvetica" pitchFamily="34" charset="0"/>
              </a:rPr>
              <a:t>Assist with security and crowd control</a:t>
            </a:r>
          </a:p>
          <a:p>
            <a:pPr marL="360000" indent="-360000">
              <a:spcBef>
                <a:spcPts val="600"/>
              </a:spcBef>
              <a:spcAft>
                <a:spcPts val="1200"/>
              </a:spcAft>
            </a:pPr>
            <a:r>
              <a:rPr lang="en-US" sz="2200" dirty="0" smtClean="0">
                <a:latin typeface="Helvetica" pitchFamily="34" charset="0"/>
              </a:rPr>
              <a:t>Facilitate traffic movement and management</a:t>
            </a:r>
          </a:p>
          <a:p>
            <a:pPr marL="360000" indent="-360000">
              <a:spcBef>
                <a:spcPts val="600"/>
              </a:spcBef>
              <a:spcAft>
                <a:spcPts val="1200"/>
              </a:spcAft>
            </a:pPr>
            <a:r>
              <a:rPr lang="en-US" sz="2200" dirty="0" smtClean="0">
                <a:latin typeface="Helvetica" pitchFamily="34" charset="0"/>
              </a:rPr>
              <a:t>Provide intelligence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14338" name="Picture 2" descr="C:\Documents and Settings\danielc\Local Settings\Temporary Internet Files\Content.IE5\SIQ5KRQ3\MP900439353[2].jpg"/>
          <p:cNvPicPr>
            <a:picLocks noChangeAspect="1" noChangeArrowheads="1"/>
          </p:cNvPicPr>
          <p:nvPr/>
        </p:nvPicPr>
        <p:blipFill>
          <a:blip r:embed="rId3" cstate="print"/>
          <a:srcRect/>
          <a:stretch>
            <a:fillRect/>
          </a:stretch>
        </p:blipFill>
        <p:spPr bwMode="auto">
          <a:xfrm>
            <a:off x="6072198" y="2214554"/>
            <a:ext cx="2128830" cy="1419220"/>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VIP staff and entourage will contact you to:</a:t>
            </a:r>
          </a:p>
          <a:p>
            <a:pPr marL="360000" indent="-360000">
              <a:spcBef>
                <a:spcPts val="600"/>
              </a:spcBef>
              <a:spcAft>
                <a:spcPts val="1200"/>
              </a:spcAft>
            </a:pPr>
            <a:r>
              <a:rPr lang="en-US" sz="2200" dirty="0" smtClean="0">
                <a:latin typeface="Helvetica" pitchFamily="34" charset="0"/>
              </a:rPr>
              <a:t>Advise of their individual needs</a:t>
            </a:r>
          </a:p>
          <a:p>
            <a:pPr marL="360000" indent="-360000">
              <a:spcBef>
                <a:spcPts val="600"/>
              </a:spcBef>
              <a:spcAft>
                <a:spcPts val="1200"/>
              </a:spcAft>
            </a:pPr>
            <a:r>
              <a:rPr lang="en-US" sz="2200" dirty="0" smtClean="0">
                <a:latin typeface="Helvetica" pitchFamily="34" charset="0"/>
              </a:rPr>
              <a:t>Communicate updates and changes</a:t>
            </a:r>
          </a:p>
          <a:p>
            <a:pPr marL="360000" indent="-360000">
              <a:spcBef>
                <a:spcPts val="600"/>
              </a:spcBef>
              <a:spcAft>
                <a:spcPts val="1200"/>
              </a:spcAft>
            </a:pPr>
            <a:r>
              <a:rPr lang="en-US" sz="2200" dirty="0" smtClean="0">
                <a:latin typeface="Helvetica" pitchFamily="34" charset="0"/>
              </a:rPr>
              <a:t>Find out arrangements already made with managers and handlers</a:t>
            </a:r>
          </a:p>
          <a:p>
            <a:pPr marL="360000" indent="-360000">
              <a:spcBef>
                <a:spcPts val="600"/>
              </a:spcBef>
              <a:spcAft>
                <a:spcPts val="1200"/>
              </a:spcAft>
            </a:pPr>
            <a:r>
              <a:rPr lang="en-US" sz="2200" dirty="0" smtClean="0">
                <a:latin typeface="Helvetica" pitchFamily="34" charset="0"/>
              </a:rPr>
              <a:t>Seek local information and knowledge to facilitate the visit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15362" name="Picture 2" descr="C:\Documents and Settings\danielc\Desktop\Vip photos\767184_business_trip.jpg"/>
          <p:cNvPicPr>
            <a:picLocks noChangeAspect="1" noChangeArrowheads="1"/>
          </p:cNvPicPr>
          <p:nvPr/>
        </p:nvPicPr>
        <p:blipFill>
          <a:blip r:embed="rId3" cstate="print"/>
          <a:srcRect/>
          <a:stretch>
            <a:fillRect/>
          </a:stretch>
        </p:blipFill>
        <p:spPr bwMode="auto">
          <a:xfrm>
            <a:off x="6500826" y="1714488"/>
            <a:ext cx="1586919" cy="1433517"/>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External security staff will communicate regarding:</a:t>
            </a:r>
          </a:p>
          <a:p>
            <a:pPr marL="360000" indent="-360000">
              <a:spcBef>
                <a:spcPts val="600"/>
              </a:spcBef>
              <a:spcAft>
                <a:spcPts val="1200"/>
              </a:spcAft>
            </a:pPr>
            <a:r>
              <a:rPr lang="en-US" sz="2200" dirty="0" smtClean="0">
                <a:latin typeface="Helvetica" pitchFamily="34" charset="0"/>
              </a:rPr>
              <a:t>Identifying security requirements</a:t>
            </a:r>
          </a:p>
          <a:p>
            <a:pPr marL="360000" indent="-360000">
              <a:spcBef>
                <a:spcPts val="600"/>
              </a:spcBef>
              <a:spcAft>
                <a:spcPts val="1200"/>
              </a:spcAft>
            </a:pPr>
            <a:r>
              <a:rPr lang="en-US" sz="2200" dirty="0" smtClean="0">
                <a:latin typeface="Helvetica" pitchFamily="34" charset="0"/>
              </a:rPr>
              <a:t>Integrating their service provision with yours</a:t>
            </a:r>
          </a:p>
          <a:p>
            <a:pPr marL="360000" indent="-360000">
              <a:spcBef>
                <a:spcPts val="600"/>
              </a:spcBef>
              <a:spcAft>
                <a:spcPts val="1200"/>
              </a:spcAft>
            </a:pPr>
            <a:r>
              <a:rPr lang="en-US" sz="2200" dirty="0" smtClean="0">
                <a:latin typeface="Helvetica" pitchFamily="34" charset="0"/>
              </a:rPr>
              <a:t>Determining on-site resources and systems</a:t>
            </a:r>
          </a:p>
          <a:p>
            <a:pPr marL="360000" indent="-360000">
              <a:spcBef>
                <a:spcPts val="600"/>
              </a:spcBef>
              <a:spcAft>
                <a:spcPts val="1200"/>
              </a:spcAft>
            </a:pPr>
            <a:r>
              <a:rPr lang="en-US" sz="2200" dirty="0" smtClean="0">
                <a:latin typeface="Helvetica" pitchFamily="34" charset="0"/>
              </a:rPr>
              <a:t>Providing details on previous arrangements and threats</a:t>
            </a:r>
          </a:p>
          <a:p>
            <a:pPr marL="360000" indent="-360000">
              <a:spcBef>
                <a:spcPts val="600"/>
              </a:spcBef>
              <a:spcAft>
                <a:spcPts val="1200"/>
              </a:spcAft>
            </a:pPr>
            <a:r>
              <a:rPr lang="en-US" sz="2200" dirty="0" smtClean="0">
                <a:latin typeface="Helvetica" pitchFamily="34" charset="0"/>
              </a:rPr>
              <a:t>Helping with pre-arrival activities</a:t>
            </a:r>
          </a:p>
          <a:p>
            <a:pPr marL="360000" indent="-360000">
              <a:spcBef>
                <a:spcPts val="600"/>
              </a:spcBef>
              <a:spcAft>
                <a:spcPts val="1200"/>
              </a:spcAft>
            </a:pPr>
            <a:r>
              <a:rPr lang="en-US" sz="2200" dirty="0" smtClean="0">
                <a:latin typeface="Helvetica" pitchFamily="34" charset="0"/>
              </a:rPr>
              <a:t>Rosters and staffing</a:t>
            </a:r>
          </a:p>
          <a:p>
            <a:pPr marL="360000" indent="-360000">
              <a:spcBef>
                <a:spcPts val="600"/>
              </a:spcBef>
              <a:spcAft>
                <a:spcPts val="1200"/>
              </a:spcAft>
            </a:pPr>
            <a:r>
              <a:rPr lang="en-US" sz="2200" dirty="0" smtClean="0">
                <a:latin typeface="Helvetica" pitchFamily="34" charset="0"/>
              </a:rPr>
              <a:t>Screening of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16387" name="Picture 3" descr="C:\Documents and Settings\danielc\Local Settings\Temporary Internet Files\Content.IE5\V9A2RTT8\MC900391658[1].wmf"/>
          <p:cNvPicPr>
            <a:picLocks noChangeAspect="1" noChangeArrowheads="1"/>
          </p:cNvPicPr>
          <p:nvPr/>
        </p:nvPicPr>
        <p:blipFill>
          <a:blip r:embed="rId3" cstate="print"/>
          <a:srcRect/>
          <a:stretch>
            <a:fillRect/>
          </a:stretch>
        </p:blipFill>
        <p:spPr bwMode="auto">
          <a:xfrm>
            <a:off x="7072330" y="1714488"/>
            <a:ext cx="1841602" cy="1843430"/>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Government or the embassy is usually only involved where VIP is Royalty or Politician.</a:t>
            </a:r>
          </a:p>
          <a:p>
            <a:pPr marL="0" indent="0">
              <a:spcBef>
                <a:spcPts val="600"/>
              </a:spcBef>
              <a:spcAft>
                <a:spcPts val="1200"/>
              </a:spcAft>
              <a:buNone/>
            </a:pPr>
            <a:r>
              <a:rPr lang="en-US" sz="2200" dirty="0" smtClean="0"/>
              <a:t>T</a:t>
            </a:r>
            <a:r>
              <a:rPr lang="en-US" sz="2200" dirty="0" smtClean="0">
                <a:latin typeface="Helvetica" pitchFamily="34" charset="0"/>
              </a:rPr>
              <a:t>hey will liaise in relation to:</a:t>
            </a:r>
          </a:p>
          <a:p>
            <a:pPr marL="360000" indent="-360000">
              <a:spcBef>
                <a:spcPts val="600"/>
              </a:spcBef>
              <a:spcAft>
                <a:spcPts val="1200"/>
              </a:spcAft>
            </a:pPr>
            <a:r>
              <a:rPr lang="en-US" sz="2200" dirty="0" smtClean="0">
                <a:latin typeface="Helvetica" pitchFamily="34" charset="0"/>
              </a:rPr>
              <a:t>Development of programmes</a:t>
            </a:r>
          </a:p>
          <a:p>
            <a:pPr marL="360000" indent="-360000">
              <a:spcBef>
                <a:spcPts val="600"/>
              </a:spcBef>
              <a:spcAft>
                <a:spcPts val="1200"/>
              </a:spcAft>
            </a:pPr>
            <a:r>
              <a:rPr lang="en-US" sz="2200" dirty="0" smtClean="0">
                <a:latin typeface="Helvetica" pitchFamily="34" charset="0"/>
              </a:rPr>
              <a:t>Protocols</a:t>
            </a:r>
          </a:p>
          <a:p>
            <a:pPr marL="360000" indent="-360000">
              <a:spcBef>
                <a:spcPts val="600"/>
              </a:spcBef>
              <a:spcAft>
                <a:spcPts val="1200"/>
              </a:spcAft>
            </a:pPr>
            <a:r>
              <a:rPr lang="en-US" sz="2200" dirty="0" smtClean="0">
                <a:latin typeface="Helvetica" pitchFamily="34" charset="0"/>
              </a:rPr>
              <a:t>Security support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17411" name="Picture 3" descr="C:\Documents and Settings\danielc\Desktop\Vip photos\1057231_official_car_with_polish_flag.jpg"/>
          <p:cNvPicPr>
            <a:picLocks noChangeAspect="1" noChangeArrowheads="1"/>
          </p:cNvPicPr>
          <p:nvPr/>
        </p:nvPicPr>
        <p:blipFill>
          <a:blip r:embed="rId3" cstate="print"/>
          <a:srcRect/>
          <a:stretch>
            <a:fillRect/>
          </a:stretch>
        </p:blipFill>
        <p:spPr bwMode="auto">
          <a:xfrm>
            <a:off x="4929190" y="3071810"/>
            <a:ext cx="2857500" cy="981075"/>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Other topics which will be addressed as part of liaison and communication with ‘relevant others’:</a:t>
            </a:r>
          </a:p>
          <a:p>
            <a:pPr marL="360000" indent="-360000">
              <a:spcBef>
                <a:spcPts val="600"/>
              </a:spcBef>
              <a:spcAft>
                <a:spcPts val="1200"/>
              </a:spcAft>
            </a:pPr>
            <a:r>
              <a:rPr lang="en-US" sz="2200" dirty="0" smtClean="0">
                <a:latin typeface="Helvetica" pitchFamily="34" charset="0"/>
              </a:rPr>
              <a:t>Arrival and departure arrangements</a:t>
            </a:r>
          </a:p>
          <a:p>
            <a:pPr marL="360000" indent="-360000">
              <a:spcBef>
                <a:spcPts val="600"/>
              </a:spcBef>
              <a:spcAft>
                <a:spcPts val="1200"/>
              </a:spcAft>
            </a:pPr>
            <a:r>
              <a:rPr lang="en-US" sz="2200" dirty="0" smtClean="0">
                <a:latin typeface="Helvetica" pitchFamily="34" charset="0"/>
              </a:rPr>
              <a:t>Side travel, trips and tours</a:t>
            </a:r>
          </a:p>
          <a:p>
            <a:pPr marL="360000" indent="-360000">
              <a:spcBef>
                <a:spcPts val="600"/>
              </a:spcBef>
              <a:spcAft>
                <a:spcPts val="1200"/>
              </a:spcAft>
            </a:pPr>
            <a:r>
              <a:rPr lang="en-US" sz="2200" dirty="0" smtClean="0">
                <a:latin typeface="Helvetica" pitchFamily="34" charset="0"/>
              </a:rPr>
              <a:t>Entertainment</a:t>
            </a:r>
          </a:p>
          <a:p>
            <a:pPr marL="360000" indent="-360000">
              <a:spcBef>
                <a:spcPts val="600"/>
              </a:spcBef>
              <a:spcAft>
                <a:spcPts val="1200"/>
              </a:spcAft>
            </a:pPr>
            <a:r>
              <a:rPr lang="en-US" sz="2200" dirty="0" smtClean="0">
                <a:latin typeface="Helvetica" pitchFamily="34" charset="0"/>
              </a:rPr>
              <a:t>Use of in-house facilities</a:t>
            </a:r>
          </a:p>
          <a:p>
            <a:pPr marL="360000" indent="-360000">
              <a:spcBef>
                <a:spcPts val="600"/>
              </a:spcBef>
              <a:spcAft>
                <a:spcPts val="1200"/>
              </a:spcAft>
            </a:pPr>
            <a:r>
              <a:rPr lang="en-US" sz="2200" dirty="0" smtClean="0">
                <a:latin typeface="Helvetica" pitchFamily="34" charset="0"/>
              </a:rPr>
              <a:t>Integration of venue services with entourage service delivery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descr="C:\Documents and Settings\danielc\Local Settings\Temporary Internet Files\Content.IE5\3Y3SDCJX\MC900157367[1].wmf"/>
          <p:cNvPicPr/>
          <p:nvPr/>
        </p:nvPicPr>
        <p:blipFill>
          <a:blip r:embed="rId3" cstate="print"/>
          <a:srcRect/>
          <a:stretch>
            <a:fillRect/>
          </a:stretch>
        </p:blipFill>
        <p:spPr bwMode="auto">
          <a:xfrm>
            <a:off x="6429388" y="2571744"/>
            <a:ext cx="1211439" cy="16143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Liaise with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Food and beverages</a:t>
            </a:r>
          </a:p>
          <a:p>
            <a:pPr marL="360000" indent="-360000">
              <a:spcBef>
                <a:spcPts val="600"/>
              </a:spcBef>
              <a:spcAft>
                <a:spcPts val="1200"/>
              </a:spcAft>
            </a:pPr>
            <a:r>
              <a:rPr lang="en-US" sz="2200" dirty="0" smtClean="0">
                <a:latin typeface="Helvetica" pitchFamily="34" charset="0"/>
              </a:rPr>
              <a:t>Timing issues</a:t>
            </a:r>
          </a:p>
          <a:p>
            <a:pPr marL="360000" indent="-360000">
              <a:spcBef>
                <a:spcPts val="600"/>
              </a:spcBef>
              <a:spcAft>
                <a:spcPts val="1200"/>
              </a:spcAft>
            </a:pPr>
            <a:r>
              <a:rPr lang="en-US" sz="2200" dirty="0" smtClean="0">
                <a:latin typeface="Helvetica" pitchFamily="34" charset="0"/>
              </a:rPr>
              <a:t>Media liaison</a:t>
            </a:r>
          </a:p>
          <a:p>
            <a:pPr marL="360000" indent="-360000">
              <a:spcBef>
                <a:spcPts val="600"/>
              </a:spcBef>
              <a:spcAft>
                <a:spcPts val="1200"/>
              </a:spcAft>
            </a:pPr>
            <a:r>
              <a:rPr lang="en-US" sz="2200" dirty="0" smtClean="0">
                <a:latin typeface="Helvetica" pitchFamily="34" charset="0"/>
              </a:rPr>
              <a:t>Personal preferences</a:t>
            </a:r>
          </a:p>
          <a:p>
            <a:pPr marL="360000" indent="-360000">
              <a:spcBef>
                <a:spcPts val="600"/>
              </a:spcBef>
              <a:spcAft>
                <a:spcPts val="1200"/>
              </a:spcAft>
            </a:pPr>
            <a:r>
              <a:rPr lang="en-US" sz="2200" dirty="0" smtClean="0">
                <a:latin typeface="Helvetica" pitchFamily="34" charset="0"/>
              </a:rPr>
              <a:t>Account settlement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18434" name="Picture 2" descr="C:\Documents and Settings\danielc\Local Settings\Temporary Internet Files\Content.IE5\SIQ5KRQ3\MC900441994[1].wmf"/>
          <p:cNvPicPr>
            <a:picLocks noChangeAspect="1" noChangeArrowheads="1"/>
          </p:cNvPicPr>
          <p:nvPr/>
        </p:nvPicPr>
        <p:blipFill>
          <a:blip r:embed="rId3" cstate="print"/>
          <a:srcRect/>
          <a:stretch>
            <a:fillRect/>
          </a:stretch>
        </p:blipFill>
        <p:spPr bwMode="auto">
          <a:xfrm>
            <a:off x="5572132" y="2071678"/>
            <a:ext cx="1308100" cy="1854200"/>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a VIP is going to visit:</a:t>
            </a:r>
          </a:p>
          <a:p>
            <a:pPr marL="360000" indent="-360000">
              <a:spcBef>
                <a:spcPts val="600"/>
              </a:spcBef>
              <a:spcAft>
                <a:spcPts val="1200"/>
              </a:spcAft>
            </a:pPr>
            <a:r>
              <a:rPr lang="en-US" sz="2200" dirty="0" smtClean="0">
                <a:latin typeface="Helvetica" pitchFamily="34" charset="0"/>
              </a:rPr>
              <a:t>Safety plans must be prepared</a:t>
            </a:r>
          </a:p>
          <a:p>
            <a:pPr marL="360000" indent="-360000">
              <a:spcBef>
                <a:spcPts val="600"/>
              </a:spcBef>
              <a:spcAft>
                <a:spcPts val="1200"/>
              </a:spcAft>
            </a:pPr>
            <a:r>
              <a:rPr lang="en-US" sz="2200" dirty="0" smtClean="0">
                <a:latin typeface="Helvetica" pitchFamily="34" charset="0"/>
              </a:rPr>
              <a:t>Safety plans must reflect identified factors </a:t>
            </a:r>
            <a:br>
              <a:rPr lang="en-US" sz="2200" dirty="0" smtClean="0">
                <a:latin typeface="Helvetica" pitchFamily="34" charset="0"/>
              </a:rPr>
            </a:br>
            <a:r>
              <a:rPr lang="en-US" sz="2200" dirty="0" smtClean="0">
                <a:latin typeface="Helvetica" pitchFamily="34" charset="0"/>
              </a:rPr>
              <a:t>impacting on VIP safety during the visit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C:\Documents and Settings\danielc\Local Settings\Temporary Internet Files\Content.IE5\3Y3SDCJX\MC900055285[1].wmf"/>
          <p:cNvPicPr/>
          <p:nvPr/>
        </p:nvPicPr>
        <p:blipFill>
          <a:blip r:embed="rId3" cstate="print"/>
          <a:srcRect/>
          <a:stretch>
            <a:fillRect/>
          </a:stretch>
        </p:blipFill>
        <p:spPr bwMode="auto">
          <a:xfrm>
            <a:off x="6643702" y="1928802"/>
            <a:ext cx="1358194" cy="13998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Sources of information on threats/safety issues:</a:t>
            </a:r>
          </a:p>
          <a:p>
            <a:pPr marL="360000" indent="-360000">
              <a:spcBef>
                <a:spcPts val="600"/>
              </a:spcBef>
              <a:spcAft>
                <a:spcPts val="1200"/>
              </a:spcAft>
            </a:pPr>
            <a:r>
              <a:rPr lang="en-US" sz="2200" dirty="0" smtClean="0">
                <a:latin typeface="Helvetica" pitchFamily="34" charset="0"/>
              </a:rPr>
              <a:t>The VIP </a:t>
            </a:r>
          </a:p>
          <a:p>
            <a:pPr marL="360000" indent="-360000">
              <a:spcBef>
                <a:spcPts val="600"/>
              </a:spcBef>
              <a:spcAft>
                <a:spcPts val="1200"/>
              </a:spcAft>
            </a:pPr>
            <a:r>
              <a:rPr lang="en-US" sz="2200" dirty="0" smtClean="0">
                <a:latin typeface="Helvetica" pitchFamily="34" charset="0"/>
              </a:rPr>
              <a:t>Managers and handlers</a:t>
            </a:r>
          </a:p>
          <a:p>
            <a:pPr marL="360000" indent="-360000">
              <a:spcBef>
                <a:spcPts val="600"/>
              </a:spcBef>
              <a:spcAft>
                <a:spcPts val="1200"/>
              </a:spcAft>
            </a:pPr>
            <a:r>
              <a:rPr lang="en-US" sz="2200" dirty="0" smtClean="0">
                <a:latin typeface="Helvetica" pitchFamily="34" charset="0"/>
              </a:rPr>
              <a:t>Authorities</a:t>
            </a:r>
          </a:p>
          <a:p>
            <a:pPr marL="360000" indent="-360000">
              <a:spcBef>
                <a:spcPts val="600"/>
              </a:spcBef>
              <a:spcAft>
                <a:spcPts val="1200"/>
              </a:spcAft>
            </a:pPr>
            <a:r>
              <a:rPr lang="en-US" sz="2200" dirty="0" smtClean="0">
                <a:latin typeface="Helvetica" pitchFamily="34" charset="0"/>
              </a:rPr>
              <a:t>Monitoring the media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19458" name="Picture 2" descr="C:\Documents and Settings\danielc\Local Settings\Temporary Internet Files\Content.IE5\SIQ5KRQ3\MC900071003[1].wmf"/>
          <p:cNvPicPr>
            <a:picLocks noChangeAspect="1" noChangeArrowheads="1"/>
          </p:cNvPicPr>
          <p:nvPr/>
        </p:nvPicPr>
        <p:blipFill>
          <a:blip r:embed="rId3" cstate="print"/>
          <a:srcRect/>
          <a:stretch>
            <a:fillRect/>
          </a:stretch>
        </p:blipFill>
        <p:spPr bwMode="auto">
          <a:xfrm>
            <a:off x="5429256" y="2786058"/>
            <a:ext cx="1969129" cy="1287101"/>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Also consider:</a:t>
            </a:r>
          </a:p>
          <a:p>
            <a:pPr marL="360000" indent="-360000">
              <a:spcBef>
                <a:spcPts val="600"/>
              </a:spcBef>
              <a:spcAft>
                <a:spcPts val="1200"/>
              </a:spcAft>
            </a:pPr>
            <a:r>
              <a:rPr lang="en-US" sz="2200" dirty="0" smtClean="0">
                <a:latin typeface="Helvetica" pitchFamily="34" charset="0"/>
              </a:rPr>
              <a:t>Even a crowd which ‘loves’ the VIP can pose a risk</a:t>
            </a:r>
          </a:p>
          <a:p>
            <a:pPr marL="360000" indent="-360000">
              <a:spcBef>
                <a:spcPts val="600"/>
              </a:spcBef>
              <a:spcAft>
                <a:spcPts val="1200"/>
              </a:spcAft>
            </a:pPr>
            <a:r>
              <a:rPr lang="en-US" sz="2200" dirty="0" smtClean="0">
                <a:latin typeface="Helvetica" pitchFamily="34" charset="0"/>
              </a:rPr>
              <a:t>‘Minders’ are usually very honest about the information they provide</a:t>
            </a:r>
          </a:p>
          <a:p>
            <a:pPr marL="360000" indent="-360000">
              <a:spcBef>
                <a:spcPts val="600"/>
              </a:spcBef>
              <a:spcAft>
                <a:spcPts val="1200"/>
              </a:spcAft>
            </a:pPr>
            <a:r>
              <a:rPr lang="en-US" sz="2200" dirty="0" smtClean="0">
                <a:latin typeface="Helvetica" pitchFamily="34" charset="0"/>
              </a:rPr>
              <a:t>Many VIPs think they are ‘above the law’</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20482" name="Picture 2" descr="C:\Documents and Settings\danielc\Local Settings\Temporary Internet Files\Content.IE5\UMECW9PM\MC900149578[1].wmf"/>
          <p:cNvPicPr>
            <a:picLocks noChangeAspect="1" noChangeArrowheads="1"/>
          </p:cNvPicPr>
          <p:nvPr/>
        </p:nvPicPr>
        <p:blipFill>
          <a:blip r:embed="rId3" cstate="print"/>
          <a:srcRect/>
          <a:stretch>
            <a:fillRect/>
          </a:stretch>
        </p:blipFill>
        <p:spPr bwMode="auto">
          <a:xfrm>
            <a:off x="6429388" y="3286124"/>
            <a:ext cx="2450471" cy="1816729"/>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The reputation of the venue hinges on how the visit goes</a:t>
            </a:r>
          </a:p>
          <a:p>
            <a:pPr marL="360000" indent="-360000">
              <a:spcBef>
                <a:spcPts val="600"/>
              </a:spcBef>
              <a:spcAft>
                <a:spcPts val="1200"/>
              </a:spcAft>
            </a:pPr>
            <a:r>
              <a:rPr lang="en-US" sz="2200" dirty="0" smtClean="0">
                <a:latin typeface="Helvetica" pitchFamily="34" charset="0"/>
              </a:rPr>
              <a:t>Prepare for the worst and hope for the best</a:t>
            </a:r>
          </a:p>
          <a:p>
            <a:pPr marL="360000" indent="-360000">
              <a:spcBef>
                <a:spcPts val="600"/>
              </a:spcBef>
              <a:spcAft>
                <a:spcPts val="1200"/>
              </a:spcAft>
            </a:pPr>
            <a:r>
              <a:rPr lang="en-US" sz="2200" dirty="0" smtClean="0">
                <a:latin typeface="Helvetica" pitchFamily="34" charset="0"/>
              </a:rPr>
              <a:t>Develop and maintain open, regular and honest communication with the VIP and managers</a:t>
            </a:r>
          </a:p>
          <a:p>
            <a:pPr marL="360000" indent="-360000">
              <a:spcBef>
                <a:spcPts val="600"/>
              </a:spcBef>
              <a:spcAft>
                <a:spcPts val="1200"/>
              </a:spcAft>
            </a:pPr>
            <a:r>
              <a:rPr lang="en-US" sz="2200" dirty="0" smtClean="0">
                <a:latin typeface="Helvetica" pitchFamily="34" charset="0"/>
              </a:rPr>
              <a:t>Do your research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21506" name="Picture 2" descr="C:\Documents and Settings\danielc\Local Settings\Temporary Internet Files\Content.IE5\112MAXTI\MC900071055[1].wmf"/>
          <p:cNvPicPr>
            <a:picLocks noChangeAspect="1" noChangeArrowheads="1"/>
          </p:cNvPicPr>
          <p:nvPr/>
        </p:nvPicPr>
        <p:blipFill>
          <a:blip r:embed="rId3" cstate="print"/>
          <a:srcRect/>
          <a:stretch>
            <a:fillRect/>
          </a:stretch>
        </p:blipFill>
        <p:spPr bwMode="auto">
          <a:xfrm>
            <a:off x="6732240" y="3933056"/>
            <a:ext cx="1741283" cy="1424412"/>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Your responsibilities are to:</a:t>
            </a:r>
          </a:p>
          <a:p>
            <a:pPr marL="360000" indent="-360000">
              <a:spcBef>
                <a:spcPts val="600"/>
              </a:spcBef>
              <a:spcAft>
                <a:spcPts val="1200"/>
              </a:spcAft>
            </a:pPr>
            <a:r>
              <a:rPr lang="en-US" sz="2200" dirty="0" smtClean="0">
                <a:latin typeface="Helvetica" pitchFamily="34" charset="0"/>
              </a:rPr>
              <a:t>Identify and address threats within the venue</a:t>
            </a:r>
          </a:p>
          <a:p>
            <a:pPr marL="360000" indent="-360000">
              <a:spcBef>
                <a:spcPts val="600"/>
              </a:spcBef>
              <a:spcAft>
                <a:spcPts val="1200"/>
              </a:spcAft>
            </a:pPr>
            <a:r>
              <a:rPr lang="en-US" sz="2200" dirty="0" smtClean="0">
                <a:latin typeface="Helvetica" pitchFamily="34" charset="0"/>
              </a:rPr>
              <a:t>Liaise and cooperate with external security providers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22530" name="Picture 2" descr="C:\Documents and Settings\danielc\Desktop\701057_powerful.jpg"/>
          <p:cNvPicPr>
            <a:picLocks noChangeAspect="1" noChangeArrowheads="1"/>
          </p:cNvPicPr>
          <p:nvPr/>
        </p:nvPicPr>
        <p:blipFill>
          <a:blip r:embed="rId3" cstate="print">
            <a:grayscl/>
          </a:blip>
          <a:srcRect/>
          <a:stretch>
            <a:fillRect/>
          </a:stretch>
        </p:blipFill>
        <p:spPr bwMode="auto">
          <a:xfrm>
            <a:off x="3071802" y="3571876"/>
            <a:ext cx="2857500" cy="1905000"/>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Possible threats and issues relate to:</a:t>
            </a:r>
          </a:p>
          <a:p>
            <a:pPr marL="360000" indent="-360000">
              <a:spcBef>
                <a:spcPts val="600"/>
              </a:spcBef>
              <a:spcAft>
                <a:spcPts val="1200"/>
              </a:spcAft>
            </a:pPr>
            <a:r>
              <a:rPr lang="en-US" sz="2200" dirty="0" smtClean="0">
                <a:latin typeface="Helvetica" pitchFamily="34" charset="0"/>
              </a:rPr>
              <a:t>Crowd control</a:t>
            </a:r>
          </a:p>
          <a:p>
            <a:pPr marL="360000" indent="-360000">
              <a:spcBef>
                <a:spcPts val="600"/>
              </a:spcBef>
              <a:spcAft>
                <a:spcPts val="1200"/>
              </a:spcAft>
            </a:pPr>
            <a:r>
              <a:rPr lang="en-US" sz="2200" dirty="0" smtClean="0">
                <a:latin typeface="Helvetica" pitchFamily="34" charset="0"/>
              </a:rPr>
              <a:t>Routes to be taken</a:t>
            </a:r>
          </a:p>
          <a:p>
            <a:pPr marL="360000" indent="-360000">
              <a:spcBef>
                <a:spcPts val="600"/>
              </a:spcBef>
              <a:spcAft>
                <a:spcPts val="1200"/>
              </a:spcAft>
            </a:pPr>
            <a:r>
              <a:rPr lang="en-US" sz="2200" dirty="0" smtClean="0">
                <a:latin typeface="Helvetica" pitchFamily="34" charset="0"/>
              </a:rPr>
              <a:t>Media coverage</a:t>
            </a:r>
          </a:p>
          <a:p>
            <a:pPr marL="360000" indent="-360000">
              <a:spcBef>
                <a:spcPts val="600"/>
              </a:spcBef>
              <a:spcAft>
                <a:spcPts val="1200"/>
              </a:spcAft>
            </a:pPr>
            <a:r>
              <a:rPr lang="en-US" sz="2200" dirty="0" smtClean="0">
                <a:latin typeface="Helvetica" pitchFamily="34" charset="0"/>
              </a:rPr>
              <a:t>Weather and time of day</a:t>
            </a:r>
          </a:p>
          <a:p>
            <a:pPr marL="360000" indent="-360000">
              <a:spcBef>
                <a:spcPts val="600"/>
              </a:spcBef>
              <a:spcAft>
                <a:spcPts val="1200"/>
              </a:spcAft>
            </a:pPr>
            <a:r>
              <a:rPr lang="en-US" sz="2200" dirty="0" smtClean="0">
                <a:latin typeface="Helvetica" pitchFamily="34" charset="0"/>
              </a:rPr>
              <a:t>VIP behaviours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23554" name="Picture 2" descr="C:\Documents and Settings\danielc\Desktop\1394697_concert.jpg"/>
          <p:cNvPicPr>
            <a:picLocks noChangeAspect="1" noChangeArrowheads="1"/>
          </p:cNvPicPr>
          <p:nvPr/>
        </p:nvPicPr>
        <p:blipFill>
          <a:blip r:embed="rId3" cstate="print"/>
          <a:srcRect/>
          <a:stretch>
            <a:fillRect/>
          </a:stretch>
        </p:blipFill>
        <p:spPr bwMode="auto">
          <a:xfrm>
            <a:off x="5143504" y="2500306"/>
            <a:ext cx="2357434" cy="1768076"/>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relation to ‘crowd control’ your responsibility is:</a:t>
            </a:r>
          </a:p>
          <a:p>
            <a:pPr marL="360000" indent="-360000">
              <a:spcBef>
                <a:spcPts val="600"/>
              </a:spcBef>
              <a:spcAft>
                <a:spcPts val="1200"/>
              </a:spcAft>
            </a:pPr>
            <a:r>
              <a:rPr lang="en-US" sz="2200" dirty="0" smtClean="0">
                <a:latin typeface="Helvetica" pitchFamily="34" charset="0"/>
              </a:rPr>
              <a:t>Access to the venue</a:t>
            </a:r>
          </a:p>
          <a:p>
            <a:pPr marL="360000" indent="-360000">
              <a:spcBef>
                <a:spcPts val="600"/>
              </a:spcBef>
              <a:spcAft>
                <a:spcPts val="1200"/>
              </a:spcAft>
            </a:pPr>
            <a:r>
              <a:rPr lang="en-US" sz="2200" dirty="0" smtClean="0">
                <a:latin typeface="Helvetica" pitchFamily="34" charset="0"/>
              </a:rPr>
              <a:t>Departure from the venue</a:t>
            </a:r>
          </a:p>
          <a:p>
            <a:pPr marL="360000" indent="-360000">
              <a:spcBef>
                <a:spcPts val="600"/>
              </a:spcBef>
              <a:spcAft>
                <a:spcPts val="1200"/>
              </a:spcAft>
            </a:pPr>
            <a:r>
              <a:rPr lang="en-US" sz="2200" dirty="0" smtClean="0">
                <a:latin typeface="Helvetica" pitchFamily="34" charset="0"/>
              </a:rPr>
              <a:t>Movement within the venue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24578" name="Picture 2" descr="C:\Documents and Settings\danielc\Desktop\1063331_guard.jpg"/>
          <p:cNvPicPr>
            <a:picLocks noChangeAspect="1" noChangeArrowheads="1"/>
          </p:cNvPicPr>
          <p:nvPr/>
        </p:nvPicPr>
        <p:blipFill>
          <a:blip r:embed="rId3" cstate="print"/>
          <a:srcRect/>
          <a:stretch>
            <a:fillRect/>
          </a:stretch>
        </p:blipFill>
        <p:spPr bwMode="auto">
          <a:xfrm>
            <a:off x="6143636" y="2143116"/>
            <a:ext cx="1571623" cy="2357434"/>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‘Crowds’ pose the following threats and issues:</a:t>
            </a:r>
          </a:p>
          <a:p>
            <a:pPr marL="360000" indent="-360000">
              <a:spcBef>
                <a:spcPts val="600"/>
              </a:spcBef>
              <a:spcAft>
                <a:spcPts val="1200"/>
              </a:spcAft>
            </a:pPr>
            <a:r>
              <a:rPr lang="en-US" sz="2200" dirty="0" smtClean="0">
                <a:latin typeface="Helvetica" pitchFamily="34" charset="0"/>
              </a:rPr>
              <a:t>Blocked access</a:t>
            </a:r>
          </a:p>
          <a:p>
            <a:pPr marL="360000" indent="-360000">
              <a:spcBef>
                <a:spcPts val="600"/>
              </a:spcBef>
              <a:spcAft>
                <a:spcPts val="1200"/>
              </a:spcAft>
            </a:pPr>
            <a:r>
              <a:rPr lang="en-US" sz="2200" dirty="0" smtClean="0">
                <a:latin typeface="Helvetica" pitchFamily="34" charset="0"/>
              </a:rPr>
              <a:t>Risk of injury: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To VIP</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To crowd/others</a:t>
            </a:r>
          </a:p>
          <a:p>
            <a:pPr marL="360000" indent="-360000">
              <a:spcBef>
                <a:spcPts val="600"/>
              </a:spcBef>
              <a:spcAft>
                <a:spcPts val="1200"/>
              </a:spcAft>
            </a:pPr>
            <a:r>
              <a:rPr lang="en-US" sz="2200" dirty="0" smtClean="0">
                <a:latin typeface="Helvetica" pitchFamily="34" charset="0"/>
              </a:rPr>
              <a:t>Delays</a:t>
            </a:r>
          </a:p>
          <a:p>
            <a:pPr marL="360000" indent="-360000">
              <a:spcBef>
                <a:spcPts val="600"/>
              </a:spcBef>
              <a:spcAft>
                <a:spcPts val="1200"/>
              </a:spcAft>
            </a:pPr>
            <a:r>
              <a:rPr lang="en-US" sz="2200" dirty="0" smtClean="0">
                <a:latin typeface="Helvetica" pitchFamily="34" charset="0"/>
              </a:rPr>
              <a:t>Demonstrations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25602" name="Picture 2" descr="C:\Documents and Settings\danielc\Desktop\867119_crowd.jpg"/>
          <p:cNvPicPr>
            <a:picLocks noChangeAspect="1" noChangeArrowheads="1"/>
          </p:cNvPicPr>
          <p:nvPr/>
        </p:nvPicPr>
        <p:blipFill>
          <a:blip r:embed="rId3" cstate="print"/>
          <a:srcRect/>
          <a:stretch>
            <a:fillRect/>
          </a:stretch>
        </p:blipFill>
        <p:spPr bwMode="auto">
          <a:xfrm>
            <a:off x="5429256" y="2428868"/>
            <a:ext cx="2428872" cy="1619248"/>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Considerations relating to ‘routes to be taken’:</a:t>
            </a:r>
          </a:p>
          <a:p>
            <a:pPr marL="360000" indent="-360000">
              <a:spcBef>
                <a:spcPts val="600"/>
              </a:spcBef>
              <a:spcAft>
                <a:spcPts val="1200"/>
              </a:spcAft>
            </a:pPr>
            <a:r>
              <a:rPr lang="en-US" sz="2200" dirty="0" smtClean="0">
                <a:latin typeface="Helvetica" pitchFamily="34" charset="0"/>
              </a:rPr>
              <a:t>Physical hazards</a:t>
            </a:r>
          </a:p>
          <a:p>
            <a:pPr marL="360000" indent="-360000">
              <a:spcBef>
                <a:spcPts val="600"/>
              </a:spcBef>
              <a:spcAft>
                <a:spcPts val="1200"/>
              </a:spcAft>
            </a:pPr>
            <a:r>
              <a:rPr lang="en-US" sz="2200" dirty="0" smtClean="0">
                <a:latin typeface="Helvetica" pitchFamily="34" charset="0"/>
              </a:rPr>
              <a:t>Access points</a:t>
            </a:r>
          </a:p>
          <a:p>
            <a:pPr marL="360000" indent="-360000">
              <a:spcBef>
                <a:spcPts val="600"/>
              </a:spcBef>
              <a:spcAft>
                <a:spcPts val="1200"/>
              </a:spcAft>
            </a:pPr>
            <a:r>
              <a:rPr lang="en-US" sz="2200" dirty="0" smtClean="0">
                <a:latin typeface="Helvetica" pitchFamily="34" charset="0"/>
              </a:rPr>
              <a:t>Concealment opportunities</a:t>
            </a:r>
          </a:p>
          <a:p>
            <a:pPr marL="360000" indent="-360000">
              <a:spcBef>
                <a:spcPts val="600"/>
              </a:spcBef>
              <a:spcAft>
                <a:spcPts val="1200"/>
              </a:spcAft>
            </a:pPr>
            <a:r>
              <a:rPr lang="en-US" sz="2200" dirty="0" smtClean="0">
                <a:latin typeface="Helvetica" pitchFamily="34" charset="0"/>
              </a:rPr>
              <a:t>The shortest route is usually best</a:t>
            </a:r>
          </a:p>
          <a:p>
            <a:pPr marL="360000" indent="-360000">
              <a:spcBef>
                <a:spcPts val="600"/>
              </a:spcBef>
              <a:spcAft>
                <a:spcPts val="1200"/>
              </a:spcAft>
            </a:pPr>
            <a:r>
              <a:rPr lang="en-US" sz="2200" dirty="0" smtClean="0">
                <a:latin typeface="Helvetica" pitchFamily="34" charset="0"/>
              </a:rPr>
              <a:t>Privacy or publicity?</a:t>
            </a:r>
          </a:p>
          <a:p>
            <a:pPr marL="360000" indent="-360000">
              <a:spcBef>
                <a:spcPts val="600"/>
              </a:spcBef>
              <a:spcAft>
                <a:spcPts val="1200"/>
              </a:spcAft>
            </a:pPr>
            <a:r>
              <a:rPr lang="en-US" sz="2200" dirty="0" smtClean="0">
                <a:latin typeface="Helvetica" pitchFamily="34" charset="0"/>
              </a:rPr>
              <a:t>Line of sight coverage for CCTV and observation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26626" name="Picture 2" descr="C:\Documents and Settings\danielc\Local Settings\Temporary Internet Files\Content.IE5\SIQ5KRQ3\MC900295368[1].wmf"/>
          <p:cNvPicPr>
            <a:picLocks noChangeAspect="1" noChangeArrowheads="1"/>
          </p:cNvPicPr>
          <p:nvPr/>
        </p:nvPicPr>
        <p:blipFill>
          <a:blip r:embed="rId3" cstate="print"/>
          <a:srcRect/>
          <a:stretch>
            <a:fillRect/>
          </a:stretch>
        </p:blipFill>
        <p:spPr bwMode="auto">
          <a:xfrm>
            <a:off x="6286512" y="2285992"/>
            <a:ext cx="1376126" cy="1984315"/>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relation to ‘media’:</a:t>
            </a:r>
          </a:p>
          <a:p>
            <a:pPr marL="360000" indent="-360000">
              <a:spcBef>
                <a:spcPts val="600"/>
              </a:spcBef>
              <a:spcAft>
                <a:spcPts val="1200"/>
              </a:spcAft>
            </a:pPr>
            <a:r>
              <a:rPr lang="en-US" sz="2200" dirty="0" smtClean="0">
                <a:latin typeface="Helvetica" pitchFamily="34" charset="0"/>
              </a:rPr>
              <a:t>How many will there be?</a:t>
            </a:r>
          </a:p>
          <a:p>
            <a:pPr marL="360000" indent="-360000">
              <a:spcBef>
                <a:spcPts val="600"/>
              </a:spcBef>
              <a:spcAft>
                <a:spcPts val="1200"/>
              </a:spcAft>
            </a:pPr>
            <a:r>
              <a:rPr lang="en-US" sz="2200" dirty="0" smtClean="0">
                <a:latin typeface="Helvetica" pitchFamily="34" charset="0"/>
              </a:rPr>
              <a:t>Where will they be from?</a:t>
            </a:r>
          </a:p>
          <a:p>
            <a:pPr marL="360000" indent="-360000">
              <a:spcBef>
                <a:spcPts val="600"/>
              </a:spcBef>
              <a:spcAft>
                <a:spcPts val="1200"/>
              </a:spcAft>
            </a:pPr>
            <a:r>
              <a:rPr lang="en-US" sz="2200" dirty="0" smtClean="0">
                <a:latin typeface="Helvetica" pitchFamily="34" charset="0"/>
              </a:rPr>
              <a:t>What are their needs?</a:t>
            </a:r>
          </a:p>
          <a:p>
            <a:pPr marL="360000" indent="-360000">
              <a:spcBef>
                <a:spcPts val="600"/>
              </a:spcBef>
              <a:spcAft>
                <a:spcPts val="1200"/>
              </a:spcAft>
            </a:pPr>
            <a:r>
              <a:rPr lang="en-US" sz="2200" dirty="0" smtClean="0">
                <a:latin typeface="Helvetica" pitchFamily="34" charset="0"/>
              </a:rPr>
              <a:t>What is the attitude of the VIP to the media?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27650" name="Picture 2" descr="C:\Documents and Settings\danielc\Local Settings\Temporary Internet Files\Content.IE5\UMECW9PM\MP900386150[1].jpg"/>
          <p:cNvPicPr>
            <a:picLocks noChangeAspect="1" noChangeArrowheads="1"/>
          </p:cNvPicPr>
          <p:nvPr/>
        </p:nvPicPr>
        <p:blipFill>
          <a:blip r:embed="rId3" cstate="print"/>
          <a:srcRect/>
          <a:stretch>
            <a:fillRect/>
          </a:stretch>
        </p:blipFill>
        <p:spPr bwMode="auto">
          <a:xfrm>
            <a:off x="6786578" y="2143116"/>
            <a:ext cx="1307878" cy="1971676"/>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Threats/issues relating to ‘weather’ and ‘time of day’:</a:t>
            </a:r>
          </a:p>
          <a:p>
            <a:pPr marL="360000" indent="-360000">
              <a:spcBef>
                <a:spcPts val="600"/>
              </a:spcBef>
              <a:spcAft>
                <a:spcPts val="1200"/>
              </a:spcAft>
            </a:pPr>
            <a:r>
              <a:rPr lang="en-US" sz="2200" dirty="0" smtClean="0">
                <a:latin typeface="Helvetica" pitchFamily="34" charset="0"/>
              </a:rPr>
              <a:t>Keep up to date with weather forecasts</a:t>
            </a:r>
          </a:p>
          <a:p>
            <a:pPr marL="360000" indent="-360000">
              <a:spcBef>
                <a:spcPts val="600"/>
              </a:spcBef>
              <a:spcAft>
                <a:spcPts val="1200"/>
              </a:spcAft>
            </a:pPr>
            <a:r>
              <a:rPr lang="en-US" sz="2200" dirty="0" smtClean="0">
                <a:latin typeface="Helvetica" pitchFamily="34" charset="0"/>
              </a:rPr>
              <a:t>Different types of weather present (and/or eliminate) different potential problems</a:t>
            </a:r>
          </a:p>
          <a:p>
            <a:pPr marL="360000" indent="-360000">
              <a:spcBef>
                <a:spcPts val="600"/>
              </a:spcBef>
              <a:spcAft>
                <a:spcPts val="1200"/>
              </a:spcAft>
            </a:pPr>
            <a:r>
              <a:rPr lang="en-US" sz="2200" dirty="0" smtClean="0">
                <a:latin typeface="Helvetica" pitchFamily="34" charset="0"/>
              </a:rPr>
              <a:t>Different times of day create (and/or eliminate) different potential problems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28674" name="Picture 2" descr="C:\Documents and Settings\danielc\Local Settings\Temporary Internet Files\Content.IE5\V9A2RTT8\MC900311140[1].wmf"/>
          <p:cNvPicPr>
            <a:picLocks noChangeAspect="1" noChangeArrowheads="1"/>
          </p:cNvPicPr>
          <p:nvPr/>
        </p:nvPicPr>
        <p:blipFill>
          <a:blip r:embed="rId3" cstate="print"/>
          <a:srcRect/>
          <a:stretch>
            <a:fillRect/>
          </a:stretch>
        </p:blipFill>
        <p:spPr bwMode="auto">
          <a:xfrm>
            <a:off x="6215074" y="4143380"/>
            <a:ext cx="1837030" cy="1661465"/>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factors impacting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Possible behaviour of the VIP must be considered:</a:t>
            </a:r>
          </a:p>
          <a:p>
            <a:pPr marL="360000" indent="-360000">
              <a:spcBef>
                <a:spcPts val="600"/>
              </a:spcBef>
              <a:spcAft>
                <a:spcPts val="1200"/>
              </a:spcAft>
            </a:pPr>
            <a:r>
              <a:rPr lang="en-US" sz="2200" dirty="0" smtClean="0">
                <a:latin typeface="Helvetica" pitchFamily="34" charset="0"/>
              </a:rPr>
              <a:t>Aim to handle issues ‘in house’</a:t>
            </a:r>
          </a:p>
          <a:p>
            <a:pPr marL="360000" indent="-360000">
              <a:spcBef>
                <a:spcPts val="600"/>
              </a:spcBef>
              <a:spcAft>
                <a:spcPts val="1200"/>
              </a:spcAft>
            </a:pPr>
            <a:r>
              <a:rPr lang="en-US" sz="2200" dirty="0" smtClean="0">
                <a:latin typeface="Helvetica" pitchFamily="34" charset="0"/>
              </a:rPr>
              <a:t>Liaise with authorities</a:t>
            </a:r>
          </a:p>
          <a:p>
            <a:pPr marL="360000" indent="-360000">
              <a:spcBef>
                <a:spcPts val="600"/>
              </a:spcBef>
              <a:spcAft>
                <a:spcPts val="1200"/>
              </a:spcAft>
            </a:pPr>
            <a:r>
              <a:rPr lang="en-US" sz="2200" dirty="0" smtClean="0">
                <a:latin typeface="Helvetica" pitchFamily="34" charset="0"/>
              </a:rPr>
              <a:t>Try to identify the possible unacceptable or inappropriate behaviours and responses to same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29698" name="Picture 2" descr="C:\Documents and Settings\danielc\Local Settings\Temporary Internet Files\Content.IE5\V9A2RTT8\MP900184939[1].jpg"/>
          <p:cNvPicPr>
            <a:picLocks noChangeAspect="1" noChangeArrowheads="1"/>
          </p:cNvPicPr>
          <p:nvPr/>
        </p:nvPicPr>
        <p:blipFill>
          <a:blip r:embed="rId3" cstate="print"/>
          <a:srcRect/>
          <a:stretch>
            <a:fillRect/>
          </a:stretch>
        </p:blipFill>
        <p:spPr bwMode="auto">
          <a:xfrm>
            <a:off x="7143768" y="1643050"/>
            <a:ext cx="981073" cy="1471610"/>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Safety plans must be developed for every VIP in order to:</a:t>
            </a:r>
          </a:p>
          <a:p>
            <a:pPr marL="360000" indent="-360000">
              <a:spcBef>
                <a:spcPts val="600"/>
              </a:spcBef>
              <a:spcAft>
                <a:spcPts val="1200"/>
              </a:spcAft>
            </a:pPr>
            <a:r>
              <a:rPr lang="en-US" sz="2200" dirty="0" smtClean="0">
                <a:latin typeface="Helvetica" pitchFamily="34" charset="0"/>
              </a:rPr>
              <a:t>Protect VIP against threats, problems and danger</a:t>
            </a:r>
          </a:p>
          <a:p>
            <a:pPr marL="360000" indent="-360000">
              <a:spcBef>
                <a:spcPts val="600"/>
              </a:spcBef>
              <a:spcAft>
                <a:spcPts val="1200"/>
              </a:spcAft>
            </a:pPr>
            <a:r>
              <a:rPr lang="en-US" sz="2200" dirty="0" smtClean="0">
                <a:latin typeface="Helvetica" pitchFamily="34" charset="0"/>
              </a:rPr>
              <a:t>Minimise adverse impacts on others</a:t>
            </a:r>
          </a:p>
          <a:p>
            <a:pPr marL="360000" indent="-360000">
              <a:spcBef>
                <a:spcPts val="600"/>
              </a:spcBef>
              <a:spcAft>
                <a:spcPts val="1200"/>
              </a:spcAft>
            </a:pPr>
            <a:r>
              <a:rPr lang="en-US" sz="2200" dirty="0" smtClean="0">
                <a:latin typeface="Helvetica" pitchFamily="34" charset="0"/>
              </a:rPr>
              <a:t>Meet expectations</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30722" name="Picture 2" descr="C:\Documents and Settings\danielc\Local Settings\Temporary Internet Files\Content.IE5\UMECW9PM\MP900385553[1].jpg"/>
          <p:cNvPicPr>
            <a:picLocks noChangeAspect="1" noChangeArrowheads="1"/>
          </p:cNvPicPr>
          <p:nvPr/>
        </p:nvPicPr>
        <p:blipFill>
          <a:blip r:embed="rId3" cstate="print"/>
          <a:srcRect/>
          <a:stretch>
            <a:fillRect/>
          </a:stretch>
        </p:blipFill>
        <p:spPr bwMode="auto">
          <a:xfrm>
            <a:off x="6072198" y="2857496"/>
            <a:ext cx="2000264" cy="1428760"/>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Protect reputation of venue</a:t>
            </a:r>
          </a:p>
          <a:p>
            <a:pPr marL="360000" indent="-360000">
              <a:spcBef>
                <a:spcPts val="600"/>
              </a:spcBef>
              <a:spcAft>
                <a:spcPts val="1200"/>
              </a:spcAft>
            </a:pPr>
            <a:r>
              <a:rPr lang="en-US" sz="2200" dirty="0" smtClean="0">
                <a:latin typeface="Helvetica" pitchFamily="34" charset="0"/>
              </a:rPr>
              <a:t>Encourage repeat business</a:t>
            </a:r>
          </a:p>
          <a:p>
            <a:pPr marL="360000" indent="-360000">
              <a:spcBef>
                <a:spcPts val="600"/>
              </a:spcBef>
              <a:spcAft>
                <a:spcPts val="1200"/>
              </a:spcAft>
            </a:pPr>
            <a:r>
              <a:rPr lang="en-US" sz="2200" dirty="0" smtClean="0">
                <a:latin typeface="Helvetica" pitchFamily="34" charset="0"/>
              </a:rPr>
              <a:t>Demonstrate ‘due diligence’</a:t>
            </a:r>
          </a:p>
          <a:p>
            <a:pPr marL="360000" indent="-360000">
              <a:spcBef>
                <a:spcPts val="600"/>
              </a:spcBef>
              <a:spcAft>
                <a:spcPts val="1200"/>
              </a:spcAft>
            </a:pPr>
            <a:r>
              <a:rPr lang="en-US" sz="2200" dirty="0" smtClean="0">
                <a:latin typeface="Helvetica" pitchFamily="34" charset="0"/>
              </a:rPr>
              <a:t>Discharge ‘duty of care’ responsibilities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31746" name="Picture 2" descr="C:\Documents and Settings\danielc\Local Settings\Temporary Internet Files\Content.IE5\XGIII3N1\MP900402402[1].jpg"/>
          <p:cNvPicPr>
            <a:picLocks noChangeAspect="1" noChangeArrowheads="1"/>
          </p:cNvPicPr>
          <p:nvPr/>
        </p:nvPicPr>
        <p:blipFill>
          <a:blip r:embed="rId3" cstate="print"/>
          <a:srcRect/>
          <a:stretch>
            <a:fillRect/>
          </a:stretch>
        </p:blipFill>
        <p:spPr bwMode="auto">
          <a:xfrm>
            <a:off x="6500826" y="1571612"/>
            <a:ext cx="1398082" cy="2096100"/>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Points to consider when developing safety plans:</a:t>
            </a:r>
          </a:p>
          <a:p>
            <a:pPr marL="360000" indent="-360000">
              <a:spcBef>
                <a:spcPts val="600"/>
              </a:spcBef>
              <a:spcAft>
                <a:spcPts val="1200"/>
              </a:spcAft>
            </a:pPr>
            <a:r>
              <a:rPr lang="en-US" sz="2200" dirty="0" smtClean="0">
                <a:latin typeface="Helvetica" pitchFamily="34" charset="0"/>
              </a:rPr>
              <a:t>Every VIP visit demands a safety plan is created</a:t>
            </a:r>
          </a:p>
          <a:p>
            <a:pPr marL="360000" indent="-360000">
              <a:spcBef>
                <a:spcPts val="600"/>
              </a:spcBef>
              <a:spcAft>
                <a:spcPts val="1200"/>
              </a:spcAft>
            </a:pPr>
            <a:r>
              <a:rPr lang="en-US" sz="2200" dirty="0" smtClean="0">
                <a:latin typeface="Helvetica" pitchFamily="34" charset="0"/>
              </a:rPr>
              <a:t>Plans must be in writing</a:t>
            </a:r>
          </a:p>
          <a:p>
            <a:pPr marL="360000" indent="-360000">
              <a:spcBef>
                <a:spcPts val="600"/>
              </a:spcBef>
              <a:spcAft>
                <a:spcPts val="1200"/>
              </a:spcAft>
            </a:pPr>
            <a:r>
              <a:rPr lang="en-US" sz="2200" dirty="0" smtClean="0">
                <a:latin typeface="Helvetica" pitchFamily="34" charset="0"/>
              </a:rPr>
              <a:t>All identified threats/issues must be addressed</a:t>
            </a:r>
          </a:p>
          <a:p>
            <a:pPr marL="360000" indent="-360000">
              <a:spcBef>
                <a:spcPts val="600"/>
              </a:spcBef>
              <a:spcAft>
                <a:spcPts val="1200"/>
              </a:spcAft>
            </a:pPr>
            <a:r>
              <a:rPr lang="en-US" sz="2200" dirty="0" smtClean="0">
                <a:latin typeface="Helvetica" pitchFamily="34" charset="0"/>
              </a:rPr>
              <a:t>Some threats require multiple plans</a:t>
            </a:r>
          </a:p>
          <a:p>
            <a:pPr marL="360000" indent="-360000">
              <a:spcBef>
                <a:spcPts val="600"/>
              </a:spcBef>
              <a:spcAft>
                <a:spcPts val="1200"/>
              </a:spcAft>
              <a:buNone/>
            </a:pPr>
            <a:r>
              <a:rPr lang="en-US" sz="2200" dirty="0" smtClean="0">
                <a:latin typeface="Helvetica" pitchFamily="34" charset="0"/>
              </a:rPr>
              <a:t>(Continue)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32770" name="Picture 2" descr="C:\Documents and Settings\danielc\Local Settings\Temporary Internet Files\Content.IE5\3DV3UKH9\MP900442211[1].jpg"/>
          <p:cNvPicPr>
            <a:picLocks noChangeAspect="1" noChangeArrowheads="1"/>
          </p:cNvPicPr>
          <p:nvPr/>
        </p:nvPicPr>
        <p:blipFill>
          <a:blip r:embed="rId3" cstate="print"/>
          <a:srcRect/>
          <a:stretch>
            <a:fillRect/>
          </a:stretch>
        </p:blipFill>
        <p:spPr bwMode="auto">
          <a:xfrm>
            <a:off x="7358082" y="1571612"/>
            <a:ext cx="1333493" cy="200024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Involve and communicate with others when drafting the safety plans</a:t>
            </a:r>
          </a:p>
          <a:p>
            <a:pPr marL="360000" indent="-360000">
              <a:spcBef>
                <a:spcPts val="600"/>
              </a:spcBef>
              <a:spcAft>
                <a:spcPts val="1200"/>
              </a:spcAft>
            </a:pPr>
            <a:r>
              <a:rPr lang="en-US" sz="2200" dirty="0" smtClean="0">
                <a:latin typeface="Helvetica" pitchFamily="34" charset="0"/>
              </a:rPr>
              <a:t>Refer to many previous safety plans for earlier VIP visits and use and learn from them</a:t>
            </a:r>
          </a:p>
          <a:p>
            <a:pPr marL="360000" indent="-360000">
              <a:spcBef>
                <a:spcPts val="600"/>
              </a:spcBef>
              <a:spcAft>
                <a:spcPts val="1200"/>
              </a:spcAft>
            </a:pPr>
            <a:r>
              <a:rPr lang="en-US" sz="2200" dirty="0" smtClean="0">
                <a:latin typeface="Helvetica" pitchFamily="34" charset="0"/>
              </a:rPr>
              <a:t>Ensure ‘contingency plans’ are developed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33794" name="Picture 2" descr="C:\Documents and Settings\danielc\Local Settings\Temporary Internet Files\Content.IE5\V9A2RTT8\MP900182825[1].jpg"/>
          <p:cNvPicPr>
            <a:picLocks noChangeAspect="1" noChangeArrowheads="1"/>
          </p:cNvPicPr>
          <p:nvPr/>
        </p:nvPicPr>
        <p:blipFill>
          <a:blip r:embed="rId3" cstate="print"/>
          <a:srcRect/>
          <a:stretch>
            <a:fillRect/>
          </a:stretch>
        </p:blipFill>
        <p:spPr bwMode="auto">
          <a:xfrm>
            <a:off x="3357554" y="4214818"/>
            <a:ext cx="2614618" cy="1743079"/>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4862" y="1428736"/>
            <a:ext cx="7467600" cy="4525963"/>
          </a:xfrm>
        </p:spPr>
        <p:txBody>
          <a:bodyPr>
            <a:noAutofit/>
          </a:bodyPr>
          <a:lstStyle/>
          <a:p>
            <a:pPr marL="0" indent="0">
              <a:spcBef>
                <a:spcPts val="600"/>
              </a:spcBef>
              <a:spcAft>
                <a:spcPts val="1200"/>
              </a:spcAft>
              <a:buNone/>
            </a:pPr>
            <a:r>
              <a:rPr lang="en-US" sz="2100" dirty="0" smtClean="0">
                <a:latin typeface="Helvetica" pitchFamily="34" charset="0"/>
              </a:rPr>
              <a:t>Safety plans must be developed based on knowledge of:</a:t>
            </a:r>
          </a:p>
          <a:p>
            <a:pPr marL="360000" indent="-360000">
              <a:spcBef>
                <a:spcPts val="600"/>
              </a:spcBef>
              <a:spcAft>
                <a:spcPts val="1200"/>
              </a:spcAft>
            </a:pPr>
            <a:r>
              <a:rPr lang="en-US" sz="2100" dirty="0" smtClean="0">
                <a:latin typeface="Helvetica" pitchFamily="34" charset="0"/>
              </a:rPr>
              <a:t>Name of VIP</a:t>
            </a:r>
          </a:p>
          <a:p>
            <a:pPr marL="360000" indent="-360000">
              <a:spcBef>
                <a:spcPts val="600"/>
              </a:spcBef>
              <a:spcAft>
                <a:spcPts val="1200"/>
              </a:spcAft>
            </a:pPr>
            <a:r>
              <a:rPr lang="en-US" sz="2100" dirty="0" smtClean="0">
                <a:latin typeface="Helvetica" pitchFamily="34" charset="0"/>
              </a:rPr>
              <a:t>Local attitude to them</a:t>
            </a:r>
          </a:p>
          <a:p>
            <a:pPr marL="360000" indent="-360000">
              <a:spcBef>
                <a:spcPts val="600"/>
              </a:spcBef>
              <a:spcAft>
                <a:spcPts val="1200"/>
              </a:spcAft>
            </a:pPr>
            <a:r>
              <a:rPr lang="en-US" sz="2100" dirty="0" smtClean="0">
                <a:latin typeface="Helvetica" pitchFamily="34" charset="0"/>
              </a:rPr>
              <a:t>Reason for visit</a:t>
            </a:r>
          </a:p>
          <a:p>
            <a:pPr marL="360000" indent="-360000">
              <a:spcBef>
                <a:spcPts val="600"/>
              </a:spcBef>
              <a:spcAft>
                <a:spcPts val="1200"/>
              </a:spcAft>
            </a:pPr>
            <a:r>
              <a:rPr lang="en-US" sz="2100" dirty="0" smtClean="0">
                <a:latin typeface="Helvetica" pitchFamily="34" charset="0"/>
              </a:rPr>
              <a:t>Timing</a:t>
            </a:r>
          </a:p>
          <a:p>
            <a:pPr marL="360000" indent="-360000">
              <a:spcBef>
                <a:spcPts val="600"/>
              </a:spcBef>
              <a:spcAft>
                <a:spcPts val="1200"/>
              </a:spcAft>
            </a:pPr>
            <a:r>
              <a:rPr lang="en-US" sz="2100" dirty="0" smtClean="0">
                <a:latin typeface="Helvetica" pitchFamily="34" charset="0"/>
              </a:rPr>
              <a:t>Duration</a:t>
            </a:r>
          </a:p>
          <a:p>
            <a:pPr marL="360000" indent="-360000">
              <a:spcBef>
                <a:spcPts val="600"/>
              </a:spcBef>
              <a:spcAft>
                <a:spcPts val="1200"/>
              </a:spcAft>
            </a:pPr>
            <a:r>
              <a:rPr lang="en-US" sz="2100" dirty="0" smtClean="0">
                <a:latin typeface="Helvetica" pitchFamily="34" charset="0"/>
              </a:rPr>
              <a:t>Weather</a:t>
            </a:r>
          </a:p>
          <a:p>
            <a:pPr marL="360000" indent="-360000">
              <a:spcBef>
                <a:spcPts val="600"/>
              </a:spcBef>
              <a:spcAft>
                <a:spcPts val="1200"/>
              </a:spcAft>
            </a:pPr>
            <a:r>
              <a:rPr lang="en-US" sz="2100" dirty="0" smtClean="0">
                <a:latin typeface="Helvetica" pitchFamily="34" charset="0"/>
              </a:rPr>
              <a:t>Local conditions</a:t>
            </a:r>
          </a:p>
          <a:p>
            <a:pPr marL="360000" indent="-360000">
              <a:spcBef>
                <a:spcPts val="600"/>
              </a:spcBef>
              <a:spcAft>
                <a:spcPts val="1200"/>
              </a:spcAft>
              <a:buNone/>
            </a:pPr>
            <a:r>
              <a:rPr lang="en-US" sz="2100" dirty="0" smtClean="0">
                <a:latin typeface="Helvetica" pitchFamily="34" charset="0"/>
              </a:rPr>
              <a:t>(Continued)</a:t>
            </a: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34818" name="Picture 2" descr="C:\Documents and Settings\danielc\Local Settings\Temporary Internet Files\Content.IE5\3Y3SDCJX\MP900409403[1].jpg"/>
          <p:cNvPicPr>
            <a:picLocks noChangeAspect="1" noChangeArrowheads="1"/>
          </p:cNvPicPr>
          <p:nvPr/>
        </p:nvPicPr>
        <p:blipFill>
          <a:blip r:embed="rId3" cstate="print"/>
          <a:srcRect b="19999"/>
          <a:stretch>
            <a:fillRect/>
          </a:stretch>
        </p:blipFill>
        <p:spPr bwMode="auto">
          <a:xfrm>
            <a:off x="5143504" y="2357430"/>
            <a:ext cx="2143116" cy="1714512"/>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Size and composition of entourage</a:t>
            </a:r>
          </a:p>
          <a:p>
            <a:pPr marL="360000" indent="-360000">
              <a:spcBef>
                <a:spcPts val="600"/>
              </a:spcBef>
              <a:spcAft>
                <a:spcPts val="1200"/>
              </a:spcAft>
            </a:pPr>
            <a:r>
              <a:rPr lang="en-US" sz="2200" dirty="0" smtClean="0">
                <a:latin typeface="Helvetica" pitchFamily="34" charset="0"/>
              </a:rPr>
              <a:t>Assistance available</a:t>
            </a:r>
          </a:p>
          <a:p>
            <a:pPr marL="360000" indent="-360000">
              <a:spcBef>
                <a:spcPts val="600"/>
              </a:spcBef>
              <a:spcAft>
                <a:spcPts val="1200"/>
              </a:spcAft>
            </a:pPr>
            <a:r>
              <a:rPr lang="en-US" sz="2200" dirty="0" smtClean="0">
                <a:latin typeface="Helvetica" pitchFamily="34" charset="0"/>
              </a:rPr>
              <a:t>Input from VIP, managers and entourage</a:t>
            </a:r>
          </a:p>
          <a:p>
            <a:pPr marL="360000" indent="-360000">
              <a:spcBef>
                <a:spcPts val="600"/>
              </a:spcBef>
              <a:spcAft>
                <a:spcPts val="1200"/>
              </a:spcAft>
            </a:pPr>
            <a:r>
              <a:rPr lang="en-US" sz="2200" dirty="0" smtClean="0">
                <a:latin typeface="Helvetica" pitchFamily="34" charset="0"/>
              </a:rPr>
              <a:t>Previous experience</a:t>
            </a:r>
          </a:p>
          <a:p>
            <a:pPr marL="360000" indent="-360000">
              <a:spcBef>
                <a:spcPts val="600"/>
              </a:spcBef>
              <a:spcAft>
                <a:spcPts val="1200"/>
              </a:spcAft>
            </a:pPr>
            <a:r>
              <a:rPr lang="en-US" sz="2200" dirty="0" smtClean="0">
                <a:latin typeface="Helvetica" pitchFamily="34" charset="0"/>
              </a:rPr>
              <a:t>Identified threats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35842" name="Picture 2" descr="C:\Documents and Settings\danielc\Local Settings\Temporary Internet Files\Content.IE5\XGIII3N1\MP900409775[1].jpg"/>
          <p:cNvPicPr>
            <a:picLocks noChangeAspect="1" noChangeArrowheads="1"/>
          </p:cNvPicPr>
          <p:nvPr/>
        </p:nvPicPr>
        <p:blipFill>
          <a:blip r:embed="rId3" cstate="print"/>
          <a:srcRect/>
          <a:stretch>
            <a:fillRect/>
          </a:stretch>
        </p:blipFill>
        <p:spPr bwMode="auto">
          <a:xfrm>
            <a:off x="6429388" y="2214554"/>
            <a:ext cx="1928794" cy="1298923"/>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Specific requirements to address:</a:t>
            </a:r>
          </a:p>
          <a:p>
            <a:pPr marL="360000" indent="-360000">
              <a:spcBef>
                <a:spcPts val="600"/>
              </a:spcBef>
              <a:spcAft>
                <a:spcPts val="1200"/>
              </a:spcAft>
            </a:pPr>
            <a:r>
              <a:rPr lang="en-US" sz="2200" dirty="0" smtClean="0">
                <a:latin typeface="Helvetica" pitchFamily="34" charset="0"/>
              </a:rPr>
              <a:t>Preparing necessary procedures: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‘Prior to arrival’</a:t>
            </a:r>
          </a:p>
          <a:p>
            <a:pPr marL="720000" indent="-360000">
              <a:spcBef>
                <a:spcPts val="600"/>
              </a:spcBef>
              <a:spcAft>
                <a:spcPts val="1200"/>
              </a:spcAft>
              <a:buClr>
                <a:schemeClr val="accent1">
                  <a:lumMod val="75000"/>
                </a:schemeClr>
              </a:buClr>
              <a:buSzPct val="100000"/>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36866" name="Picture 2" descr="C:\Documents and Settings\danielc\Local Settings\Temporary Internet Files\Content.IE5\XGIII3N1\MC900056213[1].wmf"/>
          <p:cNvPicPr>
            <a:picLocks noChangeAspect="1" noChangeArrowheads="1"/>
          </p:cNvPicPr>
          <p:nvPr/>
        </p:nvPicPr>
        <p:blipFill>
          <a:blip r:embed="rId3" cstate="print"/>
          <a:srcRect/>
          <a:stretch>
            <a:fillRect/>
          </a:stretch>
        </p:blipFill>
        <p:spPr bwMode="auto">
          <a:xfrm>
            <a:off x="6215074" y="2500306"/>
            <a:ext cx="1646834" cy="1654150"/>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Preparing necessary procedures: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‘On arrival’ procedures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‘On arrival’ protocols</a:t>
            </a:r>
          </a:p>
          <a:p>
            <a:pPr marL="720000" indent="-360000">
              <a:spcBef>
                <a:spcPts val="600"/>
              </a:spcBef>
              <a:spcAft>
                <a:spcPts val="1200"/>
              </a:spcAft>
              <a:buClr>
                <a:schemeClr val="accent1">
                  <a:lumMod val="75000"/>
                </a:schemeClr>
              </a:buClr>
              <a:buSzPct val="100000"/>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37891" name="Picture 3" descr="C:\Documents and Settings\danielc\Local Settings\Temporary Internet Files\Content.IE5\XGIII3N1\MC900343897[1].wmf"/>
          <p:cNvPicPr>
            <a:picLocks noChangeAspect="1" noChangeArrowheads="1"/>
          </p:cNvPicPr>
          <p:nvPr/>
        </p:nvPicPr>
        <p:blipFill>
          <a:blip r:embed="rId3" cstate="print"/>
          <a:srcRect/>
          <a:stretch>
            <a:fillRect/>
          </a:stretch>
        </p:blipFill>
        <p:spPr bwMode="auto">
          <a:xfrm>
            <a:off x="5857884" y="2571744"/>
            <a:ext cx="1880006" cy="491033"/>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Preparing necessary procedures: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‘During stay’ procedures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‘On departure’ procedures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Preparation of running sheets: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On arrival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During stay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On departure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38914" name="Picture 2" descr="C:\Documents and Settings\danielc\Local Settings\Temporary Internet Files\Content.IE5\V9A2RTT8\MP900185034[1].jpg"/>
          <p:cNvPicPr>
            <a:picLocks noChangeAspect="1" noChangeArrowheads="1"/>
          </p:cNvPicPr>
          <p:nvPr/>
        </p:nvPicPr>
        <p:blipFill>
          <a:blip r:embed="rId3" cstate="print"/>
          <a:srcRect/>
          <a:stretch>
            <a:fillRect/>
          </a:stretch>
        </p:blipFill>
        <p:spPr bwMode="auto">
          <a:xfrm>
            <a:off x="5643570" y="1714488"/>
            <a:ext cx="1868238" cy="2788415"/>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Safety plans should also contain Appendices:</a:t>
            </a:r>
          </a:p>
          <a:p>
            <a:pPr marL="360000" indent="-360000">
              <a:spcBef>
                <a:spcPts val="600"/>
              </a:spcBef>
              <a:spcAft>
                <a:spcPts val="1200"/>
              </a:spcAft>
            </a:pPr>
            <a:r>
              <a:rPr lang="en-US" sz="2200" dirty="0" smtClean="0">
                <a:latin typeface="Helvetica" pitchFamily="34" charset="0"/>
              </a:rPr>
              <a:t>Naming stakeholders</a:t>
            </a:r>
          </a:p>
          <a:p>
            <a:pPr marL="360000" indent="-360000">
              <a:spcBef>
                <a:spcPts val="600"/>
              </a:spcBef>
              <a:spcAft>
                <a:spcPts val="1200"/>
              </a:spcAft>
            </a:pPr>
            <a:r>
              <a:rPr lang="en-US" sz="2200" dirty="0" smtClean="0">
                <a:latin typeface="Helvetica" pitchFamily="34" charset="0"/>
              </a:rPr>
              <a:t>Providing stakeholder contact details</a:t>
            </a:r>
          </a:p>
          <a:p>
            <a:pPr marL="360000" indent="-360000">
              <a:spcBef>
                <a:spcPts val="600"/>
              </a:spcBef>
              <a:spcAft>
                <a:spcPts val="1200"/>
              </a:spcAft>
            </a:pPr>
            <a:r>
              <a:rPr lang="en-US" sz="2200" dirty="0" smtClean="0">
                <a:latin typeface="Helvetica" pitchFamily="34" charset="0"/>
              </a:rPr>
              <a:t>Detailing scopes of authority</a:t>
            </a:r>
          </a:p>
          <a:p>
            <a:pPr marL="360000" indent="-360000">
              <a:spcBef>
                <a:spcPts val="600"/>
              </a:spcBef>
              <a:spcAft>
                <a:spcPts val="1200"/>
              </a:spcAft>
            </a:pPr>
            <a:r>
              <a:rPr lang="en-US" sz="2200" dirty="0" smtClean="0">
                <a:latin typeface="Helvetica" pitchFamily="34" charset="0"/>
              </a:rPr>
              <a:t>Time zones</a:t>
            </a:r>
          </a:p>
          <a:p>
            <a:pPr marL="360000" indent="-360000">
              <a:spcBef>
                <a:spcPts val="600"/>
              </a:spcBef>
              <a:spcAft>
                <a:spcPts val="1200"/>
              </a:spcAft>
            </a:pPr>
            <a:r>
              <a:rPr lang="en-US" sz="2200" dirty="0" smtClean="0">
                <a:latin typeface="Helvetica" pitchFamily="34" charset="0"/>
              </a:rPr>
              <a:t>Country dialling codes</a:t>
            </a:r>
          </a:p>
          <a:p>
            <a:pPr marL="360000" indent="-360000">
              <a:spcBef>
                <a:spcPts val="600"/>
              </a:spcBef>
              <a:spcAft>
                <a:spcPts val="1200"/>
              </a:spcAft>
            </a:pPr>
            <a:r>
              <a:rPr lang="en-US" sz="2200" dirty="0" smtClean="0">
                <a:latin typeface="Helvetica" pitchFamily="34" charset="0"/>
              </a:rPr>
              <a:t>List of scheduled meetings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39938" name="Picture 2" descr="C:\Documents and Settings\danielc\Local Settings\Temporary Internet Files\Content.IE5\112MAXTI\MP900425466[1].jpg"/>
          <p:cNvPicPr>
            <a:picLocks noChangeAspect="1" noChangeArrowheads="1"/>
          </p:cNvPicPr>
          <p:nvPr/>
        </p:nvPicPr>
        <p:blipFill>
          <a:blip r:embed="rId3" cstate="print"/>
          <a:srcRect/>
          <a:stretch>
            <a:fillRect/>
          </a:stretch>
        </p:blipFill>
        <p:spPr bwMode="auto">
          <a:xfrm>
            <a:off x="6143636" y="2285992"/>
            <a:ext cx="2143116" cy="2143116"/>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Safety plans must include reference to ‘roles and responsibilities’ for the following reasons:</a:t>
            </a:r>
          </a:p>
          <a:p>
            <a:pPr marL="360000" indent="-360000">
              <a:spcBef>
                <a:spcPts val="600"/>
              </a:spcBef>
              <a:spcAft>
                <a:spcPts val="1200"/>
              </a:spcAft>
            </a:pPr>
            <a:r>
              <a:rPr lang="en-US" sz="2200" dirty="0" smtClean="0">
                <a:latin typeface="Helvetica" pitchFamily="34" charset="0"/>
              </a:rPr>
              <a:t>Ensure authorised only access to VIP</a:t>
            </a:r>
          </a:p>
          <a:p>
            <a:pPr marL="360000" indent="-360000">
              <a:spcBef>
                <a:spcPts val="600"/>
              </a:spcBef>
              <a:spcAft>
                <a:spcPts val="1200"/>
              </a:spcAft>
            </a:pPr>
            <a:r>
              <a:rPr lang="en-US" sz="2200" dirty="0" smtClean="0">
                <a:latin typeface="Helvetica" pitchFamily="34" charset="0"/>
              </a:rPr>
              <a:t>Allocate staff</a:t>
            </a:r>
          </a:p>
          <a:p>
            <a:pPr marL="360000" indent="-360000">
              <a:spcBef>
                <a:spcPts val="600"/>
              </a:spcBef>
              <a:spcAft>
                <a:spcPts val="1200"/>
              </a:spcAft>
            </a:pPr>
            <a:r>
              <a:rPr lang="en-US" sz="2200" dirty="0" smtClean="0">
                <a:latin typeface="Helvetica" pitchFamily="34" charset="0"/>
              </a:rPr>
              <a:t>Facilitate staff screening</a:t>
            </a:r>
          </a:p>
          <a:p>
            <a:pPr marL="360000" indent="-360000">
              <a:spcBef>
                <a:spcPts val="600"/>
              </a:spcBef>
              <a:spcAft>
                <a:spcPts val="1200"/>
              </a:spcAft>
            </a:pPr>
            <a:r>
              <a:rPr lang="en-US" sz="2200" dirty="0" smtClean="0">
                <a:latin typeface="Helvetica" pitchFamily="34" charset="0"/>
              </a:rPr>
              <a:t>Allow VIP opportunity to reject allocated staff</a:t>
            </a:r>
          </a:p>
          <a:p>
            <a:pPr marL="360000" indent="-360000">
              <a:spcBef>
                <a:spcPts val="600"/>
              </a:spcBef>
              <a:spcAft>
                <a:spcPts val="1200"/>
              </a:spcAft>
            </a:pPr>
            <a:r>
              <a:rPr lang="en-US" sz="2200" dirty="0" smtClean="0">
                <a:latin typeface="Helvetica" pitchFamily="34" charset="0"/>
              </a:rPr>
              <a:t>Generate list for training, briefings and communication purposes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1026" name="Picture 2" descr="C:\Documents and Settings\danielc\Desktop\ID-10042874.jpg"/>
          <p:cNvPicPr>
            <a:picLocks noChangeAspect="1" noChangeArrowheads="1"/>
          </p:cNvPicPr>
          <p:nvPr/>
        </p:nvPicPr>
        <p:blipFill>
          <a:blip r:embed="rId3" cstate="print"/>
          <a:srcRect l="19577" t="8412" r="13301"/>
          <a:stretch>
            <a:fillRect/>
          </a:stretch>
        </p:blipFill>
        <p:spPr bwMode="auto">
          <a:xfrm>
            <a:off x="6215074" y="2143116"/>
            <a:ext cx="2071702" cy="1879867"/>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18092" cy="4525963"/>
          </a:xfrm>
        </p:spPr>
        <p:txBody>
          <a:bodyPr>
            <a:normAutofit/>
          </a:bodyPr>
          <a:lstStyle/>
          <a:p>
            <a:pPr marL="0" indent="0">
              <a:spcBef>
                <a:spcPts val="600"/>
              </a:spcBef>
              <a:spcAft>
                <a:spcPts val="1200"/>
              </a:spcAft>
              <a:buNone/>
            </a:pPr>
            <a:r>
              <a:rPr lang="en-US" sz="2200" dirty="0" smtClean="0">
                <a:latin typeface="Helvetica" pitchFamily="34" charset="0"/>
              </a:rPr>
              <a:t>Roles and responsibilities need to be created for (as appropriate):</a:t>
            </a:r>
          </a:p>
          <a:p>
            <a:pPr marL="360000" indent="-360000">
              <a:spcBef>
                <a:spcPts val="600"/>
              </a:spcBef>
              <a:spcAft>
                <a:spcPts val="1200"/>
              </a:spcAft>
            </a:pPr>
            <a:r>
              <a:rPr lang="en-US" sz="2200" dirty="0" smtClean="0">
                <a:latin typeface="Helvetica" pitchFamily="34" charset="0"/>
              </a:rPr>
              <a:t>Chefs and kitchen staff</a:t>
            </a:r>
          </a:p>
          <a:p>
            <a:pPr marL="360000" indent="-360000">
              <a:spcBef>
                <a:spcPts val="600"/>
              </a:spcBef>
              <a:spcAft>
                <a:spcPts val="1200"/>
              </a:spcAft>
            </a:pPr>
            <a:r>
              <a:rPr lang="en-US" sz="2200" dirty="0" smtClean="0">
                <a:latin typeface="Helvetica" pitchFamily="34" charset="0"/>
              </a:rPr>
              <a:t>Venue security</a:t>
            </a:r>
          </a:p>
          <a:p>
            <a:pPr marL="360000" indent="-360000">
              <a:spcBef>
                <a:spcPts val="600"/>
              </a:spcBef>
              <a:spcAft>
                <a:spcPts val="1200"/>
              </a:spcAft>
            </a:pPr>
            <a:r>
              <a:rPr lang="en-US" sz="2200" dirty="0" smtClean="0">
                <a:latin typeface="Helvetica" pitchFamily="34" charset="0"/>
              </a:rPr>
              <a:t>Room attendants and room service staff</a:t>
            </a:r>
          </a:p>
          <a:p>
            <a:pPr marL="360000" indent="-360000">
              <a:spcBef>
                <a:spcPts val="600"/>
              </a:spcBef>
              <a:spcAft>
                <a:spcPts val="1200"/>
              </a:spcAft>
            </a:pPr>
            <a:r>
              <a:rPr lang="en-US" sz="2200" dirty="0" smtClean="0">
                <a:latin typeface="Helvetica" pitchFamily="34" charset="0"/>
              </a:rPr>
              <a:t>Butlers/valets and personal assistants</a:t>
            </a:r>
          </a:p>
          <a:p>
            <a:pPr marL="360000" indent="-360000">
              <a:spcBef>
                <a:spcPts val="600"/>
              </a:spcBef>
              <a:spcAft>
                <a:spcPts val="1200"/>
              </a:spcAft>
            </a:pPr>
            <a:r>
              <a:rPr lang="en-US" sz="2200" dirty="0" smtClean="0">
                <a:latin typeface="Helvetica" pitchFamily="34" charset="0"/>
              </a:rPr>
              <a:t>Drivers</a:t>
            </a:r>
          </a:p>
          <a:p>
            <a:pPr marL="360000" indent="-360000">
              <a:spcBef>
                <a:spcPts val="600"/>
              </a:spcBef>
              <a:spcAft>
                <a:spcPts val="1200"/>
              </a:spcAft>
            </a:pPr>
            <a:r>
              <a:rPr lang="en-US" sz="2200" dirty="0" smtClean="0">
                <a:latin typeface="Helvetica" pitchFamily="34" charset="0"/>
              </a:rPr>
              <a:t>Managers and Department/Division Heads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2050" name="Picture 2" descr="C:\Documents and Settings\danielc\Local Settings\Temporary Internet Files\Content.IE5\3DV3UKH9\MC900360908[1].wmf"/>
          <p:cNvPicPr>
            <a:picLocks noChangeAspect="1" noChangeArrowheads="1"/>
          </p:cNvPicPr>
          <p:nvPr/>
        </p:nvPicPr>
        <p:blipFill>
          <a:blip r:embed="rId3" cstate="print"/>
          <a:srcRect/>
          <a:stretch>
            <a:fillRect/>
          </a:stretch>
        </p:blipFill>
        <p:spPr bwMode="auto">
          <a:xfrm>
            <a:off x="6643702" y="2500306"/>
            <a:ext cx="1439266" cy="1807769"/>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Safety plan issues relating to ‘communications’:</a:t>
            </a:r>
          </a:p>
          <a:p>
            <a:pPr marL="360000" indent="-360000">
              <a:spcBef>
                <a:spcPts val="600"/>
              </a:spcBef>
              <a:spcAft>
                <a:spcPts val="1200"/>
              </a:spcAft>
            </a:pPr>
            <a:r>
              <a:rPr lang="en-US" sz="2200" dirty="0" smtClean="0">
                <a:latin typeface="Helvetica" pitchFamily="34" charset="0"/>
              </a:rPr>
              <a:t>Dates, times and locations for meetings with list of required attendees</a:t>
            </a:r>
          </a:p>
          <a:p>
            <a:pPr marL="360000" indent="-360000">
              <a:spcBef>
                <a:spcPts val="600"/>
              </a:spcBef>
              <a:spcAft>
                <a:spcPts val="1200"/>
              </a:spcAft>
            </a:pPr>
            <a:r>
              <a:rPr lang="en-US" sz="2200" dirty="0" smtClean="0">
                <a:latin typeface="Helvetica" pitchFamily="34" charset="0"/>
              </a:rPr>
              <a:t>Times/locations for daily briefings</a:t>
            </a:r>
          </a:p>
          <a:p>
            <a:pPr marL="360000" indent="-360000">
              <a:spcBef>
                <a:spcPts val="600"/>
              </a:spcBef>
              <a:spcAft>
                <a:spcPts val="1200"/>
              </a:spcAft>
            </a:pPr>
            <a:r>
              <a:rPr lang="en-US" sz="2200" dirty="0" smtClean="0">
                <a:latin typeface="Helvetica" pitchFamily="34" charset="0"/>
              </a:rPr>
              <a:t>Methods of communication</a:t>
            </a:r>
          </a:p>
          <a:p>
            <a:pPr marL="360000" indent="-360000">
              <a:spcBef>
                <a:spcPts val="600"/>
              </a:spcBef>
              <a:spcAft>
                <a:spcPts val="1200"/>
              </a:spcAft>
            </a:pPr>
            <a:r>
              <a:rPr lang="en-US" sz="2200" dirty="0" smtClean="0">
                <a:latin typeface="Helvetica" pitchFamily="34" charset="0"/>
              </a:rPr>
              <a:t>Communication protocols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3076" name="Picture 4" descr="C:\Documents and Settings\danielc\Local Settings\Temporary Internet Files\Content.IE5\Y88G682L\MP900285025[1].jpg"/>
          <p:cNvPicPr>
            <a:picLocks noChangeAspect="1" noChangeArrowheads="1"/>
          </p:cNvPicPr>
          <p:nvPr/>
        </p:nvPicPr>
        <p:blipFill>
          <a:blip r:embed="rId3" cstate="print"/>
          <a:srcRect/>
          <a:stretch>
            <a:fillRect/>
          </a:stretch>
        </p:blipFill>
        <p:spPr bwMode="auto">
          <a:xfrm>
            <a:off x="6643702" y="2714620"/>
            <a:ext cx="1521526" cy="2328866"/>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Safety plans must contain control actions:</a:t>
            </a:r>
          </a:p>
          <a:p>
            <a:pPr marL="360000" indent="-360000">
              <a:spcBef>
                <a:spcPts val="600"/>
              </a:spcBef>
              <a:spcAft>
                <a:spcPts val="1200"/>
              </a:spcAft>
            </a:pPr>
            <a:r>
              <a:rPr lang="en-US" sz="2200" dirty="0" smtClean="0">
                <a:latin typeface="Helvetica" pitchFamily="34" charset="0"/>
              </a:rPr>
              <a:t>Controlling ingress and egress</a:t>
            </a:r>
          </a:p>
          <a:p>
            <a:pPr marL="360000" indent="-360000">
              <a:spcBef>
                <a:spcPts val="600"/>
              </a:spcBef>
              <a:spcAft>
                <a:spcPts val="1200"/>
              </a:spcAft>
            </a:pPr>
            <a:r>
              <a:rPr lang="en-US" sz="2200" dirty="0" smtClean="0">
                <a:latin typeface="Helvetica" pitchFamily="34" charset="0"/>
              </a:rPr>
              <a:t>Security protocols: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IDs and security tags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Uniforms and equipment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Screening</a:t>
            </a:r>
          </a:p>
          <a:p>
            <a:pPr marL="360000" indent="-360000">
              <a:spcBef>
                <a:spcPts val="600"/>
              </a:spcBef>
              <a:spcAft>
                <a:spcPts val="1200"/>
              </a:spcAft>
            </a:pPr>
            <a:r>
              <a:rPr lang="en-US" sz="2200" dirty="0" smtClean="0">
                <a:latin typeface="Helvetica" pitchFamily="34" charset="0"/>
              </a:rPr>
              <a:t>Emergency responses and evacuation procedures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4098" name="Picture 2" descr="C:\Documents and Settings\danielc\Local Settings\Temporary Internet Files\Content.IE5\Y88G682L\MC900441466[1].png"/>
          <p:cNvPicPr>
            <a:picLocks noChangeAspect="1" noChangeArrowheads="1"/>
          </p:cNvPicPr>
          <p:nvPr/>
        </p:nvPicPr>
        <p:blipFill>
          <a:blip r:embed="rId3" cstate="print"/>
          <a:srcRect/>
          <a:stretch>
            <a:fillRect/>
          </a:stretch>
        </p:blipFill>
        <p:spPr bwMode="auto">
          <a:xfrm>
            <a:off x="6286512" y="2428868"/>
            <a:ext cx="1728618" cy="1728618"/>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Create safety plans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‘Insurance’ in safety plans:</a:t>
            </a:r>
          </a:p>
          <a:p>
            <a:pPr marL="360000" indent="-360000">
              <a:spcBef>
                <a:spcPts val="600"/>
              </a:spcBef>
              <a:spcAft>
                <a:spcPts val="1200"/>
              </a:spcAft>
            </a:pPr>
            <a:r>
              <a:rPr lang="en-US" sz="2200" dirty="0" smtClean="0">
                <a:latin typeface="Helvetica" pitchFamily="34" charset="0"/>
              </a:rPr>
              <a:t>Liaise wit management to determine requirements</a:t>
            </a:r>
          </a:p>
          <a:p>
            <a:pPr marL="360000" indent="-360000">
              <a:spcBef>
                <a:spcPts val="600"/>
              </a:spcBef>
              <a:spcAft>
                <a:spcPts val="1200"/>
              </a:spcAft>
            </a:pPr>
            <a:r>
              <a:rPr lang="en-US" sz="2200" dirty="0" smtClean="0">
                <a:latin typeface="Helvetica" pitchFamily="34" charset="0"/>
              </a:rPr>
              <a:t>Read existing policies to identify coverage</a:t>
            </a:r>
          </a:p>
          <a:p>
            <a:pPr marL="360000" indent="-360000">
              <a:spcBef>
                <a:spcPts val="600"/>
              </a:spcBef>
              <a:spcAft>
                <a:spcPts val="1200"/>
              </a:spcAft>
            </a:pPr>
            <a:r>
              <a:rPr lang="en-US" sz="2200" dirty="0" smtClean="0">
                <a:latin typeface="Helvetica" pitchFamily="34" charset="0"/>
              </a:rPr>
              <a:t>Determine if additional coverage is required</a:t>
            </a:r>
          </a:p>
          <a:p>
            <a:pPr marL="360000" indent="-360000">
              <a:spcBef>
                <a:spcPts val="600"/>
              </a:spcBef>
              <a:spcAft>
                <a:spcPts val="1200"/>
              </a:spcAft>
            </a:pPr>
            <a:r>
              <a:rPr lang="en-US" sz="2200" dirty="0" smtClean="0">
                <a:latin typeface="Helvetica" pitchFamily="34" charset="0"/>
              </a:rPr>
              <a:t>Meet with insurer to discuss needs</a:t>
            </a:r>
          </a:p>
          <a:p>
            <a:pPr marL="360000" indent="-360000">
              <a:spcBef>
                <a:spcPts val="600"/>
              </a:spcBef>
              <a:spcAft>
                <a:spcPts val="1200"/>
              </a:spcAft>
            </a:pPr>
            <a:r>
              <a:rPr lang="en-US" sz="2200" dirty="0" smtClean="0">
                <a:latin typeface="Helvetica" pitchFamily="34" charset="0"/>
              </a:rPr>
              <a:t>Take out coverage/pay premium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122" name="Picture 2" descr="C:\Documents and Settings\danielc\Local Settings\Temporary Internet Files\Content.IE5\112MAXTI\MC900154346[1].wmf"/>
          <p:cNvPicPr>
            <a:picLocks noChangeAspect="1" noChangeArrowheads="1"/>
          </p:cNvPicPr>
          <p:nvPr/>
        </p:nvPicPr>
        <p:blipFill>
          <a:blip r:embed="rId3" cstate="print"/>
          <a:srcRect/>
          <a:stretch>
            <a:fillRect/>
          </a:stretch>
        </p:blipFill>
        <p:spPr bwMode="auto">
          <a:xfrm>
            <a:off x="6929454" y="2857496"/>
            <a:ext cx="1521562" cy="1812341"/>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Safety plans must be adequately resourced:</a:t>
            </a:r>
          </a:p>
          <a:p>
            <a:pPr marL="360000" indent="-360000">
              <a:spcBef>
                <a:spcPts val="600"/>
              </a:spcBef>
              <a:spcAft>
                <a:spcPts val="1200"/>
              </a:spcAft>
            </a:pPr>
            <a:r>
              <a:rPr lang="en-US" sz="2200" dirty="0" smtClean="0">
                <a:latin typeface="Helvetica" pitchFamily="34" charset="0"/>
              </a:rPr>
              <a:t>The plan must form the basis of resource need</a:t>
            </a:r>
          </a:p>
          <a:p>
            <a:pPr marL="360000" indent="-360000">
              <a:spcBef>
                <a:spcPts val="600"/>
              </a:spcBef>
              <a:spcAft>
                <a:spcPts val="1200"/>
              </a:spcAft>
            </a:pPr>
            <a:r>
              <a:rPr lang="en-US" sz="2200" dirty="0" smtClean="0">
                <a:latin typeface="Helvetica" pitchFamily="34" charset="0"/>
              </a:rPr>
              <a:t>Required resources </a:t>
            </a:r>
            <a:r>
              <a:rPr lang="en-US" sz="2200" b="1" dirty="0" smtClean="0">
                <a:latin typeface="Helvetica" pitchFamily="34" charset="0"/>
              </a:rPr>
              <a:t>must </a:t>
            </a:r>
            <a:r>
              <a:rPr lang="en-US" sz="2200" dirty="0" smtClean="0">
                <a:latin typeface="Helvetica" pitchFamily="34" charset="0"/>
              </a:rPr>
              <a:t>be provided </a:t>
            </a:r>
            <a:r>
              <a:rPr lang="en-US" sz="2200" i="1" dirty="0" smtClean="0">
                <a:latin typeface="Helvetica" pitchFamily="34" charset="0"/>
              </a:rPr>
              <a:t>unless </a:t>
            </a:r>
            <a:r>
              <a:rPr lang="en-US" sz="2200" dirty="0" smtClean="0">
                <a:latin typeface="Helvetica" pitchFamily="34" charset="0"/>
              </a:rPr>
              <a:t>a viable alternate strategy can be identified</a:t>
            </a:r>
          </a:p>
          <a:p>
            <a:pPr marL="360000" indent="-360000">
              <a:spcBef>
                <a:spcPts val="600"/>
              </a:spcBef>
              <a:spcAft>
                <a:spcPts val="1200"/>
              </a:spcAft>
            </a:pPr>
            <a:r>
              <a:rPr lang="en-US" sz="2200" dirty="0" smtClean="0">
                <a:latin typeface="Helvetica" pitchFamily="34" charset="0"/>
              </a:rPr>
              <a:t>Resource requirements change between plans, VIPs and visits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descr="C:\Documents and Settings\danielc\Local Settings\Temporary Internet Files\Content.IE5\3DV3UKH9\MC900441521[1].wmf"/>
          <p:cNvPicPr/>
          <p:nvPr/>
        </p:nvPicPr>
        <p:blipFill>
          <a:blip r:embed="rId3" cstate="print"/>
          <a:srcRect/>
          <a:stretch>
            <a:fillRect/>
          </a:stretch>
        </p:blipFill>
        <p:spPr bwMode="auto">
          <a:xfrm>
            <a:off x="3786182" y="4429132"/>
            <a:ext cx="1471083" cy="152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resources which may be required to support safety plans for VIP visits include:</a:t>
            </a:r>
          </a:p>
          <a:p>
            <a:pPr marL="360000" indent="-360000">
              <a:spcBef>
                <a:spcPts val="600"/>
              </a:spcBef>
              <a:spcAft>
                <a:spcPts val="1200"/>
              </a:spcAft>
            </a:pPr>
            <a:r>
              <a:rPr lang="en-US" sz="2200" dirty="0" smtClean="0">
                <a:latin typeface="Helvetica" pitchFamily="34" charset="0"/>
              </a:rPr>
              <a:t>Personnel: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Internal and external including ‘specialist’ staff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Rosters</a:t>
            </a:r>
          </a:p>
          <a:p>
            <a:pPr marL="360000" indent="-360000">
              <a:spcBef>
                <a:spcPts val="600"/>
              </a:spcBef>
              <a:spcAft>
                <a:spcPts val="1200"/>
              </a:spcAft>
            </a:pPr>
            <a:r>
              <a:rPr lang="en-US" sz="2200" dirty="0" smtClean="0">
                <a:latin typeface="Helvetica" pitchFamily="34" charset="0"/>
              </a:rPr>
              <a:t>Transportation: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On arrival and departure and During stay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6146" name="Picture 2" descr="C:\Documents and Settings\danielc\Local Settings\Temporary Internet Files\Content.IE5\3Y3SDCJX\MC900320946[1].wmf"/>
          <p:cNvPicPr>
            <a:picLocks noChangeAspect="1" noChangeArrowheads="1"/>
          </p:cNvPicPr>
          <p:nvPr/>
        </p:nvPicPr>
        <p:blipFill>
          <a:blip r:embed="rId3" cstate="print"/>
          <a:srcRect/>
          <a:stretch>
            <a:fillRect/>
          </a:stretch>
        </p:blipFill>
        <p:spPr bwMode="auto">
          <a:xfrm>
            <a:off x="6858016" y="3571876"/>
            <a:ext cx="1818742" cy="827532"/>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Weapons</a:t>
            </a:r>
          </a:p>
          <a:p>
            <a:pPr marL="360000" indent="-360000">
              <a:spcBef>
                <a:spcPts val="600"/>
              </a:spcBef>
              <a:spcAft>
                <a:spcPts val="1200"/>
              </a:spcAft>
            </a:pPr>
            <a:r>
              <a:rPr lang="en-US" sz="2200" dirty="0" smtClean="0">
                <a:latin typeface="Helvetica" pitchFamily="34" charset="0"/>
              </a:rPr>
              <a:t>PPE</a:t>
            </a:r>
          </a:p>
          <a:p>
            <a:pPr marL="360000" indent="-360000">
              <a:spcBef>
                <a:spcPts val="600"/>
              </a:spcBef>
              <a:spcAft>
                <a:spcPts val="1200"/>
              </a:spcAft>
            </a:pPr>
            <a:r>
              <a:rPr lang="en-US" sz="2200" dirty="0" smtClean="0">
                <a:latin typeface="Helvetica" pitchFamily="34" charset="0"/>
              </a:rPr>
              <a:t>Barriers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descr="C:\Documents and Settings\danielc\Local Settings\Temporary Internet Files\Content.IE5\SIQ5KRQ3\MC900296116[1].wmf"/>
          <p:cNvPicPr/>
          <p:nvPr/>
        </p:nvPicPr>
        <p:blipFill>
          <a:blip r:embed="rId3" cstate="print"/>
          <a:srcRect/>
          <a:stretch>
            <a:fillRect/>
          </a:stretch>
        </p:blipFill>
        <p:spPr bwMode="auto">
          <a:xfrm>
            <a:off x="5786446" y="1857364"/>
            <a:ext cx="1730378" cy="15756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Internal protocols</a:t>
            </a:r>
          </a:p>
          <a:p>
            <a:pPr marL="360000" indent="-360000">
              <a:spcBef>
                <a:spcPts val="600"/>
              </a:spcBef>
              <a:spcAft>
                <a:spcPts val="1200"/>
              </a:spcAft>
            </a:pPr>
            <a:r>
              <a:rPr lang="en-US" sz="2200" dirty="0" smtClean="0">
                <a:latin typeface="Helvetica" pitchFamily="34" charset="0"/>
              </a:rPr>
              <a:t>Cash/funding</a:t>
            </a:r>
          </a:p>
          <a:p>
            <a:pPr marL="360000" indent="-360000">
              <a:spcBef>
                <a:spcPts val="600"/>
              </a:spcBef>
              <a:spcAft>
                <a:spcPts val="1200"/>
              </a:spcAft>
            </a:pPr>
            <a:r>
              <a:rPr lang="en-US" sz="2200" dirty="0" smtClean="0">
                <a:latin typeface="Helvetica" pitchFamily="34" charset="0"/>
              </a:rPr>
              <a:t>Operational documentation </a:t>
            </a:r>
          </a:p>
          <a:p>
            <a:pPr marL="360000" indent="-360000">
              <a:spcBef>
                <a:spcPts val="600"/>
              </a:spcBef>
              <a:spcAft>
                <a:spcPts val="1200"/>
              </a:spcAft>
            </a:pPr>
            <a:r>
              <a:rPr lang="en-US" sz="2200" dirty="0" smtClean="0">
                <a:latin typeface="Helvetica" pitchFamily="34" charset="0"/>
              </a:rPr>
              <a:t>Communication equipment</a:t>
            </a:r>
          </a:p>
          <a:p>
            <a:pPr marL="360000" indent="-360000">
              <a:spcBef>
                <a:spcPts val="600"/>
              </a:spcBef>
              <a:spcAft>
                <a:spcPts val="1200"/>
              </a:spcAft>
            </a:pPr>
            <a:r>
              <a:rPr lang="en-US" sz="2200" dirty="0" smtClean="0">
                <a:latin typeface="Helvetica" pitchFamily="34" charset="0"/>
              </a:rPr>
              <a:t>Electronic surveillance and detection equipment</a:t>
            </a:r>
          </a:p>
          <a:p>
            <a:pPr marL="360000" indent="-360000">
              <a:spcBef>
                <a:spcPts val="600"/>
              </a:spcBef>
              <a:spcAft>
                <a:spcPts val="1200"/>
              </a:spcAft>
            </a:pPr>
            <a:r>
              <a:rPr lang="en-US" sz="2200" dirty="0" smtClean="0">
                <a:latin typeface="Helvetica" pitchFamily="34" charset="0"/>
              </a:rPr>
              <a:t>Intelligence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7170" name="Picture 2" descr="C:\Documents and Settings\danielc\Local Settings\Temporary Internet Files\Content.IE5\112MAXTI\MP900442286[1].jpg"/>
          <p:cNvPicPr>
            <a:picLocks noChangeAspect="1" noChangeArrowheads="1"/>
          </p:cNvPicPr>
          <p:nvPr/>
        </p:nvPicPr>
        <p:blipFill>
          <a:blip r:embed="rId3" cstate="print"/>
          <a:srcRect/>
          <a:stretch>
            <a:fillRect/>
          </a:stretch>
        </p:blipFill>
        <p:spPr bwMode="auto">
          <a:xfrm>
            <a:off x="6357950" y="1643050"/>
            <a:ext cx="1553759" cy="2071678"/>
          </a:xfrm>
          <a:prstGeom prst="rect">
            <a:avLst/>
          </a:prstGeom>
          <a:noFill/>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Operational documentation may include:</a:t>
            </a:r>
          </a:p>
          <a:p>
            <a:pPr marL="360000" indent="-360000">
              <a:spcBef>
                <a:spcPts val="600"/>
              </a:spcBef>
              <a:spcAft>
                <a:spcPts val="1200"/>
              </a:spcAft>
            </a:pPr>
            <a:r>
              <a:rPr lang="en-US" sz="2200" dirty="0" smtClean="0">
                <a:latin typeface="Helvetica" pitchFamily="34" charset="0"/>
              </a:rPr>
              <a:t>Venue maps</a:t>
            </a:r>
          </a:p>
          <a:p>
            <a:pPr marL="360000" indent="-360000">
              <a:spcBef>
                <a:spcPts val="600"/>
              </a:spcBef>
              <a:spcAft>
                <a:spcPts val="1200"/>
              </a:spcAft>
            </a:pPr>
            <a:r>
              <a:rPr lang="en-US" sz="2200" dirty="0" smtClean="0">
                <a:latin typeface="Helvetica" pitchFamily="34" charset="0"/>
              </a:rPr>
              <a:t>Local maps</a:t>
            </a:r>
          </a:p>
          <a:p>
            <a:pPr marL="360000" indent="-360000">
              <a:spcBef>
                <a:spcPts val="600"/>
              </a:spcBef>
              <a:spcAft>
                <a:spcPts val="1200"/>
              </a:spcAft>
            </a:pPr>
            <a:r>
              <a:rPr lang="en-US" sz="2200" dirty="0" smtClean="0">
                <a:latin typeface="Helvetica" pitchFamily="34" charset="0"/>
              </a:rPr>
              <a:t>Schedules and programmes</a:t>
            </a:r>
          </a:p>
          <a:p>
            <a:pPr marL="360000" indent="-360000">
              <a:spcBef>
                <a:spcPts val="600"/>
              </a:spcBef>
              <a:spcAft>
                <a:spcPts val="1200"/>
              </a:spcAft>
            </a:pPr>
            <a:r>
              <a:rPr lang="en-US" sz="2200" dirty="0" smtClean="0">
                <a:latin typeface="Helvetica" pitchFamily="34" charset="0"/>
              </a:rPr>
              <a:t>Staff rosters</a:t>
            </a:r>
          </a:p>
          <a:p>
            <a:pPr marL="360000" indent="-360000">
              <a:spcBef>
                <a:spcPts val="600"/>
              </a:spcBef>
              <a:spcAft>
                <a:spcPts val="1200"/>
              </a:spcAft>
            </a:pPr>
            <a:r>
              <a:rPr lang="en-US" sz="2200" dirty="0" smtClean="0">
                <a:latin typeface="Helvetica" pitchFamily="34" charset="0"/>
              </a:rPr>
              <a:t>SOPs and policies</a:t>
            </a:r>
          </a:p>
          <a:p>
            <a:pPr marL="360000" indent="-360000">
              <a:spcBef>
                <a:spcPts val="600"/>
              </a:spcBef>
              <a:spcAft>
                <a:spcPts val="1200"/>
              </a:spcAft>
            </a:pPr>
            <a:r>
              <a:rPr lang="en-US" sz="2200" dirty="0" smtClean="0">
                <a:latin typeface="Helvetica" pitchFamily="34" charset="0"/>
              </a:rPr>
              <a:t>Running sheets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8194" name="Picture 2" descr="C:\Documents and Settings\danielc\Local Settings\Temporary Internet Files\Content.IE5\UMECW9PM\MP900422961[1].jpg"/>
          <p:cNvPicPr>
            <a:picLocks noChangeAspect="1" noChangeArrowheads="1"/>
          </p:cNvPicPr>
          <p:nvPr/>
        </p:nvPicPr>
        <p:blipFill>
          <a:blip r:embed="rId3" cstate="print"/>
          <a:srcRect/>
          <a:stretch>
            <a:fillRect/>
          </a:stretch>
        </p:blipFill>
        <p:spPr bwMode="auto">
          <a:xfrm>
            <a:off x="5715008" y="2786058"/>
            <a:ext cx="2222347" cy="1621619"/>
          </a:xfrm>
          <a:prstGeom prst="rect">
            <a:avLst/>
          </a:prstGeom>
          <a:noFill/>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Running sheets may address:</a:t>
            </a:r>
          </a:p>
          <a:p>
            <a:pPr marL="360000" indent="-360000">
              <a:spcBef>
                <a:spcPts val="600"/>
              </a:spcBef>
              <a:spcAft>
                <a:spcPts val="1200"/>
              </a:spcAft>
            </a:pPr>
            <a:r>
              <a:rPr lang="en-US" sz="2200" dirty="0" smtClean="0">
                <a:latin typeface="Helvetica" pitchFamily="34" charset="0"/>
              </a:rPr>
              <a:t>Checking people and vehicles</a:t>
            </a:r>
          </a:p>
          <a:p>
            <a:pPr marL="360000" indent="-360000">
              <a:spcBef>
                <a:spcPts val="600"/>
              </a:spcBef>
              <a:spcAft>
                <a:spcPts val="1200"/>
              </a:spcAft>
            </a:pPr>
            <a:r>
              <a:rPr lang="en-US" sz="2200" dirty="0" smtClean="0">
                <a:latin typeface="Helvetica" pitchFamily="34" charset="0"/>
              </a:rPr>
              <a:t>Dog, physical and electronic sweeps and searches</a:t>
            </a:r>
          </a:p>
          <a:p>
            <a:pPr marL="360000" indent="-360000">
              <a:spcBef>
                <a:spcPts val="600"/>
              </a:spcBef>
              <a:spcAft>
                <a:spcPts val="1200"/>
              </a:spcAft>
            </a:pPr>
            <a:r>
              <a:rPr lang="en-US" sz="2200" dirty="0" smtClean="0">
                <a:latin typeface="Helvetica" pitchFamily="34" charset="0"/>
              </a:rPr>
              <a:t>Road closures and crowd control</a:t>
            </a:r>
          </a:p>
          <a:p>
            <a:pPr marL="360000" indent="-360000">
              <a:spcBef>
                <a:spcPts val="600"/>
              </a:spcBef>
              <a:spcAft>
                <a:spcPts val="1200"/>
              </a:spcAft>
            </a:pPr>
            <a:r>
              <a:rPr lang="en-US" sz="2200" dirty="0" smtClean="0">
                <a:latin typeface="Helvetica" pitchFamily="34" charset="0"/>
              </a:rPr>
              <a:t>Observing and monitoring activities</a:t>
            </a:r>
          </a:p>
          <a:p>
            <a:pPr marL="360000" indent="-360000">
              <a:spcBef>
                <a:spcPts val="600"/>
              </a:spcBef>
              <a:spcAft>
                <a:spcPts val="1200"/>
              </a:spcAft>
            </a:pPr>
            <a:r>
              <a:rPr lang="en-US" sz="2200" dirty="0" smtClean="0">
                <a:latin typeface="Helvetica" pitchFamily="34" charset="0"/>
              </a:rPr>
              <a:t>Escort, guard and loss prevention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9218" name="Picture 2" descr="C:\Documents and Settings\danielc\Local Settings\Temporary Internet Files\Content.IE5\UMECW9PM\MC900436159[1].wmf"/>
          <p:cNvPicPr>
            <a:picLocks noChangeAspect="1" noChangeArrowheads="1"/>
          </p:cNvPicPr>
          <p:nvPr/>
        </p:nvPicPr>
        <p:blipFill>
          <a:blip r:embed="rId3" cstate="print"/>
          <a:srcRect/>
          <a:stretch>
            <a:fillRect/>
          </a:stretch>
        </p:blipFill>
        <p:spPr bwMode="auto">
          <a:xfrm>
            <a:off x="6572264" y="3357562"/>
            <a:ext cx="1692275" cy="1841500"/>
          </a:xfrm>
          <a:prstGeom prst="rect">
            <a:avLst/>
          </a:prstGeom>
          <a:noFill/>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surveillance and communication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Surveillance and detection equipment:</a:t>
            </a:r>
          </a:p>
          <a:p>
            <a:pPr marL="360000" indent="-360000">
              <a:spcBef>
                <a:spcPts val="600"/>
              </a:spcBef>
              <a:spcAft>
                <a:spcPts val="1200"/>
              </a:spcAft>
            </a:pPr>
            <a:r>
              <a:rPr lang="en-US" sz="2200" dirty="0" smtClean="0">
                <a:latin typeface="Helvetica" pitchFamily="34" charset="0"/>
              </a:rPr>
              <a:t>General systems – alarms, monitors and panels</a:t>
            </a:r>
          </a:p>
          <a:p>
            <a:pPr marL="360000" indent="-360000">
              <a:spcBef>
                <a:spcPts val="600"/>
              </a:spcBef>
              <a:spcAft>
                <a:spcPts val="1200"/>
              </a:spcAft>
            </a:pPr>
            <a:r>
              <a:rPr lang="en-US" sz="2200" dirty="0" smtClean="0">
                <a:latin typeface="Helvetica" pitchFamily="34" charset="0"/>
              </a:rPr>
              <a:t>Sensors – motion, heat and smoke</a:t>
            </a:r>
          </a:p>
          <a:p>
            <a:pPr marL="360000" indent="-360000">
              <a:spcBef>
                <a:spcPts val="600"/>
              </a:spcBef>
              <a:spcAft>
                <a:spcPts val="1200"/>
              </a:spcAft>
            </a:pPr>
            <a:r>
              <a:rPr lang="en-US" sz="2200" dirty="0" smtClean="0">
                <a:latin typeface="Helvetica" pitchFamily="34" charset="0"/>
              </a:rPr>
              <a:t>CCTV cameras, recorders and monitors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descr="C:\Documents and Settings\danielc\Local Settings\Temporary Internet Files\Content.IE5\UMECW9PM\MC900198073[1].wmf"/>
          <p:cNvPicPr/>
          <p:nvPr/>
        </p:nvPicPr>
        <p:blipFill>
          <a:blip r:embed="rId3" cstate="print"/>
          <a:srcRect/>
          <a:stretch>
            <a:fillRect/>
          </a:stretch>
        </p:blipFill>
        <p:spPr bwMode="auto">
          <a:xfrm>
            <a:off x="6572264" y="3143248"/>
            <a:ext cx="1742017" cy="149013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surveillance and communication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Access control technology</a:t>
            </a:r>
          </a:p>
          <a:p>
            <a:pPr marL="360000" indent="-360000">
              <a:spcBef>
                <a:spcPts val="600"/>
              </a:spcBef>
              <a:spcAft>
                <a:spcPts val="1200"/>
              </a:spcAft>
            </a:pPr>
            <a:r>
              <a:rPr lang="en-US" sz="2200" dirty="0" smtClean="0">
                <a:latin typeface="Helvetica" pitchFamily="34" charset="0"/>
              </a:rPr>
              <a:t>Binoculars</a:t>
            </a:r>
          </a:p>
          <a:p>
            <a:pPr marL="360000" indent="-360000">
              <a:spcBef>
                <a:spcPts val="600"/>
              </a:spcBef>
              <a:spcAft>
                <a:spcPts val="1200"/>
              </a:spcAft>
            </a:pPr>
            <a:r>
              <a:rPr lang="en-US" sz="2200" dirty="0" smtClean="0">
                <a:latin typeface="Helvetica" pitchFamily="34" charset="0"/>
              </a:rPr>
              <a:t>Hand-held cameras</a:t>
            </a:r>
          </a:p>
          <a:p>
            <a:pPr marL="360000" indent="-360000">
              <a:spcBef>
                <a:spcPts val="600"/>
              </a:spcBef>
              <a:spcAft>
                <a:spcPts val="1200"/>
              </a:spcAft>
            </a:pPr>
            <a:r>
              <a:rPr lang="en-US" sz="2200" dirty="0" smtClean="0">
                <a:latin typeface="Helvetica" pitchFamily="34" charset="0"/>
              </a:rPr>
              <a:t>Audio surveillance equipment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10242" name="Picture 2" descr="C:\Documents and Settings\danielc\Local Settings\Temporary Internet Files\Content.IE5\UMECW9PM\MC900297143[1].wmf"/>
          <p:cNvPicPr>
            <a:picLocks noChangeAspect="1" noChangeArrowheads="1"/>
          </p:cNvPicPr>
          <p:nvPr/>
        </p:nvPicPr>
        <p:blipFill>
          <a:blip r:embed="rId3" cstate="print"/>
          <a:srcRect/>
          <a:stretch>
            <a:fillRect/>
          </a:stretch>
        </p:blipFill>
        <p:spPr bwMode="auto">
          <a:xfrm>
            <a:off x="5357818" y="1928802"/>
            <a:ext cx="1854403" cy="1823314"/>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surveillance and communication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Comms equipment can include:</a:t>
            </a:r>
          </a:p>
          <a:p>
            <a:pPr marL="360000" indent="-360000">
              <a:spcBef>
                <a:spcPts val="600"/>
              </a:spcBef>
              <a:spcAft>
                <a:spcPts val="1200"/>
              </a:spcAft>
            </a:pPr>
            <a:r>
              <a:rPr lang="en-US" sz="2200" dirty="0" smtClean="0">
                <a:latin typeface="Helvetica" pitchFamily="34" charset="0"/>
              </a:rPr>
              <a:t>Hand-held radios</a:t>
            </a:r>
          </a:p>
          <a:p>
            <a:pPr marL="360000" indent="-360000">
              <a:spcBef>
                <a:spcPts val="600"/>
              </a:spcBef>
              <a:spcAft>
                <a:spcPts val="1200"/>
              </a:spcAft>
            </a:pPr>
            <a:r>
              <a:rPr lang="en-US" sz="2200" dirty="0" smtClean="0">
                <a:latin typeface="Helvetica" pitchFamily="34" charset="0"/>
              </a:rPr>
              <a:t>Headsets and earpieces/mics</a:t>
            </a:r>
          </a:p>
          <a:p>
            <a:pPr marL="360000" indent="-360000">
              <a:spcBef>
                <a:spcPts val="600"/>
              </a:spcBef>
              <a:spcAft>
                <a:spcPts val="1200"/>
              </a:spcAft>
            </a:pPr>
            <a:r>
              <a:rPr lang="en-US" sz="2200" dirty="0" smtClean="0">
                <a:latin typeface="Helvetica" pitchFamily="34" charset="0"/>
              </a:rPr>
              <a:t>Intercoms</a:t>
            </a:r>
          </a:p>
          <a:p>
            <a:pPr marL="360000" indent="-360000">
              <a:spcBef>
                <a:spcPts val="600"/>
              </a:spcBef>
              <a:spcAft>
                <a:spcPts val="1200"/>
              </a:spcAft>
            </a:pPr>
            <a:r>
              <a:rPr lang="en-US" sz="2200" dirty="0" smtClean="0">
                <a:latin typeface="Helvetica" pitchFamily="34" charset="0"/>
              </a:rPr>
              <a:t>Landline telephones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11266" name="Picture 2" descr="C:\Documents and Settings\danielc\Local Settings\Temporary Internet Files\Content.IE5\SIQ5KRQ3\MP900387826[1].jpg"/>
          <p:cNvPicPr>
            <a:picLocks noChangeAspect="1" noChangeArrowheads="1"/>
          </p:cNvPicPr>
          <p:nvPr/>
        </p:nvPicPr>
        <p:blipFill>
          <a:blip r:embed="rId3" cstate="print"/>
          <a:srcRect/>
          <a:stretch>
            <a:fillRect/>
          </a:stretch>
        </p:blipFill>
        <p:spPr bwMode="auto">
          <a:xfrm>
            <a:off x="5143504" y="2357430"/>
            <a:ext cx="2930414" cy="2090362"/>
          </a:xfrm>
          <a:prstGeom prst="rect">
            <a:avLst/>
          </a:prstGeom>
          <a:noFill/>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surveillance and communication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Cell phones</a:t>
            </a:r>
          </a:p>
          <a:p>
            <a:pPr marL="360000" indent="-360000">
              <a:spcBef>
                <a:spcPts val="600"/>
              </a:spcBef>
              <a:spcAft>
                <a:spcPts val="1200"/>
              </a:spcAft>
            </a:pPr>
            <a:r>
              <a:rPr lang="en-US" sz="2200" dirty="0" smtClean="0">
                <a:latin typeface="Helvetica" pitchFamily="34" charset="0"/>
              </a:rPr>
              <a:t>Pagers</a:t>
            </a:r>
          </a:p>
          <a:p>
            <a:pPr marL="360000" indent="-360000">
              <a:spcBef>
                <a:spcPts val="600"/>
              </a:spcBef>
              <a:spcAft>
                <a:spcPts val="1200"/>
              </a:spcAft>
            </a:pPr>
            <a:r>
              <a:rPr lang="en-US" sz="2200" dirty="0" smtClean="0">
                <a:latin typeface="Helvetica" pitchFamily="34" charset="0"/>
              </a:rPr>
              <a:t>PA systems</a:t>
            </a:r>
          </a:p>
          <a:p>
            <a:pPr marL="360000" indent="-360000">
              <a:spcBef>
                <a:spcPts val="600"/>
              </a:spcBef>
              <a:spcAft>
                <a:spcPts val="1200"/>
              </a:spcAft>
            </a:pPr>
            <a:r>
              <a:rPr lang="en-US" sz="2200" dirty="0" smtClean="0">
                <a:latin typeface="Helvetica" pitchFamily="34" charset="0"/>
              </a:rPr>
              <a:t>Megaphones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12290" name="Picture 2" descr="C:\Documents and Settings\danielc\Local Settings\Temporary Internet Files\Content.IE5\112MAXTI\MC900391700[1].wmf"/>
          <p:cNvPicPr>
            <a:picLocks noChangeAspect="1" noChangeArrowheads="1"/>
          </p:cNvPicPr>
          <p:nvPr/>
        </p:nvPicPr>
        <p:blipFill>
          <a:blip r:embed="rId3" cstate="print"/>
          <a:srcRect/>
          <a:stretch>
            <a:fillRect/>
          </a:stretch>
        </p:blipFill>
        <p:spPr bwMode="auto">
          <a:xfrm>
            <a:off x="4857752" y="2214554"/>
            <a:ext cx="1823314" cy="1747418"/>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surveillance and communication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Options for acquiring equipment:</a:t>
            </a:r>
          </a:p>
          <a:p>
            <a:pPr marL="360000" indent="-360000">
              <a:spcBef>
                <a:spcPts val="600"/>
              </a:spcBef>
              <a:spcAft>
                <a:spcPts val="1200"/>
              </a:spcAft>
            </a:pPr>
            <a:r>
              <a:rPr lang="en-US" sz="2200" dirty="0" smtClean="0">
                <a:latin typeface="Helvetica" pitchFamily="34" charset="0"/>
              </a:rPr>
              <a:t>Buy</a:t>
            </a:r>
          </a:p>
          <a:p>
            <a:pPr marL="360000" indent="-360000">
              <a:spcBef>
                <a:spcPts val="600"/>
              </a:spcBef>
              <a:spcAft>
                <a:spcPts val="1200"/>
              </a:spcAft>
            </a:pPr>
            <a:r>
              <a:rPr lang="en-US" sz="2200" dirty="0" smtClean="0">
                <a:latin typeface="Helvetica" pitchFamily="34" charset="0"/>
              </a:rPr>
              <a:t>Borrow</a:t>
            </a:r>
          </a:p>
          <a:p>
            <a:pPr marL="360000" indent="-360000">
              <a:spcBef>
                <a:spcPts val="600"/>
              </a:spcBef>
              <a:spcAft>
                <a:spcPts val="1200"/>
              </a:spcAft>
            </a:pPr>
            <a:r>
              <a:rPr lang="en-US" sz="2200" dirty="0" smtClean="0">
                <a:latin typeface="Helvetica" pitchFamily="34" charset="0"/>
              </a:rPr>
              <a:t>Rent/hire</a:t>
            </a:r>
          </a:p>
          <a:p>
            <a:pPr marL="360000" indent="-360000">
              <a:spcBef>
                <a:spcPts val="600"/>
              </a:spcBef>
              <a:spcAft>
                <a:spcPts val="1200"/>
              </a:spcAft>
            </a:pPr>
            <a:r>
              <a:rPr lang="en-US" sz="2200" dirty="0" smtClean="0">
                <a:latin typeface="Helvetica" pitchFamily="34" charset="0"/>
              </a:rPr>
              <a:t>Lease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13314" name="Picture 2" descr="C:\Documents and Settings\danielc\Local Settings\Temporary Internet Files\Content.IE5\112MAXTI\MC900311358[1].wmf"/>
          <p:cNvPicPr>
            <a:picLocks noChangeAspect="1" noChangeArrowheads="1"/>
          </p:cNvPicPr>
          <p:nvPr/>
        </p:nvPicPr>
        <p:blipFill>
          <a:blip r:embed="rId3" cstate="print"/>
          <a:srcRect/>
          <a:stretch>
            <a:fillRect/>
          </a:stretch>
        </p:blipFill>
        <p:spPr bwMode="auto">
          <a:xfrm>
            <a:off x="5286380" y="2285992"/>
            <a:ext cx="1623060" cy="1813255"/>
          </a:xfrm>
          <a:prstGeom prst="rect">
            <a:avLst/>
          </a:prstGeom>
          <a:noFill/>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surveillance and communication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Prior to the VIP visit:</a:t>
            </a:r>
          </a:p>
          <a:p>
            <a:pPr marL="360000" indent="-360000">
              <a:spcBef>
                <a:spcPts val="600"/>
              </a:spcBef>
              <a:spcAft>
                <a:spcPts val="1200"/>
              </a:spcAft>
            </a:pPr>
            <a:r>
              <a:rPr lang="en-US" sz="2200" dirty="0" smtClean="0">
                <a:latin typeface="Helvetica" pitchFamily="34" charset="0"/>
              </a:rPr>
              <a:t>Establish a CCC room</a:t>
            </a:r>
          </a:p>
          <a:p>
            <a:pPr marL="360000" indent="-360000">
              <a:spcBef>
                <a:spcPts val="600"/>
              </a:spcBef>
              <a:spcAft>
                <a:spcPts val="1200"/>
              </a:spcAft>
            </a:pPr>
            <a:r>
              <a:rPr lang="en-US" sz="2200" dirty="0" smtClean="0">
                <a:latin typeface="Helvetica" pitchFamily="34" charset="0"/>
              </a:rPr>
              <a:t>Train staff as required</a:t>
            </a:r>
          </a:p>
          <a:p>
            <a:pPr marL="360000" indent="-360000">
              <a:spcBef>
                <a:spcPts val="600"/>
              </a:spcBef>
              <a:spcAft>
                <a:spcPts val="1200"/>
              </a:spcAft>
            </a:pPr>
            <a:r>
              <a:rPr lang="en-US" sz="2200" dirty="0" smtClean="0">
                <a:latin typeface="Helvetica" pitchFamily="34" charset="0"/>
              </a:rPr>
              <a:t>Prepare and supply required documents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14338" name="Picture 2" descr="C:\Documents and Settings\danielc\Desktop\Vip photos\329649_training_room_2.jpg"/>
          <p:cNvPicPr>
            <a:picLocks noChangeAspect="1" noChangeArrowheads="1"/>
          </p:cNvPicPr>
          <p:nvPr/>
        </p:nvPicPr>
        <p:blipFill>
          <a:blip r:embed="rId3" cstate="print"/>
          <a:srcRect/>
          <a:stretch>
            <a:fillRect/>
          </a:stretch>
        </p:blipFill>
        <p:spPr bwMode="auto">
          <a:xfrm>
            <a:off x="6215074" y="2071678"/>
            <a:ext cx="2009193" cy="1500198"/>
          </a:xfrm>
          <a:prstGeom prst="rect">
            <a:avLst/>
          </a:prstGeom>
          <a:noFill/>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surveillance and communication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Conduct tests and trials</a:t>
            </a:r>
          </a:p>
          <a:p>
            <a:pPr marL="360000" indent="-360000">
              <a:spcBef>
                <a:spcPts val="600"/>
              </a:spcBef>
              <a:spcAft>
                <a:spcPts val="1200"/>
              </a:spcAft>
            </a:pPr>
            <a:r>
              <a:rPr lang="en-US" sz="2200" dirty="0" smtClean="0">
                <a:latin typeface="Helvetica" pitchFamily="34" charset="0"/>
              </a:rPr>
              <a:t>Develop communication protocols</a:t>
            </a:r>
          </a:p>
          <a:p>
            <a:pPr marL="360000" indent="-360000">
              <a:spcBef>
                <a:spcPts val="600"/>
              </a:spcBef>
              <a:spcAft>
                <a:spcPts val="1200"/>
              </a:spcAft>
            </a:pPr>
            <a:r>
              <a:rPr lang="en-US" sz="2200" dirty="0" smtClean="0">
                <a:latin typeface="Helvetica" pitchFamily="34" charset="0"/>
              </a:rPr>
              <a:t>Patch into other systems as necessary</a:t>
            </a:r>
          </a:p>
          <a:p>
            <a:pPr marL="360000" indent="-360000">
              <a:spcBef>
                <a:spcPts val="600"/>
              </a:spcBef>
              <a:spcAft>
                <a:spcPts val="1200"/>
              </a:spcAft>
            </a:pPr>
            <a:r>
              <a:rPr lang="en-US" sz="2200" dirty="0" smtClean="0">
                <a:latin typeface="Helvetica" pitchFamily="34" charset="0"/>
              </a:rPr>
              <a:t>Conduct drills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15363" name="Picture 3" descr="C:\Documents and Settings\danielc\Local Settings\Temporary Internet Files\Content.IE5\UMECW9PM\MC900060324[1].wmf"/>
          <p:cNvPicPr>
            <a:picLocks noChangeAspect="1" noChangeArrowheads="1"/>
          </p:cNvPicPr>
          <p:nvPr/>
        </p:nvPicPr>
        <p:blipFill>
          <a:blip r:embed="rId3" cstate="print"/>
          <a:srcRect/>
          <a:stretch>
            <a:fillRect/>
          </a:stretch>
        </p:blipFill>
        <p:spPr bwMode="auto">
          <a:xfrm>
            <a:off x="6357950" y="2285992"/>
            <a:ext cx="1820570" cy="1533449"/>
          </a:xfrm>
          <a:prstGeom prst="rect">
            <a:avLst/>
          </a:prstGeom>
          <a:noFill/>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surveillance and communication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Communication protocols may involve:</a:t>
            </a:r>
          </a:p>
          <a:p>
            <a:pPr marL="360000" indent="-360000">
              <a:spcBef>
                <a:spcPts val="600"/>
              </a:spcBef>
              <a:spcAft>
                <a:spcPts val="1200"/>
              </a:spcAft>
            </a:pPr>
            <a:r>
              <a:rPr lang="en-US" sz="2200" dirty="0" smtClean="0">
                <a:latin typeface="Helvetica" pitchFamily="34" charset="0"/>
              </a:rPr>
              <a:t>Checking operational status of items</a:t>
            </a:r>
          </a:p>
          <a:p>
            <a:pPr marL="360000" indent="-360000">
              <a:spcBef>
                <a:spcPts val="600"/>
              </a:spcBef>
              <a:spcAft>
                <a:spcPts val="1200"/>
              </a:spcAft>
            </a:pPr>
            <a:r>
              <a:rPr lang="en-US" sz="2200" dirty="0" smtClean="0">
                <a:latin typeface="Helvetica" pitchFamily="34" charset="0"/>
              </a:rPr>
              <a:t>Keeping lines open</a:t>
            </a:r>
          </a:p>
          <a:p>
            <a:pPr marL="360000" indent="-360000">
              <a:spcBef>
                <a:spcPts val="600"/>
              </a:spcBef>
              <a:spcAft>
                <a:spcPts val="1200"/>
              </a:spcAft>
            </a:pPr>
            <a:r>
              <a:rPr lang="en-US" sz="2200" dirty="0" smtClean="0">
                <a:latin typeface="Helvetica" pitchFamily="34" charset="0"/>
              </a:rPr>
              <a:t>Using designated channels</a:t>
            </a:r>
          </a:p>
          <a:p>
            <a:pPr marL="360000" indent="-360000">
              <a:spcBef>
                <a:spcPts val="600"/>
              </a:spcBef>
              <a:spcAft>
                <a:spcPts val="1200"/>
              </a:spcAft>
            </a:pPr>
            <a:r>
              <a:rPr lang="en-US" sz="2200" dirty="0" smtClean="0">
                <a:latin typeface="Helvetica" pitchFamily="34" charset="0"/>
              </a:rPr>
              <a:t>Sending and receiving messages</a:t>
            </a:r>
          </a:p>
          <a:p>
            <a:pPr marL="360000" indent="-360000">
              <a:spcBef>
                <a:spcPts val="600"/>
              </a:spcBef>
              <a:spcAft>
                <a:spcPts val="1200"/>
              </a:spcAft>
            </a:pPr>
            <a:r>
              <a:rPr lang="en-US" sz="2200" dirty="0" smtClean="0">
                <a:latin typeface="Helvetica" pitchFamily="34" charset="0"/>
              </a:rPr>
              <a:t>Using and knowledge of emergency terms and phrases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16386" name="Picture 2" descr="C:\Documents and Settings\danielc\Local Settings\Temporary Internet Files\Content.IE5\Y88G682L\MC900310762[1].wmf"/>
          <p:cNvPicPr>
            <a:picLocks noChangeAspect="1" noChangeArrowheads="1"/>
          </p:cNvPicPr>
          <p:nvPr/>
        </p:nvPicPr>
        <p:blipFill>
          <a:blip r:embed="rId3" cstate="print"/>
          <a:srcRect/>
          <a:stretch>
            <a:fillRect/>
          </a:stretch>
        </p:blipFill>
        <p:spPr bwMode="auto">
          <a:xfrm>
            <a:off x="6500826" y="2214554"/>
            <a:ext cx="1278331" cy="1807769"/>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surveillance and communication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Reporting in</a:t>
            </a:r>
          </a:p>
          <a:p>
            <a:pPr marL="360000" indent="-360000">
              <a:spcBef>
                <a:spcPts val="600"/>
              </a:spcBef>
              <a:spcAft>
                <a:spcPts val="1200"/>
              </a:spcAft>
            </a:pPr>
            <a:r>
              <a:rPr lang="en-US" sz="2200" dirty="0" smtClean="0">
                <a:latin typeface="Helvetica" pitchFamily="34" charset="0"/>
              </a:rPr>
              <a:t>Not over-talking other transmissions</a:t>
            </a:r>
          </a:p>
          <a:p>
            <a:pPr marL="360000" indent="-360000">
              <a:spcBef>
                <a:spcPts val="600"/>
              </a:spcBef>
              <a:spcAft>
                <a:spcPts val="1200"/>
              </a:spcAft>
            </a:pPr>
            <a:r>
              <a:rPr lang="en-US" sz="2200" dirty="0" smtClean="0">
                <a:latin typeface="Helvetica" pitchFamily="34" charset="0"/>
              </a:rPr>
              <a:t>Using ‘Over’ and ‘Go ahead’</a:t>
            </a:r>
          </a:p>
          <a:p>
            <a:pPr marL="360000" indent="-360000">
              <a:spcBef>
                <a:spcPts val="600"/>
              </a:spcBef>
              <a:spcAft>
                <a:spcPts val="1200"/>
              </a:spcAft>
            </a:pPr>
            <a:r>
              <a:rPr lang="en-US" sz="2200" dirty="0" smtClean="0">
                <a:latin typeface="Helvetica" pitchFamily="34" charset="0"/>
              </a:rPr>
              <a:t>Identifying self and location</a:t>
            </a:r>
          </a:p>
          <a:p>
            <a:pPr marL="360000" indent="-360000">
              <a:spcBef>
                <a:spcPts val="600"/>
              </a:spcBef>
              <a:spcAft>
                <a:spcPts val="1200"/>
              </a:spcAft>
            </a:pPr>
            <a:r>
              <a:rPr lang="en-US" sz="2200" dirty="0" smtClean="0">
                <a:latin typeface="Helvetica" pitchFamily="34" charset="0"/>
              </a:rPr>
              <a:t>Not using bad or inappropriate language</a:t>
            </a:r>
          </a:p>
          <a:p>
            <a:pPr marL="360000" indent="-360000">
              <a:spcBef>
                <a:spcPts val="600"/>
              </a:spcBef>
              <a:spcAft>
                <a:spcPts val="1200"/>
              </a:spcAft>
            </a:pPr>
            <a:r>
              <a:rPr lang="en-US" sz="2200" dirty="0" smtClean="0">
                <a:latin typeface="Helvetica" pitchFamily="34" charset="0"/>
              </a:rPr>
              <a:t>Restricting transmission of sensitive issues/matters</a:t>
            </a:r>
          </a:p>
          <a:p>
            <a:pPr marL="360000" indent="-360000">
              <a:spcBef>
                <a:spcPts val="600"/>
              </a:spcBef>
              <a:spcAft>
                <a:spcPts val="1200"/>
              </a:spcAft>
            </a:pPr>
            <a:r>
              <a:rPr lang="en-US" sz="2200" dirty="0" smtClean="0">
                <a:latin typeface="Helvetica" pitchFamily="34" charset="0"/>
              </a:rPr>
              <a:t>Using phonetic alphabet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17411" name="Picture 3" descr="C:\Documents and Settings\danielc\Local Settings\Temporary Internet Files\Content.IE5\UMECW9PM\MC900318672[1].wmf"/>
          <p:cNvPicPr>
            <a:picLocks noChangeAspect="1" noChangeArrowheads="1"/>
          </p:cNvPicPr>
          <p:nvPr/>
        </p:nvPicPr>
        <p:blipFill>
          <a:blip r:embed="rId3" cstate="print"/>
          <a:srcRect/>
          <a:stretch>
            <a:fillRect/>
          </a:stretch>
        </p:blipFill>
        <p:spPr bwMode="auto">
          <a:xfrm>
            <a:off x="6643702" y="2500306"/>
            <a:ext cx="1600975" cy="1549564"/>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Personnel required for VIP visit can include:</a:t>
            </a:r>
          </a:p>
          <a:p>
            <a:pPr marL="360000" indent="-360000">
              <a:spcBef>
                <a:spcPts val="600"/>
              </a:spcBef>
              <a:spcAft>
                <a:spcPts val="1200"/>
              </a:spcAft>
            </a:pPr>
            <a:r>
              <a:rPr lang="en-US" sz="2200" dirty="0" smtClean="0">
                <a:latin typeface="Helvetica" pitchFamily="34" charset="0"/>
              </a:rPr>
              <a:t>External security staff</a:t>
            </a:r>
          </a:p>
          <a:p>
            <a:pPr marL="360000" indent="-360000">
              <a:spcBef>
                <a:spcPts val="600"/>
              </a:spcBef>
              <a:spcAft>
                <a:spcPts val="1200"/>
              </a:spcAft>
            </a:pPr>
            <a:r>
              <a:rPr lang="en-US" sz="2200" dirty="0" smtClean="0">
                <a:latin typeface="Helvetica" pitchFamily="34" charset="0"/>
              </a:rPr>
              <a:t>Police</a:t>
            </a:r>
          </a:p>
          <a:p>
            <a:pPr marL="360000" indent="-360000">
              <a:spcBef>
                <a:spcPts val="600"/>
              </a:spcBef>
              <a:spcAft>
                <a:spcPts val="1200"/>
              </a:spcAft>
            </a:pPr>
            <a:r>
              <a:rPr lang="en-US" sz="2200" dirty="0" smtClean="0">
                <a:latin typeface="Helvetica" pitchFamily="34" charset="0"/>
              </a:rPr>
              <a:t>Internal security staff</a:t>
            </a:r>
          </a:p>
          <a:p>
            <a:pPr marL="360000" indent="-360000">
              <a:spcBef>
                <a:spcPts val="600"/>
              </a:spcBef>
              <a:spcAft>
                <a:spcPts val="1200"/>
              </a:spcAft>
            </a:pPr>
            <a:r>
              <a:rPr lang="en-US" sz="2200" dirty="0" smtClean="0">
                <a:latin typeface="Helvetica" pitchFamily="34" charset="0"/>
              </a:rPr>
              <a:t>Staff provided by VIP</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18434" name="Picture 2" descr="C:\Documents and Settings\danielc\Desktop\Vip photos\1063331_guard.jpg"/>
          <p:cNvPicPr>
            <a:picLocks noChangeAspect="1" noChangeArrowheads="1"/>
          </p:cNvPicPr>
          <p:nvPr/>
        </p:nvPicPr>
        <p:blipFill>
          <a:blip r:embed="rId3" cstate="print"/>
          <a:srcRect/>
          <a:stretch>
            <a:fillRect/>
          </a:stretch>
        </p:blipFill>
        <p:spPr bwMode="auto">
          <a:xfrm>
            <a:off x="6500826" y="2285992"/>
            <a:ext cx="1476385" cy="2214578"/>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Security-related tasks for staff:</a:t>
            </a:r>
          </a:p>
          <a:p>
            <a:pPr marL="360000" indent="-360000">
              <a:spcBef>
                <a:spcPts val="600"/>
              </a:spcBef>
              <a:spcAft>
                <a:spcPts val="1200"/>
              </a:spcAft>
            </a:pPr>
            <a:r>
              <a:rPr lang="en-US" sz="2200" dirty="0" smtClean="0">
                <a:latin typeface="Helvetica" pitchFamily="34" charset="0"/>
              </a:rPr>
              <a:t>Security checks</a:t>
            </a:r>
          </a:p>
          <a:p>
            <a:pPr marL="360000" indent="-360000">
              <a:spcBef>
                <a:spcPts val="600"/>
              </a:spcBef>
              <a:spcAft>
                <a:spcPts val="1200"/>
              </a:spcAft>
            </a:pPr>
            <a:r>
              <a:rPr lang="en-US" sz="2200" dirty="0" smtClean="0">
                <a:latin typeface="Helvetica" pitchFamily="34" charset="0"/>
              </a:rPr>
              <a:t>Crowd control</a:t>
            </a:r>
          </a:p>
          <a:p>
            <a:pPr marL="360000" indent="-360000">
              <a:spcBef>
                <a:spcPts val="600"/>
              </a:spcBef>
              <a:spcAft>
                <a:spcPts val="1200"/>
              </a:spcAft>
            </a:pPr>
            <a:r>
              <a:rPr lang="en-US" sz="2200" dirty="0" smtClean="0">
                <a:latin typeface="Helvetica" pitchFamily="34" charset="0"/>
              </a:rPr>
              <a:t>Access control</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descr="C:\Documents and Settings\danielc\Desktop\1097249_guard_with_machine_gun.jpg"/>
          <p:cNvPicPr/>
          <p:nvPr/>
        </p:nvPicPr>
        <p:blipFill>
          <a:blip r:embed="rId3" cstate="print"/>
          <a:srcRect/>
          <a:stretch>
            <a:fillRect/>
          </a:stretch>
        </p:blipFill>
        <p:spPr bwMode="auto">
          <a:xfrm>
            <a:off x="5643570" y="2000240"/>
            <a:ext cx="1512184" cy="21431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Background checks</a:t>
            </a:r>
          </a:p>
          <a:p>
            <a:pPr marL="360000" indent="-360000">
              <a:spcBef>
                <a:spcPts val="600"/>
              </a:spcBef>
              <a:spcAft>
                <a:spcPts val="1200"/>
              </a:spcAft>
            </a:pPr>
            <a:r>
              <a:rPr lang="en-US" sz="2200" dirty="0" smtClean="0">
                <a:latin typeface="Helvetica" pitchFamily="34" charset="0"/>
              </a:rPr>
              <a:t>Observation and monitoring</a:t>
            </a:r>
          </a:p>
          <a:p>
            <a:pPr marL="360000" indent="-360000">
              <a:spcBef>
                <a:spcPts val="600"/>
              </a:spcBef>
              <a:spcAft>
                <a:spcPts val="1200"/>
              </a:spcAft>
            </a:pPr>
            <a:r>
              <a:rPr lang="en-US" sz="2200" dirty="0" smtClean="0">
                <a:latin typeface="Helvetica" pitchFamily="34" charset="0"/>
              </a:rPr>
              <a:t>Liaison activities</a:t>
            </a:r>
          </a:p>
          <a:p>
            <a:pPr marL="360000" indent="-360000">
              <a:spcBef>
                <a:spcPts val="600"/>
              </a:spcBef>
              <a:spcAft>
                <a:spcPts val="1200"/>
              </a:spcAft>
            </a:pPr>
            <a:r>
              <a:rPr lang="en-US" sz="2200" dirty="0" smtClean="0">
                <a:latin typeface="Helvetica" pitchFamily="34" charset="0"/>
              </a:rPr>
              <a:t>Close escort duties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19458" name="Picture 2" descr="C:\Documents and Settings\danielc\Desktop\725622_watching.jpg"/>
          <p:cNvPicPr>
            <a:picLocks noChangeAspect="1" noChangeArrowheads="1"/>
          </p:cNvPicPr>
          <p:nvPr/>
        </p:nvPicPr>
        <p:blipFill>
          <a:blip r:embed="rId3" cstate="print"/>
          <a:srcRect/>
          <a:stretch>
            <a:fillRect/>
          </a:stretch>
        </p:blipFill>
        <p:spPr bwMode="auto">
          <a:xfrm>
            <a:off x="5441992" y="1714488"/>
            <a:ext cx="2487573" cy="1857388"/>
          </a:xfrm>
          <a:prstGeom prst="rect">
            <a:avLst/>
          </a:prstGeom>
          <a:noFill/>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‘Close escort duties are performed by ‘bodyguards’ or ‘CPOs’ </a:t>
            </a:r>
            <a:r>
              <a:rPr lang="en-US" sz="2200" dirty="0" smtClean="0"/>
              <a:t>. T</a:t>
            </a:r>
            <a:r>
              <a:rPr lang="en-US" sz="2200" dirty="0" smtClean="0">
                <a:latin typeface="Helvetica" pitchFamily="34" charset="0"/>
              </a:rPr>
              <a:t>hey may be:</a:t>
            </a:r>
          </a:p>
          <a:p>
            <a:pPr marL="360000" indent="-360000">
              <a:spcBef>
                <a:spcPts val="600"/>
              </a:spcBef>
              <a:spcAft>
                <a:spcPts val="1200"/>
              </a:spcAft>
            </a:pPr>
            <a:r>
              <a:rPr lang="en-US" sz="2200" dirty="0" smtClean="0">
                <a:latin typeface="Helvetica" pitchFamily="34" charset="0"/>
              </a:rPr>
              <a:t>Venue employees with special skills: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Driving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Martial arts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First aid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Firearms</a:t>
            </a:r>
          </a:p>
          <a:p>
            <a:pPr marL="360000" indent="-360000">
              <a:spcBef>
                <a:spcPts val="600"/>
              </a:spcBef>
              <a:spcAft>
                <a:spcPts val="1200"/>
              </a:spcAft>
            </a:pPr>
            <a:r>
              <a:rPr lang="en-US" sz="2200" dirty="0" smtClean="0">
                <a:latin typeface="Helvetica" pitchFamily="34" charset="0"/>
              </a:rPr>
              <a:t>Provided by an external security company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20482" name="Picture 2" descr="C:\Documents and Settings\danielc\Local Settings\Temporary Internet Files\Content.IE5\3Y3SDCJX\MC900233435[1].wmf"/>
          <p:cNvPicPr>
            <a:picLocks noChangeAspect="1" noChangeArrowheads="1"/>
          </p:cNvPicPr>
          <p:nvPr/>
        </p:nvPicPr>
        <p:blipFill>
          <a:blip r:embed="rId3" cstate="print"/>
          <a:srcRect/>
          <a:stretch>
            <a:fillRect/>
          </a:stretch>
        </p:blipFill>
        <p:spPr bwMode="auto">
          <a:xfrm>
            <a:off x="6786578" y="2357430"/>
            <a:ext cx="2067208" cy="2658701"/>
          </a:xfrm>
          <a:prstGeom prst="rect">
            <a:avLst/>
          </a:prstGeom>
          <a:noFill/>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Bodyguard responsibilities may include:</a:t>
            </a:r>
          </a:p>
          <a:p>
            <a:pPr marL="360000" indent="-360000">
              <a:spcBef>
                <a:spcPts val="600"/>
              </a:spcBef>
              <a:spcAft>
                <a:spcPts val="1200"/>
              </a:spcAft>
            </a:pPr>
            <a:r>
              <a:rPr lang="en-US" sz="2200" dirty="0" smtClean="0">
                <a:latin typeface="Helvetica" pitchFamily="34" charset="0"/>
              </a:rPr>
              <a:t>Undertaking planning of travel arrangements</a:t>
            </a:r>
          </a:p>
          <a:p>
            <a:pPr marL="360000" indent="-360000">
              <a:spcBef>
                <a:spcPts val="600"/>
              </a:spcBef>
              <a:spcAft>
                <a:spcPts val="1200"/>
              </a:spcAft>
            </a:pPr>
            <a:r>
              <a:rPr lang="en-US" sz="2200" dirty="0" smtClean="0">
                <a:latin typeface="Helvetica" pitchFamily="34" charset="0"/>
              </a:rPr>
              <a:t>Planning movement in the venue</a:t>
            </a:r>
          </a:p>
          <a:p>
            <a:pPr marL="360000" indent="-360000">
              <a:spcBef>
                <a:spcPts val="600"/>
              </a:spcBef>
              <a:spcAft>
                <a:spcPts val="1200"/>
              </a:spcAft>
            </a:pPr>
            <a:r>
              <a:rPr lang="en-US" sz="2200" dirty="0" smtClean="0">
                <a:latin typeface="Helvetica" pitchFamily="34" charset="0"/>
              </a:rPr>
              <a:t>Driving duties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21506" name="Picture 2" descr="C:\Documents and Settings\danielc\Local Settings\Temporary Internet Files\Content.IE5\SIQ5KRQ3\MC900318584[1].wmf"/>
          <p:cNvPicPr>
            <a:picLocks noChangeAspect="1" noChangeArrowheads="1"/>
          </p:cNvPicPr>
          <p:nvPr/>
        </p:nvPicPr>
        <p:blipFill>
          <a:blip r:embed="rId3" cstate="print"/>
          <a:srcRect/>
          <a:stretch>
            <a:fillRect/>
          </a:stretch>
        </p:blipFill>
        <p:spPr bwMode="auto">
          <a:xfrm flipH="1">
            <a:off x="6715140" y="2643182"/>
            <a:ext cx="1384402" cy="1824228"/>
          </a:xfrm>
          <a:prstGeom prst="rect">
            <a:avLst/>
          </a:prstGeom>
          <a:noFill/>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Conducting physical inspections and electronic ’sweeps’</a:t>
            </a:r>
          </a:p>
          <a:p>
            <a:pPr marL="360000" indent="-360000">
              <a:spcBef>
                <a:spcPts val="600"/>
              </a:spcBef>
              <a:spcAft>
                <a:spcPts val="1200"/>
              </a:spcAft>
            </a:pPr>
            <a:r>
              <a:rPr lang="en-US" sz="2200" dirty="0" smtClean="0">
                <a:latin typeface="Helvetica" pitchFamily="34" charset="0"/>
              </a:rPr>
              <a:t>Undertaking background checks</a:t>
            </a:r>
          </a:p>
          <a:p>
            <a:pPr marL="360000" indent="-360000">
              <a:spcBef>
                <a:spcPts val="600"/>
              </a:spcBef>
              <a:spcAft>
                <a:spcPts val="1200"/>
              </a:spcAft>
            </a:pPr>
            <a:r>
              <a:rPr lang="en-US" sz="2200" dirty="0" smtClean="0">
                <a:latin typeface="Helvetica" pitchFamily="34" charset="0"/>
              </a:rPr>
              <a:t>Protecting the client</a:t>
            </a:r>
          </a:p>
          <a:p>
            <a:pPr marL="360000" indent="-360000">
              <a:spcBef>
                <a:spcPts val="600"/>
              </a:spcBef>
              <a:spcAft>
                <a:spcPts val="1200"/>
              </a:spcAft>
            </a:pPr>
            <a:r>
              <a:rPr lang="en-US" sz="2200" dirty="0" smtClean="0">
                <a:latin typeface="Helvetica" pitchFamily="34" charset="0"/>
              </a:rPr>
              <a:t>Accompanying the client</a:t>
            </a:r>
          </a:p>
          <a:p>
            <a:pPr marL="360000" indent="-360000">
              <a:spcBef>
                <a:spcPts val="600"/>
              </a:spcBef>
              <a:spcAft>
                <a:spcPts val="1200"/>
              </a:spcAft>
            </a:pPr>
            <a:r>
              <a:rPr lang="en-US" sz="2200" dirty="0" smtClean="0">
                <a:latin typeface="Helvetica" pitchFamily="34" charset="0"/>
              </a:rPr>
              <a:t>Facilitating carriage of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22530" name="Picture 2" descr="C:\Documents and Settings\danielc\Desktop\Vip photos\711240_celebrity.jpg"/>
          <p:cNvPicPr>
            <a:picLocks noChangeAspect="1" noChangeArrowheads="1"/>
          </p:cNvPicPr>
          <p:nvPr/>
        </p:nvPicPr>
        <p:blipFill>
          <a:blip r:embed="rId3" cstate="print"/>
          <a:srcRect/>
          <a:stretch>
            <a:fillRect/>
          </a:stretch>
        </p:blipFill>
        <p:spPr bwMode="auto">
          <a:xfrm>
            <a:off x="6000760" y="2500306"/>
            <a:ext cx="2357434" cy="1571623"/>
          </a:xfrm>
          <a:prstGeom prst="rect">
            <a:avLst/>
          </a:prstGeom>
          <a:noFill/>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information to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Safety plans and information may need to be shared with:</a:t>
            </a:r>
          </a:p>
          <a:p>
            <a:pPr marL="360000" indent="-360000">
              <a:spcBef>
                <a:spcPts val="600"/>
              </a:spcBef>
              <a:spcAft>
                <a:spcPts val="1200"/>
              </a:spcAft>
            </a:pPr>
            <a:r>
              <a:rPr lang="en-US" sz="2200" dirty="0" smtClean="0">
                <a:latin typeface="Helvetica" pitchFamily="34" charset="0"/>
              </a:rPr>
              <a:t>Police</a:t>
            </a:r>
          </a:p>
          <a:p>
            <a:pPr marL="360000" indent="-360000">
              <a:spcBef>
                <a:spcPts val="600"/>
              </a:spcBef>
              <a:spcAft>
                <a:spcPts val="1200"/>
              </a:spcAft>
            </a:pPr>
            <a:r>
              <a:rPr lang="en-US" sz="2200" dirty="0" smtClean="0">
                <a:latin typeface="Helvetica" pitchFamily="34" charset="0"/>
              </a:rPr>
              <a:t>Authorities</a:t>
            </a:r>
          </a:p>
          <a:p>
            <a:pPr marL="360000" indent="-360000">
              <a:spcBef>
                <a:spcPts val="600"/>
              </a:spcBef>
              <a:spcAft>
                <a:spcPts val="1200"/>
              </a:spcAft>
            </a:pPr>
            <a:r>
              <a:rPr lang="en-US" sz="2200" dirty="0" smtClean="0">
                <a:latin typeface="Helvetica" pitchFamily="34" charset="0"/>
              </a:rPr>
              <a:t>External service/security providers</a:t>
            </a:r>
          </a:p>
          <a:p>
            <a:pPr marL="360000" indent="-360000">
              <a:spcBef>
                <a:spcPts val="600"/>
              </a:spcBef>
              <a:spcAft>
                <a:spcPts val="1200"/>
              </a:spcAft>
            </a:pPr>
            <a:r>
              <a:rPr lang="en-US" sz="2200" dirty="0" smtClean="0">
                <a:latin typeface="Helvetica" pitchFamily="34" charset="0"/>
              </a:rPr>
              <a:t>Managers, minders and handlers</a:t>
            </a:r>
          </a:p>
          <a:p>
            <a:pPr marL="360000" indent="-360000">
              <a:spcBef>
                <a:spcPts val="600"/>
              </a:spcBef>
              <a:spcAft>
                <a:spcPts val="1200"/>
              </a:spcAft>
            </a:pPr>
            <a:r>
              <a:rPr lang="en-US" sz="2200" dirty="0" smtClean="0">
                <a:latin typeface="Helvetica" pitchFamily="34" charset="0"/>
              </a:rPr>
              <a:t>Internal venue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23554" name="Picture 2" descr="C:\Documents and Settings\danielc\Desktop\258603_police_on_the_beat.jpg"/>
          <p:cNvPicPr>
            <a:picLocks noChangeAspect="1" noChangeArrowheads="1"/>
          </p:cNvPicPr>
          <p:nvPr/>
        </p:nvPicPr>
        <p:blipFill>
          <a:blip r:embed="rId3" cstate="print"/>
          <a:srcRect/>
          <a:stretch>
            <a:fillRect/>
          </a:stretch>
        </p:blipFill>
        <p:spPr bwMode="auto">
          <a:xfrm>
            <a:off x="5857884" y="2714620"/>
            <a:ext cx="2224800" cy="1535112"/>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information to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Options for communicating safety plans and information:</a:t>
            </a:r>
          </a:p>
          <a:p>
            <a:pPr marL="360000" indent="-360000">
              <a:spcBef>
                <a:spcPts val="600"/>
              </a:spcBef>
              <a:spcAft>
                <a:spcPts val="1200"/>
              </a:spcAft>
            </a:pPr>
            <a:r>
              <a:rPr lang="en-US" sz="2200" dirty="0" smtClean="0">
                <a:latin typeface="Helvetica" pitchFamily="34" charset="0"/>
              </a:rPr>
              <a:t>Meetings and briefings</a:t>
            </a:r>
          </a:p>
          <a:p>
            <a:pPr marL="360000" indent="-360000">
              <a:spcBef>
                <a:spcPts val="600"/>
              </a:spcBef>
              <a:spcAft>
                <a:spcPts val="1200"/>
              </a:spcAft>
            </a:pPr>
            <a:r>
              <a:rPr lang="en-US" sz="2200" dirty="0" smtClean="0">
                <a:latin typeface="Helvetica" pitchFamily="34" charset="0"/>
              </a:rPr>
              <a:t>Distribution of documents</a:t>
            </a:r>
          </a:p>
          <a:p>
            <a:pPr marL="360000" indent="-360000">
              <a:spcBef>
                <a:spcPts val="600"/>
              </a:spcBef>
              <a:spcAft>
                <a:spcPts val="1200"/>
              </a:spcAft>
            </a:pPr>
            <a:r>
              <a:rPr lang="en-US" sz="2200" dirty="0" smtClean="0">
                <a:latin typeface="Helvetica" pitchFamily="34" charset="0"/>
              </a:rPr>
              <a:t>Email</a:t>
            </a:r>
          </a:p>
          <a:p>
            <a:pPr marL="360000" indent="-360000">
              <a:spcBef>
                <a:spcPts val="600"/>
              </a:spcBef>
              <a:spcAft>
                <a:spcPts val="1200"/>
              </a:spcAft>
            </a:pPr>
            <a:r>
              <a:rPr lang="en-US" sz="2200" dirty="0" smtClean="0">
                <a:latin typeface="Helvetica" pitchFamily="34" charset="0"/>
              </a:rPr>
              <a:t>Memos</a:t>
            </a:r>
          </a:p>
          <a:p>
            <a:pPr marL="360000" indent="-360000" algn="ctr">
              <a:spcBef>
                <a:spcPts val="600"/>
              </a:spcBef>
              <a:spcAft>
                <a:spcPts val="1200"/>
              </a:spcAft>
              <a:buNone/>
            </a:pPr>
            <a:r>
              <a:rPr lang="en-US" sz="2200" dirty="0" smtClean="0">
                <a:latin typeface="Helvetica" pitchFamily="34" charset="0"/>
              </a:rPr>
              <a:t>Restrict release of information to optimise security.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24580" name="Picture 4" descr="C:\Documents and Settings\danielc\Local Settings\Temporary Internet Files\Content.IE5\3Y3SDCJX\MC900281190[1].wmf"/>
          <p:cNvPicPr>
            <a:picLocks noChangeAspect="1" noChangeArrowheads="1"/>
          </p:cNvPicPr>
          <p:nvPr/>
        </p:nvPicPr>
        <p:blipFill>
          <a:blip r:embed="rId3" cstate="print"/>
          <a:srcRect/>
          <a:stretch>
            <a:fillRect/>
          </a:stretch>
        </p:blipFill>
        <p:spPr bwMode="auto">
          <a:xfrm>
            <a:off x="6143636" y="2428868"/>
            <a:ext cx="1425921" cy="1739774"/>
          </a:xfrm>
          <a:prstGeom prst="rect">
            <a:avLst/>
          </a:prstGeom>
          <a:noFill/>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information to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Points to note regarding communicating plans and information:</a:t>
            </a:r>
          </a:p>
          <a:p>
            <a:pPr marL="360000" indent="-360000">
              <a:spcBef>
                <a:spcPts val="600"/>
              </a:spcBef>
              <a:spcAft>
                <a:spcPts val="1200"/>
              </a:spcAft>
            </a:pPr>
            <a:r>
              <a:rPr lang="en-US" sz="2200" dirty="0" smtClean="0">
                <a:latin typeface="Helvetica" pitchFamily="34" charset="0"/>
              </a:rPr>
              <a:t>Use a combination of approaches</a:t>
            </a:r>
          </a:p>
          <a:p>
            <a:pPr marL="360000" indent="-360000">
              <a:spcBef>
                <a:spcPts val="600"/>
              </a:spcBef>
              <a:spcAft>
                <a:spcPts val="1200"/>
              </a:spcAft>
            </a:pPr>
            <a:r>
              <a:rPr lang="en-US" sz="2200" dirty="0" smtClean="0">
                <a:latin typeface="Helvetica" pitchFamily="34" charset="0"/>
              </a:rPr>
              <a:t>Use languages appropriate to recipients</a:t>
            </a:r>
          </a:p>
          <a:p>
            <a:pPr marL="360000" indent="-360000">
              <a:spcBef>
                <a:spcPts val="600"/>
              </a:spcBef>
              <a:spcAft>
                <a:spcPts val="1200"/>
              </a:spcAft>
            </a:pPr>
            <a:r>
              <a:rPr lang="en-US" sz="2200" dirty="0" smtClean="0">
                <a:latin typeface="Helvetica" pitchFamily="34" charset="0"/>
              </a:rPr>
              <a:t>Develop a Distribution List</a:t>
            </a:r>
          </a:p>
          <a:p>
            <a:pPr marL="360000" indent="-360000">
              <a:spcBef>
                <a:spcPts val="600"/>
              </a:spcBef>
              <a:spcAft>
                <a:spcPts val="1200"/>
              </a:spcAft>
            </a:pPr>
            <a:r>
              <a:rPr lang="en-US" sz="2200" dirty="0" smtClean="0">
                <a:latin typeface="Helvetica" pitchFamily="34" charset="0"/>
              </a:rPr>
              <a:t>Record communication activities</a:t>
            </a:r>
          </a:p>
          <a:p>
            <a:pPr marL="360000" indent="-360000">
              <a:spcBef>
                <a:spcPts val="600"/>
              </a:spcBef>
              <a:spcAft>
                <a:spcPts val="1200"/>
              </a:spcAft>
            </a:pPr>
            <a:r>
              <a:rPr lang="en-US" sz="2200" dirty="0" smtClean="0">
                <a:latin typeface="Helvetica" pitchFamily="34" charset="0"/>
              </a:rPr>
              <a:t>Emphasise ‘confidential’/secret nature of information</a:t>
            </a:r>
          </a:p>
          <a:p>
            <a:pPr marL="360000" indent="-360000">
              <a:spcBef>
                <a:spcPts val="600"/>
              </a:spcBef>
              <a:spcAft>
                <a:spcPts val="1200"/>
              </a:spcAft>
            </a:pPr>
            <a:r>
              <a:rPr lang="en-US" sz="2200" dirty="0" smtClean="0">
                <a:latin typeface="Helvetica" pitchFamily="34" charset="0"/>
              </a:rPr>
              <a:t>Provide information on a ‘need to know’ basis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C:\Documents and Settings\danielc\Local Settings\Temporary Internet Files\Content.IE5\3DV3UKH9\MP900174869[1].jpg"/>
          <p:cNvPicPr/>
          <p:nvPr/>
        </p:nvPicPr>
        <p:blipFill>
          <a:blip r:embed="rId3" cstate="print"/>
          <a:srcRect/>
          <a:stretch>
            <a:fillRect/>
          </a:stretch>
        </p:blipFill>
        <p:spPr bwMode="auto">
          <a:xfrm>
            <a:off x="6572264" y="2714620"/>
            <a:ext cx="1911350" cy="12756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information to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Points/issues to note when communicating information:</a:t>
            </a:r>
          </a:p>
          <a:p>
            <a:pPr marL="360000" indent="-360000">
              <a:spcBef>
                <a:spcPts val="600"/>
              </a:spcBef>
              <a:spcAft>
                <a:spcPts val="1200"/>
              </a:spcAft>
            </a:pPr>
            <a:r>
              <a:rPr lang="en-US" sz="2200" dirty="0" smtClean="0">
                <a:latin typeface="Helvetica" pitchFamily="34" charset="0"/>
              </a:rPr>
              <a:t>Changes to SOPs</a:t>
            </a:r>
          </a:p>
          <a:p>
            <a:pPr marL="360000" indent="-360000">
              <a:spcBef>
                <a:spcPts val="600"/>
              </a:spcBef>
              <a:spcAft>
                <a:spcPts val="1200"/>
              </a:spcAft>
            </a:pPr>
            <a:r>
              <a:rPr lang="en-US" sz="2200" dirty="0" smtClean="0">
                <a:latin typeface="Helvetica" pitchFamily="34" charset="0"/>
              </a:rPr>
              <a:t>Emergency and evacuation procedures</a:t>
            </a:r>
          </a:p>
          <a:p>
            <a:pPr marL="360000" indent="-360000">
              <a:spcBef>
                <a:spcPts val="600"/>
              </a:spcBef>
              <a:spcAft>
                <a:spcPts val="1200"/>
              </a:spcAft>
            </a:pPr>
            <a:r>
              <a:rPr lang="en-US" sz="2200" dirty="0" smtClean="0">
                <a:latin typeface="Helvetica" pitchFamily="34" charset="0"/>
              </a:rPr>
              <a:t>Special requests</a:t>
            </a:r>
          </a:p>
          <a:p>
            <a:pPr marL="360000" indent="-360000">
              <a:spcBef>
                <a:spcPts val="600"/>
              </a:spcBef>
              <a:spcAft>
                <a:spcPts val="1200"/>
              </a:spcAft>
            </a:pPr>
            <a:r>
              <a:rPr lang="en-US" sz="2200" dirty="0" smtClean="0">
                <a:latin typeface="Helvetica" pitchFamily="34" charset="0"/>
              </a:rPr>
              <a:t>Threat warnings</a:t>
            </a:r>
          </a:p>
          <a:p>
            <a:pPr marL="360000" indent="-360000">
              <a:spcBef>
                <a:spcPts val="600"/>
              </a:spcBef>
              <a:spcAft>
                <a:spcPts val="1200"/>
              </a:spcAft>
            </a:pPr>
            <a:r>
              <a:rPr lang="en-US" sz="2200" dirty="0" smtClean="0">
                <a:latin typeface="Helvetica" pitchFamily="34" charset="0"/>
              </a:rPr>
              <a:t>Drills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25602" name="Picture 2" descr="C:\Documents and Settings\danielc\Local Settings\Temporary Internet Files\Content.IE5\Y88G682L\MC900286935[1].wmf"/>
          <p:cNvPicPr>
            <a:picLocks noChangeAspect="1" noChangeArrowheads="1"/>
          </p:cNvPicPr>
          <p:nvPr/>
        </p:nvPicPr>
        <p:blipFill>
          <a:blip r:embed="rId3" cstate="print"/>
          <a:srcRect/>
          <a:stretch>
            <a:fillRect/>
          </a:stretch>
        </p:blipFill>
        <p:spPr bwMode="auto">
          <a:xfrm>
            <a:off x="6000760" y="2857496"/>
            <a:ext cx="2447453" cy="2151707"/>
          </a:xfrm>
          <a:prstGeom prst="rect">
            <a:avLst/>
          </a:prstGeom>
          <a:noFill/>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information to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Prohibited actions (staff with VIP)</a:t>
            </a:r>
          </a:p>
          <a:p>
            <a:pPr marL="360000" indent="-360000">
              <a:spcBef>
                <a:spcPts val="600"/>
              </a:spcBef>
              <a:spcAft>
                <a:spcPts val="1200"/>
              </a:spcAft>
            </a:pPr>
            <a:r>
              <a:rPr lang="en-US" sz="2200" dirty="0" smtClean="0">
                <a:latin typeface="Helvetica" pitchFamily="34" charset="0"/>
              </a:rPr>
              <a:t>Specifications regarding interaction with the media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26626" name="Picture 2" descr="C:\Documents and Settings\danielc\Desktop\115103_tv_news_media_4.jpg"/>
          <p:cNvPicPr>
            <a:picLocks noChangeAspect="1" noChangeArrowheads="1"/>
          </p:cNvPicPr>
          <p:nvPr/>
        </p:nvPicPr>
        <p:blipFill>
          <a:blip r:embed="rId3" cstate="print"/>
          <a:srcRect/>
          <a:stretch>
            <a:fillRect/>
          </a:stretch>
        </p:blipFill>
        <p:spPr bwMode="auto">
          <a:xfrm>
            <a:off x="3571868" y="3071810"/>
            <a:ext cx="1905000" cy="2857500"/>
          </a:xfrm>
          <a:prstGeom prst="rect">
            <a:avLst/>
          </a:prstGeom>
          <a:noFill/>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media liaison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Before contacting media in relation to a VIP visit:</a:t>
            </a:r>
          </a:p>
          <a:p>
            <a:pPr marL="360000" indent="-360000">
              <a:spcBef>
                <a:spcPts val="600"/>
              </a:spcBef>
              <a:spcAft>
                <a:spcPts val="1200"/>
              </a:spcAft>
            </a:pPr>
            <a:r>
              <a:rPr lang="en-US" sz="2200" dirty="0" smtClean="0">
                <a:latin typeface="Helvetica" pitchFamily="34" charset="0"/>
              </a:rPr>
              <a:t>Identify orientation of VIP to media</a:t>
            </a:r>
          </a:p>
          <a:p>
            <a:pPr marL="360000" indent="-360000">
              <a:spcBef>
                <a:spcPts val="600"/>
              </a:spcBef>
              <a:spcAft>
                <a:spcPts val="1200"/>
              </a:spcAft>
            </a:pPr>
            <a:r>
              <a:rPr lang="en-US" sz="2200" dirty="0" smtClean="0">
                <a:latin typeface="Helvetica" pitchFamily="34" charset="0"/>
              </a:rPr>
              <a:t>Identify information/materials already </a:t>
            </a:r>
            <a:br>
              <a:rPr lang="en-US" sz="2200" dirty="0" smtClean="0">
                <a:latin typeface="Helvetica" pitchFamily="34" charset="0"/>
              </a:rPr>
            </a:br>
            <a:r>
              <a:rPr lang="en-US" sz="2200" dirty="0" smtClean="0">
                <a:latin typeface="Helvetica" pitchFamily="34" charset="0"/>
              </a:rPr>
              <a:t>prepared and ready to give to media</a:t>
            </a:r>
          </a:p>
          <a:p>
            <a:pPr marL="360000" indent="-360000">
              <a:spcBef>
                <a:spcPts val="600"/>
              </a:spcBef>
              <a:spcAft>
                <a:spcPts val="1200"/>
              </a:spcAft>
            </a:pPr>
            <a:r>
              <a:rPr lang="en-US" sz="2200" dirty="0" smtClean="0">
                <a:latin typeface="Helvetica" pitchFamily="34" charset="0"/>
              </a:rPr>
              <a:t>Determine dates and times VIP will provide to </a:t>
            </a:r>
            <a:br>
              <a:rPr lang="en-US" sz="2200" dirty="0" smtClean="0">
                <a:latin typeface="Helvetica" pitchFamily="34" charset="0"/>
              </a:rPr>
            </a:br>
            <a:r>
              <a:rPr lang="en-US" sz="2200" dirty="0" smtClean="0">
                <a:latin typeface="Helvetica" pitchFamily="34" charset="0"/>
              </a:rPr>
              <a:t>media for interviews and photos</a:t>
            </a:r>
          </a:p>
          <a:p>
            <a:pPr marL="360000" indent="-360000">
              <a:spcBef>
                <a:spcPts val="600"/>
              </a:spcBef>
              <a:spcAft>
                <a:spcPts val="1200"/>
              </a:spcAft>
            </a:pPr>
            <a:r>
              <a:rPr lang="en-US" sz="2200" dirty="0" smtClean="0">
                <a:latin typeface="Helvetica" pitchFamily="34" charset="0"/>
              </a:rPr>
              <a:t>Liaise with VIP managers and minders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descr="C:\Documents and Settings\danielc\Local Settings\Temporary Internet Files\Content.IE5\Y88G682L\MC900287182[1].wmf"/>
          <p:cNvPicPr/>
          <p:nvPr/>
        </p:nvPicPr>
        <p:blipFill>
          <a:blip r:embed="rId3" cstate="print"/>
          <a:srcRect/>
          <a:stretch>
            <a:fillRect/>
          </a:stretch>
        </p:blipFill>
        <p:spPr bwMode="auto">
          <a:xfrm>
            <a:off x="6429388" y="2143116"/>
            <a:ext cx="1775883" cy="13772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media liaison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Activities involved with media liaison:</a:t>
            </a:r>
          </a:p>
          <a:p>
            <a:pPr marL="360000" indent="-360000">
              <a:spcBef>
                <a:spcPts val="600"/>
              </a:spcBef>
              <a:spcAft>
                <a:spcPts val="1200"/>
              </a:spcAft>
            </a:pPr>
            <a:r>
              <a:rPr lang="en-US" sz="2200" dirty="0" smtClean="0">
                <a:latin typeface="Helvetica" pitchFamily="34" charset="0"/>
              </a:rPr>
              <a:t>Creating media room</a:t>
            </a:r>
          </a:p>
          <a:p>
            <a:pPr marL="360000" indent="-360000">
              <a:spcBef>
                <a:spcPts val="600"/>
              </a:spcBef>
              <a:spcAft>
                <a:spcPts val="1200"/>
              </a:spcAft>
            </a:pPr>
            <a:r>
              <a:rPr lang="en-US" sz="2200" dirty="0" smtClean="0">
                <a:latin typeface="Helvetica" pitchFamily="34" charset="0"/>
              </a:rPr>
              <a:t>Identifying and preparing interview room</a:t>
            </a:r>
          </a:p>
          <a:p>
            <a:pPr marL="360000" indent="-360000">
              <a:spcBef>
                <a:spcPts val="600"/>
              </a:spcBef>
              <a:spcAft>
                <a:spcPts val="1200"/>
              </a:spcAft>
            </a:pPr>
            <a:r>
              <a:rPr lang="en-US" sz="2200" dirty="0" smtClean="0">
                <a:latin typeface="Helvetica" pitchFamily="34" charset="0"/>
              </a:rPr>
              <a:t>Developing protocols and procedures for media contact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27650" name="Picture 2" descr="C:\Documents and Settings\danielc\Local Settings\Temporary Internet Files\Content.IE5\3DV3UKH9\MC900232094[1].wmf"/>
          <p:cNvPicPr>
            <a:picLocks noChangeAspect="1" noChangeArrowheads="1"/>
          </p:cNvPicPr>
          <p:nvPr/>
        </p:nvPicPr>
        <p:blipFill>
          <a:blip r:embed="rId3" cstate="print"/>
          <a:srcRect/>
          <a:stretch>
            <a:fillRect/>
          </a:stretch>
        </p:blipFill>
        <p:spPr bwMode="auto">
          <a:xfrm>
            <a:off x="3214678" y="4357694"/>
            <a:ext cx="2492721" cy="1824273"/>
          </a:xfrm>
          <a:prstGeom prst="rect">
            <a:avLst/>
          </a:prstGeom>
          <a:noFill/>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media liaison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Nominating a media contact person from the venue for the visit</a:t>
            </a:r>
          </a:p>
          <a:p>
            <a:pPr marL="360000" indent="-360000">
              <a:spcBef>
                <a:spcPts val="600"/>
              </a:spcBef>
              <a:spcAft>
                <a:spcPts val="1200"/>
              </a:spcAft>
            </a:pPr>
            <a:r>
              <a:rPr lang="en-US" sz="2200" dirty="0" smtClean="0">
                <a:latin typeface="Helvetica" pitchFamily="34" charset="0"/>
              </a:rPr>
              <a:t>Advising times, dates and locations available for interviews and making bookings</a:t>
            </a:r>
          </a:p>
          <a:p>
            <a:pPr marL="360000" indent="-360000">
              <a:spcBef>
                <a:spcPts val="600"/>
              </a:spcBef>
              <a:spcAft>
                <a:spcPts val="1200"/>
              </a:spcAft>
            </a:pPr>
            <a:r>
              <a:rPr lang="en-US" sz="2200" dirty="0" smtClean="0">
                <a:latin typeface="Helvetica" pitchFamily="34" charset="0"/>
              </a:rPr>
              <a:t>Preparing media releases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28674" name="Picture 2" descr="C:\Documents and Settings\danielc\Local Settings\Temporary Internet Files\Content.IE5\SIQ5KRQ3\MC900213343[1].wmf"/>
          <p:cNvPicPr>
            <a:picLocks noChangeAspect="1" noChangeArrowheads="1"/>
          </p:cNvPicPr>
          <p:nvPr/>
        </p:nvPicPr>
        <p:blipFill>
          <a:blip r:embed="rId3" cstate="print"/>
          <a:srcRect/>
          <a:stretch>
            <a:fillRect/>
          </a:stretch>
        </p:blipFill>
        <p:spPr bwMode="auto">
          <a:xfrm>
            <a:off x="6215074" y="3286124"/>
            <a:ext cx="1824228" cy="1778508"/>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media liaison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Preparing and distributing media protocols for VIP visit</a:t>
            </a:r>
          </a:p>
          <a:p>
            <a:pPr marL="360000" indent="-360000">
              <a:spcBef>
                <a:spcPts val="600"/>
              </a:spcBef>
              <a:spcAft>
                <a:spcPts val="1200"/>
              </a:spcAft>
            </a:pPr>
            <a:r>
              <a:rPr lang="en-US" sz="2200" dirty="0" smtClean="0">
                <a:latin typeface="Helvetica" pitchFamily="34" charset="0"/>
              </a:rPr>
              <a:t>Determining media hospitality to be provided</a:t>
            </a:r>
          </a:p>
          <a:p>
            <a:pPr marL="360000" indent="-360000">
              <a:spcBef>
                <a:spcPts val="600"/>
              </a:spcBef>
              <a:spcAft>
                <a:spcPts val="1200"/>
              </a:spcAft>
            </a:pPr>
            <a:r>
              <a:rPr lang="en-US" sz="2200" dirty="0" smtClean="0">
                <a:latin typeface="Helvetica" pitchFamily="34" charset="0"/>
              </a:rPr>
              <a:t>Advising media of arrangements</a:t>
            </a:r>
          </a:p>
          <a:p>
            <a:pPr marL="360000" indent="-360000">
              <a:spcBef>
                <a:spcPts val="600"/>
              </a:spcBef>
              <a:spcAft>
                <a:spcPts val="1200"/>
              </a:spcAft>
            </a:pPr>
            <a:r>
              <a:rPr lang="en-US" sz="2200" dirty="0" smtClean="0">
                <a:latin typeface="Helvetica" pitchFamily="34" charset="0"/>
              </a:rPr>
              <a:t>Responding to media enquiries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29698" name="Picture 2" descr="C:\Documents and Settings\danielc\Local Settings\Temporary Internet Files\Content.IE5\SIQ5KRQ3\MC900233029[1].wmf"/>
          <p:cNvPicPr>
            <a:picLocks noChangeAspect="1" noChangeArrowheads="1"/>
          </p:cNvPicPr>
          <p:nvPr/>
        </p:nvPicPr>
        <p:blipFill>
          <a:blip r:embed="rId3" cstate="print"/>
          <a:srcRect/>
          <a:stretch>
            <a:fillRect/>
          </a:stretch>
        </p:blipFill>
        <p:spPr bwMode="auto">
          <a:xfrm>
            <a:off x="6357950" y="3000372"/>
            <a:ext cx="1927303" cy="1960968"/>
          </a:xfrm>
          <a:prstGeom prst="rect">
            <a:avLst/>
          </a:prstGeom>
          <a:noFill/>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drills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Drills of approved safety plans should be conducted to:</a:t>
            </a:r>
          </a:p>
          <a:p>
            <a:pPr marL="360000" indent="-360000">
              <a:spcBef>
                <a:spcPts val="600"/>
              </a:spcBef>
              <a:spcAft>
                <a:spcPts val="1200"/>
              </a:spcAft>
            </a:pPr>
            <a:r>
              <a:rPr lang="en-US" sz="2200" dirty="0" smtClean="0">
                <a:latin typeface="Helvetica" pitchFamily="34" charset="0"/>
              </a:rPr>
              <a:t>Demonstrate ‘due diligence’</a:t>
            </a:r>
          </a:p>
          <a:p>
            <a:pPr marL="360000" indent="-360000">
              <a:spcBef>
                <a:spcPts val="600"/>
              </a:spcBef>
              <a:spcAft>
                <a:spcPts val="1200"/>
              </a:spcAft>
            </a:pPr>
            <a:r>
              <a:rPr lang="en-US" sz="2200" dirty="0" smtClean="0">
                <a:latin typeface="Helvetica" pitchFamily="34" charset="0"/>
              </a:rPr>
              <a:t>Give staff experience with plan implementation</a:t>
            </a:r>
          </a:p>
          <a:p>
            <a:pPr marL="360000" indent="-360000">
              <a:spcBef>
                <a:spcPts val="600"/>
              </a:spcBef>
              <a:spcAft>
                <a:spcPts val="1200"/>
              </a:spcAft>
            </a:pPr>
            <a:r>
              <a:rPr lang="en-US" sz="2200" dirty="0" smtClean="0">
                <a:latin typeface="Helvetica" pitchFamily="34" charset="0"/>
              </a:rPr>
              <a:t>Prove the plan/s</a:t>
            </a:r>
          </a:p>
          <a:p>
            <a:pPr marL="360000" indent="-360000">
              <a:spcBef>
                <a:spcPts val="600"/>
              </a:spcBef>
              <a:spcAft>
                <a:spcPts val="1200"/>
              </a:spcAft>
            </a:pPr>
            <a:r>
              <a:rPr lang="en-US" sz="2200" dirty="0" smtClean="0">
                <a:latin typeface="Helvetica" pitchFamily="34" charset="0"/>
              </a:rPr>
              <a:t>Identify problems and issues with the plan/s</a:t>
            </a:r>
          </a:p>
          <a:p>
            <a:pPr marL="360000" indent="-360000">
              <a:spcBef>
                <a:spcPts val="600"/>
              </a:spcBef>
              <a:spcAft>
                <a:spcPts val="1200"/>
              </a:spcAft>
            </a:pPr>
            <a:r>
              <a:rPr lang="en-US" sz="2200" dirty="0" smtClean="0">
                <a:latin typeface="Helvetica" pitchFamily="34" charset="0"/>
              </a:rPr>
              <a:t>Verify responses and planned actions</a:t>
            </a:r>
          </a:p>
          <a:p>
            <a:pPr marL="360000" indent="-360000">
              <a:spcBef>
                <a:spcPts val="600"/>
              </a:spcBef>
              <a:spcAft>
                <a:spcPts val="1200"/>
              </a:spcAft>
            </a:pPr>
            <a:r>
              <a:rPr lang="en-US" sz="2200" dirty="0" smtClean="0">
                <a:latin typeface="Helvetica" pitchFamily="34" charset="0"/>
              </a:rPr>
              <a:t>Generate options and alternatives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30722" name="Picture 2" descr="C:\Documents and Settings\danielc\Local Settings\Temporary Internet Files\Content.IE5\XGIII3N1\MC900104706[1].wmf"/>
          <p:cNvPicPr>
            <a:picLocks noChangeAspect="1" noChangeArrowheads="1"/>
          </p:cNvPicPr>
          <p:nvPr/>
        </p:nvPicPr>
        <p:blipFill>
          <a:blip r:embed="rId3" cstate="print"/>
          <a:srcRect/>
          <a:stretch>
            <a:fillRect/>
          </a:stretch>
        </p:blipFill>
        <p:spPr bwMode="auto">
          <a:xfrm>
            <a:off x="6786578" y="3286124"/>
            <a:ext cx="1818742" cy="1253642"/>
          </a:xfrm>
          <a:prstGeom prst="rect">
            <a:avLst/>
          </a:prstGeom>
          <a:noFill/>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drills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conducting safety plan drills:</a:t>
            </a:r>
          </a:p>
          <a:p>
            <a:pPr marL="360000" indent="-360000">
              <a:spcBef>
                <a:spcPts val="600"/>
              </a:spcBef>
              <a:spcAft>
                <a:spcPts val="1200"/>
              </a:spcAft>
            </a:pPr>
            <a:r>
              <a:rPr lang="en-US" sz="2200" dirty="0" smtClean="0">
                <a:latin typeface="Helvetica" pitchFamily="34" charset="0"/>
              </a:rPr>
              <a:t>Involve all stakeholders</a:t>
            </a:r>
          </a:p>
          <a:p>
            <a:pPr marL="360000" indent="-360000">
              <a:spcBef>
                <a:spcPts val="600"/>
              </a:spcBef>
              <a:spcAft>
                <a:spcPts val="1200"/>
              </a:spcAft>
            </a:pPr>
            <a:r>
              <a:rPr lang="en-US" sz="2200" dirty="0" smtClean="0">
                <a:latin typeface="Helvetica" pitchFamily="34" charset="0"/>
              </a:rPr>
              <a:t>Notify authorities of the drills</a:t>
            </a:r>
          </a:p>
          <a:p>
            <a:pPr marL="360000" indent="-360000">
              <a:spcBef>
                <a:spcPts val="600"/>
              </a:spcBef>
              <a:spcAft>
                <a:spcPts val="1200"/>
              </a:spcAft>
            </a:pPr>
            <a:r>
              <a:rPr lang="en-US" sz="2200" dirty="0" smtClean="0">
                <a:latin typeface="Helvetica" pitchFamily="34" charset="0"/>
              </a:rPr>
              <a:t>Trial all details in the plans</a:t>
            </a:r>
          </a:p>
          <a:p>
            <a:pPr marL="360000" indent="-360000">
              <a:spcBef>
                <a:spcPts val="600"/>
              </a:spcBef>
              <a:spcAft>
                <a:spcPts val="1200"/>
              </a:spcAft>
            </a:pPr>
            <a:r>
              <a:rPr lang="en-US" sz="2200" dirty="0" smtClean="0">
                <a:latin typeface="Helvetica" pitchFamily="34" charset="0"/>
              </a:rPr>
              <a:t>Test communication, surveillance and detection equipment and systems</a:t>
            </a:r>
          </a:p>
          <a:p>
            <a:pPr marL="360000" indent="-360000">
              <a:spcBef>
                <a:spcPts val="600"/>
              </a:spcBef>
              <a:spcAft>
                <a:spcPts val="1200"/>
              </a:spcAft>
            </a:pPr>
            <a:r>
              <a:rPr lang="en-US" sz="2200" dirty="0" smtClean="0">
                <a:latin typeface="Helvetica" pitchFamily="34" charset="0"/>
              </a:rPr>
              <a:t>Focus drills on identifies issues and threats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6" name="Picture 5" descr="C:\Documents and Settings\danielc\Desktop\images\Maintain the security of premises and property imgs\585641_emergeny_escape.jpg"/>
          <p:cNvPicPr/>
          <p:nvPr/>
        </p:nvPicPr>
        <p:blipFill>
          <a:blip r:embed="rId3" cstate="print"/>
          <a:srcRect/>
          <a:stretch>
            <a:fillRect/>
          </a:stretch>
        </p:blipFill>
        <p:spPr bwMode="auto">
          <a:xfrm>
            <a:off x="6500826" y="2285992"/>
            <a:ext cx="1555679" cy="13320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drills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Create ‘realistic’ scenarios: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Conduct at different times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Focus on threats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Include possible problems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descr="C:\Documents and Settings\danielc\Desktop\images\Maintain the security of premises and property imgs\330329_the_quickest_way_out.jpg"/>
          <p:cNvPicPr/>
          <p:nvPr/>
        </p:nvPicPr>
        <p:blipFill>
          <a:blip r:embed="rId3" cstate="print"/>
          <a:srcRect/>
          <a:stretch>
            <a:fillRect/>
          </a:stretch>
        </p:blipFill>
        <p:spPr bwMode="auto">
          <a:xfrm>
            <a:off x="5572132" y="2143116"/>
            <a:ext cx="1778282" cy="13320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drills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Revise and re-circulate safety plans as required on basis of drills</a:t>
            </a:r>
          </a:p>
          <a:p>
            <a:pPr marL="360000" indent="-360000">
              <a:spcBef>
                <a:spcPts val="600"/>
              </a:spcBef>
              <a:spcAft>
                <a:spcPts val="1200"/>
              </a:spcAft>
            </a:pPr>
            <a:r>
              <a:rPr lang="en-US" sz="2200" dirty="0" smtClean="0">
                <a:latin typeface="Helvetica" pitchFamily="34" charset="0"/>
              </a:rPr>
              <a:t>Record date and times of drills</a:t>
            </a:r>
          </a:p>
          <a:p>
            <a:pPr marL="360000" indent="-360000">
              <a:spcBef>
                <a:spcPts val="600"/>
              </a:spcBef>
              <a:spcAft>
                <a:spcPts val="1200"/>
              </a:spcAft>
            </a:pPr>
            <a:r>
              <a:rPr lang="en-US" sz="2200" dirty="0" smtClean="0">
                <a:latin typeface="Helvetica" pitchFamily="34" charset="0"/>
              </a:rPr>
              <a:t>Re-run drills as and when necessary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32770" name="Picture 2" descr="I:\Overseas Projects\PHOTOS\2011\iStock_walkie talkie.JPG"/>
          <p:cNvPicPr>
            <a:picLocks noChangeAspect="1" noChangeArrowheads="1"/>
          </p:cNvPicPr>
          <p:nvPr/>
        </p:nvPicPr>
        <p:blipFill>
          <a:blip r:embed="rId3" cstate="print"/>
          <a:srcRect/>
          <a:stretch>
            <a:fillRect/>
          </a:stretch>
        </p:blipFill>
        <p:spPr bwMode="auto">
          <a:xfrm>
            <a:off x="5786446" y="2428868"/>
            <a:ext cx="2387580" cy="1593597"/>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dirty="0" smtClean="0">
                <a:latin typeface="Helvetica" pitchFamily="34" charset="0"/>
              </a:rPr>
              <a:t>When preparing for visits by VIPs:</a:t>
            </a:r>
          </a:p>
          <a:p>
            <a:pPr>
              <a:spcBef>
                <a:spcPts val="600"/>
              </a:spcBef>
              <a:spcAft>
                <a:spcPts val="600"/>
              </a:spcAft>
            </a:pPr>
            <a:r>
              <a:rPr lang="en-AU" sz="2200" dirty="0" smtClean="0"/>
              <a:t>Determine the nature of the visit</a:t>
            </a:r>
          </a:p>
          <a:p>
            <a:pPr>
              <a:spcBef>
                <a:spcPts val="600"/>
              </a:spcBef>
              <a:spcAft>
                <a:spcPts val="600"/>
              </a:spcAft>
            </a:pPr>
            <a:r>
              <a:rPr lang="en-AU" sz="2200" dirty="0" smtClean="0"/>
              <a:t>Research details of the visit and the VIP and their entourage</a:t>
            </a:r>
          </a:p>
          <a:p>
            <a:pPr>
              <a:spcBef>
                <a:spcPts val="600"/>
              </a:spcBef>
              <a:spcAft>
                <a:spcPts val="600"/>
              </a:spcAft>
            </a:pPr>
            <a:r>
              <a:rPr lang="en-AU" sz="2200" dirty="0" smtClean="0"/>
              <a:t>Liaise with relevant managers, handlers and minders as well as local authorities and agencies</a:t>
            </a:r>
          </a:p>
          <a:p>
            <a:pPr>
              <a:spcBef>
                <a:spcPts val="600"/>
              </a:spcBef>
              <a:spcAft>
                <a:spcPts val="600"/>
              </a:spcAft>
            </a:pPr>
            <a:r>
              <a:rPr lang="en-AU" sz="2200" dirty="0" smtClean="0"/>
              <a:t>Investigate and identify threats</a:t>
            </a:r>
          </a:p>
          <a:p>
            <a:pPr>
              <a:spcBef>
                <a:spcPts val="600"/>
              </a:spcBef>
              <a:spcAft>
                <a:spcPts val="600"/>
              </a:spcAft>
            </a:pPr>
            <a:r>
              <a:rPr lang="en-AU" sz="2200" dirty="0" smtClean="0"/>
              <a:t>Prepare safety plans</a:t>
            </a:r>
          </a:p>
          <a:p>
            <a:pPr>
              <a:spcBef>
                <a:spcPts val="600"/>
              </a:spcBef>
              <a:spcAft>
                <a:spcPts val="600"/>
              </a:spcAft>
            </a:pPr>
            <a:r>
              <a:rPr lang="en-AU" sz="2200" dirty="0" smtClean="0"/>
              <a:t>Identify and obtain resources to allow safety plans to be implemented</a:t>
            </a:r>
          </a:p>
          <a:p>
            <a:pPr marL="360000" indent="-360000">
              <a:spcBef>
                <a:spcPts val="600"/>
              </a:spcBef>
              <a:spcAft>
                <a:spcPts val="600"/>
              </a:spcAft>
              <a:buNone/>
            </a:pPr>
            <a:r>
              <a:rPr lang="en-US" sz="2200" dirty="0" smtClean="0"/>
              <a:t>(Continued)</a:t>
            </a:r>
          </a:p>
          <a:p>
            <a:endParaRPr lang="en-AU" sz="22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2" descr="C:\Documents and Settings\danielc\Local Settings\Temporary Internet Files\Content.IE5\Y88G682L\MC900442036[1].wmf"/>
          <p:cNvPicPr>
            <a:picLocks noChangeAspect="1" noChangeArrowheads="1"/>
          </p:cNvPicPr>
          <p:nvPr/>
        </p:nvPicPr>
        <p:blipFill>
          <a:blip r:embed="rId3" cstate="print"/>
          <a:srcRect/>
          <a:stretch>
            <a:fillRect/>
          </a:stretch>
        </p:blipFill>
        <p:spPr bwMode="auto">
          <a:xfrm>
            <a:off x="6215074" y="1071546"/>
            <a:ext cx="1496484" cy="1481135"/>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556792"/>
            <a:ext cx="7467600" cy="4801166"/>
          </a:xfrm>
        </p:spPr>
        <p:txBody>
          <a:bodyPr>
            <a:normAutofit lnSpcReduction="10000"/>
          </a:bodyPr>
          <a:lstStyle/>
          <a:p>
            <a:pPr>
              <a:spcBef>
                <a:spcPts val="600"/>
              </a:spcBef>
              <a:spcAft>
                <a:spcPts val="600"/>
              </a:spcAft>
            </a:pPr>
            <a:r>
              <a:rPr lang="en-AU" sz="2200" dirty="0" smtClean="0"/>
              <a:t>Document action taken as part of the planning and preparation</a:t>
            </a:r>
          </a:p>
          <a:p>
            <a:pPr>
              <a:spcBef>
                <a:spcPts val="600"/>
              </a:spcBef>
              <a:spcAft>
                <a:spcPts val="600"/>
              </a:spcAft>
            </a:pPr>
            <a:r>
              <a:rPr lang="en-AU" sz="2200" dirty="0" smtClean="0"/>
              <a:t>Screen and select appropriate personnel to implement the safety plans</a:t>
            </a:r>
          </a:p>
          <a:p>
            <a:pPr>
              <a:spcBef>
                <a:spcPts val="600"/>
              </a:spcBef>
              <a:spcAft>
                <a:spcPts val="600"/>
              </a:spcAft>
            </a:pPr>
            <a:r>
              <a:rPr lang="en-AU" sz="2200" dirty="0" smtClean="0"/>
              <a:t>Share security and safety information with nominated internal and external personnel</a:t>
            </a:r>
          </a:p>
          <a:p>
            <a:pPr>
              <a:spcBef>
                <a:spcPts val="600"/>
              </a:spcBef>
              <a:spcAft>
                <a:spcPts val="600"/>
              </a:spcAft>
            </a:pPr>
            <a:r>
              <a:rPr lang="en-AU" sz="2200" dirty="0" smtClean="0"/>
              <a:t>Determine media requirements for the visit and establish appropriate facilities</a:t>
            </a:r>
          </a:p>
          <a:p>
            <a:pPr>
              <a:spcBef>
                <a:spcPts val="600"/>
              </a:spcBef>
              <a:spcAft>
                <a:spcPts val="600"/>
              </a:spcAft>
            </a:pPr>
            <a:r>
              <a:rPr lang="en-AU" sz="2200" dirty="0" smtClean="0"/>
              <a:t>Conduct and review drills to practice implementation of safety plans</a:t>
            </a:r>
          </a:p>
          <a:p>
            <a:pPr>
              <a:spcBef>
                <a:spcPts val="600"/>
              </a:spcBef>
              <a:spcAft>
                <a:spcPts val="600"/>
              </a:spcAft>
            </a:pPr>
            <a:r>
              <a:rPr lang="en-AU" sz="2200" dirty="0" smtClean="0"/>
              <a:t>Revise safety plans on the basis of drills and redistribute revised plans as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2" descr="C:\Documents and Settings\danielc\Local Settings\Temporary Internet Files\Content.IE5\Y88G682L\MC900442036[1].wmf"/>
          <p:cNvPicPr>
            <a:picLocks noChangeAspect="1" noChangeArrowheads="1"/>
          </p:cNvPicPr>
          <p:nvPr/>
        </p:nvPicPr>
        <p:blipFill>
          <a:blip r:embed="rId3" cstate="print"/>
          <a:srcRect/>
          <a:stretch>
            <a:fillRect/>
          </a:stretch>
        </p:blipFill>
        <p:spPr bwMode="auto">
          <a:xfrm>
            <a:off x="7786710" y="3357562"/>
            <a:ext cx="1210732" cy="1198314"/>
          </a:xfrm>
          <a:prstGeom prst="rect">
            <a:avLst/>
          </a:prstGeom>
          <a:noFill/>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plans for VIP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Apply pre-arrival preparations</a:t>
            </a:r>
          </a:p>
          <a:p>
            <a:pPr marL="360000" indent="-360000">
              <a:spcBef>
                <a:spcPts val="600"/>
              </a:spcBef>
              <a:spcAft>
                <a:spcPts val="1200"/>
              </a:spcAft>
            </a:pPr>
            <a:r>
              <a:rPr lang="en-US" sz="2200" dirty="0" smtClean="0">
                <a:latin typeface="Helvetica" pitchFamily="34" charset="0"/>
              </a:rPr>
              <a:t>Conduct final pre-arrival checks</a:t>
            </a:r>
          </a:p>
          <a:p>
            <a:pPr marL="360000" indent="-360000">
              <a:spcBef>
                <a:spcPts val="600"/>
              </a:spcBef>
              <a:spcAft>
                <a:spcPts val="1200"/>
              </a:spcAft>
            </a:pPr>
            <a:r>
              <a:rPr lang="en-US" sz="2200" dirty="0" smtClean="0">
                <a:latin typeface="Helvetica" pitchFamily="34" charset="0"/>
              </a:rPr>
              <a:t>Meet and escort VIPs</a:t>
            </a:r>
          </a:p>
          <a:p>
            <a:pPr marL="360000" indent="-360000">
              <a:spcBef>
                <a:spcPts val="600"/>
              </a:spcBef>
              <a:spcAft>
                <a:spcPts val="1200"/>
              </a:spcAft>
            </a:pPr>
            <a:r>
              <a:rPr lang="en-US" sz="2200" dirty="0" smtClean="0">
                <a:latin typeface="Helvetica" pitchFamily="34" charset="0"/>
              </a:rPr>
              <a:t>Maintain the safety of VIPs during stay</a:t>
            </a:r>
          </a:p>
          <a:p>
            <a:pPr marL="360000" indent="-360000">
              <a:spcBef>
                <a:spcPts val="600"/>
              </a:spcBef>
              <a:spcAft>
                <a:spcPts val="1200"/>
              </a:spcAft>
            </a:pPr>
            <a:r>
              <a:rPr lang="en-US" sz="2200" dirty="0" smtClean="0">
                <a:latin typeface="Helvetica" pitchFamily="34" charset="0"/>
              </a:rPr>
              <a:t>Facilitate departure of VIPs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786314" y="207167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000628" y="264318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815656" y="3214686"/>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857884" y="378619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500562" y="4357694"/>
            <a:ext cx="399154" cy="527046"/>
          </a:xfrm>
          <a:prstGeom prst="rect">
            <a:avLst/>
          </a:prstGeom>
          <a:noFill/>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pre-arrival preparations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Pre-arrival preparations occur over a range of timeframes:</a:t>
            </a:r>
          </a:p>
          <a:p>
            <a:pPr marL="360000" indent="-360000">
              <a:spcBef>
                <a:spcPts val="600"/>
              </a:spcBef>
              <a:spcAft>
                <a:spcPts val="1200"/>
              </a:spcAft>
            </a:pPr>
            <a:r>
              <a:rPr lang="en-US" sz="2200" dirty="0" smtClean="0">
                <a:latin typeface="Helvetica" pitchFamily="34" charset="0"/>
              </a:rPr>
              <a:t>From 6 months out</a:t>
            </a:r>
          </a:p>
          <a:p>
            <a:pPr marL="360000" indent="-360000">
              <a:spcBef>
                <a:spcPts val="600"/>
              </a:spcBef>
              <a:spcAft>
                <a:spcPts val="1200"/>
              </a:spcAft>
            </a:pPr>
            <a:r>
              <a:rPr lang="en-US" sz="2200" dirty="0" smtClean="0">
                <a:latin typeface="Helvetica" pitchFamily="34" charset="0"/>
              </a:rPr>
              <a:t>3 months out</a:t>
            </a:r>
          </a:p>
          <a:p>
            <a:pPr marL="360000" indent="-360000">
              <a:spcBef>
                <a:spcPts val="600"/>
              </a:spcBef>
              <a:spcAft>
                <a:spcPts val="1200"/>
              </a:spcAft>
            </a:pPr>
            <a:r>
              <a:rPr lang="en-US" sz="2200" dirty="0" smtClean="0">
                <a:latin typeface="Helvetica" pitchFamily="34" charset="0"/>
              </a:rPr>
              <a:t>Several days in advance</a:t>
            </a:r>
          </a:p>
          <a:p>
            <a:pPr marL="360000" indent="-360000">
              <a:spcBef>
                <a:spcPts val="600"/>
              </a:spcBef>
              <a:spcAft>
                <a:spcPts val="1200"/>
              </a:spcAft>
            </a:pPr>
            <a:r>
              <a:rPr lang="en-US" sz="2200" dirty="0" smtClean="0">
                <a:latin typeface="Helvetica" pitchFamily="34" charset="0"/>
              </a:rPr>
              <a:t>Within 24 hours</a:t>
            </a:r>
          </a:p>
          <a:p>
            <a:pPr marL="360000" indent="-360000">
              <a:spcBef>
                <a:spcPts val="600"/>
              </a:spcBef>
              <a:spcAft>
                <a:spcPts val="1200"/>
              </a:spcAft>
            </a:pPr>
            <a:r>
              <a:rPr lang="en-US" sz="2200" dirty="0" smtClean="0">
                <a:latin typeface="Helvetica" pitchFamily="34" charset="0"/>
              </a:rPr>
              <a:t>On the day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33795" name="Picture 3" descr="C:\Documents and Settings\danielc\Local Settings\Temporary Internet Files\Content.IE5\SIQ5KRQ3\MP900442206[1].jpg"/>
          <p:cNvPicPr>
            <a:picLocks noChangeAspect="1" noChangeArrowheads="1"/>
          </p:cNvPicPr>
          <p:nvPr/>
        </p:nvPicPr>
        <p:blipFill>
          <a:blip r:embed="rId3" cstate="print"/>
          <a:srcRect/>
          <a:stretch>
            <a:fillRect/>
          </a:stretch>
        </p:blipFill>
        <p:spPr bwMode="auto">
          <a:xfrm>
            <a:off x="5857884" y="2428868"/>
            <a:ext cx="2214546" cy="1476364"/>
          </a:xfrm>
          <a:prstGeom prst="rect">
            <a:avLst/>
          </a:prstGeom>
          <a:noFill/>
        </p:spPr>
      </p:pic>
      <p:pic>
        <p:nvPicPr>
          <p:cNvPr id="33796" name="Picture 4" descr="C:\Documents and Settings\danielc\Local Settings\Temporary Internet Files\Content.IE5\UMECW9PM\MC900338042[1].wmf"/>
          <p:cNvPicPr>
            <a:picLocks noChangeAspect="1" noChangeArrowheads="1"/>
          </p:cNvPicPr>
          <p:nvPr/>
        </p:nvPicPr>
        <p:blipFill>
          <a:blip r:embed="rId4" cstate="print"/>
          <a:srcRect/>
          <a:stretch>
            <a:fillRect/>
          </a:stretch>
        </p:blipFill>
        <p:spPr bwMode="auto">
          <a:xfrm>
            <a:off x="5000628" y="3857628"/>
            <a:ext cx="1318565" cy="1856232"/>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pre-arrival preparations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Pre-arrival preparations can include:</a:t>
            </a:r>
          </a:p>
          <a:p>
            <a:pPr marL="360000" indent="-360000">
              <a:spcBef>
                <a:spcPts val="600"/>
              </a:spcBef>
              <a:spcAft>
                <a:spcPts val="1200"/>
              </a:spcAft>
            </a:pPr>
            <a:r>
              <a:rPr lang="en-US" sz="2200" dirty="0" smtClean="0">
                <a:latin typeface="Helvetica" pitchFamily="34" charset="0"/>
              </a:rPr>
              <a:t>Training staff: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Systems and equipment use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Cultural awareness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Protocols to be applied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Operational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Revisions to venue SOPs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descr="C:\Documents and Settings\danielc\Desktop\329649_training_room_2.jpg"/>
          <p:cNvPicPr/>
          <p:nvPr/>
        </p:nvPicPr>
        <p:blipFill>
          <a:blip r:embed="rId3" cstate="print"/>
          <a:srcRect/>
          <a:stretch>
            <a:fillRect/>
          </a:stretch>
        </p:blipFill>
        <p:spPr bwMode="auto">
          <a:xfrm>
            <a:off x="5786446" y="2786058"/>
            <a:ext cx="2159706" cy="161431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pre-arrival preparations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Providing food and beverages: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Learning menu and product knowledge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Identifying timing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Purchasing required items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Trialing and testing recipes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Determining service protocols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descr="C:\Documents and Settings\danielc\Local Settings\Temporary Internet Files\Content.IE5\Y88G682L\MC900183006[1].wmf"/>
          <p:cNvPicPr/>
          <p:nvPr/>
        </p:nvPicPr>
        <p:blipFill>
          <a:blip r:embed="rId3" cstate="print"/>
          <a:srcRect/>
          <a:stretch>
            <a:fillRect/>
          </a:stretch>
        </p:blipFill>
        <p:spPr bwMode="auto">
          <a:xfrm>
            <a:off x="6429388" y="2428868"/>
            <a:ext cx="1831058" cy="181751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pre-arrival preparations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Preparing and providing support facilities: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Refurbishing areas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Painting, service and maintenance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Cleaning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Replenishing supplies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Closing areas to public</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34818" name="Picture 2" descr="I:\Overseas Projects\PHOTOS\2012\Office\110406_janitors_bucket_with_mop__1.jpg"/>
          <p:cNvPicPr>
            <a:picLocks noChangeAspect="1" noChangeArrowheads="1"/>
          </p:cNvPicPr>
          <p:nvPr/>
        </p:nvPicPr>
        <p:blipFill>
          <a:blip r:embed="rId3" cstate="print"/>
          <a:srcRect/>
          <a:stretch>
            <a:fillRect/>
          </a:stretch>
        </p:blipFill>
        <p:spPr bwMode="auto">
          <a:xfrm>
            <a:off x="6643702" y="2285992"/>
            <a:ext cx="1530222" cy="2135194"/>
          </a:xfrm>
          <a:prstGeom prst="rect">
            <a:avLst/>
          </a:prstGeom>
          <a:noFill/>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pre-arrival preparations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360000" indent="-360000">
              <a:spcBef>
                <a:spcPts val="600"/>
              </a:spcBef>
              <a:spcAft>
                <a:spcPts val="1200"/>
              </a:spcAft>
            </a:pPr>
            <a:r>
              <a:rPr lang="en-US" sz="2200" dirty="0" smtClean="0">
                <a:latin typeface="Helvetica" pitchFamily="34" charset="0"/>
              </a:rPr>
              <a:t>Areas which need to be prepared can include: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Toilets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Make-up rooms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Media rooms and interview rooms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Change rooms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Holding rooms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Business support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35843" name="Picture 3" descr="I:\Overseas Projects\PHOTOS\2012\Office\1310922_mops_at_rest.jpg"/>
          <p:cNvPicPr>
            <a:picLocks noChangeAspect="1" noChangeArrowheads="1"/>
          </p:cNvPicPr>
          <p:nvPr/>
        </p:nvPicPr>
        <p:blipFill>
          <a:blip r:embed="rId3" cstate="print"/>
          <a:srcRect/>
          <a:stretch>
            <a:fillRect/>
          </a:stretch>
        </p:blipFill>
        <p:spPr bwMode="auto">
          <a:xfrm>
            <a:off x="6357950" y="2428868"/>
            <a:ext cx="1666873" cy="2500310"/>
          </a:xfrm>
          <a:prstGeom prst="rect">
            <a:avLst/>
          </a:prstGeom>
          <a:noFill/>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pre-arrival preparations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Controlling access: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Closing/locking doors, gates and windows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Positioning required signage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Erecting barricades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Cordoning off areas</a:t>
            </a:r>
          </a:p>
          <a:p>
            <a:pPr marL="0" indent="0">
              <a:spcBef>
                <a:spcPts val="600"/>
              </a:spcBef>
              <a:spcAft>
                <a:spcPts val="1200"/>
              </a:spcAft>
              <a:buClr>
                <a:schemeClr val="accent1">
                  <a:lumMod val="75000"/>
                </a:schemeClr>
              </a:buClr>
              <a:buSzPct val="100000"/>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36867" name="Picture 3" descr="C:\Documents and Settings\danielc\Local Settings\Temporary Internet Files\Content.IE5\V9A2RTT8\MC900019721[1].wmf"/>
          <p:cNvPicPr>
            <a:picLocks noChangeAspect="1" noChangeArrowheads="1"/>
          </p:cNvPicPr>
          <p:nvPr/>
        </p:nvPicPr>
        <p:blipFill>
          <a:blip r:embed="rId3" cstate="print"/>
          <a:srcRect/>
          <a:stretch>
            <a:fillRect/>
          </a:stretch>
        </p:blipFill>
        <p:spPr bwMode="auto">
          <a:xfrm>
            <a:off x="6072198" y="2786058"/>
            <a:ext cx="1977726" cy="1663055"/>
          </a:xfrm>
          <a:prstGeom prst="rect">
            <a:avLst/>
          </a:prstGeom>
          <a:noFill/>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pre-arrival preparations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Inspecting vehicles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Screening – people, articles and luggage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Issuing ID cards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Positioning guards at pre-determined locations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37892" name="Picture 4" descr="C:\Documents and Settings\danielc\Local Settings\Temporary Internet Files\Content.IE5\3Y3SDCJX\MC900287173[1].wmf"/>
          <p:cNvPicPr>
            <a:picLocks noChangeAspect="1" noChangeArrowheads="1"/>
          </p:cNvPicPr>
          <p:nvPr/>
        </p:nvPicPr>
        <p:blipFill>
          <a:blip r:embed="rId3" cstate="print"/>
          <a:srcRect/>
          <a:stretch>
            <a:fillRect/>
          </a:stretch>
        </p:blipFill>
        <p:spPr bwMode="auto">
          <a:xfrm>
            <a:off x="3428992" y="4286256"/>
            <a:ext cx="2349277" cy="1896266"/>
          </a:xfrm>
          <a:prstGeom prst="rect">
            <a:avLst/>
          </a:prstGeom>
          <a:noFill/>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pre-arrival preparations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Addressing operational issues:</a:t>
            </a:r>
          </a:p>
          <a:p>
            <a:pPr marL="360000" indent="-360000">
              <a:spcBef>
                <a:spcPts val="600"/>
              </a:spcBef>
              <a:spcAft>
                <a:spcPts val="1200"/>
              </a:spcAft>
            </a:pPr>
            <a:r>
              <a:rPr lang="en-US" sz="2200" dirty="0" smtClean="0">
                <a:latin typeface="Helvetica" pitchFamily="34" charset="0"/>
              </a:rPr>
              <a:t>Reallocating staff</a:t>
            </a:r>
          </a:p>
          <a:p>
            <a:pPr marL="360000" indent="-360000">
              <a:spcBef>
                <a:spcPts val="600"/>
              </a:spcBef>
              <a:spcAft>
                <a:spcPts val="1200"/>
              </a:spcAft>
            </a:pPr>
            <a:r>
              <a:rPr lang="en-US" sz="2200" dirty="0" smtClean="0">
                <a:latin typeface="Helvetica" pitchFamily="34" charset="0"/>
              </a:rPr>
              <a:t>Drafting revised rosters</a:t>
            </a:r>
          </a:p>
          <a:p>
            <a:pPr marL="360000" indent="-360000">
              <a:spcBef>
                <a:spcPts val="600"/>
              </a:spcBef>
              <a:spcAft>
                <a:spcPts val="1200"/>
              </a:spcAft>
            </a:pPr>
            <a:r>
              <a:rPr lang="en-US" sz="2200" dirty="0" smtClean="0">
                <a:latin typeface="Helvetica" pitchFamily="34" charset="0"/>
              </a:rPr>
              <a:t>Advising staff of: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Revised/new procedures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Changed opening/operation times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Expected impacts on other guests/service delivery</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38914" name="Picture 2" descr="I:\Overseas Projects\PHOTOS\2012\Office\MP900402035.JPG"/>
          <p:cNvPicPr>
            <a:picLocks noChangeAspect="1" noChangeArrowheads="1"/>
          </p:cNvPicPr>
          <p:nvPr/>
        </p:nvPicPr>
        <p:blipFill>
          <a:blip r:embed="rId3" cstate="print"/>
          <a:srcRect/>
          <a:stretch>
            <a:fillRect/>
          </a:stretch>
        </p:blipFill>
        <p:spPr bwMode="auto">
          <a:xfrm>
            <a:off x="5429256" y="1714488"/>
            <a:ext cx="2670471" cy="1779590"/>
          </a:xfrm>
          <a:prstGeom prst="rect">
            <a:avLst/>
          </a:prstGeom>
          <a:noFill/>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pre-arrival preparations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It is important to implement pre-arrival preparation to:</a:t>
            </a:r>
          </a:p>
          <a:p>
            <a:pPr marL="360000" indent="-360000">
              <a:spcBef>
                <a:spcPts val="600"/>
              </a:spcBef>
              <a:spcAft>
                <a:spcPts val="1200"/>
              </a:spcAft>
            </a:pPr>
            <a:r>
              <a:rPr lang="en-US" sz="2200" dirty="0" smtClean="0">
                <a:latin typeface="Helvetica" pitchFamily="34" charset="0"/>
              </a:rPr>
              <a:t>Optimise safety and security</a:t>
            </a:r>
          </a:p>
          <a:p>
            <a:pPr marL="360000" indent="-360000">
              <a:spcBef>
                <a:spcPts val="600"/>
              </a:spcBef>
              <a:spcAft>
                <a:spcPts val="1200"/>
              </a:spcAft>
            </a:pPr>
            <a:r>
              <a:rPr lang="en-US" sz="2200" dirty="0" smtClean="0">
                <a:latin typeface="Helvetica" pitchFamily="34" charset="0"/>
              </a:rPr>
              <a:t>Meet expectations</a:t>
            </a:r>
          </a:p>
          <a:p>
            <a:pPr marL="360000" indent="-360000">
              <a:spcBef>
                <a:spcPts val="600"/>
              </a:spcBef>
              <a:spcAft>
                <a:spcPts val="1200"/>
              </a:spcAft>
            </a:pPr>
            <a:r>
              <a:rPr lang="en-US" sz="2200" dirty="0" smtClean="0">
                <a:latin typeface="Helvetica" pitchFamily="34" charset="0"/>
              </a:rPr>
              <a:t>Keep promises made</a:t>
            </a:r>
          </a:p>
          <a:p>
            <a:pPr marL="360000" indent="-360000">
              <a:spcBef>
                <a:spcPts val="600"/>
              </a:spcBef>
              <a:spcAft>
                <a:spcPts val="1200"/>
              </a:spcAft>
            </a:pPr>
            <a:r>
              <a:rPr lang="en-US" sz="2200" dirty="0" smtClean="0">
                <a:latin typeface="Helvetica" pitchFamily="34" charset="0"/>
              </a:rPr>
              <a:t>Enhance service delivery</a:t>
            </a:r>
          </a:p>
          <a:p>
            <a:pPr marL="360000" indent="-360000">
              <a:spcBef>
                <a:spcPts val="600"/>
              </a:spcBef>
              <a:spcAft>
                <a:spcPts val="1200"/>
              </a:spcAft>
            </a:pPr>
            <a:r>
              <a:rPr lang="en-US" sz="2200" dirty="0" smtClean="0">
                <a:latin typeface="Helvetica" pitchFamily="34" charset="0"/>
              </a:rPr>
              <a:t>Demonstrate the value and importance the venue places on the VIP and their visit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39938" name="Picture 2" descr="C:\Documents and Settings\danielc\Local Settings\Temporary Internet Files\Content.IE5\XGIII3N1\MC900044923[2].wmf"/>
          <p:cNvPicPr>
            <a:picLocks noChangeAspect="1" noChangeArrowheads="1"/>
          </p:cNvPicPr>
          <p:nvPr/>
        </p:nvPicPr>
        <p:blipFill>
          <a:blip r:embed="rId3" cstate="print"/>
          <a:srcRect/>
          <a:stretch>
            <a:fillRect/>
          </a:stretch>
        </p:blipFill>
        <p:spPr bwMode="auto">
          <a:xfrm>
            <a:off x="6000760" y="2500306"/>
            <a:ext cx="1643177" cy="1807769"/>
          </a:xfrm>
          <a:prstGeom prst="rect">
            <a:avLst/>
          </a:prstGeom>
          <a:noFill/>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final pre-arrival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Identified pre-arrival checks must be conducted. Points relating to the timing and context of these checks are:</a:t>
            </a:r>
          </a:p>
          <a:p>
            <a:pPr marL="360000" indent="-360000">
              <a:spcBef>
                <a:spcPts val="600"/>
              </a:spcBef>
              <a:spcAft>
                <a:spcPts val="1200"/>
              </a:spcAft>
            </a:pPr>
            <a:r>
              <a:rPr lang="en-US" sz="2200" dirty="0" smtClean="0">
                <a:latin typeface="Helvetica" pitchFamily="34" charset="0"/>
              </a:rPr>
              <a:t>Comparing ‘actual’ venue preparations against safety plan requirements</a:t>
            </a:r>
          </a:p>
          <a:p>
            <a:pPr marL="360000" indent="-360000">
              <a:spcBef>
                <a:spcPts val="600"/>
              </a:spcBef>
              <a:spcAft>
                <a:spcPts val="1200"/>
              </a:spcAft>
            </a:pPr>
            <a:r>
              <a:rPr lang="en-US" sz="2200" dirty="0" smtClean="0">
                <a:latin typeface="Helvetica" pitchFamily="34" charset="0"/>
              </a:rPr>
              <a:t>Conducting checks close to VIP ETA</a:t>
            </a:r>
          </a:p>
          <a:p>
            <a:pPr marL="360000" indent="-360000">
              <a:spcBef>
                <a:spcPts val="600"/>
              </a:spcBef>
              <a:spcAft>
                <a:spcPts val="1200"/>
              </a:spcAft>
            </a:pPr>
            <a:r>
              <a:rPr lang="en-US" sz="2200" dirty="0" smtClean="0">
                <a:latin typeface="Helvetica" pitchFamily="34" charset="0"/>
              </a:rPr>
              <a:t>Securing areas once checks have been completed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40962" name="Picture 2" descr="C:\Documents and Settings\danielc\Local Settings\Temporary Internet Files\Content.IE5\3DV3UKH9\MC900245113[1].wmf"/>
          <p:cNvPicPr>
            <a:picLocks noChangeAspect="1" noChangeArrowheads="1"/>
          </p:cNvPicPr>
          <p:nvPr/>
        </p:nvPicPr>
        <p:blipFill>
          <a:blip r:embed="rId3" cstate="print"/>
          <a:srcRect/>
          <a:stretch>
            <a:fillRect/>
          </a:stretch>
        </p:blipFill>
        <p:spPr bwMode="auto">
          <a:xfrm>
            <a:off x="7286644" y="2786058"/>
            <a:ext cx="1483830" cy="1285884"/>
          </a:xfrm>
          <a:prstGeom prst="rect">
            <a:avLst/>
          </a:prstGeom>
          <a:noFill/>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final pre-arrival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Collaborating with others is normally SOP for these checks</a:t>
            </a:r>
          </a:p>
          <a:p>
            <a:pPr marL="360000" indent="-360000">
              <a:spcBef>
                <a:spcPts val="600"/>
              </a:spcBef>
              <a:spcAft>
                <a:spcPts val="1200"/>
              </a:spcAft>
            </a:pPr>
            <a:r>
              <a:rPr lang="en-US" sz="2200" dirty="0" smtClean="0">
                <a:latin typeface="Helvetica" pitchFamily="34" charset="0"/>
              </a:rPr>
              <a:t>A checklist should be used to guide and govern the checks</a:t>
            </a:r>
          </a:p>
          <a:p>
            <a:pPr marL="360000" indent="-360000">
              <a:spcBef>
                <a:spcPts val="600"/>
              </a:spcBef>
              <a:spcAft>
                <a:spcPts val="1200"/>
              </a:spcAft>
            </a:pPr>
            <a:r>
              <a:rPr lang="en-US" sz="2200" dirty="0" smtClean="0">
                <a:latin typeface="Helvetica" pitchFamily="34" charset="0"/>
              </a:rPr>
              <a:t>Identified issues MUST be addressed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41986" name="Picture 2" descr="C:\Documents and Settings\danielc\Local Settings\Temporary Internet Files\Content.IE5\3Y3SDCJX\MC900334334[1].wmf"/>
          <p:cNvPicPr>
            <a:picLocks noChangeAspect="1" noChangeArrowheads="1"/>
          </p:cNvPicPr>
          <p:nvPr/>
        </p:nvPicPr>
        <p:blipFill>
          <a:blip r:embed="rId3" cstate="print"/>
          <a:srcRect/>
          <a:stretch>
            <a:fillRect/>
          </a:stretch>
        </p:blipFill>
        <p:spPr bwMode="auto">
          <a:xfrm>
            <a:off x="6786578" y="3071810"/>
            <a:ext cx="1107338" cy="1813255"/>
          </a:xfrm>
          <a:prstGeom prst="rect">
            <a:avLst/>
          </a:prstGeom>
          <a:noFill/>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final pre-arrival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pre-arrival checks include:</a:t>
            </a:r>
          </a:p>
          <a:p>
            <a:pPr marL="360000" indent="-360000">
              <a:spcBef>
                <a:spcPts val="600"/>
              </a:spcBef>
              <a:spcAft>
                <a:spcPts val="1200"/>
              </a:spcAft>
            </a:pPr>
            <a:r>
              <a:rPr lang="en-US" sz="2200" dirty="0" smtClean="0">
                <a:latin typeface="Helvetica" pitchFamily="34" charset="0"/>
              </a:rPr>
              <a:t>Confirming operation of communications and other technologies, systems and equipment</a:t>
            </a:r>
          </a:p>
          <a:p>
            <a:pPr marL="360000" indent="-360000">
              <a:spcBef>
                <a:spcPts val="600"/>
              </a:spcBef>
              <a:spcAft>
                <a:spcPts val="1200"/>
              </a:spcAft>
            </a:pPr>
            <a:r>
              <a:rPr lang="en-US" sz="2200" dirty="0" smtClean="0">
                <a:latin typeface="Helvetica" pitchFamily="34" charset="0"/>
              </a:rPr>
              <a:t>Keying off elevators</a:t>
            </a:r>
          </a:p>
          <a:p>
            <a:pPr marL="360000" indent="-360000">
              <a:spcBef>
                <a:spcPts val="600"/>
              </a:spcBef>
              <a:spcAft>
                <a:spcPts val="1200"/>
              </a:spcAft>
            </a:pPr>
            <a:r>
              <a:rPr lang="en-US" sz="2200" dirty="0" smtClean="0">
                <a:latin typeface="Helvetica" pitchFamily="34" charset="0"/>
              </a:rPr>
              <a:t>Conducting ‘sweeps’ of the area</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43010" name="Picture 2" descr="C:\Documents and Settings\danielc\Local Settings\Temporary Internet Files\Content.IE5\3Y3SDCJX\MC900229649[1].wmf"/>
          <p:cNvPicPr>
            <a:picLocks noChangeAspect="1" noChangeArrowheads="1"/>
          </p:cNvPicPr>
          <p:nvPr/>
        </p:nvPicPr>
        <p:blipFill>
          <a:blip r:embed="rId3" cstate="print"/>
          <a:srcRect/>
          <a:stretch>
            <a:fillRect/>
          </a:stretch>
        </p:blipFill>
        <p:spPr bwMode="auto">
          <a:xfrm>
            <a:off x="6000760" y="2857496"/>
            <a:ext cx="1836115" cy="1698955"/>
          </a:xfrm>
          <a:prstGeom prst="rect">
            <a:avLst/>
          </a:prstGeo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final pre-arrival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Confirming identities</a:t>
            </a:r>
          </a:p>
          <a:p>
            <a:pPr marL="360000" indent="-360000">
              <a:spcBef>
                <a:spcPts val="600"/>
              </a:spcBef>
              <a:spcAft>
                <a:spcPts val="1200"/>
              </a:spcAft>
            </a:pPr>
            <a:r>
              <a:rPr lang="en-US" sz="2200" dirty="0" smtClean="0">
                <a:latin typeface="Helvetica" pitchFamily="34" charset="0"/>
              </a:rPr>
              <a:t>Checking locked areas</a:t>
            </a:r>
          </a:p>
          <a:p>
            <a:pPr marL="360000" indent="-360000">
              <a:spcBef>
                <a:spcPts val="600"/>
              </a:spcBef>
              <a:spcAft>
                <a:spcPts val="1200"/>
              </a:spcAft>
            </a:pPr>
            <a:r>
              <a:rPr lang="en-US" sz="2200" dirty="0" smtClean="0">
                <a:latin typeface="Helvetica" pitchFamily="34" charset="0"/>
              </a:rPr>
              <a:t>Confirming lines of sight</a:t>
            </a:r>
          </a:p>
          <a:p>
            <a:pPr marL="360000" indent="-360000">
              <a:spcBef>
                <a:spcPts val="600"/>
              </a:spcBef>
              <a:spcAft>
                <a:spcPts val="1200"/>
              </a:spcAft>
            </a:pPr>
            <a:r>
              <a:rPr lang="en-US" sz="2200" dirty="0" smtClean="0">
                <a:latin typeface="Helvetica" pitchFamily="34" charset="0"/>
              </a:rPr>
              <a:t>Confirming ‘other arrangements’</a:t>
            </a:r>
          </a:p>
          <a:p>
            <a:pPr marL="360000" indent="-360000">
              <a:spcBef>
                <a:spcPts val="600"/>
              </a:spcBef>
              <a:spcAft>
                <a:spcPts val="1200"/>
              </a:spcAft>
            </a:pPr>
            <a:r>
              <a:rPr lang="en-US" sz="2200" dirty="0" smtClean="0">
                <a:latin typeface="Helvetica" pitchFamily="34" charset="0"/>
              </a:rPr>
              <a:t>Issuing progressive ‘all clear’ notifications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44034" name="Picture 2" descr="C:\Documents and Settings\danielc\Local Settings\Temporary Internet Files\Content.IE5\XGIII3N1\MC900216694[1].wmf"/>
          <p:cNvPicPr>
            <a:picLocks noChangeAspect="1" noChangeArrowheads="1"/>
          </p:cNvPicPr>
          <p:nvPr/>
        </p:nvPicPr>
        <p:blipFill>
          <a:blip r:embed="rId3" cstate="print"/>
          <a:srcRect/>
          <a:stretch>
            <a:fillRect/>
          </a:stretch>
        </p:blipFill>
        <p:spPr bwMode="auto">
          <a:xfrm>
            <a:off x="6572264" y="1857364"/>
            <a:ext cx="944575" cy="1833372"/>
          </a:xfrm>
          <a:prstGeom prst="rect">
            <a:avLst/>
          </a:prstGeom>
          <a:noFill/>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escort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There may be a need to meet and escort VIPs and entourage on arrival:</a:t>
            </a:r>
          </a:p>
          <a:p>
            <a:pPr marL="360000" indent="-360000">
              <a:spcBef>
                <a:spcPts val="600"/>
              </a:spcBef>
              <a:spcAft>
                <a:spcPts val="1200"/>
              </a:spcAft>
            </a:pPr>
            <a:r>
              <a:rPr lang="en-US" sz="2200" dirty="0" smtClean="0">
                <a:latin typeface="Helvetica" pitchFamily="34" charset="0"/>
              </a:rPr>
              <a:t>Previous discussions will identify what is required</a:t>
            </a:r>
          </a:p>
          <a:p>
            <a:pPr marL="360000" indent="-360000">
              <a:spcBef>
                <a:spcPts val="600"/>
              </a:spcBef>
              <a:spcAft>
                <a:spcPts val="1200"/>
              </a:spcAft>
            </a:pPr>
            <a:r>
              <a:rPr lang="en-US" sz="2200" dirty="0" smtClean="0">
                <a:latin typeface="Helvetica" pitchFamily="34" charset="0"/>
              </a:rPr>
              <a:t>Role may be ‘passive’ or ‘active’</a:t>
            </a:r>
          </a:p>
          <a:p>
            <a:pPr marL="360000" indent="-360000">
              <a:spcBef>
                <a:spcPts val="600"/>
              </a:spcBef>
              <a:spcAft>
                <a:spcPts val="1200"/>
              </a:spcAft>
            </a:pPr>
            <a:r>
              <a:rPr lang="en-US" sz="2200" dirty="0" smtClean="0">
                <a:latin typeface="Helvetica" pitchFamily="34" charset="0"/>
              </a:rPr>
              <a:t>Safety plan will form the basis for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45059" name="Picture 3" descr="C:\Documents and Settings\danielc\Local Settings\Temporary Internet Files\Content.IE5\Y88G682L\MC900195282[1].wmf"/>
          <p:cNvPicPr>
            <a:picLocks noChangeAspect="1" noChangeArrowheads="1"/>
          </p:cNvPicPr>
          <p:nvPr/>
        </p:nvPicPr>
        <p:blipFill>
          <a:blip r:embed="rId3" cstate="print"/>
          <a:srcRect/>
          <a:stretch>
            <a:fillRect/>
          </a:stretch>
        </p:blipFill>
        <p:spPr bwMode="auto">
          <a:xfrm>
            <a:off x="6500826" y="3000372"/>
            <a:ext cx="1567282" cy="1821485"/>
          </a:xfrm>
          <a:prstGeom prst="rect">
            <a:avLst/>
          </a:prstGeom>
          <a:noFill/>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escort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Where venue has a ‘passive’ role:</a:t>
            </a:r>
          </a:p>
          <a:p>
            <a:pPr marL="360000" indent="-360000">
              <a:spcBef>
                <a:spcPts val="600"/>
              </a:spcBef>
              <a:spcAft>
                <a:spcPts val="1200"/>
              </a:spcAft>
            </a:pPr>
            <a:r>
              <a:rPr lang="en-US" sz="2200" dirty="0" smtClean="0">
                <a:latin typeface="Helvetica" pitchFamily="34" charset="0"/>
              </a:rPr>
              <a:t>Allow designated others to take the primary role, as arranged</a:t>
            </a:r>
          </a:p>
          <a:p>
            <a:pPr marL="360000" indent="-360000">
              <a:spcBef>
                <a:spcPts val="600"/>
              </a:spcBef>
              <a:spcAft>
                <a:spcPts val="1200"/>
              </a:spcAft>
            </a:pPr>
            <a:r>
              <a:rPr lang="en-US" sz="2200" dirty="0" smtClean="0">
                <a:latin typeface="Helvetica" pitchFamily="34" charset="0"/>
              </a:rPr>
              <a:t>Work under direction of nominated other </a:t>
            </a:r>
            <a:br>
              <a:rPr lang="en-US" sz="2200" dirty="0" smtClean="0">
                <a:latin typeface="Helvetica" pitchFamily="34" charset="0"/>
              </a:rPr>
            </a:br>
            <a:r>
              <a:rPr lang="en-US" sz="2200" dirty="0" smtClean="0">
                <a:latin typeface="Helvetica" pitchFamily="34" charset="0"/>
              </a:rPr>
              <a:t>security officers</a:t>
            </a:r>
          </a:p>
          <a:p>
            <a:pPr marL="360000" indent="-360000">
              <a:spcBef>
                <a:spcPts val="600"/>
              </a:spcBef>
              <a:spcAft>
                <a:spcPts val="1200"/>
              </a:spcAft>
            </a:pPr>
            <a:r>
              <a:rPr lang="en-US" sz="2200" dirty="0" smtClean="0">
                <a:latin typeface="Helvetica" pitchFamily="34" charset="0"/>
              </a:rPr>
              <a:t>Observe and monitor the arrival</a:t>
            </a:r>
          </a:p>
          <a:p>
            <a:pPr marL="360000" indent="-360000">
              <a:spcBef>
                <a:spcPts val="600"/>
              </a:spcBef>
              <a:spcAft>
                <a:spcPts val="1200"/>
              </a:spcAft>
            </a:pPr>
            <a:r>
              <a:rPr lang="en-US" sz="2200" dirty="0" smtClean="0">
                <a:latin typeface="Helvetica" pitchFamily="34" charset="0"/>
              </a:rPr>
              <a:t>Maintain integrity of established security</a:t>
            </a:r>
          </a:p>
          <a:p>
            <a:pPr marL="360000" indent="-360000">
              <a:spcBef>
                <a:spcPts val="600"/>
              </a:spcBef>
              <a:spcAft>
                <a:spcPts val="1200"/>
              </a:spcAft>
            </a:pPr>
            <a:r>
              <a:rPr lang="en-US" sz="2200" dirty="0" smtClean="0">
                <a:latin typeface="Helvetica" pitchFamily="34" charset="0"/>
              </a:rPr>
              <a:t>Provide back-up as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descr="C:\Documents and Settings\danielc\Desktop\images\Maintain the security of premises and property imgs\Security guard.jpg"/>
          <p:cNvPicPr/>
          <p:nvPr/>
        </p:nvPicPr>
        <p:blipFill>
          <a:blip r:embed="rId3" cstate="print"/>
          <a:srcRect/>
          <a:stretch>
            <a:fillRect/>
          </a:stretch>
        </p:blipFill>
        <p:spPr bwMode="auto">
          <a:xfrm>
            <a:off x="7143768" y="3000372"/>
            <a:ext cx="1166284" cy="17497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escort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Where venue has an ‘active’ role:</a:t>
            </a:r>
          </a:p>
          <a:p>
            <a:pPr marL="360000" indent="-360000">
              <a:spcBef>
                <a:spcPts val="600"/>
              </a:spcBef>
              <a:spcAft>
                <a:spcPts val="1200"/>
              </a:spcAft>
            </a:pPr>
            <a:r>
              <a:rPr lang="en-US" sz="2200" dirty="0" smtClean="0">
                <a:latin typeface="Helvetica" pitchFamily="34" charset="0"/>
              </a:rPr>
              <a:t>Secure nominated areas</a:t>
            </a:r>
          </a:p>
          <a:p>
            <a:pPr marL="360000" indent="-360000">
              <a:spcBef>
                <a:spcPts val="600"/>
              </a:spcBef>
              <a:spcAft>
                <a:spcPts val="1200"/>
              </a:spcAft>
            </a:pPr>
            <a:r>
              <a:rPr lang="en-US" sz="2200" dirty="0" smtClean="0">
                <a:latin typeface="Helvetica" pitchFamily="34" charset="0"/>
              </a:rPr>
              <a:t>Identify VIP and party/entourage</a:t>
            </a:r>
          </a:p>
          <a:p>
            <a:pPr marL="360000" indent="-360000">
              <a:spcBef>
                <a:spcPts val="600"/>
              </a:spcBef>
              <a:spcAft>
                <a:spcPts val="1200"/>
              </a:spcAft>
            </a:pPr>
            <a:r>
              <a:rPr lang="en-US" sz="2200" dirty="0" smtClean="0">
                <a:latin typeface="Helvetica" pitchFamily="34" charset="0"/>
              </a:rPr>
              <a:t>Support work of external security staff</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46082" name="Picture 2" descr="C:\Documents and Settings\danielc\Local Settings\Temporary Internet Files\Content.IE5\V9A2RTT8\MP900385979[1].jpg"/>
          <p:cNvPicPr>
            <a:picLocks noChangeAspect="1" noChangeArrowheads="1"/>
          </p:cNvPicPr>
          <p:nvPr/>
        </p:nvPicPr>
        <p:blipFill>
          <a:blip r:embed="rId3" cstate="print"/>
          <a:srcRect/>
          <a:stretch>
            <a:fillRect/>
          </a:stretch>
        </p:blipFill>
        <p:spPr bwMode="auto">
          <a:xfrm>
            <a:off x="6072198" y="1714488"/>
            <a:ext cx="1985954" cy="1418539"/>
          </a:xfrm>
          <a:prstGeom prst="rect">
            <a:avLst/>
          </a:prstGeom>
          <a:noFill/>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escort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Handle secure entry into venue</a:t>
            </a:r>
          </a:p>
          <a:p>
            <a:pPr marL="360000" indent="-360000">
              <a:spcBef>
                <a:spcPts val="600"/>
              </a:spcBef>
              <a:spcAft>
                <a:spcPts val="1200"/>
              </a:spcAft>
            </a:pPr>
            <a:r>
              <a:rPr lang="en-US" sz="2200" dirty="0" smtClean="0">
                <a:latin typeface="Helvetica" pitchFamily="34" charset="0"/>
              </a:rPr>
              <a:t>Monitor crowd</a:t>
            </a:r>
          </a:p>
          <a:p>
            <a:pPr marL="360000" indent="-360000">
              <a:spcBef>
                <a:spcPts val="600"/>
              </a:spcBef>
              <a:spcAft>
                <a:spcPts val="1200"/>
              </a:spcAft>
            </a:pPr>
            <a:r>
              <a:rPr lang="en-US" sz="2200" dirty="0" smtClean="0">
                <a:latin typeface="Helvetica" pitchFamily="34" charset="0"/>
              </a:rPr>
              <a:t>Observe environment for threats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47106" name="Picture 2" descr="C:\Documents and Settings\danielc\Desktop\Vip photos\725622_watching.jpg"/>
          <p:cNvPicPr>
            <a:picLocks noChangeAspect="1" noChangeArrowheads="1"/>
          </p:cNvPicPr>
          <p:nvPr/>
        </p:nvPicPr>
        <p:blipFill>
          <a:blip r:embed="rId3" cstate="print"/>
          <a:srcRect/>
          <a:stretch>
            <a:fillRect/>
          </a:stretch>
        </p:blipFill>
        <p:spPr bwMode="auto">
          <a:xfrm>
            <a:off x="5929322" y="1714488"/>
            <a:ext cx="2071682" cy="1546856"/>
          </a:xfrm>
          <a:prstGeom prst="rect">
            <a:avLst/>
          </a:prstGeom>
          <a:noFill/>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escort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Maintain communications</a:t>
            </a:r>
          </a:p>
          <a:p>
            <a:pPr marL="360000" indent="-360000">
              <a:spcBef>
                <a:spcPts val="600"/>
              </a:spcBef>
              <a:spcAft>
                <a:spcPts val="1200"/>
              </a:spcAft>
            </a:pPr>
            <a:r>
              <a:rPr lang="en-US" sz="2200" dirty="0" smtClean="0">
                <a:latin typeface="Helvetica" pitchFamily="34" charset="0"/>
              </a:rPr>
              <a:t>Request assistance when and if required. Make the decision to call for assistance quickly: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Never simply respond – always ‘advise’ and ‘request assistance’</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48130" name="Picture 2" descr="C:\Documents and Settings\danielc\Desktop\338699_talking.jpg"/>
          <p:cNvPicPr>
            <a:picLocks noChangeAspect="1" noChangeArrowheads="1"/>
          </p:cNvPicPr>
          <p:nvPr/>
        </p:nvPicPr>
        <p:blipFill>
          <a:blip r:embed="rId3" cstate="print"/>
          <a:srcRect/>
          <a:stretch>
            <a:fillRect/>
          </a:stretch>
        </p:blipFill>
        <p:spPr bwMode="auto">
          <a:xfrm>
            <a:off x="3500430" y="4214818"/>
            <a:ext cx="2214558" cy="1653537"/>
          </a:xfrm>
          <a:prstGeom prst="rect">
            <a:avLst/>
          </a:prstGeom>
          <a:noFill/>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escort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Match on the ground actions and responses to required level of security</a:t>
            </a:r>
          </a:p>
          <a:p>
            <a:pPr marL="360000" indent="-360000">
              <a:spcBef>
                <a:spcPts val="600"/>
              </a:spcBef>
              <a:spcAft>
                <a:spcPts val="1200"/>
              </a:spcAft>
            </a:pPr>
            <a:r>
              <a:rPr lang="en-US" sz="2200" dirty="0" smtClean="0">
                <a:latin typeface="Helvetica" pitchFamily="34" charset="0"/>
              </a:rPr>
              <a:t>Provide escort duties: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Direct/close escort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Handovers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Responding to VIP requests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Assimilating threats into action taken</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49154" name="Picture 2" descr="C:\Documents and Settings\danielc\Desktop\83188_beverly_hills.jpg"/>
          <p:cNvPicPr>
            <a:picLocks noChangeAspect="1" noChangeArrowheads="1"/>
          </p:cNvPicPr>
          <p:nvPr/>
        </p:nvPicPr>
        <p:blipFill>
          <a:blip r:embed="rId3" cstate="print">
            <a:grayscl/>
          </a:blip>
          <a:srcRect/>
          <a:stretch>
            <a:fillRect/>
          </a:stretch>
        </p:blipFill>
        <p:spPr bwMode="auto">
          <a:xfrm>
            <a:off x="5965040" y="2500306"/>
            <a:ext cx="2293137" cy="1528758"/>
          </a:xfrm>
          <a:prstGeom prst="rect">
            <a:avLst/>
          </a:prstGeom>
          <a:noFill/>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escort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‘Situational Awareness’ = knowing:</a:t>
            </a:r>
          </a:p>
          <a:p>
            <a:pPr marL="360000" indent="-360000">
              <a:spcBef>
                <a:spcPts val="600"/>
              </a:spcBef>
              <a:spcAft>
                <a:spcPts val="1200"/>
              </a:spcAft>
            </a:pPr>
            <a:r>
              <a:rPr lang="en-AU" sz="2200" dirty="0" smtClean="0">
                <a:latin typeface="Helvetica" pitchFamily="34" charset="0"/>
              </a:rPr>
              <a:t>What the situation is normally like when everything is safe and secure</a:t>
            </a:r>
          </a:p>
          <a:p>
            <a:pPr marL="360000" indent="-360000">
              <a:spcBef>
                <a:spcPts val="600"/>
              </a:spcBef>
              <a:spcAft>
                <a:spcPts val="1200"/>
              </a:spcAft>
            </a:pPr>
            <a:r>
              <a:rPr lang="en-AU" sz="2200" dirty="0" smtClean="0">
                <a:latin typeface="Helvetica" pitchFamily="34" charset="0"/>
              </a:rPr>
              <a:t>If it is changing</a:t>
            </a:r>
          </a:p>
          <a:p>
            <a:pPr marL="360000" indent="-360000">
              <a:spcBef>
                <a:spcPts val="600"/>
              </a:spcBef>
              <a:spcAft>
                <a:spcPts val="1200"/>
              </a:spcAft>
            </a:pPr>
            <a:r>
              <a:rPr lang="en-AU" sz="2200" dirty="0" smtClean="0">
                <a:latin typeface="Helvetica" pitchFamily="34" charset="0"/>
              </a:rPr>
              <a:t>How it is changing</a:t>
            </a:r>
          </a:p>
          <a:p>
            <a:pPr marL="360000" indent="-360000">
              <a:spcBef>
                <a:spcPts val="600"/>
              </a:spcBef>
              <a:spcAft>
                <a:spcPts val="1200"/>
              </a:spcAft>
            </a:pPr>
            <a:r>
              <a:rPr lang="en-AU" sz="2200" dirty="0" smtClean="0">
                <a:latin typeface="Helvetica" pitchFamily="34" charset="0"/>
              </a:rPr>
              <a:t>Why it is changing</a:t>
            </a:r>
          </a:p>
          <a:p>
            <a:pPr marL="360000" indent="-360000">
              <a:spcBef>
                <a:spcPts val="600"/>
              </a:spcBef>
              <a:spcAft>
                <a:spcPts val="1200"/>
              </a:spcAft>
            </a:pPr>
            <a:r>
              <a:rPr lang="en-AU" sz="2200" dirty="0" smtClean="0">
                <a:latin typeface="Helvetica" pitchFamily="34" charset="0"/>
              </a:rPr>
              <a:t>The threat presented by changing circumstances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descr="C:\Documents and Settings\danielc\Desktop\images\Maintain the security of premises and property imgs\Risk sign.jpg"/>
          <p:cNvPicPr/>
          <p:nvPr/>
        </p:nvPicPr>
        <p:blipFill>
          <a:blip r:embed="rId3" cstate="print"/>
          <a:srcRect l="27052" t="6875" r="23705" b="4139"/>
          <a:stretch>
            <a:fillRect/>
          </a:stretch>
        </p:blipFill>
        <p:spPr bwMode="auto">
          <a:xfrm>
            <a:off x="7286644" y="2714620"/>
            <a:ext cx="1030817" cy="22464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escort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Situational Awareness relies heavily on:</a:t>
            </a:r>
          </a:p>
          <a:p>
            <a:pPr marL="360000" indent="-360000">
              <a:spcBef>
                <a:spcPts val="600"/>
              </a:spcBef>
              <a:spcAft>
                <a:spcPts val="1200"/>
              </a:spcAft>
            </a:pPr>
            <a:r>
              <a:rPr lang="en-US" sz="2200" dirty="0" smtClean="0">
                <a:latin typeface="Helvetica" pitchFamily="34" charset="0"/>
              </a:rPr>
              <a:t>Keeping eyes and ears open</a:t>
            </a:r>
          </a:p>
          <a:p>
            <a:pPr marL="360000" indent="-360000">
              <a:spcBef>
                <a:spcPts val="600"/>
              </a:spcBef>
              <a:spcAft>
                <a:spcPts val="1200"/>
              </a:spcAft>
            </a:pPr>
            <a:r>
              <a:rPr lang="en-US" sz="2200" dirty="0" smtClean="0">
                <a:latin typeface="Helvetica" pitchFamily="34" charset="0"/>
              </a:rPr>
              <a:t>Analysing everything: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What was it?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Why did it happen?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What does it mean?</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0178" name="Picture 2" descr="C:\Documents and Settings\danielc\Local Settings\Temporary Internet Files\Content.IE5\V9A2RTT8\MP900409654[1].jpg"/>
          <p:cNvPicPr>
            <a:picLocks noChangeAspect="1" noChangeArrowheads="1"/>
          </p:cNvPicPr>
          <p:nvPr/>
        </p:nvPicPr>
        <p:blipFill>
          <a:blip r:embed="rId3" cstate="print"/>
          <a:srcRect/>
          <a:stretch>
            <a:fillRect/>
          </a:stretch>
        </p:blipFill>
        <p:spPr bwMode="auto">
          <a:xfrm>
            <a:off x="5715008" y="3143248"/>
            <a:ext cx="2109312" cy="1407307"/>
          </a:xfrm>
          <a:prstGeom prst="rect">
            <a:avLst/>
          </a:prstGeo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escort VIPs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Situational Awareness is the basis for:</a:t>
            </a:r>
          </a:p>
          <a:p>
            <a:pPr marL="360000" indent="-360000">
              <a:spcBef>
                <a:spcPts val="600"/>
              </a:spcBef>
              <a:spcAft>
                <a:spcPts val="1200"/>
              </a:spcAft>
            </a:pPr>
            <a:r>
              <a:rPr lang="en-AU" sz="2200" dirty="0" smtClean="0">
                <a:latin typeface="Helvetica" pitchFamily="34" charset="0"/>
              </a:rPr>
              <a:t>Determining threat situations</a:t>
            </a:r>
          </a:p>
          <a:p>
            <a:pPr marL="360000" indent="-360000">
              <a:spcBef>
                <a:spcPts val="600"/>
              </a:spcBef>
              <a:spcAft>
                <a:spcPts val="1200"/>
              </a:spcAft>
            </a:pPr>
            <a:r>
              <a:rPr lang="en-AU" sz="2200" dirty="0" smtClean="0">
                <a:latin typeface="Helvetica" pitchFamily="34" charset="0"/>
              </a:rPr>
              <a:t>Identifying action needing to be taken</a:t>
            </a:r>
          </a:p>
          <a:p>
            <a:pPr marL="360000" indent="-360000">
              <a:spcBef>
                <a:spcPts val="600"/>
              </a:spcBef>
              <a:spcAft>
                <a:spcPts val="1200"/>
              </a:spcAft>
            </a:pPr>
            <a:r>
              <a:rPr lang="en-AU" sz="2200" dirty="0" smtClean="0">
                <a:latin typeface="Helvetica" pitchFamily="34" charset="0"/>
              </a:rPr>
              <a:t>Identifying what is ‘normal’ and things are not normal</a:t>
            </a:r>
          </a:p>
          <a:p>
            <a:pPr marL="360000" indent="-360000">
              <a:spcBef>
                <a:spcPts val="600"/>
              </a:spcBef>
              <a:spcAft>
                <a:spcPts val="1200"/>
              </a:spcAft>
            </a:pPr>
            <a:r>
              <a:rPr lang="en-AU" sz="2200" dirty="0" smtClean="0">
                <a:latin typeface="Helvetica" pitchFamily="34" charset="0"/>
              </a:rPr>
              <a:t>Prompt and effective responses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5" name="Picture 4" descr="C:\Documents and Settings\danielc\Local Settings\Temporary Internet Files\Content.IE5\Y88G682L\MP900426621[1].jpg"/>
          <p:cNvPicPr/>
          <p:nvPr/>
        </p:nvPicPr>
        <p:blipFill>
          <a:blip r:embed="rId3" cstate="print"/>
          <a:srcRect/>
          <a:stretch>
            <a:fillRect/>
          </a:stretch>
        </p:blipFill>
        <p:spPr bwMode="auto">
          <a:xfrm>
            <a:off x="6143636" y="1643050"/>
            <a:ext cx="1471083" cy="145626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safety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VIP has arrived the main aims are to: </a:t>
            </a:r>
          </a:p>
          <a:p>
            <a:pPr marL="360000" indent="-360000">
              <a:spcBef>
                <a:spcPts val="600"/>
              </a:spcBef>
              <a:spcAft>
                <a:spcPts val="1200"/>
              </a:spcAft>
            </a:pPr>
            <a:r>
              <a:rPr lang="en-US" sz="2200" dirty="0" smtClean="0">
                <a:latin typeface="Helvetica" pitchFamily="34" charset="0"/>
              </a:rPr>
              <a:t>Maintain safety and security of: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VIP and their entourage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Other guests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Members of the public</a:t>
            </a:r>
          </a:p>
          <a:p>
            <a:pPr marL="360000" indent="-360000">
              <a:spcBef>
                <a:spcPts val="600"/>
              </a:spcBef>
              <a:spcAft>
                <a:spcPts val="1200"/>
              </a:spcAft>
            </a:pPr>
            <a:r>
              <a:rPr lang="en-US" sz="2200" dirty="0" smtClean="0">
                <a:latin typeface="Helvetica" pitchFamily="34" charset="0"/>
              </a:rPr>
              <a:t>Implement the safety plans, as agreed</a:t>
            </a:r>
          </a:p>
          <a:p>
            <a:pPr marL="360000" indent="-360000">
              <a:spcBef>
                <a:spcPts val="600"/>
              </a:spcBef>
              <a:spcAft>
                <a:spcPts val="1200"/>
              </a:spcAft>
            </a:pPr>
            <a:r>
              <a:rPr lang="en-US" sz="2200" dirty="0" smtClean="0">
                <a:latin typeface="Helvetica" pitchFamily="34" charset="0"/>
              </a:rPr>
              <a:t>Place safety of people above security of assets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4" descr="C:\Documents and Settings\danielc\Desktop\images\Maintain the security of premises and property imgs\iStock_Security Officer.JPG"/>
          <p:cNvPicPr/>
          <p:nvPr/>
        </p:nvPicPr>
        <p:blipFill>
          <a:blip r:embed="rId3" cstate="print"/>
          <a:srcRect/>
          <a:stretch>
            <a:fillRect/>
          </a:stretch>
        </p:blipFill>
        <p:spPr bwMode="auto">
          <a:xfrm>
            <a:off x="5857884" y="2643182"/>
            <a:ext cx="2110670" cy="14287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safety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Activities to maintain safety and security of VIP:</a:t>
            </a:r>
          </a:p>
          <a:p>
            <a:pPr marL="360000" indent="-360000">
              <a:spcBef>
                <a:spcPts val="600"/>
              </a:spcBef>
              <a:spcAft>
                <a:spcPts val="1200"/>
              </a:spcAft>
            </a:pPr>
            <a:r>
              <a:rPr lang="en-US" sz="2200" dirty="0" smtClean="0">
                <a:latin typeface="Helvetica" pitchFamily="34" charset="0"/>
              </a:rPr>
              <a:t>Conducting ongoing visual and electronic sweeps</a:t>
            </a:r>
          </a:p>
          <a:p>
            <a:pPr marL="360000" indent="-360000">
              <a:spcBef>
                <a:spcPts val="600"/>
              </a:spcBef>
              <a:spcAft>
                <a:spcPts val="1200"/>
              </a:spcAft>
            </a:pPr>
            <a:r>
              <a:rPr lang="en-US" sz="2200" dirty="0" smtClean="0">
                <a:latin typeface="Helvetica" pitchFamily="34" charset="0"/>
              </a:rPr>
              <a:t>Conducting physical searches</a:t>
            </a:r>
          </a:p>
          <a:p>
            <a:pPr marL="360000" indent="-360000">
              <a:spcBef>
                <a:spcPts val="600"/>
              </a:spcBef>
              <a:spcAft>
                <a:spcPts val="1200"/>
              </a:spcAft>
            </a:pPr>
            <a:r>
              <a:rPr lang="en-US" sz="2200" dirty="0" smtClean="0">
                <a:latin typeface="Helvetica" pitchFamily="34" charset="0"/>
              </a:rPr>
              <a:t>Maintaining restricted access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1202" name="Picture 2" descr="C:\Documents and Settings\danielc\Desktop\1003255_road_closed_sign_2.jpg"/>
          <p:cNvPicPr>
            <a:picLocks noChangeAspect="1" noChangeArrowheads="1"/>
          </p:cNvPicPr>
          <p:nvPr/>
        </p:nvPicPr>
        <p:blipFill>
          <a:blip r:embed="rId3" cstate="print"/>
          <a:srcRect/>
          <a:stretch>
            <a:fillRect/>
          </a:stretch>
        </p:blipFill>
        <p:spPr bwMode="auto">
          <a:xfrm>
            <a:off x="5357818" y="2786058"/>
            <a:ext cx="2857500" cy="1571625"/>
          </a:xfrm>
          <a:prstGeom prst="rect">
            <a:avLst/>
          </a:prstGeom>
          <a:noFill/>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safety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Confirming adherence to established safety and security protocols</a:t>
            </a:r>
          </a:p>
          <a:p>
            <a:pPr marL="360000" indent="-360000">
              <a:spcBef>
                <a:spcPts val="600"/>
              </a:spcBef>
              <a:spcAft>
                <a:spcPts val="1200"/>
              </a:spcAft>
            </a:pPr>
            <a:r>
              <a:rPr lang="en-US" sz="2200" dirty="0" smtClean="0">
                <a:latin typeface="Helvetica" pitchFamily="34" charset="0"/>
              </a:rPr>
              <a:t>Checking IDs</a:t>
            </a:r>
          </a:p>
          <a:p>
            <a:pPr marL="360000" indent="-360000">
              <a:spcBef>
                <a:spcPts val="600"/>
              </a:spcBef>
              <a:spcAft>
                <a:spcPts val="1200"/>
              </a:spcAft>
            </a:pPr>
            <a:r>
              <a:rPr lang="en-US" sz="2200" dirty="0" smtClean="0">
                <a:latin typeface="Helvetica" pitchFamily="34" charset="0"/>
              </a:rPr>
              <a:t>Liaising with external security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descr="C:\Documents and Settings\danielc\Local Settings\Temporary Internet Files\Content.IE5\Y88G682L\MC900383434[1].wmf"/>
          <p:cNvPicPr/>
          <p:nvPr/>
        </p:nvPicPr>
        <p:blipFill>
          <a:blip r:embed="rId3" cstate="print"/>
          <a:srcRect/>
          <a:stretch>
            <a:fillRect/>
          </a:stretch>
        </p:blipFill>
        <p:spPr bwMode="auto">
          <a:xfrm>
            <a:off x="6429388" y="2285992"/>
            <a:ext cx="1361229" cy="14449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safety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Maintaining guard duties</a:t>
            </a:r>
          </a:p>
          <a:p>
            <a:pPr marL="360000" indent="-360000">
              <a:spcBef>
                <a:spcPts val="600"/>
              </a:spcBef>
              <a:spcAft>
                <a:spcPts val="1200"/>
              </a:spcAft>
            </a:pPr>
            <a:r>
              <a:rPr lang="en-US" sz="2200" dirty="0" smtClean="0">
                <a:latin typeface="Helvetica" pitchFamily="34" charset="0"/>
              </a:rPr>
              <a:t>Checking vehicles</a:t>
            </a:r>
          </a:p>
          <a:p>
            <a:pPr marL="360000" indent="-360000">
              <a:spcBef>
                <a:spcPts val="600"/>
              </a:spcBef>
              <a:spcAft>
                <a:spcPts val="1200"/>
              </a:spcAft>
            </a:pPr>
            <a:r>
              <a:rPr lang="en-US" sz="2200" dirty="0" smtClean="0">
                <a:latin typeface="Helvetica" pitchFamily="34" charset="0"/>
              </a:rPr>
              <a:t>Protecting privacy</a:t>
            </a:r>
          </a:p>
          <a:p>
            <a:pPr marL="360000" indent="-360000">
              <a:spcBef>
                <a:spcPts val="600"/>
              </a:spcBef>
              <a:spcAft>
                <a:spcPts val="1200"/>
              </a:spcAft>
            </a:pPr>
            <a:r>
              <a:rPr lang="en-US" sz="2200" dirty="0" smtClean="0">
                <a:latin typeface="Helvetica" pitchFamily="34" charset="0"/>
              </a:rPr>
              <a:t>Restricting movement – where necessary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2226" name="Picture 2" descr="C:\Documents and Settings\danielc\Local Settings\Temporary Internet Files\Content.IE5\V9A2RTT8\MC900434391[1].wmf"/>
          <p:cNvPicPr>
            <a:picLocks noChangeAspect="1" noChangeArrowheads="1"/>
          </p:cNvPicPr>
          <p:nvPr/>
        </p:nvPicPr>
        <p:blipFill>
          <a:blip r:embed="rId3" cstate="print"/>
          <a:srcRect/>
          <a:stretch>
            <a:fillRect/>
          </a:stretch>
        </p:blipFill>
        <p:spPr bwMode="auto">
          <a:xfrm>
            <a:off x="6286512" y="1428736"/>
            <a:ext cx="1605393" cy="1635123"/>
          </a:xfrm>
          <a:prstGeom prst="rect">
            <a:avLst/>
          </a:prstGeom>
          <a:noFill/>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safety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‘Suspicious vehicles can be any shape, size, type, model or </a:t>
            </a:r>
            <a:r>
              <a:rPr lang="en-US" sz="2200" dirty="0" err="1" smtClean="0">
                <a:latin typeface="Helvetica" pitchFamily="34" charset="0"/>
              </a:rPr>
              <a:t>colour</a:t>
            </a:r>
            <a:r>
              <a:rPr lang="en-US" sz="2200" dirty="0" smtClean="0"/>
              <a:t>. I</a:t>
            </a:r>
            <a:r>
              <a:rPr lang="en-US" sz="2200" dirty="0" smtClean="0">
                <a:latin typeface="Helvetica" pitchFamily="34" charset="0"/>
              </a:rPr>
              <a:t>ndicators are:</a:t>
            </a:r>
          </a:p>
          <a:p>
            <a:pPr marL="360000" indent="-360000">
              <a:spcBef>
                <a:spcPts val="600"/>
              </a:spcBef>
              <a:spcAft>
                <a:spcPts val="1200"/>
              </a:spcAft>
            </a:pPr>
            <a:r>
              <a:rPr lang="en-US" sz="2200" dirty="0" smtClean="0">
                <a:latin typeface="Helvetica" pitchFamily="34" charset="0"/>
              </a:rPr>
              <a:t>Emits an odour</a:t>
            </a:r>
          </a:p>
          <a:p>
            <a:pPr marL="360000" indent="-360000">
              <a:spcBef>
                <a:spcPts val="600"/>
              </a:spcBef>
              <a:spcAft>
                <a:spcPts val="1200"/>
              </a:spcAft>
            </a:pPr>
            <a:r>
              <a:rPr lang="en-US" sz="2200" dirty="0" smtClean="0">
                <a:latin typeface="Helvetica" pitchFamily="34" charset="0"/>
              </a:rPr>
              <a:t>Does not ‘fit’ with surroundings</a:t>
            </a:r>
          </a:p>
          <a:p>
            <a:pPr marL="360000" indent="-360000">
              <a:spcBef>
                <a:spcPts val="600"/>
              </a:spcBef>
              <a:spcAft>
                <a:spcPts val="1200"/>
              </a:spcAft>
            </a:pPr>
            <a:r>
              <a:rPr lang="en-US" sz="2200" dirty="0" smtClean="0">
                <a:latin typeface="Helvetica" pitchFamily="34" charset="0"/>
              </a:rPr>
              <a:t>Missing license plates</a:t>
            </a:r>
          </a:p>
          <a:p>
            <a:pPr marL="360000" indent="-360000">
              <a:spcBef>
                <a:spcPts val="600"/>
              </a:spcBef>
              <a:spcAft>
                <a:spcPts val="1200"/>
              </a:spcAft>
            </a:pPr>
            <a:r>
              <a:rPr lang="en-US" sz="2200" dirty="0" smtClean="0">
                <a:latin typeface="Helvetica" pitchFamily="34" charset="0"/>
              </a:rPr>
              <a:t>Sagging on springs</a:t>
            </a:r>
          </a:p>
          <a:p>
            <a:pPr marL="360000" indent="-360000">
              <a:spcBef>
                <a:spcPts val="600"/>
              </a:spcBef>
              <a:spcAft>
                <a:spcPts val="1200"/>
              </a:spcAft>
            </a:pPr>
            <a:r>
              <a:rPr lang="en-US" sz="2200" dirty="0" smtClean="0">
                <a:latin typeface="Helvetica" pitchFamily="34" charset="0"/>
              </a:rPr>
              <a:t>Parked awkwardly or in unauthorised area</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descr="C:\Documents and Settings\danielc\Desktop\1343413_good_bye_.jpg"/>
          <p:cNvPicPr/>
          <p:nvPr/>
        </p:nvPicPr>
        <p:blipFill>
          <a:blip r:embed="rId3" cstate="print">
            <a:lum bright="10000" contrast="20000"/>
          </a:blip>
          <a:srcRect/>
          <a:stretch>
            <a:fillRect/>
          </a:stretch>
        </p:blipFill>
        <p:spPr bwMode="auto">
          <a:xfrm>
            <a:off x="6072198" y="2714620"/>
            <a:ext cx="1916289" cy="13433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safety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Moves slowly and repeatedly through area</a:t>
            </a:r>
          </a:p>
          <a:p>
            <a:pPr marL="360000" indent="-360000">
              <a:spcBef>
                <a:spcPts val="600"/>
              </a:spcBef>
              <a:spcAft>
                <a:spcPts val="1200"/>
              </a:spcAft>
            </a:pPr>
            <a:r>
              <a:rPr lang="en-US" sz="2200" dirty="0" smtClean="0">
                <a:latin typeface="Helvetica" pitchFamily="34" charset="0"/>
              </a:rPr>
              <a:t>Has tinted windows</a:t>
            </a:r>
          </a:p>
          <a:p>
            <a:pPr marL="360000" indent="-360000">
              <a:spcBef>
                <a:spcPts val="600"/>
              </a:spcBef>
              <a:spcAft>
                <a:spcPts val="1200"/>
              </a:spcAft>
            </a:pPr>
            <a:r>
              <a:rPr lang="en-US" sz="2200" dirty="0" smtClean="0">
                <a:latin typeface="Helvetica" pitchFamily="34" charset="0"/>
              </a:rPr>
              <a:t>Left in one spot for unreasonable period</a:t>
            </a:r>
          </a:p>
          <a:p>
            <a:pPr marL="360000" indent="-360000">
              <a:spcBef>
                <a:spcPts val="600"/>
              </a:spcBef>
              <a:spcAft>
                <a:spcPts val="1200"/>
              </a:spcAft>
            </a:pPr>
            <a:r>
              <a:rPr lang="en-US" sz="2200" dirty="0" smtClean="0">
                <a:latin typeface="Helvetica" pitchFamily="34" charset="0"/>
              </a:rPr>
              <a:t>Is idling</a:t>
            </a:r>
          </a:p>
          <a:p>
            <a:pPr marL="360000" indent="-360000">
              <a:spcBef>
                <a:spcPts val="600"/>
              </a:spcBef>
              <a:spcAft>
                <a:spcPts val="1200"/>
              </a:spcAft>
            </a:pPr>
            <a:r>
              <a:rPr lang="en-US" sz="2200" dirty="0" smtClean="0">
                <a:latin typeface="Helvetica" pitchFamily="34" charset="0"/>
              </a:rPr>
              <a:t>Occupants observed leaving in a hurry or strange manner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53250" name="Picture 2" descr="C:\Documents and Settings\danielc\Desktop\972240_minibus.jpg"/>
          <p:cNvPicPr>
            <a:picLocks noChangeAspect="1" noChangeArrowheads="1"/>
          </p:cNvPicPr>
          <p:nvPr/>
        </p:nvPicPr>
        <p:blipFill>
          <a:blip r:embed="rId3" cstate="print"/>
          <a:srcRect l="6452" t="5347" r="6451"/>
          <a:stretch>
            <a:fillRect/>
          </a:stretch>
        </p:blipFill>
        <p:spPr bwMode="auto">
          <a:xfrm>
            <a:off x="6143636" y="2143116"/>
            <a:ext cx="2070121" cy="1357322"/>
          </a:xfrm>
          <a:prstGeom prst="rect">
            <a:avLst/>
          </a:prstGeom>
          <a:noFill/>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Facilitate departure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There will always be responsibilities attached to instances where VIP departs from venue.</a:t>
            </a:r>
          </a:p>
          <a:p>
            <a:pPr marL="0" indent="0">
              <a:spcBef>
                <a:spcPts val="600"/>
              </a:spcBef>
              <a:spcAft>
                <a:spcPts val="1200"/>
              </a:spcAft>
              <a:buNone/>
            </a:pPr>
            <a:r>
              <a:rPr lang="en-US" sz="2200" dirty="0" smtClean="0">
                <a:latin typeface="Helvetica" pitchFamily="34" charset="0"/>
              </a:rPr>
              <a:t>‘Departure’ can refer to:</a:t>
            </a:r>
          </a:p>
          <a:p>
            <a:pPr marL="360000" indent="-360000">
              <a:spcBef>
                <a:spcPts val="600"/>
              </a:spcBef>
              <a:spcAft>
                <a:spcPts val="1200"/>
              </a:spcAft>
            </a:pPr>
            <a:r>
              <a:rPr lang="en-US" sz="2200" dirty="0" smtClean="0">
                <a:latin typeface="Helvetica" pitchFamily="34" charset="0"/>
              </a:rPr>
              <a:t>Departures where the VIP will return at a later </a:t>
            </a:r>
            <a:br>
              <a:rPr lang="en-US" sz="2200" dirty="0" smtClean="0">
                <a:latin typeface="Helvetica" pitchFamily="34" charset="0"/>
              </a:rPr>
            </a:br>
            <a:r>
              <a:rPr lang="en-US" sz="2200" dirty="0" smtClean="0">
                <a:latin typeface="Helvetica" pitchFamily="34" charset="0"/>
              </a:rPr>
              <a:t>time</a:t>
            </a:r>
          </a:p>
          <a:p>
            <a:pPr marL="360000" indent="-360000">
              <a:spcBef>
                <a:spcPts val="600"/>
              </a:spcBef>
              <a:spcAft>
                <a:spcPts val="1200"/>
              </a:spcAft>
            </a:pPr>
            <a:r>
              <a:rPr lang="en-US" sz="2200" dirty="0" smtClean="0">
                <a:latin typeface="Helvetica" pitchFamily="34" charset="0"/>
              </a:rPr>
              <a:t>Final departure from the venue at the end of the </a:t>
            </a:r>
            <a:br>
              <a:rPr lang="en-US" sz="2200" dirty="0" smtClean="0">
                <a:latin typeface="Helvetica" pitchFamily="34" charset="0"/>
              </a:rPr>
            </a:br>
            <a:r>
              <a:rPr lang="en-US" sz="2200" dirty="0" smtClean="0">
                <a:latin typeface="Helvetica" pitchFamily="34" charset="0"/>
              </a:rPr>
              <a:t>visit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descr="C:\Documents and Settings\danielc\Local Settings\Temporary Internet Files\Content.IE5\112MAXTI\MP900405424[1].jpg"/>
          <p:cNvPicPr/>
          <p:nvPr/>
        </p:nvPicPr>
        <p:blipFill>
          <a:blip r:embed="rId3" cstate="print"/>
          <a:srcRect l="28022" r="26889" b="5499"/>
          <a:stretch>
            <a:fillRect/>
          </a:stretch>
        </p:blipFill>
        <p:spPr bwMode="auto">
          <a:xfrm>
            <a:off x="7215206" y="2643182"/>
            <a:ext cx="1189783" cy="17801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Facilitate departure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‘Points to note’ regarding VIP departures:</a:t>
            </a:r>
          </a:p>
          <a:p>
            <a:pPr marL="360000" indent="-360000">
              <a:spcBef>
                <a:spcPts val="600"/>
              </a:spcBef>
              <a:spcAft>
                <a:spcPts val="1200"/>
              </a:spcAft>
            </a:pPr>
            <a:r>
              <a:rPr lang="en-US" sz="2200" dirty="0" smtClean="0">
                <a:latin typeface="Helvetica" pitchFamily="34" charset="0"/>
              </a:rPr>
              <a:t>Use safety plans as basis for decisions and action</a:t>
            </a:r>
          </a:p>
          <a:p>
            <a:pPr marL="360000" indent="-360000">
              <a:spcBef>
                <a:spcPts val="600"/>
              </a:spcBef>
              <a:spcAft>
                <a:spcPts val="1200"/>
              </a:spcAft>
            </a:pPr>
            <a:r>
              <a:rPr lang="en-US" sz="2200" dirty="0" smtClean="0">
                <a:latin typeface="Helvetica" pitchFamily="34" charset="0"/>
              </a:rPr>
              <a:t>May be required to play ‘active’ or ‘passive’ role</a:t>
            </a:r>
          </a:p>
          <a:p>
            <a:pPr marL="360000" indent="-360000">
              <a:spcBef>
                <a:spcPts val="600"/>
              </a:spcBef>
              <a:spcAft>
                <a:spcPts val="1200"/>
              </a:spcAft>
            </a:pPr>
            <a:r>
              <a:rPr lang="en-US" sz="2200" dirty="0" smtClean="0">
                <a:latin typeface="Helvetica" pitchFamily="34" charset="0"/>
              </a:rPr>
              <a:t>May be required to arrange a host of associated products or services</a:t>
            </a:r>
          </a:p>
          <a:p>
            <a:pPr marL="360000" indent="-360000">
              <a:spcBef>
                <a:spcPts val="600"/>
              </a:spcBef>
              <a:spcAft>
                <a:spcPts val="1200"/>
              </a:spcAft>
            </a:pPr>
            <a:r>
              <a:rPr lang="en-US" sz="2200" dirty="0" smtClean="0">
                <a:latin typeface="Helvetica" pitchFamily="34" charset="0"/>
              </a:rPr>
              <a:t>Will need to arrange and implement series of </a:t>
            </a:r>
            <a:br>
              <a:rPr lang="en-US" sz="2200" dirty="0" smtClean="0">
                <a:latin typeface="Helvetica" pitchFamily="34" charset="0"/>
              </a:rPr>
            </a:br>
            <a:r>
              <a:rPr lang="en-US" sz="2200" dirty="0" smtClean="0">
                <a:latin typeface="Helvetica" pitchFamily="34" charset="0"/>
              </a:rPr>
              <a:t>pre-departure activities and pre-departure checks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5" name="Picture 4" descr="C:\Documents and Settings\danielc\Local Settings\Temporary Internet Files\Content.IE5\3DV3UKH9\MP900174869[1].jpg"/>
          <p:cNvPicPr/>
          <p:nvPr/>
        </p:nvPicPr>
        <p:blipFill>
          <a:blip r:embed="rId3" cstate="print"/>
          <a:srcRect/>
          <a:stretch>
            <a:fillRect/>
          </a:stretch>
        </p:blipFill>
        <p:spPr bwMode="auto">
          <a:xfrm>
            <a:off x="7286644" y="2714620"/>
            <a:ext cx="1643042" cy="109657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Facilitate departure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possible activities to facilitate departures:</a:t>
            </a:r>
          </a:p>
          <a:p>
            <a:pPr marL="360000" indent="-360000">
              <a:spcBef>
                <a:spcPts val="600"/>
              </a:spcBef>
              <a:spcAft>
                <a:spcPts val="1200"/>
              </a:spcAft>
            </a:pPr>
            <a:r>
              <a:rPr lang="en-US" sz="2200" dirty="0" smtClean="0">
                <a:latin typeface="Helvetica" pitchFamily="34" charset="0"/>
              </a:rPr>
              <a:t>Key off lifts</a:t>
            </a:r>
          </a:p>
          <a:p>
            <a:pPr marL="360000" indent="-360000">
              <a:spcBef>
                <a:spcPts val="600"/>
              </a:spcBef>
              <a:spcAft>
                <a:spcPts val="1200"/>
              </a:spcAft>
            </a:pPr>
            <a:r>
              <a:rPr lang="en-US" sz="2200" dirty="0" smtClean="0">
                <a:latin typeface="Helvetica" pitchFamily="34" charset="0"/>
              </a:rPr>
              <a:t>Clear exit/departure routes</a:t>
            </a:r>
          </a:p>
          <a:p>
            <a:pPr marL="360000" indent="-360000">
              <a:spcBef>
                <a:spcPts val="600"/>
              </a:spcBef>
              <a:spcAft>
                <a:spcPts val="1200"/>
              </a:spcAft>
            </a:pPr>
            <a:r>
              <a:rPr lang="en-US" sz="2200" dirty="0" smtClean="0">
                <a:latin typeface="Helvetica" pitchFamily="34" charset="0"/>
              </a:rPr>
              <a:t>Conduct sweeps</a:t>
            </a:r>
          </a:p>
          <a:p>
            <a:pPr marL="360000" indent="-360000">
              <a:spcBef>
                <a:spcPts val="600"/>
              </a:spcBef>
              <a:spcAft>
                <a:spcPts val="1200"/>
              </a:spcAft>
            </a:pPr>
            <a:r>
              <a:rPr lang="en-US" sz="2200" dirty="0" smtClean="0">
                <a:latin typeface="Helvetica" pitchFamily="34" charset="0"/>
              </a:rPr>
              <a:t>Confirm IDs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4274" name="Picture 2" descr="C:\Documents and Settings\danielc\Local Settings\Temporary Internet Files\Content.IE5\V9A2RTT8\MC900332526[1].wmf"/>
          <p:cNvPicPr>
            <a:picLocks noChangeAspect="1" noChangeArrowheads="1"/>
          </p:cNvPicPr>
          <p:nvPr/>
        </p:nvPicPr>
        <p:blipFill>
          <a:blip r:embed="rId3" cstate="print"/>
          <a:srcRect/>
          <a:stretch>
            <a:fillRect/>
          </a:stretch>
        </p:blipFill>
        <p:spPr bwMode="auto">
          <a:xfrm>
            <a:off x="5929322" y="2571744"/>
            <a:ext cx="1819656" cy="1848917"/>
          </a:xfrm>
          <a:prstGeom prst="rect">
            <a:avLst/>
          </a:prstGeom>
          <a:noFill/>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Facilitate departure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Check locked areas</a:t>
            </a:r>
          </a:p>
          <a:p>
            <a:pPr marL="360000" indent="-360000">
              <a:spcBef>
                <a:spcPts val="600"/>
              </a:spcBef>
              <a:spcAft>
                <a:spcPts val="1200"/>
              </a:spcAft>
            </a:pPr>
            <a:r>
              <a:rPr lang="en-US" sz="2200" dirty="0" smtClean="0">
                <a:latin typeface="Helvetica" pitchFamily="34" charset="0"/>
              </a:rPr>
              <a:t>Confirm lines of sight</a:t>
            </a:r>
          </a:p>
          <a:p>
            <a:pPr marL="360000" indent="-360000">
              <a:spcBef>
                <a:spcPts val="600"/>
              </a:spcBef>
              <a:spcAft>
                <a:spcPts val="1200"/>
              </a:spcAft>
            </a:pPr>
            <a:r>
              <a:rPr lang="en-US" sz="2200" dirty="0" smtClean="0">
                <a:latin typeface="Helvetica" pitchFamily="34" charset="0"/>
              </a:rPr>
              <a:t>Conduct comms checks</a:t>
            </a:r>
          </a:p>
          <a:p>
            <a:pPr marL="360000" indent="-360000">
              <a:spcBef>
                <a:spcPts val="600"/>
              </a:spcBef>
              <a:spcAft>
                <a:spcPts val="1200"/>
              </a:spcAft>
            </a:pPr>
            <a:r>
              <a:rPr lang="en-US" sz="2200" dirty="0" smtClean="0">
                <a:latin typeface="Helvetica" pitchFamily="34" charset="0"/>
              </a:rPr>
              <a:t>Confirm personnel</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2" descr="C:\Documents and Settings\danielc\Local Settings\Temporary Internet Files\Content.IE5\3Y3SDCJX\MC900241477[1].wmf"/>
          <p:cNvPicPr>
            <a:picLocks noChangeAspect="1" noChangeArrowheads="1"/>
          </p:cNvPicPr>
          <p:nvPr/>
        </p:nvPicPr>
        <p:blipFill>
          <a:blip r:embed="rId3" cstate="print"/>
          <a:srcRect/>
          <a:stretch>
            <a:fillRect/>
          </a:stretch>
        </p:blipFill>
        <p:spPr bwMode="auto">
          <a:xfrm>
            <a:off x="6500826" y="1357298"/>
            <a:ext cx="1570025" cy="1825142"/>
          </a:xfrm>
          <a:prstGeom prst="rect">
            <a:avLst/>
          </a:prstGeom>
          <a:noFill/>
        </p:spPr>
      </p:pic>
      <p:pic>
        <p:nvPicPr>
          <p:cNvPr id="57346" name="Picture 2" descr="C:\Documents and Settings\danielc\Local Settings\Temporary Internet Files\Content.IE5\XGIII3N1\MC900213141[1].wmf"/>
          <p:cNvPicPr>
            <a:picLocks noChangeAspect="1" noChangeArrowheads="1"/>
          </p:cNvPicPr>
          <p:nvPr/>
        </p:nvPicPr>
        <p:blipFill>
          <a:blip r:embed="rId4" cstate="print"/>
          <a:srcRect/>
          <a:stretch>
            <a:fillRect/>
          </a:stretch>
        </p:blipFill>
        <p:spPr bwMode="auto">
          <a:xfrm>
            <a:off x="5429256" y="2143116"/>
            <a:ext cx="1085393" cy="1783994"/>
          </a:xfrm>
          <a:prstGeom prst="rect">
            <a:avLst/>
          </a:prstGeom>
          <a:noFill/>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Facilitate departure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Confirm security of nominated areas</a:t>
            </a:r>
          </a:p>
          <a:p>
            <a:pPr marL="360000" indent="-360000">
              <a:spcBef>
                <a:spcPts val="600"/>
              </a:spcBef>
              <a:spcAft>
                <a:spcPts val="1200"/>
              </a:spcAft>
            </a:pPr>
            <a:r>
              <a:rPr lang="en-US" sz="2200" dirty="0" smtClean="0">
                <a:latin typeface="Helvetica" pitchFamily="34" charset="0"/>
              </a:rPr>
              <a:t>Update staff regarding changes</a:t>
            </a:r>
          </a:p>
          <a:p>
            <a:pPr marL="360000" indent="-360000">
              <a:spcBef>
                <a:spcPts val="600"/>
              </a:spcBef>
              <a:spcAft>
                <a:spcPts val="1200"/>
              </a:spcAft>
            </a:pPr>
            <a:r>
              <a:rPr lang="en-US" sz="2200" dirty="0" smtClean="0">
                <a:latin typeface="Helvetica" pitchFamily="34" charset="0"/>
              </a:rPr>
              <a:t>Issue ‘all clear’</a:t>
            </a:r>
          </a:p>
          <a:p>
            <a:pPr marL="360000" indent="-360000">
              <a:spcBef>
                <a:spcPts val="600"/>
              </a:spcBef>
              <a:spcAft>
                <a:spcPts val="1200"/>
              </a:spcAft>
            </a:pPr>
            <a:r>
              <a:rPr lang="en-US" sz="2200" dirty="0" smtClean="0">
                <a:latin typeface="Helvetica" pitchFamily="34" charset="0"/>
              </a:rPr>
              <a:t>Liaise with external security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8370" name="Picture 2" descr="C:\Documents and Settings\danielc\Desktop\Vip photos\1401761_save_the_qeen.jpg"/>
          <p:cNvPicPr>
            <a:picLocks noChangeAspect="1" noChangeArrowheads="1"/>
          </p:cNvPicPr>
          <p:nvPr/>
        </p:nvPicPr>
        <p:blipFill>
          <a:blip r:embed="rId3" cstate="print"/>
          <a:srcRect/>
          <a:stretch>
            <a:fillRect/>
          </a:stretch>
        </p:blipFill>
        <p:spPr bwMode="auto">
          <a:xfrm>
            <a:off x="6000760" y="2214554"/>
            <a:ext cx="2143120" cy="1428747"/>
          </a:xfrm>
          <a:prstGeom prst="rect">
            <a:avLst/>
          </a:prstGeom>
          <a:noFill/>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Facilitate departure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Handle secure departure</a:t>
            </a:r>
          </a:p>
          <a:p>
            <a:pPr marL="360000" indent="-360000">
              <a:spcBef>
                <a:spcPts val="600"/>
              </a:spcBef>
              <a:spcAft>
                <a:spcPts val="1200"/>
              </a:spcAft>
            </a:pPr>
            <a:r>
              <a:rPr lang="en-US" sz="2200" dirty="0" smtClean="0">
                <a:latin typeface="Helvetica" pitchFamily="34" charset="0"/>
              </a:rPr>
              <a:t>Monitor crowds and general environment</a:t>
            </a:r>
          </a:p>
          <a:p>
            <a:pPr marL="360000" indent="-360000">
              <a:spcBef>
                <a:spcPts val="600"/>
              </a:spcBef>
              <a:spcAft>
                <a:spcPts val="1200"/>
              </a:spcAft>
            </a:pPr>
            <a:r>
              <a:rPr lang="en-US" sz="2200" dirty="0" smtClean="0">
                <a:latin typeface="Helvetica" pitchFamily="34" charset="0"/>
              </a:rPr>
              <a:t>Update CCC</a:t>
            </a:r>
          </a:p>
          <a:p>
            <a:pPr marL="360000" indent="-360000">
              <a:spcBef>
                <a:spcPts val="600"/>
              </a:spcBef>
              <a:spcAft>
                <a:spcPts val="1200"/>
              </a:spcAft>
            </a:pPr>
            <a:r>
              <a:rPr lang="en-US" sz="2200" dirty="0" smtClean="0">
                <a:latin typeface="Helvetica" pitchFamily="34" charset="0"/>
              </a:rPr>
              <a:t>Request assistance when threat or issue </a:t>
            </a:r>
            <a:br>
              <a:rPr lang="en-US" sz="2200" dirty="0" smtClean="0">
                <a:latin typeface="Helvetica" pitchFamily="34" charset="0"/>
              </a:rPr>
            </a:br>
            <a:r>
              <a:rPr lang="en-US" sz="2200" dirty="0" smtClean="0">
                <a:latin typeface="Helvetica" pitchFamily="34" charset="0"/>
              </a:rPr>
              <a:t>is identified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6323" name="Picture 3" descr="C:\Documents and Settings\danielc\Desktop\Vip photos\191439_games_convention_leipzig_2004.jpg"/>
          <p:cNvPicPr>
            <a:picLocks noChangeAspect="1" noChangeArrowheads="1"/>
          </p:cNvPicPr>
          <p:nvPr/>
        </p:nvPicPr>
        <p:blipFill>
          <a:blip r:embed="rId3" cstate="print"/>
          <a:srcRect/>
          <a:stretch>
            <a:fillRect/>
          </a:stretch>
        </p:blipFill>
        <p:spPr bwMode="auto">
          <a:xfrm>
            <a:off x="6429388" y="2143116"/>
            <a:ext cx="1909953" cy="1426098"/>
          </a:xfrm>
          <a:prstGeom prst="rect">
            <a:avLst/>
          </a:prstGeom>
          <a:noFill/>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Facilitate departure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Match security actions to level of identified threat</a:t>
            </a:r>
          </a:p>
          <a:p>
            <a:pPr marL="360000" indent="-360000">
              <a:spcBef>
                <a:spcPts val="600"/>
              </a:spcBef>
              <a:spcAft>
                <a:spcPts val="1200"/>
              </a:spcAft>
            </a:pPr>
            <a:r>
              <a:rPr lang="en-US" sz="2200" dirty="0" smtClean="0">
                <a:latin typeface="Helvetica" pitchFamily="34" charset="0"/>
              </a:rPr>
              <a:t>Adapt as required or directed</a:t>
            </a:r>
          </a:p>
          <a:p>
            <a:pPr marL="360000" indent="-360000">
              <a:spcBef>
                <a:spcPts val="600"/>
              </a:spcBef>
              <a:spcAft>
                <a:spcPts val="1200"/>
              </a:spcAft>
            </a:pPr>
            <a:r>
              <a:rPr lang="en-US" sz="2200" dirty="0" smtClean="0">
                <a:latin typeface="Helvetica" pitchFamily="34" charset="0"/>
              </a:rPr>
              <a:t>Accompany/escort the VIP</a:t>
            </a:r>
          </a:p>
          <a:p>
            <a:pPr marL="360000" indent="-360000">
              <a:spcBef>
                <a:spcPts val="600"/>
              </a:spcBef>
              <a:spcAft>
                <a:spcPts val="1200"/>
              </a:spcAft>
            </a:pPr>
            <a:r>
              <a:rPr lang="en-US" sz="2200" dirty="0" smtClean="0">
                <a:latin typeface="Helvetica" pitchFamily="34" charset="0"/>
              </a:rPr>
              <a:t>Confirm security of departure location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descr="C:\Documents and Settings\danielc\Desktop\16499_see_ya.jpg"/>
          <p:cNvPicPr/>
          <p:nvPr/>
        </p:nvPicPr>
        <p:blipFill>
          <a:blip r:embed="rId3" cstate="print">
            <a:lum bright="10000"/>
          </a:blip>
          <a:srcRect/>
          <a:stretch>
            <a:fillRect/>
          </a:stretch>
        </p:blipFill>
        <p:spPr bwMode="auto">
          <a:xfrm>
            <a:off x="6072198" y="2214554"/>
            <a:ext cx="2156533" cy="1428760"/>
          </a:xfrm>
          <a:prstGeom prst="rect">
            <a:avLst/>
          </a:prstGeom>
          <a:noFill/>
          <a:ln w="9525">
            <a:noFill/>
            <a:miter lim="800000"/>
            <a:headEnd/>
            <a:tailEnd/>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Facilitate departure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Check vehicles</a:t>
            </a:r>
          </a:p>
          <a:p>
            <a:pPr marL="360000" indent="-360000">
              <a:spcBef>
                <a:spcPts val="600"/>
              </a:spcBef>
              <a:spcAft>
                <a:spcPts val="1200"/>
              </a:spcAft>
            </a:pPr>
            <a:r>
              <a:rPr lang="en-US" sz="2200" dirty="0" smtClean="0">
                <a:latin typeface="Helvetica" pitchFamily="34" charset="0"/>
              </a:rPr>
              <a:t>Remove unauthorised vehicles and persons</a:t>
            </a:r>
          </a:p>
          <a:p>
            <a:pPr marL="360000" indent="-360000">
              <a:spcBef>
                <a:spcPts val="600"/>
              </a:spcBef>
              <a:spcAft>
                <a:spcPts val="1200"/>
              </a:spcAft>
            </a:pPr>
            <a:r>
              <a:rPr lang="en-US" sz="2200" dirty="0" smtClean="0">
                <a:latin typeface="Helvetica" pitchFamily="34" charset="0"/>
              </a:rPr>
              <a:t>Hand over to others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55298" name="Picture 2" descr="C:\Documents and Settings\danielc\Desktop\Vip photos\566713_arrested.jpg"/>
          <p:cNvPicPr>
            <a:picLocks noChangeAspect="1" noChangeArrowheads="1"/>
          </p:cNvPicPr>
          <p:nvPr/>
        </p:nvPicPr>
        <p:blipFill>
          <a:blip r:embed="rId3" cstate="print"/>
          <a:srcRect/>
          <a:stretch>
            <a:fillRect/>
          </a:stretch>
        </p:blipFill>
        <p:spPr bwMode="auto">
          <a:xfrm>
            <a:off x="6357950" y="2928934"/>
            <a:ext cx="1773367" cy="2038353"/>
          </a:xfrm>
          <a:prstGeom prst="rect">
            <a:avLst/>
          </a:prstGeom>
          <a:noFill/>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When implementing plans for VIP safety:</a:t>
            </a:r>
          </a:p>
          <a:p>
            <a:pPr>
              <a:lnSpc>
                <a:spcPct val="110000"/>
              </a:lnSpc>
              <a:spcBef>
                <a:spcPts val="600"/>
              </a:spcBef>
              <a:spcAft>
                <a:spcPts val="600"/>
              </a:spcAft>
            </a:pPr>
            <a:r>
              <a:rPr lang="en-AU" sz="2200" dirty="0" smtClean="0">
                <a:latin typeface="Helvetica" pitchFamily="34" charset="0"/>
              </a:rPr>
              <a:t>Follow the safety plans which have been prepared and approved</a:t>
            </a:r>
          </a:p>
          <a:p>
            <a:pPr>
              <a:lnSpc>
                <a:spcPct val="110000"/>
              </a:lnSpc>
              <a:spcBef>
                <a:spcPts val="600"/>
              </a:spcBef>
              <a:spcAft>
                <a:spcPts val="600"/>
              </a:spcAft>
            </a:pPr>
            <a:r>
              <a:rPr lang="en-AU" sz="2200" dirty="0" smtClean="0">
                <a:latin typeface="Helvetica" pitchFamily="34" charset="0"/>
              </a:rPr>
              <a:t>Make sure all actions identified in the safety plan are implemented</a:t>
            </a:r>
          </a:p>
          <a:p>
            <a:pPr>
              <a:lnSpc>
                <a:spcPct val="110000"/>
              </a:lnSpc>
              <a:spcBef>
                <a:spcPts val="600"/>
              </a:spcBef>
              <a:spcAft>
                <a:spcPts val="600"/>
              </a:spcAft>
            </a:pPr>
            <a:r>
              <a:rPr lang="en-AU" sz="2200" dirty="0" smtClean="0">
                <a:latin typeface="Helvetica" pitchFamily="34" charset="0"/>
              </a:rPr>
              <a:t>Implement required pre-arrival preparations to venue and for staff</a:t>
            </a:r>
          </a:p>
          <a:p>
            <a:pPr>
              <a:lnSpc>
                <a:spcPct val="110000"/>
              </a:lnSpc>
              <a:spcBef>
                <a:spcPts val="600"/>
              </a:spcBef>
              <a:spcAft>
                <a:spcPts val="600"/>
              </a:spcAft>
            </a:pPr>
            <a:r>
              <a:rPr lang="en-AU" sz="2200" dirty="0" smtClean="0"/>
              <a:t>Conduct final pre-arrival checks</a:t>
            </a:r>
          </a:p>
          <a:p>
            <a:pPr>
              <a:lnSpc>
                <a:spcPct val="110000"/>
              </a:lnSpc>
              <a:spcBef>
                <a:spcPts val="600"/>
              </a:spcBef>
              <a:spcAft>
                <a:spcPts val="600"/>
              </a:spcAft>
            </a:pPr>
            <a:r>
              <a:rPr lang="en-AU" sz="2200" dirty="0" smtClean="0"/>
              <a:t>Liaise and cooperate with external authorities, stakeholders and security providers</a:t>
            </a:r>
          </a:p>
          <a:p>
            <a:pPr>
              <a:lnSpc>
                <a:spcPct val="110000"/>
              </a:lnSpc>
              <a:spcBef>
                <a:spcPts val="600"/>
              </a:spcBef>
              <a:spcAft>
                <a:spcPts val="600"/>
              </a:spcAft>
            </a:pPr>
            <a:r>
              <a:rPr lang="en-AU" sz="2200" dirty="0" smtClean="0"/>
              <a:t>Be prepared to take an active/primary role or a secondary/support role</a:t>
            </a:r>
          </a:p>
          <a:p>
            <a:pPr marL="360000" indent="-360000">
              <a:lnSpc>
                <a:spcPct val="110000"/>
              </a:lnSpc>
              <a:spcBef>
                <a:spcPts val="600"/>
              </a:spcBef>
              <a:spcAft>
                <a:spcPts val="600"/>
              </a:spcAft>
              <a:buNone/>
            </a:pPr>
            <a:r>
              <a:rPr lang="en-US" sz="2200" dirty="0" smtClean="0"/>
              <a:t>(Continued)</a:t>
            </a:r>
          </a:p>
          <a:p>
            <a:pPr>
              <a:spcBef>
                <a:spcPts val="600"/>
              </a:spcBef>
              <a:spcAft>
                <a:spcPts val="6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2" descr="C:\Documents and Settings\danielc\Local Settings\Temporary Internet Files\Content.IE5\Y88G682L\MC900442036[1].wmf"/>
          <p:cNvPicPr>
            <a:picLocks noChangeAspect="1" noChangeArrowheads="1"/>
          </p:cNvPicPr>
          <p:nvPr/>
        </p:nvPicPr>
        <p:blipFill>
          <a:blip r:embed="rId3" cstate="print"/>
          <a:srcRect/>
          <a:stretch>
            <a:fillRect/>
          </a:stretch>
        </p:blipFill>
        <p:spPr bwMode="auto">
          <a:xfrm>
            <a:off x="7500958" y="1928802"/>
            <a:ext cx="1496484" cy="1481135"/>
          </a:xfrm>
          <a:prstGeom prst="rect">
            <a:avLst/>
          </a:prstGeom>
          <a:noFill/>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lnSpc>
                <a:spcPct val="110000"/>
              </a:lnSpc>
              <a:spcBef>
                <a:spcPts val="600"/>
              </a:spcBef>
              <a:spcAft>
                <a:spcPts val="600"/>
              </a:spcAft>
            </a:pPr>
            <a:r>
              <a:rPr lang="en-AU" sz="2200" dirty="0" smtClean="0">
                <a:latin typeface="Helvetica" pitchFamily="34" charset="0"/>
              </a:rPr>
              <a:t>Provide guard, deterrent and escort services as required</a:t>
            </a:r>
          </a:p>
          <a:p>
            <a:pPr>
              <a:lnSpc>
                <a:spcPct val="110000"/>
              </a:lnSpc>
              <a:spcBef>
                <a:spcPts val="600"/>
              </a:spcBef>
              <a:spcAft>
                <a:spcPts val="600"/>
              </a:spcAft>
            </a:pPr>
            <a:r>
              <a:rPr lang="en-AU" sz="2200" dirty="0" smtClean="0">
                <a:latin typeface="Helvetica" pitchFamily="34" charset="0"/>
              </a:rPr>
              <a:t>Monitor and observe crowds, individuals and vehicles</a:t>
            </a:r>
          </a:p>
          <a:p>
            <a:pPr>
              <a:lnSpc>
                <a:spcPct val="110000"/>
              </a:lnSpc>
              <a:spcBef>
                <a:spcPts val="600"/>
              </a:spcBef>
              <a:spcAft>
                <a:spcPts val="600"/>
              </a:spcAft>
            </a:pPr>
            <a:r>
              <a:rPr lang="en-AU" sz="2200" dirty="0" smtClean="0">
                <a:latin typeface="Helvetica" pitchFamily="34" charset="0"/>
              </a:rPr>
              <a:t>Report suspicions and observed activity</a:t>
            </a:r>
          </a:p>
          <a:p>
            <a:pPr>
              <a:lnSpc>
                <a:spcPct val="110000"/>
              </a:lnSpc>
              <a:spcBef>
                <a:spcPts val="600"/>
              </a:spcBef>
              <a:spcAft>
                <a:spcPts val="600"/>
              </a:spcAft>
            </a:pPr>
            <a:r>
              <a:rPr lang="en-AU" sz="2200" dirty="0" smtClean="0"/>
              <a:t>Adapt plans as necessary based on issues arising</a:t>
            </a:r>
          </a:p>
          <a:p>
            <a:pPr>
              <a:lnSpc>
                <a:spcPct val="110000"/>
              </a:lnSpc>
              <a:spcBef>
                <a:spcPts val="600"/>
              </a:spcBef>
              <a:spcAft>
                <a:spcPts val="600"/>
              </a:spcAft>
            </a:pPr>
            <a:r>
              <a:rPr lang="en-AU" sz="2200" dirty="0" smtClean="0"/>
              <a:t>Notify others regarding progress and changes to plans</a:t>
            </a:r>
          </a:p>
          <a:p>
            <a:pPr>
              <a:lnSpc>
                <a:spcPct val="110000"/>
              </a:lnSpc>
              <a:spcBef>
                <a:spcPts val="600"/>
              </a:spcBef>
              <a:spcAft>
                <a:spcPts val="600"/>
              </a:spcAft>
            </a:pPr>
            <a:r>
              <a:rPr lang="en-AU" sz="2200" dirty="0" smtClean="0"/>
              <a:t>Protect the VIP and their privacy during their stay</a:t>
            </a:r>
          </a:p>
          <a:p>
            <a:pPr>
              <a:lnSpc>
                <a:spcPct val="110000"/>
              </a:lnSpc>
              <a:spcBef>
                <a:spcPts val="600"/>
              </a:spcBef>
              <a:spcAft>
                <a:spcPts val="600"/>
              </a:spcAft>
            </a:pPr>
            <a:r>
              <a:rPr lang="en-AU" sz="2200" dirty="0" smtClean="0"/>
              <a:t>Undertake identified checks and activities every time the VIP leaves the venue</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5" name="Picture 2" descr="C:\Documents and Settings\danielc\Local Settings\Temporary Internet Files\Content.IE5\Y88G682L\MC900442036[1].wmf"/>
          <p:cNvPicPr>
            <a:picLocks noChangeAspect="1" noChangeArrowheads="1"/>
          </p:cNvPicPr>
          <p:nvPr/>
        </p:nvPicPr>
        <p:blipFill>
          <a:blip r:embed="rId3" cstate="print"/>
          <a:srcRect/>
          <a:stretch>
            <a:fillRect/>
          </a:stretch>
        </p:blipFill>
        <p:spPr bwMode="auto">
          <a:xfrm>
            <a:off x="7500958" y="928670"/>
            <a:ext cx="1496484" cy="1481135"/>
          </a:xfrm>
          <a:prstGeom prst="rect">
            <a:avLst/>
          </a:prstGeom>
          <a:noFill/>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evaluation of pans following departure of VIP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Debrief staff who were involved with project</a:t>
            </a:r>
          </a:p>
          <a:p>
            <a:pPr marL="360000" indent="-360000">
              <a:spcBef>
                <a:spcPts val="600"/>
              </a:spcBef>
              <a:spcAft>
                <a:spcPts val="1200"/>
              </a:spcAft>
            </a:pPr>
            <a:r>
              <a:rPr lang="en-US" sz="2200" dirty="0" smtClean="0">
                <a:latin typeface="Helvetica" pitchFamily="34" charset="0"/>
              </a:rPr>
              <a:t>Analyse responses to breaches of safety that occurred</a:t>
            </a:r>
          </a:p>
          <a:p>
            <a:pPr marL="360000" indent="-360000">
              <a:spcBef>
                <a:spcPts val="600"/>
              </a:spcBef>
              <a:spcAft>
                <a:spcPts val="1200"/>
              </a:spcAft>
            </a:pPr>
            <a:r>
              <a:rPr lang="en-US" sz="2200" dirty="0" smtClean="0">
                <a:latin typeface="Helvetica" pitchFamily="34" charset="0"/>
              </a:rPr>
              <a:t>Prepare draft safety plans for future VIP visits on the basis of feedback received and analysis undertaken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429388" y="207167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858148" y="264318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530432" y="3571876"/>
            <a:ext cx="399154" cy="527046"/>
          </a:xfrm>
          <a:prstGeom prst="rect">
            <a:avLst/>
          </a:prstGeom>
          <a:noFill/>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De-brief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Debriefings are Standard Operating Procedure after every VIP visit and are held to:</a:t>
            </a:r>
          </a:p>
          <a:p>
            <a:pPr marL="360000" indent="-360000">
              <a:spcBef>
                <a:spcPts val="600"/>
              </a:spcBef>
              <a:spcAft>
                <a:spcPts val="1200"/>
              </a:spcAft>
            </a:pPr>
            <a:r>
              <a:rPr lang="en-US" sz="2200" dirty="0" smtClean="0">
                <a:latin typeface="Helvetica" pitchFamily="34" charset="0"/>
              </a:rPr>
              <a:t>Finalise the visit</a:t>
            </a:r>
          </a:p>
          <a:p>
            <a:pPr marL="360000" indent="-360000">
              <a:spcBef>
                <a:spcPts val="600"/>
              </a:spcBef>
              <a:spcAft>
                <a:spcPts val="1200"/>
              </a:spcAft>
            </a:pPr>
            <a:r>
              <a:rPr lang="en-US" sz="2200" dirty="0" smtClean="0">
                <a:latin typeface="Helvetica" pitchFamily="34" charset="0"/>
              </a:rPr>
              <a:t>Capture suggestions and input to improve </a:t>
            </a:r>
            <a:br>
              <a:rPr lang="en-US" sz="2200" dirty="0" smtClean="0">
                <a:latin typeface="Helvetica" pitchFamily="34" charset="0"/>
              </a:rPr>
            </a:br>
            <a:r>
              <a:rPr lang="en-US" sz="2200" dirty="0" smtClean="0">
                <a:latin typeface="Helvetica" pitchFamily="34" charset="0"/>
              </a:rPr>
              <a:t>future visits</a:t>
            </a:r>
          </a:p>
          <a:p>
            <a:pPr marL="360000" indent="-360000">
              <a:spcBef>
                <a:spcPts val="600"/>
              </a:spcBef>
              <a:spcAft>
                <a:spcPts val="1200"/>
              </a:spcAft>
            </a:pPr>
            <a:r>
              <a:rPr lang="en-US" sz="2200" dirty="0" smtClean="0">
                <a:latin typeface="Helvetica" pitchFamily="34" charset="0"/>
              </a:rPr>
              <a:t>Learn lessons</a:t>
            </a:r>
          </a:p>
          <a:p>
            <a:pPr marL="360000" indent="-360000">
              <a:spcBef>
                <a:spcPts val="600"/>
              </a:spcBef>
              <a:spcAft>
                <a:spcPts val="1200"/>
              </a:spcAft>
            </a:pPr>
            <a:r>
              <a:rPr lang="en-US" sz="2200" dirty="0" smtClean="0">
                <a:latin typeface="Helvetica" pitchFamily="34" charset="0"/>
              </a:rPr>
              <a:t>Provide a stakeholder forum for discussion</a:t>
            </a:r>
          </a:p>
          <a:p>
            <a:pPr marL="360000" indent="-360000">
              <a:spcBef>
                <a:spcPts val="600"/>
              </a:spcBef>
              <a:spcAft>
                <a:spcPts val="1200"/>
              </a:spcAft>
            </a:pPr>
            <a:r>
              <a:rPr lang="en-US" sz="2200" dirty="0" smtClean="0">
                <a:latin typeface="Helvetica" pitchFamily="34" charset="0"/>
              </a:rPr>
              <a:t>Identify and resolve problems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descr="I:\Overseas Projects\PHOTOS\2012\Office\36322_people.jpg"/>
          <p:cNvPicPr/>
          <p:nvPr/>
        </p:nvPicPr>
        <p:blipFill>
          <a:blip r:embed="rId3" cstate="print"/>
          <a:srcRect/>
          <a:stretch>
            <a:fillRect/>
          </a:stretch>
        </p:blipFill>
        <p:spPr bwMode="auto">
          <a:xfrm>
            <a:off x="6572264" y="3071810"/>
            <a:ext cx="1905279" cy="1428760"/>
          </a:xfrm>
          <a:prstGeom prst="rect">
            <a:avLst/>
          </a:prstGeom>
          <a:noFill/>
          <a:ln w="9525">
            <a:noFill/>
            <a:miter lim="800000"/>
            <a:headEnd/>
            <a:tailEnd/>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Debrief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Obtain feedback</a:t>
            </a:r>
          </a:p>
          <a:p>
            <a:pPr marL="360000" indent="-360000">
              <a:spcBef>
                <a:spcPts val="600"/>
              </a:spcBef>
              <a:spcAft>
                <a:spcPts val="1200"/>
              </a:spcAft>
            </a:pPr>
            <a:r>
              <a:rPr lang="en-US" sz="2200" dirty="0" smtClean="0">
                <a:latin typeface="Helvetica" pitchFamily="34" charset="0"/>
              </a:rPr>
              <a:t>Address issues and complaints</a:t>
            </a:r>
          </a:p>
          <a:p>
            <a:pPr marL="360000" indent="-360000">
              <a:spcBef>
                <a:spcPts val="600"/>
              </a:spcBef>
              <a:spcAft>
                <a:spcPts val="1200"/>
              </a:spcAft>
            </a:pPr>
            <a:r>
              <a:rPr lang="en-US" sz="2200" dirty="0" smtClean="0">
                <a:latin typeface="Helvetica" pitchFamily="34" charset="0"/>
              </a:rPr>
              <a:t>Assist others with their evaluations</a:t>
            </a:r>
          </a:p>
          <a:p>
            <a:pPr marL="360000" indent="-360000">
              <a:spcBef>
                <a:spcPts val="600"/>
              </a:spcBef>
              <a:spcAft>
                <a:spcPts val="1200"/>
              </a:spcAft>
            </a:pPr>
            <a:r>
              <a:rPr lang="en-US" sz="2200" dirty="0" smtClean="0">
                <a:latin typeface="Helvetica" pitchFamily="34" charset="0"/>
              </a:rPr>
              <a:t>Gather information</a:t>
            </a:r>
          </a:p>
          <a:p>
            <a:pPr marL="360000" indent="-360000">
              <a:spcBef>
                <a:spcPts val="600"/>
              </a:spcBef>
              <a:spcAft>
                <a:spcPts val="1200"/>
              </a:spcAft>
            </a:pPr>
            <a:r>
              <a:rPr lang="en-US" sz="2200" dirty="0" smtClean="0">
                <a:latin typeface="Helvetica" pitchFamily="34" charset="0"/>
              </a:rPr>
              <a:t>Thank staff and others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59394" name="Picture 2" descr="C:\Documents and Settings\danielc\Local Settings\Temporary Internet Files\Content.IE5\3DV3UKH9\MC900198613[1].wmf"/>
          <p:cNvPicPr>
            <a:picLocks noChangeAspect="1" noChangeArrowheads="1"/>
          </p:cNvPicPr>
          <p:nvPr/>
        </p:nvPicPr>
        <p:blipFill>
          <a:blip r:embed="rId3" cstate="print"/>
          <a:srcRect/>
          <a:stretch>
            <a:fillRect/>
          </a:stretch>
        </p:blipFill>
        <p:spPr bwMode="auto">
          <a:xfrm>
            <a:off x="6072198" y="2357430"/>
            <a:ext cx="1973655" cy="1733739"/>
          </a:xfrm>
          <a:prstGeom prst="rect">
            <a:avLst/>
          </a:prstGeom>
          <a:noFill/>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Debrief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Keys to debriefings:</a:t>
            </a:r>
          </a:p>
          <a:p>
            <a:pPr marL="360000" indent="-360000">
              <a:spcBef>
                <a:spcPts val="600"/>
              </a:spcBef>
              <a:spcAft>
                <a:spcPts val="1200"/>
              </a:spcAft>
            </a:pPr>
            <a:r>
              <a:rPr lang="en-US" sz="2200" dirty="0" smtClean="0">
                <a:latin typeface="Helvetica" pitchFamily="34" charset="0"/>
              </a:rPr>
              <a:t>Schedule the debriefing sessions</a:t>
            </a:r>
          </a:p>
          <a:p>
            <a:pPr marL="360000" indent="-360000">
              <a:spcBef>
                <a:spcPts val="600"/>
              </a:spcBef>
              <a:spcAft>
                <a:spcPts val="1200"/>
              </a:spcAft>
            </a:pPr>
            <a:r>
              <a:rPr lang="en-US" sz="2200" dirty="0" smtClean="0">
                <a:latin typeface="Helvetica" pitchFamily="34" charset="0"/>
              </a:rPr>
              <a:t>Conduct debriefs shortly after visit has completed</a:t>
            </a:r>
          </a:p>
          <a:p>
            <a:pPr marL="360000" indent="-360000">
              <a:spcBef>
                <a:spcPts val="600"/>
              </a:spcBef>
              <a:spcAft>
                <a:spcPts val="1200"/>
              </a:spcAft>
            </a:pPr>
            <a:r>
              <a:rPr lang="en-US" sz="2200" dirty="0" smtClean="0">
                <a:latin typeface="Helvetica" pitchFamily="34" charset="0"/>
              </a:rPr>
              <a:t>Consider daily sessions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60418" name="Picture 2" descr="C:\Documents and Settings\danielc\Local Settings\Temporary Internet Files\Content.IE5\XGIII3N1\MC900082249[1].wmf"/>
          <p:cNvPicPr>
            <a:picLocks noChangeAspect="1" noChangeArrowheads="1"/>
          </p:cNvPicPr>
          <p:nvPr/>
        </p:nvPicPr>
        <p:blipFill>
          <a:blip r:embed="rId3" cstate="print"/>
          <a:srcRect/>
          <a:stretch>
            <a:fillRect/>
          </a:stretch>
        </p:blipFill>
        <p:spPr bwMode="auto">
          <a:xfrm>
            <a:off x="6215074" y="3286124"/>
            <a:ext cx="1729130" cy="1905610"/>
          </a:xfrm>
          <a:prstGeom prst="rect">
            <a:avLst/>
          </a:prstGeom>
          <a:noFill/>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De-brief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Face to face sessions are best but not always possible</a:t>
            </a:r>
          </a:p>
          <a:p>
            <a:pPr marL="360000" indent="-360000">
              <a:spcBef>
                <a:spcPts val="600"/>
              </a:spcBef>
              <a:spcAft>
                <a:spcPts val="1200"/>
              </a:spcAft>
            </a:pPr>
            <a:r>
              <a:rPr lang="en-US" sz="2200" dirty="0" smtClean="0">
                <a:latin typeface="Helvetica" pitchFamily="34" charset="0"/>
              </a:rPr>
              <a:t>Notify others of time and date/time for debriefing – encourage attendance</a:t>
            </a:r>
          </a:p>
          <a:p>
            <a:pPr marL="360000" indent="-360000">
              <a:spcBef>
                <a:spcPts val="600"/>
              </a:spcBef>
              <a:spcAft>
                <a:spcPts val="1200"/>
              </a:spcAft>
            </a:pPr>
            <a:r>
              <a:rPr lang="en-US" sz="2200" dirty="0" smtClean="0">
                <a:latin typeface="Helvetica" pitchFamily="34" charset="0"/>
              </a:rPr>
              <a:t>Allocate sufficient time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61442" name="Picture 2" descr="C:\Documents and Settings\danielc\Local Settings\Temporary Internet Files\Content.IE5\Y88G682L\MC900231785[1].wmf"/>
          <p:cNvPicPr>
            <a:picLocks noChangeAspect="1" noChangeArrowheads="1"/>
          </p:cNvPicPr>
          <p:nvPr/>
        </p:nvPicPr>
        <p:blipFill>
          <a:blip r:embed="rId3" cstate="print"/>
          <a:srcRect/>
          <a:stretch>
            <a:fillRect/>
          </a:stretch>
        </p:blipFill>
        <p:spPr bwMode="auto">
          <a:xfrm>
            <a:off x="5357818" y="3214686"/>
            <a:ext cx="2891073" cy="1836345"/>
          </a:xfrm>
          <a:prstGeom prst="rect">
            <a:avLst/>
          </a:prstGeom>
          <a:noFill/>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De-brief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Involve all stakeholders</a:t>
            </a:r>
          </a:p>
          <a:p>
            <a:pPr marL="360000" indent="-360000">
              <a:spcBef>
                <a:spcPts val="600"/>
              </a:spcBef>
              <a:spcAft>
                <a:spcPts val="1200"/>
              </a:spcAft>
            </a:pPr>
            <a:r>
              <a:rPr lang="en-US" sz="2200" dirty="0" smtClean="0">
                <a:latin typeface="Helvetica" pitchFamily="34" charset="0"/>
              </a:rPr>
              <a:t>Prepare and circulate an agenda</a:t>
            </a:r>
          </a:p>
          <a:p>
            <a:pPr marL="360000" indent="-360000">
              <a:spcBef>
                <a:spcPts val="600"/>
              </a:spcBef>
              <a:spcAft>
                <a:spcPts val="1200"/>
              </a:spcAft>
            </a:pPr>
            <a:r>
              <a:rPr lang="en-US" sz="2200" dirty="0" smtClean="0">
                <a:latin typeface="Helvetica" pitchFamily="34" charset="0"/>
              </a:rPr>
              <a:t>Record the session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62466" name="Picture 2" descr="C:\Documents and Settings\danielc\Desktop\1156735_meeting.jpg"/>
          <p:cNvPicPr>
            <a:picLocks noChangeAspect="1" noChangeArrowheads="1"/>
          </p:cNvPicPr>
          <p:nvPr/>
        </p:nvPicPr>
        <p:blipFill>
          <a:blip r:embed="rId3" cstate="print"/>
          <a:srcRect/>
          <a:stretch>
            <a:fillRect/>
          </a:stretch>
        </p:blipFill>
        <p:spPr bwMode="auto">
          <a:xfrm>
            <a:off x="5572132" y="1643050"/>
            <a:ext cx="2285996" cy="1638297"/>
          </a:xfrm>
          <a:prstGeom prst="rect">
            <a:avLst/>
          </a:prstGeom>
          <a:noFill/>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De-brief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Facilitate ‘evidence-based’ discussions and analysis</a:t>
            </a:r>
          </a:p>
          <a:p>
            <a:pPr marL="360000" indent="-360000">
              <a:spcBef>
                <a:spcPts val="600"/>
              </a:spcBef>
              <a:spcAft>
                <a:spcPts val="1200"/>
              </a:spcAft>
            </a:pPr>
            <a:r>
              <a:rPr lang="en-US" sz="2200" dirty="0" smtClean="0">
                <a:latin typeface="Helvetica" pitchFamily="34" charset="0"/>
              </a:rPr>
              <a:t>Take charge of the session</a:t>
            </a:r>
          </a:p>
          <a:p>
            <a:pPr marL="360000" indent="-360000">
              <a:spcBef>
                <a:spcPts val="600"/>
              </a:spcBef>
              <a:spcAft>
                <a:spcPts val="1200"/>
              </a:spcAft>
            </a:pPr>
            <a:r>
              <a:rPr lang="en-US" sz="2200" dirty="0" smtClean="0">
                <a:latin typeface="Helvetica" pitchFamily="34" charset="0"/>
              </a:rPr>
              <a:t>Ask lots of questions</a:t>
            </a:r>
          </a:p>
          <a:p>
            <a:pPr marL="360000" indent="-360000">
              <a:spcBef>
                <a:spcPts val="600"/>
              </a:spcBef>
              <a:spcAft>
                <a:spcPts val="1200"/>
              </a:spcAft>
            </a:pPr>
            <a:r>
              <a:rPr lang="en-US" sz="2200" dirty="0" smtClean="0">
                <a:latin typeface="Helvetica" pitchFamily="34" charset="0"/>
              </a:rPr>
              <a:t>Thank contributors and follow-up on contributions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63490" name="Picture 2" descr="C:\Documents and Settings\danielc\Local Settings\Temporary Internet Files\Content.IE5\SIQ5KRQ3\MC900082283[1].wmf"/>
          <p:cNvPicPr>
            <a:picLocks noChangeAspect="1" noChangeArrowheads="1"/>
          </p:cNvPicPr>
          <p:nvPr/>
        </p:nvPicPr>
        <p:blipFill>
          <a:blip r:embed="rId3" cstate="print"/>
          <a:srcRect/>
          <a:stretch>
            <a:fillRect/>
          </a:stretch>
        </p:blipFill>
        <p:spPr bwMode="auto">
          <a:xfrm>
            <a:off x="3571868" y="4214818"/>
            <a:ext cx="1804111" cy="1861718"/>
          </a:xfrm>
          <a:prstGeom prst="rect">
            <a:avLst/>
          </a:prstGeom>
          <a:noFill/>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Analyses responses to breaches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Responses to breaches of safety and security which occurred as part of a VIP visit must be analysed as part of the evaluation process in order to:</a:t>
            </a:r>
          </a:p>
          <a:p>
            <a:pPr marL="360000" indent="-360000">
              <a:spcBef>
                <a:spcPts val="600"/>
              </a:spcBef>
              <a:spcAft>
                <a:spcPts val="1200"/>
              </a:spcAft>
            </a:pPr>
            <a:r>
              <a:rPr lang="en-US" sz="2200" dirty="0" smtClean="0">
                <a:latin typeface="Helvetica" pitchFamily="34" charset="0"/>
              </a:rPr>
              <a:t>Identify causal factors</a:t>
            </a:r>
          </a:p>
          <a:p>
            <a:pPr marL="360000" indent="-360000">
              <a:spcBef>
                <a:spcPts val="600"/>
              </a:spcBef>
              <a:spcAft>
                <a:spcPts val="1200"/>
              </a:spcAft>
            </a:pPr>
            <a:r>
              <a:rPr lang="en-US" sz="2200" dirty="0" smtClean="0">
                <a:latin typeface="Helvetica" pitchFamily="34" charset="0"/>
              </a:rPr>
              <a:t>Assess responses</a:t>
            </a:r>
          </a:p>
          <a:p>
            <a:pPr marL="360000" indent="-360000">
              <a:spcBef>
                <a:spcPts val="600"/>
              </a:spcBef>
              <a:spcAft>
                <a:spcPts val="1200"/>
              </a:spcAft>
            </a:pPr>
            <a:r>
              <a:rPr lang="en-US" sz="2200" dirty="0" smtClean="0">
                <a:latin typeface="Helvetica" pitchFamily="34" charset="0"/>
              </a:rPr>
              <a:t>Evaluate planning</a:t>
            </a:r>
          </a:p>
          <a:p>
            <a:pPr marL="360000" indent="-360000">
              <a:spcBef>
                <a:spcPts val="600"/>
              </a:spcBef>
              <a:spcAft>
                <a:spcPts val="1200"/>
              </a:spcAft>
            </a:pPr>
            <a:r>
              <a:rPr lang="en-US" sz="2200" dirty="0" smtClean="0">
                <a:latin typeface="Helvetica" pitchFamily="34" charset="0"/>
              </a:rPr>
              <a:t>Prevent recurrence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64514" name="Picture 2" descr="C:\Documents and Settings\danielc\Local Settings\Temporary Internet Files\Content.IE5\3DV3UKH9\MC900215486[1].wmf"/>
          <p:cNvPicPr>
            <a:picLocks noChangeAspect="1" noChangeArrowheads="1"/>
          </p:cNvPicPr>
          <p:nvPr/>
        </p:nvPicPr>
        <p:blipFill>
          <a:blip r:embed="rId3" cstate="print"/>
          <a:srcRect/>
          <a:stretch>
            <a:fillRect/>
          </a:stretch>
        </p:blipFill>
        <p:spPr bwMode="auto">
          <a:xfrm>
            <a:off x="5286380" y="2857496"/>
            <a:ext cx="2047592" cy="2319196"/>
          </a:xfrm>
          <a:prstGeom prst="rect">
            <a:avLst/>
          </a:prstGeom>
          <a:noFill/>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Analyses responses to breaches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Improve future responses</a:t>
            </a:r>
          </a:p>
          <a:p>
            <a:pPr marL="360000" indent="-360000">
              <a:spcBef>
                <a:spcPts val="600"/>
              </a:spcBef>
              <a:spcAft>
                <a:spcPts val="1200"/>
              </a:spcAft>
            </a:pPr>
            <a:r>
              <a:rPr lang="en-US" sz="2200" dirty="0" smtClean="0">
                <a:latin typeface="Helvetica" pitchFamily="34" charset="0"/>
              </a:rPr>
              <a:t>Demonstrate ‘due diligence’</a:t>
            </a:r>
          </a:p>
          <a:p>
            <a:pPr marL="360000" indent="-360000">
              <a:spcBef>
                <a:spcPts val="600"/>
              </a:spcBef>
              <a:spcAft>
                <a:spcPts val="1200"/>
              </a:spcAft>
            </a:pPr>
            <a:r>
              <a:rPr lang="en-US" sz="2200" dirty="0" smtClean="0">
                <a:latin typeface="Helvetica" pitchFamily="34" charset="0"/>
              </a:rPr>
              <a:t>Discharge ‘duty of care’</a:t>
            </a:r>
          </a:p>
          <a:p>
            <a:pPr marL="360000" indent="-360000">
              <a:spcBef>
                <a:spcPts val="600"/>
              </a:spcBef>
              <a:spcAft>
                <a:spcPts val="1200"/>
              </a:spcAft>
            </a:pPr>
            <a:r>
              <a:rPr lang="en-US" sz="2200" dirty="0" smtClean="0">
                <a:latin typeface="Helvetica" pitchFamily="34" charset="0"/>
              </a:rPr>
              <a:t>Demonstrate professionalism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65540" name="Picture 4" descr="C:\Documents and Settings\danielc\Local Settings\Temporary Internet Files\Content.IE5\XGIII3N1\MC900437551[1].wmf"/>
          <p:cNvPicPr>
            <a:picLocks noChangeAspect="1" noChangeArrowheads="1"/>
          </p:cNvPicPr>
          <p:nvPr/>
        </p:nvPicPr>
        <p:blipFill>
          <a:blip r:embed="rId3" cstate="print"/>
          <a:srcRect/>
          <a:stretch>
            <a:fillRect/>
          </a:stretch>
        </p:blipFill>
        <p:spPr bwMode="auto">
          <a:xfrm>
            <a:off x="5572132" y="1857364"/>
            <a:ext cx="2340473" cy="1500198"/>
          </a:xfrm>
          <a:prstGeom prst="rect">
            <a:avLst/>
          </a:prstGeom>
          <a:noFill/>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Analyses responses to breaches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Analysis should address:</a:t>
            </a:r>
          </a:p>
          <a:p>
            <a:pPr marL="360000" indent="-360000">
              <a:spcBef>
                <a:spcPts val="600"/>
              </a:spcBef>
              <a:spcAft>
                <a:spcPts val="1200"/>
              </a:spcAft>
            </a:pPr>
            <a:r>
              <a:rPr lang="en-US" sz="2200" dirty="0" smtClean="0">
                <a:latin typeface="Helvetica" pitchFamily="34" charset="0"/>
              </a:rPr>
              <a:t>Planning stage</a:t>
            </a:r>
          </a:p>
          <a:p>
            <a:pPr marL="360000" indent="-360000">
              <a:spcBef>
                <a:spcPts val="600"/>
              </a:spcBef>
              <a:spcAft>
                <a:spcPts val="1200"/>
              </a:spcAft>
            </a:pPr>
            <a:r>
              <a:rPr lang="en-US" sz="2200" dirty="0" smtClean="0">
                <a:latin typeface="Helvetica" pitchFamily="34" charset="0"/>
              </a:rPr>
              <a:t>Implementation phase – context of breach</a:t>
            </a:r>
          </a:p>
          <a:p>
            <a:pPr marL="360000" indent="-360000">
              <a:spcBef>
                <a:spcPts val="600"/>
              </a:spcBef>
              <a:spcAft>
                <a:spcPts val="1200"/>
              </a:spcAft>
            </a:pPr>
            <a:r>
              <a:rPr lang="en-US" sz="2200" dirty="0" smtClean="0">
                <a:latin typeface="Helvetica" pitchFamily="34" charset="0"/>
              </a:rPr>
              <a:t>Actual response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66562" name="Picture 2" descr="C:\Documents and Settings\danielc\Desktop\1186822_puzzle_time_4.jpg"/>
          <p:cNvPicPr>
            <a:picLocks noChangeAspect="1" noChangeArrowheads="1"/>
          </p:cNvPicPr>
          <p:nvPr/>
        </p:nvPicPr>
        <p:blipFill>
          <a:blip r:embed="rId3" cstate="print">
            <a:lum contrast="20000"/>
          </a:blip>
          <a:srcRect/>
          <a:stretch>
            <a:fillRect/>
          </a:stretch>
        </p:blipFill>
        <p:spPr bwMode="auto">
          <a:xfrm>
            <a:off x="5929322" y="3357562"/>
            <a:ext cx="2295524" cy="1645126"/>
          </a:xfrm>
          <a:prstGeom prst="rect">
            <a:avLst/>
          </a:prstGeom>
          <a:noFill/>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Analyses responses to breaches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General context for analysing breaches:</a:t>
            </a:r>
          </a:p>
          <a:p>
            <a:pPr marL="360000" indent="-360000">
              <a:spcBef>
                <a:spcPts val="600"/>
              </a:spcBef>
              <a:spcAft>
                <a:spcPts val="1200"/>
              </a:spcAft>
            </a:pPr>
            <a:r>
              <a:rPr lang="en-US" sz="2200" dirty="0" smtClean="0">
                <a:latin typeface="Helvetica" pitchFamily="34" charset="0"/>
              </a:rPr>
              <a:t>Use a combination of approaches – seek 360˚ analysis</a:t>
            </a:r>
          </a:p>
          <a:p>
            <a:pPr marL="360000" indent="-360000">
              <a:spcBef>
                <a:spcPts val="600"/>
              </a:spcBef>
              <a:spcAft>
                <a:spcPts val="1200"/>
              </a:spcAft>
            </a:pPr>
            <a:r>
              <a:rPr lang="en-US" sz="2200" dirty="0" smtClean="0">
                <a:latin typeface="Helvetica" pitchFamily="34" charset="0"/>
              </a:rPr>
              <a:t>Use a ‘no blame’ policy</a:t>
            </a:r>
          </a:p>
          <a:p>
            <a:pPr marL="360000" indent="-360000">
              <a:spcBef>
                <a:spcPts val="600"/>
              </a:spcBef>
              <a:spcAft>
                <a:spcPts val="1200"/>
              </a:spcAft>
            </a:pPr>
            <a:r>
              <a:rPr lang="en-US" sz="2200" dirty="0" smtClean="0">
                <a:latin typeface="Helvetica" pitchFamily="34" charset="0"/>
              </a:rPr>
              <a:t>Ensure the extent of the analysis reflects the nature and severity (consequence and/or potential) of the breach</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67586" name="Picture 2" descr="C:\Documents and Settings\danielc\Local Settings\Temporary Internet Files\Content.IE5\112MAXTI\MC900196344[1].wmf"/>
          <p:cNvPicPr>
            <a:picLocks noChangeAspect="1" noChangeArrowheads="1"/>
          </p:cNvPicPr>
          <p:nvPr/>
        </p:nvPicPr>
        <p:blipFill>
          <a:blip r:embed="rId3" cstate="print"/>
          <a:srcRect/>
          <a:stretch>
            <a:fillRect/>
          </a:stretch>
        </p:blipFill>
        <p:spPr bwMode="auto">
          <a:xfrm>
            <a:off x="3571868" y="4357694"/>
            <a:ext cx="1763878" cy="1836115"/>
          </a:xfrm>
          <a:prstGeom prst="rect">
            <a:avLst/>
          </a:prstGeom>
          <a:noFill/>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Analyses responses to breaches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Standard analysis techniques include:</a:t>
            </a:r>
          </a:p>
          <a:p>
            <a:pPr marL="360000" indent="-360000">
              <a:spcBef>
                <a:spcPts val="600"/>
              </a:spcBef>
              <a:spcAft>
                <a:spcPts val="1200"/>
              </a:spcAft>
            </a:pPr>
            <a:r>
              <a:rPr lang="en-US" sz="2200" dirty="0" smtClean="0">
                <a:latin typeface="Helvetica" pitchFamily="34" charset="0"/>
              </a:rPr>
              <a:t>Watching videotape</a:t>
            </a:r>
          </a:p>
          <a:p>
            <a:pPr marL="360000" indent="-360000">
              <a:spcBef>
                <a:spcPts val="600"/>
              </a:spcBef>
              <a:spcAft>
                <a:spcPts val="1200"/>
              </a:spcAft>
            </a:pPr>
            <a:r>
              <a:rPr lang="en-US" sz="2200" dirty="0" smtClean="0">
                <a:latin typeface="Helvetica" pitchFamily="34" charset="0"/>
              </a:rPr>
              <a:t>Interviewing staff</a:t>
            </a:r>
          </a:p>
          <a:p>
            <a:pPr marL="360000" indent="-360000">
              <a:spcBef>
                <a:spcPts val="600"/>
              </a:spcBef>
              <a:spcAft>
                <a:spcPts val="1200"/>
              </a:spcAft>
            </a:pPr>
            <a:r>
              <a:rPr lang="en-US" sz="2200" dirty="0" smtClean="0">
                <a:latin typeface="Helvetica" pitchFamily="34" charset="0"/>
              </a:rPr>
              <a:t>Speaking to those who were impacted</a:t>
            </a:r>
          </a:p>
          <a:p>
            <a:pPr marL="360000" indent="-360000">
              <a:spcBef>
                <a:spcPts val="600"/>
              </a:spcBef>
              <a:spcAft>
                <a:spcPts val="1200"/>
              </a:spcAft>
            </a:pPr>
            <a:r>
              <a:rPr lang="en-US" sz="2200" dirty="0" smtClean="0">
                <a:latin typeface="Helvetica" pitchFamily="34" charset="0"/>
              </a:rPr>
              <a:t>Interviewing offenders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5" name="Picture 4" descr="C:\Documents and Settings\danielc\Local Settings\Temporary Internet Files\Content.IE5\3DV3UKH9\MP900431239[1].jpg"/>
          <p:cNvPicPr/>
          <p:nvPr/>
        </p:nvPicPr>
        <p:blipFill>
          <a:blip r:embed="rId3" cstate="print"/>
          <a:srcRect/>
          <a:stretch>
            <a:fillRect/>
          </a:stretch>
        </p:blipFill>
        <p:spPr bwMode="auto">
          <a:xfrm>
            <a:off x="6643702" y="2428868"/>
            <a:ext cx="1358195" cy="1354667"/>
          </a:xfrm>
          <a:prstGeom prst="rect">
            <a:avLst/>
          </a:prstGeom>
          <a:noFill/>
          <a:ln w="9525">
            <a:noFill/>
            <a:miter lim="800000"/>
            <a:headEnd/>
            <a:tailEnd/>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Analyses responses to breaches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Visiting and investigating ‘the scene’</a:t>
            </a:r>
          </a:p>
          <a:p>
            <a:pPr marL="360000" indent="-360000">
              <a:spcBef>
                <a:spcPts val="600"/>
              </a:spcBef>
              <a:spcAft>
                <a:spcPts val="1200"/>
              </a:spcAft>
            </a:pPr>
            <a:r>
              <a:rPr lang="en-US" sz="2200" dirty="0" smtClean="0">
                <a:latin typeface="Helvetica" pitchFamily="34" charset="0"/>
              </a:rPr>
              <a:t>Using input from external stakeholders</a:t>
            </a:r>
          </a:p>
          <a:p>
            <a:pPr marL="360000" indent="-360000">
              <a:spcBef>
                <a:spcPts val="600"/>
              </a:spcBef>
              <a:spcAft>
                <a:spcPts val="1200"/>
              </a:spcAft>
            </a:pPr>
            <a:r>
              <a:rPr lang="en-US" sz="2200" dirty="0" smtClean="0">
                <a:latin typeface="Helvetica" pitchFamily="34" charset="0"/>
              </a:rPr>
              <a:t>Seeking answers to standard questions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 name="Picture 4" descr="C:\Documents and Settings\danielc\Desktop\36319_team_meeting.jpg"/>
          <p:cNvPicPr/>
          <p:nvPr/>
        </p:nvPicPr>
        <p:blipFill>
          <a:blip r:embed="rId3" cstate="print"/>
          <a:srcRect/>
          <a:stretch>
            <a:fillRect/>
          </a:stretch>
        </p:blipFill>
        <p:spPr bwMode="auto">
          <a:xfrm>
            <a:off x="6357950" y="1643050"/>
            <a:ext cx="1775883" cy="1309511"/>
          </a:xfrm>
          <a:prstGeom prst="rect">
            <a:avLst/>
          </a:prstGeom>
          <a:noFill/>
          <a:ln w="9525">
            <a:noFill/>
            <a:miter lim="800000"/>
            <a:headEnd/>
            <a:tailEnd/>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draft plans on basis of feedback and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Activities in documenting ‘lessons learned’ from evaluating VIP visits:</a:t>
            </a:r>
          </a:p>
          <a:p>
            <a:pPr marL="360000" indent="-360000">
              <a:spcBef>
                <a:spcPts val="600"/>
              </a:spcBef>
              <a:spcAft>
                <a:spcPts val="1200"/>
              </a:spcAft>
            </a:pPr>
            <a:r>
              <a:rPr lang="en-US" sz="2200" dirty="0" smtClean="0">
                <a:latin typeface="Helvetica" pitchFamily="34" charset="0"/>
              </a:rPr>
              <a:t>Capturing information in written form</a:t>
            </a:r>
          </a:p>
          <a:p>
            <a:pPr marL="360000" indent="-360000">
              <a:spcBef>
                <a:spcPts val="600"/>
              </a:spcBef>
              <a:spcAft>
                <a:spcPts val="1200"/>
              </a:spcAft>
            </a:pPr>
            <a:r>
              <a:rPr lang="en-US" sz="2200" dirty="0" smtClean="0">
                <a:latin typeface="Helvetica" pitchFamily="34" charset="0"/>
              </a:rPr>
              <a:t>Including relevant support material or documentation</a:t>
            </a:r>
          </a:p>
          <a:p>
            <a:pPr marL="360000" indent="-360000">
              <a:spcBef>
                <a:spcPts val="600"/>
              </a:spcBef>
              <a:spcAft>
                <a:spcPts val="1200"/>
              </a:spcAft>
            </a:pPr>
            <a:r>
              <a:rPr lang="en-US" sz="2200" dirty="0" smtClean="0">
                <a:latin typeface="Helvetica" pitchFamily="34" charset="0"/>
              </a:rPr>
              <a:t>Recording basic data for the visit</a:t>
            </a:r>
          </a:p>
          <a:p>
            <a:pPr marL="360000" indent="-360000">
              <a:spcBef>
                <a:spcPts val="600"/>
              </a:spcBef>
              <a:spcAft>
                <a:spcPts val="1200"/>
              </a:spcAft>
            </a:pPr>
            <a:r>
              <a:rPr lang="en-US" sz="2200" dirty="0" smtClean="0">
                <a:latin typeface="Helvetica" pitchFamily="34" charset="0"/>
              </a:rPr>
              <a:t>Communicating lessons learned</a:t>
            </a:r>
          </a:p>
          <a:p>
            <a:pPr marL="360000" indent="-360000">
              <a:spcBef>
                <a:spcPts val="600"/>
              </a:spcBef>
              <a:spcAft>
                <a:spcPts val="1200"/>
              </a:spcAft>
            </a:pPr>
            <a:r>
              <a:rPr lang="en-US" sz="2200" dirty="0" smtClean="0">
                <a:latin typeface="Helvetica" pitchFamily="34" charset="0"/>
              </a:rPr>
              <a:t>Filing materials for future reference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6" name="Picture 5" descr="C:\Documents and Settings\danielc\Desktop\741867_palmtop_series_3.jpg"/>
          <p:cNvPicPr/>
          <p:nvPr/>
        </p:nvPicPr>
        <p:blipFill>
          <a:blip r:embed="rId3" cstate="print"/>
          <a:srcRect/>
          <a:stretch>
            <a:fillRect/>
          </a:stretch>
        </p:blipFill>
        <p:spPr bwMode="auto">
          <a:xfrm>
            <a:off x="6143636" y="3571876"/>
            <a:ext cx="2193572" cy="1456267"/>
          </a:xfrm>
          <a:prstGeom prst="rect">
            <a:avLst/>
          </a:prstGeom>
          <a:noFill/>
          <a:ln w="9525">
            <a:noFill/>
            <a:miter lim="800000"/>
            <a:headEnd/>
            <a:tailEnd/>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draft plans on basis of feedback and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incorporate lessons learned into future plans and activities:</a:t>
            </a:r>
          </a:p>
          <a:p>
            <a:pPr marL="360000" indent="-360000">
              <a:spcBef>
                <a:spcPts val="600"/>
              </a:spcBef>
              <a:spcAft>
                <a:spcPts val="1200"/>
              </a:spcAft>
            </a:pPr>
            <a:r>
              <a:rPr lang="en-US" sz="2200" dirty="0" smtClean="0">
                <a:latin typeface="Helvetica" pitchFamily="34" charset="0"/>
              </a:rPr>
              <a:t>Circulate information</a:t>
            </a:r>
          </a:p>
          <a:p>
            <a:pPr marL="360000" indent="-360000">
              <a:spcBef>
                <a:spcPts val="600"/>
              </a:spcBef>
              <a:spcAft>
                <a:spcPts val="1200"/>
              </a:spcAft>
            </a:pPr>
            <a:r>
              <a:rPr lang="en-US" sz="2200" dirty="0" smtClean="0">
                <a:latin typeface="Helvetica" pitchFamily="34" charset="0"/>
              </a:rPr>
              <a:t>Integrate lessons into in-house training</a:t>
            </a:r>
          </a:p>
          <a:p>
            <a:pPr marL="360000" indent="-360000">
              <a:spcBef>
                <a:spcPts val="600"/>
              </a:spcBef>
              <a:spcAft>
                <a:spcPts val="1200"/>
              </a:spcAft>
            </a:pPr>
            <a:r>
              <a:rPr lang="en-US" sz="2200" dirty="0" smtClean="0">
                <a:latin typeface="Helvetica" pitchFamily="34" charset="0"/>
              </a:rPr>
              <a:t>Revise policies and procedures</a:t>
            </a:r>
          </a:p>
          <a:p>
            <a:pPr marL="360000" indent="-360000">
              <a:spcBef>
                <a:spcPts val="600"/>
              </a:spcBef>
              <a:spcAft>
                <a:spcPts val="1200"/>
              </a:spcAft>
            </a:pPr>
            <a:r>
              <a:rPr lang="en-US" sz="2200" dirty="0" smtClean="0">
                <a:latin typeface="Helvetica" pitchFamily="34" charset="0"/>
              </a:rPr>
              <a:t>Hold special staff-management meetings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5" name="Picture 4" descr="C:\Documents and Settings\danielc\Local Settings\Temporary Internet Files\Content.IE5\V9A2RTT8\MC900071416[1].wmf"/>
          <p:cNvPicPr/>
          <p:nvPr/>
        </p:nvPicPr>
        <p:blipFill>
          <a:blip r:embed="rId3" cstate="print"/>
          <a:srcRect/>
          <a:stretch>
            <a:fillRect/>
          </a:stretch>
        </p:blipFill>
        <p:spPr bwMode="auto">
          <a:xfrm>
            <a:off x="6143636" y="2428868"/>
            <a:ext cx="2276659" cy="1428760"/>
          </a:xfrm>
          <a:prstGeom prst="rect">
            <a:avLst/>
          </a:prstGeom>
          <a:noFill/>
          <a:ln w="9525">
            <a:noFill/>
            <a:miter lim="800000"/>
            <a:headEnd/>
            <a:tailEnd/>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draft plans on basis of feedback and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Make it mandatory for managers to review previous VIP visits prior to subsequent VIP visits</a:t>
            </a:r>
          </a:p>
          <a:p>
            <a:pPr marL="360000" indent="-360000">
              <a:spcBef>
                <a:spcPts val="600"/>
              </a:spcBef>
              <a:spcAft>
                <a:spcPts val="1200"/>
              </a:spcAft>
            </a:pPr>
            <a:r>
              <a:rPr lang="en-US" sz="2200" dirty="0" smtClean="0">
                <a:latin typeface="Helvetica" pitchFamily="34" charset="0"/>
              </a:rPr>
              <a:t>Amend existing safety plans. Use them as the basis for updates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69634" name="Picture 2" descr="C:\Documents and Settings\danielc\Local Settings\Temporary Internet Files\Content.IE5\Y88G682L\MC900240397[1].wmf"/>
          <p:cNvPicPr>
            <a:picLocks noChangeAspect="1" noChangeArrowheads="1"/>
          </p:cNvPicPr>
          <p:nvPr/>
        </p:nvPicPr>
        <p:blipFill>
          <a:blip r:embed="rId3" cstate="print"/>
          <a:srcRect/>
          <a:stretch>
            <a:fillRect/>
          </a:stretch>
        </p:blipFill>
        <p:spPr bwMode="auto">
          <a:xfrm>
            <a:off x="3571868" y="3571876"/>
            <a:ext cx="1761134" cy="1446581"/>
          </a:xfrm>
          <a:prstGeom prst="rect">
            <a:avLst/>
          </a:prstGeom>
          <a:noFill/>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draft plans on basis of feedback and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share information after evaluation:</a:t>
            </a:r>
          </a:p>
          <a:p>
            <a:pPr marL="360000" indent="-360000">
              <a:spcBef>
                <a:spcPts val="600"/>
              </a:spcBef>
              <a:spcAft>
                <a:spcPts val="1200"/>
              </a:spcAft>
            </a:pPr>
            <a:r>
              <a:rPr lang="en-US" sz="2200" dirty="0" smtClean="0">
                <a:latin typeface="Helvetica" pitchFamily="34" charset="0"/>
              </a:rPr>
              <a:t>Make verbal report</a:t>
            </a:r>
          </a:p>
          <a:p>
            <a:pPr marL="360000" indent="-360000">
              <a:spcBef>
                <a:spcPts val="600"/>
              </a:spcBef>
              <a:spcAft>
                <a:spcPts val="1200"/>
              </a:spcAft>
            </a:pPr>
            <a:r>
              <a:rPr lang="en-US" sz="2200" dirty="0" smtClean="0">
                <a:latin typeface="Helvetica" pitchFamily="34" charset="0"/>
              </a:rPr>
              <a:t>Do formal presentation</a:t>
            </a:r>
          </a:p>
          <a:p>
            <a:pPr marL="360000" indent="-360000">
              <a:spcBef>
                <a:spcPts val="600"/>
              </a:spcBef>
              <a:spcAft>
                <a:spcPts val="1200"/>
              </a:spcAft>
            </a:pPr>
            <a:r>
              <a:rPr lang="en-US" sz="2200" dirty="0" smtClean="0">
                <a:latin typeface="Helvetica" pitchFamily="34" charset="0"/>
              </a:rPr>
              <a:t>Distribute updated safety plans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68610" name="Picture 2" descr="C:\Documents and Settings\danielc\Local Settings\Temporary Internet Files\Content.IE5\V9A2RTT8\MP900427762[1].jpg"/>
          <p:cNvPicPr>
            <a:picLocks noChangeAspect="1" noChangeArrowheads="1"/>
          </p:cNvPicPr>
          <p:nvPr/>
        </p:nvPicPr>
        <p:blipFill>
          <a:blip r:embed="rId3" cstate="print"/>
          <a:srcRect/>
          <a:stretch>
            <a:fillRect/>
          </a:stretch>
        </p:blipFill>
        <p:spPr bwMode="auto">
          <a:xfrm>
            <a:off x="5857884" y="2285992"/>
            <a:ext cx="2234859" cy="1639478"/>
          </a:xfrm>
          <a:prstGeom prst="rect">
            <a:avLst/>
          </a:prstGeom>
          <a:noFill/>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draft plans on basis of feedback and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Circulate formal report</a:t>
            </a:r>
          </a:p>
          <a:p>
            <a:pPr marL="360000" indent="-360000">
              <a:spcBef>
                <a:spcPts val="600"/>
              </a:spcBef>
              <a:spcAft>
                <a:spcPts val="1200"/>
              </a:spcAft>
            </a:pPr>
            <a:r>
              <a:rPr lang="en-US" sz="2200" dirty="0" smtClean="0">
                <a:latin typeface="Helvetica" pitchFamily="34" charset="0"/>
              </a:rPr>
              <a:t>Meet with internal stakeholders and discuss findings</a:t>
            </a:r>
          </a:p>
          <a:p>
            <a:pPr marL="360000" indent="-360000">
              <a:spcBef>
                <a:spcPts val="600"/>
              </a:spcBef>
              <a:spcAft>
                <a:spcPts val="1200"/>
              </a:spcAft>
            </a:pPr>
            <a:r>
              <a:rPr lang="en-US" sz="2200" dirty="0" smtClean="0">
                <a:latin typeface="Helvetica" pitchFamily="34" charset="0"/>
              </a:rPr>
              <a:t>Share findings with external 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5" name="Picture 4" descr="C:\Documents and Settings\danielc\Local Settings\Temporary Internet Files\Content.IE5\3Y3SDCJX\MC900071393[1].wmf"/>
          <p:cNvPicPr/>
          <p:nvPr/>
        </p:nvPicPr>
        <p:blipFill>
          <a:blip r:embed="rId3" cstate="print"/>
          <a:srcRect/>
          <a:stretch>
            <a:fillRect/>
          </a:stretch>
        </p:blipFill>
        <p:spPr bwMode="auto">
          <a:xfrm>
            <a:off x="6357950" y="2714620"/>
            <a:ext cx="1967794" cy="1512712"/>
          </a:xfrm>
          <a:prstGeom prst="rect">
            <a:avLst/>
          </a:prstGeom>
          <a:noFill/>
          <a:ln w="9525">
            <a:noFill/>
            <a:miter lim="800000"/>
            <a:headEnd/>
            <a:tailEnd/>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29728"/>
          </a:xfrm>
        </p:spPr>
        <p:txBody>
          <a:bodyPr>
            <a:normAutofit fontScale="92500"/>
          </a:bodyPr>
          <a:lstStyle/>
          <a:p>
            <a:pPr marL="0" indent="0">
              <a:spcBef>
                <a:spcPts val="600"/>
              </a:spcBef>
              <a:spcAft>
                <a:spcPts val="1200"/>
              </a:spcAft>
              <a:buNone/>
            </a:pPr>
            <a:r>
              <a:rPr lang="en-US" sz="2200" dirty="0" smtClean="0">
                <a:latin typeface="Helvetica" pitchFamily="34" charset="0"/>
              </a:rPr>
              <a:t>When conducting evaluation of plans following departure of VIP:</a:t>
            </a:r>
          </a:p>
          <a:p>
            <a:pPr marL="360000" indent="-360000">
              <a:spcBef>
                <a:spcPts val="600"/>
              </a:spcBef>
              <a:spcAft>
                <a:spcPts val="1200"/>
              </a:spcAft>
            </a:pPr>
            <a:r>
              <a:rPr lang="en-AU" sz="2200" dirty="0" smtClean="0">
                <a:latin typeface="Helvetica" pitchFamily="34" charset="0"/>
              </a:rPr>
              <a:t>Schedule the evaluation</a:t>
            </a:r>
          </a:p>
          <a:p>
            <a:pPr marL="360000" indent="-360000">
              <a:spcBef>
                <a:spcPts val="600"/>
              </a:spcBef>
              <a:spcAft>
                <a:spcPts val="1200"/>
              </a:spcAft>
            </a:pPr>
            <a:r>
              <a:rPr lang="en-AU" sz="2200" dirty="0" smtClean="0">
                <a:latin typeface="Helvetica" pitchFamily="34" charset="0"/>
              </a:rPr>
              <a:t>Notify relevant stakeholders in advance of time, date and location/venue for the evaluation</a:t>
            </a:r>
          </a:p>
          <a:p>
            <a:pPr marL="360000" indent="-360000">
              <a:spcBef>
                <a:spcPts val="600"/>
              </a:spcBef>
              <a:spcAft>
                <a:spcPts val="1200"/>
              </a:spcAft>
            </a:pPr>
            <a:r>
              <a:rPr lang="en-AU" sz="2200" dirty="0" smtClean="0">
                <a:latin typeface="Helvetica" pitchFamily="34" charset="0"/>
              </a:rPr>
              <a:t>Try to achieve face to face debriefing sessions</a:t>
            </a:r>
          </a:p>
          <a:p>
            <a:pPr>
              <a:spcBef>
                <a:spcPts val="600"/>
              </a:spcBef>
              <a:spcAft>
                <a:spcPts val="600"/>
              </a:spcAft>
            </a:pPr>
            <a:r>
              <a:rPr lang="en-AU" sz="2200" dirty="0" smtClean="0"/>
              <a:t>Support face to face evaluations and de-briefings with alternative options for stakeholders to make input</a:t>
            </a:r>
          </a:p>
          <a:p>
            <a:pPr>
              <a:spcBef>
                <a:spcPts val="600"/>
              </a:spcBef>
              <a:spcAft>
                <a:spcPts val="600"/>
              </a:spcAft>
            </a:pPr>
            <a:r>
              <a:rPr lang="en-AU" sz="2200" dirty="0" smtClean="0"/>
              <a:t>Explain reasons for the evaluation process</a:t>
            </a:r>
          </a:p>
          <a:p>
            <a:pPr>
              <a:spcBef>
                <a:spcPts val="600"/>
              </a:spcBef>
              <a:spcAft>
                <a:spcPts val="600"/>
              </a:spcAft>
            </a:pPr>
            <a:r>
              <a:rPr lang="en-AU" sz="2200" dirty="0" smtClean="0"/>
              <a:t>Use established safety plans as the basis for evaluation</a:t>
            </a:r>
          </a:p>
          <a:p>
            <a:pPr marL="360000" indent="-360000">
              <a:spcBef>
                <a:spcPts val="600"/>
              </a:spcBef>
              <a:spcAft>
                <a:spcPts val="600"/>
              </a:spcAft>
              <a:buNone/>
            </a:pPr>
            <a:r>
              <a:rPr lang="en-US" sz="2200" dirty="0" smtClean="0"/>
              <a:t>(Continued)</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5" name="Picture 2" descr="C:\Documents and Settings\danielc\Local Settings\Temporary Internet Files\Content.IE5\Y88G682L\MC900442036[1].wmf"/>
          <p:cNvPicPr>
            <a:picLocks noChangeAspect="1" noChangeArrowheads="1"/>
          </p:cNvPicPr>
          <p:nvPr/>
        </p:nvPicPr>
        <p:blipFill>
          <a:blip r:embed="rId3" cstate="print"/>
          <a:srcRect/>
          <a:stretch>
            <a:fillRect/>
          </a:stretch>
        </p:blipFill>
        <p:spPr bwMode="auto">
          <a:xfrm>
            <a:off x="7429520" y="3357562"/>
            <a:ext cx="1496484" cy="1481135"/>
          </a:xfrm>
          <a:prstGeom prst="rect">
            <a:avLst/>
          </a:prstGeom>
          <a:noFill/>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600"/>
              </a:spcAft>
            </a:pPr>
            <a:r>
              <a:rPr lang="en-AU" sz="2200" dirty="0" smtClean="0">
                <a:latin typeface="Helvetica" pitchFamily="34" charset="0"/>
              </a:rPr>
              <a:t>Involve internal and external stakeholders</a:t>
            </a:r>
          </a:p>
          <a:p>
            <a:pPr>
              <a:spcBef>
                <a:spcPts val="600"/>
              </a:spcBef>
              <a:spcAft>
                <a:spcPts val="600"/>
              </a:spcAft>
            </a:pPr>
            <a:r>
              <a:rPr lang="en-AU" sz="2200" dirty="0" smtClean="0">
                <a:latin typeface="Helvetica" pitchFamily="34" charset="0"/>
              </a:rPr>
              <a:t>Ensure reviews and analysis is evidence-based</a:t>
            </a:r>
          </a:p>
          <a:p>
            <a:pPr>
              <a:spcBef>
                <a:spcPts val="600"/>
              </a:spcBef>
              <a:spcAft>
                <a:spcPts val="600"/>
              </a:spcAft>
            </a:pPr>
            <a:r>
              <a:rPr lang="en-AU" sz="2200" dirty="0" smtClean="0">
                <a:latin typeface="Helvetica" pitchFamily="34" charset="0"/>
              </a:rPr>
              <a:t>Analyse responses to security and safety breaches</a:t>
            </a:r>
          </a:p>
          <a:p>
            <a:pPr>
              <a:spcBef>
                <a:spcPts val="600"/>
              </a:spcBef>
              <a:spcAft>
                <a:spcPts val="600"/>
              </a:spcAft>
            </a:pPr>
            <a:r>
              <a:rPr lang="en-AU" sz="2200" dirty="0" smtClean="0">
                <a:latin typeface="Helvetica" pitchFamily="34" charset="0"/>
              </a:rPr>
              <a:t>Strive to identify ‘lessons learned’ from the visit</a:t>
            </a:r>
          </a:p>
          <a:p>
            <a:pPr>
              <a:spcBef>
                <a:spcPts val="600"/>
              </a:spcBef>
              <a:spcAft>
                <a:spcPts val="600"/>
              </a:spcAft>
            </a:pPr>
            <a:r>
              <a:rPr lang="en-AU" sz="2200" dirty="0" smtClean="0"/>
              <a:t>Incorporate lesions learned into draft safety plans for future VIP visits</a:t>
            </a:r>
          </a:p>
          <a:p>
            <a:pPr>
              <a:spcBef>
                <a:spcPts val="600"/>
              </a:spcBef>
              <a:spcAft>
                <a:spcPts val="600"/>
              </a:spcAft>
            </a:pPr>
            <a:r>
              <a:rPr lang="en-AU" sz="2200" dirty="0" smtClean="0"/>
              <a:t>Communicate findings of the evaluation</a:t>
            </a:r>
          </a:p>
          <a:p>
            <a:pPr>
              <a:spcBef>
                <a:spcPts val="600"/>
              </a:spcBef>
              <a:spcAft>
                <a:spcPts val="600"/>
              </a:spcAft>
            </a:pPr>
            <a:r>
              <a:rPr lang="en-AU" sz="2200" dirty="0" smtClean="0"/>
              <a:t>Circulate revised and new safety plans</a:t>
            </a:r>
          </a:p>
          <a:p>
            <a:pPr>
              <a:spcBef>
                <a:spcPts val="600"/>
              </a:spcBef>
              <a:spcAft>
                <a:spcPts val="600"/>
              </a:spcAft>
            </a:pPr>
            <a:r>
              <a:rPr lang="en-AU" sz="2200" dirty="0" smtClean="0"/>
              <a:t>Integrate lessons learned into standard venue protocols</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5" name="Picture 2" descr="C:\Documents and Settings\danielc\Local Settings\Temporary Internet Files\Content.IE5\Y88G682L\MC900442036[1].wmf"/>
          <p:cNvPicPr>
            <a:picLocks noChangeAspect="1" noChangeArrowheads="1"/>
          </p:cNvPicPr>
          <p:nvPr/>
        </p:nvPicPr>
        <p:blipFill>
          <a:blip r:embed="rId3" cstate="print"/>
          <a:srcRect/>
          <a:stretch>
            <a:fillRect/>
          </a:stretch>
        </p:blipFill>
        <p:spPr bwMode="auto">
          <a:xfrm>
            <a:off x="7429520" y="3786190"/>
            <a:ext cx="1496484" cy="1481135"/>
          </a:xfrm>
          <a:prstGeom prst="rect">
            <a:avLst/>
          </a:prstGeom>
          <a:noFill/>
        </p:spPr>
      </p:pic>
    </p:spTree>
  </p:cSld>
  <p:clrMapOvr>
    <a:masterClrMapping/>
  </p:clrMapOvr>
</p:sld>
</file>

<file path=ppt/theme/theme1.xml><?xml version="1.0" encoding="utf-8"?>
<a:theme xmlns:a="http://schemas.openxmlformats.org/drawingml/2006/main" name="PPT_FO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PPT_FO_template_250612</Template>
  <TotalTime>2858</TotalTime>
  <Words>23413</Words>
  <Application>Microsoft Office PowerPoint</Application>
  <PresentationFormat>On-screen Show (4:3)</PresentationFormat>
  <Paragraphs>2895</Paragraphs>
  <Slides>150</Slides>
  <Notes>150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150</vt:i4>
      </vt:variant>
    </vt:vector>
  </HeadingPairs>
  <TitlesOfParts>
    <vt:vector size="155" baseType="lpstr">
      <vt:lpstr>Arial</vt:lpstr>
      <vt:lpstr>Helvetica</vt:lpstr>
      <vt:lpstr>Wingdings</vt:lpstr>
      <vt:lpstr>Wingdings 2</vt:lpstr>
      <vt:lpstr>PPT_FO_template_250612</vt:lpstr>
      <vt:lpstr>PROVIDE FOR THE SAFETY  OF VIPs</vt:lpstr>
      <vt:lpstr>Provide for the safety of VIPs</vt:lpstr>
      <vt:lpstr>Assessment</vt:lpstr>
      <vt:lpstr>Prepare for visits by VIPs</vt:lpstr>
      <vt:lpstr>Prepare for visits by VIPs</vt:lpstr>
      <vt:lpstr>Identify nature of visit</vt:lpstr>
      <vt:lpstr>Identify nature of visit</vt:lpstr>
      <vt:lpstr>Identify nature of visit</vt:lpstr>
      <vt:lpstr>Identify nature of visit</vt:lpstr>
      <vt:lpstr>Identify nature of visit</vt:lpstr>
      <vt:lpstr>Identify nature of visit</vt:lpstr>
      <vt:lpstr>Identify nature of visit</vt:lpstr>
      <vt:lpstr>Identify nature of visit</vt:lpstr>
      <vt:lpstr>Identify nature of visit</vt:lpstr>
      <vt:lpstr>Identify nature of visit</vt:lpstr>
      <vt:lpstr>Identify nature of visit</vt:lpstr>
      <vt:lpstr>Liaise with others</vt:lpstr>
      <vt:lpstr>Liaise with others</vt:lpstr>
      <vt:lpstr>Liaise with others</vt:lpstr>
      <vt:lpstr>Liaise with others</vt:lpstr>
      <vt:lpstr>Liaise with others</vt:lpstr>
      <vt:lpstr>Liaise with others</vt:lpstr>
      <vt:lpstr>Liaise with others</vt:lpstr>
      <vt:lpstr>Liaise with others</vt:lpstr>
      <vt:lpstr>Liaise with others</vt:lpstr>
      <vt:lpstr>Liaise with others</vt:lpstr>
      <vt:lpstr>Liaise with others</vt:lpstr>
      <vt:lpstr>Identify factors impacting VIP safety</vt:lpstr>
      <vt:lpstr>Identify factors impacting VIP safety</vt:lpstr>
      <vt:lpstr>Identify factors impacting VIP safety</vt:lpstr>
      <vt:lpstr>Identify factors impacting VIP safety</vt:lpstr>
      <vt:lpstr>Identify factors impacting VIP safety</vt:lpstr>
      <vt:lpstr>Identify factors impacting VIP safety</vt:lpstr>
      <vt:lpstr>Identify factors impacting VIP safety</vt:lpstr>
      <vt:lpstr>Identify factors impacting VIP safety</vt:lpstr>
      <vt:lpstr>Identify factors impacting VIP safety</vt:lpstr>
      <vt:lpstr>Identify factors impacting VIP safety</vt:lpstr>
      <vt:lpstr>Identify factors impacting VIP safety</vt:lpstr>
      <vt:lpstr>Identify factors impacting VIP safety</vt:lpstr>
      <vt:lpstr>Create safety plans</vt:lpstr>
      <vt:lpstr>Create safety plans</vt:lpstr>
      <vt:lpstr>Create safety plans</vt:lpstr>
      <vt:lpstr>Create safety plans</vt:lpstr>
      <vt:lpstr>Create safety plans</vt:lpstr>
      <vt:lpstr>Create safety plans</vt:lpstr>
      <vt:lpstr>Create safety plans</vt:lpstr>
      <vt:lpstr>Create safety plans</vt:lpstr>
      <vt:lpstr>Create safety plans</vt:lpstr>
      <vt:lpstr>Create safety plans</vt:lpstr>
      <vt:lpstr>Create safety plans</vt:lpstr>
      <vt:lpstr>Create safety plans</vt:lpstr>
      <vt:lpstr>Create safety plans</vt:lpstr>
      <vt:lpstr>Create safety plans</vt:lpstr>
      <vt:lpstr>Create safety plans</vt:lpstr>
      <vt:lpstr>Create safety plans</vt:lpstr>
      <vt:lpstr>Identify resources required</vt:lpstr>
      <vt:lpstr>Identify resources required</vt:lpstr>
      <vt:lpstr>Identify resources required</vt:lpstr>
      <vt:lpstr>Identify resources required</vt:lpstr>
      <vt:lpstr>Identify resources required</vt:lpstr>
      <vt:lpstr>Identify resources required</vt:lpstr>
      <vt:lpstr>Acquire surveillance and communication equipment</vt:lpstr>
      <vt:lpstr>Acquire surveillance and communication equipment</vt:lpstr>
      <vt:lpstr>Acquire surveillance and communication equipment</vt:lpstr>
      <vt:lpstr>Acquire surveillance and communication equipment</vt:lpstr>
      <vt:lpstr>Acquire surveillance and communication equipment</vt:lpstr>
      <vt:lpstr>Acquire surveillance and communication equipment</vt:lpstr>
      <vt:lpstr>Acquire surveillance and communication equipment</vt:lpstr>
      <vt:lpstr>Acquire surveillance and communication equipment</vt:lpstr>
      <vt:lpstr>Acquire surveillance and communication equipment</vt:lpstr>
      <vt:lpstr>Select staff</vt:lpstr>
      <vt:lpstr>Select staff</vt:lpstr>
      <vt:lpstr>Select staff</vt:lpstr>
      <vt:lpstr>Select staff</vt:lpstr>
      <vt:lpstr>Select staff</vt:lpstr>
      <vt:lpstr>Select staff</vt:lpstr>
      <vt:lpstr>Provide information to staff</vt:lpstr>
      <vt:lpstr>Provide information to staff</vt:lpstr>
      <vt:lpstr>Provide information to staff</vt:lpstr>
      <vt:lpstr>Provide information to staff</vt:lpstr>
      <vt:lpstr>Provide information to staff</vt:lpstr>
      <vt:lpstr>Establish media liaison</vt:lpstr>
      <vt:lpstr>Establish media liaison</vt:lpstr>
      <vt:lpstr>Establish media liaison</vt:lpstr>
      <vt:lpstr>Establish media liaison</vt:lpstr>
      <vt:lpstr>Conduct drills</vt:lpstr>
      <vt:lpstr>Conduct drills</vt:lpstr>
      <vt:lpstr>Conduct drills</vt:lpstr>
      <vt:lpstr>Conduct drills</vt:lpstr>
      <vt:lpstr>Summary – Element 1 </vt:lpstr>
      <vt:lpstr>Summary – Element 1 </vt:lpstr>
      <vt:lpstr>Implement plans for VIP safety</vt:lpstr>
      <vt:lpstr>Apply pre-arrival preparations</vt:lpstr>
      <vt:lpstr>Apply pre-arrival preparations</vt:lpstr>
      <vt:lpstr>Apply pre-arrival preparations</vt:lpstr>
      <vt:lpstr>Apply pre-arrival preparations</vt:lpstr>
      <vt:lpstr>Apply pre-arrival preparations</vt:lpstr>
      <vt:lpstr>Apply pre-arrival preparations</vt:lpstr>
      <vt:lpstr>Apply pre-arrival preparations</vt:lpstr>
      <vt:lpstr>Apply pre-arrival preparations</vt:lpstr>
      <vt:lpstr>Apply pre-arrival preparations</vt:lpstr>
      <vt:lpstr>Conduct final pre-arrival checks</vt:lpstr>
      <vt:lpstr>Conduct final pre-arrival checks</vt:lpstr>
      <vt:lpstr>Conduct final pre-arrival checks</vt:lpstr>
      <vt:lpstr>Conduct final pre-arrival checks</vt:lpstr>
      <vt:lpstr>Meet and escort VIPs</vt:lpstr>
      <vt:lpstr>Meet and escort VIPs</vt:lpstr>
      <vt:lpstr>Meet and escort VIPs</vt:lpstr>
      <vt:lpstr>Meet and escort VIPs</vt:lpstr>
      <vt:lpstr>Meet and escort VIPs</vt:lpstr>
      <vt:lpstr>Meet and escort VIPs</vt:lpstr>
      <vt:lpstr>Meet and escort VIPs</vt:lpstr>
      <vt:lpstr>Meet and escort VIPs</vt:lpstr>
      <vt:lpstr>Meet and escort VIPs</vt:lpstr>
      <vt:lpstr>Maintain safety of VIP</vt:lpstr>
      <vt:lpstr>Maintain safety of VIP</vt:lpstr>
      <vt:lpstr>Maintain safety of VIP</vt:lpstr>
      <vt:lpstr>Maintain safety of VIP</vt:lpstr>
      <vt:lpstr>Maintain safety of VIP</vt:lpstr>
      <vt:lpstr>Maintain safety of VIP</vt:lpstr>
      <vt:lpstr>Facilitate departure of VIP</vt:lpstr>
      <vt:lpstr>Facilitate departure of VIP</vt:lpstr>
      <vt:lpstr>Facilitate departure of VIP</vt:lpstr>
      <vt:lpstr>Facilitate departure of VIP</vt:lpstr>
      <vt:lpstr>Facilitate departure of VIP</vt:lpstr>
      <vt:lpstr>Facilitate departure of VIP</vt:lpstr>
      <vt:lpstr>Facilitate departure of VIP</vt:lpstr>
      <vt:lpstr>Facilitate departure of VIP</vt:lpstr>
      <vt:lpstr>Summary – Element 2 </vt:lpstr>
      <vt:lpstr>Summary – Element 2 </vt:lpstr>
      <vt:lpstr>Conduct evaluation of pans following departure of VIP</vt:lpstr>
      <vt:lpstr>De-brief staff</vt:lpstr>
      <vt:lpstr>Debrief staff</vt:lpstr>
      <vt:lpstr>Debrief staff</vt:lpstr>
      <vt:lpstr>De-brief staff</vt:lpstr>
      <vt:lpstr>De-brief staff</vt:lpstr>
      <vt:lpstr>De-brief staff</vt:lpstr>
      <vt:lpstr>Analyses responses to breaches</vt:lpstr>
      <vt:lpstr>Analyses responses to breaches</vt:lpstr>
      <vt:lpstr>Analyses responses to breaches</vt:lpstr>
      <vt:lpstr>Analyses responses to breaches</vt:lpstr>
      <vt:lpstr>Analyses responses to breaches</vt:lpstr>
      <vt:lpstr>Analyses responses to breaches</vt:lpstr>
      <vt:lpstr>Prepare draft plans on basis of feedback and analysis</vt:lpstr>
      <vt:lpstr>Prepare draft plans on basis of feedback and analysis</vt:lpstr>
      <vt:lpstr>Prepare draft plans on basis of feedback and analysis</vt:lpstr>
      <vt:lpstr>Prepare draft plans on basis of feedback and analysis</vt:lpstr>
      <vt:lpstr>Prepare draft plans on basis of feedback and analysis</vt:lpstr>
      <vt:lpstr>Summary – Element 3 </vt:lpstr>
      <vt:lpstr>Summary – Element 3 </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PROVIDE FOR THE SAFETY  OF VIPs</dc:title>
  <dc:creator>Administrator</dc:creator>
  <cp:lastModifiedBy>Carla Angelica Co</cp:lastModifiedBy>
  <cp:revision>231</cp:revision>
  <dcterms:created xsi:type="dcterms:W3CDTF">2012-12-20T02:06:46Z</dcterms:created>
  <dcterms:modified xsi:type="dcterms:W3CDTF">2015-04-06T08:06:32Z</dcterms:modified>
</cp:coreProperties>
</file>