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4"/>
  </p:notesMasterIdLst>
  <p:handoutMasterIdLst>
    <p:handoutMasterId r:id="rId25"/>
  </p:handoutMasterIdLst>
  <p:sldIdLst>
    <p:sldId id="256" r:id="rId2"/>
    <p:sldId id="29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78391" autoAdjust="0"/>
  </p:normalViewPr>
  <p:slideViewPr>
    <p:cSldViewPr>
      <p:cViewPr varScale="1">
        <p:scale>
          <a:sx n="69" d="100"/>
          <a:sy n="69" d="100"/>
        </p:scale>
        <p:origin x="183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3/31/2015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3556085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3/31/2015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1184306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welcomes students to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4188561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advises students that assessment for this Unit may take several forms all of which are aimed at verifying they have achieved competency for the Unit as required.</a:t>
            </a:r>
          </a:p>
          <a:p>
            <a:pPr>
              <a:buFont typeface="Arial" pitchFamily="34" charset="0"/>
              <a:buNone/>
            </a:pPr>
            <a:endParaRPr lang="en-US" baseline="0" dirty="0" smtClean="0"/>
          </a:p>
          <a:p>
            <a:pPr>
              <a:buFont typeface="Arial" pitchFamily="34" charset="0"/>
              <a:buNone/>
            </a:pPr>
            <a:r>
              <a:rPr lang="en-US" baseline="0" dirty="0" smtClean="0"/>
              <a:t>Trainer indicated to students the methods of assessment that will be applied to them for this Unit.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1025947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three elements</a:t>
            </a:r>
            <a:r>
              <a:rPr lang="en-US" baseline="0" dirty="0" smtClean="0"/>
              <a:t> and explains any difficult language.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873602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performance criteria for this element and answers any questions.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58920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unit and presents the slide. Students read through the different purposes for business to business letters and add any others they can think of.</a:t>
            </a:r>
          </a:p>
          <a:p>
            <a:pPr>
              <a:buFont typeface="Arial" pitchFamily="34" charset="0"/>
              <a:buNone/>
            </a:pPr>
            <a:r>
              <a:rPr lang="en-US" dirty="0" smtClean="0"/>
              <a:t>Trainer explains the importance of understanding the purpose of a letter or email as this affects the language and style of the content.</a:t>
            </a:r>
          </a:p>
          <a:p>
            <a:pPr>
              <a:buFont typeface="Arial" pitchFamily="34" charset="0"/>
              <a:buNone/>
            </a:pPr>
            <a:r>
              <a:rPr lang="en-US" b="1" dirty="0" smtClean="0"/>
              <a:t>Activity: </a:t>
            </a:r>
            <a:r>
              <a:rPr lang="en-US" b="0" dirty="0" smtClean="0"/>
              <a:t>Trainees read through the example letters and determine the purpose of each.</a:t>
            </a:r>
          </a:p>
          <a:p>
            <a:pPr marL="228600" indent="-228600">
              <a:buFont typeface="Arial" pitchFamily="34" charset="0"/>
              <a:buAutoNum type="arabicPeriod"/>
            </a:pPr>
            <a:r>
              <a:rPr lang="en-US" b="0" dirty="0" smtClean="0"/>
              <a:t>Introduction	2. invitation		3.</a:t>
            </a:r>
            <a:r>
              <a:rPr lang="en-US" b="0" baseline="0" dirty="0" smtClean="0"/>
              <a:t> Informing		4. Refund request	5. Responding to a request	</a:t>
            </a:r>
          </a:p>
          <a:p>
            <a:pPr marL="228600" indent="-228600">
              <a:buFont typeface="Arial" pitchFamily="34" charset="0"/>
              <a:buNone/>
            </a:pPr>
            <a:endParaRPr lang="en-US" b="0" baseline="0" dirty="0" smtClean="0"/>
          </a:p>
          <a:p>
            <a:pPr marL="228600" indent="-228600">
              <a:buFont typeface="Arial" pitchFamily="34" charset="0"/>
              <a:buNone/>
            </a:pPr>
            <a:r>
              <a:rPr lang="en-US" b="1" baseline="0" dirty="0" smtClean="0"/>
              <a:t>Activity: </a:t>
            </a:r>
            <a:r>
              <a:rPr lang="en-US" b="0" baseline="0" dirty="0" smtClean="0"/>
              <a:t>Students circle language in the letters that indicate the purpose. Various answers are possible.</a:t>
            </a: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1146850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unit and explains the various purposes for business to customer letters. Trainees offer other reasons why a business may contact a customer.</a:t>
            </a:r>
          </a:p>
          <a:p>
            <a:pPr>
              <a:buFont typeface="Arial" pitchFamily="34" charset="0"/>
              <a:buNone/>
            </a:pPr>
            <a:endParaRPr lang="en-US" dirty="0" smtClean="0"/>
          </a:p>
          <a:p>
            <a:pPr>
              <a:buFont typeface="Arial" pitchFamily="34" charset="0"/>
              <a:buNone/>
            </a:pPr>
            <a:r>
              <a:rPr lang="en-US" b="1" dirty="0" smtClean="0"/>
              <a:t>Activity:  </a:t>
            </a:r>
            <a:r>
              <a:rPr lang="en-US" b="0" dirty="0" smtClean="0"/>
              <a:t>Trainees read the two letters and decide the purpose for each one. Letter</a:t>
            </a:r>
            <a:r>
              <a:rPr lang="en-US" b="0" baseline="0" dirty="0" smtClean="0"/>
              <a:t> one: customer to business – Thank you  Letter two: complaining</a:t>
            </a:r>
          </a:p>
          <a:p>
            <a:pPr>
              <a:buFont typeface="Arial" pitchFamily="34" charset="0"/>
              <a:buNone/>
            </a:pPr>
            <a:endParaRPr lang="en-US" b="0" baseline="0" dirty="0" smtClean="0"/>
          </a:p>
          <a:p>
            <a:pPr>
              <a:buFont typeface="Arial" pitchFamily="34" charset="0"/>
              <a:buNone/>
            </a:pPr>
            <a:r>
              <a:rPr lang="en-US" b="1" baseline="0" dirty="0" smtClean="0"/>
              <a:t>Activity: </a:t>
            </a:r>
            <a:r>
              <a:rPr lang="en-US" b="0" baseline="0" dirty="0" smtClean="0"/>
              <a:t>Trainees complete the matching, gap-fill and comprehension activities. </a:t>
            </a:r>
          </a:p>
          <a:p>
            <a:endParaRPr lang="en-US" b="0" baseline="0" dirty="0" smtClean="0"/>
          </a:p>
          <a:p>
            <a:r>
              <a:rPr lang="en-US" b="1" baseline="0" dirty="0" smtClean="0"/>
              <a:t>Matching answers: </a:t>
            </a:r>
            <a:r>
              <a:rPr lang="en-AU" sz="1200" kern="1200" dirty="0" smtClean="0">
                <a:solidFill>
                  <a:schemeClr val="tx1"/>
                </a:solidFill>
                <a:ea typeface="+mn-ea"/>
                <a:cs typeface="+mn-cs"/>
              </a:rPr>
              <a:t>skilled = being very good at what you do	</a:t>
            </a:r>
            <a:endParaRPr lang="en-US" sz="1200" kern="1200" dirty="0" smtClean="0">
              <a:solidFill>
                <a:schemeClr val="tx1"/>
              </a:solidFill>
              <a:ea typeface="+mn-ea"/>
              <a:cs typeface="+mn-cs"/>
            </a:endParaRPr>
          </a:p>
          <a:p>
            <a:r>
              <a:rPr lang="en-AU" sz="1200" kern="1200" dirty="0" smtClean="0">
                <a:solidFill>
                  <a:schemeClr val="tx1"/>
                </a:solidFill>
                <a:ea typeface="+mn-ea"/>
                <a:cs typeface="+mn-cs"/>
              </a:rPr>
              <a:t>Politeness</a:t>
            </a:r>
            <a:r>
              <a:rPr lang="en-AU" sz="1200" kern="1200" baseline="0" dirty="0" smtClean="0">
                <a:solidFill>
                  <a:schemeClr val="tx1"/>
                </a:solidFill>
                <a:ea typeface="+mn-ea"/>
                <a:cs typeface="+mn-cs"/>
              </a:rPr>
              <a:t> = </a:t>
            </a:r>
            <a:r>
              <a:rPr lang="en-AU" sz="1200" kern="1200" dirty="0" smtClean="0">
                <a:solidFill>
                  <a:schemeClr val="tx1"/>
                </a:solidFill>
                <a:ea typeface="+mn-ea"/>
                <a:cs typeface="+mn-cs"/>
              </a:rPr>
              <a:t>always using good manners</a:t>
            </a:r>
            <a:endParaRPr lang="en-US" sz="1200" kern="1200" dirty="0" smtClean="0">
              <a:solidFill>
                <a:schemeClr val="tx1"/>
              </a:solidFill>
              <a:ea typeface="+mn-ea"/>
              <a:cs typeface="+mn-cs"/>
            </a:endParaRPr>
          </a:p>
          <a:p>
            <a:r>
              <a:rPr lang="en-AU" sz="1200" kern="1200" dirty="0" smtClean="0">
                <a:solidFill>
                  <a:schemeClr val="tx1"/>
                </a:solidFill>
                <a:ea typeface="+mn-ea"/>
                <a:cs typeface="+mn-cs"/>
              </a:rPr>
              <a:t>quality of service = providing high quality service	</a:t>
            </a:r>
            <a:endParaRPr lang="en-US" sz="1200" kern="1200" dirty="0" smtClean="0">
              <a:solidFill>
                <a:schemeClr val="tx1"/>
              </a:solidFill>
              <a:ea typeface="+mn-ea"/>
              <a:cs typeface="+mn-cs"/>
            </a:endParaRPr>
          </a:p>
          <a:p>
            <a:r>
              <a:rPr lang="en-AU" sz="1200" kern="1200" dirty="0" smtClean="0">
                <a:solidFill>
                  <a:schemeClr val="tx1"/>
                </a:solidFill>
                <a:ea typeface="+mn-ea"/>
                <a:cs typeface="+mn-cs"/>
              </a:rPr>
              <a:t>co-operating efficiently = a team working well together	</a:t>
            </a:r>
            <a:endParaRPr lang="en-US" sz="1200" kern="1200" dirty="0" smtClean="0">
              <a:solidFill>
                <a:schemeClr val="tx1"/>
              </a:solidFill>
              <a:ea typeface="+mn-ea"/>
              <a:cs typeface="+mn-cs"/>
            </a:endParaRPr>
          </a:p>
          <a:p>
            <a:r>
              <a:rPr lang="en-AU" sz="1200" kern="1200" dirty="0" smtClean="0">
                <a:solidFill>
                  <a:schemeClr val="tx1"/>
                </a:solidFill>
                <a:ea typeface="+mn-ea"/>
                <a:cs typeface="+mn-cs"/>
              </a:rPr>
              <a:t>willing to do</a:t>
            </a:r>
            <a:r>
              <a:rPr lang="en-AU" sz="1200" kern="1200" baseline="0" dirty="0" smtClean="0">
                <a:solidFill>
                  <a:schemeClr val="tx1"/>
                </a:solidFill>
                <a:ea typeface="+mn-ea"/>
                <a:cs typeface="+mn-cs"/>
              </a:rPr>
              <a:t> = </a:t>
            </a:r>
            <a:r>
              <a:rPr lang="en-AU" sz="1200" kern="1200" dirty="0" smtClean="0">
                <a:solidFill>
                  <a:schemeClr val="tx1"/>
                </a:solidFill>
                <a:ea typeface="+mn-ea"/>
                <a:cs typeface="+mn-cs"/>
              </a:rPr>
              <a:t>ready and</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eager to help others</a:t>
            </a:r>
            <a:endParaRPr lang="en-US" sz="1200" kern="1200" dirty="0" smtClean="0">
              <a:solidFill>
                <a:schemeClr val="tx1"/>
              </a:solidFill>
              <a:ea typeface="+mn-ea"/>
              <a:cs typeface="+mn-cs"/>
            </a:endParaRPr>
          </a:p>
          <a:p>
            <a:r>
              <a:rPr lang="en-AU" sz="1200" kern="1200" dirty="0" smtClean="0">
                <a:solidFill>
                  <a:schemeClr val="tx1"/>
                </a:solidFill>
                <a:ea typeface="+mn-ea"/>
                <a:cs typeface="+mn-cs"/>
              </a:rPr>
              <a:t>Impressed = very happy with	</a:t>
            </a:r>
          </a:p>
          <a:p>
            <a:endParaRPr lang="en-AU" sz="1200" b="1" kern="1200" dirty="0" smtClean="0">
              <a:solidFill>
                <a:schemeClr val="tx1"/>
              </a:solidFill>
              <a:ea typeface="+mn-ea"/>
              <a:cs typeface="+mn-cs"/>
            </a:endParaRPr>
          </a:p>
          <a:p>
            <a:r>
              <a:rPr lang="en-AU" sz="1200" b="1" kern="1200" dirty="0" smtClean="0">
                <a:solidFill>
                  <a:schemeClr val="tx1"/>
                </a:solidFill>
                <a:ea typeface="+mn-ea"/>
                <a:cs typeface="+mn-cs"/>
              </a:rPr>
              <a:t>Gap-fill answers:</a:t>
            </a:r>
            <a:r>
              <a:rPr lang="en-AU" sz="1200" b="1" kern="1200" baseline="0" dirty="0" smtClean="0">
                <a:solidFill>
                  <a:schemeClr val="tx1"/>
                </a:solidFill>
                <a:ea typeface="+mn-ea"/>
                <a:cs typeface="+mn-cs"/>
              </a:rPr>
              <a:t> </a:t>
            </a:r>
            <a:r>
              <a:rPr lang="en-AU" sz="1200" b="0" kern="1200" baseline="0" dirty="0" smtClean="0">
                <a:solidFill>
                  <a:schemeClr val="tx1"/>
                </a:solidFill>
                <a:ea typeface="+mn-ea"/>
                <a:cs typeface="+mn-cs"/>
              </a:rPr>
              <a:t>1. impressed	2. quality of service	3. skilled	4. willing to do	5. cooperating efficiently	6. politeness</a:t>
            </a:r>
          </a:p>
          <a:p>
            <a:endParaRPr lang="en-AU" sz="1200" b="0" kern="1200" baseline="0" dirty="0" smtClean="0">
              <a:solidFill>
                <a:schemeClr val="tx1"/>
              </a:solidFill>
              <a:ea typeface="+mn-ea"/>
              <a:cs typeface="+mn-cs"/>
            </a:endParaRPr>
          </a:p>
          <a:p>
            <a:r>
              <a:rPr lang="en-AU" sz="1200" b="1" kern="1200" baseline="0" dirty="0" smtClean="0">
                <a:solidFill>
                  <a:schemeClr val="tx1"/>
                </a:solidFill>
                <a:ea typeface="+mn-ea"/>
                <a:cs typeface="+mn-cs"/>
              </a:rPr>
              <a:t>Comprehension </a:t>
            </a:r>
            <a:r>
              <a:rPr lang="en-AU" sz="1200" b="1" kern="1200" baseline="0" smtClean="0">
                <a:solidFill>
                  <a:schemeClr val="tx1"/>
                </a:solidFill>
                <a:ea typeface="+mn-ea"/>
                <a:cs typeface="+mn-cs"/>
              </a:rPr>
              <a:t>answers varied </a:t>
            </a:r>
            <a:r>
              <a:rPr lang="en-AU" sz="1200" b="1" kern="1200" baseline="0" dirty="0" smtClean="0">
                <a:solidFill>
                  <a:schemeClr val="tx1"/>
                </a:solidFill>
                <a:ea typeface="+mn-ea"/>
                <a:cs typeface="+mn-cs"/>
              </a:rPr>
              <a:t>and should be checked against letter content.</a:t>
            </a: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345994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Trainees</a:t>
            </a:r>
            <a:r>
              <a:rPr lang="en-US" baseline="0" dirty="0" smtClean="0"/>
              <a:t> discuss the questions in small groups and report back to the class.</a:t>
            </a:r>
          </a:p>
          <a:p>
            <a:pPr>
              <a:buFont typeface="Arial" pitchFamily="34" charset="0"/>
              <a:buNone/>
            </a:pPr>
            <a:endParaRPr lang="en-US" baseline="0" dirty="0" smtClean="0"/>
          </a:p>
          <a:p>
            <a:pPr>
              <a:buFont typeface="Arial" pitchFamily="34" charset="0"/>
              <a:buNone/>
            </a:pPr>
            <a:r>
              <a:rPr lang="en-US" b="1" baseline="0" dirty="0" smtClean="0"/>
              <a:t>Activity: </a:t>
            </a:r>
            <a:r>
              <a:rPr lang="en-US" b="0" baseline="0" dirty="0" smtClean="0"/>
              <a:t>Students read the complaint letter and underline all of the potential areas that the family could complain about. </a:t>
            </a:r>
          </a:p>
          <a:p>
            <a:pPr>
              <a:buFont typeface="Arial" pitchFamily="34" charset="0"/>
              <a:buNone/>
            </a:pPr>
            <a:endParaRPr lang="en-US" b="0" baseline="0" dirty="0" smtClean="0"/>
          </a:p>
          <a:p>
            <a:pPr>
              <a:buFont typeface="Arial" pitchFamily="34" charset="0"/>
              <a:buNone/>
            </a:pPr>
            <a:r>
              <a:rPr lang="en-US" b="0" baseline="0" dirty="0" smtClean="0"/>
              <a:t>Students read Mr. Khan’s letter and fill I the gaps.</a:t>
            </a:r>
          </a:p>
          <a:p>
            <a:pPr>
              <a:buFont typeface="Arial" pitchFamily="34" charset="0"/>
              <a:buNone/>
            </a:pPr>
            <a:endParaRPr lang="en-US" b="0" baseline="0" dirty="0" smtClean="0"/>
          </a:p>
          <a:p>
            <a:pPr>
              <a:buFont typeface="Arial" pitchFamily="34" charset="0"/>
              <a:buNone/>
            </a:pPr>
            <a:r>
              <a:rPr lang="en-US" b="1" baseline="0" dirty="0" smtClean="0"/>
              <a:t>Gap-fill answers: </a:t>
            </a:r>
            <a:r>
              <a:rPr lang="en-US" b="0" baseline="0" dirty="0" smtClean="0"/>
              <a:t>1. dissatisfied	2. frustrated		3. disappointed	4. stress	5. shocked	6. unhappily	7. uncomfortable	8. annoyed	</a:t>
            </a:r>
          </a:p>
          <a:p>
            <a:pPr>
              <a:buFont typeface="Arial" pitchFamily="34" charset="0"/>
              <a:buNone/>
            </a:pPr>
            <a:r>
              <a:rPr lang="en-US" b="0" baseline="0" dirty="0" smtClean="0"/>
              <a:t>9. Embarrassment	10. terrible</a:t>
            </a:r>
          </a:p>
          <a:p>
            <a:pPr>
              <a:buFont typeface="Arial" pitchFamily="34" charset="0"/>
              <a:buNone/>
            </a:pPr>
            <a:endParaRPr lang="en-US" b="0" baseline="0" dirty="0" smtClean="0"/>
          </a:p>
          <a:p>
            <a:pPr>
              <a:buFont typeface="Arial" pitchFamily="34" charset="0"/>
              <a:buNone/>
            </a:pPr>
            <a:r>
              <a:rPr lang="en-US" b="1" baseline="0" dirty="0" smtClean="0"/>
              <a:t>Activity: </a:t>
            </a:r>
            <a:r>
              <a:rPr lang="en-US" b="0" baseline="0" dirty="0" smtClean="0"/>
              <a:t> Matching – Students match the words with meanings</a:t>
            </a:r>
          </a:p>
          <a:p>
            <a:pPr>
              <a:buFont typeface="Arial" pitchFamily="34" charset="0"/>
              <a:buNone/>
            </a:pPr>
            <a:r>
              <a:rPr lang="en-US" b="1" baseline="0" dirty="0" smtClean="0"/>
              <a:t>Answers: </a:t>
            </a:r>
            <a:r>
              <a:rPr lang="en-US" b="0" baseline="0" dirty="0" smtClean="0"/>
              <a:t>1. d	2. I	3. c	4. b	5. f	6. h	7. j	8. g	9. e	10. a</a:t>
            </a:r>
          </a:p>
          <a:p>
            <a:pPr>
              <a:buFont typeface="Arial" pitchFamily="34" charset="0"/>
              <a:buNone/>
            </a:pPr>
            <a:endParaRPr lang="en-US" b="0" baseline="0" dirty="0" smtClean="0"/>
          </a:p>
          <a:p>
            <a:pPr>
              <a:buFont typeface="Arial" pitchFamily="34" charset="0"/>
              <a:buNone/>
            </a:pPr>
            <a:r>
              <a:rPr lang="en-US" b="1" baseline="0" dirty="0" smtClean="0"/>
              <a:t>Ordering activity: </a:t>
            </a:r>
            <a:r>
              <a:rPr lang="en-US" b="0" baseline="0" dirty="0" smtClean="0"/>
              <a:t>Students read the reply to the complaint and order the paragraphs correctly.</a:t>
            </a:r>
          </a:p>
          <a:p>
            <a:pPr>
              <a:buFont typeface="Arial" pitchFamily="34" charset="0"/>
              <a:buNone/>
            </a:pPr>
            <a:r>
              <a:rPr lang="en-US" b="1" baseline="0" dirty="0" smtClean="0"/>
              <a:t>Answers: </a:t>
            </a:r>
            <a:r>
              <a:rPr lang="en-US" b="0" baseline="0" dirty="0" smtClean="0"/>
              <a:t>1. segment 5	2. Segment 1		3.  Segment 2	4. Segment 4		5. Segment 3</a:t>
            </a:r>
          </a:p>
          <a:p>
            <a:pPr>
              <a:buFont typeface="Arial" pitchFamily="34" charset="0"/>
              <a:buNone/>
            </a:pPr>
            <a:endParaRPr lang="en-US" b="0" baseline="0" dirty="0" smtClean="0"/>
          </a:p>
          <a:p>
            <a:pPr>
              <a:buFont typeface="Arial" pitchFamily="34" charset="0"/>
              <a:buNone/>
            </a:pPr>
            <a:r>
              <a:rPr lang="en-US" b="1" baseline="0" dirty="0" smtClean="0"/>
              <a:t>Gap-fill Activity: </a:t>
            </a:r>
            <a:r>
              <a:rPr lang="en-US" b="0" baseline="0" dirty="0" smtClean="0"/>
              <a:t> Students read the letter and decide the purpose (confirmation of booking)</a:t>
            </a:r>
          </a:p>
          <a:p>
            <a:pPr>
              <a:buFont typeface="Arial" pitchFamily="34" charset="0"/>
              <a:buNone/>
            </a:pPr>
            <a:r>
              <a:rPr lang="en-US" b="1" baseline="0" dirty="0" smtClean="0"/>
              <a:t>Answers: </a:t>
            </a:r>
            <a:r>
              <a:rPr lang="en-US" b="0" baseline="0" dirty="0" smtClean="0"/>
              <a:t>a) chosen	b) discussion	c) place 	d) In addition	e) as well as	f) attached	g) contact 	h) selected</a:t>
            </a: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1546493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unit and goes through</a:t>
            </a:r>
            <a:r>
              <a:rPr lang="en-US" baseline="0" dirty="0" smtClean="0"/>
              <a:t> the potential reasons for an employer to send a letter to an employee. Trainees think of other purposes for sending letters from an employer to an employee.</a:t>
            </a:r>
          </a:p>
          <a:p>
            <a:pPr>
              <a:buFont typeface="Arial" pitchFamily="34" charset="0"/>
              <a:buNone/>
            </a:pPr>
            <a:endParaRPr lang="en-US" baseline="0" dirty="0" smtClean="0"/>
          </a:p>
          <a:p>
            <a:pPr>
              <a:buFont typeface="Arial" pitchFamily="34" charset="0"/>
              <a:buNone/>
            </a:pPr>
            <a:r>
              <a:rPr lang="en-US" b="1" baseline="0" dirty="0" smtClean="0"/>
              <a:t>Activity: </a:t>
            </a:r>
            <a:r>
              <a:rPr lang="en-US" b="0" baseline="0" dirty="0" smtClean="0"/>
              <a:t>Trainees read the letters and decide the purpose of each.</a:t>
            </a:r>
          </a:p>
          <a:p>
            <a:pPr>
              <a:buFont typeface="Arial" pitchFamily="34" charset="0"/>
              <a:buNone/>
            </a:pPr>
            <a:r>
              <a:rPr lang="en-US" b="1" baseline="0" dirty="0" smtClean="0"/>
              <a:t>Answers: </a:t>
            </a:r>
            <a:r>
              <a:rPr lang="en-US" b="0" baseline="0" dirty="0" smtClean="0"/>
              <a:t>1. reply to a job application	2. written warning 	3. welcoming a new staff member 	</a:t>
            </a:r>
          </a:p>
          <a:p>
            <a:pPr>
              <a:buFont typeface="Arial" pitchFamily="34" charset="0"/>
              <a:buNone/>
            </a:pPr>
            <a:endParaRPr lang="en-US" b="0" baseline="0" dirty="0" smtClean="0"/>
          </a:p>
          <a:p>
            <a:pPr>
              <a:buFont typeface="Arial" pitchFamily="34" charset="0"/>
              <a:buNone/>
            </a:pPr>
            <a:r>
              <a:rPr lang="en-US" b="1" baseline="0" dirty="0" smtClean="0"/>
              <a:t>Matching Activity: </a:t>
            </a:r>
            <a:r>
              <a:rPr lang="en-US" b="0" baseline="0" dirty="0" smtClean="0"/>
              <a:t>1. b	2. d	3. c	4. a	5. h	6. g	7. I	8. e	9. j	10. f</a:t>
            </a:r>
          </a:p>
          <a:p>
            <a:pPr>
              <a:buFont typeface="Arial" pitchFamily="34" charset="0"/>
              <a:buNone/>
            </a:pPr>
            <a:endParaRPr lang="en-US" b="0" baseline="0" dirty="0" smtClean="0"/>
          </a:p>
          <a:p>
            <a:pPr>
              <a:buFont typeface="Arial" pitchFamily="34" charset="0"/>
              <a:buNone/>
            </a:pPr>
            <a:r>
              <a:rPr lang="en-US" b="1" baseline="0" dirty="0" smtClean="0"/>
              <a:t>Gap-fill activity: </a:t>
            </a:r>
            <a:r>
              <a:rPr lang="en-US" b="0" baseline="0" dirty="0" smtClean="0"/>
              <a:t>1. part time	2. efficiently	3. fluently	4. duties	5. salary	6. contact	7. application</a:t>
            </a:r>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3069438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Students read the job advertisement</a:t>
            </a:r>
            <a:r>
              <a:rPr lang="en-US" baseline="0" dirty="0" smtClean="0"/>
              <a:t> and answer the questions. Answers are taken from details in the advertisement.</a:t>
            </a:r>
          </a:p>
          <a:p>
            <a:pPr>
              <a:buFont typeface="Arial" pitchFamily="34" charset="0"/>
              <a:buNone/>
            </a:pPr>
            <a:endParaRPr lang="en-US" baseline="0" dirty="0" smtClean="0"/>
          </a:p>
          <a:p>
            <a:pPr>
              <a:buFont typeface="Arial" pitchFamily="34" charset="0"/>
              <a:buNone/>
            </a:pPr>
            <a:r>
              <a:rPr lang="en-US" b="1" baseline="0" dirty="0" smtClean="0"/>
              <a:t>Activity: </a:t>
            </a:r>
            <a:r>
              <a:rPr lang="en-US" b="0" baseline="0" dirty="0" smtClean="0"/>
              <a:t>Students read the job advertisement and complete the matching activity.</a:t>
            </a:r>
          </a:p>
          <a:p>
            <a:pPr>
              <a:buFont typeface="Arial" pitchFamily="34" charset="0"/>
              <a:buNone/>
            </a:pPr>
            <a:r>
              <a:rPr lang="en-US" b="1" baseline="0" dirty="0" smtClean="0"/>
              <a:t>Answers: </a:t>
            </a:r>
            <a:r>
              <a:rPr lang="en-US" b="0" baseline="0" dirty="0" smtClean="0"/>
              <a:t>1. e	2. c	3. g	4. f	5. b	6. d	7. a</a:t>
            </a:r>
          </a:p>
          <a:p>
            <a:pPr>
              <a:buFont typeface="Arial" pitchFamily="34" charset="0"/>
              <a:buNone/>
            </a:pPr>
            <a:endParaRPr lang="en-US" b="0" baseline="0" dirty="0" smtClean="0"/>
          </a:p>
          <a:p>
            <a:pPr>
              <a:buFont typeface="Arial" pitchFamily="34" charset="0"/>
              <a:buNone/>
            </a:pPr>
            <a:r>
              <a:rPr lang="en-US" b="1" baseline="0" dirty="0" smtClean="0"/>
              <a:t>Activity: </a:t>
            </a:r>
            <a:r>
              <a:rPr lang="en-US" b="0" baseline="0" dirty="0" smtClean="0"/>
              <a:t>Students read both letters of application and answer the questions.</a:t>
            </a:r>
          </a:p>
          <a:p>
            <a:pPr>
              <a:buFont typeface="Arial" pitchFamily="34" charset="0"/>
              <a:buNone/>
            </a:pPr>
            <a:r>
              <a:rPr lang="en-US" b="1" baseline="0" dirty="0" smtClean="0"/>
              <a:t>Answers: </a:t>
            </a:r>
            <a:r>
              <a:rPr lang="en-US" b="0" baseline="0" dirty="0" smtClean="0"/>
              <a:t>Trainer/trainees use information from the letters.</a:t>
            </a:r>
          </a:p>
          <a:p>
            <a:pPr>
              <a:buFont typeface="Arial" pitchFamily="34" charset="0"/>
              <a:buNone/>
            </a:pPr>
            <a:endParaRPr lang="en-US" b="0" baseline="0" dirty="0" smtClean="0"/>
          </a:p>
          <a:p>
            <a:pPr>
              <a:buFont typeface="Arial" pitchFamily="34" charset="0"/>
              <a:buNone/>
            </a:pPr>
            <a:r>
              <a:rPr lang="en-US" b="1" baseline="0" dirty="0" smtClean="0"/>
              <a:t>Gap-fill Activity: </a:t>
            </a:r>
            <a:r>
              <a:rPr lang="en-US" b="0" baseline="0" dirty="0" smtClean="0"/>
              <a:t>Students complete the gaps with the correct words.</a:t>
            </a:r>
          </a:p>
          <a:p>
            <a:pPr>
              <a:buFont typeface="Arial" pitchFamily="34" charset="0"/>
              <a:buNone/>
            </a:pPr>
            <a:r>
              <a:rPr lang="en-US" b="1" baseline="0" dirty="0" smtClean="0"/>
              <a:t>Answers: </a:t>
            </a:r>
            <a:r>
              <a:rPr lang="en-US" b="0" baseline="0" dirty="0" smtClean="0"/>
              <a:t>1. Part – time	2. Fluency	3. candidates	4. salary	5. details	6. position	7. apply	8. experience	9. applicant	10.contact</a:t>
            </a: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796566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Mingle activity: </a:t>
            </a:r>
            <a:r>
              <a:rPr lang="en-US" dirty="0" smtClean="0"/>
              <a:t>Trainer photocopies</a:t>
            </a:r>
            <a:r>
              <a:rPr lang="en-US" baseline="0" dirty="0" smtClean="0"/>
              <a:t> and cuts out job cards from Trainee Manuals and gives one card to each student. Students mingle and ask each other “What do you do in your job?” Trainees determine what job each other student has and they complete their details in the template in the book.</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4467956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Students look at the business</a:t>
            </a:r>
            <a:r>
              <a:rPr lang="en-US" baseline="0" dirty="0" smtClean="0"/>
              <a:t> letter and complete the activity.</a:t>
            </a:r>
          </a:p>
          <a:p>
            <a:pPr>
              <a:buFont typeface="Arial" pitchFamily="34" charset="0"/>
              <a:buNone/>
            </a:pPr>
            <a:r>
              <a:rPr lang="en-US" b="1" baseline="0" dirty="0" smtClean="0"/>
              <a:t>Answers:</a:t>
            </a:r>
            <a:r>
              <a:rPr lang="en-US" b="1" baseline="0" dirty="0"/>
              <a:t> </a:t>
            </a:r>
            <a:r>
              <a:rPr lang="en-US" b="0" baseline="0" dirty="0" smtClean="0"/>
              <a:t>1. company address	2. date	3. salutation	4. inside address	5. body	6. close	7. signature	8. job title </a:t>
            </a:r>
          </a:p>
          <a:p>
            <a:pPr>
              <a:buFont typeface="Arial" pitchFamily="34" charset="0"/>
              <a:buNone/>
            </a:pPr>
            <a:endParaRPr lang="en-US" b="0" baseline="0" dirty="0" smtClean="0"/>
          </a:p>
          <a:p>
            <a:pPr>
              <a:buFont typeface="Arial" pitchFamily="34" charset="0"/>
              <a:buNone/>
            </a:pPr>
            <a:r>
              <a:rPr lang="en-US" b="0" baseline="0" dirty="0" smtClean="0"/>
              <a:t>Trainer goes through business letter format with students and answers any questions.</a:t>
            </a:r>
          </a:p>
          <a:p>
            <a:pPr>
              <a:buFont typeface="Arial" pitchFamily="34" charset="0"/>
              <a:buNone/>
            </a:pPr>
            <a:endParaRPr lang="en-US" b="0" baseline="0" dirty="0" smtClean="0"/>
          </a:p>
          <a:p>
            <a:pPr>
              <a:buFont typeface="Arial" pitchFamily="34" charset="0"/>
              <a:buNone/>
            </a:pPr>
            <a:r>
              <a:rPr lang="en-US" b="1" baseline="0" dirty="0" smtClean="0"/>
              <a:t>Gap-fill activity: </a:t>
            </a:r>
            <a:r>
              <a:rPr lang="en-US" b="0" baseline="0" dirty="0" smtClean="0"/>
              <a:t>Students complete the gap-fill. </a:t>
            </a:r>
          </a:p>
          <a:p>
            <a:pPr>
              <a:buFont typeface="Arial" pitchFamily="34" charset="0"/>
              <a:buNone/>
            </a:pPr>
            <a:r>
              <a:rPr lang="en-US" b="1" baseline="0" dirty="0" smtClean="0"/>
              <a:t>Answers: 	</a:t>
            </a:r>
            <a:r>
              <a:rPr lang="en-US" b="0" baseline="0" dirty="0" smtClean="0"/>
              <a:t>1. appointment	2. pamphlet	3. mistake	4. confirm</a:t>
            </a:r>
          </a:p>
          <a:p>
            <a:pPr>
              <a:buFont typeface="Arial" pitchFamily="34" charset="0"/>
              <a:buNone/>
            </a:pPr>
            <a:r>
              <a:rPr lang="en-US" b="0" baseline="0" dirty="0" smtClean="0"/>
              <a:t>	</a:t>
            </a:r>
          </a:p>
          <a:p>
            <a:pPr>
              <a:buFont typeface="Arial" pitchFamily="34" charset="0"/>
              <a:buNone/>
            </a:pPr>
            <a:r>
              <a:rPr lang="en-US" b="0" baseline="0" dirty="0" smtClean="0"/>
              <a:t>	1. inconvenience	2. reassure	3. accept</a:t>
            </a:r>
          </a:p>
          <a:p>
            <a:pPr>
              <a:buFont typeface="Arial" pitchFamily="34" charset="0"/>
              <a:buNone/>
            </a:pPr>
            <a:endParaRPr lang="en-US" b="0" baseline="0" dirty="0" smtClean="0"/>
          </a:p>
          <a:p>
            <a:pPr>
              <a:buFont typeface="Arial" pitchFamily="34" charset="0"/>
              <a:buNone/>
            </a:pPr>
            <a:r>
              <a:rPr lang="en-US" b="0" baseline="0" dirty="0" smtClean="0"/>
              <a:t>	1. responding	2. advice	3. cancel</a:t>
            </a:r>
          </a:p>
          <a:p>
            <a:pPr>
              <a:buFont typeface="Arial" pitchFamily="34" charset="0"/>
              <a:buNone/>
            </a:pPr>
            <a:r>
              <a:rPr lang="en-US" b="0" baseline="0" dirty="0" smtClean="0"/>
              <a:t>	</a:t>
            </a:r>
            <a:endParaRPr lang="en-US" b="1" baseline="0" dirty="0" smtClean="0"/>
          </a:p>
          <a:p>
            <a:pPr>
              <a:buFont typeface="Arial" pitchFamily="34" charset="0"/>
              <a:buNone/>
            </a:pPr>
            <a:endParaRPr lang="en-US" b="0" baseline="0" dirty="0" smtClean="0"/>
          </a:p>
          <a:p>
            <a:pPr>
              <a:buFont typeface="Arial" pitchFamily="34" charset="0"/>
              <a:buNone/>
            </a:pPr>
            <a:endParaRPr lang="en-US" b="1"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18698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slide with students.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419808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the tips with students and clarifies anything students don’t understand.</a:t>
            </a:r>
          </a:p>
          <a:p>
            <a:pPr>
              <a:buFont typeface="Arial" pitchFamily="34" charset="0"/>
              <a:buNone/>
            </a:pPr>
            <a:endParaRPr lang="en-US" dirty="0" smtClean="0"/>
          </a:p>
          <a:p>
            <a:pPr>
              <a:buFont typeface="Arial" pitchFamily="34" charset="0"/>
              <a:buNone/>
            </a:pPr>
            <a:r>
              <a:rPr lang="en-US" b="1" dirty="0" smtClean="0"/>
              <a:t>Activity:</a:t>
            </a:r>
            <a:r>
              <a:rPr lang="en-US" b="1" baseline="0" dirty="0" smtClean="0"/>
              <a:t> </a:t>
            </a:r>
            <a:r>
              <a:rPr lang="en-US" b="0" baseline="0" dirty="0" smtClean="0"/>
              <a:t>Student reads through the letter and answer the questions.</a:t>
            </a:r>
          </a:p>
          <a:p>
            <a:r>
              <a:rPr lang="en-US" sz="1200" kern="1200" dirty="0" smtClean="0">
                <a:solidFill>
                  <a:schemeClr val="tx1"/>
                </a:solidFill>
                <a:ea typeface="+mn-ea"/>
                <a:cs typeface="+mn-cs"/>
              </a:rPr>
              <a:t>What is the purpose of the email? A: confirming</a:t>
            </a:r>
            <a:r>
              <a:rPr lang="en-US" sz="1200" kern="1200" baseline="0" dirty="0" smtClean="0">
                <a:solidFill>
                  <a:schemeClr val="tx1"/>
                </a:solidFill>
                <a:ea typeface="+mn-ea"/>
                <a:cs typeface="+mn-cs"/>
              </a:rPr>
              <a:t> a booking</a:t>
            </a:r>
            <a:endParaRPr lang="en-US" sz="1200" kern="1200" dirty="0" smtClean="0">
              <a:solidFill>
                <a:schemeClr val="tx1"/>
              </a:solidFill>
              <a:ea typeface="+mn-ea"/>
              <a:cs typeface="+mn-cs"/>
            </a:endParaRPr>
          </a:p>
          <a:p>
            <a:r>
              <a:rPr lang="en-US" sz="1200" kern="1200" dirty="0" smtClean="0">
                <a:solidFill>
                  <a:schemeClr val="tx1"/>
                </a:solidFill>
                <a:ea typeface="+mn-ea"/>
                <a:cs typeface="+mn-cs"/>
              </a:rPr>
              <a:t>Is the message clear? A: Yes,</a:t>
            </a:r>
            <a:r>
              <a:rPr lang="en-US" sz="1200" kern="1200" baseline="0" dirty="0" smtClean="0">
                <a:solidFill>
                  <a:schemeClr val="tx1"/>
                </a:solidFill>
                <a:ea typeface="+mn-ea"/>
                <a:cs typeface="+mn-cs"/>
              </a:rPr>
              <a:t> </a:t>
            </a:r>
            <a:r>
              <a:rPr lang="en-US" sz="1200" kern="1200" dirty="0" smtClean="0">
                <a:solidFill>
                  <a:schemeClr val="tx1"/>
                </a:solidFill>
                <a:ea typeface="+mn-ea"/>
                <a:cs typeface="+mn-cs"/>
              </a:rPr>
              <a:t>very</a:t>
            </a:r>
            <a:r>
              <a:rPr lang="en-US" sz="1200" kern="1200" baseline="0" dirty="0" smtClean="0">
                <a:solidFill>
                  <a:schemeClr val="tx1"/>
                </a:solidFill>
                <a:ea typeface="+mn-ea"/>
                <a:cs typeface="+mn-cs"/>
              </a:rPr>
              <a:t> clear.</a:t>
            </a:r>
            <a:endParaRPr lang="en-US" sz="1200" kern="1200" dirty="0" smtClean="0">
              <a:solidFill>
                <a:schemeClr val="tx1"/>
              </a:solidFill>
              <a:ea typeface="+mn-ea"/>
              <a:cs typeface="+mn-cs"/>
            </a:endParaRPr>
          </a:p>
          <a:p>
            <a:r>
              <a:rPr lang="en-US" sz="1200" kern="1200" dirty="0" smtClean="0">
                <a:solidFill>
                  <a:schemeClr val="tx1"/>
                </a:solidFill>
                <a:ea typeface="+mn-ea"/>
                <a:cs typeface="+mn-cs"/>
              </a:rPr>
              <a:t>Is the tone polite or rude? A:  Polite</a:t>
            </a:r>
          </a:p>
          <a:p>
            <a:r>
              <a:rPr lang="en-US" sz="1200" kern="1200" dirty="0" smtClean="0">
                <a:solidFill>
                  <a:schemeClr val="tx1"/>
                </a:solidFill>
                <a:ea typeface="+mn-ea"/>
                <a:cs typeface="+mn-cs"/>
              </a:rPr>
              <a:t>What language identifies the tone of the email? A: Dear, happy, looking forward</a:t>
            </a:r>
            <a:r>
              <a:rPr lang="en-US" sz="1200" kern="1200" baseline="0" dirty="0" smtClean="0">
                <a:solidFill>
                  <a:schemeClr val="tx1"/>
                </a:solidFill>
                <a:ea typeface="+mn-ea"/>
                <a:cs typeface="+mn-cs"/>
              </a:rPr>
              <a:t> to seeing you</a:t>
            </a:r>
          </a:p>
          <a:p>
            <a:endParaRPr lang="en-US" sz="1200" kern="1200" baseline="0" dirty="0" smtClean="0">
              <a:solidFill>
                <a:schemeClr val="tx1"/>
              </a:solidFill>
              <a:ea typeface="+mn-ea"/>
              <a:cs typeface="+mn-cs"/>
            </a:endParaRPr>
          </a:p>
          <a:p>
            <a:r>
              <a:rPr lang="en-US" sz="1200" b="1" kern="1200" baseline="0" dirty="0" smtClean="0">
                <a:solidFill>
                  <a:schemeClr val="tx1"/>
                </a:solidFill>
                <a:ea typeface="+mn-ea"/>
                <a:cs typeface="+mn-cs"/>
              </a:rPr>
              <a:t>Activity: </a:t>
            </a:r>
            <a:r>
              <a:rPr lang="en-US" sz="1200" b="0" kern="1200" baseline="0" dirty="0" smtClean="0">
                <a:solidFill>
                  <a:schemeClr val="tx1"/>
                </a:solidFill>
                <a:ea typeface="+mn-ea"/>
                <a:cs typeface="+mn-cs"/>
              </a:rPr>
              <a:t>Students read through the next email and decide if the tone is appropriate.</a:t>
            </a:r>
          </a:p>
          <a:p>
            <a:r>
              <a:rPr lang="en-US" sz="1200" b="1" kern="1200" baseline="0" dirty="0" smtClean="0">
                <a:solidFill>
                  <a:schemeClr val="tx1"/>
                </a:solidFill>
                <a:ea typeface="+mn-ea"/>
                <a:cs typeface="+mn-cs"/>
              </a:rPr>
              <a:t>Answers: </a:t>
            </a:r>
            <a:r>
              <a:rPr lang="en-US" sz="1200" b="0" kern="1200" baseline="0" dirty="0" smtClean="0">
                <a:solidFill>
                  <a:schemeClr val="tx1"/>
                </a:solidFill>
                <a:ea typeface="+mn-ea"/>
                <a:cs typeface="+mn-cs"/>
              </a:rPr>
              <a:t>Not appropriate tone, no salutation, capital letters, modality “must”, no close</a:t>
            </a:r>
          </a:p>
          <a:p>
            <a:endParaRPr lang="en-US" sz="1200" b="0" kern="1200" baseline="0" dirty="0" smtClean="0">
              <a:solidFill>
                <a:schemeClr val="tx1"/>
              </a:solidFill>
              <a:ea typeface="+mn-ea"/>
              <a:cs typeface="+mn-cs"/>
            </a:endParaRPr>
          </a:p>
          <a:p>
            <a:r>
              <a:rPr lang="en-US" sz="1200" b="1" kern="1200" baseline="0" dirty="0" smtClean="0">
                <a:solidFill>
                  <a:schemeClr val="tx1"/>
                </a:solidFill>
                <a:ea typeface="+mn-ea"/>
                <a:cs typeface="+mn-cs"/>
              </a:rPr>
              <a:t>Activity: </a:t>
            </a:r>
            <a:r>
              <a:rPr lang="en-US" sz="1200" b="0" kern="1200" baseline="0" dirty="0" smtClean="0">
                <a:solidFill>
                  <a:schemeClr val="tx1"/>
                </a:solidFill>
                <a:ea typeface="+mn-ea"/>
                <a:cs typeface="+mn-cs"/>
              </a:rPr>
              <a:t>Students rewrite the email. Various responses appropriate. Trainer checks the rewritten emails.</a:t>
            </a:r>
          </a:p>
          <a:p>
            <a:endParaRPr lang="en-US" sz="1200" b="0" kern="1200" baseline="0" dirty="0" smtClean="0">
              <a:solidFill>
                <a:schemeClr val="tx1"/>
              </a:solidFill>
              <a:ea typeface="+mn-ea"/>
              <a:cs typeface="+mn-cs"/>
            </a:endParaRPr>
          </a:p>
          <a:p>
            <a:r>
              <a:rPr lang="en-US" sz="1200" b="1" kern="1200" baseline="0" dirty="0" smtClean="0">
                <a:solidFill>
                  <a:schemeClr val="tx1"/>
                </a:solidFill>
                <a:ea typeface="+mn-ea"/>
                <a:cs typeface="+mn-cs"/>
              </a:rPr>
              <a:t>Activity: </a:t>
            </a:r>
            <a:r>
              <a:rPr lang="en-US" sz="1200" b="0" kern="1200" baseline="0" dirty="0" smtClean="0">
                <a:solidFill>
                  <a:schemeClr val="tx1"/>
                </a:solidFill>
                <a:ea typeface="+mn-ea"/>
                <a:cs typeface="+mn-cs"/>
              </a:rPr>
              <a:t>Trainees read the example emails and decide what is wrong with each one.</a:t>
            </a:r>
          </a:p>
          <a:p>
            <a:r>
              <a:rPr lang="en-US" sz="1200" b="1" kern="1200" baseline="0" dirty="0" smtClean="0">
                <a:solidFill>
                  <a:schemeClr val="tx1"/>
                </a:solidFill>
                <a:ea typeface="+mn-ea"/>
                <a:cs typeface="+mn-cs"/>
              </a:rPr>
              <a:t>Answers: </a:t>
            </a:r>
            <a:r>
              <a:rPr lang="en-US" sz="1200" b="0" kern="1200" baseline="0" dirty="0" smtClean="0">
                <a:solidFill>
                  <a:schemeClr val="tx1"/>
                </a:solidFill>
                <a:ea typeface="+mn-ea"/>
                <a:cs typeface="+mn-cs"/>
              </a:rPr>
              <a:t>1. Too informal	2. Language too strong and direct</a:t>
            </a:r>
            <a:endParaRPr lang="en-US" sz="1200" b="1" kern="1200" baseline="0" dirty="0" smtClean="0">
              <a:solidFill>
                <a:schemeClr val="tx1"/>
              </a:solidFill>
              <a:ea typeface="+mn-ea"/>
              <a:cs typeface="+mn-cs"/>
            </a:endParaRPr>
          </a:p>
          <a:p>
            <a:endParaRPr lang="en-US" sz="1200" b="1" kern="1200" dirty="0" smtClean="0">
              <a:solidFill>
                <a:schemeClr val="tx1"/>
              </a:solidFill>
              <a:ea typeface="+mn-ea"/>
              <a:cs typeface="+mn-cs"/>
            </a:endParaRPr>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988471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buFont typeface="Arial" pitchFamily="34" charset="0"/>
              <a:buNone/>
            </a:pPr>
            <a:r>
              <a:rPr lang="en-US" dirty="0" smtClean="0"/>
              <a:t>Trainer</a:t>
            </a:r>
            <a:r>
              <a:rPr lang="en-US" baseline="0" dirty="0" smtClean="0"/>
              <a:t> presents the unit and explains the importance of using correct language in business letters.</a:t>
            </a:r>
          </a:p>
          <a:p>
            <a:pPr>
              <a:buFont typeface="Arial" pitchFamily="34" charset="0"/>
              <a:buNone/>
            </a:pPr>
            <a:endParaRPr lang="en-US" baseline="0" dirty="0" smtClean="0"/>
          </a:p>
          <a:p>
            <a:pPr>
              <a:buFont typeface="Arial" pitchFamily="34" charset="0"/>
              <a:buNone/>
            </a:pPr>
            <a:r>
              <a:rPr lang="en-US" b="1" baseline="0" dirty="0" smtClean="0"/>
              <a:t>Activity: </a:t>
            </a:r>
            <a:r>
              <a:rPr lang="en-US" b="0" baseline="0" dirty="0" smtClean="0"/>
              <a:t>Students complete the activities.</a:t>
            </a:r>
          </a:p>
          <a:p>
            <a:pPr>
              <a:buFont typeface="Arial" pitchFamily="34" charset="0"/>
              <a:buNone/>
            </a:pPr>
            <a:r>
              <a:rPr lang="en-US" b="1" baseline="0" dirty="0" smtClean="0"/>
              <a:t>Answers: 	</a:t>
            </a:r>
            <a:r>
              <a:rPr lang="en-US" b="0" baseline="0" dirty="0" smtClean="0"/>
              <a:t>1a) points	b) brief	c) direct, polite	d) complicated	e. reader</a:t>
            </a:r>
          </a:p>
          <a:p>
            <a:pPr>
              <a:buFont typeface="Arial" pitchFamily="34" charset="0"/>
              <a:buNone/>
            </a:pPr>
            <a:endParaRPr lang="en-US" b="0" baseline="0" dirty="0" smtClean="0"/>
          </a:p>
          <a:p>
            <a:pPr>
              <a:buFont typeface="Arial" pitchFamily="34" charset="0"/>
              <a:buNone/>
            </a:pPr>
            <a:r>
              <a:rPr lang="en-US" b="0" baseline="0" dirty="0" smtClean="0"/>
              <a:t>	1. brief	2. polite	3. complicated	4. points</a:t>
            </a:r>
          </a:p>
          <a:p>
            <a:pPr>
              <a:buFont typeface="Arial" pitchFamily="34" charset="0"/>
              <a:buNone/>
            </a:pPr>
            <a:r>
              <a:rPr lang="en-AU" sz="1200" u="none" kern="1200" dirty="0" smtClean="0">
                <a:solidFill>
                  <a:schemeClr val="tx1"/>
                </a:solidFill>
                <a:ea typeface="+mn-ea"/>
                <a:cs typeface="+mn-cs"/>
              </a:rPr>
              <a:t>	</a:t>
            </a:r>
            <a:endParaRPr lang="en-US" sz="1200" u="none" kern="1200" dirty="0" smtClean="0">
              <a:solidFill>
                <a:schemeClr val="tx1"/>
              </a:solidFill>
              <a:ea typeface="+mn-ea"/>
              <a:cs typeface="+mn-cs"/>
            </a:endParaRPr>
          </a:p>
          <a:p>
            <a:r>
              <a:rPr lang="en-AU" sz="1200" u="none" kern="1200" dirty="0" smtClean="0">
                <a:solidFill>
                  <a:schemeClr val="tx1"/>
                </a:solidFill>
                <a:ea typeface="+mn-ea"/>
                <a:cs typeface="+mn-cs"/>
              </a:rPr>
              <a:t>	Opening greeting or salutation, Reason for writing, Connecting with the reader, Giving good or bad news; requests; agreeing to requests, Taking action, 	Concluding,</a:t>
            </a:r>
            <a:r>
              <a:rPr lang="en-AU" sz="1200" u="none" kern="1200" baseline="0" dirty="0" smtClean="0">
                <a:solidFill>
                  <a:schemeClr val="tx1"/>
                </a:solidFill>
                <a:ea typeface="+mn-ea"/>
                <a:cs typeface="+mn-cs"/>
              </a:rPr>
              <a:t> </a:t>
            </a:r>
            <a:r>
              <a:rPr lang="en-AU" sz="1200" u="none" kern="1200" dirty="0" smtClean="0">
                <a:solidFill>
                  <a:schemeClr val="tx1"/>
                </a:solidFill>
                <a:ea typeface="+mn-ea"/>
                <a:cs typeface="+mn-cs"/>
              </a:rPr>
              <a:t>Closing </a:t>
            </a:r>
          </a:p>
          <a:p>
            <a:endParaRPr lang="en-AU" sz="1200" u="none" kern="1200" dirty="0" smtClean="0">
              <a:solidFill>
                <a:schemeClr val="tx1"/>
              </a:solidFill>
              <a:ea typeface="+mn-ea"/>
              <a:cs typeface="+mn-cs"/>
            </a:endParaRPr>
          </a:p>
          <a:p>
            <a:r>
              <a:rPr lang="en-AU" sz="1200" u="none" kern="1200" dirty="0" smtClean="0">
                <a:solidFill>
                  <a:schemeClr val="tx1"/>
                </a:solidFill>
                <a:ea typeface="+mn-ea"/>
                <a:cs typeface="+mn-cs"/>
              </a:rPr>
              <a:t>	3a) opening</a:t>
            </a:r>
            <a:r>
              <a:rPr lang="en-AU" sz="1200" u="none" kern="1200" baseline="0" dirty="0" smtClean="0">
                <a:solidFill>
                  <a:schemeClr val="tx1"/>
                </a:solidFill>
                <a:ea typeface="+mn-ea"/>
                <a:cs typeface="+mn-cs"/>
              </a:rPr>
              <a:t> greeting or salutation	b) reason for writing	c) connecting with the reader	d) Giving good or bad news; requests	e) taking action	f) Concluding		g) closing</a:t>
            </a:r>
          </a:p>
          <a:p>
            <a:endParaRPr lang="en-AU" sz="1200" u="none" kern="1200" baseline="0" dirty="0" smtClean="0">
              <a:solidFill>
                <a:schemeClr val="tx1"/>
              </a:solidFill>
              <a:ea typeface="+mn-ea"/>
              <a:cs typeface="+mn-cs"/>
            </a:endParaRPr>
          </a:p>
          <a:p>
            <a:r>
              <a:rPr lang="en-AU" sz="1200" u="none" kern="1200" baseline="0" dirty="0" smtClean="0">
                <a:solidFill>
                  <a:schemeClr val="tx1"/>
                </a:solidFill>
                <a:ea typeface="+mn-ea"/>
                <a:cs typeface="+mn-cs"/>
              </a:rPr>
              <a:t>	4a) confirm	b) As requested 	c) your arrival	d) look forward	e) sincerely</a:t>
            </a:r>
          </a:p>
          <a:p>
            <a:endParaRPr lang="en-AU" sz="1200" u="none" kern="1200" baseline="0" dirty="0" smtClean="0">
              <a:solidFill>
                <a:schemeClr val="tx1"/>
              </a:solidFill>
              <a:ea typeface="+mn-ea"/>
              <a:cs typeface="+mn-cs"/>
            </a:endParaRPr>
          </a:p>
          <a:p>
            <a:r>
              <a:rPr lang="en-AU" sz="1200" b="1" u="none" kern="1200" baseline="0" dirty="0" smtClean="0">
                <a:solidFill>
                  <a:schemeClr val="tx1"/>
                </a:solidFill>
                <a:ea typeface="+mn-ea"/>
                <a:cs typeface="+mn-cs"/>
              </a:rPr>
              <a:t>Activity: </a:t>
            </a:r>
            <a:r>
              <a:rPr lang="en-AU" sz="1200" b="0" u="none" kern="1200" baseline="0" dirty="0" smtClean="0">
                <a:solidFill>
                  <a:schemeClr val="tx1"/>
                </a:solidFill>
                <a:ea typeface="+mn-ea"/>
                <a:cs typeface="+mn-cs"/>
              </a:rPr>
              <a:t>Students complete the grammar and spelling tasks.</a:t>
            </a:r>
          </a:p>
          <a:p>
            <a:r>
              <a:rPr lang="en-AU" sz="1200" b="1" u="none" kern="1200" baseline="0" dirty="0" smtClean="0">
                <a:solidFill>
                  <a:schemeClr val="tx1"/>
                </a:solidFill>
                <a:ea typeface="+mn-ea"/>
                <a:cs typeface="+mn-cs"/>
              </a:rPr>
              <a:t>Answers: </a:t>
            </a:r>
            <a:r>
              <a:rPr lang="en-US" sz="1200" kern="1200" dirty="0" smtClean="0">
                <a:solidFill>
                  <a:schemeClr val="tx1"/>
                </a:solidFill>
                <a:ea typeface="+mn-ea"/>
                <a:cs typeface="+mn-cs"/>
              </a:rPr>
              <a:t>Dear Bob,</a:t>
            </a:r>
            <a:br>
              <a:rPr lang="en-US" sz="1200" kern="1200" dirty="0" smtClean="0">
                <a:solidFill>
                  <a:schemeClr val="tx1"/>
                </a:solidFill>
                <a:ea typeface="+mn-ea"/>
                <a:cs typeface="+mn-cs"/>
              </a:rPr>
            </a:br>
            <a:endParaRPr lang="en-US" sz="1200" kern="1200" dirty="0" smtClean="0">
              <a:solidFill>
                <a:schemeClr val="tx1"/>
              </a:solidFill>
              <a:ea typeface="+mn-ea"/>
              <a:cs typeface="+mn-cs"/>
            </a:endParaRPr>
          </a:p>
          <a:p>
            <a:r>
              <a:rPr lang="en-US" sz="1200" kern="1200" dirty="0" smtClean="0">
                <a:solidFill>
                  <a:schemeClr val="tx1"/>
                </a:solidFill>
                <a:ea typeface="+mn-ea"/>
                <a:cs typeface="+mn-cs"/>
              </a:rPr>
              <a:t>Further to our telephone</a:t>
            </a:r>
            <a:r>
              <a:rPr lang="en-US" sz="1200" b="1" kern="1200" dirty="0" smtClean="0">
                <a:solidFill>
                  <a:schemeClr val="tx1"/>
                </a:solidFill>
                <a:ea typeface="+mn-ea"/>
                <a:cs typeface="+mn-cs"/>
              </a:rPr>
              <a:t>s</a:t>
            </a:r>
            <a:r>
              <a:rPr lang="en-US" sz="1200" kern="1200" dirty="0" smtClean="0">
                <a:solidFill>
                  <a:schemeClr val="tx1"/>
                </a:solidFill>
                <a:ea typeface="+mn-ea"/>
                <a:cs typeface="+mn-cs"/>
              </a:rPr>
              <a:t> discussion, I am providing you with a map with directions for </a:t>
            </a:r>
            <a:r>
              <a:rPr lang="en-US" sz="1200" b="1" kern="1200" dirty="0" err="1" smtClean="0">
                <a:solidFill>
                  <a:schemeClr val="tx1"/>
                </a:solidFill>
                <a:ea typeface="+mn-ea"/>
                <a:cs typeface="+mn-cs"/>
              </a:rPr>
              <a:t>geting</a:t>
            </a:r>
            <a:r>
              <a:rPr lang="en-US" sz="1200" kern="1200" dirty="0" smtClean="0">
                <a:solidFill>
                  <a:schemeClr val="tx1"/>
                </a:solidFill>
                <a:ea typeface="+mn-ea"/>
                <a:cs typeface="+mn-cs"/>
              </a:rPr>
              <a:t> to the Tourism Conference, which you will find attached. I shall see you on Friday 20th May at 2pm. Should you </a:t>
            </a:r>
            <a:r>
              <a:rPr lang="en-US" sz="1200" b="1" kern="1200" dirty="0" smtClean="0">
                <a:solidFill>
                  <a:schemeClr val="tx1"/>
                </a:solidFill>
                <a:ea typeface="+mn-ea"/>
                <a:cs typeface="+mn-cs"/>
              </a:rPr>
              <a:t>had</a:t>
            </a:r>
            <a:r>
              <a:rPr lang="en-US" sz="1200" kern="1200" dirty="0" smtClean="0">
                <a:solidFill>
                  <a:schemeClr val="tx1"/>
                </a:solidFill>
                <a:ea typeface="+mn-ea"/>
                <a:cs typeface="+mn-cs"/>
              </a:rPr>
              <a:t> any problems in getting here, please do not hesitate to call me</a:t>
            </a:r>
            <a:r>
              <a:rPr lang="en-US" sz="1200" b="1" kern="1200" dirty="0" smtClean="0">
                <a:solidFill>
                  <a:schemeClr val="tx1"/>
                </a:solidFill>
                <a:ea typeface="+mn-ea"/>
                <a:cs typeface="+mn-cs"/>
              </a:rPr>
              <a:t> in </a:t>
            </a:r>
            <a:r>
              <a:rPr lang="en-US" sz="1200" kern="1200" dirty="0" smtClean="0">
                <a:solidFill>
                  <a:schemeClr val="tx1"/>
                </a:solidFill>
                <a:ea typeface="+mn-ea"/>
                <a:cs typeface="+mn-cs"/>
              </a:rPr>
              <a:t>the number below. </a:t>
            </a:r>
          </a:p>
          <a:p>
            <a:endParaRPr lang="en-US"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a typeface="+mn-ea"/>
                <a:cs typeface="+mn-cs"/>
              </a:rPr>
              <a:t>Thank</a:t>
            </a:r>
            <a:r>
              <a:rPr lang="en-US" sz="1200" b="1" kern="1200" dirty="0" smtClean="0">
                <a:solidFill>
                  <a:schemeClr val="tx1"/>
                </a:solidFill>
                <a:ea typeface="+mn-ea"/>
                <a:cs typeface="+mn-cs"/>
              </a:rPr>
              <a:t>s</a:t>
            </a:r>
            <a:r>
              <a:rPr lang="en-US" sz="1200" kern="1200" dirty="0" smtClean="0">
                <a:solidFill>
                  <a:schemeClr val="tx1"/>
                </a:solidFill>
                <a:ea typeface="+mn-ea"/>
                <a:cs typeface="+mn-cs"/>
              </a:rPr>
              <a:t> you for showing an interest</a:t>
            </a:r>
            <a:r>
              <a:rPr lang="en-US" sz="1200" b="1" kern="1200" dirty="0" smtClean="0">
                <a:solidFill>
                  <a:schemeClr val="tx1"/>
                </a:solidFill>
                <a:ea typeface="+mn-ea"/>
                <a:cs typeface="+mn-cs"/>
              </a:rPr>
              <a:t>ing</a:t>
            </a:r>
            <a:r>
              <a:rPr lang="en-US" sz="1200" kern="1200" dirty="0" smtClean="0">
                <a:solidFill>
                  <a:schemeClr val="tx1"/>
                </a:solidFill>
                <a:ea typeface="+mn-ea"/>
                <a:cs typeface="+mn-cs"/>
              </a:rPr>
              <a:t> in our company. Unfortunately, we are unable to </a:t>
            </a:r>
            <a:r>
              <a:rPr lang="en-US" sz="1200" b="1" kern="1200" dirty="0" smtClean="0">
                <a:solidFill>
                  <a:schemeClr val="tx1"/>
                </a:solidFill>
                <a:ea typeface="+mn-ea"/>
                <a:cs typeface="+mn-cs"/>
              </a:rPr>
              <a:t>met</a:t>
            </a:r>
            <a:r>
              <a:rPr lang="en-US" sz="1200" kern="1200" dirty="0" smtClean="0">
                <a:solidFill>
                  <a:schemeClr val="tx1"/>
                </a:solidFill>
                <a:ea typeface="+mn-ea"/>
                <a:cs typeface="+mn-cs"/>
              </a:rPr>
              <a:t> with you until next month. If this timeline is suitable, we would be happy to send a sales representative to meet with you. </a:t>
            </a:r>
            <a:br>
              <a:rPr lang="en-US" sz="1200" kern="1200" dirty="0" smtClean="0">
                <a:solidFill>
                  <a:schemeClr val="tx1"/>
                </a:solidFill>
                <a:ea typeface="+mn-ea"/>
                <a:cs typeface="+mn-cs"/>
              </a:rPr>
            </a:br>
            <a:r>
              <a:rPr lang="en-US" sz="1200" kern="1200" dirty="0" smtClean="0">
                <a:solidFill>
                  <a:schemeClr val="tx1"/>
                </a:solidFill>
                <a:ea typeface="+mn-ea"/>
                <a:cs typeface="+mn-cs"/>
              </a:rPr>
              <a:t/>
            </a:r>
            <a:br>
              <a:rPr lang="en-US" sz="1200" kern="1200" dirty="0" smtClean="0">
                <a:solidFill>
                  <a:schemeClr val="tx1"/>
                </a:solidFill>
                <a:ea typeface="+mn-ea"/>
                <a:cs typeface="+mn-cs"/>
              </a:rPr>
            </a:br>
            <a:r>
              <a:rPr lang="en-US" sz="1200" kern="1200" dirty="0" smtClean="0">
                <a:solidFill>
                  <a:schemeClr val="tx1"/>
                </a:solidFill>
                <a:ea typeface="+mn-ea"/>
                <a:cs typeface="+mn-cs"/>
              </a:rPr>
              <a:t>Please let us know</a:t>
            </a:r>
            <a:r>
              <a:rPr lang="en-US" sz="1200" b="1" kern="1200" dirty="0" smtClean="0">
                <a:solidFill>
                  <a:schemeClr val="tx1"/>
                </a:solidFill>
                <a:ea typeface="+mn-ea"/>
                <a:cs typeface="+mn-cs"/>
              </a:rPr>
              <a:t>s</a:t>
            </a:r>
            <a:r>
              <a:rPr lang="en-US" sz="1200" kern="1200" dirty="0" smtClean="0">
                <a:solidFill>
                  <a:schemeClr val="tx1"/>
                </a:solidFill>
                <a:ea typeface="+mn-ea"/>
                <a:cs typeface="+mn-cs"/>
              </a:rPr>
              <a:t> a convenient time to meet you.</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a typeface="+mn-ea"/>
              <a:cs typeface="+mn-cs"/>
            </a:endParaRPr>
          </a:p>
          <a:p>
            <a:r>
              <a:rPr lang="en-US" sz="1200" b="1" kern="1200" dirty="0" err="1" smtClean="0">
                <a:solidFill>
                  <a:schemeClr val="tx1"/>
                </a:solidFill>
                <a:ea typeface="+mn-ea"/>
                <a:cs typeface="+mn-cs"/>
              </a:rPr>
              <a:t>Daer</a:t>
            </a:r>
            <a:r>
              <a:rPr lang="en-US" sz="1200" kern="1200" dirty="0" smtClean="0">
                <a:solidFill>
                  <a:schemeClr val="tx1"/>
                </a:solidFill>
                <a:ea typeface="+mn-ea"/>
                <a:cs typeface="+mn-cs"/>
              </a:rPr>
              <a:t> Ronan,</a:t>
            </a:r>
          </a:p>
          <a:p>
            <a:r>
              <a:rPr lang="en-US" sz="1200" kern="1200" dirty="0" smtClean="0">
                <a:solidFill>
                  <a:schemeClr val="tx1"/>
                </a:solidFill>
                <a:ea typeface="+mn-ea"/>
                <a:cs typeface="+mn-cs"/>
              </a:rPr>
              <a:t/>
            </a:r>
            <a:br>
              <a:rPr lang="en-US" sz="1200" kern="1200" dirty="0" smtClean="0">
                <a:solidFill>
                  <a:schemeClr val="tx1"/>
                </a:solidFill>
                <a:ea typeface="+mn-ea"/>
                <a:cs typeface="+mn-cs"/>
              </a:rPr>
            </a:br>
            <a:r>
              <a:rPr lang="en-US" sz="1200" kern="1200" dirty="0" smtClean="0">
                <a:solidFill>
                  <a:schemeClr val="tx1"/>
                </a:solidFill>
                <a:ea typeface="+mn-ea"/>
                <a:cs typeface="+mn-cs"/>
              </a:rPr>
              <a:t>Hear are your travel details (attached). </a:t>
            </a:r>
          </a:p>
          <a:p>
            <a:r>
              <a:rPr lang="en-US" sz="1200" kern="1200" dirty="0" smtClean="0">
                <a:solidFill>
                  <a:schemeClr val="tx1"/>
                </a:solidFill>
                <a:ea typeface="+mn-ea"/>
                <a:cs typeface="+mn-cs"/>
              </a:rPr>
              <a:t>I’ll let you know which hotel you’re in as soon as I know. </a:t>
            </a:r>
          </a:p>
          <a:p>
            <a:r>
              <a:rPr lang="en-US" sz="1200" kern="1200" dirty="0" smtClean="0">
                <a:solidFill>
                  <a:schemeClr val="tx1"/>
                </a:solidFill>
                <a:ea typeface="+mn-ea"/>
                <a:cs typeface="+mn-cs"/>
              </a:rPr>
              <a:t/>
            </a:r>
            <a:br>
              <a:rPr lang="en-US" sz="1200" kern="1200" dirty="0" smtClean="0">
                <a:solidFill>
                  <a:schemeClr val="tx1"/>
                </a:solidFill>
                <a:ea typeface="+mn-ea"/>
                <a:cs typeface="+mn-cs"/>
              </a:rPr>
            </a:br>
            <a:r>
              <a:rPr lang="en-US" sz="1200" b="1" kern="1200" dirty="0" smtClean="0">
                <a:solidFill>
                  <a:schemeClr val="tx1"/>
                </a:solidFill>
                <a:ea typeface="+mn-ea"/>
                <a:cs typeface="+mn-cs"/>
              </a:rPr>
              <a:t>Has</a:t>
            </a:r>
            <a:r>
              <a:rPr lang="en-US" sz="1200" kern="1200" dirty="0" smtClean="0">
                <a:solidFill>
                  <a:schemeClr val="tx1"/>
                </a:solidFill>
                <a:ea typeface="+mn-ea"/>
                <a:cs typeface="+mn-cs"/>
              </a:rPr>
              <a:t> a nice week!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dirty="0" smtClean="0">
                <a:solidFill>
                  <a:schemeClr val="tx1"/>
                </a:solidFill>
                <a:ea typeface="+mn-ea"/>
                <a:cs typeface="+mn-cs"/>
              </a:rPr>
              <a:t>Activity: </a:t>
            </a:r>
            <a:r>
              <a:rPr lang="en-US" sz="1200" b="0" kern="1200" dirty="0" smtClean="0">
                <a:solidFill>
                  <a:schemeClr val="tx1"/>
                </a:solidFill>
                <a:ea typeface="+mn-ea"/>
                <a:cs typeface="+mn-cs"/>
              </a:rPr>
              <a:t>Trainees read the three emails and change</a:t>
            </a:r>
            <a:r>
              <a:rPr lang="en-US" sz="1200" b="0" kern="1200" baseline="0" dirty="0" smtClean="0">
                <a:solidFill>
                  <a:schemeClr val="tx1"/>
                </a:solidFill>
                <a:ea typeface="+mn-ea"/>
                <a:cs typeface="+mn-cs"/>
              </a:rPr>
              <a:t> the language using examples from previous activities. Various responses possible. Trainer checks answers.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a typeface="+mn-ea"/>
                <a:cs typeface="+mn-cs"/>
              </a:rPr>
              <a:t/>
            </a:r>
            <a:br>
              <a:rPr lang="en-US" sz="1200" kern="1200" dirty="0" smtClean="0">
                <a:solidFill>
                  <a:schemeClr val="tx1"/>
                </a:solidFill>
                <a:ea typeface="+mn-ea"/>
                <a:cs typeface="+mn-cs"/>
              </a:rPr>
            </a:br>
            <a:endParaRPr lang="en-US" sz="1200" kern="1200" dirty="0" smtClean="0">
              <a:solidFill>
                <a:schemeClr val="tx1"/>
              </a:solidFill>
              <a:ea typeface="+mn-ea"/>
              <a:cs typeface="+mn-cs"/>
            </a:endParaRPr>
          </a:p>
          <a:p>
            <a:endParaRPr lang="en-US" sz="1200" kern="1200" dirty="0" smtClean="0">
              <a:solidFill>
                <a:schemeClr val="tx1"/>
              </a:solidFill>
              <a:ea typeface="+mn-ea"/>
              <a:cs typeface="+mn-cs"/>
            </a:endParaRPr>
          </a:p>
          <a:p>
            <a:endParaRPr lang="en-US" sz="1200" b="1" u="none" kern="1200" dirty="0" smtClean="0">
              <a:solidFill>
                <a:schemeClr val="tx1"/>
              </a:solidFill>
              <a:ea typeface="+mn-ea"/>
              <a:cs typeface="+mn-cs"/>
            </a:endParaRPr>
          </a:p>
          <a:p>
            <a:r>
              <a:rPr lang="en-AU" sz="1200" u="none" kern="1200" dirty="0" smtClean="0">
                <a:solidFill>
                  <a:schemeClr val="tx1"/>
                </a:solidFill>
                <a:ea typeface="+mn-ea"/>
                <a:cs typeface="+mn-cs"/>
              </a:rPr>
              <a:t>	</a:t>
            </a:r>
            <a:endParaRPr lang="en-US" sz="1200" u="none" kern="1200" dirty="0" smtClean="0">
              <a:solidFill>
                <a:schemeClr val="tx1"/>
              </a:solidFill>
              <a:ea typeface="+mn-ea"/>
              <a:cs typeface="+mn-cs"/>
            </a:endParaRPr>
          </a:p>
          <a:p>
            <a:pPr>
              <a:buFont typeface="Arial" pitchFamily="34" charset="0"/>
              <a:buNone/>
            </a:pPr>
            <a:endParaRPr lang="en-US" b="1" u="none"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476982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the unit and goes through</a:t>
            </a:r>
            <a:r>
              <a:rPr lang="en-US" baseline="0" dirty="0" smtClean="0"/>
              <a:t> the slide with trainees. Trainees offer any other suggestions.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796684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points with trainees.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32403144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Trainees read the text and underline the main points. Trainer checks responses with the class.</a:t>
            </a:r>
          </a:p>
          <a:p>
            <a:pPr>
              <a:buFont typeface="Arial" pitchFamily="34" charset="0"/>
              <a:buNone/>
            </a:pPr>
            <a:endParaRPr lang="en-US" dirty="0" smtClean="0"/>
          </a:p>
          <a:p>
            <a:pPr>
              <a:buFont typeface="Arial" pitchFamily="34" charset="0"/>
              <a:buNone/>
            </a:pPr>
            <a:r>
              <a:rPr lang="en-US" b="1" dirty="0" smtClean="0"/>
              <a:t>Newspaper Article</a:t>
            </a:r>
            <a:r>
              <a:rPr lang="en-US" b="1" baseline="0" dirty="0" smtClean="0"/>
              <a:t> activity: </a:t>
            </a:r>
            <a:r>
              <a:rPr lang="en-US" b="0" baseline="0" dirty="0" smtClean="0"/>
              <a:t>Students read the article and answer the questions. Various answers possible. Trainer checks answers.</a:t>
            </a:r>
          </a:p>
          <a:p>
            <a:pPr>
              <a:buFont typeface="Arial" pitchFamily="34" charset="0"/>
              <a:buNone/>
            </a:pPr>
            <a:endParaRPr lang="en-US" b="0" baseline="0" dirty="0" smtClean="0"/>
          </a:p>
          <a:p>
            <a:pPr>
              <a:buFont typeface="Arial" pitchFamily="34" charset="0"/>
              <a:buNone/>
            </a:pPr>
            <a:r>
              <a:rPr lang="en-US" b="1" baseline="0" dirty="0" smtClean="0"/>
              <a:t>Michael Email Activity: </a:t>
            </a:r>
            <a:r>
              <a:rPr lang="en-US" b="0" baseline="0" dirty="0" smtClean="0"/>
              <a:t>Students read email and answer questions. Students check answers with each other.</a:t>
            </a:r>
          </a:p>
          <a:p>
            <a:pPr>
              <a:buFont typeface="Arial" pitchFamily="34" charset="0"/>
              <a:buNone/>
            </a:pPr>
            <a:endParaRPr lang="en-US" b="0" baseline="0" dirty="0" smtClean="0"/>
          </a:p>
          <a:p>
            <a:pPr>
              <a:buFont typeface="Arial" pitchFamily="34" charset="0"/>
              <a:buNone/>
            </a:pPr>
            <a:r>
              <a:rPr lang="en-US" b="1" baseline="0" dirty="0" smtClean="0"/>
              <a:t>Planning activity: </a:t>
            </a:r>
            <a:r>
              <a:rPr lang="en-US" b="0" baseline="0" dirty="0" smtClean="0"/>
              <a:t>Students read through emails/letters and plan responses for each one.  Trainer checks points.</a:t>
            </a:r>
            <a:endParaRPr lang="en-US" b="1" baseline="0" dirty="0" smtClean="0"/>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42747917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a:t>
            </a:r>
            <a:r>
              <a:rPr lang="en-US" baseline="0" dirty="0" smtClean="0"/>
              <a:t> the unit and explains the need to use correct format when writing letters and emails.</a:t>
            </a:r>
          </a:p>
          <a:p>
            <a:pPr>
              <a:buFont typeface="Arial" pitchFamily="34" charset="0"/>
              <a:buNone/>
            </a:pPr>
            <a:endParaRPr lang="en-US" baseline="0" dirty="0" smtClean="0"/>
          </a:p>
          <a:p>
            <a:pPr>
              <a:buFont typeface="Arial" pitchFamily="34" charset="0"/>
              <a:buNone/>
            </a:pPr>
            <a:r>
              <a:rPr lang="en-US" b="1" baseline="0" dirty="0" smtClean="0"/>
              <a:t>Activity: </a:t>
            </a:r>
            <a:r>
              <a:rPr lang="en-US" b="0" baseline="0" dirty="0" smtClean="0"/>
              <a:t>Students read the letter of complaint then prepare a response to the letter. Students must identify the major issues and respond clearly and effectively to each complaint. Students use the template in their Trainee Manuals to help them. Trainer supports students and checks responses. </a:t>
            </a:r>
          </a:p>
          <a:p>
            <a:pPr>
              <a:buFont typeface="Arial" pitchFamily="34" charset="0"/>
              <a:buNone/>
            </a:pPr>
            <a:endParaRPr lang="en-US" b="0" baseline="0" dirty="0" smtClean="0"/>
          </a:p>
          <a:p>
            <a:pPr>
              <a:buFont typeface="Arial" pitchFamily="34" charset="0"/>
              <a:buNone/>
            </a:pPr>
            <a:r>
              <a:rPr lang="en-US" b="0" baseline="0" dirty="0" smtClean="0"/>
              <a:t>Trainer uses examples of students’ responses and identifies areas that need to be improved: grammar, spelling, format, paragraphing, punctuation, vocabulary.</a:t>
            </a:r>
          </a:p>
          <a:p>
            <a:pPr>
              <a:buFont typeface="Arial" pitchFamily="34" charset="0"/>
              <a:buNone/>
            </a:pPr>
            <a:endParaRPr lang="en-US" b="0" baseline="0" dirty="0" smtClean="0"/>
          </a:p>
          <a:p>
            <a:pPr>
              <a:buFont typeface="Arial" pitchFamily="34" charset="0"/>
              <a:buNone/>
            </a:pPr>
            <a:r>
              <a:rPr lang="en-US" b="1" baseline="0" dirty="0" smtClean="0"/>
              <a:t>Activity: </a:t>
            </a:r>
            <a:r>
              <a:rPr lang="en-US" b="0" baseline="0" dirty="0" smtClean="0"/>
              <a:t>Students read the emails/letters and determine what is missing in terms of format: business address, signature, type of language</a:t>
            </a: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1980719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a:t>
            </a:r>
            <a:r>
              <a:rPr lang="en-US" baseline="0" dirty="0" smtClean="0"/>
              <a:t> the unit and explains the importance of tone when writing emails and letters.</a:t>
            </a:r>
          </a:p>
          <a:p>
            <a:pPr>
              <a:buFont typeface="Arial" pitchFamily="34" charset="0"/>
              <a:buNone/>
            </a:pPr>
            <a:endParaRPr lang="en-US" baseline="0" dirty="0" smtClean="0"/>
          </a:p>
          <a:p>
            <a:pPr>
              <a:buFont typeface="Arial" pitchFamily="34" charset="0"/>
              <a:buNone/>
            </a:pPr>
            <a:r>
              <a:rPr lang="en-US" b="1" baseline="0" dirty="0" smtClean="0"/>
              <a:t>Activity: </a:t>
            </a:r>
            <a:r>
              <a:rPr lang="en-US" b="0" baseline="0" dirty="0" smtClean="0"/>
              <a:t>Students read the letter/email in the slide and decide if the language is appropriate. (The language is extremely formal and full of adjectives and challenging vocabulary.) This may not be appropriate and it makes the main points difficult to understand.</a:t>
            </a:r>
          </a:p>
          <a:p>
            <a:pPr>
              <a:buFont typeface="Arial" pitchFamily="34" charset="0"/>
              <a:buNone/>
            </a:pPr>
            <a:r>
              <a:rPr lang="en-US" b="0" baseline="0" dirty="0" smtClean="0"/>
              <a:t>Students read the shortened reply and decide if it still conveys the main points of the message.</a:t>
            </a:r>
          </a:p>
          <a:p>
            <a:pPr>
              <a:buFont typeface="Arial" pitchFamily="34" charset="0"/>
              <a:buNone/>
            </a:pPr>
            <a:endParaRPr lang="en-US" b="0" baseline="0" dirty="0" smtClean="0"/>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36408796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Students read the reply to the email request and decide if the tone</a:t>
            </a:r>
            <a:r>
              <a:rPr lang="en-US" baseline="0" dirty="0" smtClean="0"/>
              <a:t> is appropriate. (It is impolite and rude. Strong language and </a:t>
            </a:r>
            <a:r>
              <a:rPr lang="en-US" baseline="0" dirty="0" err="1" smtClean="0"/>
              <a:t>capitalisation</a:t>
            </a:r>
            <a:r>
              <a:rPr lang="en-US" baseline="0" dirty="0" smtClean="0"/>
              <a:t>. Inappropriate tone.)</a:t>
            </a:r>
          </a:p>
          <a:p>
            <a:pPr>
              <a:buFont typeface="Arial" pitchFamily="34" charset="0"/>
              <a:buNone/>
            </a:pPr>
            <a:endParaRPr lang="en-US" baseline="0" dirty="0" smtClean="0"/>
          </a:p>
          <a:p>
            <a:pPr>
              <a:buFont typeface="Arial" pitchFamily="34" charset="0"/>
              <a:buNone/>
            </a:pPr>
            <a:r>
              <a:rPr lang="en-US" b="1" baseline="0" dirty="0" smtClean="0"/>
              <a:t>Activity: </a:t>
            </a:r>
            <a:r>
              <a:rPr lang="en-US" b="0" baseline="0" dirty="0" smtClean="0"/>
              <a:t>Students write a more appropriate reply to the email. Trainer checks responses especially focusing on tone.</a:t>
            </a: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3998070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unit and explains how poor spelling, punctuation and grammar can show a company/person</a:t>
            </a:r>
            <a:r>
              <a:rPr lang="en-US" baseline="0" dirty="0" smtClean="0"/>
              <a:t> as unprofessional. Trainer goes through the slide with trainees and they add or discuss as a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6456718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dirty="0" smtClean="0"/>
              <a:t>Trainer explains what a paragraph is. </a:t>
            </a:r>
            <a:endParaRPr lang="en-US" smtClean="0"/>
          </a:p>
          <a:p>
            <a:pPr>
              <a:buFont typeface="Arial" pitchFamily="34" charset="0"/>
              <a:buNone/>
            </a:pPr>
            <a:endParaRPr lang="en-US" dirty="0" smtClean="0"/>
          </a:p>
          <a:p>
            <a:pPr>
              <a:buFont typeface="Arial" pitchFamily="34" charset="0"/>
              <a:buNone/>
            </a:pPr>
            <a:r>
              <a:rPr lang="en-US" b="1" dirty="0" smtClean="0"/>
              <a:t>Activity: </a:t>
            </a:r>
            <a:r>
              <a:rPr lang="en-US" b="0" dirty="0" smtClean="0"/>
              <a:t>Students read the two examples and determine</a:t>
            </a:r>
            <a:r>
              <a:rPr lang="en-US" b="0" baseline="0" dirty="0" smtClean="0"/>
              <a:t> which is a paragraph (1) and which is a group of sentences (2). Students complete section B. (Answer is 2)</a:t>
            </a:r>
          </a:p>
          <a:p>
            <a:pPr>
              <a:buFont typeface="Arial" pitchFamily="34" charset="0"/>
              <a:buNone/>
            </a:pPr>
            <a:endParaRPr lang="en-US" b="0" baseline="0" dirty="0" smtClean="0"/>
          </a:p>
          <a:p>
            <a:pPr>
              <a:buFont typeface="Arial" pitchFamily="34" charset="0"/>
              <a:buNone/>
            </a:pPr>
            <a:r>
              <a:rPr lang="en-US" b="0" baseline="0" dirty="0" smtClean="0"/>
              <a:t>Students read the </a:t>
            </a:r>
            <a:r>
              <a:rPr lang="en-US" b="0" baseline="0" dirty="0" err="1" smtClean="0"/>
              <a:t>Nabil</a:t>
            </a:r>
            <a:r>
              <a:rPr lang="en-US" b="0" baseline="0" dirty="0" smtClean="0"/>
              <a:t> paragraph and answer. (Answer is 2)</a:t>
            </a:r>
          </a:p>
          <a:p>
            <a:pPr>
              <a:buFont typeface="Arial" pitchFamily="34" charset="0"/>
              <a:buNone/>
            </a:pPr>
            <a:endParaRPr lang="en-US" b="0" baseline="0" dirty="0" smtClean="0"/>
          </a:p>
          <a:p>
            <a:pPr>
              <a:buFont typeface="Arial" pitchFamily="34" charset="0"/>
              <a:buNone/>
            </a:pPr>
            <a:r>
              <a:rPr lang="en-US" b="0" baseline="0" dirty="0" smtClean="0"/>
              <a:t>Trainer goes through topic sentences with students. </a:t>
            </a:r>
          </a:p>
          <a:p>
            <a:pPr>
              <a:buFont typeface="Arial" pitchFamily="34" charset="0"/>
              <a:buNone/>
            </a:pPr>
            <a:endParaRPr lang="en-US" b="0" baseline="0" dirty="0" smtClean="0"/>
          </a:p>
          <a:p>
            <a:pPr>
              <a:buFont typeface="Arial" pitchFamily="34" charset="0"/>
              <a:buNone/>
            </a:pPr>
            <a:r>
              <a:rPr lang="en-US" b="1" baseline="0" dirty="0" smtClean="0"/>
              <a:t>Activity C: </a:t>
            </a:r>
            <a:r>
              <a:rPr lang="en-US" b="0" baseline="0" dirty="0" smtClean="0"/>
              <a:t>Students complete the jumbled paragraph activity. Answers: 1. Concluding sentence.		2. Example	3. Topic Sentence	4. Example</a:t>
            </a:r>
          </a:p>
          <a:p>
            <a:pPr>
              <a:buFont typeface="Arial" pitchFamily="34" charset="0"/>
              <a:buNone/>
            </a:pPr>
            <a:endParaRPr lang="en-US" b="0" baseline="0" dirty="0" smtClean="0"/>
          </a:p>
          <a:p>
            <a:pPr>
              <a:buFont typeface="Arial" pitchFamily="34" charset="0"/>
              <a:buNone/>
            </a:pPr>
            <a:r>
              <a:rPr lang="en-US" b="1" baseline="0" dirty="0" smtClean="0"/>
              <a:t>Activity D: </a:t>
            </a:r>
            <a:r>
              <a:rPr lang="en-US" b="0" baseline="0" dirty="0" smtClean="0"/>
              <a:t>Students complete the activity in their Trainee Manuals. Answers: 1. To begin with, In addition, Finally	2. First of all, As well, Consequently</a:t>
            </a:r>
          </a:p>
          <a:p>
            <a:pPr>
              <a:buFont typeface="Arial" pitchFamily="34" charset="0"/>
              <a:buNone/>
            </a:pPr>
            <a:endParaRPr lang="en-US" b="0" baseline="0" dirty="0" smtClean="0"/>
          </a:p>
          <a:p>
            <a:r>
              <a:rPr lang="en-US" b="1" baseline="0" dirty="0" smtClean="0"/>
              <a:t>Activity E: </a:t>
            </a:r>
            <a:r>
              <a:rPr lang="en-US" b="0" baseline="0" dirty="0" smtClean="0"/>
              <a:t>Students reorder the sentences. </a:t>
            </a:r>
          </a:p>
          <a:p>
            <a:pPr marL="228600" indent="-228600">
              <a:buAutoNum type="arabicPeriod"/>
            </a:pPr>
            <a:r>
              <a:rPr lang="en-AU" sz="1200" kern="1200" dirty="0" smtClean="0">
                <a:solidFill>
                  <a:schemeClr val="tx1"/>
                </a:solidFill>
                <a:ea typeface="+mn-ea"/>
                <a:cs typeface="+mn-cs"/>
              </a:rPr>
              <a:t>Wadi, a meeting and events officer, chose the Star Hotel as the venue for the conference. </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AU" sz="1200" kern="1200" dirty="0" smtClean="0">
                <a:solidFill>
                  <a:schemeClr val="tx1"/>
                </a:solidFill>
                <a:ea typeface="+mn-ea"/>
                <a:cs typeface="+mn-cs"/>
              </a:rPr>
              <a:t>Firstly, the conference room was very large and could seat one hundred people.</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AU" sz="1200" kern="1200" dirty="0" smtClean="0">
                <a:solidFill>
                  <a:schemeClr val="tx1"/>
                </a:solidFill>
                <a:ea typeface="+mn-ea"/>
                <a:cs typeface="+mn-cs"/>
              </a:rPr>
              <a:t>Also, it had a lot of equipment, such as an overhead projector, a computer laptop, a screen, and two microphones.</a:t>
            </a:r>
            <a:endParaRPr lang="en-US" sz="1200" kern="1200" dirty="0" smtClean="0">
              <a:solidFill>
                <a:schemeClr val="tx1"/>
              </a:solidFill>
              <a:ea typeface="+mn-ea"/>
              <a:cs typeface="+mn-cs"/>
            </a:endParaRPr>
          </a:p>
          <a:p>
            <a:pPr marL="228600" indent="-228600">
              <a:buAutoNum type="arabicPeriod"/>
            </a:pPr>
            <a:r>
              <a:rPr lang="en-AU" sz="1200" kern="1200" dirty="0" smtClean="0">
                <a:solidFill>
                  <a:schemeClr val="tx1"/>
                </a:solidFill>
                <a:ea typeface="+mn-ea"/>
                <a:cs typeface="+mn-cs"/>
              </a:rPr>
              <a:t>Lastly, the fees were only $200 a day, which was quite reasonable.</a:t>
            </a:r>
          </a:p>
          <a:p>
            <a:pPr marL="228600" indent="-228600">
              <a:buAutoNum type="arabicPeriod"/>
            </a:pPr>
            <a:endParaRPr lang="en-AU" sz="1200" kern="1200" dirty="0" smtClean="0">
              <a:solidFill>
                <a:schemeClr val="tx1"/>
              </a:solidFill>
              <a:ea typeface="+mn-ea"/>
              <a:cs typeface="+mn-cs"/>
            </a:endParaRPr>
          </a:p>
          <a:p>
            <a:pPr marL="228600" indent="-228600">
              <a:buNone/>
            </a:pPr>
            <a:r>
              <a:rPr lang="en-AU" sz="1200" b="1" kern="1200" dirty="0" smtClean="0">
                <a:solidFill>
                  <a:schemeClr val="tx1"/>
                </a:solidFill>
                <a:ea typeface="+mn-ea"/>
                <a:cs typeface="+mn-cs"/>
              </a:rPr>
              <a:t>Activity</a:t>
            </a:r>
            <a:r>
              <a:rPr lang="en-AU" sz="1200" b="1" kern="1200" baseline="0" dirty="0" smtClean="0">
                <a:solidFill>
                  <a:schemeClr val="tx1"/>
                </a:solidFill>
                <a:ea typeface="+mn-ea"/>
                <a:cs typeface="+mn-cs"/>
              </a:rPr>
              <a:t> F: </a:t>
            </a:r>
            <a:r>
              <a:rPr lang="en-AU" sz="1200" b="0" kern="1200" baseline="0" dirty="0" smtClean="0">
                <a:solidFill>
                  <a:schemeClr val="tx1"/>
                </a:solidFill>
                <a:ea typeface="+mn-ea"/>
                <a:cs typeface="+mn-cs"/>
              </a:rPr>
              <a:t>Students write a paragraph about their hometown.</a:t>
            </a:r>
          </a:p>
          <a:p>
            <a:pPr marL="228600" indent="-228600">
              <a:buNone/>
            </a:pPr>
            <a:endParaRPr lang="en-AU" sz="1200" b="0" kern="1200" baseline="0" dirty="0" smtClean="0">
              <a:solidFill>
                <a:schemeClr val="tx1"/>
              </a:solidFill>
              <a:ea typeface="+mn-ea"/>
              <a:cs typeface="+mn-cs"/>
            </a:endParaRPr>
          </a:p>
          <a:p>
            <a:pPr marL="228600" indent="-228600">
              <a:buNone/>
            </a:pPr>
            <a:r>
              <a:rPr lang="en-AU" sz="1200" b="1" kern="1200" baseline="0" dirty="0" smtClean="0">
                <a:solidFill>
                  <a:schemeClr val="tx1"/>
                </a:solidFill>
                <a:ea typeface="+mn-ea"/>
                <a:cs typeface="+mn-cs"/>
              </a:rPr>
              <a:t>Activity G: </a:t>
            </a:r>
            <a:r>
              <a:rPr lang="en-AU" sz="1200" b="0" kern="1200" baseline="0" dirty="0" smtClean="0">
                <a:solidFill>
                  <a:schemeClr val="tx1"/>
                </a:solidFill>
                <a:ea typeface="+mn-ea"/>
                <a:cs typeface="+mn-cs"/>
              </a:rPr>
              <a:t>Students complete the activity using the correct signal/linking words.</a:t>
            </a:r>
          </a:p>
          <a:p>
            <a:pPr marL="228600" indent="-228600">
              <a:buNone/>
            </a:pPr>
            <a:endParaRPr lang="en-AU" sz="1200" b="0" kern="1200" baseline="0" dirty="0" smtClean="0">
              <a:solidFill>
                <a:schemeClr val="tx1"/>
              </a:solidFill>
              <a:ea typeface="+mn-ea"/>
              <a:cs typeface="+mn-cs"/>
            </a:endParaRPr>
          </a:p>
          <a:p>
            <a:pPr marL="228600" indent="-228600">
              <a:buNone/>
            </a:pPr>
            <a:r>
              <a:rPr lang="en-AU" sz="1200" b="1" kern="1200" baseline="0" dirty="0" smtClean="0">
                <a:solidFill>
                  <a:schemeClr val="tx1"/>
                </a:solidFill>
                <a:ea typeface="+mn-ea"/>
                <a:cs typeface="+mn-cs"/>
              </a:rPr>
              <a:t>Vocabulary activities: </a:t>
            </a:r>
            <a:r>
              <a:rPr lang="en-AU" sz="1200" b="0" kern="1200" baseline="0" dirty="0" smtClean="0">
                <a:solidFill>
                  <a:schemeClr val="tx1"/>
                </a:solidFill>
                <a:ea typeface="+mn-ea"/>
                <a:cs typeface="+mn-cs"/>
              </a:rPr>
              <a:t> Students complete the activities:</a:t>
            </a:r>
          </a:p>
          <a:p>
            <a:pPr marL="228600" indent="-228600">
              <a:buNone/>
            </a:pPr>
            <a:r>
              <a:rPr lang="en-AU" sz="1200" b="0" kern="1200" baseline="0" dirty="0" smtClean="0">
                <a:solidFill>
                  <a:schemeClr val="tx1"/>
                </a:solidFill>
                <a:ea typeface="+mn-ea"/>
                <a:cs typeface="+mn-cs"/>
              </a:rPr>
              <a:t>Answers: A) 1. confirmation, selection, reasonable	2. potential, requests, essential	</a:t>
            </a:r>
          </a:p>
          <a:p>
            <a:pPr marL="228600" indent="-228600">
              <a:buNone/>
            </a:pPr>
            <a:endParaRPr lang="en-AU" sz="1200" b="0" kern="1200" baseline="0" dirty="0" smtClean="0">
              <a:solidFill>
                <a:schemeClr val="tx1"/>
              </a:solidFill>
              <a:ea typeface="+mn-ea"/>
              <a:cs typeface="+mn-cs"/>
            </a:endParaRPr>
          </a:p>
          <a:p>
            <a:pPr marL="228600" indent="-228600">
              <a:buNone/>
            </a:pPr>
            <a:r>
              <a:rPr lang="en-AU" sz="1200" b="0" kern="1200" baseline="0" dirty="0" smtClean="0">
                <a:solidFill>
                  <a:schemeClr val="tx1"/>
                </a:solidFill>
                <a:ea typeface="+mn-ea"/>
                <a:cs typeface="+mn-cs"/>
              </a:rPr>
              <a:t>B) 1. b	2. a	3. b	4. a	5. a	6. b	7. a	8.b</a:t>
            </a:r>
          </a:p>
          <a:p>
            <a:pPr marL="228600" indent="-228600">
              <a:buNone/>
            </a:pPr>
            <a:endParaRPr lang="en-AU" sz="1200" b="0" kern="1200" baseline="0" dirty="0" smtClean="0">
              <a:solidFill>
                <a:schemeClr val="tx1"/>
              </a:solidFill>
              <a:ea typeface="+mn-ea"/>
              <a:cs typeface="+mn-cs"/>
            </a:endParaRPr>
          </a:p>
          <a:p>
            <a:pPr marL="228600" indent="-228600">
              <a:buNone/>
            </a:pPr>
            <a:r>
              <a:rPr lang="en-AU" sz="1200" b="0" kern="1200" baseline="0" dirty="0" smtClean="0">
                <a:solidFill>
                  <a:schemeClr val="tx1"/>
                </a:solidFill>
                <a:ea typeface="+mn-ea"/>
                <a:cs typeface="+mn-cs"/>
              </a:rPr>
              <a:t>Answers: balcony, maximum, audience, ratio, pronunciation, posture, trend, drought, conclusion</a:t>
            </a:r>
          </a:p>
          <a:p>
            <a:pPr marL="228600" indent="-228600">
              <a:buNone/>
            </a:pPr>
            <a:endParaRPr lang="en-AU" sz="1200" b="0" kern="1200" baseline="0" dirty="0" smtClean="0">
              <a:solidFill>
                <a:schemeClr val="tx1"/>
              </a:solidFill>
              <a:ea typeface="+mn-ea"/>
              <a:cs typeface="+mn-cs"/>
            </a:endParaRPr>
          </a:p>
          <a:p>
            <a:pPr marL="228600" indent="-228600">
              <a:buNone/>
            </a:pPr>
            <a:r>
              <a:rPr lang="en-AU" sz="1200" b="1" kern="1200" baseline="0" dirty="0" smtClean="0">
                <a:solidFill>
                  <a:schemeClr val="tx1"/>
                </a:solidFill>
                <a:ea typeface="+mn-ea"/>
                <a:cs typeface="+mn-cs"/>
              </a:rPr>
              <a:t>Activity D answers: </a:t>
            </a:r>
            <a:r>
              <a:rPr lang="en-AU" sz="1200" b="0" kern="1200" baseline="0" dirty="0" smtClean="0">
                <a:solidFill>
                  <a:schemeClr val="tx1"/>
                </a:solidFill>
                <a:ea typeface="+mn-ea"/>
                <a:cs typeface="+mn-cs"/>
              </a:rPr>
              <a:t>1. essential	2. trends	3. annoying	4. maximum	5. drought	6. restrictions	  7. confirmation    8. conclusion, exciting</a:t>
            </a:r>
          </a:p>
          <a:p>
            <a:pPr marL="228600" indent="-228600">
              <a:buNone/>
            </a:pPr>
            <a:endParaRPr lang="en-AU" sz="1200" b="0" kern="1200" baseline="0" dirty="0" smtClean="0">
              <a:solidFill>
                <a:schemeClr val="tx1"/>
              </a:solidFill>
              <a:ea typeface="+mn-ea"/>
              <a:cs typeface="+mn-cs"/>
            </a:endParaRPr>
          </a:p>
          <a:p>
            <a:pPr marL="228600" indent="-228600">
              <a:buNone/>
            </a:pPr>
            <a:r>
              <a:rPr lang="en-AU" sz="1200" b="1" kern="1200" baseline="0" dirty="0" smtClean="0">
                <a:solidFill>
                  <a:schemeClr val="tx1"/>
                </a:solidFill>
                <a:ea typeface="+mn-ea"/>
                <a:cs typeface="+mn-cs"/>
              </a:rPr>
              <a:t>Complaint activity: </a:t>
            </a:r>
            <a:r>
              <a:rPr lang="en-AU" sz="1200" b="0" kern="1200" baseline="0" dirty="0" smtClean="0">
                <a:solidFill>
                  <a:schemeClr val="tx1"/>
                </a:solidFill>
                <a:ea typeface="+mn-ea"/>
                <a:cs typeface="+mn-cs"/>
              </a:rPr>
              <a:t>Students read the complaint and write a response focusing on correct grammar, spelling, tone etc.</a:t>
            </a:r>
            <a:endParaRPr lang="en-AU" sz="1200" b="1" kern="1200" dirty="0" smtClean="0">
              <a:solidFill>
                <a:schemeClr val="tx1"/>
              </a:solidFill>
              <a:ea typeface="+mn-ea"/>
              <a:cs typeface="+mn-cs"/>
            </a:endParaRPr>
          </a:p>
          <a:p>
            <a:pPr marL="228600" indent="-228600">
              <a:buAutoNum type="arabicPeriod"/>
            </a:pPr>
            <a:endParaRPr lang="en-US" sz="1200" kern="1200" dirty="0" smtClean="0">
              <a:solidFill>
                <a:schemeClr val="tx1"/>
              </a:solidFill>
              <a:ea typeface="+mn-ea"/>
              <a:cs typeface="+mn-cs"/>
            </a:endParaRPr>
          </a:p>
          <a:p>
            <a:r>
              <a:rPr lang="en-AU" sz="1200" kern="1200" dirty="0" smtClean="0">
                <a:solidFill>
                  <a:schemeClr val="tx1"/>
                </a:solidFill>
                <a:ea typeface="+mn-ea"/>
                <a:cs typeface="+mn-cs"/>
              </a:rPr>
              <a:t> </a:t>
            </a:r>
            <a:endParaRPr lang="en-US" sz="1200" kern="1200" dirty="0" smtClean="0">
              <a:solidFill>
                <a:schemeClr val="tx1"/>
              </a:solidFill>
              <a:ea typeface="+mn-ea"/>
              <a:cs typeface="+mn-cs"/>
            </a:endParaRPr>
          </a:p>
          <a:p>
            <a:pPr>
              <a:buFont typeface="Arial" pitchFamily="34" charset="0"/>
              <a:buNone/>
            </a:pPr>
            <a:r>
              <a:rPr lang="en-US" b="1" baseline="0" dirty="0" smtClean="0"/>
              <a:t>			</a:t>
            </a:r>
          </a:p>
          <a:p>
            <a:pPr>
              <a:buFont typeface="Arial" pitchFamily="34" charset="0"/>
              <a:buNone/>
            </a:pPr>
            <a:endParaRPr lang="en-US" b="1" baseline="0" dirty="0" smtClean="0"/>
          </a:p>
          <a:p>
            <a:pPr>
              <a:buFont typeface="Arial" pitchFamily="34" charset="0"/>
              <a:buNone/>
            </a:pPr>
            <a:endParaRPr lang="en-US" b="0" baseline="0" dirty="0" smtClean="0"/>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1790723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3/31/2015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3/31/2015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3/31/2015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3/31/2015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3/31/2015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3/31/2015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3/31/2015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http://images.clipart.com/thb/thb14/CL/051115_5303_16/32195802.thb.jpg?051115_5303_1609_v__v"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692696"/>
            <a:ext cx="7632176" cy="1152128"/>
          </a:xfrm>
        </p:spPr>
        <p:txBody>
          <a:bodyPr>
            <a:normAutofit fontScale="90000"/>
          </a:bodyPr>
          <a:lstStyle/>
          <a:p>
            <a:r>
              <a:rPr lang="en-AU" sz="4000" dirty="0" smtClean="0">
                <a:ln w="5000" cmpd="sng">
                  <a:noFill/>
                  <a:prstDash val="solid"/>
                </a:ln>
                <a:solidFill>
                  <a:srgbClr val="FF6600"/>
                </a:solidFill>
                <a:latin typeface="Helvetica" pitchFamily="34" charset="0"/>
              </a:rPr>
              <a:t>PREPARE A BUSINESS LETTER IN ADVANCED ENGLISH</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916832"/>
            <a:ext cx="2541268" cy="433758"/>
          </a:xfrm>
        </p:spPr>
        <p:txBody>
          <a:bodyPr>
            <a:normAutofit/>
          </a:bodyPr>
          <a:lstStyle/>
          <a:p>
            <a:r>
              <a:rPr lang="en-AU" b="1" dirty="0" smtClean="0">
                <a:latin typeface="Helvetica" pitchFamily="34" charset="0"/>
              </a:rPr>
              <a:t>D1.LAN.CL10.10</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a:t>
            </a:fld>
            <a:endParaRPr lang="en-US" dirty="0">
              <a:latin typeface="Helvetica" pitchFamily="34" charset="0"/>
            </a:endParaRPr>
          </a:p>
        </p:txBody>
      </p:sp>
      <p:pic>
        <p:nvPicPr>
          <p:cNvPr id="1028" name="Picture 4" descr="C:\Documents and Settings\danielc\Desktop\Prepare biz letter in Adv English\freeimage-5067342.jpg"/>
          <p:cNvPicPr>
            <a:picLocks noChangeAspect="1" noChangeArrowheads="1"/>
          </p:cNvPicPr>
          <p:nvPr/>
        </p:nvPicPr>
        <p:blipFill>
          <a:blip r:embed="rId3" cstate="print"/>
          <a:srcRect/>
          <a:stretch>
            <a:fillRect/>
          </a:stretch>
        </p:blipFill>
        <p:spPr bwMode="auto">
          <a:xfrm>
            <a:off x="3643306" y="2357430"/>
            <a:ext cx="1992464" cy="29991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2" descr="C:\Documents and Settings\danielc\Desktop\Prepare biz letter in Adv English\freeimage-8268909.jpg"/>
          <p:cNvPicPr>
            <a:picLocks noChangeAspect="1" noChangeArrowheads="1"/>
          </p:cNvPicPr>
          <p:nvPr/>
        </p:nvPicPr>
        <p:blipFill>
          <a:blip r:embed="rId4" cstate="print"/>
          <a:srcRect/>
          <a:stretch>
            <a:fillRect/>
          </a:stretch>
        </p:blipFill>
        <p:spPr bwMode="auto">
          <a:xfrm>
            <a:off x="714348" y="3286124"/>
            <a:ext cx="2857520" cy="18979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7" name="Picture 3" descr="C:\Documents and Settings\danielc\Desktop\Prepare biz letter in Adv English\freeimage-5398798(1).jpg"/>
          <p:cNvPicPr>
            <a:picLocks noChangeAspect="1" noChangeArrowheads="1"/>
          </p:cNvPicPr>
          <p:nvPr/>
        </p:nvPicPr>
        <p:blipFill>
          <a:blip r:embed="rId5" cstate="print"/>
          <a:srcRect/>
          <a:stretch>
            <a:fillRect/>
          </a:stretch>
        </p:blipFill>
        <p:spPr bwMode="auto">
          <a:xfrm>
            <a:off x="5500694" y="3242540"/>
            <a:ext cx="2928958" cy="19501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200" b="1" dirty="0" smtClean="0">
                <a:solidFill>
                  <a:srgbClr val="FF6600"/>
                </a:solidFill>
                <a:latin typeface="Helvetica" pitchFamily="34" charset="0"/>
              </a:rPr>
              <a:t>Assessment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employer or supervisor</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7"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6000760" y="2214554"/>
            <a:ext cx="2131692" cy="1419098"/>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200" b="1" dirty="0" smtClean="0">
                <a:solidFill>
                  <a:srgbClr val="FF6600"/>
                </a:solidFill>
                <a:latin typeface="Helvetica" pitchFamily="34" charset="0"/>
              </a:rPr>
              <a:t>Prepare a business letter in advanced English</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There are three elements in this unit:</a:t>
            </a:r>
          </a:p>
          <a:p>
            <a:pPr marL="360000" indent="-360000">
              <a:spcBef>
                <a:spcPts val="600"/>
              </a:spcBef>
              <a:spcAft>
                <a:spcPts val="1200"/>
              </a:spcAft>
            </a:pPr>
            <a:r>
              <a:rPr lang="en-AU" sz="2200" b="1" dirty="0" smtClean="0">
                <a:latin typeface="Helvetica"/>
              </a:rPr>
              <a:t>Element 1</a:t>
            </a:r>
            <a:r>
              <a:rPr lang="en-AU" sz="2200" dirty="0" smtClean="0">
                <a:latin typeface="Helvetica"/>
              </a:rPr>
              <a:t>: Recognise the purposes of </a:t>
            </a:r>
            <a:br>
              <a:rPr lang="en-AU" sz="2200" dirty="0" smtClean="0">
                <a:latin typeface="Helvetica"/>
              </a:rPr>
            </a:br>
            <a:r>
              <a:rPr lang="en-AU" sz="2200" dirty="0" smtClean="0">
                <a:latin typeface="Helvetica"/>
              </a:rPr>
              <a:t>different types of business letters in the </a:t>
            </a:r>
            <a:br>
              <a:rPr lang="en-AU" sz="2200" dirty="0" smtClean="0">
                <a:latin typeface="Helvetica"/>
              </a:rPr>
            </a:br>
            <a:r>
              <a:rPr lang="en-AU" sz="2200" dirty="0" smtClean="0">
                <a:latin typeface="Helvetica"/>
              </a:rPr>
              <a:t>workplace</a:t>
            </a:r>
            <a:endParaRPr lang="en-US" sz="2200" dirty="0" smtClean="0">
              <a:latin typeface="Helvetica" pitchFamily="34" charset="0"/>
            </a:endParaRPr>
          </a:p>
          <a:p>
            <a:pPr marL="360000" indent="-360000">
              <a:spcBef>
                <a:spcPts val="600"/>
              </a:spcBef>
              <a:spcAft>
                <a:spcPts val="1200"/>
              </a:spcAft>
            </a:pPr>
            <a:r>
              <a:rPr lang="en-AU" sz="2200" b="1" dirty="0" smtClean="0">
                <a:latin typeface="Helvetica"/>
              </a:rPr>
              <a:t>Element 2</a:t>
            </a:r>
            <a:r>
              <a:rPr lang="en-AU" sz="2200" dirty="0" smtClean="0">
                <a:latin typeface="Helvetica"/>
              </a:rPr>
              <a:t>: Understand the conventions of writing a business letter in English</a:t>
            </a:r>
          </a:p>
          <a:p>
            <a:pPr marL="360000" indent="-360000">
              <a:spcBef>
                <a:spcPts val="600"/>
              </a:spcBef>
              <a:spcAft>
                <a:spcPts val="1200"/>
              </a:spcAft>
            </a:pPr>
            <a:r>
              <a:rPr lang="en-AU" sz="2200" b="1" dirty="0" smtClean="0">
                <a:latin typeface="Helvetica"/>
              </a:rPr>
              <a:t>Element 3</a:t>
            </a:r>
            <a:r>
              <a:rPr lang="en-AU" sz="2200" dirty="0" smtClean="0">
                <a:latin typeface="Helvetica"/>
              </a:rPr>
              <a:t>: Apply the conventions of writing a business letter in English</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2" descr="C:\Documents and Settings\danielc\Local Settings\Temporary Internet Files\Content.IE5\XF6U4J0T\MC900434929[1].png"/>
          <p:cNvPicPr>
            <a:picLocks noChangeAspect="1" noChangeArrowheads="1"/>
          </p:cNvPicPr>
          <p:nvPr/>
        </p:nvPicPr>
        <p:blipFill>
          <a:blip r:embed="rId3" cstate="print"/>
          <a:srcRect/>
          <a:stretch>
            <a:fillRect/>
          </a:stretch>
        </p:blipFill>
        <p:spPr bwMode="auto">
          <a:xfrm>
            <a:off x="6643702" y="1785926"/>
            <a:ext cx="1471382" cy="1471382"/>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2800" b="1" dirty="0" err="1" smtClean="0">
                <a:solidFill>
                  <a:srgbClr val="FF6600"/>
                </a:solidFill>
                <a:latin typeface="Helvetica" pitchFamily="34" charset="0"/>
              </a:rPr>
              <a:t>Recognise</a:t>
            </a:r>
            <a:r>
              <a:rPr lang="en-US" sz="2800" b="1" dirty="0" smtClean="0">
                <a:solidFill>
                  <a:srgbClr val="FF6600"/>
                </a:solidFill>
                <a:latin typeface="Helvetica" pitchFamily="34" charset="0"/>
              </a:rPr>
              <a:t> the purposes of different types of business to business letters in the workplace</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performance criteria for this unit include:</a:t>
            </a:r>
          </a:p>
          <a:p>
            <a:pPr marL="360000" lvl="1" indent="-360000">
              <a:spcBef>
                <a:spcPts val="600"/>
              </a:spcBef>
              <a:spcAft>
                <a:spcPts val="1200"/>
              </a:spcAft>
              <a:buSzPct val="80000"/>
              <a:buFont typeface="Wingdings 2"/>
              <a:buChar char=""/>
            </a:pPr>
            <a:r>
              <a:rPr lang="en-AU" sz="2200" dirty="0" smtClean="0">
                <a:latin typeface="Helvetica" pitchFamily="34" charset="0"/>
              </a:rPr>
              <a:t>1.1 	Identify the purposes of various business to 	business letters</a:t>
            </a:r>
            <a:endParaRPr lang="en-US" sz="2200" dirty="0" smtClean="0">
              <a:latin typeface="Helvetica" pitchFamily="34" charset="0"/>
            </a:endParaRPr>
          </a:p>
          <a:p>
            <a:pPr marL="360000" lvl="1" indent="-360000">
              <a:spcBef>
                <a:spcPts val="600"/>
              </a:spcBef>
              <a:spcAft>
                <a:spcPts val="1200"/>
              </a:spcAft>
              <a:buSzPct val="80000"/>
              <a:buFont typeface="Wingdings 2"/>
              <a:buChar char=""/>
            </a:pPr>
            <a:r>
              <a:rPr lang="en-AU" sz="2200" dirty="0" smtClean="0">
                <a:latin typeface="Helvetica" pitchFamily="34" charset="0"/>
              </a:rPr>
              <a:t>1.2	Identify the purposes of business to customer 	letters</a:t>
            </a:r>
            <a:endParaRPr lang="en-US" sz="2200" dirty="0" smtClean="0">
              <a:latin typeface="Helvetica" pitchFamily="34" charset="0"/>
            </a:endParaRPr>
          </a:p>
          <a:p>
            <a:pPr marL="360000" lvl="1" indent="-360000">
              <a:spcBef>
                <a:spcPts val="600"/>
              </a:spcBef>
              <a:spcAft>
                <a:spcPts val="1200"/>
              </a:spcAft>
              <a:buSzPct val="80000"/>
              <a:buFont typeface="Wingdings 2"/>
              <a:buChar char=""/>
            </a:pPr>
            <a:r>
              <a:rPr lang="en-AU" sz="2200" dirty="0" smtClean="0">
                <a:latin typeface="Helvetica" pitchFamily="34" charset="0"/>
              </a:rPr>
              <a:t>1.3	Identify the purposes of letters from employer to 	employee </a:t>
            </a: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571868" y="2643182"/>
            <a:ext cx="399154" cy="527046"/>
          </a:xfrm>
          <a:prstGeom prst="rect">
            <a:avLst/>
          </a:prstGeom>
          <a:noFill/>
        </p:spPr>
      </p:pic>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428860" y="3500438"/>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815524" y="4429132"/>
            <a:ext cx="399154" cy="527046"/>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1.1 	Identify the purposes of various 	business to business letters 2</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600"/>
              </a:spcAft>
              <a:buNone/>
            </a:pPr>
            <a:r>
              <a:rPr lang="en-US" sz="1900" dirty="0" smtClean="0">
                <a:latin typeface="Helvetica" pitchFamily="34" charset="0"/>
              </a:rPr>
              <a:t>There are many different reasons why a business may send another business a letter :</a:t>
            </a:r>
          </a:p>
          <a:p>
            <a:pPr marL="360000" indent="-360000">
              <a:spcBef>
                <a:spcPts val="600"/>
              </a:spcBef>
              <a:spcAft>
                <a:spcPts val="600"/>
              </a:spcAft>
            </a:pPr>
            <a:r>
              <a:rPr lang="en-AU" sz="1900" dirty="0" smtClean="0">
                <a:latin typeface="Helvetica" pitchFamily="34" charset="0"/>
              </a:rPr>
              <a:t>Explaining terms and conditions</a:t>
            </a:r>
          </a:p>
          <a:p>
            <a:pPr marL="360000" indent="-360000">
              <a:spcBef>
                <a:spcPts val="600"/>
              </a:spcBef>
              <a:spcAft>
                <a:spcPts val="600"/>
              </a:spcAft>
            </a:pPr>
            <a:r>
              <a:rPr lang="en-AU" sz="1900" dirty="0" smtClean="0">
                <a:latin typeface="Helvetica" pitchFamily="34" charset="0"/>
              </a:rPr>
              <a:t>Complaining about faulty goods or poor service</a:t>
            </a:r>
          </a:p>
          <a:p>
            <a:pPr marL="360000" indent="-360000">
              <a:spcBef>
                <a:spcPts val="600"/>
              </a:spcBef>
              <a:spcAft>
                <a:spcPts val="600"/>
              </a:spcAft>
            </a:pPr>
            <a:r>
              <a:rPr lang="en-AU" sz="1900" dirty="0" smtClean="0">
                <a:latin typeface="Helvetica" pitchFamily="34" charset="0"/>
              </a:rPr>
              <a:t>Requesting a refund or exchange</a:t>
            </a:r>
          </a:p>
          <a:p>
            <a:pPr marL="360000" indent="-360000">
              <a:spcBef>
                <a:spcPts val="600"/>
              </a:spcBef>
              <a:spcAft>
                <a:spcPts val="600"/>
              </a:spcAft>
            </a:pPr>
            <a:r>
              <a:rPr lang="en-AU" sz="1900" dirty="0" smtClean="0">
                <a:latin typeface="Helvetica" pitchFamily="34" charset="0"/>
              </a:rPr>
              <a:t>Giving a price quotation</a:t>
            </a:r>
          </a:p>
          <a:p>
            <a:pPr marL="360000" indent="-360000">
              <a:spcBef>
                <a:spcPts val="600"/>
              </a:spcBef>
              <a:spcAft>
                <a:spcPts val="600"/>
              </a:spcAft>
            </a:pPr>
            <a:r>
              <a:rPr lang="en-AU" sz="1900" dirty="0" smtClean="0">
                <a:latin typeface="Helvetica" pitchFamily="34" charset="0"/>
              </a:rPr>
              <a:t>Giving or refusing a credit application</a:t>
            </a:r>
          </a:p>
          <a:p>
            <a:pPr marL="360000" indent="-360000">
              <a:spcBef>
                <a:spcPts val="600"/>
              </a:spcBef>
              <a:spcAft>
                <a:spcPts val="600"/>
              </a:spcAft>
            </a:pPr>
            <a:r>
              <a:rPr lang="en-AU" sz="1900" dirty="0" smtClean="0">
                <a:latin typeface="Helvetica" pitchFamily="34" charset="0"/>
              </a:rPr>
              <a:t>Sales letters or product information updates</a:t>
            </a:r>
          </a:p>
          <a:p>
            <a:pPr marL="360000" indent="-360000">
              <a:spcBef>
                <a:spcPts val="600"/>
              </a:spcBef>
              <a:spcAft>
                <a:spcPts val="600"/>
              </a:spcAft>
            </a:pPr>
            <a:r>
              <a:rPr lang="en-AU" sz="1900" dirty="0" smtClean="0">
                <a:latin typeface="Helvetica" pitchFamily="34" charset="0"/>
              </a:rPr>
              <a:t>Introducing a new person or policy</a:t>
            </a:r>
          </a:p>
          <a:p>
            <a:pPr marL="360000" indent="-360000">
              <a:spcBef>
                <a:spcPts val="600"/>
              </a:spcBef>
              <a:spcAft>
                <a:spcPts val="600"/>
              </a:spcAft>
            </a:pPr>
            <a:r>
              <a:rPr lang="en-AU" sz="1900" dirty="0" smtClean="0">
                <a:latin typeface="Helvetica" pitchFamily="34" charset="0"/>
              </a:rPr>
              <a:t>Invitations to a product launch or event</a:t>
            </a:r>
          </a:p>
          <a:p>
            <a:pPr marL="360000" indent="-360000">
              <a:spcBef>
                <a:spcPts val="600"/>
              </a:spcBef>
              <a:spcAft>
                <a:spcPts val="600"/>
              </a:spcAft>
            </a:pPr>
            <a:r>
              <a:rPr lang="en-AU" sz="1900" dirty="0" smtClean="0">
                <a:latin typeface="Helvetica" pitchFamily="34" charset="0"/>
              </a:rPr>
              <a:t>Persuading through promotional material or marketing and sales offer letters</a:t>
            </a:r>
          </a:p>
          <a:p>
            <a:pPr marL="360000" indent="-360000">
              <a:spcBef>
                <a:spcPts val="600"/>
              </a:spcBef>
              <a:spcAft>
                <a:spcPts val="1200"/>
              </a:spcAft>
            </a:pPr>
            <a:endParaRPr lang="en-US" sz="1900" dirty="0" smtClean="0">
              <a:latin typeface="Helvetica" pitchFamily="34" charset="0"/>
            </a:endParaRPr>
          </a:p>
          <a:p>
            <a:pPr marL="360000" indent="-360000">
              <a:spcBef>
                <a:spcPts val="600"/>
              </a:spcBef>
              <a:spcAft>
                <a:spcPts val="1200"/>
              </a:spcAft>
              <a:buNone/>
            </a:pPr>
            <a:endParaRPr lang="en-US" sz="19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6" name="Picture 5" descr="C:\Program Files (x86)\Microsoft Office\MEDIA\OFFICE12\AutoShap\BD18216_.wmf"/>
          <p:cNvPicPr/>
          <p:nvPr/>
        </p:nvPicPr>
        <p:blipFill>
          <a:blip r:embed="rId3" cstate="print"/>
          <a:srcRect/>
          <a:stretch>
            <a:fillRect/>
          </a:stretch>
        </p:blipFill>
        <p:spPr bwMode="auto">
          <a:xfrm>
            <a:off x="6429388" y="3286124"/>
            <a:ext cx="2143140" cy="1285884"/>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200" b="1" dirty="0" smtClean="0">
                <a:solidFill>
                  <a:srgbClr val="FF6600"/>
                </a:solidFill>
                <a:latin typeface="Helvetica" pitchFamily="34" charset="0"/>
              </a:rPr>
              <a:t>1.2 	Identify the purposes of 	business to customer letters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100" dirty="0" smtClean="0">
                <a:latin typeface="Helvetica" pitchFamily="34" charset="0"/>
              </a:rPr>
              <a:t>Some examples of purposes of business to customer letters include:</a:t>
            </a:r>
          </a:p>
          <a:p>
            <a:pPr>
              <a:spcBef>
                <a:spcPts val="600"/>
              </a:spcBef>
              <a:spcAft>
                <a:spcPts val="1200"/>
              </a:spcAft>
            </a:pPr>
            <a:r>
              <a:rPr lang="en-AU" sz="2100" dirty="0" smtClean="0"/>
              <a:t>Confirming bookings, itineraries, payments</a:t>
            </a:r>
            <a:endParaRPr lang="en-US" sz="2100" dirty="0" smtClean="0"/>
          </a:p>
          <a:p>
            <a:pPr>
              <a:spcBef>
                <a:spcPts val="600"/>
              </a:spcBef>
              <a:spcAft>
                <a:spcPts val="1200"/>
              </a:spcAft>
            </a:pPr>
            <a:r>
              <a:rPr lang="en-AU" sz="2100" dirty="0" smtClean="0"/>
              <a:t>Sending an invitation</a:t>
            </a:r>
            <a:endParaRPr lang="en-US" sz="2100" dirty="0" smtClean="0"/>
          </a:p>
          <a:p>
            <a:pPr>
              <a:spcBef>
                <a:spcPts val="600"/>
              </a:spcBef>
              <a:spcAft>
                <a:spcPts val="1200"/>
              </a:spcAft>
            </a:pPr>
            <a:r>
              <a:rPr lang="en-AU" sz="2100" dirty="0" smtClean="0"/>
              <a:t>Offering special deals and discounts</a:t>
            </a:r>
            <a:endParaRPr lang="en-US" sz="2100" dirty="0" smtClean="0"/>
          </a:p>
          <a:p>
            <a:pPr>
              <a:spcBef>
                <a:spcPts val="600"/>
              </a:spcBef>
              <a:spcAft>
                <a:spcPts val="1200"/>
              </a:spcAft>
            </a:pPr>
            <a:r>
              <a:rPr lang="en-AU" sz="2100" dirty="0" smtClean="0"/>
              <a:t>Persuading</a:t>
            </a:r>
            <a:endParaRPr lang="en-US" sz="2100" dirty="0" smtClean="0"/>
          </a:p>
          <a:p>
            <a:pPr>
              <a:spcBef>
                <a:spcPts val="600"/>
              </a:spcBef>
              <a:spcAft>
                <a:spcPts val="1200"/>
              </a:spcAft>
            </a:pPr>
            <a:r>
              <a:rPr lang="en-AU" sz="2100" dirty="0" smtClean="0"/>
              <a:t>Providing information about terms and conditions</a:t>
            </a:r>
            <a:endParaRPr lang="en-US" sz="2100" dirty="0" smtClean="0"/>
          </a:p>
          <a:p>
            <a:pPr>
              <a:spcBef>
                <a:spcPts val="600"/>
              </a:spcBef>
              <a:spcAft>
                <a:spcPts val="1200"/>
              </a:spcAft>
            </a:pPr>
            <a:r>
              <a:rPr lang="en-AU" sz="2100" dirty="0" smtClean="0"/>
              <a:t>Responding to a complaint, suggestion or enquiry</a:t>
            </a:r>
            <a:endParaRPr lang="en-US" sz="2100" dirty="0" smtClean="0"/>
          </a:p>
          <a:p>
            <a:pPr>
              <a:spcBef>
                <a:spcPts val="600"/>
              </a:spcBef>
              <a:spcAft>
                <a:spcPts val="1200"/>
              </a:spcAft>
            </a:pPr>
            <a:r>
              <a:rPr lang="en-AU" sz="2100" dirty="0" smtClean="0"/>
              <a:t>Thanking and welcoming new customers</a:t>
            </a:r>
            <a:endParaRPr lang="en-US" sz="2100" dirty="0" smtClean="0"/>
          </a:p>
          <a:p>
            <a:pPr marL="360000" indent="-360000">
              <a:spcBef>
                <a:spcPts val="600"/>
              </a:spcBef>
              <a:spcAft>
                <a:spcPts val="1200"/>
              </a:spcAft>
            </a:pPr>
            <a:endParaRPr lang="en-US" sz="2100" dirty="0" smtClean="0">
              <a:latin typeface="Helvetica" pitchFamily="34" charset="0"/>
            </a:endParaRP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3074" name="Picture 2" descr="C:\Documents and Settings\danielc\Local Settings\Temporary Internet Files\Content.IE5\XGIII3N1\MP900422555[1].jpg"/>
          <p:cNvPicPr>
            <a:picLocks noChangeAspect="1" noChangeArrowheads="1"/>
          </p:cNvPicPr>
          <p:nvPr/>
        </p:nvPicPr>
        <p:blipFill>
          <a:blip r:embed="rId3" cstate="print"/>
          <a:srcRect/>
          <a:stretch>
            <a:fillRect/>
          </a:stretch>
        </p:blipFill>
        <p:spPr bwMode="auto">
          <a:xfrm>
            <a:off x="6286344" y="2857496"/>
            <a:ext cx="2071837" cy="1382304"/>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Complaints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t>In groups, discuss the following:</a:t>
            </a:r>
            <a:endParaRPr lang="en-US" sz="2200" b="1" dirty="0" smtClean="0"/>
          </a:p>
          <a:p>
            <a:pPr>
              <a:spcBef>
                <a:spcPts val="600"/>
              </a:spcBef>
              <a:spcAft>
                <a:spcPts val="1200"/>
              </a:spcAft>
            </a:pPr>
            <a:r>
              <a:rPr lang="en-AU" sz="2200" dirty="0" smtClean="0"/>
              <a:t>Have you ever had a bad experience while travelling?</a:t>
            </a:r>
            <a:endParaRPr lang="en-US" sz="2200" dirty="0" smtClean="0"/>
          </a:p>
          <a:p>
            <a:pPr>
              <a:spcBef>
                <a:spcPts val="600"/>
              </a:spcBef>
              <a:spcAft>
                <a:spcPts val="1200"/>
              </a:spcAft>
            </a:pPr>
            <a:r>
              <a:rPr lang="en-AU" sz="2200" dirty="0" smtClean="0"/>
              <a:t>What was it?</a:t>
            </a:r>
            <a:endParaRPr lang="en-US" sz="2200" dirty="0" smtClean="0"/>
          </a:p>
          <a:p>
            <a:pPr>
              <a:spcBef>
                <a:spcPts val="600"/>
              </a:spcBef>
              <a:spcAft>
                <a:spcPts val="1200"/>
              </a:spcAft>
            </a:pPr>
            <a:r>
              <a:rPr lang="en-AU" sz="2200" dirty="0" smtClean="0"/>
              <a:t>Was it someone else’s fault or was it yours?</a:t>
            </a:r>
            <a:endParaRPr lang="en-US" sz="2200" dirty="0" smtClean="0"/>
          </a:p>
          <a:p>
            <a:pPr>
              <a:spcBef>
                <a:spcPts val="600"/>
              </a:spcBef>
              <a:spcAft>
                <a:spcPts val="1200"/>
              </a:spcAft>
            </a:pPr>
            <a:r>
              <a:rPr lang="en-AU" sz="2200" dirty="0" smtClean="0"/>
              <a:t>Who did you complain to?  </a:t>
            </a:r>
            <a:endParaRPr lang="en-US" sz="22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descr="users_comments"/>
          <p:cNvPicPr/>
          <p:nvPr/>
        </p:nvPicPr>
        <p:blipFill>
          <a:blip r:embed="rId3" cstate="print"/>
          <a:srcRect/>
          <a:stretch>
            <a:fillRect/>
          </a:stretch>
        </p:blipFill>
        <p:spPr bwMode="auto">
          <a:xfrm>
            <a:off x="5286380" y="1142984"/>
            <a:ext cx="857256" cy="877257"/>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200" b="1" dirty="0" smtClean="0">
                <a:solidFill>
                  <a:srgbClr val="FF6600"/>
                </a:solidFill>
                <a:latin typeface="Helvetica" pitchFamily="34" charset="0"/>
              </a:rPr>
              <a:t>1.3 	Identify the purposes of letters 	from employer to employee </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689119"/>
            <a:ext cx="7467600" cy="4525963"/>
          </a:xfrm>
        </p:spPr>
        <p:txBody>
          <a:bodyPr>
            <a:normAutofit/>
          </a:bodyPr>
          <a:lstStyle/>
          <a:p>
            <a:pPr marL="0" indent="0">
              <a:spcBef>
                <a:spcPts val="600"/>
              </a:spcBef>
              <a:spcAft>
                <a:spcPts val="1200"/>
              </a:spcAft>
              <a:buNone/>
            </a:pPr>
            <a:r>
              <a:rPr lang="en-AU" sz="2000" dirty="0" smtClean="0"/>
              <a:t>There are many different purposes for letters from an employer to an employee and these could include:</a:t>
            </a:r>
            <a:endParaRPr lang="en-US" sz="2000" dirty="0" smtClean="0"/>
          </a:p>
          <a:p>
            <a:pPr>
              <a:spcBef>
                <a:spcPts val="600"/>
              </a:spcBef>
              <a:spcAft>
                <a:spcPts val="1200"/>
              </a:spcAft>
            </a:pPr>
            <a:r>
              <a:rPr lang="en-AU" sz="2000" dirty="0" smtClean="0"/>
              <a:t>Confirming employment and welcoming an </a:t>
            </a:r>
            <a:br>
              <a:rPr lang="en-AU" sz="2000" dirty="0" smtClean="0"/>
            </a:br>
            <a:r>
              <a:rPr lang="en-AU" sz="2000" dirty="0" smtClean="0"/>
              <a:t>employee</a:t>
            </a:r>
            <a:endParaRPr lang="en-US" sz="2000" dirty="0" smtClean="0"/>
          </a:p>
          <a:p>
            <a:pPr>
              <a:spcBef>
                <a:spcPts val="600"/>
              </a:spcBef>
              <a:spcAft>
                <a:spcPts val="1200"/>
              </a:spcAft>
            </a:pPr>
            <a:r>
              <a:rPr lang="en-AU" sz="2000" dirty="0" smtClean="0"/>
              <a:t>Outlining company policies and procedures</a:t>
            </a:r>
            <a:endParaRPr lang="en-US" sz="2000" dirty="0" smtClean="0"/>
          </a:p>
          <a:p>
            <a:pPr>
              <a:spcBef>
                <a:spcPts val="600"/>
              </a:spcBef>
              <a:spcAft>
                <a:spcPts val="1200"/>
              </a:spcAft>
            </a:pPr>
            <a:r>
              <a:rPr lang="en-AU" sz="2000" dirty="0" smtClean="0"/>
              <a:t>Explaining employee’s responsibilities and entitlements</a:t>
            </a:r>
            <a:endParaRPr lang="en-US" sz="2000" dirty="0" smtClean="0"/>
          </a:p>
          <a:p>
            <a:pPr>
              <a:spcBef>
                <a:spcPts val="600"/>
              </a:spcBef>
              <a:spcAft>
                <a:spcPts val="1200"/>
              </a:spcAft>
            </a:pPr>
            <a:r>
              <a:rPr lang="en-AU" sz="2000" dirty="0" smtClean="0"/>
              <a:t>Congratulating and acknowledging fine performance</a:t>
            </a:r>
            <a:endParaRPr lang="en-US" sz="2000" dirty="0" smtClean="0"/>
          </a:p>
          <a:p>
            <a:pPr>
              <a:spcBef>
                <a:spcPts val="600"/>
              </a:spcBef>
              <a:spcAft>
                <a:spcPts val="1200"/>
              </a:spcAft>
            </a:pPr>
            <a:r>
              <a:rPr lang="en-AU" sz="2000" dirty="0" smtClean="0"/>
              <a:t>Confirming staff appraisal outcomes and training plans</a:t>
            </a:r>
            <a:endParaRPr lang="en-US" sz="2000" dirty="0" smtClean="0"/>
          </a:p>
          <a:p>
            <a:pPr>
              <a:spcBef>
                <a:spcPts val="600"/>
              </a:spcBef>
              <a:spcAft>
                <a:spcPts val="1200"/>
              </a:spcAft>
            </a:pPr>
            <a:r>
              <a:rPr lang="en-AU" sz="2000" dirty="0" smtClean="0"/>
              <a:t>Warning and/or dismissing</a:t>
            </a:r>
            <a:endParaRPr lang="en-US" sz="2000" dirty="0" smtClean="0"/>
          </a:p>
          <a:p>
            <a:pPr marL="0" indent="0">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4098" name="Picture 2" descr="C:\Documents and Settings\danielc\Desktop\Prepare biz letter in Adv English\966812_envelope_1.jpg"/>
          <p:cNvPicPr>
            <a:picLocks noChangeAspect="1" noChangeArrowheads="1"/>
          </p:cNvPicPr>
          <p:nvPr/>
        </p:nvPicPr>
        <p:blipFill>
          <a:blip r:embed="rId3" cstate="print"/>
          <a:srcRect/>
          <a:stretch>
            <a:fillRect/>
          </a:stretch>
        </p:blipFill>
        <p:spPr bwMode="auto">
          <a:xfrm>
            <a:off x="6643702" y="2500306"/>
            <a:ext cx="1633719" cy="1290638"/>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200" b="1" dirty="0" smtClean="0">
                <a:solidFill>
                  <a:srgbClr val="FF6600"/>
                </a:solidFill>
                <a:latin typeface="Helvetica" pitchFamily="34" charset="0"/>
              </a:rPr>
              <a:t>Job Advertisement</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729728"/>
          </a:xfrm>
        </p:spPr>
        <p:txBody>
          <a:bodyPr>
            <a:normAutofit fontScale="92500" lnSpcReduction="20000"/>
          </a:bodyPr>
          <a:lstStyle/>
          <a:p>
            <a:pPr>
              <a:buNone/>
            </a:pPr>
            <a:r>
              <a:rPr lang="en-AU" sz="2400" b="1" dirty="0" smtClean="0">
                <a:latin typeface="Times New Roman" pitchFamily="18" charset="0"/>
                <a:cs typeface="Times New Roman" pitchFamily="18" charset="0"/>
              </a:rPr>
              <a:t>Front-desk attendant required</a:t>
            </a:r>
            <a:endParaRPr lang="en-US" sz="2400" dirty="0" smtClean="0">
              <a:latin typeface="Times New Roman" pitchFamily="18" charset="0"/>
              <a:cs typeface="Times New Roman" pitchFamily="18" charset="0"/>
            </a:endParaRPr>
          </a:p>
          <a:p>
            <a:pPr>
              <a:buNone/>
            </a:pPr>
            <a:r>
              <a:rPr lang="en-AU" sz="2400" b="1" dirty="0" smtClean="0">
                <a:latin typeface="Times New Roman" pitchFamily="18" charset="0"/>
                <a:cs typeface="Times New Roman" pitchFamily="18" charset="0"/>
              </a:rPr>
              <a:t>187 room, 5 star hotel in the heart of Roma</a:t>
            </a:r>
            <a:endParaRPr lang="en-US" sz="2400" dirty="0" smtClean="0">
              <a:latin typeface="Times New Roman" pitchFamily="18" charset="0"/>
              <a:cs typeface="Times New Roman" pitchFamily="18" charset="0"/>
            </a:endParaRPr>
          </a:p>
          <a:p>
            <a:pPr marL="0" indent="0">
              <a:lnSpc>
                <a:spcPct val="120000"/>
              </a:lnSpc>
              <a:spcBef>
                <a:spcPts val="600"/>
              </a:spcBef>
              <a:spcAft>
                <a:spcPts val="1200"/>
              </a:spcAft>
              <a:buNone/>
            </a:pPr>
            <a:r>
              <a:rPr lang="en-AU" sz="2400" dirty="0" smtClean="0">
                <a:latin typeface="Times New Roman" pitchFamily="18" charset="0"/>
                <a:cs typeface="Times New Roman" pitchFamily="18" charset="0"/>
              </a:rPr>
              <a:t>The suitable </a:t>
            </a:r>
            <a:r>
              <a:rPr lang="en-AU" sz="2400" b="1" dirty="0" smtClean="0">
                <a:latin typeface="Times New Roman" pitchFamily="18" charset="0"/>
                <a:cs typeface="Times New Roman" pitchFamily="18" charset="0"/>
              </a:rPr>
              <a:t>candidate</a:t>
            </a:r>
            <a:r>
              <a:rPr lang="en-AU" sz="2400" dirty="0" smtClean="0">
                <a:latin typeface="Times New Roman" pitchFamily="18" charset="0"/>
                <a:cs typeface="Times New Roman" pitchFamily="18" charset="0"/>
              </a:rPr>
              <a:t> should have experience in front office computer systems, be able to work in a team and have high standards of customer service.</a:t>
            </a:r>
            <a:endParaRPr lang="en-US" sz="2400" dirty="0" smtClean="0">
              <a:latin typeface="Times New Roman" pitchFamily="18" charset="0"/>
              <a:cs typeface="Times New Roman" pitchFamily="18" charset="0"/>
            </a:endParaRPr>
          </a:p>
          <a:p>
            <a:pPr>
              <a:lnSpc>
                <a:spcPct val="120000"/>
              </a:lnSpc>
              <a:spcBef>
                <a:spcPts val="600"/>
              </a:spcBef>
              <a:spcAft>
                <a:spcPts val="1200"/>
              </a:spcAft>
              <a:buNone/>
            </a:pPr>
            <a:r>
              <a:rPr lang="en-AU" sz="2400" dirty="0" smtClean="0">
                <a:latin typeface="Times New Roman" pitchFamily="18" charset="0"/>
                <a:cs typeface="Times New Roman" pitchFamily="18" charset="0"/>
              </a:rPr>
              <a:t>Please send your </a:t>
            </a:r>
            <a:r>
              <a:rPr lang="en-AU" sz="2400" b="1" dirty="0" smtClean="0">
                <a:latin typeface="Times New Roman" pitchFamily="18" charset="0"/>
                <a:cs typeface="Times New Roman" pitchFamily="18" charset="0"/>
              </a:rPr>
              <a:t>CV and letter of</a:t>
            </a:r>
            <a:r>
              <a:rPr lang="en-AU" sz="2400" dirty="0" smtClean="0">
                <a:latin typeface="Times New Roman" pitchFamily="18" charset="0"/>
                <a:cs typeface="Times New Roman" pitchFamily="18" charset="0"/>
              </a:rPr>
              <a:t> a</a:t>
            </a:r>
            <a:r>
              <a:rPr lang="en-AU" sz="2400" b="1" dirty="0" smtClean="0">
                <a:latin typeface="Times New Roman" pitchFamily="18" charset="0"/>
                <a:cs typeface="Times New Roman" pitchFamily="18" charset="0"/>
              </a:rPr>
              <a:t>pplication</a:t>
            </a:r>
            <a:r>
              <a:rPr lang="en-AU" sz="2400" dirty="0" smtClean="0">
                <a:latin typeface="Times New Roman" pitchFamily="18" charset="0"/>
                <a:cs typeface="Times New Roman" pitchFamily="18" charset="0"/>
              </a:rPr>
              <a:t> to:</a:t>
            </a:r>
          </a:p>
          <a:p>
            <a:pPr>
              <a:lnSpc>
                <a:spcPct val="120000"/>
              </a:lnSpc>
              <a:spcBef>
                <a:spcPts val="0"/>
              </a:spcBef>
              <a:buNone/>
            </a:pPr>
            <a:r>
              <a:rPr lang="en-AU" sz="2400" dirty="0" smtClean="0">
                <a:latin typeface="Times New Roman" pitchFamily="18" charset="0"/>
                <a:cs typeface="Times New Roman" pitchFamily="18" charset="0"/>
              </a:rPr>
              <a:t>Mr Marsha Thana</a:t>
            </a:r>
            <a:endParaRPr lang="en-US" sz="2400" dirty="0" smtClean="0">
              <a:latin typeface="Times New Roman" pitchFamily="18" charset="0"/>
              <a:cs typeface="Times New Roman" pitchFamily="18" charset="0"/>
            </a:endParaRPr>
          </a:p>
          <a:p>
            <a:pPr>
              <a:lnSpc>
                <a:spcPct val="120000"/>
              </a:lnSpc>
              <a:spcBef>
                <a:spcPts val="0"/>
              </a:spcBef>
              <a:buNone/>
            </a:pPr>
            <a:r>
              <a:rPr lang="en-AU" sz="2400" dirty="0" smtClean="0">
                <a:latin typeface="Times New Roman" pitchFamily="18" charset="0"/>
                <a:cs typeface="Times New Roman" pitchFamily="18" charset="0"/>
              </a:rPr>
              <a:t>Personnel Manager</a:t>
            </a:r>
            <a:endParaRPr lang="en-US" sz="2400" dirty="0" smtClean="0">
              <a:latin typeface="Times New Roman" pitchFamily="18" charset="0"/>
              <a:cs typeface="Times New Roman" pitchFamily="18" charset="0"/>
            </a:endParaRPr>
          </a:p>
          <a:p>
            <a:pPr>
              <a:lnSpc>
                <a:spcPct val="120000"/>
              </a:lnSpc>
              <a:spcBef>
                <a:spcPts val="0"/>
              </a:spcBef>
              <a:buNone/>
            </a:pPr>
            <a:r>
              <a:rPr lang="en-AU" sz="2400" dirty="0" smtClean="0">
                <a:latin typeface="Times New Roman" pitchFamily="18" charset="0"/>
                <a:cs typeface="Times New Roman" pitchFamily="18" charset="0"/>
              </a:rPr>
              <a:t>Roma Hotel</a:t>
            </a:r>
            <a:endParaRPr lang="en-US" sz="2400" dirty="0" smtClean="0">
              <a:latin typeface="Times New Roman" pitchFamily="18" charset="0"/>
              <a:cs typeface="Times New Roman" pitchFamily="18" charset="0"/>
            </a:endParaRPr>
          </a:p>
          <a:p>
            <a:pPr>
              <a:lnSpc>
                <a:spcPct val="120000"/>
              </a:lnSpc>
              <a:spcBef>
                <a:spcPts val="0"/>
              </a:spcBef>
              <a:buNone/>
            </a:pPr>
            <a:r>
              <a:rPr lang="en-AU" sz="2400" dirty="0" smtClean="0">
                <a:latin typeface="Times New Roman" pitchFamily="18" charset="0"/>
                <a:cs typeface="Times New Roman" pitchFamily="18" charset="0"/>
              </a:rPr>
              <a:t>67 </a:t>
            </a:r>
            <a:r>
              <a:rPr lang="en-AU" sz="2400" dirty="0" err="1" smtClean="0">
                <a:latin typeface="Times New Roman" pitchFamily="18" charset="0"/>
                <a:cs typeface="Times New Roman" pitchFamily="18" charset="0"/>
              </a:rPr>
              <a:t>Makan</a:t>
            </a:r>
            <a:r>
              <a:rPr lang="en-AU" sz="2400" dirty="0" smtClean="0">
                <a:latin typeface="Times New Roman" pitchFamily="18" charset="0"/>
                <a:cs typeface="Times New Roman" pitchFamily="18" charset="0"/>
              </a:rPr>
              <a:t> Road, Roma</a:t>
            </a:r>
            <a:endParaRPr lang="en-US" sz="2400" dirty="0" smtClean="0">
              <a:latin typeface="Times New Roman" pitchFamily="18" charset="0"/>
              <a:cs typeface="Times New Roman" pitchFamily="18" charset="0"/>
            </a:endParaRPr>
          </a:p>
          <a:p>
            <a:pPr>
              <a:lnSpc>
                <a:spcPct val="120000"/>
              </a:lnSpc>
              <a:spcBef>
                <a:spcPts val="0"/>
              </a:spcBef>
              <a:spcAft>
                <a:spcPts val="1200"/>
              </a:spcAft>
              <a:buNone/>
            </a:pPr>
            <a:r>
              <a:rPr lang="en-AU" sz="2400" dirty="0" smtClean="0">
                <a:latin typeface="Times New Roman" pitchFamily="18" charset="0"/>
                <a:cs typeface="Times New Roman" pitchFamily="18" charset="0"/>
              </a:rPr>
              <a:t>Phone 456 222 980</a:t>
            </a:r>
            <a:endParaRPr lang="en-US" sz="2400" dirty="0" smtClean="0">
              <a:latin typeface="Times New Roman" pitchFamily="18" charset="0"/>
              <a:cs typeface="Times New Roman" pitchFamily="18" charset="0"/>
            </a:endParaRPr>
          </a:p>
          <a:p>
            <a:pPr>
              <a:buNone/>
            </a:pPr>
            <a:r>
              <a:rPr lang="en-AU" sz="2400" dirty="0" smtClean="0">
                <a:latin typeface="Times New Roman" pitchFamily="18" charset="0"/>
                <a:cs typeface="Times New Roman" pitchFamily="18" charset="0"/>
              </a:rPr>
              <a:t>Applications close on 30</a:t>
            </a:r>
            <a:r>
              <a:rPr lang="en-AU" sz="2400" baseline="30000" dirty="0" smtClean="0">
                <a:latin typeface="Times New Roman" pitchFamily="18" charset="0"/>
                <a:cs typeface="Times New Roman" pitchFamily="18" charset="0"/>
              </a:rPr>
              <a:t>th</a:t>
            </a:r>
            <a:r>
              <a:rPr lang="en-AU" sz="2400" dirty="0" smtClean="0">
                <a:latin typeface="Times New Roman" pitchFamily="18" charset="0"/>
                <a:cs typeface="Times New Roman" pitchFamily="18" charset="0"/>
              </a:rPr>
              <a:t> July.</a:t>
            </a:r>
            <a:endParaRPr lang="en-US" sz="2400" dirty="0" smtClean="0">
              <a:latin typeface="Times New Roman" pitchFamily="18" charset="0"/>
              <a:cs typeface="Times New Roman" pitchFamily="18"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2050" name="Picture 2" descr="C:\Documents and Settings\danielc\Local Settings\Temporary Internet Files\Content.IE5\3Y3SDCJX\MP900442204[1].jpg"/>
          <p:cNvPicPr>
            <a:picLocks noChangeAspect="1" noChangeArrowheads="1"/>
          </p:cNvPicPr>
          <p:nvPr/>
        </p:nvPicPr>
        <p:blipFill>
          <a:blip r:embed="rId3" cstate="print"/>
          <a:srcRect/>
          <a:stretch>
            <a:fillRect/>
          </a:stretch>
        </p:blipFill>
        <p:spPr bwMode="auto">
          <a:xfrm>
            <a:off x="5715008" y="4143380"/>
            <a:ext cx="2428860" cy="161924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200" b="1" dirty="0" smtClean="0">
                <a:solidFill>
                  <a:srgbClr val="FF6600"/>
                </a:solidFill>
                <a:latin typeface="Helvetica" pitchFamily="34" charset="0"/>
              </a:rPr>
              <a:t>Listen, speak, take notes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400"/>
              </a:spcBef>
              <a:spcAft>
                <a:spcPts val="600"/>
              </a:spcAft>
              <a:buNone/>
            </a:pPr>
            <a:r>
              <a:rPr lang="en-AU" sz="2000" dirty="0" smtClean="0"/>
              <a:t>You are now going to do an activity which requires you to listen, speak and take down notes. Read the following instructions:</a:t>
            </a:r>
            <a:endParaRPr lang="en-US" sz="2000" dirty="0" smtClean="0"/>
          </a:p>
          <a:p>
            <a:pPr>
              <a:spcBef>
                <a:spcPts val="400"/>
              </a:spcBef>
              <a:spcAft>
                <a:spcPts val="600"/>
              </a:spcAft>
            </a:pPr>
            <a:r>
              <a:rPr lang="en-AU" sz="2000" dirty="0" smtClean="0"/>
              <a:t>Your trainer is going to give you a job card</a:t>
            </a:r>
            <a:endParaRPr lang="en-US" sz="2000" dirty="0" smtClean="0"/>
          </a:p>
          <a:p>
            <a:pPr>
              <a:spcBef>
                <a:spcPts val="400"/>
              </a:spcBef>
              <a:spcAft>
                <a:spcPts val="600"/>
              </a:spcAft>
            </a:pPr>
            <a:r>
              <a:rPr lang="en-AU" sz="2000" dirty="0" smtClean="0"/>
              <a:t>Read the job card carefully</a:t>
            </a:r>
            <a:endParaRPr lang="en-US" sz="2000" dirty="0" smtClean="0"/>
          </a:p>
          <a:p>
            <a:pPr>
              <a:spcBef>
                <a:spcPts val="400"/>
              </a:spcBef>
              <a:spcAft>
                <a:spcPts val="600"/>
              </a:spcAft>
            </a:pPr>
            <a:r>
              <a:rPr lang="en-AU" sz="2000" dirty="0" smtClean="0"/>
              <a:t>Look up any words from the job card that you do not understand</a:t>
            </a:r>
            <a:endParaRPr lang="en-US" sz="2000" dirty="0" smtClean="0"/>
          </a:p>
          <a:p>
            <a:pPr>
              <a:spcBef>
                <a:spcPts val="400"/>
              </a:spcBef>
              <a:spcAft>
                <a:spcPts val="600"/>
              </a:spcAft>
            </a:pPr>
            <a:r>
              <a:rPr lang="en-AU" sz="2000" dirty="0" smtClean="0"/>
              <a:t>Move around the classroom and ask other trainees ‘What do you do in your job?’</a:t>
            </a:r>
            <a:endParaRPr lang="en-US" sz="2000" dirty="0" smtClean="0"/>
          </a:p>
          <a:p>
            <a:pPr>
              <a:spcBef>
                <a:spcPts val="400"/>
              </a:spcBef>
              <a:spcAft>
                <a:spcPts val="600"/>
              </a:spcAft>
            </a:pPr>
            <a:r>
              <a:rPr lang="en-AU" sz="2000" dirty="0" smtClean="0"/>
              <a:t>Listen carefully as other trainees read out their job description</a:t>
            </a:r>
            <a:endParaRPr lang="en-US" sz="2000" dirty="0" smtClean="0"/>
          </a:p>
          <a:p>
            <a:pPr>
              <a:spcBef>
                <a:spcPts val="400"/>
              </a:spcBef>
              <a:spcAft>
                <a:spcPts val="600"/>
              </a:spcAft>
            </a:pPr>
            <a:r>
              <a:rPr lang="en-AU" sz="2000" dirty="0" smtClean="0"/>
              <a:t>Write the name of the job and the trainee’s name in the spaces provided on the survey sheet below</a:t>
            </a:r>
            <a:endParaRPr lang="en-US" sz="2000" dirty="0" smtClean="0"/>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descr="user_edit"/>
          <p:cNvPicPr/>
          <p:nvPr/>
        </p:nvPicPr>
        <p:blipFill>
          <a:blip r:embed="rId3" cstate="print"/>
          <a:srcRect/>
          <a:stretch>
            <a:fillRect/>
          </a:stretch>
        </p:blipFill>
        <p:spPr bwMode="auto">
          <a:xfrm>
            <a:off x="6072198" y="357166"/>
            <a:ext cx="885828" cy="928694"/>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32406" cy="1143000"/>
          </a:xfrm>
        </p:spPr>
        <p:txBody>
          <a:bodyPr>
            <a:normAutofit/>
          </a:bodyPr>
          <a:lstStyle/>
          <a:p>
            <a:r>
              <a:rPr lang="en-US" sz="3000" b="1" dirty="0" smtClean="0">
                <a:solidFill>
                  <a:srgbClr val="FF6600"/>
                </a:solidFill>
                <a:latin typeface="Helvetica" pitchFamily="34" charset="0"/>
              </a:rPr>
              <a:t>2.1 	Identify an appropriate format </a:t>
            </a:r>
            <a:br>
              <a:rPr lang="en-US" sz="3000" b="1" dirty="0" smtClean="0">
                <a:solidFill>
                  <a:srgbClr val="FF6600"/>
                </a:solidFill>
                <a:latin typeface="Helvetica" pitchFamily="34" charset="0"/>
              </a:rPr>
            </a:br>
            <a:r>
              <a:rPr lang="en-US" sz="3000" b="1" dirty="0" smtClean="0">
                <a:solidFill>
                  <a:srgbClr val="FF6600"/>
                </a:solidFill>
                <a:latin typeface="Helvetica" pitchFamily="34" charset="0"/>
              </a:rPr>
              <a:t>	for a business letter</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389464" cy="4525963"/>
          </a:xfrm>
        </p:spPr>
        <p:txBody>
          <a:bodyPr>
            <a:noAutofit/>
          </a:bodyPr>
          <a:lstStyle/>
          <a:p>
            <a:pPr marL="0">
              <a:buNone/>
            </a:pPr>
            <a:r>
              <a:rPr lang="en-US" sz="1400" dirty="0" smtClean="0"/>
              <a:t>				                         </a:t>
            </a:r>
            <a:r>
              <a:rPr lang="en-US" sz="1400" b="1" dirty="0" smtClean="0">
                <a:solidFill>
                  <a:schemeClr val="bg2">
                    <a:lumMod val="50000"/>
                  </a:schemeClr>
                </a:solidFill>
              </a:rPr>
              <a:t>(1) </a:t>
            </a:r>
            <a:r>
              <a:rPr lang="en-US" sz="1400" dirty="0" smtClean="0"/>
              <a:t>Jester Restaurant &amp; Bar</a:t>
            </a:r>
            <a:br>
              <a:rPr lang="en-US" sz="1400" dirty="0" smtClean="0"/>
            </a:br>
            <a:r>
              <a:rPr lang="en-US" sz="1400" dirty="0" smtClean="0"/>
              <a:t>		                                                                    22 Long Rd, Mayes, UK </a:t>
            </a:r>
          </a:p>
          <a:p>
            <a:pPr marL="0">
              <a:lnSpc>
                <a:spcPct val="120000"/>
              </a:lnSpc>
              <a:spcBef>
                <a:spcPts val="0"/>
              </a:spcBef>
              <a:buNone/>
            </a:pPr>
            <a:r>
              <a:rPr lang="en-US" sz="1400" b="1" dirty="0" smtClean="0">
                <a:solidFill>
                  <a:schemeClr val="bg2">
                    <a:lumMod val="50000"/>
                  </a:schemeClr>
                </a:solidFill>
              </a:rPr>
              <a:t>(2)</a:t>
            </a:r>
            <a:r>
              <a:rPr lang="en-US" sz="1400" b="1" dirty="0" smtClean="0"/>
              <a:t> </a:t>
            </a:r>
            <a:r>
              <a:rPr lang="en-US" sz="1400" dirty="0" smtClean="0"/>
              <a:t>1</a:t>
            </a:r>
            <a:r>
              <a:rPr lang="en-US" sz="1400" baseline="30000" dirty="0" smtClean="0"/>
              <a:t>st</a:t>
            </a:r>
            <a:r>
              <a:rPr lang="en-US" sz="1400" dirty="0" smtClean="0"/>
              <a:t> April						    		         </a:t>
            </a:r>
            <a:br>
              <a:rPr lang="en-US" sz="1400" dirty="0" smtClean="0"/>
            </a:br>
            <a:r>
              <a:rPr lang="en-US" sz="1400" dirty="0" smtClean="0"/>
              <a:t>      Harry Stone </a:t>
            </a:r>
          </a:p>
          <a:p>
            <a:pPr marL="0">
              <a:lnSpc>
                <a:spcPct val="120000"/>
              </a:lnSpc>
              <a:spcBef>
                <a:spcPts val="0"/>
              </a:spcBef>
              <a:buNone/>
            </a:pPr>
            <a:r>
              <a:rPr lang="en-US" sz="1400" b="1" dirty="0" smtClean="0">
                <a:solidFill>
                  <a:schemeClr val="bg2">
                    <a:lumMod val="50000"/>
                  </a:schemeClr>
                </a:solidFill>
              </a:rPr>
              <a:t>(3)</a:t>
            </a:r>
            <a:r>
              <a:rPr lang="en-US" sz="1400" b="1" dirty="0" smtClean="0"/>
              <a:t> </a:t>
            </a:r>
            <a:r>
              <a:rPr lang="en-US" sz="1400" dirty="0" smtClean="0"/>
              <a:t>Chief Accountant, Big Beer Brewery</a:t>
            </a:r>
            <a:br>
              <a:rPr lang="en-US" sz="1400" dirty="0" smtClean="0"/>
            </a:br>
            <a:r>
              <a:rPr lang="en-US" sz="1400" dirty="0" smtClean="0"/>
              <a:t>      The Industrial Estate, </a:t>
            </a:r>
            <a:r>
              <a:rPr lang="en-US" sz="1400" dirty="0" err="1" smtClean="0"/>
              <a:t>Bruntsfield</a:t>
            </a:r>
            <a:r>
              <a:rPr lang="en-US" sz="1400" dirty="0" smtClean="0"/>
              <a:t>, UK</a:t>
            </a:r>
          </a:p>
          <a:p>
            <a:pPr marL="0">
              <a:buNone/>
            </a:pPr>
            <a:endParaRPr lang="en-US" sz="1400" b="1" dirty="0" smtClean="0"/>
          </a:p>
          <a:p>
            <a:pPr marL="0">
              <a:buNone/>
            </a:pPr>
            <a:r>
              <a:rPr lang="en-US" sz="1400" b="1" dirty="0" smtClean="0">
                <a:solidFill>
                  <a:schemeClr val="bg2">
                    <a:lumMod val="50000"/>
                  </a:schemeClr>
                </a:solidFill>
              </a:rPr>
              <a:t>(4) </a:t>
            </a:r>
            <a:r>
              <a:rPr lang="en-US" sz="1400" dirty="0" smtClean="0"/>
              <a:t>Dear Mr. Stone,</a:t>
            </a:r>
          </a:p>
          <a:p>
            <a:pPr marL="0">
              <a:buNone/>
            </a:pPr>
            <a:endParaRPr lang="en-US" sz="1400" dirty="0" smtClean="0"/>
          </a:p>
          <a:p>
            <a:pPr marL="0" indent="0">
              <a:buNone/>
            </a:pPr>
            <a:r>
              <a:rPr lang="en-US" sz="1400" b="1" dirty="0" smtClean="0">
                <a:solidFill>
                  <a:schemeClr val="bg2">
                    <a:lumMod val="50000"/>
                  </a:schemeClr>
                </a:solidFill>
              </a:rPr>
              <a:t>(5)</a:t>
            </a:r>
            <a:r>
              <a:rPr lang="en-US" sz="1400" dirty="0" smtClean="0"/>
              <a:t>    I am writing to request a refund or replacement for our last shipment of beer we received on the 8</a:t>
            </a:r>
            <a:r>
              <a:rPr lang="en-US" sz="1400" baseline="30000" dirty="0" smtClean="0"/>
              <a:t>th</a:t>
            </a:r>
            <a:r>
              <a:rPr lang="en-US" sz="1400" dirty="0" smtClean="0"/>
              <a:t> September. 27 bottles were broken or damaged. Attached are several photos of the damaged goods.</a:t>
            </a:r>
          </a:p>
          <a:p>
            <a:pPr>
              <a:buNone/>
            </a:pPr>
            <a:endParaRPr lang="en-US" sz="1400" dirty="0" smtClean="0"/>
          </a:p>
          <a:p>
            <a:pPr>
              <a:buNone/>
            </a:pPr>
            <a:r>
              <a:rPr lang="en-US" sz="1400" dirty="0" smtClean="0"/>
              <a:t>        Please advise when you can respond to this request.</a:t>
            </a:r>
          </a:p>
          <a:p>
            <a:pPr>
              <a:buNone/>
            </a:pPr>
            <a:endParaRPr lang="en-US" sz="1400" b="1" dirty="0" smtClean="0"/>
          </a:p>
          <a:p>
            <a:pPr>
              <a:buNone/>
            </a:pPr>
            <a:r>
              <a:rPr lang="en-US" sz="1400" b="1" dirty="0" smtClean="0">
                <a:solidFill>
                  <a:schemeClr val="bg2">
                    <a:lumMod val="50000"/>
                  </a:schemeClr>
                </a:solidFill>
              </a:rPr>
              <a:t>(6)</a:t>
            </a:r>
            <a:r>
              <a:rPr lang="en-US" sz="1400" b="1" dirty="0" smtClean="0"/>
              <a:t> </a:t>
            </a:r>
            <a:r>
              <a:rPr lang="en-US" sz="1400" dirty="0" smtClean="0"/>
              <a:t>Regards,</a:t>
            </a:r>
          </a:p>
          <a:p>
            <a:pPr>
              <a:buNone/>
            </a:pPr>
            <a:endParaRPr lang="en-US" sz="1400" b="1" dirty="0" smtClean="0"/>
          </a:p>
          <a:p>
            <a:pPr>
              <a:spcBef>
                <a:spcPts val="0"/>
              </a:spcBef>
              <a:buNone/>
            </a:pPr>
            <a:r>
              <a:rPr lang="en-US" sz="1400" b="1" dirty="0" smtClean="0">
                <a:solidFill>
                  <a:schemeClr val="bg2">
                    <a:lumMod val="50000"/>
                  </a:schemeClr>
                </a:solidFill>
              </a:rPr>
              <a:t>(7)</a:t>
            </a:r>
            <a:r>
              <a:rPr lang="en-US" sz="1400" b="1" i="1" dirty="0" smtClean="0"/>
              <a:t>Caroline Hobbes</a:t>
            </a:r>
            <a:endParaRPr lang="en-US" sz="1400" b="1" dirty="0" smtClean="0"/>
          </a:p>
          <a:p>
            <a:pPr>
              <a:spcBef>
                <a:spcPts val="0"/>
              </a:spcBef>
              <a:buNone/>
            </a:pPr>
            <a:r>
              <a:rPr lang="en-US" sz="1400" b="1" dirty="0" smtClean="0"/>
              <a:t>     </a:t>
            </a:r>
            <a:r>
              <a:rPr lang="en-US" sz="1400" dirty="0" smtClean="0"/>
              <a:t>Caroline Hobbes</a:t>
            </a:r>
          </a:p>
          <a:p>
            <a:pPr>
              <a:spcBef>
                <a:spcPts val="0"/>
              </a:spcBef>
              <a:buNone/>
            </a:pPr>
            <a:r>
              <a:rPr lang="en-US" sz="1400" b="1" dirty="0" smtClean="0">
                <a:solidFill>
                  <a:schemeClr val="bg2">
                    <a:lumMod val="50000"/>
                  </a:schemeClr>
                </a:solidFill>
              </a:rPr>
              <a:t>(8)</a:t>
            </a:r>
            <a:r>
              <a:rPr lang="en-US" sz="1400" b="1" dirty="0" smtClean="0"/>
              <a:t> </a:t>
            </a:r>
            <a:r>
              <a:rPr lang="en-US" sz="1400" dirty="0" smtClean="0"/>
              <a:t>F&amp; B Manager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75216" cy="1143000"/>
          </a:xfrm>
        </p:spPr>
        <p:txBody>
          <a:bodyPr>
            <a:noAutofit/>
          </a:bodyPr>
          <a:lstStyle/>
          <a:p>
            <a:r>
              <a:rPr lang="en-US" sz="2800" b="1" dirty="0" smtClean="0">
                <a:solidFill>
                  <a:srgbClr val="FF6600"/>
                </a:solidFill>
                <a:latin typeface="Helvetica" pitchFamily="34" charset="0"/>
              </a:rPr>
              <a:t>2.2	Explain the importance of tone 		when writing a business letter in 	English</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760557"/>
            <a:ext cx="7675216" cy="4525963"/>
          </a:xfrm>
        </p:spPr>
        <p:txBody>
          <a:bodyPr>
            <a:normAutofit/>
          </a:bodyPr>
          <a:lstStyle/>
          <a:p>
            <a:pPr marL="0" indent="0">
              <a:lnSpc>
                <a:spcPct val="110000"/>
              </a:lnSpc>
              <a:spcBef>
                <a:spcPts val="600"/>
              </a:spcBef>
              <a:spcAft>
                <a:spcPts val="900"/>
              </a:spcAft>
              <a:buNone/>
            </a:pPr>
            <a:r>
              <a:rPr lang="en-US" sz="2100" dirty="0" smtClean="0">
                <a:latin typeface="Helvetica" pitchFamily="34" charset="0"/>
              </a:rPr>
              <a:t>When writing a business letter there are many factors to consider including:</a:t>
            </a:r>
          </a:p>
          <a:p>
            <a:pPr>
              <a:lnSpc>
                <a:spcPct val="110000"/>
              </a:lnSpc>
              <a:spcBef>
                <a:spcPts val="600"/>
              </a:spcBef>
              <a:spcAft>
                <a:spcPts val="900"/>
              </a:spcAft>
            </a:pPr>
            <a:r>
              <a:rPr lang="en-AU" sz="2100" dirty="0" smtClean="0"/>
              <a:t>Understanding the purpose of your letter</a:t>
            </a:r>
            <a:endParaRPr lang="en-US" sz="2100" dirty="0" smtClean="0"/>
          </a:p>
          <a:p>
            <a:pPr>
              <a:lnSpc>
                <a:spcPct val="110000"/>
              </a:lnSpc>
              <a:spcBef>
                <a:spcPts val="600"/>
              </a:spcBef>
              <a:spcAft>
                <a:spcPts val="900"/>
              </a:spcAft>
            </a:pPr>
            <a:r>
              <a:rPr lang="en-AU" sz="2100" dirty="0" smtClean="0"/>
              <a:t>Identifying who the audience is</a:t>
            </a:r>
            <a:endParaRPr lang="en-US" sz="2100" dirty="0" smtClean="0"/>
          </a:p>
          <a:p>
            <a:pPr>
              <a:lnSpc>
                <a:spcPct val="110000"/>
              </a:lnSpc>
              <a:spcBef>
                <a:spcPts val="600"/>
              </a:spcBef>
              <a:spcAft>
                <a:spcPts val="900"/>
              </a:spcAft>
            </a:pPr>
            <a:r>
              <a:rPr lang="en-AU" sz="2100" dirty="0" smtClean="0"/>
              <a:t>What is the intended outcome of the letter or what do you want readers to learn or do after they read the letter</a:t>
            </a:r>
            <a:endParaRPr lang="en-US" sz="2100" dirty="0" smtClean="0"/>
          </a:p>
          <a:p>
            <a:pPr>
              <a:lnSpc>
                <a:spcPct val="110000"/>
              </a:lnSpc>
              <a:spcBef>
                <a:spcPts val="600"/>
              </a:spcBef>
              <a:spcAft>
                <a:spcPts val="900"/>
              </a:spcAft>
            </a:pPr>
            <a:r>
              <a:rPr lang="en-AU" sz="2100" dirty="0" smtClean="0"/>
              <a:t>Understanding the relationship between your role and others. For example, you may use a different tone when writing to your boss as opposed to writing to a close colleague in the same position</a:t>
            </a:r>
            <a:endParaRPr lang="en-US" sz="21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122" name="Picture 2" descr="C:\Documents and Settings\danielc\Local Settings\Temporary Internet Files\Content.IE5\3Y3SDCJX\MC900431536[1].png"/>
          <p:cNvPicPr>
            <a:picLocks noChangeAspect="1" noChangeArrowheads="1"/>
          </p:cNvPicPr>
          <p:nvPr/>
        </p:nvPicPr>
        <p:blipFill>
          <a:blip r:embed="rId3" cstate="print"/>
          <a:srcRect/>
          <a:stretch>
            <a:fillRect/>
          </a:stretch>
        </p:blipFill>
        <p:spPr bwMode="auto">
          <a:xfrm>
            <a:off x="6715140" y="2361251"/>
            <a:ext cx="1357322" cy="1334699"/>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Using the appropriate tone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28736"/>
            <a:ext cx="8175282" cy="4525963"/>
          </a:xfrm>
        </p:spPr>
        <p:txBody>
          <a:bodyPr>
            <a:noAutofit/>
          </a:bodyPr>
          <a:lstStyle/>
          <a:p>
            <a:pPr>
              <a:spcBef>
                <a:spcPts val="300"/>
              </a:spcBef>
              <a:spcAft>
                <a:spcPts val="600"/>
              </a:spcAft>
              <a:buNone/>
            </a:pPr>
            <a:r>
              <a:rPr lang="en-AU" sz="1700" b="1" dirty="0" smtClean="0"/>
              <a:t>Tips for getting the tone right</a:t>
            </a:r>
            <a:endParaRPr lang="en-US" sz="1700" b="1" dirty="0" smtClean="0"/>
          </a:p>
          <a:p>
            <a:pPr>
              <a:spcBef>
                <a:spcPts val="300"/>
              </a:spcBef>
              <a:spcAft>
                <a:spcPts val="400"/>
              </a:spcAft>
            </a:pPr>
            <a:r>
              <a:rPr lang="en-AU" sz="1700" dirty="0" smtClean="0"/>
              <a:t>Use fairly formal tone</a:t>
            </a:r>
            <a:endParaRPr lang="en-US" sz="1700" dirty="0" smtClean="0"/>
          </a:p>
          <a:p>
            <a:pPr>
              <a:spcBef>
                <a:spcPts val="300"/>
              </a:spcBef>
              <a:spcAft>
                <a:spcPts val="400"/>
              </a:spcAft>
            </a:pPr>
            <a:r>
              <a:rPr lang="en-AU" sz="1700" dirty="0" smtClean="0"/>
              <a:t>Don’t be too formal if the situation does not require it</a:t>
            </a:r>
            <a:endParaRPr lang="en-US" sz="1700" dirty="0" smtClean="0"/>
          </a:p>
          <a:p>
            <a:pPr>
              <a:spcBef>
                <a:spcPts val="300"/>
              </a:spcBef>
              <a:spcAft>
                <a:spcPts val="400"/>
              </a:spcAft>
            </a:pPr>
            <a:r>
              <a:rPr lang="en-AU" sz="1700" dirty="0" smtClean="0"/>
              <a:t>Avoid CAPITALISATION as this is the same as yelling when writing</a:t>
            </a:r>
            <a:endParaRPr lang="en-US" sz="1700" dirty="0" smtClean="0"/>
          </a:p>
          <a:p>
            <a:pPr>
              <a:spcBef>
                <a:spcPts val="300"/>
              </a:spcBef>
              <a:spcAft>
                <a:spcPts val="400"/>
              </a:spcAft>
            </a:pPr>
            <a:r>
              <a:rPr lang="en-AU" sz="1700" dirty="0" smtClean="0"/>
              <a:t>Use short sentences </a:t>
            </a:r>
            <a:endParaRPr lang="en-US" sz="1700" dirty="0" smtClean="0"/>
          </a:p>
          <a:p>
            <a:pPr>
              <a:spcBef>
                <a:spcPts val="300"/>
              </a:spcBef>
              <a:spcAft>
                <a:spcPts val="400"/>
              </a:spcAft>
            </a:pPr>
            <a:r>
              <a:rPr lang="en-AU" sz="1700" dirty="0" smtClean="0"/>
              <a:t>Create a compassionate and professional tone</a:t>
            </a:r>
            <a:endParaRPr lang="en-US" sz="1700" dirty="0" smtClean="0"/>
          </a:p>
          <a:p>
            <a:pPr>
              <a:spcBef>
                <a:spcPts val="300"/>
              </a:spcBef>
              <a:spcAft>
                <a:spcPts val="400"/>
              </a:spcAft>
            </a:pPr>
            <a:r>
              <a:rPr lang="en-AU" sz="1700" dirty="0" smtClean="0"/>
              <a:t>Avoid using the passive voice (for example, ‘You can write a letter.’ not ‘A letter can be written by you.’)</a:t>
            </a:r>
            <a:endParaRPr lang="en-US" sz="1700" dirty="0" smtClean="0"/>
          </a:p>
          <a:p>
            <a:pPr>
              <a:spcBef>
                <a:spcPts val="300"/>
              </a:spcBef>
              <a:spcAft>
                <a:spcPts val="400"/>
              </a:spcAft>
            </a:pPr>
            <a:r>
              <a:rPr lang="en-AU" sz="1700" dirty="0" smtClean="0"/>
              <a:t>Use the pronoun ‘we’ or ‘the organisation is happy to....’ or ‘the resort ...’</a:t>
            </a:r>
            <a:endParaRPr lang="en-US" sz="1700" dirty="0" smtClean="0"/>
          </a:p>
          <a:p>
            <a:pPr>
              <a:spcBef>
                <a:spcPts val="300"/>
              </a:spcBef>
              <a:spcAft>
                <a:spcPts val="400"/>
              </a:spcAft>
            </a:pPr>
            <a:r>
              <a:rPr lang="en-AU" sz="1700" dirty="0" smtClean="0"/>
              <a:t>Use the active voice (for example, ‘We made a mistake with your delivery.’ not ‘A mistake was made with the delivery.’)</a:t>
            </a:r>
            <a:endParaRPr lang="en-US" sz="1700" dirty="0" smtClean="0"/>
          </a:p>
          <a:p>
            <a:pPr>
              <a:spcBef>
                <a:spcPts val="300"/>
              </a:spcBef>
              <a:spcAft>
                <a:spcPts val="400"/>
              </a:spcAft>
            </a:pPr>
            <a:r>
              <a:rPr lang="en-AU" sz="1700" dirty="0" smtClean="0"/>
              <a:t>Be careful when using the pronoun ‘you’ as it sounds accusatory in some instances</a:t>
            </a:r>
            <a:endParaRPr lang="en-US" sz="1700" dirty="0" smtClean="0"/>
          </a:p>
          <a:p>
            <a:pPr>
              <a:spcBef>
                <a:spcPts val="300"/>
              </a:spcBef>
              <a:spcAft>
                <a:spcPts val="400"/>
              </a:spcAft>
            </a:pPr>
            <a:r>
              <a:rPr lang="en-AU" sz="1700" dirty="0" smtClean="0"/>
              <a:t>Use the pronoun ‘you’ to create a closer relationship to the reader (for example, ‘You can use the internet facilities for free.’ not ‘Clients can use the internet for free.’)</a:t>
            </a:r>
            <a:endParaRPr lang="en-US" sz="1700" dirty="0" smtClean="0"/>
          </a:p>
          <a:p>
            <a:pPr marL="360000" indent="-360000">
              <a:spcBef>
                <a:spcPts val="300"/>
              </a:spcBef>
              <a:spcAft>
                <a:spcPts val="600"/>
              </a:spcAft>
              <a:buNone/>
            </a:pPr>
            <a:endParaRPr lang="en-US" sz="17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6146" name="Picture 2" descr="C:\Documents and Settings\danielc\Local Settings\Temporary Internet Files\Content.IE5\V9A2RTT8\MP900407402[1].jpg"/>
          <p:cNvPicPr>
            <a:picLocks noChangeAspect="1" noChangeArrowheads="1"/>
          </p:cNvPicPr>
          <p:nvPr/>
        </p:nvPicPr>
        <p:blipFill>
          <a:blip r:embed="rId3" cstate="print"/>
          <a:srcRect/>
          <a:stretch>
            <a:fillRect/>
          </a:stretch>
        </p:blipFill>
        <p:spPr bwMode="auto">
          <a:xfrm>
            <a:off x="6429388" y="1142984"/>
            <a:ext cx="1571606" cy="1257285"/>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03844" cy="1143000"/>
          </a:xfrm>
        </p:spPr>
        <p:txBody>
          <a:bodyPr>
            <a:normAutofit/>
          </a:bodyPr>
          <a:lstStyle/>
          <a:p>
            <a:r>
              <a:rPr lang="en-US" sz="3000" b="1" dirty="0" smtClean="0">
                <a:solidFill>
                  <a:srgbClr val="FF6600"/>
                </a:solidFill>
                <a:latin typeface="Helvetica" pitchFamily="34" charset="0"/>
              </a:rPr>
              <a:t>2.3 	Discuss the type of language preferred 	in business letters in English</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89530" cy="4872604"/>
          </a:xfrm>
        </p:spPr>
        <p:txBody>
          <a:bodyPr>
            <a:noAutofit/>
          </a:bodyPr>
          <a:lstStyle/>
          <a:p>
            <a:pPr>
              <a:spcBef>
                <a:spcPts val="300"/>
              </a:spcBef>
              <a:spcAft>
                <a:spcPts val="600"/>
              </a:spcAft>
              <a:buNone/>
            </a:pPr>
            <a:r>
              <a:rPr lang="en-AU" sz="1800" dirty="0" smtClean="0"/>
              <a:t>You should use:</a:t>
            </a:r>
            <a:endParaRPr lang="en-US" sz="1800" dirty="0" smtClean="0"/>
          </a:p>
          <a:p>
            <a:pPr>
              <a:spcBef>
                <a:spcPts val="300"/>
              </a:spcBef>
              <a:spcAft>
                <a:spcPts val="600"/>
              </a:spcAft>
            </a:pPr>
            <a:r>
              <a:rPr lang="en-AU" sz="1800" dirty="0" smtClean="0"/>
              <a:t>Language that is unambiguous and concise</a:t>
            </a:r>
            <a:endParaRPr lang="en-US" sz="1800" dirty="0" smtClean="0"/>
          </a:p>
          <a:p>
            <a:pPr>
              <a:spcBef>
                <a:spcPts val="300"/>
              </a:spcBef>
              <a:spcAft>
                <a:spcPts val="600"/>
              </a:spcAft>
            </a:pPr>
            <a:r>
              <a:rPr lang="en-AU" sz="1800" dirty="0" smtClean="0"/>
              <a:t>Active voice rather than passive, for example, </a:t>
            </a:r>
            <a:r>
              <a:rPr lang="en-AU" sz="1800" i="1" dirty="0" smtClean="0"/>
              <a:t>“I will discuss</a:t>
            </a:r>
            <a:br>
              <a:rPr lang="en-AU" sz="1800" i="1" dirty="0" smtClean="0"/>
            </a:br>
            <a:r>
              <a:rPr lang="en-AU" sz="1800" i="1" dirty="0" smtClean="0"/>
              <a:t>the matter with my staff.” </a:t>
            </a:r>
            <a:r>
              <a:rPr lang="en-AU" sz="1800" dirty="0" smtClean="0"/>
              <a:t>not </a:t>
            </a:r>
            <a:r>
              <a:rPr lang="en-AU" sz="1800" i="1" dirty="0" smtClean="0"/>
              <a:t>“The matter will be discussed.”</a:t>
            </a:r>
            <a:endParaRPr lang="en-US" sz="1800" dirty="0" smtClean="0"/>
          </a:p>
          <a:p>
            <a:pPr>
              <a:spcBef>
                <a:spcPts val="300"/>
              </a:spcBef>
              <a:spcAft>
                <a:spcPts val="600"/>
              </a:spcAft>
            </a:pPr>
            <a:r>
              <a:rPr lang="en-AU" sz="1800" dirty="0" smtClean="0"/>
              <a:t>Friendly language that avoids difficult vocabulary and complex sentences</a:t>
            </a:r>
            <a:endParaRPr lang="en-US" sz="1800" dirty="0" smtClean="0"/>
          </a:p>
          <a:p>
            <a:pPr>
              <a:spcBef>
                <a:spcPts val="300"/>
              </a:spcBef>
              <a:spcAft>
                <a:spcPts val="600"/>
              </a:spcAft>
            </a:pPr>
            <a:r>
              <a:rPr lang="en-AU" sz="1800" dirty="0" smtClean="0"/>
              <a:t>Language that is specific rather than general, for example, </a:t>
            </a:r>
            <a:r>
              <a:rPr lang="en-AU" sz="1800" i="1" dirty="0" smtClean="0"/>
              <a:t>“I will get back to you by close of business today.” </a:t>
            </a:r>
            <a:r>
              <a:rPr lang="en-AU" sz="1800" dirty="0" smtClean="0"/>
              <a:t> not </a:t>
            </a:r>
            <a:r>
              <a:rPr lang="en-AU" sz="1800" i="1" dirty="0" smtClean="0"/>
              <a:t>“I will get back to you later.”</a:t>
            </a:r>
            <a:endParaRPr lang="en-US" sz="1800" dirty="0" smtClean="0"/>
          </a:p>
          <a:p>
            <a:pPr>
              <a:spcBef>
                <a:spcPts val="300"/>
              </a:spcBef>
              <a:spcAft>
                <a:spcPts val="600"/>
              </a:spcAft>
            </a:pPr>
            <a:r>
              <a:rPr lang="en-AU" sz="1800" dirty="0" smtClean="0"/>
              <a:t>Non-offensive or sexist language</a:t>
            </a:r>
            <a:endParaRPr lang="en-US" sz="1800" dirty="0" smtClean="0"/>
          </a:p>
          <a:p>
            <a:pPr>
              <a:spcBef>
                <a:spcPts val="300"/>
              </a:spcBef>
              <a:spcAft>
                <a:spcPts val="600"/>
              </a:spcAft>
            </a:pPr>
            <a:r>
              <a:rPr lang="en-AU" sz="1800" dirty="0" smtClean="0"/>
              <a:t>Polite language; not bossy or demanding language</a:t>
            </a:r>
            <a:endParaRPr lang="en-US" sz="1800" dirty="0" smtClean="0"/>
          </a:p>
          <a:p>
            <a:pPr>
              <a:spcBef>
                <a:spcPts val="300"/>
              </a:spcBef>
              <a:spcAft>
                <a:spcPts val="600"/>
              </a:spcAft>
            </a:pPr>
            <a:r>
              <a:rPr lang="en-AU" sz="1800" dirty="0" smtClean="0"/>
              <a:t>Offers of assistance in the last paragraph, for example, </a:t>
            </a:r>
            <a:r>
              <a:rPr lang="en-AU" sz="1800" i="1" dirty="0" smtClean="0"/>
              <a:t>“Feel free to contact us for further information.” </a:t>
            </a:r>
            <a:endParaRPr lang="en-US" sz="1800" dirty="0" smtClean="0"/>
          </a:p>
          <a:p>
            <a:pPr>
              <a:spcBef>
                <a:spcPts val="300"/>
              </a:spcBef>
              <a:spcAft>
                <a:spcPts val="600"/>
              </a:spcAft>
            </a:pPr>
            <a:r>
              <a:rPr lang="en-AU" sz="1800" dirty="0" smtClean="0"/>
              <a:t>Correct grammar and spelling with a clear order and cohesion of ideas</a:t>
            </a:r>
            <a:endParaRPr lang="en-US" sz="1800" dirty="0" smtClean="0"/>
          </a:p>
          <a:p>
            <a:pPr>
              <a:spcBef>
                <a:spcPts val="300"/>
              </a:spcBef>
              <a:spcAft>
                <a:spcPts val="600"/>
              </a:spcAft>
            </a:pPr>
            <a:r>
              <a:rPr lang="en-AU" sz="1800" dirty="0" smtClean="0"/>
              <a:t>Correct spelling and punctuation</a:t>
            </a:r>
            <a:endParaRPr lang="en-US" sz="1800" dirty="0" smtClean="0"/>
          </a:p>
          <a:p>
            <a:pPr marL="360000" indent="-360000">
              <a:spcBef>
                <a:spcPts val="300"/>
              </a:spcBef>
              <a:spcAft>
                <a:spcPts val="300"/>
              </a:spcAft>
              <a:buNone/>
            </a:pPr>
            <a:endParaRPr lang="en-US"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7171" name="Picture 3" descr="C:\Documents and Settings\danielc\Local Settings\Temporary Internet Files\Content.IE5\3Y3SDCJX\MP900409009[1].jpg"/>
          <p:cNvPicPr>
            <a:picLocks noChangeAspect="1" noChangeArrowheads="1"/>
          </p:cNvPicPr>
          <p:nvPr/>
        </p:nvPicPr>
        <p:blipFill>
          <a:blip r:embed="rId3" cstate="print"/>
          <a:srcRect/>
          <a:stretch>
            <a:fillRect/>
          </a:stretch>
        </p:blipFill>
        <p:spPr bwMode="auto">
          <a:xfrm>
            <a:off x="7358082" y="1357298"/>
            <a:ext cx="1272465" cy="1500198"/>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2.4 	Plan a response to a business 	letter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72604"/>
          </a:xfrm>
        </p:spPr>
        <p:txBody>
          <a:bodyPr>
            <a:normAutofit/>
          </a:bodyPr>
          <a:lstStyle/>
          <a:p>
            <a:pPr marL="0" indent="0">
              <a:lnSpc>
                <a:spcPct val="110000"/>
              </a:lnSpc>
              <a:spcBef>
                <a:spcPts val="600"/>
              </a:spcBef>
              <a:spcAft>
                <a:spcPts val="1200"/>
              </a:spcAft>
              <a:buNone/>
            </a:pPr>
            <a:r>
              <a:rPr lang="en-AU" sz="2000" dirty="0" smtClean="0"/>
              <a:t>After carefully reading the letter or email that you have received, it is important to plan how you will respond. Before writing your response you should:</a:t>
            </a:r>
            <a:endParaRPr lang="en-US" sz="2000" dirty="0" smtClean="0"/>
          </a:p>
          <a:p>
            <a:pPr>
              <a:spcBef>
                <a:spcPts val="600"/>
              </a:spcBef>
              <a:spcAft>
                <a:spcPts val="600"/>
              </a:spcAft>
            </a:pPr>
            <a:r>
              <a:rPr lang="en-AU" sz="2000" dirty="0" smtClean="0"/>
              <a:t>Read the letter again and identify all of the main points</a:t>
            </a:r>
            <a:endParaRPr lang="en-US" sz="2000" dirty="0" smtClean="0"/>
          </a:p>
          <a:p>
            <a:pPr>
              <a:spcBef>
                <a:spcPts val="600"/>
              </a:spcBef>
              <a:spcAft>
                <a:spcPts val="600"/>
              </a:spcAft>
            </a:pPr>
            <a:r>
              <a:rPr lang="en-AU" sz="2000" dirty="0" smtClean="0"/>
              <a:t>Determine the purpose of the response</a:t>
            </a:r>
            <a:endParaRPr lang="en-US" sz="2000" dirty="0" smtClean="0"/>
          </a:p>
          <a:p>
            <a:pPr>
              <a:spcBef>
                <a:spcPts val="600"/>
              </a:spcBef>
              <a:spcAft>
                <a:spcPts val="600"/>
              </a:spcAft>
            </a:pPr>
            <a:r>
              <a:rPr lang="en-AU" sz="2000" dirty="0" smtClean="0"/>
              <a:t>Identify the audience or reader </a:t>
            </a:r>
            <a:endParaRPr lang="en-US" sz="2000" dirty="0" smtClean="0"/>
          </a:p>
          <a:p>
            <a:pPr>
              <a:spcBef>
                <a:spcPts val="600"/>
              </a:spcBef>
              <a:spcAft>
                <a:spcPts val="600"/>
              </a:spcAft>
            </a:pPr>
            <a:r>
              <a:rPr lang="en-AU" sz="2000" dirty="0" smtClean="0"/>
              <a:t>Note down everything you need to include in the response</a:t>
            </a:r>
            <a:endParaRPr lang="en-US" sz="2000" dirty="0" smtClean="0"/>
          </a:p>
          <a:p>
            <a:pPr>
              <a:spcBef>
                <a:spcPts val="600"/>
              </a:spcBef>
              <a:spcAft>
                <a:spcPts val="600"/>
              </a:spcAft>
            </a:pPr>
            <a:r>
              <a:rPr lang="en-AU" sz="2000" dirty="0" smtClean="0"/>
              <a:t>Make sure that you cover all parts of the letter</a:t>
            </a:r>
            <a:endParaRPr lang="en-US" sz="2000" dirty="0" smtClean="0"/>
          </a:p>
          <a:p>
            <a:pPr>
              <a:spcBef>
                <a:spcPts val="600"/>
              </a:spcBef>
              <a:spcAft>
                <a:spcPts val="600"/>
              </a:spcAft>
            </a:pPr>
            <a:r>
              <a:rPr lang="en-AU" sz="2000" dirty="0" smtClean="0"/>
              <a:t>Put your points in a logical order</a:t>
            </a:r>
            <a:endParaRPr lang="en-US" sz="2000" dirty="0" smtClean="0"/>
          </a:p>
          <a:p>
            <a:pPr>
              <a:spcBef>
                <a:spcPts val="600"/>
              </a:spcBef>
              <a:spcAft>
                <a:spcPts val="600"/>
              </a:spcAft>
            </a:pPr>
            <a:r>
              <a:rPr lang="en-AU" sz="2000" dirty="0" smtClean="0"/>
              <a:t>Determine the correct format for the response</a:t>
            </a:r>
            <a:endParaRPr lang="en-US" sz="2000" dirty="0" smtClean="0"/>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8195" name="Picture 3" descr="C:\Documents and Settings\danielc\Local Settings\Temporary Internet Files\Content.IE5\UMECW9PM\MP900442375[1].jpg"/>
          <p:cNvPicPr>
            <a:picLocks noChangeAspect="1" noChangeArrowheads="1"/>
          </p:cNvPicPr>
          <p:nvPr/>
        </p:nvPicPr>
        <p:blipFill>
          <a:blip r:embed="rId3" cstate="print"/>
          <a:srcRect/>
          <a:stretch>
            <a:fillRect/>
          </a:stretch>
        </p:blipFill>
        <p:spPr bwMode="auto">
          <a:xfrm>
            <a:off x="7334285" y="2428868"/>
            <a:ext cx="1166805" cy="1750207"/>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err="1" smtClean="0">
                <a:solidFill>
                  <a:srgbClr val="FF6600"/>
                </a:solidFill>
                <a:latin typeface="Helvetica" pitchFamily="34" charset="0"/>
              </a:rPr>
              <a:t>Summarising</a:t>
            </a:r>
            <a:r>
              <a:rPr lang="en-US" sz="3400" b="1" dirty="0" smtClean="0">
                <a:solidFill>
                  <a:srgbClr val="FF6600"/>
                </a:solidFill>
                <a:latin typeface="Helvetica" pitchFamily="34" charset="0"/>
              </a:rPr>
              <a:t> the main points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100" dirty="0" smtClean="0"/>
              <a:t>When summarising a letter or text you must remember to:</a:t>
            </a:r>
            <a:endParaRPr lang="en-US" sz="2100" dirty="0" smtClean="0"/>
          </a:p>
          <a:p>
            <a:pPr>
              <a:spcBef>
                <a:spcPts val="600"/>
              </a:spcBef>
              <a:spcAft>
                <a:spcPts val="1200"/>
              </a:spcAft>
            </a:pPr>
            <a:r>
              <a:rPr lang="en-AU" sz="2100" dirty="0" smtClean="0"/>
              <a:t>Only include the most important points from the original text</a:t>
            </a:r>
            <a:endParaRPr lang="en-US" sz="2100" dirty="0" smtClean="0"/>
          </a:p>
          <a:p>
            <a:pPr>
              <a:spcBef>
                <a:spcPts val="600"/>
              </a:spcBef>
              <a:spcAft>
                <a:spcPts val="1200"/>
              </a:spcAft>
            </a:pPr>
            <a:r>
              <a:rPr lang="en-AU" sz="2100" dirty="0" smtClean="0"/>
              <a:t>Keep the summary as short as possible</a:t>
            </a:r>
            <a:endParaRPr lang="en-US" sz="2100" dirty="0" smtClean="0"/>
          </a:p>
          <a:p>
            <a:pPr>
              <a:spcBef>
                <a:spcPts val="600"/>
              </a:spcBef>
              <a:spcAft>
                <a:spcPts val="1200"/>
              </a:spcAft>
            </a:pPr>
            <a:r>
              <a:rPr lang="en-AU" sz="2100" dirty="0" smtClean="0"/>
              <a:t>Do not include any extra information that is not in the original text, or any personal opinions about the topic</a:t>
            </a:r>
            <a:endParaRPr lang="en-US" sz="2100" dirty="0" smtClean="0"/>
          </a:p>
          <a:p>
            <a:pPr>
              <a:spcBef>
                <a:spcPts val="600"/>
              </a:spcBef>
              <a:spcAft>
                <a:spcPts val="1200"/>
              </a:spcAft>
            </a:pPr>
            <a:r>
              <a:rPr lang="en-AU" sz="2100" dirty="0" smtClean="0"/>
              <a:t>Leave out descriptive words, such as adjectives and adverbs</a:t>
            </a:r>
            <a:endParaRPr lang="en-US" sz="2100" dirty="0" smtClean="0"/>
          </a:p>
          <a:p>
            <a:pPr>
              <a:spcBef>
                <a:spcPts val="600"/>
              </a:spcBef>
              <a:spcAft>
                <a:spcPts val="1200"/>
              </a:spcAft>
            </a:pPr>
            <a:r>
              <a:rPr lang="en-AU" sz="2100" dirty="0" smtClean="0"/>
              <a:t>Write the summary in your own words</a:t>
            </a:r>
            <a:endParaRPr lang="en-US" sz="2100" dirty="0" smtClean="0"/>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9218" name="Picture 2" descr="C:\Documents and Settings\danielc\Local Settings\Temporary Internet Files\Content.IE5\112MAXTI\MC900442036[1].wmf"/>
          <p:cNvPicPr>
            <a:picLocks noChangeAspect="1" noChangeArrowheads="1"/>
          </p:cNvPicPr>
          <p:nvPr/>
        </p:nvPicPr>
        <p:blipFill>
          <a:blip r:embed="rId3" cstate="print"/>
          <a:srcRect/>
          <a:stretch>
            <a:fillRect/>
          </a:stretch>
        </p:blipFill>
        <p:spPr bwMode="auto">
          <a:xfrm>
            <a:off x="7143768" y="4786322"/>
            <a:ext cx="1568662" cy="1552573"/>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Header</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graphicFrame>
        <p:nvGraphicFramePr>
          <p:cNvPr id="7" name="Table 6"/>
          <p:cNvGraphicFramePr>
            <a:graphicFrameLocks noGrp="1"/>
          </p:cNvGraphicFramePr>
          <p:nvPr/>
        </p:nvGraphicFramePr>
        <p:xfrm>
          <a:off x="1285852" y="1357298"/>
          <a:ext cx="5911873" cy="2928959"/>
        </p:xfrm>
        <a:graphic>
          <a:graphicData uri="http://schemas.openxmlformats.org/drawingml/2006/table">
            <a:tbl>
              <a:tblPr/>
              <a:tblGrid>
                <a:gridCol w="5911873"/>
              </a:tblGrid>
              <a:tr h="2928959">
                <a:tc>
                  <a:txBody>
                    <a:bodyPr/>
                    <a:lstStyle/>
                    <a:p>
                      <a:pPr marL="0" marR="0">
                        <a:lnSpc>
                          <a:spcPct val="115000"/>
                        </a:lnSpc>
                        <a:spcBef>
                          <a:spcPts val="0"/>
                        </a:spcBef>
                        <a:spcAft>
                          <a:spcPts val="1000"/>
                        </a:spcAft>
                      </a:pPr>
                      <a:endParaRPr lang="en-AU" sz="1100" dirty="0">
                        <a:latin typeface="Helvetica" pitchFamily="34" charset="0"/>
                        <a:ea typeface="Times New Roman"/>
                        <a:cs typeface="Times New Roman"/>
                      </a:endParaRPr>
                    </a:p>
                    <a:p>
                      <a:pPr marL="36195" marR="0">
                        <a:lnSpc>
                          <a:spcPct val="115000"/>
                        </a:lnSpc>
                        <a:spcBef>
                          <a:spcPts val="400"/>
                        </a:spcBef>
                        <a:spcAft>
                          <a:spcPts val="800"/>
                        </a:spcAft>
                      </a:pPr>
                      <a:r>
                        <a:rPr lang="en-AU" sz="3600" dirty="0" smtClean="0">
                          <a:latin typeface="Helvetica" pitchFamily="34" charset="0"/>
                          <a:ea typeface="Calibri"/>
                          <a:cs typeface="Calibri"/>
                        </a:rPr>
                        <a:t>Dive Egypt!</a:t>
                      </a:r>
                      <a:endParaRPr lang="en-US" sz="1100" dirty="0">
                        <a:latin typeface="Helvetica"/>
                        <a:ea typeface="Calibri"/>
                        <a:cs typeface="Calibri"/>
                      </a:endParaRPr>
                    </a:p>
                    <a:p>
                      <a:pPr marL="36195" marR="0">
                        <a:lnSpc>
                          <a:spcPct val="115000"/>
                        </a:lnSpc>
                        <a:spcBef>
                          <a:spcPts val="400"/>
                        </a:spcBef>
                        <a:spcAft>
                          <a:spcPts val="800"/>
                        </a:spcAft>
                      </a:pPr>
                      <a:r>
                        <a:rPr lang="en-AU" sz="1200" dirty="0">
                          <a:latin typeface="Helvetica" pitchFamily="34" charset="0"/>
                          <a:ea typeface="Calibri"/>
                          <a:cs typeface="Calibri"/>
                        </a:rPr>
                        <a:t>One of the most exciting things to do in is to go diving in the area around </a:t>
                      </a:r>
                      <a:r>
                        <a:rPr lang="en-AU" sz="1200" dirty="0" err="1">
                          <a:latin typeface="Helvetica" pitchFamily="34" charset="0"/>
                          <a:ea typeface="Calibri"/>
                          <a:cs typeface="Calibri"/>
                        </a:rPr>
                        <a:t>Sharm</a:t>
                      </a:r>
                      <a:r>
                        <a:rPr lang="en-AU" sz="1200" dirty="0">
                          <a:latin typeface="Helvetica" pitchFamily="34" charset="0"/>
                          <a:ea typeface="Calibri"/>
                          <a:cs typeface="Calibri"/>
                        </a:rPr>
                        <a:t> El Sheikh.  The coral reefs and fish are some of the most spectacular in the world and are not to be missed.  This area is home to over 1,000 species of fish. There are numerous diving companies that you can choose from and if you need to get your PADI (Professional Association of Diving Instructors) qualification, this is the place for you!  During your adventure, you can also explore fascinating deep sea wrecks and mysterious caves. Dive in today!</a:t>
                      </a:r>
                      <a:endParaRPr lang="en-US" sz="1100" dirty="0">
                        <a:latin typeface="Helvetica"/>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9" name="Picture 8" descr="http://images.clipart.com/thb/thb14/CL/051115_5303_16/32195802.thb.jpg?051115_5303_1609_v__v"/>
          <p:cNvPicPr/>
          <p:nvPr/>
        </p:nvPicPr>
        <p:blipFill>
          <a:blip r:embed="rId3" r:link="rId4" cstate="print"/>
          <a:srcRect/>
          <a:stretch>
            <a:fillRect/>
          </a:stretch>
        </p:blipFill>
        <p:spPr bwMode="auto">
          <a:xfrm>
            <a:off x="4572000" y="1500174"/>
            <a:ext cx="1785950" cy="960669"/>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3.1 	Apply an appropriate format for 	a business letter in English</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46654" cy="4944042"/>
          </a:xfrm>
        </p:spPr>
        <p:txBody>
          <a:bodyPr>
            <a:noAutofit/>
          </a:bodyPr>
          <a:lstStyle/>
          <a:p>
            <a:pPr marL="0" indent="0">
              <a:spcBef>
                <a:spcPts val="600"/>
              </a:spcBef>
              <a:spcAft>
                <a:spcPts val="600"/>
              </a:spcAft>
              <a:buNone/>
            </a:pPr>
            <a:r>
              <a:rPr lang="en-US" sz="2000" dirty="0" smtClean="0">
                <a:latin typeface="Helvetica" pitchFamily="34" charset="0"/>
              </a:rPr>
              <a:t>It is important to:</a:t>
            </a:r>
          </a:p>
          <a:p>
            <a:pPr>
              <a:spcBef>
                <a:spcPts val="600"/>
              </a:spcBef>
              <a:spcAft>
                <a:spcPts val="600"/>
              </a:spcAft>
            </a:pPr>
            <a:r>
              <a:rPr lang="en-AU" sz="2000" dirty="0" smtClean="0"/>
              <a:t>Use the appropriate format for the style of letter</a:t>
            </a:r>
            <a:endParaRPr lang="en-US" sz="2000" dirty="0" smtClean="0"/>
          </a:p>
          <a:p>
            <a:pPr>
              <a:spcBef>
                <a:spcPts val="600"/>
              </a:spcBef>
              <a:spcAft>
                <a:spcPts val="600"/>
              </a:spcAft>
            </a:pPr>
            <a:r>
              <a:rPr lang="en-AU" sz="2000" dirty="0" smtClean="0"/>
              <a:t>Write the sender’s and receiver’s address in as much detail </a:t>
            </a:r>
            <a:br>
              <a:rPr lang="en-AU" sz="2000" dirty="0" smtClean="0"/>
            </a:br>
            <a:r>
              <a:rPr lang="en-AU" sz="2000" dirty="0" smtClean="0"/>
              <a:t>as possible and in the correct order</a:t>
            </a:r>
            <a:endParaRPr lang="en-US" sz="2000" dirty="0" smtClean="0"/>
          </a:p>
          <a:p>
            <a:pPr>
              <a:spcBef>
                <a:spcPts val="600"/>
              </a:spcBef>
              <a:spcAft>
                <a:spcPts val="600"/>
              </a:spcAft>
            </a:pPr>
            <a:r>
              <a:rPr lang="en-AU" sz="2000" dirty="0" smtClean="0"/>
              <a:t>Write the month of the date in words not figures</a:t>
            </a:r>
            <a:endParaRPr lang="en-US" sz="2000" dirty="0" smtClean="0"/>
          </a:p>
          <a:p>
            <a:pPr>
              <a:spcBef>
                <a:spcPts val="600"/>
              </a:spcBef>
              <a:spcAft>
                <a:spcPts val="600"/>
              </a:spcAft>
            </a:pPr>
            <a:r>
              <a:rPr lang="en-AU" sz="2000" dirty="0" smtClean="0"/>
              <a:t>Use the correct title for the receiver</a:t>
            </a:r>
            <a:endParaRPr lang="en-US" sz="2000" dirty="0" smtClean="0"/>
          </a:p>
          <a:p>
            <a:pPr>
              <a:spcBef>
                <a:spcPts val="600"/>
              </a:spcBef>
              <a:spcAft>
                <a:spcPts val="600"/>
              </a:spcAft>
            </a:pPr>
            <a:r>
              <a:rPr lang="en-AU" sz="2000" dirty="0" smtClean="0"/>
              <a:t>Use the correct salutation and close, for example, </a:t>
            </a:r>
            <a:br>
              <a:rPr lang="en-AU" sz="2000" dirty="0" smtClean="0"/>
            </a:br>
            <a:r>
              <a:rPr lang="en-AU" sz="2000" dirty="0" smtClean="0"/>
              <a:t>Dear/Sir with Yours faithfully</a:t>
            </a:r>
            <a:br>
              <a:rPr lang="en-AU" sz="2000" dirty="0" smtClean="0"/>
            </a:br>
            <a:r>
              <a:rPr lang="en-AU" sz="2000" dirty="0" smtClean="0"/>
              <a:t>Dear Mr/Ms. Smith with Yours sincerely</a:t>
            </a:r>
            <a:endParaRPr lang="en-US" sz="2000" dirty="0" smtClean="0"/>
          </a:p>
          <a:p>
            <a:pPr>
              <a:spcBef>
                <a:spcPts val="600"/>
              </a:spcBef>
              <a:spcAft>
                <a:spcPts val="600"/>
              </a:spcAft>
            </a:pPr>
            <a:r>
              <a:rPr lang="en-AU" sz="2000" dirty="0" smtClean="0"/>
              <a:t>Include your job title, if appropriate, in the signature block</a:t>
            </a:r>
            <a:endParaRPr lang="en-US" sz="2000" dirty="0" smtClean="0"/>
          </a:p>
          <a:p>
            <a:pPr>
              <a:spcBef>
                <a:spcPts val="600"/>
              </a:spcBef>
              <a:spcAft>
                <a:spcPts val="600"/>
              </a:spcAft>
            </a:pPr>
            <a:r>
              <a:rPr lang="en-AU" sz="2000" dirty="0" smtClean="0"/>
              <a:t>Leave a space between paragraphs</a:t>
            </a:r>
            <a:endParaRPr lang="en-US" sz="2000" dirty="0" smtClean="0"/>
          </a:p>
          <a:p>
            <a:pPr>
              <a:spcBef>
                <a:spcPts val="600"/>
              </a:spcBef>
              <a:spcAft>
                <a:spcPts val="600"/>
              </a:spcAft>
              <a:buNone/>
            </a:pPr>
            <a:endParaRPr lang="en-US" sz="2000" dirty="0" smtClean="0"/>
          </a:p>
          <a:p>
            <a:pPr marL="360000" indent="-360000">
              <a:spcBef>
                <a:spcPts val="600"/>
              </a:spcBef>
              <a:spcAft>
                <a:spcPts val="6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10242" name="Picture 2" descr="C:\Documents and Settings\danielc\Desktop\Prepare biz letter in Adv English\1215930_an_e-mail.jpg"/>
          <p:cNvPicPr>
            <a:picLocks noChangeAspect="1" noChangeArrowheads="1"/>
          </p:cNvPicPr>
          <p:nvPr/>
        </p:nvPicPr>
        <p:blipFill>
          <a:blip r:embed="rId3" cstate="print"/>
          <a:srcRect/>
          <a:stretch>
            <a:fillRect/>
          </a:stretch>
        </p:blipFill>
        <p:spPr bwMode="auto">
          <a:xfrm>
            <a:off x="6929454" y="3214686"/>
            <a:ext cx="1517709" cy="1771645"/>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3.2 	Use an appropriate friendly and 	professional tone when writing a 	business letter in English</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sp>
        <p:nvSpPr>
          <p:cNvPr id="5" name="Text Box 2"/>
          <p:cNvSpPr txBox="1">
            <a:spLocks noChangeArrowheads="1"/>
          </p:cNvSpPr>
          <p:nvPr/>
        </p:nvSpPr>
        <p:spPr bwMode="auto">
          <a:xfrm>
            <a:off x="714348" y="1928802"/>
            <a:ext cx="7072362" cy="3754874"/>
          </a:xfrm>
          <a:prstGeom prst="rect">
            <a:avLst/>
          </a:prstGeom>
          <a:solidFill>
            <a:schemeClr val="bg2"/>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ts val="400"/>
              </a:spcBef>
              <a:spcAft>
                <a:spcPts val="800"/>
              </a:spcAft>
              <a:buClrTx/>
              <a:buSzTx/>
              <a:buFontTx/>
              <a:buNone/>
              <a:tabLst/>
            </a:pPr>
            <a:r>
              <a:rPr kumimoji="0" lang="en-US" sz="1600" b="0" i="0" u="none" strike="noStrike" cap="none" normalizeH="0" baseline="0" noProof="1" smtClean="0">
                <a:ln>
                  <a:noFill/>
                </a:ln>
                <a:solidFill>
                  <a:schemeClr val="tx1"/>
                </a:solidFill>
                <a:effectLst/>
                <a:latin typeface="Helvetica" charset="0"/>
                <a:cs typeface="Arial" pitchFamily="34" charset="0"/>
              </a:rPr>
              <a:t>Dear Sir/Madam,</a:t>
            </a:r>
          </a:p>
          <a:p>
            <a:pPr marL="0" marR="0" lvl="0" indent="0" algn="l" defTabSz="914400" rtl="0" eaLnBrk="1" fontAlgn="base" latinLnBrk="0" hangingPunct="1">
              <a:lnSpc>
                <a:spcPct val="100000"/>
              </a:lnSpc>
              <a:spcBef>
                <a:spcPts val="400"/>
              </a:spcBef>
              <a:spcAft>
                <a:spcPts val="800"/>
              </a:spcAft>
              <a:buClrTx/>
              <a:buSzTx/>
              <a:buFontTx/>
              <a:buNone/>
              <a:tabLst/>
            </a:pPr>
            <a:r>
              <a:rPr kumimoji="0" lang="en-US" sz="1600" b="0" i="0" u="none" strike="noStrike" cap="none" normalizeH="0" baseline="0" noProof="1" smtClean="0">
                <a:ln>
                  <a:noFill/>
                </a:ln>
                <a:solidFill>
                  <a:schemeClr val="tx1"/>
                </a:solidFill>
                <a:effectLst/>
                <a:latin typeface="Helvetica" charset="0"/>
                <a:cs typeface="Arial" pitchFamily="34" charset="0"/>
              </a:rPr>
              <a:t>I am writing to enquire about our booking request which we belatedly lodged with your establishment earlier this month. Although we sent our booking several days ago, we are as of yet to receive a reply confirming our forthcoming lodgings. This may be due to the fact that you are currently being bombarded with requests and are thus pressed for time to engage in correspondence informing us that our booking is granted. We are currently in the midst of arranging our travel itinerary and it would be most gracious of you if you could acknowledge our room booking so as to be able to complete our preparations knowing that we have a roof over our heads when we arrive.</a:t>
            </a:r>
          </a:p>
          <a:p>
            <a:pPr marL="0" marR="0" lvl="0" indent="0" algn="l" defTabSz="914400" rtl="0" eaLnBrk="1" fontAlgn="base" latinLnBrk="0" hangingPunct="1">
              <a:lnSpc>
                <a:spcPct val="100000"/>
              </a:lnSpc>
              <a:spcBef>
                <a:spcPts val="400"/>
              </a:spcBef>
              <a:spcAft>
                <a:spcPts val="800"/>
              </a:spcAft>
              <a:buClrTx/>
              <a:buSzTx/>
              <a:buFontTx/>
              <a:buNone/>
              <a:tabLst/>
            </a:pPr>
            <a:r>
              <a:rPr kumimoji="0" lang="en-US" sz="1600" b="0" i="0" u="none" strike="noStrike" cap="none" normalizeH="0" baseline="0" noProof="1" smtClean="0">
                <a:ln>
                  <a:noFill/>
                </a:ln>
                <a:solidFill>
                  <a:schemeClr val="tx1"/>
                </a:solidFill>
                <a:effectLst/>
                <a:latin typeface="Helvetica" charset="0"/>
                <a:cs typeface="Arial" pitchFamily="34" charset="0"/>
              </a:rPr>
              <a:t>Yours sincerely,</a:t>
            </a:r>
          </a:p>
          <a:p>
            <a:pPr marL="0" marR="0" lvl="0" indent="0" algn="l" defTabSz="914400" rtl="0" eaLnBrk="1" fontAlgn="base" latinLnBrk="0" hangingPunct="1">
              <a:lnSpc>
                <a:spcPct val="100000"/>
              </a:lnSpc>
              <a:spcBef>
                <a:spcPts val="400"/>
              </a:spcBef>
              <a:spcAft>
                <a:spcPts val="800"/>
              </a:spcAft>
              <a:buClrTx/>
              <a:buSzTx/>
              <a:buFontTx/>
              <a:buNone/>
              <a:tabLst/>
            </a:pPr>
            <a:r>
              <a:rPr kumimoji="0" lang="en-US" sz="1600" b="0" i="0" u="none" strike="noStrike" cap="none" normalizeH="0" baseline="0" noProof="1" smtClean="0">
                <a:ln>
                  <a:noFill/>
                </a:ln>
                <a:solidFill>
                  <a:schemeClr val="tx1"/>
                </a:solidFill>
                <a:effectLst/>
                <a:latin typeface="Helvetica" charset="0"/>
                <a:cs typeface="Arial" pitchFamily="34" charset="0"/>
              </a:rPr>
              <a:t>Baron Munster</a:t>
            </a:r>
            <a:endParaRPr kumimoji="0" lang="en-US" sz="1600" b="0" i="0" u="none" strike="noStrike" cap="none" normalizeH="0" baseline="0" dirty="0" smtClean="0">
              <a:ln>
                <a:noFill/>
              </a:ln>
              <a:solidFill>
                <a:schemeClr val="tx1"/>
              </a:solidFill>
              <a:effectLst/>
              <a:latin typeface="Helvetica" pitchFamily="34" charset="0"/>
              <a:cs typeface="Arial"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Tone</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sp>
        <p:nvSpPr>
          <p:cNvPr id="2050" name="Text Box 2"/>
          <p:cNvSpPr txBox="1">
            <a:spLocks noChangeArrowheads="1"/>
          </p:cNvSpPr>
          <p:nvPr/>
        </p:nvSpPr>
        <p:spPr bwMode="auto">
          <a:xfrm>
            <a:off x="1000100" y="1785925"/>
            <a:ext cx="6929486" cy="2082621"/>
          </a:xfrm>
          <a:prstGeom prst="rect">
            <a:avLst/>
          </a:prstGeom>
          <a:solidFill>
            <a:schemeClr val="bg2"/>
          </a:solidFill>
          <a:ln w="9525">
            <a:solidFill>
              <a:srgbClr val="0000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smtClean="0">
                <a:ln>
                  <a:noFill/>
                </a:ln>
                <a:solidFill>
                  <a:schemeClr val="tx1"/>
                </a:solidFill>
                <a:effectLst/>
                <a:latin typeface="Helvetica"/>
                <a:cs typeface="Arial" pitchFamily="34" charset="0"/>
              </a:rPr>
              <a:t>Baron,</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smtClean="0">
                <a:ln>
                  <a:noFill/>
                </a:ln>
                <a:solidFill>
                  <a:schemeClr val="tx1"/>
                </a:solidFill>
                <a:effectLst/>
                <a:latin typeface="Helvetica"/>
                <a:cs typeface="Arial" pitchFamily="34" charset="0"/>
              </a:rPr>
              <a:t>I already emailed you two hours ago and confirmed your booking. </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smtClean="0">
                <a:ln>
                  <a:noFill/>
                </a:ln>
                <a:solidFill>
                  <a:schemeClr val="tx1"/>
                </a:solidFill>
                <a:effectLst/>
                <a:latin typeface="Helvetica"/>
                <a:cs typeface="Arial" pitchFamily="34" charset="0"/>
              </a:rPr>
              <a:t>CHECK your emails in future before you blame others for not doing their job!</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smtClean="0">
                <a:ln>
                  <a:noFill/>
                </a:ln>
                <a:solidFill>
                  <a:schemeClr val="tx1"/>
                </a:solidFill>
                <a:effectLst/>
                <a:latin typeface="Helvetica"/>
                <a:cs typeface="Arial" pitchFamily="34" charset="0"/>
              </a:rPr>
              <a:t>Regards,</a:t>
            </a:r>
          </a:p>
          <a:p>
            <a:pPr marL="0" marR="0" lvl="0" indent="0" algn="l" defTabSz="914400" rtl="0" eaLnBrk="1" fontAlgn="base" latinLnBrk="0" hangingPunct="1">
              <a:lnSpc>
                <a:spcPct val="100000"/>
              </a:lnSpc>
              <a:spcBef>
                <a:spcPct val="0"/>
              </a:spcBef>
              <a:spcAft>
                <a:spcPts val="1000"/>
              </a:spcAft>
              <a:buClrTx/>
              <a:buSzTx/>
              <a:buFontTx/>
              <a:buNone/>
              <a:tabLst/>
            </a:pPr>
            <a:r>
              <a:rPr kumimoji="0" lang="en-US" sz="1600" b="0" i="0" u="none" strike="noStrike" cap="none" normalizeH="0" baseline="0" dirty="0" smtClean="0">
                <a:ln>
                  <a:noFill/>
                </a:ln>
                <a:solidFill>
                  <a:schemeClr val="tx1"/>
                </a:solidFill>
                <a:effectLst/>
                <a:latin typeface="Helvetica"/>
                <a:cs typeface="Arial" pitchFamily="34" charset="0"/>
              </a:rPr>
              <a:t>Anne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2900" b="1" dirty="0" smtClean="0">
                <a:solidFill>
                  <a:srgbClr val="FF6600"/>
                </a:solidFill>
                <a:latin typeface="Helvetica" pitchFamily="34" charset="0"/>
              </a:rPr>
              <a:t>3.3 	Use the type of language preferred 	in business letters, including correct 	spelling, punctuation and grammar</a:t>
            </a:r>
            <a:endParaRPr lang="en-US" sz="2900" b="1" dirty="0">
              <a:solidFill>
                <a:srgbClr val="FF6600"/>
              </a:solidFill>
              <a:latin typeface="Helvetica" pitchFamily="34" charset="0"/>
            </a:endParaRPr>
          </a:p>
        </p:txBody>
      </p:sp>
      <p:sp>
        <p:nvSpPr>
          <p:cNvPr id="3" name="Content Placeholder 2"/>
          <p:cNvSpPr>
            <a:spLocks noGrp="1"/>
          </p:cNvSpPr>
          <p:nvPr>
            <p:ph idx="1"/>
          </p:nvPr>
        </p:nvSpPr>
        <p:spPr>
          <a:xfrm>
            <a:off x="611560" y="1785926"/>
            <a:ext cx="7467600" cy="4929221"/>
          </a:xfrm>
        </p:spPr>
        <p:txBody>
          <a:bodyPr>
            <a:normAutofit fontScale="92500" lnSpcReduction="20000"/>
          </a:bodyPr>
          <a:lstStyle/>
          <a:p>
            <a:pPr>
              <a:spcBef>
                <a:spcPts val="600"/>
              </a:spcBef>
              <a:spcAft>
                <a:spcPts val="600"/>
              </a:spcAft>
              <a:buNone/>
            </a:pPr>
            <a:r>
              <a:rPr lang="en-AU" sz="1900" dirty="0" smtClean="0"/>
              <a:t>When writing business correspondence you should:</a:t>
            </a:r>
            <a:endParaRPr lang="en-US" sz="1900" dirty="0" smtClean="0"/>
          </a:p>
          <a:p>
            <a:pPr>
              <a:spcBef>
                <a:spcPts val="600"/>
              </a:spcBef>
              <a:spcAft>
                <a:spcPts val="600"/>
              </a:spcAft>
            </a:pPr>
            <a:r>
              <a:rPr lang="en-AU" sz="1900" dirty="0" smtClean="0"/>
              <a:t>Include the necessary information that responds to the </a:t>
            </a:r>
            <a:br>
              <a:rPr lang="en-AU" sz="1900" dirty="0" smtClean="0"/>
            </a:br>
            <a:r>
              <a:rPr lang="en-AU" sz="1900" dirty="0" smtClean="0"/>
              <a:t>reader of the letter</a:t>
            </a:r>
            <a:endParaRPr lang="en-US" sz="1900" dirty="0" smtClean="0"/>
          </a:p>
          <a:p>
            <a:pPr>
              <a:spcBef>
                <a:spcPts val="600"/>
              </a:spcBef>
              <a:spcAft>
                <a:spcPts val="600"/>
              </a:spcAft>
            </a:pPr>
            <a:r>
              <a:rPr lang="en-AU" sz="1900" dirty="0" smtClean="0"/>
              <a:t>Always plan before you write</a:t>
            </a:r>
            <a:endParaRPr lang="en-US" sz="1900" dirty="0" smtClean="0"/>
          </a:p>
          <a:p>
            <a:pPr>
              <a:spcBef>
                <a:spcPts val="600"/>
              </a:spcBef>
              <a:spcAft>
                <a:spcPts val="600"/>
              </a:spcAft>
            </a:pPr>
            <a:r>
              <a:rPr lang="en-AU" sz="1900" dirty="0" smtClean="0"/>
              <a:t>Make sure the information is in a logical order</a:t>
            </a:r>
            <a:endParaRPr lang="en-US" sz="1900" dirty="0" smtClean="0"/>
          </a:p>
          <a:p>
            <a:pPr>
              <a:spcBef>
                <a:spcPts val="600"/>
              </a:spcBef>
              <a:spcAft>
                <a:spcPts val="600"/>
              </a:spcAft>
            </a:pPr>
            <a:r>
              <a:rPr lang="en-AU" sz="1900" dirty="0" smtClean="0"/>
              <a:t>Use simple and polite language</a:t>
            </a:r>
            <a:endParaRPr lang="en-US" sz="1900" dirty="0" smtClean="0"/>
          </a:p>
          <a:p>
            <a:pPr>
              <a:spcBef>
                <a:spcPts val="600"/>
              </a:spcBef>
              <a:spcAft>
                <a:spcPts val="600"/>
              </a:spcAft>
            </a:pPr>
            <a:r>
              <a:rPr lang="en-AU" sz="1900" dirty="0" smtClean="0"/>
              <a:t>Make sure that the your writing is clear, concise and easy to understand</a:t>
            </a:r>
            <a:endParaRPr lang="en-US" sz="1900" dirty="0" smtClean="0"/>
          </a:p>
          <a:p>
            <a:pPr>
              <a:spcBef>
                <a:spcPts val="600"/>
              </a:spcBef>
              <a:spcAft>
                <a:spcPts val="600"/>
              </a:spcAft>
            </a:pPr>
            <a:r>
              <a:rPr lang="en-AU" sz="1900" dirty="0" smtClean="0"/>
              <a:t>Avoid using colloquial language or being too informal</a:t>
            </a:r>
            <a:endParaRPr lang="en-US" sz="1900" dirty="0" smtClean="0"/>
          </a:p>
          <a:p>
            <a:pPr>
              <a:spcBef>
                <a:spcPts val="600"/>
              </a:spcBef>
              <a:spcAft>
                <a:spcPts val="600"/>
              </a:spcAft>
            </a:pPr>
            <a:r>
              <a:rPr lang="en-AU" sz="1900" dirty="0" smtClean="0"/>
              <a:t>Avoid using pompous or overly formal language</a:t>
            </a:r>
            <a:endParaRPr lang="en-US" sz="1900" dirty="0" smtClean="0"/>
          </a:p>
          <a:p>
            <a:pPr>
              <a:spcBef>
                <a:spcPts val="600"/>
              </a:spcBef>
              <a:spcAft>
                <a:spcPts val="600"/>
              </a:spcAft>
            </a:pPr>
            <a:r>
              <a:rPr lang="en-AU" sz="1900" dirty="0" smtClean="0"/>
              <a:t>Be accurate in your writing using correct titles, names, figures, dates and times</a:t>
            </a:r>
            <a:endParaRPr lang="en-US" sz="1900" dirty="0" smtClean="0"/>
          </a:p>
          <a:p>
            <a:pPr>
              <a:spcBef>
                <a:spcPts val="600"/>
              </a:spcBef>
              <a:spcAft>
                <a:spcPts val="600"/>
              </a:spcAft>
            </a:pPr>
            <a:r>
              <a:rPr lang="en-AU" sz="1900" dirty="0" smtClean="0"/>
              <a:t>Check your writing when you have completed the letter and pay attention to spelling, grammar and punctuation</a:t>
            </a:r>
            <a:endParaRPr lang="en-US" sz="1900" dirty="0" smtClean="0">
              <a:latin typeface="Helvetica" pitchFamily="34" charset="0"/>
            </a:endParaRPr>
          </a:p>
          <a:p>
            <a:pPr marL="360000" indent="-360000">
              <a:spcBef>
                <a:spcPts val="600"/>
              </a:spcBef>
              <a:spcAft>
                <a:spcPts val="600"/>
              </a:spcAft>
              <a:buNone/>
            </a:pPr>
            <a:endParaRPr lang="en-US" sz="19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What is a paragraph?</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sp>
        <p:nvSpPr>
          <p:cNvPr id="41986" name="Rectangle 2"/>
          <p:cNvSpPr>
            <a:spLocks noChangeArrowheads="1"/>
          </p:cNvSpPr>
          <p:nvPr/>
        </p:nvSpPr>
        <p:spPr bwMode="auto">
          <a:xfrm>
            <a:off x="642910" y="1560600"/>
            <a:ext cx="5143504" cy="2554545"/>
          </a:xfrm>
          <a:prstGeom prst="rect">
            <a:avLst/>
          </a:prstGeom>
          <a:solidFill>
            <a:srgbClr val="CC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2000" b="0" i="0" u="none" strike="noStrike" cap="none" normalizeH="0" baseline="0" dirty="0" smtClean="0">
                <a:ln>
                  <a:noFill/>
                </a:ln>
                <a:solidFill>
                  <a:schemeClr val="tx1"/>
                </a:solidFill>
                <a:effectLst/>
                <a:latin typeface="Helvetica"/>
                <a:ea typeface="Calibri" pitchFamily="34" charset="0"/>
                <a:cs typeface="Calibri" pitchFamily="34" charset="0"/>
              </a:rPr>
              <a:t>A paragraph is a group of sentences. </a:t>
            </a:r>
            <a:endParaRPr kumimoji="0" lang="en-US" sz="2000" b="0" i="0" u="none" strike="noStrike" cap="none" normalizeH="0" baseline="0" dirty="0" smtClean="0">
              <a:ln>
                <a:noFill/>
              </a:ln>
              <a:solidFill>
                <a:schemeClr val="tx1"/>
              </a:solidFill>
              <a:effectLst/>
              <a:latin typeface="Helvetica"/>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sz="2000" b="0" i="0" u="none" strike="noStrike" cap="none" normalizeH="0" baseline="0" dirty="0" smtClean="0">
                <a:ln>
                  <a:noFill/>
                </a:ln>
                <a:solidFill>
                  <a:schemeClr val="tx1"/>
                </a:solidFill>
                <a:effectLst/>
                <a:latin typeface="Helvetica"/>
                <a:ea typeface="Calibri" pitchFamily="34" charset="0"/>
                <a:cs typeface="Calibri" pitchFamily="34" charset="0"/>
              </a:rPr>
              <a:t>In a good paragraph, every sentence is about the same topic.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smtClean="0">
              <a:ln>
                <a:noFill/>
              </a:ln>
              <a:solidFill>
                <a:schemeClr val="tx1"/>
              </a:solidFill>
              <a:effectLst/>
              <a:latin typeface="Helvetica"/>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sz="2000" b="0" i="0" u="none" strike="noStrike" cap="none" normalizeH="0" baseline="0" dirty="0" smtClean="0">
                <a:ln>
                  <a:noFill/>
                </a:ln>
                <a:solidFill>
                  <a:schemeClr val="tx1"/>
                </a:solidFill>
                <a:effectLst/>
                <a:latin typeface="Helvetica"/>
                <a:ea typeface="Calibri" pitchFamily="34" charset="0"/>
                <a:cs typeface="Calibri" pitchFamily="34" charset="0"/>
              </a:rPr>
              <a:t>For example, if the topic is about the best tourist spots in Russia, then every sentence in the paragraph is about those tourist spots.</a:t>
            </a:r>
            <a:endParaRPr kumimoji="0" lang="en-AU" sz="2000" b="0" i="0" u="none" strike="noStrike" cap="none" normalizeH="0" baseline="0" dirty="0" smtClean="0">
              <a:ln>
                <a:noFill/>
              </a:ln>
              <a:solidFill>
                <a:schemeClr val="tx1"/>
              </a:solidFill>
              <a:effectLst/>
              <a:latin typeface="Helvetica"/>
              <a:cs typeface="Arial" pitchFamily="34" charset="0"/>
            </a:endParaRPr>
          </a:p>
        </p:txBody>
      </p:sp>
      <p:pic>
        <p:nvPicPr>
          <p:cNvPr id="11266" name="Picture 2" descr="C:\Documents and Settings\danielc\Desktop\Prepare biz letter in Adv English\freeimage-6439777.jpg"/>
          <p:cNvPicPr>
            <a:picLocks noChangeAspect="1" noChangeArrowheads="1"/>
          </p:cNvPicPr>
          <p:nvPr/>
        </p:nvPicPr>
        <p:blipFill>
          <a:blip r:embed="rId3" cstate="print"/>
          <a:srcRect/>
          <a:stretch>
            <a:fillRect/>
          </a:stretch>
        </p:blipFill>
        <p:spPr bwMode="auto">
          <a:xfrm>
            <a:off x="5929322" y="2285992"/>
            <a:ext cx="2357454" cy="1563840"/>
          </a:xfrm>
          <a:prstGeom prst="rect">
            <a:avLst/>
          </a:prstGeom>
          <a:noFill/>
        </p:spPr>
      </p:pic>
    </p:spTree>
  </p:cSld>
  <p:clrMapOvr>
    <a:masterClrMapping/>
  </p:clrMapOvr>
</p:sld>
</file>

<file path=ppt/theme/theme1.xml><?xml version="1.0" encoding="utf-8"?>
<a:theme xmlns:a="http://schemas.openxmlformats.org/drawingml/2006/main" name="PPT_Food_&amp;_Bev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PPT_Food_&amp;_Bev_template_250612</Template>
  <TotalTime>2395</TotalTime>
  <Words>2431</Words>
  <Application>Microsoft Office PowerPoint</Application>
  <PresentationFormat>On-screen Show (4:3)</PresentationFormat>
  <Paragraphs>399</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Helvetica</vt:lpstr>
      <vt:lpstr>Times New Roman</vt:lpstr>
      <vt:lpstr>Wingdings 2</vt:lpstr>
      <vt:lpstr>PPT_Food_&amp;_Bev_template_250612</vt:lpstr>
      <vt:lpstr>PREPARE A BUSINESS LETTER IN ADVANCED ENGLISH</vt:lpstr>
      <vt:lpstr>Assessment</vt:lpstr>
      <vt:lpstr>Prepare a business letter in advanced English</vt:lpstr>
      <vt:lpstr>Recognise the purposes of different types of business to business letters in the workplace</vt:lpstr>
      <vt:lpstr>1.1  Identify the purposes of various  business to business letters 2</vt:lpstr>
      <vt:lpstr>1.2  Identify the purposes of  business to customer letters</vt:lpstr>
      <vt:lpstr>Complaints</vt:lpstr>
      <vt:lpstr>1.3  Identify the purposes of letters  from employer to employee </vt:lpstr>
      <vt:lpstr>Job Advertisement</vt:lpstr>
      <vt:lpstr>Listen, speak, take notes</vt:lpstr>
      <vt:lpstr>2.1  Identify an appropriate format   for a business letter</vt:lpstr>
      <vt:lpstr>2.2 Explain the importance of tone   when writing a business letter in  English</vt:lpstr>
      <vt:lpstr>Using the appropriate tone</vt:lpstr>
      <vt:lpstr>2.3  Discuss the type of language preferred  in business letters in English</vt:lpstr>
      <vt:lpstr>2.4  Plan a response to a business  letter</vt:lpstr>
      <vt:lpstr>Summarising the main points</vt:lpstr>
      <vt:lpstr>Header</vt:lpstr>
      <vt:lpstr>3.1  Apply an appropriate format for  a business letter in English</vt:lpstr>
      <vt:lpstr>3.2  Use an appropriate friendly and  professional tone when writing a  business letter in English</vt:lpstr>
      <vt:lpstr>Tone</vt:lpstr>
      <vt:lpstr>3.3  Use the type of language preferred  in business letters, including correct  spelling, punctuation and grammar</vt:lpstr>
      <vt:lpstr>What is a paragraph?</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PREPARE A BUSINESS LETTER IN ADVANCED ENGLISH</dc:title>
  <dc:creator>Administrator</dc:creator>
  <cp:lastModifiedBy>Carla Angelica Co</cp:lastModifiedBy>
  <cp:revision>107</cp:revision>
  <dcterms:created xsi:type="dcterms:W3CDTF">2012-06-26T02:11:43Z</dcterms:created>
  <dcterms:modified xsi:type="dcterms:W3CDTF">2015-03-31T06:37:39Z</dcterms:modified>
</cp:coreProperties>
</file>