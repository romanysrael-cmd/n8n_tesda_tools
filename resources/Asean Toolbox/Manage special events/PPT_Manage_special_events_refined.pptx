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notesSlides/notesSlide146.xml" ContentType="application/vnd.openxmlformats-officedocument.presentationml.notesSlide+xml"/>
  <Override PartName="/ppt/notesSlides/notesSlide15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notesSlides/notesSlide13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notesSlides/notesSlide124.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notesSlides/notesSlide129.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notesSlides/notesSlide159.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168.xml" ContentType="application/vnd.openxmlformats-officedocument.presentationml.slide+xml"/>
  <Override PartName="/ppt/notesSlides/notesSlide51.xml" ContentType="application/vnd.openxmlformats-officedocument.presentationml.notesSlide+xml"/>
  <Override PartName="/ppt/slides/slide157.xml" ContentType="application/vnd.openxmlformats-officedocument.presentationml.slide+xml"/>
  <Override PartName="/ppt/notesSlides/notesSlide40.xml" ContentType="application/vnd.openxmlformats-officedocument.presentationml.notesSlide+xml"/>
  <Default Extension="tiff" ContentType="image/tiff"/>
  <Override PartName="/ppt/notesSlides/notesSlide167.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5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notesSlides/notesSlide89.xml" ContentType="application/vnd.openxmlformats-officedocument.presentationml.notesSlide+xml"/>
  <Override PartName="/ppt/notesSlides/notesSlide116.xml" ContentType="application/vnd.openxmlformats-officedocument.presentationml.notesSlide+xml"/>
  <Override PartName="/ppt/notesSlides/notesSlide145.xml" ContentType="application/vnd.openxmlformats-officedocument.presentationml.notesSlide+xml"/>
  <Override PartName="/ppt/notesSlides/notesSlide163.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Override PartName="/ppt/slides/slide148.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158.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notesSlides/notesSlide147.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slides/slide167.xml" ContentType="application/vnd.openxmlformats-officedocument.presentationml.slide+xml"/>
  <Override PartName="/ppt/notesSlides/notesSlide50.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slides/slide53.xml" ContentType="application/vnd.openxmlformats-officedocument.presentationml.slide+xml"/>
  <Default Extension="jpeg" ContentType="image/jpeg"/>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slides/slide139.xml" ContentType="application/vnd.openxmlformats-officedocument.presentationml.slide+xml"/>
  <Override PartName="/ppt/notesSlides/notesSlide11.xml" ContentType="application/vnd.openxmlformats-officedocument.presentationml.notesSlide+xml"/>
  <Override PartName="/ppt/notesSlides/notesSlide14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1"/>
  </p:notesMasterIdLst>
  <p:handoutMasterIdLst>
    <p:handoutMasterId r:id="rId172"/>
  </p:handoutMasterIdLst>
  <p:sldIdLst>
    <p:sldId id="256" r:id="rId2"/>
    <p:sldId id="257" r:id="rId3"/>
    <p:sldId id="263" r:id="rId4"/>
    <p:sldId id="258" r:id="rId5"/>
    <p:sldId id="259" r:id="rId6"/>
    <p:sldId id="260" r:id="rId7"/>
    <p:sldId id="313" r:id="rId8"/>
    <p:sldId id="314" r:id="rId9"/>
    <p:sldId id="315" r:id="rId10"/>
    <p:sldId id="316" r:id="rId11"/>
    <p:sldId id="326" r:id="rId12"/>
    <p:sldId id="327" r:id="rId13"/>
    <p:sldId id="328" r:id="rId14"/>
    <p:sldId id="329" r:id="rId15"/>
    <p:sldId id="330" r:id="rId16"/>
    <p:sldId id="318" r:id="rId17"/>
    <p:sldId id="319" r:id="rId18"/>
    <p:sldId id="322" r:id="rId19"/>
    <p:sldId id="323" r:id="rId20"/>
    <p:sldId id="324" r:id="rId21"/>
    <p:sldId id="331" r:id="rId22"/>
    <p:sldId id="332" r:id="rId23"/>
    <p:sldId id="333" r:id="rId24"/>
    <p:sldId id="334" r:id="rId25"/>
    <p:sldId id="335" r:id="rId26"/>
    <p:sldId id="336" r:id="rId27"/>
    <p:sldId id="337" r:id="rId28"/>
    <p:sldId id="339" r:id="rId29"/>
    <p:sldId id="343" r:id="rId30"/>
    <p:sldId id="341" r:id="rId31"/>
    <p:sldId id="344" r:id="rId32"/>
    <p:sldId id="345" r:id="rId33"/>
    <p:sldId id="346" r:id="rId34"/>
    <p:sldId id="347" r:id="rId35"/>
    <p:sldId id="348" r:id="rId36"/>
    <p:sldId id="349" r:id="rId37"/>
    <p:sldId id="264" r:id="rId38"/>
    <p:sldId id="265" r:id="rId39"/>
    <p:sldId id="270" r:id="rId40"/>
    <p:sldId id="352" r:id="rId41"/>
    <p:sldId id="353" r:id="rId42"/>
    <p:sldId id="354" r:id="rId43"/>
    <p:sldId id="355" r:id="rId44"/>
    <p:sldId id="356" r:id="rId45"/>
    <p:sldId id="357" r:id="rId46"/>
    <p:sldId id="360" r:id="rId47"/>
    <p:sldId id="361" r:id="rId48"/>
    <p:sldId id="362" r:id="rId49"/>
    <p:sldId id="364" r:id="rId50"/>
    <p:sldId id="365" r:id="rId51"/>
    <p:sldId id="369" r:id="rId52"/>
    <p:sldId id="373" r:id="rId53"/>
    <p:sldId id="374" r:id="rId54"/>
    <p:sldId id="274" r:id="rId55"/>
    <p:sldId id="275" r:id="rId56"/>
    <p:sldId id="376" r:id="rId57"/>
    <p:sldId id="377" r:id="rId58"/>
    <p:sldId id="378" r:id="rId59"/>
    <p:sldId id="380" r:id="rId60"/>
    <p:sldId id="379" r:id="rId61"/>
    <p:sldId id="388" r:id="rId62"/>
    <p:sldId id="389" r:id="rId63"/>
    <p:sldId id="397" r:id="rId64"/>
    <p:sldId id="402" r:id="rId65"/>
    <p:sldId id="403" r:id="rId66"/>
    <p:sldId id="404" r:id="rId67"/>
    <p:sldId id="405" r:id="rId68"/>
    <p:sldId id="406" r:id="rId69"/>
    <p:sldId id="409" r:id="rId70"/>
    <p:sldId id="410" r:id="rId71"/>
    <p:sldId id="280" r:id="rId72"/>
    <p:sldId id="281" r:id="rId73"/>
    <p:sldId id="511" r:id="rId74"/>
    <p:sldId id="512" r:id="rId75"/>
    <p:sldId id="513" r:id="rId76"/>
    <p:sldId id="514" r:id="rId77"/>
    <p:sldId id="515" r:id="rId78"/>
    <p:sldId id="516" r:id="rId79"/>
    <p:sldId id="518" r:id="rId80"/>
    <p:sldId id="517" r:id="rId81"/>
    <p:sldId id="519" r:id="rId82"/>
    <p:sldId id="520" r:id="rId83"/>
    <p:sldId id="521" r:id="rId84"/>
    <p:sldId id="522" r:id="rId85"/>
    <p:sldId id="523" r:id="rId86"/>
    <p:sldId id="286" r:id="rId87"/>
    <p:sldId id="287" r:id="rId88"/>
    <p:sldId id="424" r:id="rId89"/>
    <p:sldId id="426" r:id="rId90"/>
    <p:sldId id="428" r:id="rId91"/>
    <p:sldId id="429" r:id="rId92"/>
    <p:sldId id="430" r:id="rId93"/>
    <p:sldId id="431" r:id="rId94"/>
    <p:sldId id="432" r:id="rId95"/>
    <p:sldId id="433" r:id="rId96"/>
    <p:sldId id="434" r:id="rId97"/>
    <p:sldId id="435" r:id="rId98"/>
    <p:sldId id="436" r:id="rId99"/>
    <p:sldId id="437" r:id="rId100"/>
    <p:sldId id="445" r:id="rId101"/>
    <p:sldId id="446" r:id="rId102"/>
    <p:sldId id="447" r:id="rId103"/>
    <p:sldId id="438" r:id="rId104"/>
    <p:sldId id="440" r:id="rId105"/>
    <p:sldId id="441" r:id="rId106"/>
    <p:sldId id="449" r:id="rId107"/>
    <p:sldId id="450" r:id="rId108"/>
    <p:sldId id="453" r:id="rId109"/>
    <p:sldId id="456" r:id="rId110"/>
    <p:sldId id="457" r:id="rId111"/>
    <p:sldId id="458" r:id="rId112"/>
    <p:sldId id="459" r:id="rId113"/>
    <p:sldId id="463" r:id="rId114"/>
    <p:sldId id="464" r:id="rId115"/>
    <p:sldId id="465" r:id="rId116"/>
    <p:sldId id="466" r:id="rId117"/>
    <p:sldId id="467" r:id="rId118"/>
    <p:sldId id="469" r:id="rId119"/>
    <p:sldId id="470" r:id="rId120"/>
    <p:sldId id="477" r:id="rId121"/>
    <p:sldId id="484" r:id="rId122"/>
    <p:sldId id="485" r:id="rId123"/>
    <p:sldId id="486" r:id="rId124"/>
    <p:sldId id="487" r:id="rId125"/>
    <p:sldId id="488" r:id="rId126"/>
    <p:sldId id="489" r:id="rId127"/>
    <p:sldId id="490" r:id="rId128"/>
    <p:sldId id="293" r:id="rId129"/>
    <p:sldId id="294" r:id="rId130"/>
    <p:sldId id="524" r:id="rId131"/>
    <p:sldId id="526" r:id="rId132"/>
    <p:sldId id="527" r:id="rId133"/>
    <p:sldId id="528" r:id="rId134"/>
    <p:sldId id="529" r:id="rId135"/>
    <p:sldId id="530" r:id="rId136"/>
    <p:sldId id="531" r:id="rId137"/>
    <p:sldId id="532" r:id="rId138"/>
    <p:sldId id="533" r:id="rId139"/>
    <p:sldId id="534" r:id="rId140"/>
    <p:sldId id="535" r:id="rId141"/>
    <p:sldId id="536" r:id="rId142"/>
    <p:sldId id="537" r:id="rId143"/>
    <p:sldId id="538" r:id="rId144"/>
    <p:sldId id="539" r:id="rId145"/>
    <p:sldId id="540" r:id="rId146"/>
    <p:sldId id="543" r:id="rId147"/>
    <p:sldId id="544" r:id="rId148"/>
    <p:sldId id="545" r:id="rId149"/>
    <p:sldId id="301" r:id="rId150"/>
    <p:sldId id="302" r:id="rId151"/>
    <p:sldId id="546" r:id="rId152"/>
    <p:sldId id="547" r:id="rId153"/>
    <p:sldId id="548" r:id="rId154"/>
    <p:sldId id="549" r:id="rId155"/>
    <p:sldId id="550" r:id="rId156"/>
    <p:sldId id="551" r:id="rId157"/>
    <p:sldId id="552" r:id="rId158"/>
    <p:sldId id="306" r:id="rId159"/>
    <p:sldId id="307" r:id="rId160"/>
    <p:sldId id="491" r:id="rId161"/>
    <p:sldId id="496" r:id="rId162"/>
    <p:sldId id="553" r:id="rId163"/>
    <p:sldId id="497" r:id="rId164"/>
    <p:sldId id="501" r:id="rId165"/>
    <p:sldId id="502" r:id="rId166"/>
    <p:sldId id="503" r:id="rId167"/>
    <p:sldId id="504" r:id="rId168"/>
    <p:sldId id="507" r:id="rId169"/>
    <p:sldId id="554" r:id="rId17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643" autoAdjust="0"/>
    <p:restoredTop sz="73545" autoAdjust="0"/>
  </p:normalViewPr>
  <p:slideViewPr>
    <p:cSldViewPr>
      <p:cViewPr varScale="1">
        <p:scale>
          <a:sx n="98" d="100"/>
          <a:sy n="98" d="100"/>
        </p:scale>
        <p:origin x="-255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theme" Target="theme/theme1.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notesMaster" Target="notesMasters/notesMaster1.xml"/><Relationship Id="rId176"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5/23/2013</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5/23/2013</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welcomes trainees to class and introduces himself/herself.</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eight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eight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an event?</a:t>
            </a:r>
          </a:p>
          <a:p>
            <a:pPr>
              <a:buFont typeface="Arial" pitchFamily="34" charset="0"/>
              <a:buChar char="•"/>
            </a:pPr>
            <a:r>
              <a:rPr lang="en-AU" sz="1200" kern="1200" baseline="0" dirty="0" smtClean="0">
                <a:solidFill>
                  <a:schemeClr val="tx1"/>
                </a:solidFill>
                <a:ea typeface="+mn-ea"/>
                <a:cs typeface="+mn-cs"/>
              </a:rPr>
              <a:t>What are different event concepts?</a:t>
            </a:r>
          </a:p>
          <a:p>
            <a:pPr>
              <a:buFont typeface="Arial" pitchFamily="34" charset="0"/>
              <a:buChar char="•"/>
            </a:pPr>
            <a:r>
              <a:rPr lang="en-AU" sz="1200" kern="1200" baseline="0" dirty="0" smtClean="0">
                <a:solidFill>
                  <a:schemeClr val="tx1"/>
                </a:solidFill>
                <a:ea typeface="+mn-ea"/>
                <a:cs typeface="+mn-cs"/>
              </a:rPr>
              <a:t>What is a proposal?</a:t>
            </a:r>
          </a:p>
          <a:p>
            <a:pPr>
              <a:buFont typeface="Arial" pitchFamily="34" charset="0"/>
              <a:buChar char="•"/>
            </a:pPr>
            <a:r>
              <a:rPr lang="en-AU" sz="1200" kern="1200" baseline="0" dirty="0" smtClean="0">
                <a:solidFill>
                  <a:schemeClr val="tx1"/>
                </a:solidFill>
                <a:ea typeface="+mn-ea"/>
                <a:cs typeface="+mn-cs"/>
              </a:rPr>
              <a:t>What is normally included in an event proposal?</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audience to discuss the events that they have attended in the past.</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arranged for these types of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are they normally held?</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arranged for these types of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are they normally held?</a:t>
            </a:r>
          </a:p>
          <a:p>
            <a:pPr marL="228600" marR="0" indent="-22860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 &amp;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Get audience to discuss the benefits for both parties.</a:t>
            </a: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are served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facilities mentioned before would be appropriate to hold these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are served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facilities mentioned before would be appropriate to hold these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food and beverage are served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facilities mentioned before would be appropriate to hold these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events are associated with each category?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the MICE sector very appealing to hotels as a key market to attract?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 &amp; List function facilities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Answer question in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audience to list all the facilities / spaces that can be used for an event.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each facility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included in a facility for the press?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different types of storage areas are needed and for what purpose?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restaurant and bar areas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food and beverage services are provided?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accommodation rooms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sound and lighting is available? What are they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technology is used in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equipment is used in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gardens normally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do people normally make an enquiry for an event?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do they need?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do people normally make an enquiry for an event?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do they need?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meeting with clients?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 you want to achieve when meeting with clients?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this set up option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equipment items are required?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this style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each of this set up options used for?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each option?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role of these stakeholders?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the importance of these points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Event liaison – who are the contact people communications be directed to and who needs to be copied or involved in communication</a:t>
            </a:r>
          </a:p>
          <a:p>
            <a:pPr lvl="0">
              <a:buFont typeface="Arial" pitchFamily="34" charset="0"/>
              <a:buChar char="•"/>
            </a:pPr>
            <a:r>
              <a:rPr lang="en-AU" sz="1200" dirty="0" smtClean="0"/>
              <a:t>Management structure – who are key managers in relation to different aspects of an event</a:t>
            </a:r>
          </a:p>
          <a:p>
            <a:pPr lvl="0">
              <a:buFont typeface="Arial" pitchFamily="34" charset="0"/>
              <a:buChar char="•"/>
            </a:pPr>
            <a:r>
              <a:rPr lang="en-AU" sz="1200" dirty="0" smtClean="0"/>
              <a:t>Lines of authority - who are the ultimate decision makers or have overriding authority and </a:t>
            </a:r>
            <a:r>
              <a:rPr lang="en-AU" sz="1200" dirty="0" smtClean="0"/>
              <a:t>responsibility.</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the questions in the slide</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included inside an event brief?</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a:t>
            </a:r>
            <a:r>
              <a:rPr lang="en-AU" sz="1200" b="0" kern="1200" baseline="0" dirty="0" smtClean="0">
                <a:solidFill>
                  <a:schemeClr val="tx1"/>
                </a:solidFill>
                <a:ea typeface="+mn-ea"/>
                <a:cs typeface="+mn-cs"/>
              </a:rPr>
              <a:t>points.</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a:t>
            </a:r>
            <a:r>
              <a:rPr lang="en-AU" sz="1200" b="0" kern="1200" baseline="0" dirty="0" smtClean="0">
                <a:solidFill>
                  <a:schemeClr val="tx1"/>
                </a:solidFill>
                <a:ea typeface="+mn-ea"/>
                <a:cs typeface="+mn-cs"/>
              </a:rPr>
              <a:t>points.</a:t>
            </a:r>
            <a:endParaRPr lang="en-AU" sz="1200"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question in the slide and list items.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are common event venues and locations?</a:t>
            </a:r>
          </a:p>
          <a:p>
            <a:pPr>
              <a:buFont typeface="Arial" pitchFamily="34" charset="0"/>
              <a:buChar char="•"/>
            </a:pPr>
            <a:r>
              <a:rPr lang="en-AU" sz="1200" kern="1200" baseline="0" dirty="0" smtClean="0">
                <a:solidFill>
                  <a:schemeClr val="tx1"/>
                </a:solidFill>
                <a:ea typeface="+mn-ea"/>
                <a:cs typeface="+mn-cs"/>
              </a:rPr>
              <a:t>Why are they used?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considerations associated with each </a:t>
            </a:r>
            <a:r>
              <a:rPr lang="en-AU" sz="1200" b="0" kern="1200" baseline="0" dirty="0" smtClean="0">
                <a:solidFill>
                  <a:schemeClr val="tx1"/>
                </a:solidFill>
                <a:ea typeface="+mn-ea"/>
                <a:cs typeface="+mn-cs"/>
              </a:rPr>
              <a:t>point.</a:t>
            </a:r>
            <a:endParaRPr lang="en-AU" sz="1200" b="0" kern="1200" baseline="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would be held in these locations?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would be held in these locations?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would be held in these locations?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would be held in these locations?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would be held in these locations?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be negotiated within these points?</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should be included in the Event Contract?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a:t>
            </a:r>
            <a:r>
              <a:rPr lang="en-AU" sz="1200" b="0" kern="1200" baseline="0" dirty="0" smtClean="0">
                <a:solidFill>
                  <a:schemeClr val="tx1"/>
                </a:solidFill>
                <a:ea typeface="+mn-ea"/>
                <a:cs typeface="+mn-cs"/>
              </a:rPr>
              <a:t>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a:t>
            </a:r>
            <a:r>
              <a:rPr lang="en-AU" sz="1200" b="0" kern="1200" baseline="0" dirty="0" smtClean="0">
                <a:solidFill>
                  <a:schemeClr val="tx1"/>
                </a:solidFill>
                <a:ea typeface="+mn-ea"/>
                <a:cs typeface="+mn-cs"/>
              </a:rPr>
              <a:t>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points in a contract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each point and important aspects to be recorded in each </a:t>
            </a:r>
            <a:r>
              <a:rPr lang="en-AU" sz="1200" b="0" kern="1200" baseline="0" dirty="0" smtClean="0">
                <a:solidFill>
                  <a:schemeClr val="tx1"/>
                </a:solidFill>
                <a:ea typeface="+mn-ea"/>
                <a:cs typeface="+mn-cs"/>
              </a:rPr>
              <a:t>point.</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a:t>
            </a:r>
            <a:r>
              <a:rPr lang="en-AU" sz="1200" b="0" kern="1200" baseline="0" dirty="0" smtClean="0">
                <a:solidFill>
                  <a:schemeClr val="tx1"/>
                </a:solidFill>
                <a:ea typeface="+mn-ea"/>
                <a:cs typeface="+mn-cs"/>
              </a:rPr>
              <a:t>slide.</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standard practice for requesting a deposit?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much deposit is normally required?</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the points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send a confirmation and why?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different types of catering are used at events?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will these factors impact on catering?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will these factors impact on catering?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can hotels provide a variety of price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a:t>
            </a:r>
            <a:r>
              <a:rPr lang="en-AU" sz="1200" dirty="0" smtClean="0">
                <a:latin typeface="Helvetica" pitchFamily="34" charset="0"/>
              </a:rPr>
              <a:t>inclusive and non-inclusive menus?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discuss the different menu items and how they would best be served?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may show examples of menus relating to these meal periods.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Think about a range of different functions. What types of food and beverage would be appropriate?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items do hotels allow and not allow clients to bring?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rules or charges apply when clients bring their own food and beverage items?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General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In what types of functions is are these different styles of service popular?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difference between these types of packages?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functions are commonly use each package?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included in a catering proposal?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follow up?</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a catering operational plan?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 different stakeholders use it for?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this </a:t>
            </a:r>
            <a:r>
              <a:rPr lang="en-AU" sz="1200" b="0" kern="1200" baseline="0" dirty="0" smtClean="0">
                <a:solidFill>
                  <a:schemeClr val="tx1"/>
                </a:solidFill>
                <a:ea typeface="+mn-ea"/>
                <a:cs typeface="+mn-cs"/>
              </a:rPr>
              <a:t>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Who is responsible for rostering?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does rostering involve?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a roster?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Explain how these points impact on </a:t>
            </a:r>
            <a:r>
              <a:rPr lang="en-AU" sz="1200" b="0" kern="1200" baseline="0" dirty="0" smtClean="0">
                <a:solidFill>
                  <a:schemeClr val="tx1"/>
                </a:solidFill>
                <a:ea typeface="+mn-ea"/>
                <a:cs typeface="+mn-cs"/>
              </a:rPr>
              <a:t>rostering.</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 audience to think discuss the activities associated with each of these steps.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the use of sponsorship?</a:t>
            </a:r>
          </a:p>
          <a:p>
            <a:pPr>
              <a:buFont typeface="Arial" pitchFamily="34" charset="0"/>
              <a:buChar char="•"/>
            </a:pPr>
            <a:r>
              <a:rPr lang="en-AU" sz="1200" kern="1200" baseline="0" dirty="0" smtClean="0">
                <a:solidFill>
                  <a:schemeClr val="tx1"/>
                </a:solidFill>
                <a:ea typeface="+mn-ea"/>
                <a:cs typeface="+mn-cs"/>
              </a:rPr>
              <a:t>How do you get sponsorship?</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event sponsorship common?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of sponsorship for both parties?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sponsorship are there?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 sponsors get for their investment?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other benefits are there for sponsors?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&amp; Create list of sponsors for specific events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other potential sponsors are there?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Think of a number of specific events and think of potential sponsors in which you could attract.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benefits and advantages of starting with these companies?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advantages of these different types of sponsors?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get the audience to research different types of sponsorship packages for various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get the audience to think of inclusions for each category of sponsorship for two different types of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get the audience to research different types of sponsorship packages for various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 Which ones would you find to be of value in you were a </a:t>
            </a:r>
            <a:r>
              <a:rPr lang="en-AU" sz="1200" b="0" kern="1200" baseline="0" dirty="0" smtClean="0">
                <a:solidFill>
                  <a:schemeClr val="tx1"/>
                </a:solidFill>
                <a:ea typeface="+mn-ea"/>
                <a:cs typeface="+mn-cs"/>
              </a:rPr>
              <a:t>sponsor.</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 Which ones would you find to be of value in you were a </a:t>
            </a:r>
            <a:r>
              <a:rPr lang="en-AU" sz="1200" b="0" kern="1200" baseline="0" dirty="0" smtClean="0">
                <a:solidFill>
                  <a:schemeClr val="tx1"/>
                </a:solidFill>
                <a:ea typeface="+mn-ea"/>
                <a:cs typeface="+mn-cs"/>
              </a:rPr>
              <a:t>sponsor.</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and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 Which ones would you find to be of value in you were a </a:t>
            </a:r>
            <a:r>
              <a:rPr lang="en-AU" sz="1200" b="0" kern="1200" baseline="0" dirty="0" smtClean="0">
                <a:solidFill>
                  <a:schemeClr val="tx1"/>
                </a:solidFill>
                <a:ea typeface="+mn-ea"/>
                <a:cs typeface="+mn-cs"/>
              </a:rPr>
              <a:t>sponsor.</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&amp; Review example for a large sporting event in the Trainee Manual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different types of items and activities that need to be prepared for different types of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the use of sponsorship?</a:t>
            </a:r>
          </a:p>
          <a:p>
            <a:pPr>
              <a:buFont typeface="Arial" pitchFamily="34" charset="0"/>
              <a:buChar char="•"/>
            </a:pPr>
            <a:r>
              <a:rPr lang="en-AU" sz="1200" kern="1200" baseline="0" dirty="0" smtClean="0">
                <a:solidFill>
                  <a:schemeClr val="tx1"/>
                </a:solidFill>
                <a:ea typeface="+mn-ea"/>
                <a:cs typeface="+mn-cs"/>
              </a:rPr>
              <a:t>How do you get sponsorship?</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&amp;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slide.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specialist advice can these people provide?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is it best to involve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Food requirements discussed with Executive Chef </a:t>
            </a:r>
          </a:p>
          <a:p>
            <a:pPr lvl="0">
              <a:buFont typeface="Arial" pitchFamily="34" charset="0"/>
              <a:buChar char="•"/>
            </a:pPr>
            <a:r>
              <a:rPr lang="en-AU" sz="1200" dirty="0" smtClean="0"/>
              <a:t>Beverage requirements discussed with Beverage Manager </a:t>
            </a:r>
          </a:p>
          <a:p>
            <a:pPr lvl="0">
              <a:buFont typeface="Arial" pitchFamily="34" charset="0"/>
              <a:buChar char="•"/>
            </a:pPr>
            <a:r>
              <a:rPr lang="en-AU" sz="1200" dirty="0" smtClean="0"/>
              <a:t>Technical requirements discussed with Maintenance Department or outside suppliers </a:t>
            </a:r>
          </a:p>
          <a:p>
            <a:pPr lvl="0">
              <a:buFont typeface="Arial" pitchFamily="34" charset="0"/>
              <a:buChar char="•"/>
            </a:pPr>
            <a:r>
              <a:rPr lang="en-AU" sz="1200" dirty="0" smtClean="0"/>
              <a:t>Linen requirements discussed with housekeeping – outside suppliers may also be involved </a:t>
            </a:r>
          </a:p>
          <a:p>
            <a:pPr lvl="0">
              <a:buFont typeface="Arial" pitchFamily="34" charset="0"/>
              <a:buChar char="•"/>
            </a:pPr>
            <a:r>
              <a:rPr lang="en-AU" sz="1200" dirty="0" smtClean="0"/>
              <a:t>Room decorations and floral arrangements discussed with housekeeping or outside suppliers </a:t>
            </a:r>
          </a:p>
          <a:p>
            <a:pPr lvl="0">
              <a:buFont typeface="Arial" pitchFamily="34" charset="0"/>
              <a:buChar char="•"/>
            </a:pPr>
            <a:r>
              <a:rPr lang="en-AU" sz="1200" dirty="0" smtClean="0"/>
              <a:t>Facility set-up requirements discussed with Catering and Food and Beverage or functions </a:t>
            </a:r>
            <a:r>
              <a:rPr lang="en-AU" sz="1200" dirty="0" smtClean="0"/>
              <a:t>coordinator.</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should be included in an event management plan?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considered or actioned in relation to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considered or actioned in relation to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inclusions?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needs to be considered or actioned in relation to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types of external businesses are utilised in functions?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specialist products or services do these businesses provide?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Where can you find information on different types of external suppliers?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would you like to know about external suppliers?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Range of offering – selection of products and services</a:t>
            </a:r>
          </a:p>
          <a:p>
            <a:pPr lvl="0">
              <a:buFont typeface="Arial" pitchFamily="34" charset="0"/>
              <a:buChar char="•"/>
            </a:pPr>
            <a:r>
              <a:rPr lang="en-AU" sz="1200" kern="1200" dirty="0" smtClean="0">
                <a:solidFill>
                  <a:schemeClr val="tx1"/>
                </a:solidFill>
                <a:ea typeface="+mn-ea"/>
                <a:cs typeface="+mn-cs"/>
              </a:rPr>
              <a:t>Pricing structure for each item – including discounts or complimentary additional items</a:t>
            </a:r>
          </a:p>
          <a:p>
            <a:pPr lvl="0">
              <a:buFont typeface="Arial" pitchFamily="34" charset="0"/>
              <a:buChar char="•"/>
            </a:pPr>
            <a:r>
              <a:rPr lang="en-AU" sz="1200" kern="1200" dirty="0" smtClean="0">
                <a:solidFill>
                  <a:schemeClr val="tx1"/>
                </a:solidFill>
                <a:ea typeface="+mn-ea"/>
                <a:cs typeface="+mn-cs"/>
              </a:rPr>
              <a:t>Service guarantees – what quality and quantity guarantees can they provide</a:t>
            </a:r>
          </a:p>
          <a:p>
            <a:pPr lvl="0">
              <a:buFont typeface="Arial" pitchFamily="34" charset="0"/>
              <a:buChar char="•"/>
            </a:pPr>
            <a:r>
              <a:rPr lang="en-AU" sz="1200" kern="1200" dirty="0" smtClean="0">
                <a:solidFill>
                  <a:schemeClr val="tx1"/>
                </a:solidFill>
                <a:ea typeface="+mn-ea"/>
                <a:cs typeface="+mn-cs"/>
              </a:rPr>
              <a:t>Availability - how available are items. It is no use choosing a provider, no matter how cheap, if their items are never available</a:t>
            </a:r>
          </a:p>
          <a:p>
            <a:pPr lvl="0">
              <a:buFont typeface="Arial" pitchFamily="34" charset="0"/>
              <a:buChar char="•"/>
            </a:pPr>
            <a:r>
              <a:rPr lang="en-AU" sz="1200" kern="1200" dirty="0" smtClean="0">
                <a:solidFill>
                  <a:schemeClr val="tx1"/>
                </a:solidFill>
                <a:ea typeface="+mn-ea"/>
                <a:cs typeface="+mn-cs"/>
              </a:rPr>
              <a:t>Prep-event services – delivery and setting up arrangements</a:t>
            </a:r>
          </a:p>
          <a:p>
            <a:pPr lvl="0">
              <a:buFont typeface="Arial" pitchFamily="34" charset="0"/>
              <a:buChar char="•"/>
            </a:pPr>
            <a:r>
              <a:rPr lang="en-AU" sz="1200" kern="1200" dirty="0" smtClean="0">
                <a:solidFill>
                  <a:schemeClr val="tx1"/>
                </a:solidFill>
                <a:ea typeface="+mn-ea"/>
                <a:cs typeface="+mn-cs"/>
              </a:rPr>
              <a:t>Event services- what will the company do during the event to ensure its products or services operate as expected</a:t>
            </a:r>
          </a:p>
          <a:p>
            <a:pPr lvl="0">
              <a:buFont typeface="Arial" pitchFamily="34" charset="0"/>
              <a:buChar char="•"/>
            </a:pPr>
            <a:r>
              <a:rPr lang="en-AU" sz="1200" kern="1200" dirty="0" smtClean="0">
                <a:solidFill>
                  <a:schemeClr val="tx1"/>
                </a:solidFill>
                <a:ea typeface="+mn-ea"/>
                <a:cs typeface="+mn-cs"/>
              </a:rPr>
              <a:t>Post-event services – take down and removal of items, cleaning etc</a:t>
            </a:r>
          </a:p>
          <a:p>
            <a:pPr lvl="0">
              <a:buFont typeface="Arial" pitchFamily="34" charset="0"/>
              <a:buChar char="•"/>
            </a:pPr>
            <a:r>
              <a:rPr lang="en-AU" sz="1200" kern="1200" dirty="0" smtClean="0">
                <a:solidFill>
                  <a:schemeClr val="tx1"/>
                </a:solidFill>
                <a:ea typeface="+mn-ea"/>
                <a:cs typeface="+mn-cs"/>
              </a:rPr>
              <a:t>Billing and payment </a:t>
            </a:r>
            <a:r>
              <a:rPr lang="en-AU" sz="1200" kern="1200" dirty="0" smtClean="0">
                <a:solidFill>
                  <a:schemeClr val="tx1"/>
                </a:solidFill>
                <a:ea typeface="+mn-ea"/>
                <a:cs typeface="+mn-cs"/>
              </a:rPr>
              <a:t>arrangements.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it important to discuss these points with external providers?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provide examples of information that may be given to external suppliers in relation to each of these points.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the question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&amp;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would you like to know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Type of function – wedding, launch of product, ball </a:t>
            </a:r>
          </a:p>
          <a:p>
            <a:pPr lvl="0">
              <a:buFont typeface="Arial" pitchFamily="34" charset="0"/>
              <a:buChar char="•"/>
            </a:pPr>
            <a:r>
              <a:rPr lang="en-AU" sz="1200" dirty="0" smtClean="0"/>
              <a:t>Name, address, and contact number of client </a:t>
            </a:r>
          </a:p>
          <a:p>
            <a:pPr lvl="0">
              <a:buFont typeface="Arial" pitchFamily="34" charset="0"/>
              <a:buChar char="•"/>
            </a:pPr>
            <a:r>
              <a:rPr lang="en-AU" sz="1200" dirty="0" smtClean="0"/>
              <a:t>Day, date and time of the function </a:t>
            </a:r>
          </a:p>
          <a:p>
            <a:pPr lvl="0">
              <a:buFont typeface="Arial" pitchFamily="34" charset="0"/>
              <a:buChar char="•"/>
            </a:pPr>
            <a:r>
              <a:rPr lang="en-AU" sz="1200" dirty="0" smtClean="0"/>
              <a:t>Rooms and locations where the function will be held </a:t>
            </a:r>
          </a:p>
          <a:p>
            <a:pPr lvl="0">
              <a:buFont typeface="Arial" pitchFamily="34" charset="0"/>
              <a:buChar char="•"/>
            </a:pPr>
            <a:r>
              <a:rPr lang="en-AU" sz="1200" dirty="0" smtClean="0"/>
              <a:t>Billing instructions – who gets the bill, their address </a:t>
            </a:r>
          </a:p>
          <a:p>
            <a:pPr lvl="0">
              <a:buFont typeface="Arial" pitchFamily="34" charset="0"/>
              <a:buChar char="•"/>
            </a:pPr>
            <a:r>
              <a:rPr lang="en-AU" sz="1200" dirty="0" smtClean="0"/>
              <a:t>Menu – break-down course-by-course of the agreed dishes including specification of ‘on arrival’ food, morning and afternoon </a:t>
            </a:r>
            <a:r>
              <a:rPr lang="en-AU" sz="1200" dirty="0" smtClean="0"/>
              <a:t>teas.</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 &amp;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points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would you like to know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Beverage arrangements – description and quantities of beverages to be provided </a:t>
            </a:r>
          </a:p>
          <a:p>
            <a:pPr lvl="0">
              <a:buFont typeface="Arial" pitchFamily="34" charset="0"/>
              <a:buChar char="•"/>
            </a:pPr>
            <a:r>
              <a:rPr lang="en-AU" sz="1200" kern="1200" dirty="0" smtClean="0">
                <a:solidFill>
                  <a:schemeClr val="tx1"/>
                </a:solidFill>
                <a:ea typeface="+mn-ea"/>
                <a:cs typeface="+mn-cs"/>
              </a:rPr>
              <a:t>Sequence of service – covering timing of service, and details of when speeches and presentations will occur </a:t>
            </a:r>
          </a:p>
          <a:p>
            <a:pPr lvl="0">
              <a:buFont typeface="Arial" pitchFamily="34" charset="0"/>
              <a:buChar char="•"/>
            </a:pPr>
            <a:r>
              <a:rPr lang="en-AU" sz="1200" kern="1200" dirty="0" smtClean="0">
                <a:solidFill>
                  <a:schemeClr val="tx1"/>
                </a:solidFill>
                <a:ea typeface="+mn-ea"/>
                <a:cs typeface="+mn-cs"/>
              </a:rPr>
              <a:t>Entertainment – details of bands and the order of ceremony. </a:t>
            </a:r>
          </a:p>
          <a:p>
            <a:pPr lvl="0">
              <a:buFont typeface="Arial" pitchFamily="34" charset="0"/>
              <a:buChar char="•"/>
            </a:pPr>
            <a:r>
              <a:rPr lang="en-AU" sz="1200" kern="1200" dirty="0" smtClean="0">
                <a:solidFill>
                  <a:schemeClr val="tx1"/>
                </a:solidFill>
                <a:ea typeface="+mn-ea"/>
                <a:cs typeface="+mn-cs"/>
              </a:rPr>
              <a:t>Room set up – number of tables, floor plan, decorations, table set-ups including cutlery, crockery and table accoutrements </a:t>
            </a:r>
          </a:p>
          <a:p>
            <a:pPr lvl="0">
              <a:buFont typeface="Arial" pitchFamily="34" charset="0"/>
              <a:buChar char="•"/>
            </a:pPr>
            <a:r>
              <a:rPr lang="en-AU" sz="1200" kern="1200" dirty="0" smtClean="0">
                <a:solidFill>
                  <a:schemeClr val="tx1"/>
                </a:solidFill>
                <a:ea typeface="+mn-ea"/>
                <a:cs typeface="+mn-cs"/>
              </a:rPr>
              <a:t>Type of service – plated, tray, buffet, silver service, finger food </a:t>
            </a:r>
          </a:p>
          <a:p>
            <a:pPr lvl="0">
              <a:buFont typeface="Arial" pitchFamily="34" charset="0"/>
              <a:buChar char="•"/>
            </a:pPr>
            <a:r>
              <a:rPr lang="en-AU" sz="1200" kern="1200" dirty="0" smtClean="0">
                <a:solidFill>
                  <a:schemeClr val="tx1"/>
                </a:solidFill>
                <a:ea typeface="+mn-ea"/>
                <a:cs typeface="+mn-cs"/>
              </a:rPr>
              <a:t>Special requirements – commonly relating to technology requirements such as microphone, DVD facilities, data projector, sound and lighting.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common impacts that affect other functions or hotel outlets?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you do to minimise this impact?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causes of these impacts?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you do to minimise this impact?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are the causes of these impacts?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can you do to minimise this impact?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does the term mise-en-place mean?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List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break audience into </a:t>
            </a:r>
            <a:r>
              <a:rPr lang="en-AU" sz="1200" b="0" kern="1200" baseline="0" dirty="0" smtClean="0">
                <a:solidFill>
                  <a:schemeClr val="tx1"/>
                </a:solidFill>
                <a:ea typeface="+mn-ea"/>
                <a:cs typeface="+mn-cs"/>
              </a:rPr>
              <a:t>groups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Give each group one job </a:t>
            </a:r>
            <a:r>
              <a:rPr lang="en-AU" sz="1200" b="0" kern="1200" baseline="0" dirty="0" smtClean="0">
                <a:solidFill>
                  <a:schemeClr val="tx1"/>
                </a:solidFill>
                <a:ea typeface="+mn-ea"/>
                <a:cs typeface="+mn-cs"/>
              </a:rPr>
              <a:t>role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them to identify all mise-en-place activities that would need to be completed before a function.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a checklist?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should be included in a checklist?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needs to be planned?</a:t>
            </a:r>
          </a:p>
          <a:p>
            <a:pPr>
              <a:spcBef>
                <a:spcPts val="600"/>
              </a:spcBef>
              <a:spcAft>
                <a:spcPts val="1200"/>
              </a:spcAft>
              <a:buFont typeface="Arial" pitchFamily="34" charset="0"/>
              <a:buChar char="•"/>
            </a:pPr>
            <a:r>
              <a:rPr lang="en-AU" sz="1200" dirty="0" smtClean="0">
                <a:latin typeface="Helvetica" pitchFamily="34" charset="0"/>
              </a:rPr>
              <a:t>What influences planning?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are other</a:t>
            </a:r>
            <a:r>
              <a:rPr lang="en-AU" sz="1200" baseline="0" dirty="0" smtClean="0">
                <a:latin typeface="Helvetica" pitchFamily="34" charset="0"/>
              </a:rPr>
              <a:t> considerations when setting up tables for different events?</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Preparing, polishing and setting glasses on each table at each setting – including the equipment to ensure that glassware is available and has been prepared to support the service of special beverages as required for the function </a:t>
            </a:r>
          </a:p>
          <a:p>
            <a:pPr lvl="0">
              <a:buFont typeface="Arial" pitchFamily="34" charset="0"/>
              <a:buChar char="•"/>
            </a:pPr>
            <a:r>
              <a:rPr lang="en-AU" sz="1200" kern="1200" dirty="0" smtClean="0">
                <a:solidFill>
                  <a:schemeClr val="tx1"/>
                </a:solidFill>
                <a:ea typeface="+mn-ea"/>
                <a:cs typeface="+mn-cs"/>
              </a:rPr>
              <a:t>Preparing crockery and cutlery – for placement on tables. Most premises require crockery to be checked to ensure it is clean and free of chips or cracks and that cutlery is to be polished prior to being set</a:t>
            </a:r>
          </a:p>
          <a:p>
            <a:pPr lvl="0">
              <a:buFont typeface="Arial" pitchFamily="34" charset="0"/>
              <a:buChar char="•"/>
            </a:pPr>
            <a:r>
              <a:rPr lang="en-AU" sz="1200" kern="1200" dirty="0" smtClean="0">
                <a:solidFill>
                  <a:schemeClr val="tx1"/>
                </a:solidFill>
                <a:ea typeface="+mn-ea"/>
                <a:cs typeface="+mn-cs"/>
              </a:rPr>
              <a:t>Checking that items required to support the service of menu items as listed are ready and available. This can include:</a:t>
            </a:r>
          </a:p>
          <a:p>
            <a:pPr lvl="1">
              <a:buFont typeface="Arial" pitchFamily="34" charset="0"/>
              <a:buChar char="•"/>
            </a:pPr>
            <a:r>
              <a:rPr lang="en-AU" sz="1200" kern="1200" dirty="0" smtClean="0">
                <a:solidFill>
                  <a:schemeClr val="tx1"/>
                </a:solidFill>
                <a:ea typeface="+mn-ea"/>
                <a:cs typeface="+mn-cs"/>
              </a:rPr>
              <a:t>Platters, lids and covers</a:t>
            </a:r>
          </a:p>
          <a:p>
            <a:pPr lvl="1">
              <a:buFont typeface="Arial" pitchFamily="34" charset="0"/>
              <a:buChar char="•"/>
            </a:pPr>
            <a:r>
              <a:rPr lang="en-AU" sz="1200" kern="1200" dirty="0" smtClean="0">
                <a:solidFill>
                  <a:schemeClr val="tx1"/>
                </a:solidFill>
                <a:ea typeface="+mn-ea"/>
                <a:cs typeface="+mn-cs"/>
              </a:rPr>
              <a:t>Service utensils – such as spoons and forks for silver service, tongs, cake lifts and stands, sauce boats and underliners</a:t>
            </a:r>
          </a:p>
          <a:p>
            <a:pPr lvl="1">
              <a:buFont typeface="Arial" pitchFamily="34" charset="0"/>
              <a:buChar char="•"/>
            </a:pPr>
            <a:r>
              <a:rPr lang="en-AU" sz="1200" kern="1200" dirty="0" smtClean="0">
                <a:solidFill>
                  <a:schemeClr val="tx1"/>
                </a:solidFill>
                <a:ea typeface="+mn-ea"/>
                <a:cs typeface="+mn-cs"/>
              </a:rPr>
              <a:t>Oven-to-table ware – this is commonly the responsibility of kitchen staff but waiting staff may be responsible for ensuring the stands or mats that these hot items are placed on are ready and available</a:t>
            </a:r>
          </a:p>
          <a:p>
            <a:pPr lvl="0">
              <a:buFont typeface="Arial" pitchFamily="34" charset="0"/>
              <a:buChar char="•"/>
            </a:pPr>
            <a:r>
              <a:rPr lang="en-AU" sz="1200" kern="1200" dirty="0" smtClean="0">
                <a:solidFill>
                  <a:schemeClr val="tx1"/>
                </a:solidFill>
                <a:ea typeface="+mn-ea"/>
                <a:cs typeface="+mn-cs"/>
              </a:rPr>
              <a:t>Folding napkins – including the preparation of waiter’s cloths/napkins ready for use on clothed service plates</a:t>
            </a:r>
          </a:p>
          <a:p>
            <a:pPr lvl="0">
              <a:buFont typeface="Arial" pitchFamily="34" charset="0"/>
              <a:buChar char="•"/>
            </a:pPr>
            <a:r>
              <a:rPr lang="en-AU" sz="1200" kern="1200" dirty="0" smtClean="0">
                <a:solidFill>
                  <a:schemeClr val="tx1"/>
                </a:solidFill>
                <a:ea typeface="+mn-ea"/>
                <a:cs typeface="+mn-cs"/>
              </a:rPr>
              <a:t>Preparing condiments – including re-filling, cleaning and placement on tables and in waiter’s </a:t>
            </a:r>
            <a:r>
              <a:rPr lang="en-AU" sz="1200" kern="1200" dirty="0" smtClean="0">
                <a:solidFill>
                  <a:schemeClr val="tx1"/>
                </a:solidFill>
                <a:ea typeface="+mn-ea"/>
                <a:cs typeface="+mn-cs"/>
              </a:rPr>
              <a:t>stations.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Preparing butters – including spares to cater for situations where extra butter is required</a:t>
            </a:r>
          </a:p>
          <a:p>
            <a:pPr lvl="0">
              <a:buFont typeface="Arial" pitchFamily="34" charset="0"/>
              <a:buChar char="•"/>
            </a:pPr>
            <a:r>
              <a:rPr lang="en-AU" sz="1200" kern="1200" dirty="0" smtClean="0">
                <a:solidFill>
                  <a:schemeClr val="tx1"/>
                </a:solidFill>
                <a:ea typeface="+mn-ea"/>
                <a:cs typeface="+mn-cs"/>
              </a:rPr>
              <a:t>Readying all equipment – such as espresso machines, tea and coffee-making equipment, bain maries, waiter’s stations </a:t>
            </a:r>
          </a:p>
          <a:p>
            <a:pPr lvl="0">
              <a:buFont typeface="Arial" pitchFamily="34" charset="0"/>
              <a:buChar char="•"/>
            </a:pPr>
            <a:r>
              <a:rPr lang="en-AU" sz="1200" kern="1200" dirty="0" smtClean="0">
                <a:solidFill>
                  <a:schemeClr val="tx1"/>
                </a:solidFill>
                <a:ea typeface="+mn-ea"/>
                <a:cs typeface="+mn-cs"/>
              </a:rPr>
              <a:t>Checking or preparing display materials – some properties will feature a display table to fit in with a theme </a:t>
            </a:r>
          </a:p>
          <a:p>
            <a:pPr lvl="0">
              <a:buFont typeface="Arial" pitchFamily="34" charset="0"/>
              <a:buChar char="•"/>
            </a:pPr>
            <a:r>
              <a:rPr lang="en-AU" sz="1200" kern="1200" dirty="0" smtClean="0">
                <a:solidFill>
                  <a:schemeClr val="tx1"/>
                </a:solidFill>
                <a:ea typeface="+mn-ea"/>
                <a:cs typeface="+mn-cs"/>
              </a:rPr>
              <a:t>Preparing and checking operational readiness of cash registers where a cash service is operating – this can include collecting and counting the float, obtaining change, checking the audit tape is sufficient for the up-coming session, and ensuring date/time is correct. This may be the role of bar staff in some venues where accounts are processed through the bar </a:t>
            </a:r>
            <a:r>
              <a:rPr lang="en-AU" sz="1200" kern="1200" dirty="0" smtClean="0">
                <a:solidFill>
                  <a:schemeClr val="tx1"/>
                </a:solidFill>
                <a:ea typeface="+mn-ea"/>
                <a:cs typeface="+mn-cs"/>
              </a:rPr>
              <a:t>register.</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Storing beverages that have been delivered to the bar – where stock is waiting to be put away. This is usually the first job to do in order to get drinks that require refrigeration into the fridges as soon as possible. All stock should be rotated using the First In, First Out method meaning that existing stock should be moved forward and the new stock stored behind it</a:t>
            </a:r>
          </a:p>
          <a:p>
            <a:pPr lvl="0">
              <a:buFont typeface="Arial" pitchFamily="34" charset="0"/>
              <a:buChar char="•"/>
            </a:pPr>
            <a:r>
              <a:rPr lang="en-AU" sz="1200" kern="1200" dirty="0" smtClean="0">
                <a:solidFill>
                  <a:schemeClr val="tx1"/>
                </a:solidFill>
                <a:ea typeface="+mn-ea"/>
                <a:cs typeface="+mn-cs"/>
              </a:rPr>
              <a:t>Preparing bar garnishes – these should include the basic lemon and orange slices and lime quarters as well as more sophisticated garnishes for any cocktails that are being offered as part of the function. </a:t>
            </a:r>
          </a:p>
          <a:p>
            <a:pPr lvl="0">
              <a:buFont typeface="Arial" pitchFamily="34" charset="0"/>
              <a:buChar char="•"/>
            </a:pPr>
            <a:r>
              <a:rPr lang="en-AU" sz="1200" kern="1200" dirty="0" smtClean="0">
                <a:solidFill>
                  <a:schemeClr val="tx1"/>
                </a:solidFill>
                <a:ea typeface="+mn-ea"/>
                <a:cs typeface="+mn-cs"/>
              </a:rPr>
              <a:t>Preparing ice – including obtaining ice, crushing ice and readying ice buckets and stands</a:t>
            </a:r>
          </a:p>
          <a:p>
            <a:pPr lvl="0">
              <a:buFont typeface="Arial" pitchFamily="34" charset="0"/>
              <a:buChar char="•"/>
            </a:pPr>
            <a:r>
              <a:rPr lang="en-AU" sz="1200" kern="1200" dirty="0" smtClean="0">
                <a:solidFill>
                  <a:schemeClr val="tx1"/>
                </a:solidFill>
                <a:ea typeface="+mn-ea"/>
                <a:cs typeface="+mn-cs"/>
              </a:rPr>
              <a:t>Preparing and checking operational readiness of cash registers – if a cash bar system is operating </a:t>
            </a:r>
          </a:p>
          <a:p>
            <a:pPr>
              <a:buFont typeface="Arial" pitchFamily="34" charset="0"/>
              <a:buChar char="•"/>
            </a:pPr>
            <a:r>
              <a:rPr lang="en-AU" sz="1200" kern="1200" dirty="0" smtClean="0">
                <a:solidFill>
                  <a:schemeClr val="tx1"/>
                </a:solidFill>
                <a:ea typeface="+mn-ea"/>
                <a:cs typeface="+mn-cs"/>
              </a:rPr>
              <a:t>Checking to see that all beverages listed on running sheets are available – and noting those that are not for mention at the staff briefing or ordering replacement stock as </a:t>
            </a:r>
            <a:r>
              <a:rPr lang="en-AU" sz="1200" kern="1200" dirty="0" smtClean="0">
                <a:solidFill>
                  <a:schemeClr val="tx1"/>
                </a:solidFill>
                <a:ea typeface="+mn-ea"/>
                <a:cs typeface="+mn-cs"/>
              </a:rPr>
              <a:t>require.</a:t>
            </a:r>
            <a:endParaRPr lang="en-AU" sz="1200" b="1" u="sng"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Checking the post-mix – to make sure it is fully operational for all flavours and the water button, and is being delivered at the right temperature and strength</a:t>
            </a:r>
          </a:p>
          <a:p>
            <a:pPr lvl="0">
              <a:buFont typeface="Arial" pitchFamily="34" charset="0"/>
              <a:buChar char="•"/>
            </a:pPr>
            <a:r>
              <a:rPr lang="en-AU" sz="1200" kern="1200" dirty="0" smtClean="0">
                <a:solidFill>
                  <a:schemeClr val="tx1"/>
                </a:solidFill>
                <a:ea typeface="+mn-ea"/>
                <a:cs typeface="+mn-cs"/>
              </a:rPr>
              <a:t>Turning on espresso coffee machine</a:t>
            </a:r>
          </a:p>
          <a:p>
            <a:pPr lvl="0">
              <a:buFont typeface="Arial" pitchFamily="34" charset="0"/>
              <a:buChar char="•"/>
            </a:pPr>
            <a:r>
              <a:rPr lang="en-AU" sz="1200" kern="1200" dirty="0" smtClean="0">
                <a:solidFill>
                  <a:schemeClr val="tx1"/>
                </a:solidFill>
                <a:ea typeface="+mn-ea"/>
                <a:cs typeface="+mn-cs"/>
              </a:rPr>
              <a:t>Setting out drip trays – with de-naturing agent</a:t>
            </a:r>
          </a:p>
          <a:p>
            <a:pPr lvl="0">
              <a:buFont typeface="Arial" pitchFamily="34" charset="0"/>
              <a:buChar char="•"/>
            </a:pPr>
            <a:r>
              <a:rPr lang="en-AU" sz="1200" kern="1200" dirty="0" smtClean="0">
                <a:solidFill>
                  <a:schemeClr val="tx1"/>
                </a:solidFill>
                <a:ea typeface="+mn-ea"/>
                <a:cs typeface="+mn-cs"/>
              </a:rPr>
              <a:t>Setting out under-trays and racks for dirty glassware</a:t>
            </a:r>
          </a:p>
          <a:p>
            <a:pPr lvl="0">
              <a:buFont typeface="Arial" pitchFamily="34" charset="0"/>
              <a:buChar char="•"/>
            </a:pPr>
            <a:r>
              <a:rPr lang="en-AU" sz="1200" kern="1200" dirty="0" smtClean="0">
                <a:solidFill>
                  <a:schemeClr val="tx1"/>
                </a:solidFill>
                <a:ea typeface="+mn-ea"/>
                <a:cs typeface="+mn-cs"/>
              </a:rPr>
              <a:t>Checking equipment and bar utensils are clean and in working order – this check should include all operational bar </a:t>
            </a:r>
            <a:r>
              <a:rPr lang="en-AU" sz="1200" kern="1200" dirty="0" smtClean="0">
                <a:solidFill>
                  <a:schemeClr val="tx1"/>
                </a:solidFill>
                <a:ea typeface="+mn-ea"/>
                <a:cs typeface="+mn-cs"/>
              </a:rPr>
              <a:t>equipment.</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Checking glassware to ensure no cracks, chips, lipstick marks, etc</a:t>
            </a:r>
          </a:p>
          <a:p>
            <a:pPr lvl="0">
              <a:buFont typeface="Arial" pitchFamily="34" charset="0"/>
              <a:buChar char="•"/>
            </a:pPr>
            <a:r>
              <a:rPr lang="en-AU" sz="1200" kern="1200" dirty="0" smtClean="0">
                <a:solidFill>
                  <a:schemeClr val="tx1"/>
                </a:solidFill>
                <a:ea typeface="+mn-ea"/>
                <a:cs typeface="+mn-cs"/>
              </a:rPr>
              <a:t>Placing spirit pourers on the appropriate bottles – ensuring sufficient supply of liquor</a:t>
            </a:r>
          </a:p>
          <a:p>
            <a:pPr lvl="0">
              <a:buFont typeface="Arial" pitchFamily="34" charset="0"/>
              <a:buChar char="•"/>
            </a:pPr>
            <a:r>
              <a:rPr lang="en-AU" sz="1200" kern="1200" dirty="0" smtClean="0">
                <a:solidFill>
                  <a:schemeClr val="tx1"/>
                </a:solidFill>
                <a:ea typeface="+mn-ea"/>
                <a:cs typeface="+mn-cs"/>
              </a:rPr>
              <a:t>Stacking and ensuring cleanliness of service trays</a:t>
            </a:r>
          </a:p>
          <a:p>
            <a:pPr lvl="0">
              <a:buFont typeface="Arial" pitchFamily="34" charset="0"/>
              <a:buChar char="•"/>
            </a:pPr>
            <a:r>
              <a:rPr lang="en-AU" sz="1200" kern="1200" dirty="0" smtClean="0">
                <a:solidFill>
                  <a:schemeClr val="tx1"/>
                </a:solidFill>
                <a:ea typeface="+mn-ea"/>
                <a:cs typeface="+mn-cs"/>
              </a:rPr>
              <a:t>Filling up ice buckets</a:t>
            </a:r>
          </a:p>
          <a:p>
            <a:pPr lvl="0">
              <a:buFont typeface="Arial" pitchFamily="34" charset="0"/>
              <a:buChar char="•"/>
            </a:pPr>
            <a:r>
              <a:rPr lang="en-AU" sz="1200" kern="1200" dirty="0" smtClean="0">
                <a:solidFill>
                  <a:schemeClr val="tx1"/>
                </a:solidFill>
                <a:ea typeface="+mn-ea"/>
                <a:cs typeface="+mn-cs"/>
              </a:rPr>
              <a:t>Opening pre-selected </a:t>
            </a:r>
            <a:r>
              <a:rPr lang="en-AU" sz="1200" kern="1200" dirty="0" smtClean="0">
                <a:solidFill>
                  <a:schemeClr val="tx1"/>
                </a:solidFill>
                <a:ea typeface="+mn-ea"/>
                <a:cs typeface="+mn-cs"/>
              </a:rPr>
              <a:t>wines.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 and demonstrate mise-en-place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Preparing and filling water jugs or other items that are to be pre-placed on function tables</a:t>
            </a:r>
          </a:p>
          <a:p>
            <a:pPr lvl="0">
              <a:buFont typeface="Arial" pitchFamily="34" charset="0"/>
              <a:buChar char="•"/>
            </a:pPr>
            <a:r>
              <a:rPr lang="en-AU" sz="1200" dirty="0" smtClean="0"/>
              <a:t>Prepare pre-ordered drinks</a:t>
            </a:r>
          </a:p>
          <a:p>
            <a:pPr>
              <a:buFont typeface="Arial" pitchFamily="34" charset="0"/>
              <a:buChar char="•"/>
            </a:pPr>
            <a:r>
              <a:rPr lang="en-AU" sz="1200" dirty="0" smtClean="0"/>
              <a:t>Bar staff may also be required to set out appropriate glassware on the tables and to prepare service trays and drinks for, say, pre-function drinks in the lobby or </a:t>
            </a:r>
            <a:r>
              <a:rPr lang="en-AU" sz="1200" dirty="0" smtClean="0"/>
              <a:t>champagne.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Research activity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Trainer to break the audience into small </a:t>
            </a:r>
            <a:r>
              <a:rPr lang="en-AU" sz="1200" b="0" kern="1200" baseline="0" dirty="0" smtClean="0">
                <a:solidFill>
                  <a:schemeClr val="tx1"/>
                </a:solidFill>
                <a:ea typeface="+mn-ea"/>
                <a:cs typeface="+mn-cs"/>
              </a:rPr>
              <a:t>groups</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Give each group a specific type of </a:t>
            </a:r>
            <a:r>
              <a:rPr lang="en-AU" sz="1200" b="0" kern="1200" baseline="0" dirty="0" smtClean="0">
                <a:solidFill>
                  <a:schemeClr val="tx1"/>
                </a:solidFill>
                <a:ea typeface="+mn-ea"/>
                <a:cs typeface="+mn-cs"/>
              </a:rPr>
              <a:t>function</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them to identify the types of stock are commonly for that </a:t>
            </a:r>
            <a:r>
              <a:rPr lang="en-AU" sz="1200" b="0" kern="1200" baseline="0" dirty="0" smtClean="0">
                <a:solidFill>
                  <a:schemeClr val="tx1"/>
                </a:solidFill>
                <a:ea typeface="+mn-ea"/>
                <a:cs typeface="+mn-cs"/>
              </a:rPr>
              <a:t>function</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Get them to identify how these items can be arranged, taking into consideration the options provided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 different types of </a:t>
            </a:r>
            <a:r>
              <a:rPr lang="en-AU" sz="1200" b="0" kern="1200" baseline="0" dirty="0" smtClean="0">
                <a:solidFill>
                  <a:schemeClr val="tx1"/>
                </a:solidFill>
                <a:ea typeface="+mn-ea"/>
                <a:cs typeface="+mn-cs"/>
              </a:rPr>
              <a:t>stock.</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Food and beverages to match identified menu selections </a:t>
            </a:r>
          </a:p>
          <a:p>
            <a:pPr lvl="0">
              <a:buFont typeface="Arial" pitchFamily="34" charset="0"/>
              <a:buChar char="•"/>
            </a:pPr>
            <a:r>
              <a:rPr lang="en-AU" sz="1200" kern="1200" dirty="0" smtClean="0">
                <a:solidFill>
                  <a:schemeClr val="tx1"/>
                </a:solidFill>
                <a:ea typeface="+mn-ea"/>
                <a:cs typeface="+mn-cs"/>
              </a:rPr>
              <a:t>Decorations – including flowers, table decorations and displays, stage decorations, dance floors, bunting and other decorations as requested by customer </a:t>
            </a:r>
          </a:p>
          <a:p>
            <a:pPr lvl="0">
              <a:buFont typeface="Arial" pitchFamily="34" charset="0"/>
              <a:buChar char="•"/>
            </a:pPr>
            <a:r>
              <a:rPr lang="en-AU" sz="1200" kern="1200" dirty="0" smtClean="0">
                <a:solidFill>
                  <a:schemeClr val="tx1"/>
                </a:solidFill>
                <a:ea typeface="+mn-ea"/>
                <a:cs typeface="+mn-cs"/>
              </a:rPr>
              <a:t>Stationery– such as meeting note pads, pens, folders, pencils, whiteboard markers, butcher’s paper, name card holder, name tags etc </a:t>
            </a:r>
          </a:p>
          <a:p>
            <a:pPr lvl="0">
              <a:buFont typeface="Arial" pitchFamily="34" charset="0"/>
              <a:buChar char="•"/>
            </a:pPr>
            <a:r>
              <a:rPr lang="en-AU" sz="1200" kern="1200" dirty="0" smtClean="0">
                <a:solidFill>
                  <a:schemeClr val="tx1"/>
                </a:solidFill>
                <a:ea typeface="+mn-ea"/>
                <a:cs typeface="+mn-cs"/>
              </a:rPr>
              <a:t>Equipment – data projectors, whiteboards, DVD players, AV equipment etc. These items are normally hired as opposed to purchased</a:t>
            </a:r>
          </a:p>
          <a:p>
            <a:pPr lvl="0">
              <a:buFont typeface="Arial" pitchFamily="34" charset="0"/>
              <a:buChar char="•"/>
            </a:pPr>
            <a:r>
              <a:rPr lang="en-AU" sz="1200" kern="1200" dirty="0" smtClean="0">
                <a:solidFill>
                  <a:schemeClr val="tx1"/>
                </a:solidFill>
                <a:ea typeface="+mn-ea"/>
                <a:cs typeface="+mn-cs"/>
              </a:rPr>
              <a:t>Linen – table covers, chair covers, napkins, skirting </a:t>
            </a:r>
            <a:r>
              <a:rPr lang="en-AU" sz="1200" kern="1200" dirty="0" smtClean="0">
                <a:solidFill>
                  <a:schemeClr val="tx1"/>
                </a:solidFill>
                <a:ea typeface="+mn-ea"/>
                <a:cs typeface="+mn-cs"/>
              </a:rPr>
              <a:t>etc.</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Discuss the different types of stock.</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Crockery and glassware</a:t>
            </a:r>
          </a:p>
          <a:p>
            <a:pPr lvl="0">
              <a:buFont typeface="Arial" pitchFamily="34" charset="0"/>
              <a:buChar char="•"/>
            </a:pPr>
            <a:r>
              <a:rPr lang="en-AU" sz="1200" kern="1200" dirty="0" smtClean="0">
                <a:solidFill>
                  <a:schemeClr val="tx1"/>
                </a:solidFill>
                <a:ea typeface="+mn-ea"/>
                <a:cs typeface="+mn-cs"/>
              </a:rPr>
              <a:t>Cleaning supplies – such as cleaning chemicals (all-purpose cleaners, abrasive cleaners, deodorisers, window cleaners, carpet spot cleaner) and cleaning equipment (cleaning gloves, mops and buckets and machines such as vacuum cleaners, polishers etc.) </a:t>
            </a:r>
          </a:p>
          <a:p>
            <a:pPr>
              <a:buFont typeface="Arial" pitchFamily="34" charset="0"/>
              <a:buChar char="•"/>
            </a:pPr>
            <a:r>
              <a:rPr lang="en-AU" sz="1200" kern="1200" dirty="0" smtClean="0">
                <a:solidFill>
                  <a:schemeClr val="tx1"/>
                </a:solidFill>
                <a:ea typeface="+mn-ea"/>
                <a:cs typeface="+mn-cs"/>
              </a:rPr>
              <a:t>Consumables - such as toilet paper, rubbish bin liners, soap for use in public toilets, light globes, tissues, paper towels and so </a:t>
            </a:r>
            <a:r>
              <a:rPr lang="en-AU" sz="1200" kern="1200" dirty="0" smtClean="0">
                <a:solidFill>
                  <a:schemeClr val="tx1"/>
                </a:solidFill>
                <a:ea typeface="+mn-ea"/>
                <a:cs typeface="+mn-cs"/>
              </a:rPr>
              <a:t>on.</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Why is it important to monitor service delivery?</a:t>
            </a:r>
          </a:p>
          <a:p>
            <a:pPr lvl="0">
              <a:buFont typeface="Arial" pitchFamily="34" charset="0"/>
              <a:buChar char="•"/>
            </a:pPr>
            <a:r>
              <a:rPr lang="en-AU" sz="1200" dirty="0" smtClean="0">
                <a:latin typeface="Helvetica" pitchFamily="34" charset="0"/>
              </a:rPr>
              <a:t>How can you do it?</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lvl="0">
              <a:buFont typeface="Arial" pitchFamily="34" charset="0"/>
              <a:buChar char="•"/>
            </a:pPr>
            <a:r>
              <a:rPr lang="en-AU" sz="1200" dirty="0" smtClean="0"/>
              <a:t>Which is the most effective method?</a:t>
            </a:r>
          </a:p>
          <a:p>
            <a:pPr lvl="0">
              <a:buFont typeface="Arial" pitchFamily="34" charset="0"/>
              <a:buChar char="•"/>
            </a:pPr>
            <a:r>
              <a:rPr lang="en-AU" sz="1200" dirty="0" smtClean="0">
                <a:latin typeface="Helvetica" pitchFamily="34" charset="0"/>
              </a:rPr>
              <a:t>What information can be obtained from each method?</a:t>
            </a:r>
          </a:p>
          <a:p>
            <a:pPr lvl="0">
              <a:buFont typeface="Arial" pitchFamily="34" charset="0"/>
              <a:buChar char="•"/>
            </a:pPr>
            <a:endParaRPr lang="en-AU" sz="1200" dirty="0" smtClean="0">
              <a:latin typeface="Helvetica" pitchFamily="34" charset="0"/>
            </a:endParaRPr>
          </a:p>
          <a:p>
            <a:pPr>
              <a:buFont typeface="Arial" pitchFamily="34" charset="0"/>
              <a:buChar char="•"/>
            </a:pPr>
            <a:r>
              <a:rPr lang="en-GB" sz="1200" dirty="0" smtClean="0"/>
              <a:t>Workplace observation – watching what goes on as it happens, reading customer body language and measuring waiting times</a:t>
            </a:r>
            <a:endParaRPr lang="en-AU" sz="1200" dirty="0" smtClean="0"/>
          </a:p>
          <a:p>
            <a:pPr>
              <a:buFont typeface="Arial" pitchFamily="34" charset="0"/>
              <a:buChar char="•"/>
            </a:pPr>
            <a:r>
              <a:rPr lang="en-GB" sz="1200" dirty="0" smtClean="0"/>
              <a:t>Talking to staff – to get their impressions, to identify obstacles that will impact on the ability to perform function activities</a:t>
            </a:r>
            <a:endParaRPr lang="en-AU" sz="1200" dirty="0" smtClean="0"/>
          </a:p>
          <a:p>
            <a:pPr>
              <a:buFont typeface="Arial" pitchFamily="34" charset="0"/>
              <a:buChar char="•"/>
            </a:pPr>
            <a:r>
              <a:rPr lang="en-GB" sz="1200" dirty="0" smtClean="0"/>
              <a:t>Feedback from the function co-ordinator or customers of the function</a:t>
            </a:r>
            <a:r>
              <a:rPr lang="en-SG" sz="1200" dirty="0" smtClean="0"/>
              <a:t> - constant liaison with the client or their delegated representative is a given in large functions where there are multiple sites and multiple </a:t>
            </a:r>
            <a:r>
              <a:rPr lang="en-SG" sz="1200" dirty="0" smtClean="0"/>
              <a:t>activities.</a:t>
            </a:r>
            <a:endParaRPr lang="en-AU" sz="1200" dirty="0" smtClean="0"/>
          </a:p>
          <a:p>
            <a:pPr lvl="0">
              <a:buFont typeface="Arial" pitchFamily="34" charset="0"/>
              <a:buChar cha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For each of these points:</a:t>
            </a:r>
          </a:p>
          <a:p>
            <a:pPr lvl="0">
              <a:buFont typeface="Arial" pitchFamily="34" charset="0"/>
              <a:buChar char="•"/>
            </a:pPr>
            <a:r>
              <a:rPr lang="en-AU" sz="1200" dirty="0" smtClean="0"/>
              <a:t>Why is it important to monitor it?</a:t>
            </a:r>
          </a:p>
          <a:p>
            <a:pPr lvl="0">
              <a:buFont typeface="Arial" pitchFamily="34" charset="0"/>
              <a:buChar char="•"/>
            </a:pPr>
            <a:r>
              <a:rPr lang="en-AU" sz="1200" dirty="0" smtClean="0">
                <a:latin typeface="Helvetica" pitchFamily="34" charset="0"/>
              </a:rPr>
              <a:t>How can you monitor it?</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For each of these points:</a:t>
            </a:r>
          </a:p>
          <a:p>
            <a:pPr lvl="0">
              <a:buFont typeface="Arial" pitchFamily="34" charset="0"/>
              <a:buChar char="•"/>
            </a:pPr>
            <a:r>
              <a:rPr lang="en-AU" sz="1200" dirty="0" smtClean="0"/>
              <a:t>Why is it important to monitor it?</a:t>
            </a:r>
          </a:p>
          <a:p>
            <a:pPr lvl="0">
              <a:buFont typeface="Arial" pitchFamily="34" charset="0"/>
              <a:buChar char="•"/>
            </a:pPr>
            <a:r>
              <a:rPr lang="en-AU" sz="1200" dirty="0" smtClean="0">
                <a:latin typeface="Helvetica" pitchFamily="34" charset="0"/>
              </a:rPr>
              <a:t>How can you monitor it?</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What are common problems that occur?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What are the causes?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How can you reduce their occurrence?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How can you reduce its impact on customers?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Share stories about problems and how they were or could have been resolved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to get audience to share stories, where they were staff or customers at a function where problems took place.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a:t>
            </a:r>
            <a:r>
              <a:rPr lang="en-AU" sz="1200" b="0" kern="1200" baseline="0" dirty="0" smtClean="0">
                <a:solidFill>
                  <a:schemeClr val="tx1"/>
                </a:solidFill>
                <a:ea typeface="+mn-ea"/>
                <a:cs typeface="+mn-cs"/>
              </a:rPr>
              <a:t>slide.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the role of registration?</a:t>
            </a:r>
          </a:p>
          <a:p>
            <a:pPr>
              <a:buFont typeface="Arial" pitchFamily="34" charset="0"/>
              <a:buChar char="•"/>
            </a:pPr>
            <a:r>
              <a:rPr lang="en-AU" sz="1200" kern="1200" baseline="0" dirty="0" smtClean="0">
                <a:solidFill>
                  <a:schemeClr val="tx1"/>
                </a:solidFill>
                <a:ea typeface="+mn-ea"/>
                <a:cs typeface="+mn-cs"/>
              </a:rPr>
              <a:t>What activities are associated with registration?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a:t>
            </a:r>
            <a:r>
              <a:rPr lang="en-AU" sz="1200" b="0" kern="1200" baseline="0" dirty="0" smtClean="0">
                <a:solidFill>
                  <a:schemeClr val="tx1"/>
                </a:solidFill>
                <a:ea typeface="+mn-ea"/>
                <a:cs typeface="+mn-cs"/>
              </a:rPr>
              <a:t>slide.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are they taken?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other types of reservations or bookings are taken for an event?</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steps are associated with each of these tasks?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a:t>
            </a:r>
            <a:r>
              <a:rPr lang="en-AU" sz="1200" b="0" kern="1200" baseline="0" dirty="0" smtClean="0">
                <a:solidFill>
                  <a:schemeClr val="tx1"/>
                </a:solidFill>
                <a:ea typeface="+mn-ea"/>
                <a:cs typeface="+mn-cs"/>
              </a:rPr>
              <a:t>slide.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is needed by delegates?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is needed by event organisers?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is needed by event organisers for each of these categories?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is needed by event organisers for each of these categories?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information is needed by event organisers for each of these categories?</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a:t>
            </a:r>
            <a:r>
              <a:rPr lang="en-AU" sz="1200" b="0" kern="1200" baseline="0" dirty="0" smtClean="0">
                <a:solidFill>
                  <a:schemeClr val="tx1"/>
                </a:solidFill>
                <a:ea typeface="+mn-ea"/>
                <a:cs typeface="+mn-cs"/>
              </a:rPr>
              <a:t>slide.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each piece of </a:t>
            </a:r>
            <a:r>
              <a:rPr lang="en-AU" sz="1200" b="0" dirty="0" smtClean="0">
                <a:latin typeface="Helvetica" pitchFamily="34" charset="0"/>
              </a:rPr>
              <a:t>registration correspondence?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What is included in these?</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included in these event materials?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Who prepares these?</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purpose of the registration desk?</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a:t>
            </a:r>
            <a:r>
              <a:rPr lang="en-AU" sz="1200" b="0" kern="1200" baseline="0" dirty="0" smtClean="0">
                <a:solidFill>
                  <a:schemeClr val="tx1"/>
                </a:solidFill>
                <a:ea typeface="+mn-ea"/>
                <a:cs typeface="+mn-cs"/>
              </a:rPr>
              <a:t>slide</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Refer to the Trainee Manual for a complete list of questions that need to be </a:t>
            </a:r>
            <a:r>
              <a:rPr lang="en-AU" sz="1200" b="0" kern="1200" baseline="0" dirty="0" smtClean="0">
                <a:solidFill>
                  <a:schemeClr val="tx1"/>
                </a:solidFill>
                <a:ea typeface="+mn-ea"/>
                <a:cs typeface="+mn-cs"/>
              </a:rPr>
              <a:t>considered.</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a:t>
            </a:r>
            <a:r>
              <a:rPr lang="en-AU" sz="1200" b="0" kern="1200" baseline="0" dirty="0" smtClean="0">
                <a:solidFill>
                  <a:schemeClr val="tx1"/>
                </a:solidFill>
                <a:ea typeface="+mn-ea"/>
                <a:cs typeface="+mn-cs"/>
              </a:rPr>
              <a:t>inclusions.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a:t>
            </a:r>
            <a:r>
              <a:rPr lang="en-AU" sz="1200" b="0" kern="1200" baseline="0" dirty="0" smtClean="0">
                <a:solidFill>
                  <a:schemeClr val="tx1"/>
                </a:solidFill>
                <a:ea typeface="+mn-ea"/>
                <a:cs typeface="+mn-cs"/>
              </a:rPr>
              <a:t>inclusions.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reservation process that is conducted at the registration </a:t>
            </a:r>
            <a:r>
              <a:rPr lang="en-AU" sz="1200" b="0" kern="1200" baseline="0" dirty="0" smtClean="0">
                <a:solidFill>
                  <a:schemeClr val="tx1"/>
                </a:solidFill>
                <a:ea typeface="+mn-ea"/>
                <a:cs typeface="+mn-cs"/>
              </a:rPr>
              <a:t>desk.</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reservation process that is conducted at the registration </a:t>
            </a:r>
            <a:r>
              <a:rPr lang="en-AU" sz="1200" b="0" kern="1200" baseline="0" dirty="0" smtClean="0">
                <a:solidFill>
                  <a:schemeClr val="tx1"/>
                </a:solidFill>
                <a:ea typeface="+mn-ea"/>
                <a:cs typeface="+mn-cs"/>
              </a:rPr>
              <a:t>desk.</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do you handle these situations?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infrastructure?</a:t>
            </a:r>
          </a:p>
          <a:p>
            <a:pPr>
              <a:buFont typeface="Arial" pitchFamily="34" charset="0"/>
              <a:buChar char="•"/>
            </a:pPr>
            <a:r>
              <a:rPr lang="en-AU" sz="1200" kern="1200" baseline="0" dirty="0" smtClean="0">
                <a:solidFill>
                  <a:schemeClr val="tx1"/>
                </a:solidFill>
                <a:ea typeface="+mn-ea"/>
                <a:cs typeface="+mn-cs"/>
              </a:rPr>
              <a:t>What are common outdoor events?</a:t>
            </a:r>
          </a:p>
          <a:p>
            <a:pPr>
              <a:buFont typeface="Arial" pitchFamily="34" charset="0"/>
              <a:buChar char="•"/>
            </a:pPr>
            <a:r>
              <a:rPr lang="en-AU" sz="1200" kern="1200" baseline="0" dirty="0" smtClean="0">
                <a:solidFill>
                  <a:schemeClr val="tx1"/>
                </a:solidFill>
                <a:ea typeface="+mn-ea"/>
                <a:cs typeface="+mn-cs"/>
              </a:rPr>
              <a:t>What types of infrastructure are used in outdoor events?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slide.</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will these affect infrastructure needs?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How will these affect infrastructure needs?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infrastructure </a:t>
            </a:r>
            <a:r>
              <a:rPr lang="en-AU" sz="1200" b="0" kern="1200" baseline="0" dirty="0" smtClean="0">
                <a:solidFill>
                  <a:schemeClr val="tx1"/>
                </a:solidFill>
                <a:ea typeface="+mn-ea"/>
                <a:cs typeface="+mn-cs"/>
              </a:rPr>
              <a:t>needs.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infrastructure </a:t>
            </a:r>
            <a:r>
              <a:rPr lang="en-AU" sz="1200" b="0" kern="1200" baseline="0" dirty="0" smtClean="0">
                <a:solidFill>
                  <a:schemeClr val="tx1"/>
                </a:solidFill>
                <a:ea typeface="+mn-ea"/>
                <a:cs typeface="+mn-cs"/>
              </a:rPr>
              <a:t>needs.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organisational activities associated when handling these infrastructure </a:t>
            </a:r>
            <a:r>
              <a:rPr lang="en-AU" sz="1200" b="0" kern="1200" baseline="0" dirty="0" smtClean="0">
                <a:solidFill>
                  <a:schemeClr val="tx1"/>
                </a:solidFill>
                <a:ea typeface="+mn-ea"/>
                <a:cs typeface="+mn-cs"/>
              </a:rPr>
              <a:t>needs.</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a:t>
            </a:r>
            <a:r>
              <a:rPr lang="en-AU" sz="1200" b="0" kern="1200" baseline="0" dirty="0" smtClean="0">
                <a:solidFill>
                  <a:schemeClr val="tx1"/>
                </a:solidFill>
                <a:ea typeface="+mn-ea"/>
                <a:cs typeface="+mn-cs"/>
              </a:rPr>
              <a:t>slide.</a:t>
            </a:r>
            <a:endParaRPr lang="en-AU" sz="1200" b="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activities need to take place after an event?</a:t>
            </a:r>
          </a:p>
          <a:p>
            <a:pPr>
              <a:buFont typeface="Arial" pitchFamily="34" charset="0"/>
              <a:buChar char="•"/>
            </a:pPr>
            <a:r>
              <a:rPr lang="en-AU" sz="1200" kern="1200" baseline="0" dirty="0" smtClean="0">
                <a:solidFill>
                  <a:schemeClr val="tx1"/>
                </a:solidFill>
                <a:ea typeface="+mn-ea"/>
                <a:cs typeface="+mn-cs"/>
              </a:rPr>
              <a:t>What interaction takes place between the event co-ordinator and the client?</a:t>
            </a:r>
          </a:p>
          <a:p>
            <a:pPr>
              <a:buFont typeface="Arial" pitchFamily="34" charset="0"/>
              <a:buChar char="•"/>
            </a:pPr>
            <a:r>
              <a:rPr lang="en-AU" sz="1200" kern="1200" baseline="0" dirty="0" smtClean="0">
                <a:solidFill>
                  <a:schemeClr val="tx1"/>
                </a:solidFill>
                <a:ea typeface="+mn-ea"/>
                <a:cs typeface="+mn-cs"/>
              </a:rPr>
              <a:t>What needs to be evaluated?</a:t>
            </a:r>
          </a:p>
          <a:p>
            <a:pPr>
              <a:buFont typeface="Arial" pitchFamily="34" charset="0"/>
              <a:buChar char="•"/>
            </a:pPr>
            <a:r>
              <a:rPr lang="en-AU" sz="1200" kern="1200" baseline="0" dirty="0" smtClean="0">
                <a:solidFill>
                  <a:schemeClr val="tx1"/>
                </a:solidFill>
                <a:ea typeface="+mn-ea"/>
                <a:cs typeface="+mn-cs"/>
              </a:rPr>
              <a:t>How does this evaluation take place?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Ask questions in the slide.</a:t>
            </a: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is the best way to get feedback from external providers?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 you want to know from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Ask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charges.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lvl="0">
              <a:buFont typeface="Arial" pitchFamily="34" charset="0"/>
              <a:buChar char="•"/>
            </a:pPr>
            <a:r>
              <a:rPr lang="en-AU" sz="1200" dirty="0" smtClean="0"/>
              <a:t>Food and beverage – as per initial agreement, taking into account adjustments ‘on the day’ </a:t>
            </a:r>
          </a:p>
          <a:p>
            <a:pPr lvl="0">
              <a:buFont typeface="Arial" pitchFamily="34" charset="0"/>
              <a:buChar char="•"/>
            </a:pPr>
            <a:r>
              <a:rPr lang="en-AU" sz="1200" dirty="0" smtClean="0"/>
              <a:t>Entertainment – bands, artists, personalities </a:t>
            </a:r>
          </a:p>
          <a:p>
            <a:pPr lvl="0">
              <a:buFont typeface="Arial" pitchFamily="34" charset="0"/>
              <a:buChar char="•"/>
            </a:pPr>
            <a:r>
              <a:rPr lang="en-AU" sz="1200" dirty="0" smtClean="0"/>
              <a:t>Venue hire – fees for rooms </a:t>
            </a:r>
          </a:p>
          <a:p>
            <a:pPr lvl="0">
              <a:buFont typeface="Arial" pitchFamily="34" charset="0"/>
              <a:buChar char="•"/>
            </a:pPr>
            <a:r>
              <a:rPr lang="en-AU" sz="1200" dirty="0" smtClean="0"/>
              <a:t>Labour – technical and service staff to set up rooms, activities or operate equipment during the </a:t>
            </a:r>
            <a:r>
              <a:rPr lang="en-AU" sz="1200" dirty="0" smtClean="0"/>
              <a:t>function.</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charges.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steps.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What documentation needs to be prepared and finalised?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 questions in the slide</a:t>
            </a:r>
            <a:r>
              <a:rPr lang="en-AU" sz="1200" b="0" kern="1200" baseline="0" dirty="0" smtClean="0">
                <a:solidFill>
                  <a:schemeClr val="tx1"/>
                </a:solidFill>
                <a:ea typeface="+mn-ea"/>
                <a:cs typeface="+mn-cs"/>
              </a:rPr>
              <a: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ea typeface="+mn-ea"/>
                <a:cs typeface="+mn-cs"/>
              </a:rPr>
              <a:t>Trainer thanks students for their time and attention.</a:t>
            </a: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dirty="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5/23/2013</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5/23/2013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5/23/2013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5/23/2013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5/23/2013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5/23/2013</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5/23/2013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5/23/2013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5/23/2013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5/23/2013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5/23/2013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5/23/2013</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tif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6.tiff"/><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3.wmf"/><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8.tiff"/><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2.wmf"/><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908720"/>
            <a:ext cx="6480048" cy="936104"/>
          </a:xfrm>
        </p:spPr>
        <p:txBody>
          <a:bodyPr>
            <a:normAutofit fontScale="90000"/>
          </a:bodyPr>
          <a:lstStyle/>
          <a:p>
            <a:r>
              <a:rPr lang="en-AU" sz="4000" dirty="0" smtClean="0">
                <a:ln w="5000" cmpd="sng">
                  <a:noFill/>
                  <a:prstDash val="solid"/>
                </a:ln>
                <a:solidFill>
                  <a:srgbClr val="FF6600"/>
                </a:solidFill>
                <a:latin typeface="Helvetica" pitchFamily="34" charset="0"/>
              </a:rPr>
              <a:t>MANAGE SPECIAL EVENTS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292080" y="1700808"/>
            <a:ext cx="3117332" cy="648072"/>
          </a:xfrm>
        </p:spPr>
        <p:txBody>
          <a:bodyPr>
            <a:noAutofit/>
          </a:bodyPr>
          <a:lstStyle/>
          <a:p>
            <a:r>
              <a:rPr lang="en-AU" b="1" dirty="0" smtClean="0">
                <a:latin typeface="Helvetica" pitchFamily="34" charset="0"/>
              </a:rPr>
              <a:t>D1.HML.CL10.08</a:t>
            </a:r>
            <a:br>
              <a:rPr lang="en-AU" b="1" dirty="0" smtClean="0">
                <a:latin typeface="Helvetica" pitchFamily="34" charset="0"/>
              </a:rPr>
            </a:br>
            <a:r>
              <a:rPr lang="en-AU" b="1" dirty="0" smtClean="0">
                <a:latin typeface="Helvetica" pitchFamily="34" charset="0"/>
              </a:rPr>
              <a:t>D1.HRM.CL9.07 </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1027" name="Picture 3" descr="C:\Documents and Settings\danielc\Desktop\Manage special events\971035_flowers_and_cake_2.jpg"/>
          <p:cNvPicPr>
            <a:picLocks noChangeAspect="1" noChangeArrowheads="1"/>
          </p:cNvPicPr>
          <p:nvPr/>
        </p:nvPicPr>
        <p:blipFill>
          <a:blip r:embed="rId3" cstate="print"/>
          <a:srcRect/>
          <a:stretch>
            <a:fillRect/>
          </a:stretch>
        </p:blipFill>
        <p:spPr bwMode="auto">
          <a:xfrm>
            <a:off x="3428992" y="2285992"/>
            <a:ext cx="1895475" cy="28575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descr="C:\Documents and Settings\danielc\Desktop\Manage special events\561575_empty_conference_room.jpg"/>
          <p:cNvPicPr>
            <a:picLocks noChangeAspect="1" noChangeArrowheads="1"/>
          </p:cNvPicPr>
          <p:nvPr/>
        </p:nvPicPr>
        <p:blipFill>
          <a:blip r:embed="rId4" cstate="print"/>
          <a:srcRect/>
          <a:stretch>
            <a:fillRect/>
          </a:stretch>
        </p:blipFill>
        <p:spPr bwMode="auto">
          <a:xfrm>
            <a:off x="5357818" y="2928934"/>
            <a:ext cx="2428872" cy="18135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2" descr="C:\Documents and Settings\danielc\Desktop\Manage special events\1201939_camcorder_in_hands.jpg"/>
          <p:cNvPicPr>
            <a:picLocks noChangeAspect="1" noChangeArrowheads="1"/>
          </p:cNvPicPr>
          <p:nvPr/>
        </p:nvPicPr>
        <p:blipFill>
          <a:blip r:embed="rId5" cstate="print"/>
          <a:srcRect/>
          <a:stretch>
            <a:fillRect/>
          </a:stretch>
        </p:blipFill>
        <p:spPr bwMode="auto">
          <a:xfrm>
            <a:off x="785786" y="2857496"/>
            <a:ext cx="2571768" cy="19202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latin typeface="Helvetica" pitchFamily="34" charset="0"/>
              </a:rPr>
              <a:t>This unit comprises eight Elements:</a:t>
            </a:r>
          </a:p>
          <a:p>
            <a:pPr>
              <a:spcBef>
                <a:spcPts val="600"/>
              </a:spcBef>
              <a:spcAft>
                <a:spcPts val="1200"/>
              </a:spcAft>
            </a:pPr>
            <a:r>
              <a:rPr lang="en-AU" sz="2200" dirty="0" smtClean="0">
                <a:latin typeface="Helvetica" pitchFamily="34" charset="0"/>
              </a:rPr>
              <a:t>Develop event concept and proposal</a:t>
            </a:r>
          </a:p>
          <a:p>
            <a:pPr>
              <a:spcBef>
                <a:spcPts val="600"/>
              </a:spcBef>
              <a:spcAft>
                <a:spcPts val="1200"/>
              </a:spcAft>
            </a:pPr>
            <a:r>
              <a:rPr lang="en-AU" sz="2200" dirty="0" smtClean="0">
                <a:latin typeface="Helvetica" pitchFamily="34" charset="0"/>
              </a:rPr>
              <a:t>Determine event venue/location</a:t>
            </a:r>
          </a:p>
          <a:p>
            <a:pPr>
              <a:spcBef>
                <a:spcPts val="600"/>
              </a:spcBef>
              <a:spcAft>
                <a:spcPts val="1200"/>
              </a:spcAft>
            </a:pPr>
            <a:r>
              <a:rPr lang="en-AU" sz="2200" dirty="0" smtClean="0">
                <a:latin typeface="Helvetica" pitchFamily="34" charset="0"/>
              </a:rPr>
              <a:t>Plan and deliver event catering</a:t>
            </a:r>
          </a:p>
          <a:p>
            <a:pPr>
              <a:spcBef>
                <a:spcPts val="600"/>
              </a:spcBef>
              <a:spcAft>
                <a:spcPts val="1200"/>
              </a:spcAft>
            </a:pPr>
            <a:r>
              <a:rPr lang="en-AU" sz="2200" dirty="0" smtClean="0">
                <a:latin typeface="Helvetica" pitchFamily="34" charset="0"/>
              </a:rPr>
              <a:t>Plan and deliver sponsorship plans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6" name="Picture 2" descr="C:\Documents and Settings\danielc\Local Settings\Temporary Internet Files\Content.IE5\XF6U4J0T\MC900434929[1].png"/>
          <p:cNvPicPr>
            <a:picLocks noChangeAspect="1" noChangeArrowheads="1"/>
          </p:cNvPicPr>
          <p:nvPr/>
        </p:nvPicPr>
        <p:blipFill>
          <a:blip r:embed="rId3" cstate="print"/>
          <a:srcRect/>
          <a:stretch>
            <a:fillRect/>
          </a:stretch>
        </p:blipFill>
        <p:spPr bwMode="auto">
          <a:xfrm>
            <a:off x="6143636" y="2143116"/>
            <a:ext cx="1828572" cy="1828572"/>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latin typeface="Helvetica" pitchFamily="34" charset="0"/>
              </a:rPr>
              <a:t>This unit comprises eight Elements:</a:t>
            </a:r>
          </a:p>
          <a:p>
            <a:pPr>
              <a:spcBef>
                <a:spcPts val="600"/>
              </a:spcBef>
              <a:spcAft>
                <a:spcPts val="1200"/>
              </a:spcAft>
            </a:pPr>
            <a:r>
              <a:rPr lang="en-AU" sz="2200" dirty="0" smtClean="0">
                <a:latin typeface="Helvetica" pitchFamily="34" charset="0"/>
              </a:rPr>
              <a:t>Plan and deliver event management</a:t>
            </a:r>
          </a:p>
          <a:p>
            <a:pPr>
              <a:spcBef>
                <a:spcPts val="600"/>
              </a:spcBef>
              <a:spcAft>
                <a:spcPts val="1200"/>
              </a:spcAft>
            </a:pPr>
            <a:r>
              <a:rPr lang="en-AU" sz="2200" dirty="0" smtClean="0">
                <a:latin typeface="Helvetica" pitchFamily="34" charset="0"/>
              </a:rPr>
              <a:t>Plan and deliver event registration</a:t>
            </a:r>
          </a:p>
          <a:p>
            <a:pPr>
              <a:spcBef>
                <a:spcPts val="600"/>
              </a:spcBef>
              <a:spcAft>
                <a:spcPts val="1200"/>
              </a:spcAft>
            </a:pPr>
            <a:r>
              <a:rPr lang="en-AU" sz="2200" dirty="0" smtClean="0">
                <a:latin typeface="Helvetica" pitchFamily="34" charset="0"/>
              </a:rPr>
              <a:t>Plan and deliver infrastructure for outdoor event</a:t>
            </a:r>
          </a:p>
          <a:p>
            <a:pPr>
              <a:spcBef>
                <a:spcPts val="600"/>
              </a:spcBef>
              <a:spcAft>
                <a:spcPts val="1200"/>
              </a:spcAft>
            </a:pPr>
            <a:r>
              <a:rPr lang="en-AU" sz="2200" dirty="0" smtClean="0">
                <a:latin typeface="Helvetica" pitchFamily="34" charset="0"/>
              </a:rPr>
              <a:t>Conduct post-event evaluation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6" name="Picture 2" descr="C:\Documents and Settings\danielc\Local Settings\Temporary Internet Files\Content.IE5\XF6U4J0T\MC900434929[1].png"/>
          <p:cNvPicPr>
            <a:picLocks noChangeAspect="1" noChangeArrowheads="1"/>
          </p:cNvPicPr>
          <p:nvPr/>
        </p:nvPicPr>
        <p:blipFill>
          <a:blip r:embed="rId3" cstate="print"/>
          <a:srcRect/>
          <a:stretch>
            <a:fillRect/>
          </a:stretch>
        </p:blipFill>
        <p:spPr bwMode="auto">
          <a:xfrm>
            <a:off x="6215074" y="1214422"/>
            <a:ext cx="1828572" cy="182857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7"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786752" y="2143116"/>
            <a:ext cx="2345699" cy="1561566"/>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1:</a:t>
            </a:r>
          </a:p>
          <a:p>
            <a:pPr marL="0">
              <a:spcBef>
                <a:spcPts val="600"/>
              </a:spcBef>
              <a:spcAft>
                <a:spcPts val="1200"/>
              </a:spcAft>
              <a:buNone/>
            </a:pPr>
            <a:r>
              <a:rPr lang="en-AU" sz="4000" dirty="0" smtClean="0">
                <a:solidFill>
                  <a:srgbClr val="FF6600"/>
                </a:solidFill>
              </a:rPr>
              <a:t>Develop event concept and proposal</a:t>
            </a:r>
            <a:endParaRPr lang="en-AU" sz="4000" dirty="0" smtClean="0">
              <a:solidFill>
                <a:srgbClr val="FF6600"/>
              </a:solidFill>
              <a:latin typeface="Helvetica" pitchFamily="34" charset="0"/>
            </a:endParaRP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5" name="Picture 4" descr="5515979184_b5900bd978_m.jpg"/>
          <p:cNvPicPr>
            <a:picLocks noChangeAspect="1"/>
          </p:cNvPicPr>
          <p:nvPr/>
        </p:nvPicPr>
        <p:blipFill>
          <a:blip r:embed="rId3" cstate="print"/>
          <a:stretch>
            <a:fillRect/>
          </a:stretch>
        </p:blipFill>
        <p:spPr>
          <a:xfrm>
            <a:off x="3357554" y="3357562"/>
            <a:ext cx="2893239" cy="1928826"/>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Develop event concept and proposal</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event objectives and scope</a:t>
            </a:r>
          </a:p>
          <a:p>
            <a:pPr>
              <a:spcBef>
                <a:spcPts val="600"/>
              </a:spcBef>
              <a:spcAft>
                <a:spcPts val="1200"/>
              </a:spcAft>
            </a:pPr>
            <a:r>
              <a:rPr lang="en-AU" sz="2200" dirty="0" smtClean="0">
                <a:latin typeface="Helvetica" pitchFamily="34" charset="0"/>
              </a:rPr>
              <a:t>Establish event concept, theme, format and protocols</a:t>
            </a:r>
          </a:p>
          <a:p>
            <a:pPr>
              <a:spcBef>
                <a:spcPts val="600"/>
              </a:spcBef>
              <a:spcAft>
                <a:spcPts val="1200"/>
              </a:spcAft>
            </a:pPr>
            <a:r>
              <a:rPr lang="en-AU" sz="2200" dirty="0" smtClean="0">
                <a:latin typeface="Helvetica" pitchFamily="34" charset="0"/>
              </a:rPr>
              <a:t>Prepare event brief</a:t>
            </a:r>
          </a:p>
          <a:p>
            <a:pPr>
              <a:spcBef>
                <a:spcPts val="600"/>
              </a:spcBef>
              <a:spcAft>
                <a:spcPts val="1200"/>
              </a:spcAft>
            </a:pPr>
            <a:r>
              <a:rPr lang="en-AU" sz="2200" dirty="0" smtClean="0">
                <a:latin typeface="Helvetica" pitchFamily="34" charset="0"/>
              </a:rPr>
              <a:t>Develop event proposal/bid details, where necessary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500694" y="207167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715272" y="264318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500430" y="321468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715272" y="3857628"/>
            <a:ext cx="399154" cy="527046"/>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pPr>
            <a:r>
              <a:rPr lang="en-AU" sz="2200" dirty="0" smtClean="0">
                <a:latin typeface="Helvetica" pitchFamily="34" charset="0"/>
              </a:rPr>
              <a:t>What is an event?</a:t>
            </a:r>
          </a:p>
          <a:p>
            <a:pPr marL="0">
              <a:spcBef>
                <a:spcPts val="600"/>
              </a:spcBef>
              <a:spcAft>
                <a:spcPts val="1200"/>
              </a:spcAft>
            </a:pPr>
            <a:r>
              <a:rPr lang="en-AU" sz="2200" dirty="0" smtClean="0">
                <a:latin typeface="Helvetica" pitchFamily="34" charset="0"/>
              </a:rPr>
              <a:t>What events have you been to in the past?</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6" name="Picture 5" descr="MP900402372.JPG"/>
          <p:cNvPicPr>
            <a:picLocks noChangeAspect="1"/>
          </p:cNvPicPr>
          <p:nvPr/>
        </p:nvPicPr>
        <p:blipFill>
          <a:blip r:embed="rId3" cstate="print"/>
          <a:stretch>
            <a:fillRect/>
          </a:stretch>
        </p:blipFill>
        <p:spPr>
          <a:xfrm>
            <a:off x="3143240" y="3214686"/>
            <a:ext cx="2757993" cy="1837944"/>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buNone/>
            </a:pPr>
            <a:r>
              <a:rPr lang="en-AU" sz="2200" b="1" dirty="0" smtClean="0">
                <a:latin typeface="Helvetica" pitchFamily="34" charset="0"/>
              </a:rPr>
              <a:t>Types of event venues</a:t>
            </a:r>
          </a:p>
          <a:p>
            <a:pPr lvl="0">
              <a:spcBef>
                <a:spcPts val="600"/>
              </a:spcBef>
              <a:spcAft>
                <a:spcPts val="1200"/>
              </a:spcAft>
            </a:pPr>
            <a:r>
              <a:rPr lang="en-AU" sz="2200" dirty="0" smtClean="0">
                <a:latin typeface="Helvetica" pitchFamily="34" charset="0"/>
              </a:rPr>
              <a:t>Homes for private functions</a:t>
            </a:r>
          </a:p>
          <a:p>
            <a:pPr lvl="0">
              <a:spcBef>
                <a:spcPts val="600"/>
              </a:spcBef>
              <a:spcAft>
                <a:spcPts val="1200"/>
              </a:spcAft>
            </a:pPr>
            <a:r>
              <a:rPr lang="en-AU" sz="2200" dirty="0" smtClean="0">
                <a:latin typeface="Helvetica" pitchFamily="34" charset="0"/>
              </a:rPr>
              <a:t>Meetings, banquets, conventions, and </a:t>
            </a:r>
            <a:br>
              <a:rPr lang="en-AU" sz="2200" dirty="0" smtClean="0">
                <a:latin typeface="Helvetica" pitchFamily="34" charset="0"/>
              </a:rPr>
            </a:br>
            <a:r>
              <a:rPr lang="en-AU" sz="2200" dirty="0" smtClean="0">
                <a:latin typeface="Helvetica" pitchFamily="34" charset="0"/>
              </a:rPr>
              <a:t>weddings</a:t>
            </a:r>
          </a:p>
          <a:p>
            <a:pPr lvl="0">
              <a:spcBef>
                <a:spcPts val="600"/>
              </a:spcBef>
              <a:spcAft>
                <a:spcPts val="1200"/>
              </a:spcAft>
            </a:pPr>
            <a:r>
              <a:rPr lang="en-AU" sz="2200" dirty="0" smtClean="0">
                <a:latin typeface="Helvetica" pitchFamily="34" charset="0"/>
              </a:rPr>
              <a:t>Nature areas including open water, zoos, </a:t>
            </a:r>
            <a:br>
              <a:rPr lang="en-AU" sz="2200" dirty="0" smtClean="0">
                <a:latin typeface="Helvetica" pitchFamily="34" charset="0"/>
              </a:rPr>
            </a:br>
            <a:r>
              <a:rPr lang="en-AU" sz="2200" dirty="0" smtClean="0">
                <a:latin typeface="Helvetica" pitchFamily="34" charset="0"/>
              </a:rPr>
              <a:t>parks, wineries</a:t>
            </a:r>
          </a:p>
          <a:p>
            <a:pPr lvl="0">
              <a:spcBef>
                <a:spcPts val="600"/>
              </a:spcBef>
              <a:spcAft>
                <a:spcPts val="1200"/>
              </a:spcAft>
            </a:pPr>
            <a:r>
              <a:rPr lang="en-AU" sz="2200" dirty="0" smtClean="0">
                <a:latin typeface="Helvetica" pitchFamily="34" charset="0"/>
              </a:rPr>
              <a:t>Transportation vehicles – including planes, yachts, cars, buses </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 name="Picture 4" descr="111.jpg"/>
          <p:cNvPicPr>
            <a:picLocks noChangeAspect="1"/>
          </p:cNvPicPr>
          <p:nvPr/>
        </p:nvPicPr>
        <p:blipFill>
          <a:blip r:embed="rId3" cstate="print"/>
          <a:stretch>
            <a:fillRect/>
          </a:stretch>
        </p:blipFill>
        <p:spPr>
          <a:xfrm>
            <a:off x="6429388" y="2500306"/>
            <a:ext cx="1835925" cy="140664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buNone/>
            </a:pPr>
            <a:r>
              <a:rPr lang="en-AU" sz="2200" b="1" dirty="0" smtClean="0">
                <a:latin typeface="Helvetica" pitchFamily="34" charset="0"/>
              </a:rPr>
              <a:t>Types of events</a:t>
            </a:r>
          </a:p>
          <a:p>
            <a:pPr lvl="0">
              <a:spcBef>
                <a:spcPts val="600"/>
              </a:spcBef>
              <a:spcAft>
                <a:spcPts val="1200"/>
              </a:spcAft>
            </a:pP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Festivals</a:t>
            </a:r>
          </a:p>
          <a:p>
            <a:pPr lvl="0">
              <a:spcBef>
                <a:spcPts val="600"/>
              </a:spcBef>
              <a:spcAft>
                <a:spcPts val="1200"/>
              </a:spcAft>
            </a:pPr>
            <a:r>
              <a:rPr lang="en-AU" sz="2200" dirty="0" smtClean="0">
                <a:latin typeface="Helvetica" pitchFamily="34" charset="0"/>
              </a:rPr>
              <a:t>Sporting events</a:t>
            </a:r>
          </a:p>
          <a:p>
            <a:pPr lvl="0">
              <a:spcBef>
                <a:spcPts val="600"/>
              </a:spcBef>
              <a:spcAft>
                <a:spcPts val="1200"/>
              </a:spcAft>
            </a:pPr>
            <a:r>
              <a:rPr lang="en-AU" sz="2200" dirty="0" smtClean="0">
                <a:latin typeface="Helvetica" pitchFamily="34" charset="0"/>
              </a:rPr>
              <a:t>Birthday parties</a:t>
            </a:r>
          </a:p>
          <a:p>
            <a:pPr lvl="0">
              <a:spcBef>
                <a:spcPts val="600"/>
              </a:spcBef>
              <a:spcAft>
                <a:spcPts val="1200"/>
              </a:spcAft>
            </a:pPr>
            <a:r>
              <a:rPr lang="en-AU" sz="2200" dirty="0" smtClean="0">
                <a:latin typeface="Helvetica" pitchFamily="34" charset="0"/>
              </a:rPr>
              <a:t>Anniversaries </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 name="Picture 4" descr="MP900431190[1].JPG"/>
          <p:cNvPicPr>
            <a:picLocks noChangeAspect="1"/>
          </p:cNvPicPr>
          <p:nvPr/>
        </p:nvPicPr>
        <p:blipFill>
          <a:blip r:embed="rId3" cstate="print"/>
          <a:stretch>
            <a:fillRect/>
          </a:stretch>
        </p:blipFill>
        <p:spPr>
          <a:xfrm>
            <a:off x="5643570" y="2285992"/>
            <a:ext cx="1556792" cy="155679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Benefits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r>
              <a:rPr lang="en-AU" sz="2200" b="1" dirty="0" smtClean="0">
                <a:latin typeface="Helvetica" pitchFamily="34" charset="0"/>
              </a:rPr>
              <a:t>What are the benefits:</a:t>
            </a:r>
          </a:p>
          <a:p>
            <a:pPr>
              <a:spcBef>
                <a:spcPts val="600"/>
              </a:spcBef>
              <a:spcAft>
                <a:spcPts val="1200"/>
              </a:spcAft>
            </a:pP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For the customer</a:t>
            </a:r>
          </a:p>
          <a:p>
            <a:pPr lvl="0">
              <a:spcBef>
                <a:spcPts val="600"/>
              </a:spcBef>
              <a:spcAft>
                <a:spcPts val="1200"/>
              </a:spcAft>
            </a:pPr>
            <a:r>
              <a:rPr lang="en-AU" sz="2200" dirty="0" smtClean="0">
                <a:latin typeface="Helvetica" pitchFamily="34" charset="0"/>
              </a:rPr>
              <a:t>For the organisation</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7" name="Picture 6" descr="MP900399828.JPG"/>
          <p:cNvPicPr>
            <a:picLocks noChangeAspect="1"/>
          </p:cNvPicPr>
          <p:nvPr/>
        </p:nvPicPr>
        <p:blipFill>
          <a:blip r:embed="rId3" cstate="print"/>
          <a:stretch>
            <a:fillRect/>
          </a:stretch>
        </p:blipFill>
        <p:spPr>
          <a:xfrm>
            <a:off x="5357818" y="1785926"/>
            <a:ext cx="2293754" cy="152857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Breakfasts </a:t>
            </a:r>
          </a:p>
          <a:p>
            <a:pPr lvl="0">
              <a:spcBef>
                <a:spcPts val="600"/>
              </a:spcBef>
              <a:spcAft>
                <a:spcPts val="1200"/>
              </a:spcAft>
            </a:pPr>
            <a:r>
              <a:rPr lang="en-AU" sz="2200" dirty="0" smtClean="0">
                <a:latin typeface="Helvetica" pitchFamily="34" charset="0"/>
              </a:rPr>
              <a:t>Lunches </a:t>
            </a:r>
          </a:p>
          <a:p>
            <a:pPr lvl="0">
              <a:spcBef>
                <a:spcPts val="600"/>
              </a:spcBef>
              <a:spcAft>
                <a:spcPts val="1200"/>
              </a:spcAft>
            </a:pPr>
            <a:r>
              <a:rPr lang="en-AU" sz="2200" dirty="0" smtClean="0">
                <a:latin typeface="Helvetica" pitchFamily="34" charset="0"/>
              </a:rPr>
              <a:t>Dinners</a:t>
            </a:r>
          </a:p>
          <a:p>
            <a:pPr lvl="0">
              <a:spcBef>
                <a:spcPts val="600"/>
              </a:spcBef>
              <a:spcAft>
                <a:spcPts val="1200"/>
              </a:spcAft>
            </a:pPr>
            <a:r>
              <a:rPr lang="en-AU" sz="2200" dirty="0" smtClean="0">
                <a:latin typeface="Helvetica" pitchFamily="34" charset="0"/>
              </a:rPr>
              <a:t>Seminars, workshops and conferences </a:t>
            </a:r>
          </a:p>
          <a:p>
            <a:pPr lvl="0">
              <a:spcBef>
                <a:spcPts val="600"/>
              </a:spcBef>
              <a:spcAft>
                <a:spcPts val="1200"/>
              </a:spcAft>
            </a:pPr>
            <a:r>
              <a:rPr lang="en-AU" sz="2200" dirty="0" smtClean="0">
                <a:latin typeface="Helvetica" pitchFamily="34" charset="0"/>
              </a:rPr>
              <a:t>Cocktail parties </a:t>
            </a:r>
          </a:p>
          <a:p>
            <a:pPr lvl="0">
              <a:spcBef>
                <a:spcPts val="600"/>
              </a:spcBef>
              <a:spcAft>
                <a:spcPts val="1200"/>
              </a:spcAft>
            </a:pPr>
            <a:r>
              <a:rPr lang="en-AU" sz="2200" dirty="0" smtClean="0">
                <a:latin typeface="Helvetica" pitchFamily="34" charset="0"/>
              </a:rPr>
              <a:t>General parties, birthdays and celebrations</a:t>
            </a:r>
          </a:p>
          <a:p>
            <a:pPr>
              <a:spcBef>
                <a:spcPts val="600"/>
              </a:spcBef>
              <a:spcAft>
                <a:spcPts val="1200"/>
              </a:spcAft>
            </a:pPr>
            <a:r>
              <a:rPr lang="en-AU" sz="2200" dirty="0" smtClean="0">
                <a:latin typeface="Helvetica" pitchFamily="34" charset="0"/>
              </a:rPr>
              <a:t>Wedding receptions </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8" name="Picture 7" descr="MP900439310[1].JPG"/>
          <p:cNvPicPr>
            <a:picLocks noChangeAspect="1"/>
          </p:cNvPicPr>
          <p:nvPr/>
        </p:nvPicPr>
        <p:blipFill>
          <a:blip r:embed="rId3" cstate="print"/>
          <a:stretch>
            <a:fillRect/>
          </a:stretch>
        </p:blipFill>
        <p:spPr>
          <a:xfrm>
            <a:off x="6643702" y="3000372"/>
            <a:ext cx="1698664" cy="176434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Anniversaries</a:t>
            </a:r>
          </a:p>
          <a:p>
            <a:pPr lvl="0">
              <a:spcBef>
                <a:spcPts val="600"/>
              </a:spcBef>
              <a:spcAft>
                <a:spcPts val="1200"/>
              </a:spcAft>
            </a:pPr>
            <a:r>
              <a:rPr lang="en-AU" sz="2200" dirty="0" smtClean="0">
                <a:latin typeface="Helvetica" pitchFamily="34" charset="0"/>
              </a:rPr>
              <a:t>21st birthday parties</a:t>
            </a:r>
          </a:p>
          <a:p>
            <a:pPr lvl="0">
              <a:spcBef>
                <a:spcPts val="600"/>
              </a:spcBef>
              <a:spcAft>
                <a:spcPts val="1200"/>
              </a:spcAft>
            </a:pPr>
            <a:r>
              <a:rPr lang="en-AU" sz="2200" dirty="0" smtClean="0">
                <a:latin typeface="Helvetica" pitchFamily="34" charset="0"/>
              </a:rPr>
              <a:t>Product launches and distributor functions</a:t>
            </a:r>
          </a:p>
          <a:p>
            <a:pPr lvl="0">
              <a:spcBef>
                <a:spcPts val="600"/>
              </a:spcBef>
              <a:spcAft>
                <a:spcPts val="1200"/>
              </a:spcAft>
            </a:pPr>
            <a:r>
              <a:rPr lang="en-AU" sz="2200" dirty="0" smtClean="0">
                <a:latin typeface="Helvetica" pitchFamily="34" charset="0"/>
              </a:rPr>
              <a:t>School formals, annual dinners and dinner dances</a:t>
            </a:r>
          </a:p>
          <a:p>
            <a:pPr lvl="0">
              <a:spcBef>
                <a:spcPts val="600"/>
              </a:spcBef>
              <a:spcAft>
                <a:spcPts val="1200"/>
              </a:spcAft>
            </a:pPr>
            <a:r>
              <a:rPr lang="en-AU" sz="2200" dirty="0" smtClean="0">
                <a:latin typeface="Helvetica" pitchFamily="34" charset="0"/>
              </a:rPr>
              <a:t>Annual general meetings</a:t>
            </a:r>
          </a:p>
          <a:p>
            <a:pPr lvl="0">
              <a:spcBef>
                <a:spcPts val="600"/>
              </a:spcBef>
              <a:spcAft>
                <a:spcPts val="1200"/>
              </a:spcAft>
            </a:pPr>
            <a:r>
              <a:rPr lang="en-AU" sz="2200" dirty="0" smtClean="0">
                <a:latin typeface="Helvetica" pitchFamily="34" charset="0"/>
              </a:rPr>
              <a:t>Training seminars</a:t>
            </a:r>
          </a:p>
          <a:p>
            <a:pPr>
              <a:spcBef>
                <a:spcPts val="600"/>
              </a:spcBef>
              <a:spcAft>
                <a:spcPts val="1200"/>
              </a:spcAft>
            </a:pPr>
            <a:r>
              <a:rPr lang="en-AU" sz="2200" dirty="0" smtClean="0">
                <a:latin typeface="Helvetica" pitchFamily="34" charset="0"/>
              </a:rPr>
              <a:t>Graduations and award nights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6" name="Picture 5" descr="MP900422638.JPG"/>
          <p:cNvPicPr>
            <a:picLocks noChangeAspect="1"/>
          </p:cNvPicPr>
          <p:nvPr/>
        </p:nvPicPr>
        <p:blipFill>
          <a:blip r:embed="rId3" cstate="print"/>
          <a:stretch>
            <a:fillRect/>
          </a:stretch>
        </p:blipFill>
        <p:spPr>
          <a:xfrm>
            <a:off x="6500826" y="3857628"/>
            <a:ext cx="1820196" cy="122721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Press receptions</a:t>
            </a:r>
          </a:p>
          <a:p>
            <a:pPr lvl="0">
              <a:spcBef>
                <a:spcPts val="600"/>
              </a:spcBef>
              <a:spcAft>
                <a:spcPts val="1200"/>
              </a:spcAft>
            </a:pPr>
            <a:r>
              <a:rPr lang="en-AU" sz="2200" dirty="0" smtClean="0">
                <a:latin typeface="Helvetica" pitchFamily="34" charset="0"/>
              </a:rPr>
              <a:t>Fashion shows</a:t>
            </a:r>
          </a:p>
          <a:p>
            <a:pPr lvl="0">
              <a:spcBef>
                <a:spcPts val="600"/>
              </a:spcBef>
              <a:spcAft>
                <a:spcPts val="1200"/>
              </a:spcAft>
            </a:pPr>
            <a:r>
              <a:rPr lang="en-AU" sz="2200" dirty="0" smtClean="0">
                <a:latin typeface="Helvetica" pitchFamily="34" charset="0"/>
              </a:rPr>
              <a:t>Special events</a:t>
            </a:r>
          </a:p>
          <a:p>
            <a:pPr lvl="0">
              <a:spcBef>
                <a:spcPts val="600"/>
              </a:spcBef>
              <a:spcAft>
                <a:spcPts val="1200"/>
              </a:spcAft>
            </a:pPr>
            <a:r>
              <a:rPr lang="en-AU" sz="2200" dirty="0" smtClean="0">
                <a:latin typeface="Helvetica" pitchFamily="34" charset="0"/>
              </a:rPr>
              <a:t>Tradeshows </a:t>
            </a:r>
          </a:p>
          <a:p>
            <a:pPr lvl="0">
              <a:spcBef>
                <a:spcPts val="600"/>
              </a:spcBef>
              <a:spcAft>
                <a:spcPts val="1200"/>
              </a:spcAft>
            </a:pPr>
            <a:r>
              <a:rPr lang="en-AU" sz="2200" dirty="0" smtClean="0">
                <a:latin typeface="Helvetica" pitchFamily="34" charset="0"/>
              </a:rPr>
              <a:t>Stage productions, including music events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7" name="Picture 6" descr="MP900443651.JPG"/>
          <p:cNvPicPr>
            <a:picLocks noChangeAspect="1"/>
          </p:cNvPicPr>
          <p:nvPr/>
        </p:nvPicPr>
        <p:blipFill>
          <a:blip r:embed="rId3" cstate="print"/>
          <a:stretch>
            <a:fillRect/>
          </a:stretch>
        </p:blipFill>
        <p:spPr>
          <a:xfrm>
            <a:off x="6143636" y="1285860"/>
            <a:ext cx="1582124" cy="237039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MICE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Many venues focus on the MICE sector of the industry. </a:t>
            </a:r>
          </a:p>
          <a:p>
            <a:pPr>
              <a:spcBef>
                <a:spcPts val="600"/>
              </a:spcBef>
              <a:spcAft>
                <a:spcPts val="1200"/>
              </a:spcAft>
              <a:buNone/>
            </a:pPr>
            <a:r>
              <a:rPr lang="en-AU" sz="2200" dirty="0" smtClean="0">
                <a:latin typeface="Helvetica" pitchFamily="34" charset="0"/>
              </a:rPr>
              <a:t>MICE stands for:</a:t>
            </a:r>
          </a:p>
          <a:p>
            <a:pPr>
              <a:spcBef>
                <a:spcPts val="600"/>
              </a:spcBef>
              <a:spcAft>
                <a:spcPts val="1200"/>
              </a:spcAft>
            </a:pPr>
            <a:r>
              <a:rPr lang="en-AU" sz="2200" b="1" dirty="0" smtClean="0">
                <a:latin typeface="Helvetica" pitchFamily="34" charset="0"/>
              </a:rPr>
              <a:t>M</a:t>
            </a:r>
            <a:r>
              <a:rPr lang="en-AU" sz="2200" dirty="0" smtClean="0">
                <a:latin typeface="Helvetica" pitchFamily="34" charset="0"/>
              </a:rPr>
              <a:t>eetings</a:t>
            </a:r>
          </a:p>
          <a:p>
            <a:pPr>
              <a:spcBef>
                <a:spcPts val="600"/>
              </a:spcBef>
              <a:spcAft>
                <a:spcPts val="1200"/>
              </a:spcAft>
            </a:pPr>
            <a:r>
              <a:rPr lang="en-AU" sz="2200" b="1" dirty="0" smtClean="0">
                <a:latin typeface="Helvetica" pitchFamily="34" charset="0"/>
              </a:rPr>
              <a:t>I</a:t>
            </a:r>
            <a:r>
              <a:rPr lang="en-AU" sz="2200" dirty="0" smtClean="0">
                <a:latin typeface="Helvetica" pitchFamily="34" charset="0"/>
              </a:rPr>
              <a:t>ncentives </a:t>
            </a:r>
          </a:p>
          <a:p>
            <a:pPr>
              <a:spcBef>
                <a:spcPts val="600"/>
              </a:spcBef>
              <a:spcAft>
                <a:spcPts val="1200"/>
              </a:spcAft>
            </a:pPr>
            <a:r>
              <a:rPr lang="en-AU" sz="2200" b="1" dirty="0" smtClean="0">
                <a:latin typeface="Helvetica" pitchFamily="34" charset="0"/>
              </a:rPr>
              <a:t>C</a:t>
            </a:r>
            <a:r>
              <a:rPr lang="en-AU" sz="2200" dirty="0" smtClean="0">
                <a:latin typeface="Helvetica" pitchFamily="34" charset="0"/>
              </a:rPr>
              <a:t>onferences</a:t>
            </a:r>
          </a:p>
          <a:p>
            <a:pPr>
              <a:spcBef>
                <a:spcPts val="600"/>
              </a:spcBef>
              <a:spcAft>
                <a:spcPts val="1200"/>
              </a:spcAft>
            </a:pPr>
            <a:r>
              <a:rPr lang="en-AU" sz="2200" b="1" dirty="0" smtClean="0">
                <a:latin typeface="Helvetica" pitchFamily="34" charset="0"/>
              </a:rPr>
              <a:t>E</a:t>
            </a:r>
            <a:r>
              <a:rPr lang="en-AU" sz="2200" dirty="0" smtClean="0">
                <a:latin typeface="Helvetica" pitchFamily="34" charset="0"/>
              </a:rPr>
              <a:t>vents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 name="Picture 5" descr="MP900423018[1].JPG"/>
          <p:cNvPicPr/>
          <p:nvPr/>
        </p:nvPicPr>
        <p:blipFill>
          <a:blip r:embed="rId3" cstate="print"/>
          <a:stretch>
            <a:fillRect/>
          </a:stretch>
        </p:blipFill>
        <p:spPr>
          <a:xfrm>
            <a:off x="5874996" y="3214686"/>
            <a:ext cx="1582078" cy="1643074"/>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MICE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Meetings include general business meetings</a:t>
            </a:r>
          </a:p>
          <a:p>
            <a:pPr lvl="0">
              <a:spcBef>
                <a:spcPts val="600"/>
              </a:spcBef>
              <a:spcAft>
                <a:spcPts val="1200"/>
              </a:spcAft>
            </a:pPr>
            <a:r>
              <a:rPr lang="en-AU" sz="2200" dirty="0" smtClean="0">
                <a:latin typeface="Helvetica" pitchFamily="34" charset="0"/>
              </a:rPr>
              <a:t>Incentives refers to functions that businesses organise to reward or motivate staff</a:t>
            </a:r>
          </a:p>
          <a:p>
            <a:pPr lvl="0">
              <a:spcBef>
                <a:spcPts val="600"/>
              </a:spcBef>
              <a:spcAft>
                <a:spcPts val="1200"/>
              </a:spcAft>
            </a:pPr>
            <a:r>
              <a:rPr lang="en-AU" sz="2200" dirty="0" smtClean="0">
                <a:latin typeface="Helvetica" pitchFamily="34" charset="0"/>
              </a:rPr>
              <a:t>Conferences are usually business/industry based occasions where people get together to discuss issues and share knowledge</a:t>
            </a:r>
          </a:p>
          <a:p>
            <a:pPr lvl="0">
              <a:spcBef>
                <a:spcPts val="600"/>
              </a:spcBef>
              <a:spcAft>
                <a:spcPts val="1200"/>
              </a:spcAft>
            </a:pPr>
            <a:r>
              <a:rPr lang="en-AU" sz="2200" dirty="0" smtClean="0">
                <a:latin typeface="Helvetica" pitchFamily="34" charset="0"/>
              </a:rPr>
              <a:t>Events can include bands, concerts, entertainments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6" name="Picture 5" descr="MP900441047.JPG"/>
          <p:cNvPicPr/>
          <p:nvPr/>
        </p:nvPicPr>
        <p:blipFill>
          <a:blip r:embed="rId3" cstate="print"/>
          <a:stretch>
            <a:fillRect/>
          </a:stretch>
        </p:blipFill>
        <p:spPr>
          <a:xfrm>
            <a:off x="5929322" y="500042"/>
            <a:ext cx="1409700" cy="14097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In most hotels there is a dedicated area for events, which can cater to a wide variety of activities comprising each event. </a:t>
            </a:r>
          </a:p>
          <a:p>
            <a:pPr>
              <a:spcBef>
                <a:spcPts val="600"/>
              </a:spcBef>
              <a:spcAft>
                <a:spcPts val="1200"/>
              </a:spcAft>
            </a:pPr>
            <a:r>
              <a:rPr lang="en-AU" sz="2200" dirty="0" smtClean="0">
                <a:latin typeface="Helvetica" pitchFamily="34" charset="0"/>
              </a:rPr>
              <a:t>What areas / facilities can be used for events within a hotel?</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6" name="Picture 5" descr="Events 7.bmp"/>
          <p:cNvPicPr>
            <a:picLocks noChangeAspect="1"/>
          </p:cNvPicPr>
          <p:nvPr/>
        </p:nvPicPr>
        <p:blipFill>
          <a:blip r:embed="rId3" cstate="print"/>
          <a:stretch>
            <a:fillRect/>
          </a:stretch>
        </p:blipFill>
        <p:spPr>
          <a:xfrm>
            <a:off x="3714744" y="3857628"/>
            <a:ext cx="2623718" cy="174449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Meeting/conference room </a:t>
            </a:r>
          </a:p>
          <a:p>
            <a:pPr marL="0">
              <a:spcBef>
                <a:spcPts val="600"/>
              </a:spcBef>
              <a:spcAft>
                <a:spcPts val="1200"/>
              </a:spcAft>
            </a:pPr>
            <a:r>
              <a:rPr lang="en-AU" sz="2200" dirty="0" smtClean="0">
                <a:latin typeface="Helvetica" pitchFamily="34" charset="0"/>
              </a:rPr>
              <a:t>Stand up conference areas</a:t>
            </a:r>
          </a:p>
          <a:p>
            <a:pPr marL="0">
              <a:spcBef>
                <a:spcPts val="600"/>
              </a:spcBef>
              <a:spcAft>
                <a:spcPts val="1200"/>
              </a:spcAft>
            </a:pPr>
            <a:r>
              <a:rPr lang="en-AU" sz="2200" dirty="0" smtClean="0">
                <a:latin typeface="Helvetica" pitchFamily="34" charset="0"/>
              </a:rPr>
              <a:t>Banquet room</a:t>
            </a:r>
          </a:p>
          <a:p>
            <a:pPr marL="0">
              <a:spcBef>
                <a:spcPts val="600"/>
              </a:spcBef>
              <a:spcAft>
                <a:spcPts val="1200"/>
              </a:spcAft>
            </a:pPr>
            <a:r>
              <a:rPr lang="en-AU" sz="2200" dirty="0" smtClean="0">
                <a:latin typeface="Helvetica" pitchFamily="34" charset="0"/>
              </a:rPr>
              <a:t>Exhibition bays and space</a:t>
            </a:r>
          </a:p>
          <a:p>
            <a:pPr marL="0">
              <a:spcBef>
                <a:spcPts val="600"/>
              </a:spcBef>
              <a:spcAft>
                <a:spcPts val="1200"/>
              </a:spcAft>
            </a:pPr>
            <a:r>
              <a:rPr lang="en-AU" sz="2200" dirty="0" smtClean="0">
                <a:latin typeface="Helvetica" pitchFamily="34" charset="0"/>
              </a:rPr>
              <a:t>Business centres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8" name="Picture 7" descr="restaurant.jpg"/>
          <p:cNvPicPr/>
          <p:nvPr/>
        </p:nvPicPr>
        <p:blipFill>
          <a:blip r:embed="rId3" cstate="print"/>
          <a:stretch>
            <a:fillRect/>
          </a:stretch>
        </p:blipFill>
        <p:spPr>
          <a:xfrm>
            <a:off x="5500694" y="2571744"/>
            <a:ext cx="2457450" cy="167163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Auditoriums </a:t>
            </a:r>
          </a:p>
          <a:p>
            <a:pPr marL="0">
              <a:spcBef>
                <a:spcPts val="600"/>
              </a:spcBef>
              <a:spcAft>
                <a:spcPts val="1200"/>
              </a:spcAft>
            </a:pPr>
            <a:r>
              <a:rPr lang="en-AU" sz="2200" dirty="0" smtClean="0">
                <a:latin typeface="Helvetica" pitchFamily="34" charset="0"/>
              </a:rPr>
              <a:t>Press rooms</a:t>
            </a:r>
          </a:p>
          <a:p>
            <a:pPr marL="0">
              <a:spcBef>
                <a:spcPts val="600"/>
              </a:spcBef>
              <a:spcAft>
                <a:spcPts val="1200"/>
              </a:spcAft>
            </a:pPr>
            <a:r>
              <a:rPr lang="en-AU" sz="2200" dirty="0" smtClean="0">
                <a:latin typeface="Helvetica" pitchFamily="34" charset="0"/>
              </a:rPr>
              <a:t>Storage bays</a:t>
            </a:r>
          </a:p>
          <a:p>
            <a:pPr marL="0">
              <a:spcBef>
                <a:spcPts val="600"/>
              </a:spcBef>
              <a:spcAft>
                <a:spcPts val="1200"/>
              </a:spcAft>
            </a:pPr>
            <a:r>
              <a:rPr lang="en-AU" sz="2200" dirty="0" smtClean="0">
                <a:latin typeface="Helvetica" pitchFamily="34" charset="0"/>
              </a:rPr>
              <a:t>Parking facilities </a:t>
            </a:r>
          </a:p>
          <a:p>
            <a:pPr marL="0">
              <a:spcBef>
                <a:spcPts val="600"/>
              </a:spcBef>
              <a:spcAft>
                <a:spcPts val="1200"/>
              </a:spcAft>
            </a:pPr>
            <a:r>
              <a:rPr lang="en-AU" sz="2200" dirty="0" smtClean="0">
                <a:latin typeface="Helvetica" pitchFamily="34" charset="0"/>
              </a:rPr>
              <a:t>Change rooms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6" name="Picture 5" descr="MP900400915.JPG"/>
          <p:cNvPicPr/>
          <p:nvPr/>
        </p:nvPicPr>
        <p:blipFill>
          <a:blip r:embed="rId3" cstate="print"/>
          <a:stretch>
            <a:fillRect/>
          </a:stretch>
        </p:blipFill>
        <p:spPr>
          <a:xfrm>
            <a:off x="5715008" y="2500306"/>
            <a:ext cx="2093274" cy="1634864"/>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Display areas </a:t>
            </a:r>
          </a:p>
          <a:p>
            <a:pPr marL="421200">
              <a:spcBef>
                <a:spcPts val="600"/>
              </a:spcBef>
              <a:spcAft>
                <a:spcPts val="1200"/>
              </a:spcAft>
            </a:pPr>
            <a:r>
              <a:rPr lang="en-AU" sz="2200" dirty="0" smtClean="0">
                <a:latin typeface="Helvetica" pitchFamily="34" charset="0"/>
              </a:rPr>
              <a:t>Designated and discreet sections of restaurants and/or bars </a:t>
            </a:r>
          </a:p>
          <a:p>
            <a:pPr marL="0">
              <a:spcBef>
                <a:spcPts val="600"/>
              </a:spcBef>
              <a:spcAft>
                <a:spcPts val="1200"/>
              </a:spcAft>
            </a:pPr>
            <a:r>
              <a:rPr lang="en-AU" sz="2200" dirty="0" smtClean="0">
                <a:latin typeface="Helvetica" pitchFamily="34" charset="0"/>
              </a:rPr>
              <a:t>Food and beverage service </a:t>
            </a:r>
          </a:p>
          <a:p>
            <a:pPr marL="0">
              <a:spcBef>
                <a:spcPts val="600"/>
              </a:spcBef>
              <a:spcAft>
                <a:spcPts val="1200"/>
              </a:spcAft>
            </a:pPr>
            <a:r>
              <a:rPr lang="en-AU" sz="2200" dirty="0" smtClean="0">
                <a:latin typeface="Helvetica" pitchFamily="34" charset="0"/>
              </a:rPr>
              <a:t>Accommodation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7" name="Picture 6" descr="MP900431761[1].JPG"/>
          <p:cNvPicPr/>
          <p:nvPr/>
        </p:nvPicPr>
        <p:blipFill>
          <a:blip r:embed="rId3" cstate="print"/>
          <a:stretch>
            <a:fillRect/>
          </a:stretch>
        </p:blipFill>
        <p:spPr>
          <a:xfrm>
            <a:off x="5857884" y="3571876"/>
            <a:ext cx="2062159" cy="135364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facilities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b="1" dirty="0" smtClean="0">
                <a:latin typeface="Helvetica" pitchFamily="34" charset="0"/>
              </a:rPr>
              <a:t>Range of facilities</a:t>
            </a:r>
          </a:p>
          <a:p>
            <a:pPr marL="0">
              <a:spcBef>
                <a:spcPts val="600"/>
              </a:spcBef>
              <a:spcAft>
                <a:spcPts val="1200"/>
              </a:spcAft>
            </a:pPr>
            <a:r>
              <a:rPr lang="en-AU" sz="2200" dirty="0" smtClean="0">
                <a:latin typeface="Helvetica" pitchFamily="34" charset="0"/>
              </a:rPr>
              <a:t>Sound and lighting</a:t>
            </a:r>
          </a:p>
          <a:p>
            <a:pPr marL="0">
              <a:spcBef>
                <a:spcPts val="600"/>
              </a:spcBef>
              <a:spcAft>
                <a:spcPts val="1200"/>
              </a:spcAft>
            </a:pPr>
            <a:r>
              <a:rPr lang="en-AU" sz="2200" dirty="0" smtClean="0">
                <a:latin typeface="Helvetica" pitchFamily="34" charset="0"/>
              </a:rPr>
              <a:t>Communication technologies and equipment</a:t>
            </a:r>
          </a:p>
          <a:p>
            <a:pPr marL="0">
              <a:spcBef>
                <a:spcPts val="600"/>
              </a:spcBef>
              <a:spcAft>
                <a:spcPts val="1200"/>
              </a:spcAft>
            </a:pPr>
            <a:r>
              <a:rPr lang="en-AU" sz="2200" dirty="0" smtClean="0">
                <a:latin typeface="Helvetica" pitchFamily="34" charset="0"/>
              </a:rPr>
              <a:t>Music facilities</a:t>
            </a:r>
          </a:p>
          <a:p>
            <a:pPr marL="0">
              <a:spcBef>
                <a:spcPts val="600"/>
              </a:spcBef>
              <a:spcAft>
                <a:spcPts val="1200"/>
              </a:spcAft>
            </a:pPr>
            <a:r>
              <a:rPr lang="en-AU" sz="2200" dirty="0" smtClean="0">
                <a:latin typeface="Helvetica" pitchFamily="34" charset="0"/>
              </a:rPr>
              <a:t>Gardens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2050" name="Picture 2" descr="C:\Documents and Settings\danielc\Local Settings\Temporary Internet Files\Content.IE5\XGIII3N1\MC900238073[1].wmf"/>
          <p:cNvPicPr>
            <a:picLocks noChangeAspect="1" noChangeArrowheads="1"/>
          </p:cNvPicPr>
          <p:nvPr/>
        </p:nvPicPr>
        <p:blipFill>
          <a:blip r:embed="rId3" cstate="print"/>
          <a:srcRect/>
          <a:stretch>
            <a:fillRect/>
          </a:stretch>
        </p:blipFill>
        <p:spPr bwMode="auto">
          <a:xfrm>
            <a:off x="5214942" y="3286124"/>
            <a:ext cx="1685310" cy="2110301"/>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Receiving an enquiry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Information to collect </a:t>
            </a:r>
          </a:p>
          <a:p>
            <a:pPr lvl="0">
              <a:spcBef>
                <a:spcPts val="600"/>
              </a:spcBef>
              <a:spcAft>
                <a:spcPts val="1200"/>
              </a:spcAft>
            </a:pPr>
            <a:r>
              <a:rPr lang="en-AU" sz="2200" dirty="0" smtClean="0">
                <a:latin typeface="Helvetica" pitchFamily="34" charset="0"/>
              </a:rPr>
              <a:t>Contact person </a:t>
            </a:r>
          </a:p>
          <a:p>
            <a:pPr lvl="0">
              <a:spcBef>
                <a:spcPts val="600"/>
              </a:spcBef>
              <a:spcAft>
                <a:spcPts val="1200"/>
              </a:spcAft>
            </a:pPr>
            <a:r>
              <a:rPr lang="en-AU" sz="2200" dirty="0" smtClean="0">
                <a:latin typeface="Helvetica" pitchFamily="34" charset="0"/>
              </a:rPr>
              <a:t>Contact details </a:t>
            </a:r>
          </a:p>
          <a:p>
            <a:pPr lvl="0">
              <a:spcBef>
                <a:spcPts val="600"/>
              </a:spcBef>
              <a:spcAft>
                <a:spcPts val="1200"/>
              </a:spcAft>
            </a:pPr>
            <a:r>
              <a:rPr lang="en-AU" sz="2200" dirty="0" smtClean="0">
                <a:latin typeface="Helvetica" pitchFamily="34" charset="0"/>
              </a:rPr>
              <a:t>Type of event</a:t>
            </a:r>
          </a:p>
          <a:p>
            <a:pPr lvl="0">
              <a:spcBef>
                <a:spcPts val="600"/>
              </a:spcBef>
              <a:spcAft>
                <a:spcPts val="1200"/>
              </a:spcAft>
            </a:pPr>
            <a:r>
              <a:rPr lang="en-AU" sz="2200" dirty="0" smtClean="0">
                <a:latin typeface="Helvetica" pitchFamily="34" charset="0"/>
              </a:rPr>
              <a:t>Location</a:t>
            </a:r>
          </a:p>
          <a:p>
            <a:pPr lvl="0">
              <a:spcBef>
                <a:spcPts val="600"/>
              </a:spcBef>
              <a:spcAft>
                <a:spcPts val="1200"/>
              </a:spcAft>
            </a:pPr>
            <a:r>
              <a:rPr lang="en-AU" sz="2200" dirty="0" smtClean="0">
                <a:latin typeface="Helvetica" pitchFamily="34" charset="0"/>
              </a:rPr>
              <a:t>Date and time of event</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7" name="Picture 6" descr="MB900409142.JPG"/>
          <p:cNvPicPr>
            <a:picLocks noChangeAspect="1"/>
          </p:cNvPicPr>
          <p:nvPr/>
        </p:nvPicPr>
        <p:blipFill>
          <a:blip r:embed="rId3" cstate="print"/>
          <a:stretch>
            <a:fillRect/>
          </a:stretch>
        </p:blipFill>
        <p:spPr>
          <a:xfrm>
            <a:off x="5715008" y="2714620"/>
            <a:ext cx="1828800" cy="18288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Receiving an enquiry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Information to collect </a:t>
            </a:r>
          </a:p>
          <a:p>
            <a:pPr lvl="0">
              <a:spcBef>
                <a:spcPts val="600"/>
              </a:spcBef>
              <a:spcAft>
                <a:spcPts val="1200"/>
              </a:spcAft>
            </a:pPr>
            <a:r>
              <a:rPr lang="en-AU" sz="2200" dirty="0" smtClean="0">
                <a:latin typeface="Helvetica" pitchFamily="34" charset="0"/>
              </a:rPr>
              <a:t>Budget</a:t>
            </a:r>
          </a:p>
          <a:p>
            <a:pPr lvl="0">
              <a:spcBef>
                <a:spcPts val="600"/>
              </a:spcBef>
              <a:spcAft>
                <a:spcPts val="1200"/>
              </a:spcAft>
            </a:pPr>
            <a:r>
              <a:rPr lang="en-AU" sz="2200" dirty="0" smtClean="0">
                <a:latin typeface="Helvetica" pitchFamily="34" charset="0"/>
              </a:rPr>
              <a:t>Possible number of attendees or guests</a:t>
            </a:r>
          </a:p>
          <a:p>
            <a:pPr lvl="0">
              <a:spcBef>
                <a:spcPts val="600"/>
              </a:spcBef>
              <a:spcAft>
                <a:spcPts val="1200"/>
              </a:spcAft>
            </a:pPr>
            <a:r>
              <a:rPr lang="en-AU" sz="2200" dirty="0" smtClean="0">
                <a:latin typeface="Helvetica" pitchFamily="34" charset="0"/>
              </a:rPr>
              <a:t>Overview of event requirements</a:t>
            </a:r>
          </a:p>
          <a:p>
            <a:pPr lvl="0">
              <a:spcBef>
                <a:spcPts val="600"/>
              </a:spcBef>
              <a:spcAft>
                <a:spcPts val="1200"/>
              </a:spcAft>
            </a:pPr>
            <a:r>
              <a:rPr lang="en-AU" sz="2200" dirty="0" smtClean="0">
                <a:latin typeface="Helvetica" pitchFamily="34" charset="0"/>
              </a:rPr>
              <a:t>Special instructions or requests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1027" name="Picture 3" descr="C:\Documents and Settings\danielc\Local Settings\Temporary Internet Files\Content.IE5\UMECW9PM\MC900034593[1].wmf"/>
          <p:cNvPicPr>
            <a:picLocks noChangeAspect="1" noChangeArrowheads="1"/>
          </p:cNvPicPr>
          <p:nvPr/>
        </p:nvPicPr>
        <p:blipFill>
          <a:blip r:embed="rId3" cstate="print"/>
          <a:srcRect/>
          <a:stretch>
            <a:fillRect/>
          </a:stretch>
        </p:blipFill>
        <p:spPr bwMode="auto">
          <a:xfrm>
            <a:off x="6429388" y="2857496"/>
            <a:ext cx="2075617" cy="1375088"/>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Meeting with clients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4525963"/>
          </a:xfrm>
        </p:spPr>
        <p:txBody>
          <a:bodyPr>
            <a:normAutofit/>
          </a:bodyPr>
          <a:lstStyle/>
          <a:p>
            <a:pPr marL="0">
              <a:spcBef>
                <a:spcPts val="600"/>
              </a:spcBef>
              <a:spcAft>
                <a:spcPts val="1200"/>
              </a:spcAft>
              <a:buNone/>
            </a:pPr>
            <a:r>
              <a:rPr lang="en-AU" sz="2200" dirty="0" smtClean="0">
                <a:latin typeface="Helvetica" pitchFamily="34" charset="0"/>
              </a:rPr>
              <a:t>After receiving an enquiry and once initial information has been sent to clients regarding an event or function it is best practice to invite the client to your venue to:</a:t>
            </a:r>
          </a:p>
          <a:p>
            <a:pPr lvl="0">
              <a:spcBef>
                <a:spcPts val="600"/>
              </a:spcBef>
              <a:spcAft>
                <a:spcPts val="1200"/>
              </a:spcAft>
            </a:pPr>
            <a:r>
              <a:rPr lang="en-AU" sz="2200" dirty="0" smtClean="0">
                <a:latin typeface="Helvetica" pitchFamily="34" charset="0"/>
              </a:rPr>
              <a:t>Talk to them about their expectations and needs </a:t>
            </a:r>
          </a:p>
          <a:p>
            <a:pPr lvl="0">
              <a:spcBef>
                <a:spcPts val="600"/>
              </a:spcBef>
              <a:spcAft>
                <a:spcPts val="1200"/>
              </a:spcAft>
            </a:pPr>
            <a:r>
              <a:rPr lang="en-AU" sz="2200" dirty="0" smtClean="0">
                <a:latin typeface="Helvetica" pitchFamily="34" charset="0"/>
              </a:rPr>
              <a:t>Allow them to view the property and its facilities </a:t>
            </a:r>
          </a:p>
          <a:p>
            <a:pPr lvl="0">
              <a:spcBef>
                <a:spcPts val="600"/>
              </a:spcBef>
              <a:spcAft>
                <a:spcPts val="1200"/>
              </a:spcAft>
            </a:pPr>
            <a:r>
              <a:rPr lang="en-AU" sz="2200" dirty="0" smtClean="0">
                <a:latin typeface="Helvetica" pitchFamily="34" charset="0"/>
              </a:rPr>
              <a:t>Meet some of the key staff, where appropriate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MP900422777[1].JPG"/>
          <p:cNvPicPr/>
          <p:nvPr/>
        </p:nvPicPr>
        <p:blipFill>
          <a:blip r:embed="rId3" cstate="print"/>
          <a:stretch>
            <a:fillRect/>
          </a:stretch>
        </p:blipFill>
        <p:spPr>
          <a:xfrm>
            <a:off x="3214678" y="4713182"/>
            <a:ext cx="1719064" cy="1359024"/>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customer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customer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 specific day and date  </a:t>
            </a:r>
          </a:p>
          <a:p>
            <a:pPr lvl="0">
              <a:spcBef>
                <a:spcPts val="600"/>
              </a:spcBef>
              <a:spcAft>
                <a:spcPts val="1200"/>
              </a:spcAft>
            </a:pPr>
            <a:r>
              <a:rPr lang="en-AU" sz="2200" dirty="0" smtClean="0">
                <a:latin typeface="Helvetica" pitchFamily="34" charset="0"/>
              </a:rPr>
              <a:t>Style and format of function  </a:t>
            </a:r>
          </a:p>
          <a:p>
            <a:pPr lvl="0">
              <a:spcBef>
                <a:spcPts val="600"/>
              </a:spcBef>
              <a:spcAft>
                <a:spcPts val="1200"/>
              </a:spcAft>
            </a:pPr>
            <a:r>
              <a:rPr lang="en-AU" sz="2200" dirty="0" smtClean="0">
                <a:latin typeface="Helvetica" pitchFamily="34" charset="0"/>
              </a:rPr>
              <a:t>Location</a:t>
            </a:r>
          </a:p>
          <a:p>
            <a:pPr lvl="0">
              <a:spcBef>
                <a:spcPts val="600"/>
              </a:spcBef>
              <a:spcAft>
                <a:spcPts val="1200"/>
              </a:spcAft>
            </a:pPr>
            <a:r>
              <a:rPr lang="en-AU" sz="2200" dirty="0" smtClean="0">
                <a:latin typeface="Helvetica" pitchFamily="34" charset="0"/>
              </a:rPr>
              <a:t>Timing and duration considerations</a:t>
            </a:r>
          </a:p>
          <a:p>
            <a:pPr lvl="0">
              <a:spcBef>
                <a:spcPts val="600"/>
              </a:spcBef>
              <a:spcAft>
                <a:spcPts val="1200"/>
              </a:spcAft>
            </a:pPr>
            <a:r>
              <a:rPr lang="en-AU" sz="2200" dirty="0" smtClean="0">
                <a:latin typeface="Helvetica" pitchFamily="34" charset="0"/>
              </a:rPr>
              <a:t>Food and beverage</a:t>
            </a:r>
          </a:p>
          <a:p>
            <a:pPr lvl="0">
              <a:spcBef>
                <a:spcPts val="600"/>
              </a:spcBef>
              <a:spcAft>
                <a:spcPts val="1200"/>
              </a:spcAft>
            </a:pPr>
            <a:r>
              <a:rPr lang="en-AU" sz="2200" dirty="0" smtClean="0">
                <a:latin typeface="Helvetica" pitchFamily="34" charset="0"/>
              </a:rPr>
              <a:t>Accommodation</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6" name="Picture 5" descr="MP900400284.JPG"/>
          <p:cNvPicPr>
            <a:picLocks noChangeAspect="1"/>
          </p:cNvPicPr>
          <p:nvPr/>
        </p:nvPicPr>
        <p:blipFill>
          <a:blip r:embed="rId3" cstate="print"/>
          <a:stretch>
            <a:fillRect/>
          </a:stretch>
        </p:blipFill>
        <p:spPr>
          <a:xfrm>
            <a:off x="5643570" y="2071678"/>
            <a:ext cx="2416269" cy="161210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considerations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Entertainment</a:t>
            </a:r>
          </a:p>
          <a:p>
            <a:pPr lvl="0">
              <a:spcBef>
                <a:spcPts val="600"/>
              </a:spcBef>
              <a:spcAft>
                <a:spcPts val="1200"/>
              </a:spcAft>
            </a:pPr>
            <a:r>
              <a:rPr lang="en-AU" sz="2200" dirty="0" smtClean="0">
                <a:latin typeface="Helvetica" pitchFamily="34" charset="0"/>
              </a:rPr>
              <a:t>Specialist technology services</a:t>
            </a:r>
          </a:p>
          <a:p>
            <a:pPr lvl="0">
              <a:spcBef>
                <a:spcPts val="600"/>
              </a:spcBef>
              <a:spcAft>
                <a:spcPts val="1200"/>
              </a:spcAft>
            </a:pPr>
            <a:r>
              <a:rPr lang="en-AU" sz="2200" dirty="0" smtClean="0">
                <a:latin typeface="Helvetica" pitchFamily="34" charset="0"/>
              </a:rPr>
              <a:t>Equipment</a:t>
            </a:r>
          </a:p>
          <a:p>
            <a:pPr lvl="0">
              <a:spcBef>
                <a:spcPts val="600"/>
              </a:spcBef>
              <a:spcAft>
                <a:spcPts val="1200"/>
              </a:spcAft>
            </a:pPr>
            <a:r>
              <a:rPr lang="en-AU" sz="2200" dirty="0" smtClean="0">
                <a:latin typeface="Helvetica" pitchFamily="34" charset="0"/>
              </a:rPr>
              <a:t>Ancillary services and rooms</a:t>
            </a:r>
          </a:p>
          <a:p>
            <a:pPr lvl="0">
              <a:spcBef>
                <a:spcPts val="600"/>
              </a:spcBef>
              <a:spcAft>
                <a:spcPts val="1200"/>
              </a:spcAft>
            </a:pPr>
            <a:r>
              <a:rPr lang="en-AU" sz="2200" dirty="0" smtClean="0">
                <a:latin typeface="Helvetica" pitchFamily="34" charset="0"/>
              </a:rPr>
              <a:t>Guest numbers</a:t>
            </a:r>
          </a:p>
          <a:p>
            <a:pPr lvl="0">
              <a:spcBef>
                <a:spcPts val="600"/>
              </a:spcBef>
              <a:spcAft>
                <a:spcPts val="1200"/>
              </a:spcAft>
            </a:pPr>
            <a:r>
              <a:rPr lang="en-AU" sz="2200" dirty="0" smtClean="0">
                <a:latin typeface="Helvetica" pitchFamily="34" charset="0"/>
              </a:rPr>
              <a:t>Privacy</a:t>
            </a:r>
          </a:p>
          <a:p>
            <a:pPr lvl="0">
              <a:spcBef>
                <a:spcPts val="600"/>
              </a:spcBef>
              <a:spcAft>
                <a:spcPts val="1200"/>
              </a:spcAft>
            </a:pPr>
            <a:r>
              <a:rPr lang="en-AU" sz="2200" dirty="0" smtClean="0">
                <a:latin typeface="Helvetica" pitchFamily="34" charset="0"/>
              </a:rPr>
              <a:t>Budget</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descr="MP900431237[1].JPG"/>
          <p:cNvPicPr>
            <a:picLocks noChangeAspect="1"/>
          </p:cNvPicPr>
          <p:nvPr/>
        </p:nvPicPr>
        <p:blipFill>
          <a:blip r:embed="rId3" cstate="print"/>
          <a:stretch>
            <a:fillRect/>
          </a:stretch>
        </p:blipFill>
        <p:spPr>
          <a:xfrm>
            <a:off x="6143636" y="2428868"/>
            <a:ext cx="1924048" cy="1924048"/>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considerations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Access</a:t>
            </a:r>
          </a:p>
          <a:p>
            <a:pPr lvl="0">
              <a:spcBef>
                <a:spcPts val="600"/>
              </a:spcBef>
              <a:spcAft>
                <a:spcPts val="1200"/>
              </a:spcAft>
            </a:pPr>
            <a:r>
              <a:rPr lang="en-AU" sz="2200" dirty="0" smtClean="0">
                <a:latin typeface="Helvetica" pitchFamily="34" charset="0"/>
              </a:rPr>
              <a:t>Security</a:t>
            </a:r>
          </a:p>
          <a:p>
            <a:pPr lvl="0">
              <a:spcBef>
                <a:spcPts val="600"/>
              </a:spcBef>
              <a:spcAft>
                <a:spcPts val="1200"/>
              </a:spcAft>
            </a:pPr>
            <a:r>
              <a:rPr lang="en-AU" sz="2200" dirty="0" smtClean="0">
                <a:latin typeface="Helvetica" pitchFamily="34" charset="0"/>
              </a:rPr>
              <a:t>Themes and decorations</a:t>
            </a:r>
          </a:p>
          <a:p>
            <a:pPr lvl="0">
              <a:spcBef>
                <a:spcPts val="600"/>
              </a:spcBef>
              <a:spcAft>
                <a:spcPts val="1200"/>
              </a:spcAft>
            </a:pPr>
            <a:r>
              <a:rPr lang="en-AU" sz="2200" dirty="0" smtClean="0">
                <a:latin typeface="Helvetica" pitchFamily="34" charset="0"/>
              </a:rPr>
              <a:t>Role of media</a:t>
            </a:r>
          </a:p>
          <a:p>
            <a:pPr lvl="0">
              <a:spcBef>
                <a:spcPts val="600"/>
              </a:spcBef>
              <a:spcAft>
                <a:spcPts val="1200"/>
              </a:spcAft>
            </a:pPr>
            <a:r>
              <a:rPr lang="en-AU" sz="2200" dirty="0" smtClean="0">
                <a:latin typeface="Helvetica" pitchFamily="34" charset="0"/>
              </a:rPr>
              <a:t>External providers</a:t>
            </a:r>
          </a:p>
          <a:p>
            <a:pPr lvl="0">
              <a:spcBef>
                <a:spcPts val="600"/>
              </a:spcBef>
              <a:spcAft>
                <a:spcPts val="1200"/>
              </a:spcAft>
            </a:pPr>
            <a:endParaRPr lang="en-AU" sz="2200" dirty="0" smtClean="0">
              <a:latin typeface="Helvetica" pitchFamily="34" charset="0"/>
            </a:endParaRP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6" name="Picture 5" descr="MP900448447.JPG"/>
          <p:cNvPicPr/>
          <p:nvPr/>
        </p:nvPicPr>
        <p:blipFill>
          <a:blip r:embed="rId3" cstate="print"/>
          <a:stretch>
            <a:fillRect/>
          </a:stretch>
        </p:blipFill>
        <p:spPr>
          <a:xfrm>
            <a:off x="6286512" y="1857364"/>
            <a:ext cx="1606408" cy="1933571"/>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Function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Stand-up function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style of function is generally used for:</a:t>
            </a:r>
          </a:p>
          <a:p>
            <a:pPr>
              <a:spcBef>
                <a:spcPts val="600"/>
              </a:spcBef>
              <a:spcAft>
                <a:spcPts val="1200"/>
              </a:spcAft>
            </a:pPr>
            <a:r>
              <a:rPr lang="en-AU" sz="2200" dirty="0" smtClean="0">
                <a:latin typeface="Helvetica" pitchFamily="34" charset="0"/>
              </a:rPr>
              <a:t>Cocktail parties</a:t>
            </a:r>
          </a:p>
          <a:p>
            <a:pPr>
              <a:spcBef>
                <a:spcPts val="600"/>
              </a:spcBef>
              <a:spcAft>
                <a:spcPts val="1200"/>
              </a:spcAft>
            </a:pPr>
            <a:r>
              <a:rPr lang="en-AU" sz="2200" dirty="0" smtClean="0">
                <a:latin typeface="Helvetica" pitchFamily="34" charset="0"/>
              </a:rPr>
              <a:t>General parties</a:t>
            </a:r>
          </a:p>
          <a:p>
            <a:pPr>
              <a:spcBef>
                <a:spcPts val="600"/>
              </a:spcBef>
              <a:spcAft>
                <a:spcPts val="1200"/>
              </a:spcAft>
            </a:pPr>
            <a:r>
              <a:rPr lang="en-AU" sz="2200" dirty="0" smtClean="0">
                <a:latin typeface="Helvetica" pitchFamily="34" charset="0"/>
              </a:rPr>
              <a:t>Lunches that are part of a conference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5" name="Picture 4" descr="MP900432969.JPG"/>
          <p:cNvPicPr>
            <a:picLocks noChangeAspect="1"/>
          </p:cNvPicPr>
          <p:nvPr/>
        </p:nvPicPr>
        <p:blipFill>
          <a:blip r:embed="rId3" cstate="print"/>
          <a:srcRect b="9426"/>
          <a:stretch>
            <a:fillRect/>
          </a:stretch>
        </p:blipFill>
        <p:spPr>
          <a:xfrm>
            <a:off x="6643702" y="2143116"/>
            <a:ext cx="1527048" cy="2071702"/>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Sit down function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style of function is generally used for: </a:t>
            </a:r>
          </a:p>
          <a:p>
            <a:pPr>
              <a:spcBef>
                <a:spcPts val="600"/>
              </a:spcBef>
              <a:spcAft>
                <a:spcPts val="1200"/>
              </a:spcAft>
            </a:pPr>
            <a:r>
              <a:rPr lang="en-AU" sz="2200" dirty="0" smtClean="0">
                <a:latin typeface="Helvetica" pitchFamily="34" charset="0"/>
              </a:rPr>
              <a:t>Weddings </a:t>
            </a:r>
          </a:p>
          <a:p>
            <a:pPr>
              <a:spcBef>
                <a:spcPts val="600"/>
              </a:spcBef>
              <a:spcAft>
                <a:spcPts val="1200"/>
              </a:spcAft>
            </a:pPr>
            <a:r>
              <a:rPr lang="en-AU" sz="2200" dirty="0" smtClean="0">
                <a:latin typeface="Helvetica" pitchFamily="34" charset="0"/>
              </a:rPr>
              <a:t>Formal dinners</a:t>
            </a:r>
          </a:p>
          <a:p>
            <a:pPr>
              <a:spcBef>
                <a:spcPts val="600"/>
              </a:spcBef>
              <a:spcAft>
                <a:spcPts val="1200"/>
              </a:spcAft>
            </a:pPr>
            <a:r>
              <a:rPr lang="en-AU" sz="2200" dirty="0" smtClean="0">
                <a:latin typeface="Helvetica" pitchFamily="34" charset="0"/>
              </a:rPr>
              <a:t>Banquets </a:t>
            </a:r>
          </a:p>
          <a:p>
            <a:pPr>
              <a:spcBef>
                <a:spcPts val="600"/>
              </a:spcBef>
              <a:spcAft>
                <a:spcPts val="1200"/>
              </a:spcAft>
            </a:pPr>
            <a:r>
              <a:rPr lang="en-AU" sz="2200" dirty="0" smtClean="0">
                <a:latin typeface="Helvetica" pitchFamily="34" charset="0"/>
              </a:rPr>
              <a:t>Presentations </a:t>
            </a:r>
          </a:p>
          <a:p>
            <a:pPr>
              <a:spcBef>
                <a:spcPts val="600"/>
              </a:spcBef>
              <a:spcAft>
                <a:spcPts val="1200"/>
              </a:spcAft>
            </a:pPr>
            <a:r>
              <a:rPr lang="en-AU" sz="2200" dirty="0" smtClean="0">
                <a:latin typeface="Helvetica" pitchFamily="34" charset="0"/>
              </a:rPr>
              <a:t>Dinners for conferences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 name="Picture 5" descr="7980149679_15bb2598b9_m.jpg"/>
          <p:cNvPicPr/>
          <p:nvPr/>
        </p:nvPicPr>
        <p:blipFill>
          <a:blip r:embed="rId3" cstate="print"/>
          <a:stretch>
            <a:fillRect/>
          </a:stretch>
        </p:blipFill>
        <p:spPr>
          <a:xfrm>
            <a:off x="5500694" y="2928934"/>
            <a:ext cx="2181225" cy="144780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set up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Meetings </a:t>
            </a:r>
            <a:endParaRPr lang="en-AU" sz="2200" dirty="0" smtClean="0">
              <a:latin typeface="Helvetica" pitchFamily="34" charset="0"/>
            </a:endParaRPr>
          </a:p>
          <a:p>
            <a:pPr marL="0">
              <a:spcBef>
                <a:spcPts val="600"/>
              </a:spcBef>
              <a:spcAft>
                <a:spcPts val="1200"/>
              </a:spcAft>
            </a:pPr>
            <a:r>
              <a:rPr lang="en-AU" sz="2200" dirty="0" smtClean="0">
                <a:latin typeface="Helvetica" pitchFamily="34" charset="0"/>
              </a:rPr>
              <a:t>Theatre style</a:t>
            </a:r>
          </a:p>
          <a:p>
            <a:pPr marL="0">
              <a:spcBef>
                <a:spcPts val="600"/>
              </a:spcBef>
              <a:spcAft>
                <a:spcPts val="1200"/>
              </a:spcAft>
            </a:pPr>
            <a:r>
              <a:rPr lang="en-AU" sz="2200" dirty="0" smtClean="0">
                <a:latin typeface="Helvetica" pitchFamily="34" charset="0"/>
              </a:rPr>
              <a:t>Boardroom style</a:t>
            </a:r>
          </a:p>
          <a:p>
            <a:pPr marL="0">
              <a:spcBef>
                <a:spcPts val="600"/>
              </a:spcBef>
              <a:spcAft>
                <a:spcPts val="1200"/>
              </a:spcAft>
            </a:pPr>
            <a:r>
              <a:rPr lang="en-AU" sz="2200" dirty="0" smtClean="0">
                <a:latin typeface="Helvetica" pitchFamily="34" charset="0"/>
              </a:rPr>
              <a:t>Hollow square</a:t>
            </a:r>
          </a:p>
          <a:p>
            <a:pPr marL="0">
              <a:spcBef>
                <a:spcPts val="600"/>
              </a:spcBef>
              <a:spcAft>
                <a:spcPts val="1200"/>
              </a:spcAft>
            </a:pPr>
            <a:r>
              <a:rPr lang="en-AU" sz="2200" dirty="0" smtClean="0">
                <a:latin typeface="Helvetica" pitchFamily="34" charset="0"/>
              </a:rPr>
              <a:t>Classroom style</a:t>
            </a:r>
          </a:p>
          <a:p>
            <a:pPr marL="0">
              <a:spcBef>
                <a:spcPts val="600"/>
              </a:spcBef>
              <a:spcAft>
                <a:spcPts val="1200"/>
              </a:spcAft>
            </a:pPr>
            <a:r>
              <a:rPr lang="en-AU" sz="2200" dirty="0" smtClean="0">
                <a:latin typeface="Helvetica" pitchFamily="34" charset="0"/>
              </a:rPr>
              <a:t>Banquet style</a:t>
            </a:r>
          </a:p>
          <a:p>
            <a:pPr marL="0">
              <a:spcBef>
                <a:spcPts val="600"/>
              </a:spcBef>
              <a:spcAft>
                <a:spcPts val="1200"/>
              </a:spcAft>
            </a:pPr>
            <a:r>
              <a:rPr lang="en-AU" sz="2200" dirty="0" smtClean="0">
                <a:latin typeface="Helvetica" pitchFamily="34" charset="0"/>
              </a:rPr>
              <a:t>U Shape</a:t>
            </a:r>
          </a:p>
          <a:p>
            <a:pPr marL="0">
              <a:spcBef>
                <a:spcPts val="600"/>
              </a:spcBef>
              <a:spcAft>
                <a:spcPts val="1200"/>
              </a:spcAft>
            </a:pPr>
            <a:r>
              <a:rPr lang="en-AU" sz="2200" dirty="0" smtClean="0">
                <a:latin typeface="Helvetica" pitchFamily="34" charset="0"/>
              </a:rPr>
              <a:t>E-shape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MP900400285.JPG"/>
          <p:cNvPicPr/>
          <p:nvPr/>
        </p:nvPicPr>
        <p:blipFill>
          <a:blip r:embed="rId3" cstate="print"/>
          <a:stretch>
            <a:fillRect/>
          </a:stretch>
        </p:blipFill>
        <p:spPr>
          <a:xfrm>
            <a:off x="5429256" y="2786058"/>
            <a:ext cx="2665095" cy="1781175"/>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Key stakeholders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03367"/>
            <a:ext cx="7467600" cy="4525963"/>
          </a:xfrm>
        </p:spPr>
        <p:txBody>
          <a:bodyPr>
            <a:noAutofit/>
          </a:bodyPr>
          <a:lstStyle/>
          <a:p>
            <a:pPr>
              <a:spcBef>
                <a:spcPts val="600"/>
              </a:spcBef>
              <a:spcAft>
                <a:spcPts val="600"/>
              </a:spcAft>
              <a:buNone/>
            </a:pPr>
            <a:r>
              <a:rPr lang="en-AU" sz="2100" b="1" dirty="0" smtClean="0">
                <a:latin typeface="Helvetica" pitchFamily="34" charset="0"/>
              </a:rPr>
              <a:t>Identification of key stakeholders </a:t>
            </a:r>
            <a:endParaRPr lang="en-AU" sz="2100" dirty="0" smtClean="0">
              <a:latin typeface="Helvetica" pitchFamily="34" charset="0"/>
            </a:endParaRPr>
          </a:p>
          <a:p>
            <a:pPr lvl="0">
              <a:spcBef>
                <a:spcPts val="600"/>
              </a:spcBef>
              <a:spcAft>
                <a:spcPts val="600"/>
              </a:spcAft>
            </a:pPr>
            <a:r>
              <a:rPr lang="en-AU" sz="2100" dirty="0" smtClean="0">
                <a:latin typeface="Helvetica" pitchFamily="34" charset="0"/>
              </a:rPr>
              <a:t>Event principal</a:t>
            </a:r>
          </a:p>
          <a:p>
            <a:pPr lvl="0">
              <a:spcBef>
                <a:spcPts val="600"/>
              </a:spcBef>
              <a:spcAft>
                <a:spcPts val="600"/>
              </a:spcAft>
            </a:pPr>
            <a:r>
              <a:rPr lang="en-AU" sz="2100" dirty="0" smtClean="0">
                <a:latin typeface="Helvetica" pitchFamily="34" charset="0"/>
              </a:rPr>
              <a:t>Local community</a:t>
            </a:r>
          </a:p>
          <a:p>
            <a:pPr lvl="0">
              <a:spcBef>
                <a:spcPts val="600"/>
              </a:spcBef>
              <a:spcAft>
                <a:spcPts val="600"/>
              </a:spcAft>
            </a:pPr>
            <a:r>
              <a:rPr lang="en-AU" sz="2100" dirty="0" smtClean="0">
                <a:latin typeface="Helvetica" pitchFamily="34" charset="0"/>
              </a:rPr>
              <a:t>Organising committees</a:t>
            </a:r>
          </a:p>
          <a:p>
            <a:pPr lvl="0">
              <a:spcBef>
                <a:spcPts val="600"/>
              </a:spcBef>
              <a:spcAft>
                <a:spcPts val="600"/>
              </a:spcAft>
            </a:pPr>
            <a:r>
              <a:rPr lang="en-AU" sz="2100" dirty="0" smtClean="0">
                <a:latin typeface="Helvetica" pitchFamily="34" charset="0"/>
              </a:rPr>
              <a:t>Local authorities including police and fire</a:t>
            </a:r>
          </a:p>
          <a:p>
            <a:pPr lvl="0">
              <a:spcBef>
                <a:spcPts val="600"/>
              </a:spcBef>
              <a:spcAft>
                <a:spcPts val="600"/>
              </a:spcAft>
            </a:pPr>
            <a:r>
              <a:rPr lang="en-AU" sz="2100" dirty="0" smtClean="0">
                <a:latin typeface="Helvetica" pitchFamily="34" charset="0"/>
              </a:rPr>
              <a:t>Internal event staff</a:t>
            </a:r>
          </a:p>
          <a:p>
            <a:pPr lvl="0">
              <a:spcBef>
                <a:spcPts val="600"/>
              </a:spcBef>
              <a:spcAft>
                <a:spcPts val="600"/>
              </a:spcAft>
            </a:pPr>
            <a:r>
              <a:rPr lang="en-AU" sz="2100" dirty="0" smtClean="0">
                <a:latin typeface="Helvetica" pitchFamily="34" charset="0"/>
              </a:rPr>
              <a:t>External contractors </a:t>
            </a:r>
          </a:p>
          <a:p>
            <a:pPr lvl="0">
              <a:spcBef>
                <a:spcPts val="600"/>
              </a:spcBef>
              <a:spcAft>
                <a:spcPts val="600"/>
              </a:spcAft>
            </a:pPr>
            <a:r>
              <a:rPr lang="en-AU" sz="2100" dirty="0" smtClean="0">
                <a:latin typeface="Helvetica" pitchFamily="34" charset="0"/>
              </a:rPr>
              <a:t>Entertainers</a:t>
            </a:r>
          </a:p>
          <a:p>
            <a:pPr lvl="0">
              <a:spcBef>
                <a:spcPts val="600"/>
              </a:spcBef>
              <a:spcAft>
                <a:spcPts val="600"/>
              </a:spcAft>
            </a:pPr>
            <a:r>
              <a:rPr lang="en-AU" sz="2100" dirty="0" smtClean="0">
                <a:latin typeface="Helvetica" pitchFamily="34" charset="0"/>
              </a:rPr>
              <a:t>Talent</a:t>
            </a:r>
          </a:p>
          <a:p>
            <a:pPr lvl="0">
              <a:spcBef>
                <a:spcPts val="600"/>
              </a:spcBef>
              <a:spcAft>
                <a:spcPts val="600"/>
              </a:spcAft>
            </a:pPr>
            <a:r>
              <a:rPr lang="en-AU" sz="2100" dirty="0" smtClean="0">
                <a:latin typeface="Helvetica" pitchFamily="34" charset="0"/>
              </a:rPr>
              <a:t>Staff from host businesses</a:t>
            </a: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2050" name="Picture 2" descr="C:\Documents and Settings\danielc\Local Settings\Temporary Internet Files\Content.IE5\UMECW9PM\MC900071106[1].wmf"/>
          <p:cNvPicPr>
            <a:picLocks noChangeAspect="1" noChangeArrowheads="1"/>
          </p:cNvPicPr>
          <p:nvPr/>
        </p:nvPicPr>
        <p:blipFill>
          <a:blip r:embed="rId3" cstate="print"/>
          <a:srcRect/>
          <a:stretch>
            <a:fillRect/>
          </a:stretch>
        </p:blipFill>
        <p:spPr bwMode="auto">
          <a:xfrm>
            <a:off x="6286197" y="1714488"/>
            <a:ext cx="1641539" cy="1500198"/>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a:t>
            </a:r>
            <a:r>
              <a:rPr lang="en-AU" sz="3400" b="1" dirty="0" smtClean="0">
                <a:solidFill>
                  <a:srgbClr val="FF6600"/>
                </a:solidFill>
                <a:latin typeface="Helvetica" pitchFamily="34" charset="0"/>
              </a:rPr>
              <a:t>iaison and management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Event liaison and management structure</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It is vital to confirm:</a:t>
            </a:r>
          </a:p>
          <a:p>
            <a:pPr lvl="0">
              <a:spcBef>
                <a:spcPts val="600"/>
              </a:spcBef>
              <a:spcAft>
                <a:spcPts val="1200"/>
              </a:spcAft>
            </a:pPr>
            <a:r>
              <a:rPr lang="en-AU" sz="2200" dirty="0" smtClean="0">
                <a:latin typeface="Helvetica" pitchFamily="34" charset="0"/>
              </a:rPr>
              <a:t>Event liaison </a:t>
            </a:r>
          </a:p>
          <a:p>
            <a:pPr lvl="0">
              <a:spcBef>
                <a:spcPts val="600"/>
              </a:spcBef>
              <a:spcAft>
                <a:spcPts val="1200"/>
              </a:spcAft>
            </a:pPr>
            <a:r>
              <a:rPr lang="en-AU" sz="2200" dirty="0" smtClean="0">
                <a:latin typeface="Helvetica" pitchFamily="34" charset="0"/>
              </a:rPr>
              <a:t>Management structure </a:t>
            </a:r>
          </a:p>
          <a:p>
            <a:pPr lvl="0">
              <a:spcBef>
                <a:spcPts val="600"/>
              </a:spcBef>
              <a:spcAft>
                <a:spcPts val="1200"/>
              </a:spcAft>
            </a:pPr>
            <a:r>
              <a:rPr lang="en-AU" sz="2200" dirty="0" smtClean="0">
                <a:latin typeface="Helvetica" pitchFamily="34" charset="0"/>
              </a:rPr>
              <a:t>Lines of authority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6" name="Picture 5" descr="MP900316785[1].JPG"/>
          <p:cNvPicPr/>
          <p:nvPr/>
        </p:nvPicPr>
        <p:blipFill>
          <a:blip r:embed="rId3" cstate="print"/>
          <a:stretch>
            <a:fillRect/>
          </a:stretch>
        </p:blipFill>
        <p:spPr>
          <a:xfrm>
            <a:off x="6143636" y="2643182"/>
            <a:ext cx="1944216" cy="129614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options for events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Some clients have extensive experience with planning an event and many do not. Some clients will expect you to assist them in developing and planning their event, and others will not. </a:t>
            </a:r>
          </a:p>
          <a:p>
            <a:pPr>
              <a:spcBef>
                <a:spcPts val="600"/>
              </a:spcBef>
              <a:spcAft>
                <a:spcPts val="1200"/>
              </a:spcAft>
            </a:pPr>
            <a:r>
              <a:rPr lang="en-AU" sz="2200" dirty="0" smtClean="0">
                <a:latin typeface="Helvetica" pitchFamily="34" charset="0"/>
              </a:rPr>
              <a:t>How do you identify if the client needs </a:t>
            </a:r>
            <a:br>
              <a:rPr lang="en-AU" sz="2200" dirty="0" smtClean="0">
                <a:latin typeface="Helvetica" pitchFamily="34" charset="0"/>
              </a:rPr>
            </a:br>
            <a:r>
              <a:rPr lang="en-AU" sz="2200" dirty="0" smtClean="0">
                <a:latin typeface="Helvetica" pitchFamily="34" charset="0"/>
              </a:rPr>
              <a:t>planning assistance? </a:t>
            </a:r>
          </a:p>
          <a:p>
            <a:pPr>
              <a:spcBef>
                <a:spcPts val="600"/>
              </a:spcBef>
              <a:spcAft>
                <a:spcPts val="1200"/>
              </a:spcAft>
            </a:pPr>
            <a:r>
              <a:rPr lang="en-AU" sz="2200" dirty="0" smtClean="0">
                <a:latin typeface="Helvetica" pitchFamily="34" charset="0"/>
              </a:rPr>
              <a:t>Who can provide advice and suggestions?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3074" name="Picture 2" descr="C:\Documents and Settings\danielc\Local Settings\Temporary Internet Files\Content.IE5\V9A2RTT8\MC910217008[1].png"/>
          <p:cNvPicPr>
            <a:picLocks noChangeAspect="1" noChangeArrowheads="1"/>
          </p:cNvPicPr>
          <p:nvPr/>
        </p:nvPicPr>
        <p:blipFill>
          <a:blip r:embed="rId3" cstate="print"/>
          <a:srcRect/>
          <a:stretch>
            <a:fillRect/>
          </a:stretch>
        </p:blipFill>
        <p:spPr bwMode="auto">
          <a:xfrm>
            <a:off x="6857992" y="2857496"/>
            <a:ext cx="1571636" cy="1571636"/>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event brief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pPr>
            <a:r>
              <a:rPr lang="en-AU" sz="2200" dirty="0" smtClean="0">
                <a:latin typeface="Helvetica" pitchFamily="34" charset="0"/>
              </a:rPr>
              <a:t>Once the event organiser has had an initial meeting with the client, they will now be able to prepare an event brief, in which to base their proposal and quotation of prices</a:t>
            </a:r>
          </a:p>
          <a:p>
            <a:pPr>
              <a:spcBef>
                <a:spcPts val="600"/>
              </a:spcBef>
              <a:spcAft>
                <a:spcPts val="1200"/>
              </a:spcAft>
            </a:pPr>
            <a:r>
              <a:rPr lang="en-AU" sz="2200" dirty="0" smtClean="0">
                <a:latin typeface="Helvetica" pitchFamily="34" charset="0"/>
              </a:rPr>
              <a:t>An event brief is the template which contains all necessary information relating to a catered event of function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6" name="Picture 5" descr="MP900443367[1].JPG"/>
          <p:cNvPicPr>
            <a:picLocks noChangeAspect="1"/>
          </p:cNvPicPr>
          <p:nvPr/>
        </p:nvPicPr>
        <p:blipFill>
          <a:blip r:embed="rId3" cstate="print"/>
          <a:stretch>
            <a:fillRect/>
          </a:stretch>
        </p:blipFill>
        <p:spPr>
          <a:xfrm>
            <a:off x="3929058" y="4357694"/>
            <a:ext cx="1225916" cy="1767699"/>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Contents of an event brief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lvl="0">
              <a:spcBef>
                <a:spcPts val="600"/>
              </a:spcBef>
              <a:spcAft>
                <a:spcPts val="1200"/>
              </a:spcAft>
            </a:pPr>
            <a:r>
              <a:rPr lang="en-AU" sz="2200" dirty="0" smtClean="0">
                <a:latin typeface="Helvetica" pitchFamily="34" charset="0"/>
              </a:rPr>
              <a:t>Agreed event details</a:t>
            </a:r>
          </a:p>
          <a:p>
            <a:pPr lvl="0">
              <a:spcBef>
                <a:spcPts val="600"/>
              </a:spcBef>
              <a:spcAft>
                <a:spcPts val="1200"/>
              </a:spcAft>
            </a:pPr>
            <a:r>
              <a:rPr lang="en-AU" sz="2200" dirty="0" smtClean="0">
                <a:latin typeface="Helvetica" pitchFamily="34" charset="0"/>
              </a:rPr>
              <a:t>Identification of stakeholders </a:t>
            </a:r>
          </a:p>
          <a:p>
            <a:pPr lvl="0">
              <a:spcBef>
                <a:spcPts val="600"/>
              </a:spcBef>
              <a:spcAft>
                <a:spcPts val="1200"/>
              </a:spcAft>
            </a:pPr>
            <a:r>
              <a:rPr lang="en-AU" sz="2200" dirty="0" smtClean="0">
                <a:latin typeface="Helvetica" pitchFamily="34" charset="0"/>
              </a:rPr>
              <a:t>Allocation of responsibilities and setting of </a:t>
            </a:r>
            <a:br>
              <a:rPr lang="en-AU" sz="2200" dirty="0" smtClean="0">
                <a:latin typeface="Helvetica" pitchFamily="34" charset="0"/>
              </a:rPr>
            </a:br>
            <a:r>
              <a:rPr lang="en-AU" sz="2200" dirty="0" smtClean="0">
                <a:latin typeface="Helvetica" pitchFamily="34" charset="0"/>
              </a:rPr>
              <a:t>milestones and task completion dates</a:t>
            </a:r>
          </a:p>
          <a:p>
            <a:pPr lvl="0">
              <a:spcBef>
                <a:spcPts val="600"/>
              </a:spcBef>
              <a:spcAft>
                <a:spcPts val="1200"/>
              </a:spcAft>
            </a:pPr>
            <a:r>
              <a:rPr lang="en-AU" sz="2200" dirty="0" smtClean="0">
                <a:latin typeface="Helvetica" pitchFamily="34" charset="0"/>
              </a:rPr>
              <a:t>Type of function </a:t>
            </a:r>
          </a:p>
          <a:p>
            <a:pPr lvl="0">
              <a:spcBef>
                <a:spcPts val="600"/>
              </a:spcBef>
              <a:spcAft>
                <a:spcPts val="1200"/>
              </a:spcAft>
            </a:pPr>
            <a:r>
              <a:rPr lang="en-AU" sz="2200" dirty="0" smtClean="0">
                <a:latin typeface="Helvetica" pitchFamily="34" charset="0"/>
              </a:rPr>
              <a:t>Name, address, and contact number of client </a:t>
            </a:r>
          </a:p>
          <a:p>
            <a:pPr lvl="0">
              <a:spcBef>
                <a:spcPts val="600"/>
              </a:spcBef>
              <a:spcAft>
                <a:spcPts val="1200"/>
              </a:spcAft>
            </a:pPr>
            <a:r>
              <a:rPr lang="en-AU" sz="2200" dirty="0" smtClean="0">
                <a:latin typeface="Helvetica" pitchFamily="34" charset="0"/>
              </a:rPr>
              <a:t>Day, date and time of the function </a:t>
            </a:r>
          </a:p>
          <a:p>
            <a:pPr lvl="0">
              <a:spcBef>
                <a:spcPts val="600"/>
              </a:spcBef>
              <a:spcAft>
                <a:spcPts val="1200"/>
              </a:spcAft>
            </a:pPr>
            <a:r>
              <a:rPr lang="en-AU" sz="2200" dirty="0" smtClean="0">
                <a:latin typeface="Helvetica" pitchFamily="34" charset="0"/>
              </a:rPr>
              <a:t>Rooms and locations </a:t>
            </a:r>
          </a:p>
          <a:p>
            <a:pPr lvl="0">
              <a:spcBef>
                <a:spcPts val="600"/>
              </a:spcBef>
              <a:spcAft>
                <a:spcPts val="1200"/>
              </a:spcAft>
            </a:pPr>
            <a:r>
              <a:rPr lang="en-AU" sz="2200" dirty="0" smtClean="0">
                <a:latin typeface="Helvetica" pitchFamily="34" charset="0"/>
              </a:rPr>
              <a:t>Costings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7" name="Picture 6" descr="289120426_10a8b4da62_m.jpg"/>
          <p:cNvPicPr>
            <a:picLocks noChangeAspect="1"/>
          </p:cNvPicPr>
          <p:nvPr/>
        </p:nvPicPr>
        <p:blipFill>
          <a:blip r:embed="rId3" cstate="print"/>
          <a:stretch>
            <a:fillRect/>
          </a:stretch>
        </p:blipFill>
        <p:spPr>
          <a:xfrm>
            <a:off x="6715140" y="2571744"/>
            <a:ext cx="1668016" cy="1251012"/>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Contents of an event brief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lvl="0">
              <a:spcBef>
                <a:spcPts val="600"/>
              </a:spcBef>
              <a:spcAft>
                <a:spcPts val="1200"/>
              </a:spcAft>
            </a:pPr>
            <a:r>
              <a:rPr lang="en-AU" sz="2200" dirty="0" smtClean="0">
                <a:latin typeface="Helvetica" pitchFamily="34" charset="0"/>
              </a:rPr>
              <a:t>Billing instructions </a:t>
            </a:r>
          </a:p>
          <a:p>
            <a:pPr lvl="0">
              <a:spcBef>
                <a:spcPts val="600"/>
              </a:spcBef>
              <a:spcAft>
                <a:spcPts val="1200"/>
              </a:spcAft>
            </a:pPr>
            <a:r>
              <a:rPr lang="en-AU" sz="2200" dirty="0" smtClean="0">
                <a:latin typeface="Helvetica" pitchFamily="34" charset="0"/>
              </a:rPr>
              <a:t>Menu </a:t>
            </a:r>
          </a:p>
          <a:p>
            <a:pPr lvl="0">
              <a:spcBef>
                <a:spcPts val="600"/>
              </a:spcBef>
              <a:spcAft>
                <a:spcPts val="1200"/>
              </a:spcAft>
            </a:pPr>
            <a:r>
              <a:rPr lang="en-AU" sz="2200" dirty="0" smtClean="0">
                <a:latin typeface="Helvetica" pitchFamily="34" charset="0"/>
              </a:rPr>
              <a:t>Beverage arrangements </a:t>
            </a:r>
          </a:p>
          <a:p>
            <a:pPr lvl="0">
              <a:spcBef>
                <a:spcPts val="600"/>
              </a:spcBef>
              <a:spcAft>
                <a:spcPts val="1200"/>
              </a:spcAft>
            </a:pPr>
            <a:r>
              <a:rPr lang="en-AU" sz="2200" dirty="0" smtClean="0">
                <a:latin typeface="Helvetica" pitchFamily="34" charset="0"/>
              </a:rPr>
              <a:t>Sequence of service </a:t>
            </a:r>
          </a:p>
          <a:p>
            <a:pPr lvl="0">
              <a:spcBef>
                <a:spcPts val="600"/>
              </a:spcBef>
              <a:spcAft>
                <a:spcPts val="1200"/>
              </a:spcAft>
            </a:pPr>
            <a:r>
              <a:rPr lang="en-AU" sz="2200" dirty="0" smtClean="0">
                <a:latin typeface="Helvetica" pitchFamily="34" charset="0"/>
              </a:rPr>
              <a:t>Entertainment </a:t>
            </a:r>
          </a:p>
          <a:p>
            <a:pPr lvl="0">
              <a:spcBef>
                <a:spcPts val="600"/>
              </a:spcBef>
              <a:spcAft>
                <a:spcPts val="1200"/>
              </a:spcAft>
            </a:pPr>
            <a:r>
              <a:rPr lang="en-AU" sz="2200" dirty="0" smtClean="0">
                <a:latin typeface="Helvetica" pitchFamily="34" charset="0"/>
              </a:rPr>
              <a:t>Room set up </a:t>
            </a:r>
          </a:p>
          <a:p>
            <a:pPr lvl="0">
              <a:spcBef>
                <a:spcPts val="600"/>
              </a:spcBef>
              <a:spcAft>
                <a:spcPts val="1200"/>
              </a:spcAft>
            </a:pPr>
            <a:r>
              <a:rPr lang="en-AU" sz="2200" dirty="0" smtClean="0">
                <a:latin typeface="Helvetica" pitchFamily="34" charset="0"/>
              </a:rPr>
              <a:t>Type of service</a:t>
            </a:r>
          </a:p>
          <a:p>
            <a:pPr>
              <a:spcBef>
                <a:spcPts val="600"/>
              </a:spcBef>
              <a:spcAft>
                <a:spcPts val="1200"/>
              </a:spcAft>
            </a:pPr>
            <a:r>
              <a:rPr lang="en-AU" sz="2200" dirty="0" smtClean="0">
                <a:latin typeface="Helvetica" pitchFamily="34" charset="0"/>
              </a:rPr>
              <a:t>Special requirements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4" descr="MP900423637.JPG"/>
          <p:cNvPicPr/>
          <p:nvPr/>
        </p:nvPicPr>
        <p:blipFill>
          <a:blip r:embed="rId3" cstate="print"/>
          <a:stretch>
            <a:fillRect/>
          </a:stretch>
        </p:blipFill>
        <p:spPr>
          <a:xfrm>
            <a:off x="6215074" y="2428868"/>
            <a:ext cx="1428750" cy="175260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Provide proposal to client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0"/>
              </a:spcBef>
              <a:buNone/>
            </a:pPr>
            <a:r>
              <a:rPr lang="en-AU" sz="2200" dirty="0" smtClean="0">
                <a:latin typeface="Helvetica" pitchFamily="34" charset="0"/>
              </a:rPr>
              <a:t>All potential clients will need to be supplied with a proposal for their function before they commit to booking it and paying a deposit. </a:t>
            </a:r>
          </a:p>
          <a:p>
            <a:endParaRPr lang="en-AU" sz="2200" dirty="0" smtClean="0">
              <a:latin typeface="Helvetica" pitchFamily="34" charset="0"/>
            </a:endParaRPr>
          </a:p>
          <a:p>
            <a:r>
              <a:rPr lang="en-AU" sz="2200" dirty="0" smtClean="0">
                <a:latin typeface="Helvetica" pitchFamily="34" charset="0"/>
              </a:rPr>
              <a:t>What should be included in a proposal?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8" name="Picture 7" descr="MP900422989[1].JPG"/>
          <p:cNvPicPr>
            <a:picLocks noChangeAspect="1"/>
          </p:cNvPicPr>
          <p:nvPr/>
        </p:nvPicPr>
        <p:blipFill>
          <a:blip r:embed="rId3" cstate="print"/>
          <a:stretch>
            <a:fillRect/>
          </a:stretch>
        </p:blipFill>
        <p:spPr>
          <a:xfrm>
            <a:off x="3714744" y="3857628"/>
            <a:ext cx="1672454" cy="2165099"/>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2:</a:t>
            </a:r>
          </a:p>
          <a:p>
            <a:pPr marL="0">
              <a:spcBef>
                <a:spcPts val="600"/>
              </a:spcBef>
              <a:spcAft>
                <a:spcPts val="1200"/>
              </a:spcAft>
              <a:buNone/>
            </a:pPr>
            <a:r>
              <a:rPr lang="en-AU" sz="4000" dirty="0" smtClean="0">
                <a:solidFill>
                  <a:srgbClr val="FF6600"/>
                </a:solidFill>
                <a:latin typeface="Helvetica" pitchFamily="34" charset="0"/>
              </a:rPr>
              <a:t>Determine event venue/location</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4098" name="Picture 2" descr="C:\Documents and Settings\danielc\Local Settings\Temporary Internet Files\Content.IE5\Y88G682L\MP900402402[1].jpg"/>
          <p:cNvPicPr>
            <a:picLocks noChangeAspect="1" noChangeArrowheads="1"/>
          </p:cNvPicPr>
          <p:nvPr/>
        </p:nvPicPr>
        <p:blipFill>
          <a:blip r:embed="rId3" cstate="print"/>
          <a:srcRect/>
          <a:stretch>
            <a:fillRect/>
          </a:stretch>
        </p:blipFill>
        <p:spPr bwMode="auto">
          <a:xfrm>
            <a:off x="3286116" y="3214686"/>
            <a:ext cx="2081784" cy="3121152"/>
          </a:xfrm>
          <a:prstGeom prst="rect">
            <a:avLst/>
          </a:prstGeom>
          <a:noFill/>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Determine event venue/location</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potential event venues and sites</a:t>
            </a:r>
          </a:p>
          <a:p>
            <a:pPr>
              <a:spcBef>
                <a:spcPts val="600"/>
              </a:spcBef>
              <a:spcAft>
                <a:spcPts val="1200"/>
              </a:spcAft>
            </a:pPr>
            <a:r>
              <a:rPr lang="en-AU" sz="2200" dirty="0" smtClean="0">
                <a:latin typeface="Helvetica" pitchFamily="34" charset="0"/>
              </a:rPr>
              <a:t>Analyse alternative event venues and sites</a:t>
            </a:r>
          </a:p>
          <a:p>
            <a:pPr>
              <a:spcBef>
                <a:spcPts val="600"/>
              </a:spcBef>
              <a:spcAft>
                <a:spcPts val="1200"/>
              </a:spcAft>
            </a:pPr>
            <a:r>
              <a:rPr lang="en-AU" sz="2200" dirty="0" smtClean="0">
                <a:latin typeface="Helvetica" pitchFamily="34" charset="0"/>
              </a:rPr>
              <a:t>Select event venue/site</a:t>
            </a:r>
          </a:p>
          <a:p>
            <a:pPr>
              <a:spcBef>
                <a:spcPts val="600"/>
              </a:spcBef>
              <a:spcAft>
                <a:spcPts val="1200"/>
              </a:spcAft>
            </a:pPr>
            <a:r>
              <a:rPr lang="en-AU" sz="2200" dirty="0" smtClean="0">
                <a:latin typeface="Helvetica" pitchFamily="34" charset="0"/>
              </a:rPr>
              <a:t>Confirm arrangements for selected venue/site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143636" y="2071678"/>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500826" y="2643182"/>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071934" y="3214686"/>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858016" y="3786190"/>
            <a:ext cx="399154" cy="527046"/>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potential venues and sites</a:t>
            </a:r>
          </a:p>
        </p:txBody>
      </p:sp>
      <p:sp>
        <p:nvSpPr>
          <p:cNvPr id="3" name="Content Placeholder 2"/>
          <p:cNvSpPr>
            <a:spLocks noGrp="1"/>
          </p:cNvSpPr>
          <p:nvPr>
            <p:ph idx="1"/>
          </p:nvPr>
        </p:nvSpPr>
        <p:spPr>
          <a:xfrm>
            <a:off x="611560" y="1556792"/>
            <a:ext cx="7467600" cy="4896544"/>
          </a:xfrm>
        </p:spPr>
        <p:txBody>
          <a:bodyPr>
            <a:normAutofit lnSpcReduction="10000"/>
          </a:bodyPr>
          <a:lstStyle/>
          <a:p>
            <a:pPr>
              <a:spcBef>
                <a:spcPts val="600"/>
              </a:spcBef>
              <a:spcAft>
                <a:spcPts val="600"/>
              </a:spcAft>
              <a:buNone/>
            </a:pPr>
            <a:r>
              <a:rPr lang="en-AU" sz="2200" b="1" dirty="0" smtClean="0">
                <a:latin typeface="Helvetica" pitchFamily="34" charset="0"/>
              </a:rPr>
              <a:t>Venue / location considerations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Location in relation to office, public transport or potential audience </a:t>
            </a:r>
          </a:p>
          <a:p>
            <a:pPr lvl="0">
              <a:spcBef>
                <a:spcPts val="600"/>
              </a:spcBef>
              <a:spcAft>
                <a:spcPts val="600"/>
              </a:spcAft>
            </a:pPr>
            <a:r>
              <a:rPr lang="en-AU" sz="2200" dirty="0" smtClean="0">
                <a:latin typeface="Helvetica" pitchFamily="34" charset="0"/>
              </a:rPr>
              <a:t>Indoor / outdoor location</a:t>
            </a:r>
          </a:p>
          <a:p>
            <a:pPr lvl="0">
              <a:spcBef>
                <a:spcPts val="600"/>
              </a:spcBef>
              <a:spcAft>
                <a:spcPts val="600"/>
              </a:spcAft>
            </a:pPr>
            <a:r>
              <a:rPr lang="en-AU" sz="2200" dirty="0" smtClean="0">
                <a:latin typeface="Helvetica" pitchFamily="34" charset="0"/>
              </a:rPr>
              <a:t>Venue quality or brand </a:t>
            </a:r>
          </a:p>
          <a:p>
            <a:pPr lvl="0">
              <a:spcBef>
                <a:spcPts val="600"/>
              </a:spcBef>
              <a:spcAft>
                <a:spcPts val="600"/>
              </a:spcAft>
            </a:pPr>
            <a:r>
              <a:rPr lang="en-AU" sz="2200" dirty="0" smtClean="0">
                <a:latin typeface="Helvetica" pitchFamily="34" charset="0"/>
              </a:rPr>
              <a:t>Space </a:t>
            </a:r>
          </a:p>
          <a:p>
            <a:pPr lvl="0">
              <a:spcBef>
                <a:spcPts val="600"/>
              </a:spcBef>
              <a:spcAft>
                <a:spcPts val="600"/>
              </a:spcAft>
            </a:pPr>
            <a:r>
              <a:rPr lang="en-AU" sz="2200" dirty="0" smtClean="0">
                <a:latin typeface="Helvetica" pitchFamily="34" charset="0"/>
              </a:rPr>
              <a:t>Reputation </a:t>
            </a:r>
          </a:p>
          <a:p>
            <a:pPr lvl="0">
              <a:spcBef>
                <a:spcPts val="600"/>
              </a:spcBef>
              <a:spcAft>
                <a:spcPts val="600"/>
              </a:spcAft>
            </a:pPr>
            <a:r>
              <a:rPr lang="en-AU" sz="2200" dirty="0" smtClean="0">
                <a:latin typeface="Helvetica" pitchFamily="34" charset="0"/>
              </a:rPr>
              <a:t>Aesthetic appeal </a:t>
            </a:r>
          </a:p>
          <a:p>
            <a:pPr lvl="0">
              <a:spcBef>
                <a:spcPts val="600"/>
              </a:spcBef>
              <a:spcAft>
                <a:spcPts val="600"/>
              </a:spcAft>
            </a:pPr>
            <a:r>
              <a:rPr lang="en-AU" sz="2200" dirty="0" smtClean="0">
                <a:latin typeface="Helvetica" pitchFamily="34" charset="0"/>
              </a:rPr>
              <a:t>Accommodation </a:t>
            </a:r>
          </a:p>
          <a:p>
            <a:pPr lvl="0">
              <a:spcBef>
                <a:spcPts val="600"/>
              </a:spcBef>
              <a:spcAft>
                <a:spcPts val="600"/>
              </a:spcAft>
            </a:pPr>
            <a:r>
              <a:rPr lang="en-AU" sz="2200" dirty="0" smtClean="0">
                <a:latin typeface="Helvetica" pitchFamily="34" charset="0"/>
              </a:rPr>
              <a:t>Venue facilities and services </a:t>
            </a:r>
          </a:p>
          <a:p>
            <a:pPr>
              <a:spcBef>
                <a:spcPts val="600"/>
              </a:spcBef>
              <a:spcAft>
                <a:spcPts val="600"/>
              </a:spcAft>
            </a:pPr>
            <a:r>
              <a:rPr lang="en-AU" sz="2200" dirty="0" smtClean="0">
                <a:latin typeface="Helvetica" pitchFamily="34" charset="0"/>
              </a:rPr>
              <a:t>Cost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4" descr="MP900438760[1].JPG"/>
          <p:cNvPicPr/>
          <p:nvPr/>
        </p:nvPicPr>
        <p:blipFill>
          <a:blip r:embed="rId3" cstate="print"/>
          <a:stretch>
            <a:fillRect/>
          </a:stretch>
        </p:blipFill>
        <p:spPr>
          <a:xfrm>
            <a:off x="5929322" y="3143248"/>
            <a:ext cx="2034902" cy="1311771"/>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potential venues and sites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Potential event locations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Hotels</a:t>
            </a:r>
          </a:p>
          <a:p>
            <a:pPr lvl="0">
              <a:spcBef>
                <a:spcPts val="600"/>
              </a:spcBef>
              <a:spcAft>
                <a:spcPts val="1200"/>
              </a:spcAft>
            </a:pPr>
            <a:r>
              <a:rPr lang="en-AU" sz="2200" dirty="0" smtClean="0">
                <a:latin typeface="Helvetica" pitchFamily="34" charset="0"/>
              </a:rPr>
              <a:t>Resorts</a:t>
            </a:r>
          </a:p>
          <a:p>
            <a:pPr lvl="0">
              <a:spcBef>
                <a:spcPts val="600"/>
              </a:spcBef>
              <a:spcAft>
                <a:spcPts val="1200"/>
              </a:spcAft>
            </a:pPr>
            <a:r>
              <a:rPr lang="en-AU" sz="2200" dirty="0" smtClean="0">
                <a:latin typeface="Helvetica" pitchFamily="34" charset="0"/>
              </a:rPr>
              <a:t>Restaurants</a:t>
            </a:r>
          </a:p>
          <a:p>
            <a:pPr lvl="0">
              <a:spcBef>
                <a:spcPts val="600"/>
              </a:spcBef>
              <a:spcAft>
                <a:spcPts val="1200"/>
              </a:spcAft>
            </a:pPr>
            <a:r>
              <a:rPr lang="en-AU" sz="2200" dirty="0" smtClean="0">
                <a:latin typeface="Helvetica" pitchFamily="34" charset="0"/>
              </a:rPr>
              <a:t>Homes for private functions</a:t>
            </a:r>
          </a:p>
          <a:p>
            <a:pPr lvl="0">
              <a:spcBef>
                <a:spcPts val="600"/>
              </a:spcBef>
              <a:spcAft>
                <a:spcPts val="1200"/>
              </a:spcAft>
            </a:pPr>
            <a:r>
              <a:rPr lang="en-AU" sz="2200" dirty="0" smtClean="0">
                <a:latin typeface="Helvetica" pitchFamily="34" charset="0"/>
              </a:rPr>
              <a:t>Schools, universities and other educational providers</a:t>
            </a:r>
          </a:p>
          <a:p>
            <a:pPr lvl="0">
              <a:spcBef>
                <a:spcPts val="600"/>
              </a:spcBef>
              <a:spcAft>
                <a:spcPts val="1200"/>
              </a:spcAft>
            </a:pPr>
            <a:r>
              <a:rPr lang="en-AU" sz="2200" dirty="0" smtClean="0">
                <a:latin typeface="Helvetica" pitchFamily="34" charset="0"/>
              </a:rPr>
              <a:t>Meetings rooms</a:t>
            </a:r>
          </a:p>
          <a:p>
            <a:pPr lvl="0">
              <a:spcBef>
                <a:spcPts val="600"/>
              </a:spcBef>
              <a:spcAft>
                <a:spcPts val="1200"/>
              </a:spcAft>
            </a:pPr>
            <a:r>
              <a:rPr lang="en-AU" sz="2200" dirty="0" smtClean="0">
                <a:latin typeface="Helvetica" pitchFamily="34" charset="0"/>
              </a:rPr>
              <a:t>Banquet rooms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5122" name="Picture 2" descr="C:\Documents and Settings\danielc\Local Settings\Temporary Internet Files\Content.IE5\3Y3SDCJX\MC900233081[1].wmf"/>
          <p:cNvPicPr>
            <a:picLocks noChangeAspect="1" noChangeArrowheads="1"/>
          </p:cNvPicPr>
          <p:nvPr/>
        </p:nvPicPr>
        <p:blipFill>
          <a:blip r:embed="rId3" cstate="print"/>
          <a:srcRect/>
          <a:stretch>
            <a:fillRect/>
          </a:stretch>
        </p:blipFill>
        <p:spPr bwMode="auto">
          <a:xfrm>
            <a:off x="6215074" y="2357430"/>
            <a:ext cx="1718923" cy="1740569"/>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potential venues and sites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Potential event locations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Convention halls</a:t>
            </a:r>
          </a:p>
          <a:p>
            <a:pPr lvl="0">
              <a:spcBef>
                <a:spcPts val="600"/>
              </a:spcBef>
              <a:spcAft>
                <a:spcPts val="1200"/>
              </a:spcAft>
            </a:pPr>
            <a:r>
              <a:rPr lang="en-AU" sz="2200" dirty="0" smtClean="0">
                <a:latin typeface="Helvetica" pitchFamily="34" charset="0"/>
              </a:rPr>
              <a:t>Exhibition centres</a:t>
            </a:r>
          </a:p>
          <a:p>
            <a:pPr lvl="0">
              <a:spcBef>
                <a:spcPts val="600"/>
              </a:spcBef>
              <a:spcAft>
                <a:spcPts val="1200"/>
              </a:spcAft>
            </a:pPr>
            <a:r>
              <a:rPr lang="en-AU" sz="2200" dirty="0" smtClean="0">
                <a:latin typeface="Helvetica" pitchFamily="34" charset="0"/>
              </a:rPr>
              <a:t>Reception wedding centres</a:t>
            </a:r>
          </a:p>
          <a:p>
            <a:pPr lvl="0">
              <a:spcBef>
                <a:spcPts val="600"/>
              </a:spcBef>
              <a:spcAft>
                <a:spcPts val="1200"/>
              </a:spcAft>
            </a:pPr>
            <a:r>
              <a:rPr lang="en-AU" sz="2200" dirty="0" smtClean="0">
                <a:latin typeface="Helvetica" pitchFamily="34" charset="0"/>
              </a:rPr>
              <a:t>Nature areas including open water, zoos, parks, wineries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6146" name="Picture 2" descr="C:\Documents and Settings\danielc\Local Settings\Temporary Internet Files\Content.IE5\Y88G682L\MP900049680[1].jpg"/>
          <p:cNvPicPr>
            <a:picLocks noChangeAspect="1" noChangeArrowheads="1"/>
          </p:cNvPicPr>
          <p:nvPr/>
        </p:nvPicPr>
        <p:blipFill>
          <a:blip r:embed="rId3" cstate="print"/>
          <a:srcRect/>
          <a:stretch>
            <a:fillRect/>
          </a:stretch>
        </p:blipFill>
        <p:spPr bwMode="auto">
          <a:xfrm>
            <a:off x="6215074" y="1500174"/>
            <a:ext cx="1466384" cy="2177798"/>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potential venues and sites</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Potential event locations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Transportation vehicles – including planes, yachts, cars, buses </a:t>
            </a:r>
          </a:p>
          <a:p>
            <a:pPr lvl="0">
              <a:spcBef>
                <a:spcPts val="600"/>
              </a:spcBef>
              <a:spcAft>
                <a:spcPts val="1200"/>
              </a:spcAft>
            </a:pPr>
            <a:r>
              <a:rPr lang="en-AU" sz="2200" dirty="0" smtClean="0">
                <a:latin typeface="Helvetica" pitchFamily="34" charset="0"/>
              </a:rPr>
              <a:t>Festivals</a:t>
            </a:r>
          </a:p>
          <a:p>
            <a:pPr lvl="0">
              <a:spcBef>
                <a:spcPts val="600"/>
              </a:spcBef>
              <a:spcAft>
                <a:spcPts val="1200"/>
              </a:spcAft>
            </a:pPr>
            <a:r>
              <a:rPr lang="en-AU" sz="2200" dirty="0" smtClean="0">
                <a:latin typeface="Helvetica" pitchFamily="34" charset="0"/>
              </a:rPr>
              <a:t>Sporting venues</a:t>
            </a:r>
          </a:p>
          <a:p>
            <a:pPr lvl="0">
              <a:spcBef>
                <a:spcPts val="600"/>
              </a:spcBef>
              <a:spcAft>
                <a:spcPts val="1200"/>
              </a:spcAft>
            </a:pPr>
            <a:r>
              <a:rPr lang="en-AU" sz="2200" dirty="0" smtClean="0">
                <a:latin typeface="Helvetica" pitchFamily="34" charset="0"/>
              </a:rPr>
              <a:t>Government buildings and civic centres</a:t>
            </a:r>
          </a:p>
          <a:p>
            <a:pPr>
              <a:spcBef>
                <a:spcPts val="600"/>
              </a:spcBef>
              <a:spcAft>
                <a:spcPts val="1200"/>
              </a:spcAft>
            </a:pPr>
            <a:r>
              <a:rPr lang="en-AU" sz="2200" dirty="0" smtClean="0">
                <a:latin typeface="Helvetica" pitchFamily="34" charset="0"/>
              </a:rPr>
              <a:t>Museums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6" name="Picture 5" descr="Boat.jpg"/>
          <p:cNvPicPr>
            <a:picLocks noChangeAspect="1"/>
          </p:cNvPicPr>
          <p:nvPr/>
        </p:nvPicPr>
        <p:blipFill>
          <a:blip r:embed="rId3" cstate="print"/>
          <a:stretch>
            <a:fillRect/>
          </a:stretch>
        </p:blipFill>
        <p:spPr>
          <a:xfrm>
            <a:off x="6429388" y="2786058"/>
            <a:ext cx="1943860" cy="1320047"/>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Analyse location options </a:t>
            </a:r>
          </a:p>
        </p:txBody>
      </p:sp>
      <p:sp>
        <p:nvSpPr>
          <p:cNvPr id="3" name="Content Placeholder 2"/>
          <p:cNvSpPr>
            <a:spLocks noGrp="1"/>
          </p:cNvSpPr>
          <p:nvPr>
            <p:ph idx="1"/>
          </p:nvPr>
        </p:nvSpPr>
        <p:spPr>
          <a:xfrm>
            <a:off x="611560" y="1556792"/>
            <a:ext cx="7467600" cy="4896544"/>
          </a:xfrm>
        </p:spPr>
        <p:txBody>
          <a:bodyPr>
            <a:normAutofit/>
          </a:bodyPr>
          <a:lstStyle/>
          <a:p>
            <a:pPr>
              <a:spcBef>
                <a:spcPts val="600"/>
              </a:spcBef>
              <a:spcAft>
                <a:spcPts val="1200"/>
              </a:spcAft>
              <a:buNone/>
            </a:pPr>
            <a:r>
              <a:rPr lang="en-AU" sz="2200" b="1" dirty="0" smtClean="0">
                <a:latin typeface="Helvetica" pitchFamily="34" charset="0"/>
              </a:rPr>
              <a:t>Analysing steps include: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Collect information</a:t>
            </a:r>
          </a:p>
          <a:p>
            <a:pPr>
              <a:spcBef>
                <a:spcPts val="600"/>
              </a:spcBef>
              <a:spcAft>
                <a:spcPts val="1200"/>
              </a:spcAft>
            </a:pPr>
            <a:r>
              <a:rPr lang="en-AU" sz="2200" dirty="0" smtClean="0">
                <a:latin typeface="Helvetica" pitchFamily="34" charset="0"/>
              </a:rPr>
              <a:t>Tour of the venue </a:t>
            </a:r>
          </a:p>
          <a:p>
            <a:pPr>
              <a:spcBef>
                <a:spcPts val="600"/>
              </a:spcBef>
              <a:spcAft>
                <a:spcPts val="1200"/>
              </a:spcAft>
            </a:pPr>
            <a:r>
              <a:rPr lang="en-AU" sz="2200" dirty="0" smtClean="0">
                <a:latin typeface="Helvetica" pitchFamily="34" charset="0"/>
              </a:rPr>
              <a:t>Meeting key staff </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7" name="Picture 6" descr="Event 20.tif"/>
          <p:cNvPicPr/>
          <p:nvPr/>
        </p:nvPicPr>
        <p:blipFill>
          <a:blip r:embed="rId3" cstate="print">
            <a:grayscl/>
          </a:blip>
          <a:stretch>
            <a:fillRect/>
          </a:stretch>
        </p:blipFill>
        <p:spPr>
          <a:xfrm>
            <a:off x="5929322" y="1643050"/>
            <a:ext cx="1476378" cy="2214568"/>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Select event venue/site</a:t>
            </a:r>
          </a:p>
        </p:txBody>
      </p:sp>
      <p:sp>
        <p:nvSpPr>
          <p:cNvPr id="3" name="Content Placeholder 2"/>
          <p:cNvSpPr>
            <a:spLocks noGrp="1"/>
          </p:cNvSpPr>
          <p:nvPr>
            <p:ph idx="1"/>
          </p:nvPr>
        </p:nvSpPr>
        <p:spPr>
          <a:xfrm>
            <a:off x="611560" y="1556792"/>
            <a:ext cx="7467600" cy="4896544"/>
          </a:xfrm>
        </p:spPr>
        <p:txBody>
          <a:bodyPr>
            <a:normAutofit/>
          </a:bodyPr>
          <a:lstStyle/>
          <a:p>
            <a:pPr marL="0">
              <a:spcBef>
                <a:spcPts val="600"/>
              </a:spcBef>
              <a:spcAft>
                <a:spcPts val="1200"/>
              </a:spcAft>
              <a:buNone/>
            </a:pPr>
            <a:r>
              <a:rPr lang="en-AU" sz="2200" b="1" dirty="0" smtClean="0">
                <a:latin typeface="Helvetica" pitchFamily="34" charset="0"/>
              </a:rPr>
              <a:t>Development of specifications against which to assess options</a:t>
            </a:r>
          </a:p>
          <a:p>
            <a:pPr>
              <a:spcBef>
                <a:spcPts val="600"/>
              </a:spcBef>
              <a:spcAft>
                <a:spcPts val="1200"/>
              </a:spcAft>
            </a:pPr>
            <a:r>
              <a:rPr lang="en-AU" sz="2200" dirty="0" smtClean="0">
                <a:latin typeface="Helvetica" pitchFamily="34" charset="0"/>
              </a:rPr>
              <a:t>Compulsory requirements</a:t>
            </a:r>
          </a:p>
          <a:p>
            <a:pPr>
              <a:spcBef>
                <a:spcPts val="600"/>
              </a:spcBef>
              <a:spcAft>
                <a:spcPts val="1200"/>
              </a:spcAft>
            </a:pPr>
            <a:r>
              <a:rPr lang="en-AU" sz="2200" dirty="0" smtClean="0">
                <a:latin typeface="Helvetica" pitchFamily="34" charset="0"/>
              </a:rPr>
              <a:t>Key requirements</a:t>
            </a:r>
          </a:p>
          <a:p>
            <a:pPr>
              <a:spcBef>
                <a:spcPts val="600"/>
              </a:spcBef>
              <a:spcAft>
                <a:spcPts val="1200"/>
              </a:spcAft>
            </a:pPr>
            <a:r>
              <a:rPr lang="en-AU" sz="2200" dirty="0" smtClean="0">
                <a:latin typeface="Helvetica" pitchFamily="34" charset="0"/>
              </a:rPr>
              <a:t>Weighting scale</a:t>
            </a:r>
          </a:p>
          <a:p>
            <a:pPr>
              <a:spcBef>
                <a:spcPts val="600"/>
              </a:spcBef>
              <a:spcAft>
                <a:spcPts val="1200"/>
              </a:spcAft>
            </a:pPr>
            <a:r>
              <a:rPr lang="en-AU" sz="2200" dirty="0" smtClean="0">
                <a:latin typeface="Helvetica" pitchFamily="34" charset="0"/>
              </a:rPr>
              <a:t>Comparison</a:t>
            </a:r>
          </a:p>
          <a:p>
            <a:pPr>
              <a:spcBef>
                <a:spcPts val="600"/>
              </a:spcBef>
              <a:spcAft>
                <a:spcPts val="1200"/>
              </a:spcAft>
            </a:pPr>
            <a:r>
              <a:rPr lang="en-AU" sz="2200" dirty="0" smtClean="0">
                <a:latin typeface="Helvetica" pitchFamily="34" charset="0"/>
              </a:rPr>
              <a:t>Selection</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5" name="Picture 4" descr="MP900433150.JPG"/>
          <p:cNvPicPr>
            <a:picLocks noChangeAspect="1"/>
          </p:cNvPicPr>
          <p:nvPr/>
        </p:nvPicPr>
        <p:blipFill>
          <a:blip r:embed="rId3" cstate="print"/>
          <a:stretch>
            <a:fillRect/>
          </a:stretch>
        </p:blipFill>
        <p:spPr>
          <a:xfrm>
            <a:off x="5643570" y="2928934"/>
            <a:ext cx="2228292" cy="1485528"/>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Negotiate and agree upon final event details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r>
              <a:rPr lang="en-AU" sz="2200" b="1" dirty="0" smtClean="0">
                <a:latin typeface="Helvetica" pitchFamily="34" charset="0"/>
              </a:rPr>
              <a:t>Items to be negotiated include:</a:t>
            </a:r>
          </a:p>
          <a:p>
            <a:pPr>
              <a:spcBef>
                <a:spcPts val="600"/>
              </a:spcBef>
              <a:spcAft>
                <a:spcPts val="1200"/>
              </a:spcAft>
            </a:pPr>
            <a:r>
              <a:rPr lang="en-AU" sz="2200" dirty="0" smtClean="0">
                <a:latin typeface="Helvetica" pitchFamily="34" charset="0"/>
              </a:rPr>
              <a:t>Price </a:t>
            </a:r>
          </a:p>
          <a:p>
            <a:pPr>
              <a:spcBef>
                <a:spcPts val="600"/>
              </a:spcBef>
              <a:spcAft>
                <a:spcPts val="1200"/>
              </a:spcAft>
            </a:pPr>
            <a:r>
              <a:rPr lang="en-AU" sz="2200" dirty="0" smtClean="0">
                <a:latin typeface="Helvetica" pitchFamily="34" charset="0"/>
              </a:rPr>
              <a:t>Timing </a:t>
            </a:r>
          </a:p>
          <a:p>
            <a:pPr>
              <a:spcBef>
                <a:spcPts val="600"/>
              </a:spcBef>
              <a:spcAft>
                <a:spcPts val="1200"/>
              </a:spcAft>
            </a:pPr>
            <a:r>
              <a:rPr lang="en-AU" sz="2200" dirty="0" smtClean="0">
                <a:latin typeface="Helvetica" pitchFamily="34" charset="0"/>
              </a:rPr>
              <a:t>Goods and services to be provided </a:t>
            </a:r>
          </a:p>
          <a:p>
            <a:pPr>
              <a:spcBef>
                <a:spcPts val="600"/>
              </a:spcBef>
              <a:spcAft>
                <a:spcPts val="600"/>
              </a:spcAft>
              <a:buNone/>
            </a:pPr>
            <a:endParaRPr lang="en-AU" sz="2200" b="1" dirty="0" smtClean="0">
              <a:latin typeface="Helvetica" pitchFamily="34" charset="0"/>
            </a:endParaRPr>
          </a:p>
          <a:p>
            <a:pPr>
              <a:spcBef>
                <a:spcPts val="600"/>
              </a:spcBef>
              <a:spcAft>
                <a:spcPts val="600"/>
              </a:spcAft>
              <a:buNone/>
            </a:pPr>
            <a:endParaRPr lang="en-AU" sz="2200" b="1"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7170" name="Picture 2" descr="C:\Documents and Settings\danielc\Local Settings\Temporary Internet Files\Content.IE5\Y88G682L\MC900070875[1].wmf"/>
          <p:cNvPicPr>
            <a:picLocks noChangeAspect="1" noChangeArrowheads="1"/>
          </p:cNvPicPr>
          <p:nvPr/>
        </p:nvPicPr>
        <p:blipFill>
          <a:blip r:embed="rId3" cstate="print"/>
          <a:srcRect/>
          <a:stretch>
            <a:fillRect/>
          </a:stretch>
        </p:blipFill>
        <p:spPr bwMode="auto">
          <a:xfrm>
            <a:off x="6357950" y="1785926"/>
            <a:ext cx="1475618" cy="1718826"/>
          </a:xfrm>
          <a:prstGeom prst="rect">
            <a:avLst/>
          </a:prstGeom>
          <a:noFill/>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Once the event details have been verbally confirmed with the customer, standard practice requires:</a:t>
            </a:r>
          </a:p>
          <a:p>
            <a:pPr>
              <a:spcBef>
                <a:spcPts val="600"/>
              </a:spcBef>
              <a:spcAft>
                <a:spcPts val="1200"/>
              </a:spcAft>
            </a:pPr>
            <a:r>
              <a:rPr lang="en-AU" sz="2200" dirty="0" smtClean="0">
                <a:latin typeface="Helvetica" pitchFamily="34" charset="0"/>
              </a:rPr>
              <a:t>A written agreement to be drawn up</a:t>
            </a:r>
          </a:p>
          <a:p>
            <a:pPr>
              <a:spcBef>
                <a:spcPts val="600"/>
              </a:spcBef>
              <a:spcAft>
                <a:spcPts val="1200"/>
              </a:spcAft>
            </a:pPr>
            <a:r>
              <a:rPr lang="en-AU" sz="2200" dirty="0" smtClean="0">
                <a:latin typeface="Helvetica" pitchFamily="34" charset="0"/>
              </a:rPr>
              <a:t>To have it signed by all parties involved</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6" name="Picture 5" descr="MP900443202.JPG"/>
          <p:cNvPicPr/>
          <p:nvPr/>
        </p:nvPicPr>
        <p:blipFill>
          <a:blip r:embed="rId3" cstate="print"/>
          <a:stretch>
            <a:fillRect/>
          </a:stretch>
        </p:blipFill>
        <p:spPr>
          <a:xfrm>
            <a:off x="6143636" y="2285992"/>
            <a:ext cx="1949955" cy="1466842"/>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Contract</a:t>
            </a:r>
          </a:p>
          <a:p>
            <a:pPr lvl="0">
              <a:spcBef>
                <a:spcPts val="600"/>
              </a:spcBef>
              <a:spcAft>
                <a:spcPts val="1200"/>
              </a:spcAft>
            </a:pPr>
            <a:r>
              <a:rPr lang="en-AU" sz="2200" dirty="0" smtClean="0">
                <a:latin typeface="Helvetica" pitchFamily="34" charset="0"/>
              </a:rPr>
              <a:t>Full contact details of the client </a:t>
            </a:r>
          </a:p>
          <a:p>
            <a:pPr lvl="0">
              <a:spcBef>
                <a:spcPts val="600"/>
              </a:spcBef>
              <a:spcAft>
                <a:spcPts val="1200"/>
              </a:spcAft>
            </a:pPr>
            <a:r>
              <a:rPr lang="en-AU" sz="2200" dirty="0" smtClean="0">
                <a:latin typeface="Helvetica" pitchFamily="34" charset="0"/>
              </a:rPr>
              <a:t>Dates and times of the function </a:t>
            </a:r>
          </a:p>
          <a:p>
            <a:pPr lvl="0">
              <a:spcBef>
                <a:spcPts val="600"/>
              </a:spcBef>
              <a:spcAft>
                <a:spcPts val="1200"/>
              </a:spcAft>
            </a:pPr>
            <a:r>
              <a:rPr lang="en-AU" sz="2200" dirty="0" smtClean="0">
                <a:latin typeface="Helvetica" pitchFamily="34" charset="0"/>
              </a:rPr>
              <a:t>Date for notification of final numbers </a:t>
            </a:r>
          </a:p>
          <a:p>
            <a:pPr lvl="0">
              <a:spcBef>
                <a:spcPts val="600"/>
              </a:spcBef>
              <a:spcAft>
                <a:spcPts val="1200"/>
              </a:spcAft>
            </a:pPr>
            <a:r>
              <a:rPr lang="en-AU" sz="2200" dirty="0" smtClean="0">
                <a:latin typeface="Helvetica" pitchFamily="34" charset="0"/>
              </a:rPr>
              <a:t>Type of function </a:t>
            </a:r>
          </a:p>
          <a:p>
            <a:pPr lvl="0">
              <a:spcBef>
                <a:spcPts val="600"/>
              </a:spcBef>
              <a:spcAft>
                <a:spcPts val="1200"/>
              </a:spcAft>
            </a:pPr>
            <a:r>
              <a:rPr lang="en-AU" sz="2200" dirty="0" smtClean="0">
                <a:latin typeface="Helvetica" pitchFamily="34" charset="0"/>
              </a:rPr>
              <a:t>Service style</a:t>
            </a:r>
          </a:p>
          <a:p>
            <a:pPr lvl="0">
              <a:spcBef>
                <a:spcPts val="600"/>
              </a:spcBef>
              <a:spcAft>
                <a:spcPts val="1200"/>
              </a:spcAft>
            </a:pPr>
            <a:r>
              <a:rPr lang="en-AU" sz="2200" dirty="0" smtClean="0">
                <a:latin typeface="Helvetica" pitchFamily="34" charset="0"/>
              </a:rPr>
              <a:t>Seating arrangements</a:t>
            </a:r>
          </a:p>
          <a:p>
            <a:pPr lvl="0">
              <a:spcBef>
                <a:spcPts val="600"/>
              </a:spcBef>
              <a:spcAft>
                <a:spcPts val="1200"/>
              </a:spcAft>
            </a:pPr>
            <a:r>
              <a:rPr lang="en-AU" sz="2200" dirty="0" smtClean="0">
                <a:latin typeface="Helvetica" pitchFamily="34" charset="0"/>
              </a:rPr>
              <a:t>Equipment</a:t>
            </a: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8" name="Picture 7" descr="6594988505_4c258c3a5d_m.jpg"/>
          <p:cNvPicPr>
            <a:picLocks noChangeAspect="1"/>
          </p:cNvPicPr>
          <p:nvPr/>
        </p:nvPicPr>
        <p:blipFill>
          <a:blip r:embed="rId3" cstate="print"/>
          <a:stretch>
            <a:fillRect/>
          </a:stretch>
        </p:blipFill>
        <p:spPr>
          <a:xfrm>
            <a:off x="6500826" y="2428868"/>
            <a:ext cx="1539884" cy="2309826"/>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Contract</a:t>
            </a:r>
          </a:p>
          <a:p>
            <a:pPr lvl="0">
              <a:spcBef>
                <a:spcPts val="600"/>
              </a:spcBef>
              <a:spcAft>
                <a:spcPts val="1200"/>
              </a:spcAft>
            </a:pPr>
            <a:r>
              <a:rPr lang="en-AU" sz="2200" dirty="0" smtClean="0">
                <a:latin typeface="Helvetica" pitchFamily="34" charset="0"/>
              </a:rPr>
              <a:t>Location of the function, name of rooms and facilities to be used </a:t>
            </a:r>
          </a:p>
          <a:p>
            <a:pPr lvl="0">
              <a:spcBef>
                <a:spcPts val="600"/>
              </a:spcBef>
              <a:spcAft>
                <a:spcPts val="1200"/>
              </a:spcAft>
            </a:pPr>
            <a:r>
              <a:rPr lang="en-AU" sz="2200" dirty="0" smtClean="0">
                <a:latin typeface="Helvetica" pitchFamily="34" charset="0"/>
              </a:rPr>
              <a:t>Approximate numbers attending </a:t>
            </a:r>
          </a:p>
          <a:p>
            <a:pPr lvl="0">
              <a:spcBef>
                <a:spcPts val="600"/>
              </a:spcBef>
              <a:spcAft>
                <a:spcPts val="1200"/>
              </a:spcAft>
            </a:pPr>
            <a:r>
              <a:rPr lang="en-AU" sz="2200" dirty="0" smtClean="0">
                <a:latin typeface="Helvetica" pitchFamily="34" charset="0"/>
              </a:rPr>
              <a:t>Décor, displays and table decorations </a:t>
            </a:r>
          </a:p>
          <a:p>
            <a:pPr lvl="0">
              <a:spcBef>
                <a:spcPts val="600"/>
              </a:spcBef>
              <a:spcAft>
                <a:spcPts val="1200"/>
              </a:spcAft>
            </a:pPr>
            <a:r>
              <a:rPr lang="en-AU" sz="2200" dirty="0" smtClean="0">
                <a:latin typeface="Helvetica" pitchFamily="34" charset="0"/>
              </a:rPr>
              <a:t>Food to be served – including when, type, amount </a:t>
            </a:r>
          </a:p>
          <a:p>
            <a:pPr lvl="0">
              <a:spcBef>
                <a:spcPts val="600"/>
              </a:spcBef>
              <a:spcAft>
                <a:spcPts val="1200"/>
              </a:spcAft>
            </a:pPr>
            <a:r>
              <a:rPr lang="en-AU" sz="2200" dirty="0" smtClean="0">
                <a:latin typeface="Helvetica" pitchFamily="34" charset="0"/>
              </a:rPr>
              <a:t>Beverages to be served</a:t>
            </a:r>
          </a:p>
          <a:p>
            <a:pPr>
              <a:spcBef>
                <a:spcPts val="600"/>
              </a:spcBef>
              <a:spcAft>
                <a:spcPts val="1200"/>
              </a:spcAft>
            </a:pPr>
            <a:r>
              <a:rPr lang="en-AU" sz="2200" dirty="0" smtClean="0">
                <a:latin typeface="Helvetica" pitchFamily="34" charset="0"/>
              </a:rPr>
              <a:t>Entertainment, activities and inclusions </a:t>
            </a:r>
            <a:endParaRPr lang="en-AU" sz="2200" b="1"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4" descr="7980145361_248f663f28_m.jpg"/>
          <p:cNvPicPr>
            <a:picLocks noChangeAspect="1"/>
          </p:cNvPicPr>
          <p:nvPr/>
        </p:nvPicPr>
        <p:blipFill>
          <a:blip r:embed="rId3" cstate="print"/>
          <a:stretch>
            <a:fillRect/>
          </a:stretch>
        </p:blipFill>
        <p:spPr>
          <a:xfrm>
            <a:off x="6715140" y="2857496"/>
            <a:ext cx="1552572" cy="1035048"/>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Contract</a:t>
            </a:r>
          </a:p>
          <a:p>
            <a:pPr lvl="0">
              <a:spcBef>
                <a:spcPts val="600"/>
              </a:spcBef>
              <a:spcAft>
                <a:spcPts val="1200"/>
              </a:spcAft>
            </a:pPr>
            <a:r>
              <a:rPr lang="en-AU" sz="2200" dirty="0" smtClean="0">
                <a:latin typeface="Helvetica" pitchFamily="34" charset="0"/>
              </a:rPr>
              <a:t>Services and facilities the venue has agreed to provide at no charge</a:t>
            </a:r>
          </a:p>
          <a:p>
            <a:pPr lvl="0">
              <a:spcBef>
                <a:spcPts val="600"/>
              </a:spcBef>
              <a:spcAft>
                <a:spcPts val="1200"/>
              </a:spcAft>
            </a:pPr>
            <a:r>
              <a:rPr lang="en-AU" sz="2200" dirty="0" smtClean="0">
                <a:latin typeface="Helvetica" pitchFamily="34" charset="0"/>
              </a:rPr>
              <a:t>Technology required </a:t>
            </a:r>
          </a:p>
          <a:p>
            <a:pPr lvl="0">
              <a:spcBef>
                <a:spcPts val="600"/>
              </a:spcBef>
              <a:spcAft>
                <a:spcPts val="1200"/>
              </a:spcAft>
            </a:pPr>
            <a:r>
              <a:rPr lang="en-AU" sz="2200" dirty="0" smtClean="0">
                <a:latin typeface="Helvetica" pitchFamily="34" charset="0"/>
              </a:rPr>
              <a:t>Access required by the client prior to the </a:t>
            </a:r>
            <a:br>
              <a:rPr lang="en-AU" sz="2200" dirty="0" smtClean="0">
                <a:latin typeface="Helvetica" pitchFamily="34" charset="0"/>
              </a:rPr>
            </a:br>
            <a:r>
              <a:rPr lang="en-AU" sz="2200" dirty="0" smtClean="0">
                <a:latin typeface="Helvetica" pitchFamily="34" charset="0"/>
              </a:rPr>
              <a:t>function </a:t>
            </a:r>
          </a:p>
          <a:p>
            <a:pPr lvl="0">
              <a:spcBef>
                <a:spcPts val="600"/>
              </a:spcBef>
              <a:spcAft>
                <a:spcPts val="1200"/>
              </a:spcAft>
            </a:pPr>
            <a:r>
              <a:rPr lang="en-AU" sz="2200" dirty="0" smtClean="0">
                <a:latin typeface="Helvetica" pitchFamily="34" charset="0"/>
              </a:rPr>
              <a:t>Products and services the client will be </a:t>
            </a:r>
            <a:br>
              <a:rPr lang="en-AU" sz="2200" dirty="0" smtClean="0">
                <a:latin typeface="Helvetica" pitchFamily="34" charset="0"/>
              </a:rPr>
            </a:br>
            <a:r>
              <a:rPr lang="en-AU" sz="2200" dirty="0" smtClean="0">
                <a:latin typeface="Helvetica" pitchFamily="34" charset="0"/>
              </a:rPr>
              <a:t>supplying </a:t>
            </a:r>
          </a:p>
          <a:p>
            <a:pPr lvl="0">
              <a:spcBef>
                <a:spcPts val="600"/>
              </a:spcBef>
              <a:spcAft>
                <a:spcPts val="1200"/>
              </a:spcAft>
            </a:pPr>
            <a:r>
              <a:rPr lang="en-AU" sz="2200" dirty="0" smtClean="0">
                <a:latin typeface="Helvetica" pitchFamily="34" charset="0"/>
              </a:rPr>
              <a:t>Involvement of third party suppliers </a:t>
            </a:r>
          </a:p>
          <a:p>
            <a:pPr>
              <a:spcBef>
                <a:spcPts val="600"/>
              </a:spcBef>
              <a:spcAft>
                <a:spcPts val="1200"/>
              </a:spcAft>
            </a:pPr>
            <a:r>
              <a:rPr lang="en-AU" sz="2200" dirty="0" smtClean="0">
                <a:latin typeface="Helvetica" pitchFamily="34" charset="0"/>
              </a:rPr>
              <a:t>Total cost of function</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5" name="Picture 4" descr="6123109402_e84fd8b129_m.jpg"/>
          <p:cNvPicPr>
            <a:picLocks noChangeAspect="1"/>
          </p:cNvPicPr>
          <p:nvPr/>
        </p:nvPicPr>
        <p:blipFill>
          <a:blip r:embed="rId3" cstate="print"/>
          <a:stretch>
            <a:fillRect/>
          </a:stretch>
        </p:blipFill>
        <p:spPr>
          <a:xfrm>
            <a:off x="6715140" y="2857496"/>
            <a:ext cx="1524000" cy="228600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event contract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Booking conditions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All venues will have specific booking conditions. These will usually appear on the website and form part of the standard function contract. </a:t>
            </a:r>
          </a:p>
          <a:p>
            <a:pPr>
              <a:spcBef>
                <a:spcPts val="600"/>
              </a:spcBef>
              <a:spcAft>
                <a:spcPts val="1200"/>
              </a:spcAft>
            </a:pPr>
            <a:r>
              <a:rPr lang="en-AU" sz="2200" dirty="0" smtClean="0">
                <a:latin typeface="Helvetica" pitchFamily="34" charset="0"/>
              </a:rPr>
              <a:t>What information is normally included                                       in booking conditions?</a:t>
            </a:r>
          </a:p>
          <a:p>
            <a:pPr>
              <a:spcBef>
                <a:spcPts val="600"/>
              </a:spcBef>
              <a:spcAft>
                <a:spcPts val="1200"/>
              </a:spcAft>
            </a:pPr>
            <a:r>
              <a:rPr lang="en-AU" sz="2200" dirty="0" smtClean="0">
                <a:latin typeface="Helvetica" pitchFamily="34" charset="0"/>
              </a:rPr>
              <a:t>What are the benefits of having                                  booking conditions?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6" name="Picture 5" descr="MP900442211.JPG"/>
          <p:cNvPicPr/>
          <p:nvPr/>
        </p:nvPicPr>
        <p:blipFill>
          <a:blip r:embed="rId3" cstate="print"/>
          <a:stretch>
            <a:fillRect/>
          </a:stretch>
        </p:blipFill>
        <p:spPr>
          <a:xfrm>
            <a:off x="6929454" y="3000372"/>
            <a:ext cx="1369677" cy="1883486"/>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Obtaining deposit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It is standard industry practice to request a deposit when the final details of a function have been confirmed.</a:t>
            </a:r>
          </a:p>
          <a:p>
            <a:pPr>
              <a:spcBef>
                <a:spcPts val="600"/>
              </a:spcBef>
              <a:spcAft>
                <a:spcPts val="1200"/>
              </a:spcAft>
            </a:pPr>
            <a:r>
              <a:rPr lang="en-AU" sz="2200" dirty="0" smtClean="0">
                <a:latin typeface="Helvetica" pitchFamily="34" charset="0"/>
              </a:rPr>
              <a:t>No function exists until a deposit has been paid</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6" name="Picture 5" descr="MP900442284.JPG"/>
          <p:cNvPicPr>
            <a:picLocks noChangeAspect="1"/>
          </p:cNvPicPr>
          <p:nvPr/>
        </p:nvPicPr>
        <p:blipFill>
          <a:blip r:embed="rId3" cstate="print"/>
          <a:stretch>
            <a:fillRect/>
          </a:stretch>
        </p:blipFill>
        <p:spPr>
          <a:xfrm>
            <a:off x="3571868" y="3571876"/>
            <a:ext cx="1657350" cy="220980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Updated financial information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When the client pays a deposit for a function an account is usually opened for them at this stage. </a:t>
            </a:r>
          </a:p>
          <a:p>
            <a:pPr>
              <a:spcBef>
                <a:spcPts val="600"/>
              </a:spcBef>
              <a:spcAft>
                <a:spcPts val="1200"/>
              </a:spcAft>
              <a:buNone/>
            </a:pPr>
            <a:r>
              <a:rPr lang="en-AU" sz="2200" dirty="0" smtClean="0">
                <a:latin typeface="Helvetica" pitchFamily="34" charset="0"/>
              </a:rPr>
              <a:t>Updating information can include:</a:t>
            </a:r>
          </a:p>
          <a:p>
            <a:pPr>
              <a:spcBef>
                <a:spcPts val="600"/>
              </a:spcBef>
              <a:spcAft>
                <a:spcPts val="1200"/>
              </a:spcAft>
            </a:pPr>
            <a:r>
              <a:rPr lang="en-AU" sz="2200" dirty="0" smtClean="0">
                <a:latin typeface="Helvetica" pitchFamily="34" charset="0"/>
              </a:rPr>
              <a:t>Ensuring payment entries are recorded</a:t>
            </a:r>
          </a:p>
          <a:p>
            <a:pPr>
              <a:spcBef>
                <a:spcPts val="600"/>
              </a:spcBef>
              <a:spcAft>
                <a:spcPts val="1200"/>
              </a:spcAft>
            </a:pPr>
            <a:r>
              <a:rPr lang="en-AU" sz="2200" dirty="0" smtClean="0">
                <a:latin typeface="Helvetica" pitchFamily="34" charset="0"/>
              </a:rPr>
              <a:t>Updating files when new payments are made</a:t>
            </a:r>
          </a:p>
          <a:p>
            <a:endParaRPr lang="en-AU" sz="2400" dirty="0" smtClean="0"/>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7" name="Picture 6" descr="MP900309203.JPG"/>
          <p:cNvPicPr/>
          <p:nvPr/>
        </p:nvPicPr>
        <p:blipFill>
          <a:blip r:embed="rId3" cstate="print"/>
          <a:stretch>
            <a:fillRect/>
          </a:stretch>
        </p:blipFill>
        <p:spPr>
          <a:xfrm>
            <a:off x="3500430" y="4286256"/>
            <a:ext cx="2243773" cy="1747838"/>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confirmations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00034" y="1556792"/>
            <a:ext cx="7467600" cy="5606008"/>
          </a:xfrm>
        </p:spPr>
        <p:txBody>
          <a:bodyPr>
            <a:normAutofit/>
          </a:bodyPr>
          <a:lstStyle/>
          <a:p>
            <a:pPr>
              <a:spcBef>
                <a:spcPts val="600"/>
              </a:spcBef>
              <a:spcAft>
                <a:spcPts val="1200"/>
              </a:spcAft>
            </a:pPr>
            <a:r>
              <a:rPr lang="en-AU" sz="2200" dirty="0" smtClean="0">
                <a:latin typeface="Helvetica" pitchFamily="34" charset="0"/>
              </a:rPr>
              <a:t>A standard pro forma confirmation is sent to the client when they have signed the function contract and paid a deposit</a:t>
            </a:r>
          </a:p>
          <a:p>
            <a:pPr>
              <a:spcBef>
                <a:spcPts val="600"/>
              </a:spcBef>
              <a:spcAft>
                <a:spcPts val="1200"/>
              </a:spcAft>
            </a:pPr>
            <a:r>
              <a:rPr lang="en-AU" sz="2200" dirty="0" smtClean="0">
                <a:latin typeface="Helvetica" pitchFamily="34" charset="0"/>
              </a:rPr>
              <a:t>This confirmation acknowledges the contract has been signed and that money has been paid and received</a:t>
            </a:r>
          </a:p>
          <a:p>
            <a:pPr>
              <a:spcBef>
                <a:spcPts val="600"/>
              </a:spcBef>
              <a:spcAft>
                <a:spcPts val="1200"/>
              </a:spcAft>
            </a:pPr>
            <a:r>
              <a:rPr lang="en-AU" sz="2200" dirty="0" smtClean="0">
                <a:latin typeface="Helvetica" pitchFamily="34" charset="0"/>
              </a:rPr>
              <a:t>In addition a copy of Function Sheet is also sent </a:t>
            </a: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8194" name="Picture 2" descr="C:\Documents and Settings\danielc\Local Settings\Temporary Internet Files\Content.IE5\3Y3SDCJX\MP900422148[1].jpg"/>
          <p:cNvPicPr>
            <a:picLocks noChangeAspect="1" noChangeArrowheads="1"/>
          </p:cNvPicPr>
          <p:nvPr/>
        </p:nvPicPr>
        <p:blipFill>
          <a:blip r:embed="rId3" cstate="print"/>
          <a:srcRect/>
          <a:stretch>
            <a:fillRect/>
          </a:stretch>
        </p:blipFill>
        <p:spPr bwMode="auto">
          <a:xfrm>
            <a:off x="3357554" y="4429132"/>
            <a:ext cx="2161063" cy="1578589"/>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3:</a:t>
            </a:r>
          </a:p>
          <a:p>
            <a:pPr marL="0">
              <a:spcBef>
                <a:spcPts val="600"/>
              </a:spcBef>
              <a:spcAft>
                <a:spcPts val="1200"/>
              </a:spcAft>
              <a:buNone/>
            </a:pPr>
            <a:r>
              <a:rPr lang="en-AU" sz="4000" dirty="0" smtClean="0">
                <a:solidFill>
                  <a:srgbClr val="FF6600"/>
                </a:solidFill>
                <a:latin typeface="Helvetica" pitchFamily="34" charset="0"/>
              </a:rPr>
              <a:t>Plan and deliver event catering</a:t>
            </a: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 name="Picture 5" descr="4327744633_b11563c895.jpg"/>
          <p:cNvPicPr>
            <a:picLocks noChangeAspect="1"/>
          </p:cNvPicPr>
          <p:nvPr/>
        </p:nvPicPr>
        <p:blipFill>
          <a:blip r:embed="rId3" cstate="print"/>
          <a:stretch>
            <a:fillRect/>
          </a:stretch>
        </p:blipFill>
        <p:spPr>
          <a:xfrm>
            <a:off x="2928926" y="3429000"/>
            <a:ext cx="2797271" cy="1857388"/>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Plan and deliver event catering</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and analyse event factors which may impact on catering</a:t>
            </a:r>
          </a:p>
          <a:p>
            <a:pPr>
              <a:spcBef>
                <a:spcPts val="600"/>
              </a:spcBef>
              <a:spcAft>
                <a:spcPts val="1200"/>
              </a:spcAft>
            </a:pPr>
            <a:r>
              <a:rPr lang="en-AU" sz="2200" dirty="0" smtClean="0">
                <a:latin typeface="Helvetica" pitchFamily="34" charset="0"/>
              </a:rPr>
              <a:t>Prepare event catering proposal</a:t>
            </a:r>
          </a:p>
          <a:p>
            <a:pPr>
              <a:spcBef>
                <a:spcPts val="600"/>
              </a:spcBef>
              <a:spcAft>
                <a:spcPts val="1200"/>
              </a:spcAft>
            </a:pPr>
            <a:r>
              <a:rPr lang="en-AU" sz="2200" dirty="0" smtClean="0">
                <a:latin typeface="Helvetica" pitchFamily="34" charset="0"/>
              </a:rPr>
              <a:t>Prepare event catering operational plan</a:t>
            </a:r>
          </a:p>
          <a:p>
            <a:pPr>
              <a:spcBef>
                <a:spcPts val="600"/>
              </a:spcBef>
              <a:spcAft>
                <a:spcPts val="1200"/>
              </a:spcAft>
            </a:pPr>
            <a:r>
              <a:rPr lang="en-AU" sz="2200" dirty="0" smtClean="0">
                <a:latin typeface="Helvetica" pitchFamily="34" charset="0"/>
              </a:rPr>
              <a:t>Implement event catering operational plan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214546" y="2500306"/>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143504" y="3000372"/>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072198" y="3571876"/>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387424" y="4143380"/>
            <a:ext cx="399154" cy="527046"/>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Factors impacting catering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a:spcBef>
                <a:spcPts val="600"/>
              </a:spcBef>
              <a:spcAft>
                <a:spcPts val="1200"/>
              </a:spcAft>
              <a:buNone/>
            </a:pPr>
            <a:r>
              <a:rPr lang="en-AU" sz="2200" b="1" dirty="0" smtClean="0">
                <a:latin typeface="Helvetica" pitchFamily="34" charset="0"/>
              </a:rPr>
              <a:t>Types of event factors that impact on catering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Available budget</a:t>
            </a:r>
          </a:p>
          <a:p>
            <a:pPr lvl="0">
              <a:spcBef>
                <a:spcPts val="600"/>
              </a:spcBef>
              <a:spcAft>
                <a:spcPts val="1200"/>
              </a:spcAft>
            </a:pPr>
            <a:r>
              <a:rPr lang="en-AU" sz="2200" dirty="0" smtClean="0">
                <a:latin typeface="Helvetica" pitchFamily="34" charset="0"/>
              </a:rPr>
              <a:t>Dates and time of function</a:t>
            </a:r>
          </a:p>
          <a:p>
            <a:pPr lvl="0">
              <a:spcBef>
                <a:spcPts val="600"/>
              </a:spcBef>
              <a:spcAft>
                <a:spcPts val="1200"/>
              </a:spcAft>
            </a:pPr>
            <a:r>
              <a:rPr lang="en-AU" sz="2200" dirty="0" smtClean="0">
                <a:latin typeface="Helvetica" pitchFamily="34" charset="0"/>
              </a:rPr>
              <a:t>Numbers of participants</a:t>
            </a:r>
          </a:p>
          <a:p>
            <a:pPr lvl="0">
              <a:spcBef>
                <a:spcPts val="600"/>
              </a:spcBef>
              <a:spcAft>
                <a:spcPts val="1200"/>
              </a:spcAft>
            </a:pPr>
            <a:r>
              <a:rPr lang="en-AU" sz="2200" dirty="0" smtClean="0">
                <a:latin typeface="Helvetica" pitchFamily="34" charset="0"/>
              </a:rPr>
              <a:t>Speed of service required due to timing demands on activities within an event</a:t>
            </a:r>
          </a:p>
          <a:p>
            <a:pPr lvl="0">
              <a:spcBef>
                <a:spcPts val="600"/>
              </a:spcBef>
              <a:spcAft>
                <a:spcPts val="1200"/>
              </a:spcAft>
            </a:pPr>
            <a:r>
              <a:rPr lang="en-AU" sz="2200" dirty="0" smtClean="0">
                <a:latin typeface="Helvetica" pitchFamily="34" charset="0"/>
              </a:rPr>
              <a:t>Types of food required</a:t>
            </a:r>
          </a:p>
          <a:p>
            <a:pPr lvl="0">
              <a:spcBef>
                <a:spcPts val="600"/>
              </a:spcBef>
              <a:spcAft>
                <a:spcPts val="1200"/>
              </a:spcAft>
            </a:pPr>
            <a:r>
              <a:rPr lang="en-AU" sz="2200" dirty="0" smtClean="0">
                <a:latin typeface="Helvetica" pitchFamily="34" charset="0"/>
              </a:rPr>
              <a:t>Service styles required</a:t>
            </a:r>
          </a:p>
          <a:p>
            <a:pPr lvl="0">
              <a:spcBef>
                <a:spcPts val="600"/>
              </a:spcBef>
              <a:spcAft>
                <a:spcPts val="1200"/>
              </a:spcAft>
            </a:pPr>
            <a:r>
              <a:rPr lang="en-AU" sz="2200" dirty="0" smtClean="0">
                <a:latin typeface="Helvetica" pitchFamily="34" charset="0"/>
              </a:rPr>
              <a:t>Cuisines preferred</a:t>
            </a: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6" name="Picture 5" descr="Food 1.JPG"/>
          <p:cNvPicPr/>
          <p:nvPr/>
        </p:nvPicPr>
        <p:blipFill>
          <a:blip r:embed="rId3" cstate="print"/>
          <a:stretch>
            <a:fillRect/>
          </a:stretch>
        </p:blipFill>
        <p:spPr>
          <a:xfrm>
            <a:off x="5572132" y="2143116"/>
            <a:ext cx="2073002" cy="1407592"/>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Factors impacting catering</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event factors that impact on catering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Location of event</a:t>
            </a:r>
          </a:p>
          <a:p>
            <a:pPr lvl="0">
              <a:spcBef>
                <a:spcPts val="600"/>
              </a:spcBef>
              <a:spcAft>
                <a:spcPts val="1200"/>
              </a:spcAft>
            </a:pPr>
            <a:r>
              <a:rPr lang="en-AU" sz="2200" dirty="0" smtClean="0">
                <a:latin typeface="Helvetica" pitchFamily="34" charset="0"/>
              </a:rPr>
              <a:t>Seasonal influences</a:t>
            </a:r>
          </a:p>
          <a:p>
            <a:pPr lvl="0">
              <a:spcBef>
                <a:spcPts val="600"/>
              </a:spcBef>
              <a:spcAft>
                <a:spcPts val="1200"/>
              </a:spcAft>
            </a:pPr>
            <a:r>
              <a:rPr lang="en-AU" sz="2200" dirty="0" smtClean="0">
                <a:latin typeface="Helvetica" pitchFamily="34" charset="0"/>
              </a:rPr>
              <a:t>Nature of event</a:t>
            </a:r>
          </a:p>
          <a:p>
            <a:pPr lvl="0">
              <a:spcBef>
                <a:spcPts val="600"/>
              </a:spcBef>
              <a:spcAft>
                <a:spcPts val="1200"/>
              </a:spcAft>
            </a:pPr>
            <a:r>
              <a:rPr lang="en-AU" sz="2200" dirty="0" smtClean="0">
                <a:latin typeface="Helvetica" pitchFamily="34" charset="0"/>
              </a:rPr>
              <a:t>Production and transport issues</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General logistics </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Staffing</a:t>
            </a:r>
            <a:endParaRPr lang="en-AU" sz="2200" b="1" dirty="0" smtClean="0">
              <a:latin typeface="Helvetica" pitchFamily="34" charset="0"/>
            </a:endParaRPr>
          </a:p>
          <a:p>
            <a:pPr lvl="0">
              <a:spcBef>
                <a:spcPts val="600"/>
              </a:spcBef>
              <a:spcAft>
                <a:spcPts val="1200"/>
              </a:spcAft>
            </a:pPr>
            <a:r>
              <a:rPr lang="en-AU" sz="2200" dirty="0" smtClean="0">
                <a:latin typeface="Helvetica" pitchFamily="34" charset="0"/>
              </a:rPr>
              <a:t>Pre- and post-function activities</a:t>
            </a:r>
            <a:endParaRPr lang="en-AU" sz="2200" b="1"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7" name="Picture 6" descr="Group.jpg"/>
          <p:cNvPicPr/>
          <p:nvPr/>
        </p:nvPicPr>
        <p:blipFill>
          <a:blip r:embed="rId3" cstate="print"/>
          <a:stretch>
            <a:fillRect/>
          </a:stretch>
        </p:blipFill>
        <p:spPr>
          <a:xfrm>
            <a:off x="5929322" y="3143248"/>
            <a:ext cx="2191365" cy="1508175"/>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Event menu options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24" y="1428736"/>
            <a:ext cx="7467600" cy="4525963"/>
          </a:xfrm>
        </p:spPr>
        <p:txBody>
          <a:bodyPr>
            <a:normAutofit/>
          </a:bodyPr>
          <a:lstStyle/>
          <a:p>
            <a:pPr>
              <a:spcBef>
                <a:spcPts val="600"/>
              </a:spcBef>
              <a:spcAft>
                <a:spcPts val="1200"/>
              </a:spcAft>
              <a:buNone/>
            </a:pPr>
            <a:r>
              <a:rPr lang="en-AU" sz="2200" b="1" dirty="0" smtClean="0">
                <a:latin typeface="Helvetica" pitchFamily="34" charset="0"/>
              </a:rPr>
              <a:t>Menu considerations</a:t>
            </a:r>
            <a:endParaRPr lang="en-AU" sz="2200" dirty="0" smtClean="0">
              <a:latin typeface="Helvetica" pitchFamily="34" charset="0"/>
            </a:endParaRPr>
          </a:p>
          <a:p>
            <a:pPr marL="0">
              <a:spcBef>
                <a:spcPts val="600"/>
              </a:spcBef>
              <a:spcAft>
                <a:spcPts val="1200"/>
              </a:spcAft>
            </a:pPr>
            <a:r>
              <a:rPr lang="en-AU" sz="2200" dirty="0" smtClean="0">
                <a:latin typeface="Helvetica" pitchFamily="34" charset="0"/>
              </a:rPr>
              <a:t>Styles of functions</a:t>
            </a:r>
          </a:p>
          <a:p>
            <a:pPr marL="0">
              <a:spcBef>
                <a:spcPts val="600"/>
              </a:spcBef>
              <a:spcAft>
                <a:spcPts val="1200"/>
              </a:spcAft>
            </a:pPr>
            <a:r>
              <a:rPr lang="en-AU" sz="2200" dirty="0" smtClean="0">
                <a:latin typeface="Helvetica" pitchFamily="34" charset="0"/>
              </a:rPr>
              <a:t>Styles of service required</a:t>
            </a:r>
          </a:p>
          <a:p>
            <a:pPr marL="0">
              <a:spcBef>
                <a:spcPts val="600"/>
              </a:spcBef>
              <a:spcAft>
                <a:spcPts val="1200"/>
              </a:spcAft>
            </a:pPr>
            <a:r>
              <a:rPr lang="en-AU" sz="2200" dirty="0" smtClean="0">
                <a:latin typeface="Helvetica" pitchFamily="34" charset="0"/>
              </a:rPr>
              <a:t>Timing of functions</a:t>
            </a:r>
          </a:p>
          <a:p>
            <a:pPr marL="0">
              <a:spcBef>
                <a:spcPts val="600"/>
              </a:spcBef>
              <a:spcAft>
                <a:spcPts val="1200"/>
              </a:spcAft>
            </a:pPr>
            <a:r>
              <a:rPr lang="en-AU" sz="2200" dirty="0" smtClean="0">
                <a:latin typeface="Helvetica" pitchFamily="34" charset="0"/>
              </a:rPr>
              <a:t>Providing a variety of price points</a:t>
            </a:r>
          </a:p>
          <a:p>
            <a:pPr marL="0">
              <a:spcBef>
                <a:spcPts val="600"/>
              </a:spcBef>
              <a:spcAft>
                <a:spcPts val="1200"/>
              </a:spcAft>
            </a:pPr>
            <a:r>
              <a:rPr lang="en-AU" sz="2200" dirty="0" smtClean="0">
                <a:latin typeface="Helvetica" pitchFamily="34" charset="0"/>
              </a:rPr>
              <a:t>Having inclusive and non-inclusive menus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7" name="Picture 6" descr="4115567596_b08d3a9db2_m.jpg"/>
          <p:cNvPicPr/>
          <p:nvPr/>
        </p:nvPicPr>
        <p:blipFill>
          <a:blip r:embed="rId3" cstate="print"/>
          <a:stretch>
            <a:fillRect/>
          </a:stretch>
        </p:blipFill>
        <p:spPr>
          <a:xfrm>
            <a:off x="5857884" y="1928802"/>
            <a:ext cx="1917700" cy="1438275"/>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pPr>
            <a:r>
              <a:rPr lang="en-AU" sz="2200" dirty="0" smtClean="0">
                <a:latin typeface="Helvetica" pitchFamily="34" charset="0"/>
              </a:rPr>
              <a:t>Breakfast menu </a:t>
            </a:r>
          </a:p>
          <a:p>
            <a:pPr>
              <a:spcBef>
                <a:spcPts val="600"/>
              </a:spcBef>
              <a:spcAft>
                <a:spcPts val="1200"/>
              </a:spcAft>
            </a:pPr>
            <a:r>
              <a:rPr lang="en-AU" sz="2200" dirty="0" smtClean="0">
                <a:latin typeface="Helvetica" pitchFamily="34" charset="0"/>
              </a:rPr>
              <a:t>Morning/afternoon teas</a:t>
            </a:r>
          </a:p>
          <a:p>
            <a:pPr>
              <a:spcBef>
                <a:spcPts val="600"/>
              </a:spcBef>
              <a:spcAft>
                <a:spcPts val="1200"/>
              </a:spcAft>
            </a:pPr>
            <a:r>
              <a:rPr lang="en-AU" sz="2200" dirty="0" smtClean="0">
                <a:latin typeface="Helvetica" pitchFamily="34" charset="0"/>
              </a:rPr>
              <a:t> Lunch menu </a:t>
            </a:r>
          </a:p>
          <a:p>
            <a:pPr>
              <a:spcBef>
                <a:spcPts val="600"/>
              </a:spcBef>
              <a:spcAft>
                <a:spcPts val="1200"/>
              </a:spcAft>
            </a:pPr>
            <a:r>
              <a:rPr lang="en-AU" sz="2200" dirty="0" smtClean="0">
                <a:latin typeface="Helvetica" pitchFamily="34" charset="0"/>
              </a:rPr>
              <a:t>Dinner menu </a:t>
            </a:r>
          </a:p>
          <a:p>
            <a:pPr>
              <a:spcBef>
                <a:spcPts val="600"/>
              </a:spcBef>
              <a:spcAft>
                <a:spcPts val="1200"/>
              </a:spcAft>
            </a:pPr>
            <a:r>
              <a:rPr lang="en-AU" sz="2200" dirty="0" smtClean="0">
                <a:latin typeface="Helvetica" pitchFamily="34" charset="0"/>
              </a:rPr>
              <a:t>Seminar/conference </a:t>
            </a:r>
          </a:p>
          <a:p>
            <a:pPr>
              <a:spcBef>
                <a:spcPts val="600"/>
              </a:spcBef>
              <a:spcAft>
                <a:spcPts val="1200"/>
              </a:spcAft>
            </a:pPr>
            <a:r>
              <a:rPr lang="en-AU" sz="2200" dirty="0" smtClean="0">
                <a:latin typeface="Helvetica" pitchFamily="34" charset="0"/>
              </a:rPr>
              <a:t>Wedding </a:t>
            </a:r>
          </a:p>
          <a:p>
            <a:pPr>
              <a:spcBef>
                <a:spcPts val="600"/>
              </a:spcBef>
              <a:spcAft>
                <a:spcPts val="1200"/>
              </a:spcAft>
            </a:pPr>
            <a:r>
              <a:rPr lang="en-AU" sz="2200" dirty="0" smtClean="0">
                <a:latin typeface="Helvetica" pitchFamily="34" charset="0"/>
              </a:rPr>
              <a:t>Cocktail parties </a:t>
            </a:r>
          </a:p>
          <a:p>
            <a:pPr>
              <a:spcBef>
                <a:spcPts val="600"/>
              </a:spcBef>
              <a:spcAft>
                <a:spcPts val="1200"/>
              </a:spcAft>
            </a:pPr>
            <a:r>
              <a:rPr lang="en-AU" sz="2200" dirty="0" smtClean="0">
                <a:latin typeface="Helvetica" pitchFamily="34" charset="0"/>
              </a:rPr>
              <a:t>Promotions and product launches </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7" name="Picture 6" descr="MP900430476.JPG"/>
          <p:cNvPicPr/>
          <p:nvPr/>
        </p:nvPicPr>
        <p:blipFill>
          <a:blip r:embed="rId3" cstate="print"/>
          <a:stretch>
            <a:fillRect/>
          </a:stretch>
        </p:blipFill>
        <p:spPr>
          <a:xfrm>
            <a:off x="6072198" y="2643182"/>
            <a:ext cx="1819275" cy="1666875"/>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types and styles of food and beverage menus will vary greatly depending on:</a:t>
            </a:r>
          </a:p>
          <a:p>
            <a:pPr>
              <a:spcBef>
                <a:spcPts val="600"/>
              </a:spcBef>
              <a:spcAft>
                <a:spcPts val="1200"/>
              </a:spcAft>
            </a:pPr>
            <a:r>
              <a:rPr lang="en-AU" sz="2200" dirty="0" smtClean="0">
                <a:latin typeface="Helvetica" pitchFamily="34" charset="0"/>
              </a:rPr>
              <a:t>Size and style of the venue</a:t>
            </a:r>
          </a:p>
          <a:p>
            <a:pPr>
              <a:spcBef>
                <a:spcPts val="600"/>
              </a:spcBef>
              <a:spcAft>
                <a:spcPts val="1200"/>
              </a:spcAft>
            </a:pPr>
            <a:r>
              <a:rPr lang="en-AU" sz="2200" dirty="0" smtClean="0">
                <a:latin typeface="Helvetica" pitchFamily="34" charset="0"/>
              </a:rPr>
              <a:t>Type of function</a:t>
            </a:r>
          </a:p>
          <a:p>
            <a:pPr>
              <a:spcBef>
                <a:spcPts val="600"/>
              </a:spcBef>
              <a:spcAft>
                <a:spcPts val="1200"/>
              </a:spcAft>
            </a:pPr>
            <a:r>
              <a:rPr lang="en-AU" sz="2200" dirty="0" smtClean="0">
                <a:latin typeface="Helvetica" pitchFamily="34" charset="0"/>
              </a:rPr>
              <a:t>Available budget </a:t>
            </a:r>
          </a:p>
          <a:p>
            <a:pPr>
              <a:spcBef>
                <a:spcPts val="600"/>
              </a:spcBef>
              <a:spcAft>
                <a:spcPts val="1200"/>
              </a:spcAft>
            </a:pPr>
            <a:r>
              <a:rPr lang="en-AU" sz="2200" dirty="0" smtClean="0">
                <a:latin typeface="Helvetica" pitchFamily="34" charset="0"/>
              </a:rPr>
              <a:t>Client preferences</a:t>
            </a:r>
          </a:p>
          <a:p>
            <a:pPr>
              <a:spcBef>
                <a:spcPts val="600"/>
              </a:spcBef>
              <a:spcAft>
                <a:spcPts val="1200"/>
              </a:spcAft>
            </a:pPr>
            <a:r>
              <a:rPr lang="en-AU" sz="2200" dirty="0" smtClean="0">
                <a:latin typeface="Helvetica" pitchFamily="34" charset="0"/>
              </a:rPr>
              <a:t>Nature of the function</a:t>
            </a:r>
          </a:p>
          <a:p>
            <a:pPr>
              <a:spcBef>
                <a:spcPts val="600"/>
              </a:spcBef>
              <a:spcAft>
                <a:spcPts val="1200"/>
              </a:spcAft>
            </a:pPr>
            <a:r>
              <a:rPr lang="en-AU" sz="2200" dirty="0" smtClean="0">
                <a:latin typeface="Helvetica" pitchFamily="34" charset="0"/>
              </a:rPr>
              <a:t>Various timing factors </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6" name="Picture 5" descr="MP900439495.JPG"/>
          <p:cNvPicPr>
            <a:picLocks noChangeAspect="1"/>
          </p:cNvPicPr>
          <p:nvPr/>
        </p:nvPicPr>
        <p:blipFill>
          <a:blip r:embed="rId3" cstate="print"/>
          <a:stretch>
            <a:fillRect/>
          </a:stretch>
        </p:blipFill>
        <p:spPr>
          <a:xfrm>
            <a:off x="6215074" y="2571744"/>
            <a:ext cx="1683585" cy="2514600"/>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menus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Client providing own items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not uncommon for the customer to bring some of their own items to suit the requirements of the occasion. </a:t>
            </a:r>
          </a:p>
          <a:p>
            <a:pPr marL="0">
              <a:spcBef>
                <a:spcPts val="600"/>
              </a:spcBef>
              <a:spcAft>
                <a:spcPts val="1200"/>
              </a:spcAft>
              <a:buNone/>
            </a:pPr>
            <a:r>
              <a:rPr lang="en-AU" sz="2200" dirty="0" smtClean="0">
                <a:latin typeface="Helvetica" pitchFamily="34" charset="0"/>
              </a:rPr>
              <a:t>For birthdays and weddings it is normal for the customer to bring their own:</a:t>
            </a:r>
          </a:p>
          <a:p>
            <a:pPr lvl="0">
              <a:spcBef>
                <a:spcPts val="600"/>
              </a:spcBef>
              <a:spcAft>
                <a:spcPts val="1200"/>
              </a:spcAft>
            </a:pPr>
            <a:r>
              <a:rPr lang="en-AU" sz="2200" dirty="0" smtClean="0">
                <a:latin typeface="Helvetica" pitchFamily="34" charset="0"/>
              </a:rPr>
              <a:t>Cakes</a:t>
            </a:r>
          </a:p>
          <a:p>
            <a:pPr lvl="0">
              <a:spcBef>
                <a:spcPts val="600"/>
              </a:spcBef>
              <a:spcAft>
                <a:spcPts val="1200"/>
              </a:spcAft>
            </a:pPr>
            <a:r>
              <a:rPr lang="en-AU" sz="2200" dirty="0" smtClean="0">
                <a:latin typeface="Helvetica" pitchFamily="34" charset="0"/>
              </a:rPr>
              <a:t>Speciality wines</a:t>
            </a:r>
          </a:p>
          <a:p>
            <a:pPr lvl="0">
              <a:spcBef>
                <a:spcPts val="600"/>
              </a:spcBef>
              <a:spcAft>
                <a:spcPts val="1200"/>
              </a:spcAft>
            </a:pPr>
            <a:r>
              <a:rPr lang="en-AU" sz="2200" dirty="0" smtClean="0">
                <a:latin typeface="Helvetica" pitchFamily="34" charset="0"/>
              </a:rPr>
              <a:t>Decorations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7" name="Picture 6" descr="MP900423108.JPG"/>
          <p:cNvPicPr/>
          <p:nvPr/>
        </p:nvPicPr>
        <p:blipFill>
          <a:blip r:embed="rId3" cstate="print"/>
          <a:stretch>
            <a:fillRect/>
          </a:stretch>
        </p:blipFill>
        <p:spPr>
          <a:xfrm>
            <a:off x="6569620" y="3643314"/>
            <a:ext cx="1404406" cy="1643073"/>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Styles of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Different styles of service</a:t>
            </a:r>
          </a:p>
          <a:p>
            <a:pPr>
              <a:spcBef>
                <a:spcPts val="600"/>
              </a:spcBef>
              <a:spcAft>
                <a:spcPts val="1200"/>
              </a:spcAft>
            </a:pPr>
            <a:r>
              <a:rPr lang="en-AU" sz="2200" dirty="0" smtClean="0">
                <a:latin typeface="Helvetica" pitchFamily="34" charset="0"/>
              </a:rPr>
              <a:t>Plated service</a:t>
            </a:r>
          </a:p>
          <a:p>
            <a:pPr>
              <a:spcBef>
                <a:spcPts val="600"/>
              </a:spcBef>
              <a:spcAft>
                <a:spcPts val="1200"/>
              </a:spcAft>
            </a:pPr>
            <a:r>
              <a:rPr lang="en-AU" sz="2200" dirty="0" smtClean="0">
                <a:latin typeface="Helvetica" pitchFamily="34" charset="0"/>
              </a:rPr>
              <a:t>Silver service</a:t>
            </a:r>
          </a:p>
          <a:p>
            <a:pPr>
              <a:spcBef>
                <a:spcPts val="600"/>
              </a:spcBef>
              <a:spcAft>
                <a:spcPts val="1200"/>
              </a:spcAft>
            </a:pPr>
            <a:r>
              <a:rPr lang="en-AU" sz="2200" dirty="0" smtClean="0">
                <a:latin typeface="Helvetica" pitchFamily="34" charset="0"/>
              </a:rPr>
              <a:t>Semi silver service</a:t>
            </a:r>
          </a:p>
          <a:p>
            <a:pPr>
              <a:spcBef>
                <a:spcPts val="600"/>
              </a:spcBef>
              <a:spcAft>
                <a:spcPts val="1200"/>
              </a:spcAft>
            </a:pPr>
            <a:r>
              <a:rPr lang="en-AU" sz="2200" dirty="0" smtClean="0">
                <a:latin typeface="Helvetica" pitchFamily="34" charset="0"/>
              </a:rPr>
              <a:t>Gueridon service</a:t>
            </a:r>
          </a:p>
          <a:p>
            <a:pPr>
              <a:spcBef>
                <a:spcPts val="600"/>
              </a:spcBef>
              <a:spcAft>
                <a:spcPts val="1200"/>
              </a:spcAft>
            </a:pPr>
            <a:r>
              <a:rPr lang="en-AU" sz="2200" dirty="0" smtClean="0">
                <a:latin typeface="Helvetica" pitchFamily="34" charset="0"/>
              </a:rPr>
              <a:t>Buffet service</a:t>
            </a:r>
          </a:p>
          <a:p>
            <a:pPr>
              <a:spcBef>
                <a:spcPts val="600"/>
              </a:spcBef>
              <a:spcAft>
                <a:spcPts val="1200"/>
              </a:spcAft>
            </a:pPr>
            <a:r>
              <a:rPr lang="en-AU" sz="2200" dirty="0" smtClean="0">
                <a:latin typeface="Helvetica" pitchFamily="34" charset="0"/>
              </a:rPr>
              <a:t>Cocktail service</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7" name="Picture 6" descr="http://farm9.staticflickr.com/8039/7980174977_54b6d71e8b.jpg"/>
          <p:cNvPicPr/>
          <p:nvPr/>
        </p:nvPicPr>
        <p:blipFill>
          <a:blip r:embed="rId3" cstate="print"/>
          <a:srcRect/>
          <a:stretch>
            <a:fillRect/>
          </a:stretch>
        </p:blipFill>
        <p:spPr bwMode="auto">
          <a:xfrm>
            <a:off x="5857884" y="2714620"/>
            <a:ext cx="2200273" cy="16840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Types of food and beverage packages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There are many different types of menus options that are available to customers.</a:t>
            </a:r>
          </a:p>
          <a:p>
            <a:pPr marL="0">
              <a:spcBef>
                <a:spcPts val="600"/>
              </a:spcBef>
              <a:spcAft>
                <a:spcPts val="1200"/>
              </a:spcAft>
              <a:buNone/>
            </a:pPr>
            <a:r>
              <a:rPr lang="en-AU" sz="2200" dirty="0" smtClean="0">
                <a:latin typeface="Helvetica" pitchFamily="34" charset="0"/>
              </a:rPr>
              <a:t>To keep it simple, functions present three common package options:</a:t>
            </a:r>
          </a:p>
          <a:p>
            <a:pPr>
              <a:spcBef>
                <a:spcPts val="600"/>
              </a:spcBef>
              <a:spcAft>
                <a:spcPts val="1200"/>
              </a:spcAft>
            </a:pPr>
            <a:r>
              <a:rPr lang="en-AU" sz="2200" dirty="0" smtClean="0">
                <a:latin typeface="Helvetica" pitchFamily="34" charset="0"/>
              </a:rPr>
              <a:t>Inclusive</a:t>
            </a:r>
          </a:p>
          <a:p>
            <a:pPr>
              <a:spcBef>
                <a:spcPts val="600"/>
              </a:spcBef>
              <a:spcAft>
                <a:spcPts val="1200"/>
              </a:spcAft>
            </a:pPr>
            <a:r>
              <a:rPr lang="en-AU" sz="2200" dirty="0" smtClean="0">
                <a:latin typeface="Helvetica" pitchFamily="34" charset="0"/>
              </a:rPr>
              <a:t>On consumption</a:t>
            </a:r>
          </a:p>
          <a:p>
            <a:pPr>
              <a:spcBef>
                <a:spcPts val="600"/>
              </a:spcBef>
              <a:spcAft>
                <a:spcPts val="1200"/>
              </a:spcAft>
            </a:pPr>
            <a:r>
              <a:rPr lang="en-AU" sz="2200" dirty="0" smtClean="0">
                <a:latin typeface="Helvetica" pitchFamily="34" charset="0"/>
              </a:rPr>
              <a:t>On cash basis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6" name="Picture 5" descr="MP900422177.JPG"/>
          <p:cNvPicPr/>
          <p:nvPr/>
        </p:nvPicPr>
        <p:blipFill>
          <a:blip r:embed="rId3" cstate="print"/>
          <a:stretch>
            <a:fillRect/>
          </a:stretch>
        </p:blipFill>
        <p:spPr>
          <a:xfrm>
            <a:off x="6715140" y="3214686"/>
            <a:ext cx="1448990" cy="1714512"/>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and send proposal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428736"/>
            <a:ext cx="7467600" cy="4786346"/>
          </a:xfrm>
        </p:spPr>
        <p:txBody>
          <a:bodyPr>
            <a:noAutofit/>
          </a:bodyPr>
          <a:lstStyle/>
          <a:p>
            <a:pPr>
              <a:spcBef>
                <a:spcPts val="600"/>
              </a:spcBef>
              <a:spcAft>
                <a:spcPts val="600"/>
              </a:spcAft>
              <a:buNone/>
            </a:pPr>
            <a:r>
              <a:rPr lang="en-AU" sz="2100" b="1" dirty="0" smtClean="0">
                <a:latin typeface="Helvetica" pitchFamily="34" charset="0"/>
              </a:rPr>
              <a:t>Inclusions in a catering proposal</a:t>
            </a:r>
            <a:endParaRPr lang="en-AU" sz="2100" dirty="0" smtClean="0">
              <a:latin typeface="Helvetica" pitchFamily="34" charset="0"/>
            </a:endParaRPr>
          </a:p>
          <a:p>
            <a:pPr>
              <a:spcBef>
                <a:spcPts val="600"/>
              </a:spcBef>
              <a:spcAft>
                <a:spcPts val="600"/>
              </a:spcAft>
              <a:buNone/>
            </a:pPr>
            <a:r>
              <a:rPr lang="en-AU" sz="2100" dirty="0" smtClean="0">
                <a:latin typeface="Helvetica" pitchFamily="34" charset="0"/>
              </a:rPr>
              <a:t>In summary an event catering proposal should include:</a:t>
            </a:r>
          </a:p>
          <a:p>
            <a:pPr lvl="0">
              <a:spcBef>
                <a:spcPts val="600"/>
              </a:spcBef>
              <a:spcAft>
                <a:spcPts val="600"/>
              </a:spcAft>
            </a:pPr>
            <a:r>
              <a:rPr lang="en-AU" sz="2100" dirty="0" smtClean="0">
                <a:latin typeface="Helvetica" pitchFamily="34" charset="0"/>
              </a:rPr>
              <a:t>Details of all catering proposed – including menus, drinks, timing, service times</a:t>
            </a:r>
          </a:p>
          <a:p>
            <a:pPr lvl="0">
              <a:spcBef>
                <a:spcPts val="600"/>
              </a:spcBef>
              <a:spcAft>
                <a:spcPts val="600"/>
              </a:spcAft>
            </a:pPr>
            <a:r>
              <a:rPr lang="en-AU" sz="2100" dirty="0" smtClean="0">
                <a:latin typeface="Helvetica" pitchFamily="34" charset="0"/>
              </a:rPr>
              <a:t>Costs</a:t>
            </a:r>
          </a:p>
          <a:p>
            <a:pPr lvl="0">
              <a:spcBef>
                <a:spcPts val="600"/>
              </a:spcBef>
              <a:spcAft>
                <a:spcPts val="600"/>
              </a:spcAft>
            </a:pPr>
            <a:r>
              <a:rPr lang="en-AU" sz="2100" dirty="0" smtClean="0">
                <a:latin typeface="Helvetica" pitchFamily="34" charset="0"/>
              </a:rPr>
              <a:t>Options available within designated budget parameters</a:t>
            </a:r>
          </a:p>
          <a:p>
            <a:pPr lvl="0">
              <a:spcBef>
                <a:spcPts val="600"/>
              </a:spcBef>
              <a:spcAft>
                <a:spcPts val="600"/>
              </a:spcAft>
            </a:pPr>
            <a:r>
              <a:rPr lang="en-AU" sz="2100" dirty="0" smtClean="0">
                <a:latin typeface="Helvetica" pitchFamily="34" charset="0"/>
              </a:rPr>
              <a:t>Overview of production, transportation and service of food and beverages</a:t>
            </a:r>
          </a:p>
          <a:p>
            <a:pPr lvl="0">
              <a:spcBef>
                <a:spcPts val="600"/>
              </a:spcBef>
              <a:spcAft>
                <a:spcPts val="600"/>
              </a:spcAft>
            </a:pPr>
            <a:r>
              <a:rPr lang="en-AU" sz="2100" dirty="0" smtClean="0">
                <a:latin typeface="Helvetica" pitchFamily="34" charset="0"/>
              </a:rPr>
              <a:t>Staff numbers</a:t>
            </a:r>
          </a:p>
          <a:p>
            <a:pPr lvl="0">
              <a:spcBef>
                <a:spcPts val="600"/>
              </a:spcBef>
              <a:spcAft>
                <a:spcPts val="600"/>
              </a:spcAft>
            </a:pPr>
            <a:r>
              <a:rPr lang="en-AU" sz="2100" dirty="0" smtClean="0">
                <a:latin typeface="Helvetica" pitchFamily="34" charset="0"/>
              </a:rPr>
              <a:t>Reference to previous events that have been catered for on the same/similar scale</a:t>
            </a:r>
            <a:endParaRPr lang="en-AU" sz="21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 up proposal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Within 24 hours of sending out a proposal a follow up call is required. This is used to determine the following:</a:t>
            </a:r>
          </a:p>
          <a:p>
            <a:pPr lvl="0">
              <a:spcBef>
                <a:spcPts val="600"/>
              </a:spcBef>
              <a:spcAft>
                <a:spcPts val="1200"/>
              </a:spcAft>
            </a:pPr>
            <a:r>
              <a:rPr lang="en-AU" sz="2200" dirty="0" smtClean="0">
                <a:latin typeface="Helvetica" pitchFamily="34" charset="0"/>
              </a:rPr>
              <a:t>If they received the proposal</a:t>
            </a:r>
          </a:p>
          <a:p>
            <a:pPr lvl="0">
              <a:spcBef>
                <a:spcPts val="600"/>
              </a:spcBef>
              <a:spcAft>
                <a:spcPts val="1200"/>
              </a:spcAft>
            </a:pPr>
            <a:r>
              <a:rPr lang="en-AU" sz="2200" dirty="0" smtClean="0">
                <a:latin typeface="Helvetica" pitchFamily="34" charset="0"/>
              </a:rPr>
              <a:t>If you can be of further assistance</a:t>
            </a:r>
          </a:p>
          <a:p>
            <a:pPr lvl="0">
              <a:spcBef>
                <a:spcPts val="600"/>
              </a:spcBef>
              <a:spcAft>
                <a:spcPts val="1200"/>
              </a:spcAft>
            </a:pPr>
            <a:r>
              <a:rPr lang="en-AU" sz="2200" dirty="0" smtClean="0">
                <a:latin typeface="Helvetica" pitchFamily="34" charset="0"/>
              </a:rPr>
              <a:t>If you would like to confirm the booking</a:t>
            </a:r>
          </a:p>
          <a:p>
            <a:pPr>
              <a:spcBef>
                <a:spcPts val="600"/>
              </a:spcBef>
              <a:spcAft>
                <a:spcPts val="1200"/>
              </a:spcAft>
            </a:pPr>
            <a:r>
              <a:rPr lang="en-AU" sz="2200" dirty="0" smtClean="0">
                <a:latin typeface="Helvetica" pitchFamily="34" charset="0"/>
              </a:rPr>
              <a:t>Explain Method Of Payment</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511610_working[2].jpg"/>
          <p:cNvPicPr>
            <a:picLocks noChangeAspect="1"/>
          </p:cNvPicPr>
          <p:nvPr/>
        </p:nvPicPr>
        <p:blipFill>
          <a:blip r:embed="rId3" cstate="print"/>
          <a:stretch>
            <a:fillRect/>
          </a:stretch>
        </p:blipFill>
        <p:spPr>
          <a:xfrm>
            <a:off x="6572264" y="2786058"/>
            <a:ext cx="1719062" cy="1289297"/>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catering operational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Contents of a catering operational plan</a:t>
            </a:r>
          </a:p>
          <a:p>
            <a:pPr lvl="0">
              <a:spcBef>
                <a:spcPts val="600"/>
              </a:spcBef>
              <a:spcAft>
                <a:spcPts val="1200"/>
              </a:spcAft>
            </a:pPr>
            <a:r>
              <a:rPr lang="en-AU" sz="2200" dirty="0" smtClean="0">
                <a:latin typeface="Helvetica" pitchFamily="34" charset="0"/>
              </a:rPr>
              <a:t>Final menus and beverages</a:t>
            </a:r>
          </a:p>
          <a:p>
            <a:pPr lvl="0">
              <a:spcBef>
                <a:spcPts val="600"/>
              </a:spcBef>
              <a:spcAft>
                <a:spcPts val="1200"/>
              </a:spcAft>
            </a:pPr>
            <a:r>
              <a:rPr lang="en-AU" sz="2200" dirty="0" smtClean="0">
                <a:latin typeface="Helvetica" pitchFamily="34" charset="0"/>
              </a:rPr>
              <a:t>Final arrangements regarding timing, locations and all agreed service issues</a:t>
            </a:r>
          </a:p>
          <a:p>
            <a:pPr lvl="0">
              <a:spcBef>
                <a:spcPts val="600"/>
              </a:spcBef>
              <a:spcAft>
                <a:spcPts val="1200"/>
              </a:spcAft>
            </a:pPr>
            <a:r>
              <a:rPr lang="en-AU" sz="2200" dirty="0" smtClean="0">
                <a:latin typeface="Helvetica" pitchFamily="34" charset="0"/>
              </a:rPr>
              <a:t>Final prices</a:t>
            </a:r>
          </a:p>
          <a:p>
            <a:pPr lvl="0">
              <a:spcBef>
                <a:spcPts val="600"/>
              </a:spcBef>
              <a:spcAft>
                <a:spcPts val="1200"/>
              </a:spcAft>
            </a:pPr>
            <a:r>
              <a:rPr lang="en-AU" sz="2200" dirty="0" smtClean="0">
                <a:latin typeface="Helvetica" pitchFamily="34" charset="0"/>
              </a:rPr>
              <a:t>Details of implementation protocols to                              ensure service and product delivery in </a:t>
            </a:r>
            <a:br>
              <a:rPr lang="en-AU" sz="2200" dirty="0" smtClean="0">
                <a:latin typeface="Helvetica" pitchFamily="34" charset="0"/>
              </a:rPr>
            </a:br>
            <a:r>
              <a:rPr lang="en-AU" sz="2200" dirty="0" smtClean="0">
                <a:latin typeface="Helvetica" pitchFamily="34" charset="0"/>
              </a:rPr>
              <a:t>accordance with the proposal</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6" descr="iStock_000002496177Medium.jpg"/>
          <p:cNvPicPr>
            <a:picLocks noChangeAspect="1"/>
          </p:cNvPicPr>
          <p:nvPr/>
        </p:nvPicPr>
        <p:blipFill>
          <a:blip r:embed="rId3" cstate="print"/>
          <a:stretch>
            <a:fillRect/>
          </a:stretch>
        </p:blipFill>
        <p:spPr>
          <a:xfrm>
            <a:off x="6715140" y="3500438"/>
            <a:ext cx="1198645" cy="1795850"/>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catering operational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Importance of Running Sheets</a:t>
            </a:r>
          </a:p>
          <a:p>
            <a:pPr>
              <a:spcBef>
                <a:spcPts val="600"/>
              </a:spcBef>
              <a:spcAft>
                <a:spcPts val="1200"/>
              </a:spcAft>
            </a:pPr>
            <a:r>
              <a:rPr lang="en-AU" sz="2200" dirty="0" smtClean="0">
                <a:latin typeface="Helvetica" pitchFamily="34" charset="0"/>
              </a:rPr>
              <a:t>What is a Running Sheet?</a:t>
            </a:r>
          </a:p>
          <a:p>
            <a:pPr>
              <a:spcBef>
                <a:spcPts val="600"/>
              </a:spcBef>
              <a:spcAft>
                <a:spcPts val="1200"/>
              </a:spcAft>
            </a:pPr>
            <a:r>
              <a:rPr lang="en-AU" sz="2200" dirty="0" smtClean="0">
                <a:latin typeface="Helvetica" pitchFamily="34" charset="0"/>
              </a:rPr>
              <a:t>What information is included in a Running Sheet?</a:t>
            </a:r>
          </a:p>
          <a:p>
            <a:pPr>
              <a:spcBef>
                <a:spcPts val="600"/>
              </a:spcBef>
              <a:spcAft>
                <a:spcPts val="1200"/>
              </a:spcAft>
            </a:pPr>
            <a:r>
              <a:rPr lang="en-AU" sz="2200" dirty="0" smtClean="0">
                <a:latin typeface="Helvetica" pitchFamily="34" charset="0"/>
              </a:rPr>
              <a:t>What is it used for?</a:t>
            </a:r>
          </a:p>
          <a:p>
            <a:pPr>
              <a:spcBef>
                <a:spcPts val="600"/>
              </a:spcBef>
              <a:spcAft>
                <a:spcPts val="1200"/>
              </a:spcAft>
            </a:pPr>
            <a:r>
              <a:rPr lang="en-AU" sz="2200" dirty="0" smtClean="0">
                <a:latin typeface="Helvetica" pitchFamily="34" charset="0"/>
              </a:rPr>
              <a:t>What are the benefits of using Running Sheets?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MP900411789[1].JPG"/>
          <p:cNvPicPr/>
          <p:nvPr/>
        </p:nvPicPr>
        <p:blipFill>
          <a:blip r:embed="rId3" cstate="print"/>
          <a:stretch>
            <a:fillRect/>
          </a:stretch>
        </p:blipFill>
        <p:spPr>
          <a:xfrm>
            <a:off x="3357554" y="4572008"/>
            <a:ext cx="2090539" cy="1513706"/>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One of the key requirements when planning for a function is to ensure that you are adequately staffed for the event</a:t>
            </a:r>
          </a:p>
          <a:p>
            <a:pPr>
              <a:spcBef>
                <a:spcPts val="600"/>
              </a:spcBef>
              <a:spcAft>
                <a:spcPts val="1200"/>
              </a:spcAft>
            </a:pPr>
            <a:r>
              <a:rPr lang="en-AU" sz="2200" dirty="0" smtClean="0">
                <a:latin typeface="Helvetica" pitchFamily="34" charset="0"/>
              </a:rPr>
              <a:t>This is normally undertaken through the use of a roster</a:t>
            </a:r>
          </a:p>
          <a:p>
            <a:pPr>
              <a:spcBef>
                <a:spcPts val="600"/>
              </a:spcBef>
              <a:spcAft>
                <a:spcPts val="1200"/>
              </a:spcAft>
            </a:pPr>
            <a:r>
              <a:rPr lang="en-AU" sz="2200" dirty="0" smtClean="0">
                <a:latin typeface="Helvetica" pitchFamily="34" charset="0"/>
              </a:rPr>
              <a:t>A roster is a plan that organises staff, indicating which staff are to work where and at what times</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7" name="Picture 6" descr="j0302924.jpg"/>
          <p:cNvPicPr/>
          <p:nvPr/>
        </p:nvPicPr>
        <p:blipFill>
          <a:blip r:embed="rId3" cstate="print"/>
          <a:stretch>
            <a:fillRect/>
          </a:stretch>
        </p:blipFill>
        <p:spPr>
          <a:xfrm>
            <a:off x="3643306" y="4500570"/>
            <a:ext cx="2105025" cy="1457325"/>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Impacts on staffing</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amount and type of staff required to service a function will greatly depend on the:</a:t>
            </a:r>
          </a:p>
          <a:p>
            <a:pPr lvl="0">
              <a:spcBef>
                <a:spcPts val="600"/>
              </a:spcBef>
              <a:spcAft>
                <a:spcPts val="1200"/>
              </a:spcAft>
            </a:pPr>
            <a:r>
              <a:rPr lang="en-AU" sz="2200" dirty="0" smtClean="0">
                <a:latin typeface="Helvetica" pitchFamily="34" charset="0"/>
              </a:rPr>
              <a:t>Type of function</a:t>
            </a:r>
          </a:p>
          <a:p>
            <a:pPr lvl="0">
              <a:spcBef>
                <a:spcPts val="600"/>
              </a:spcBef>
              <a:spcAft>
                <a:spcPts val="1200"/>
              </a:spcAft>
            </a:pPr>
            <a:r>
              <a:rPr lang="en-AU" sz="2200" dirty="0" smtClean="0">
                <a:latin typeface="Helvetica" pitchFamily="34" charset="0"/>
              </a:rPr>
              <a:t>Service requirements</a:t>
            </a:r>
          </a:p>
          <a:p>
            <a:pPr lvl="0">
              <a:spcBef>
                <a:spcPts val="600"/>
              </a:spcBef>
              <a:spcAft>
                <a:spcPts val="1200"/>
              </a:spcAft>
            </a:pPr>
            <a:r>
              <a:rPr lang="en-AU" sz="2200" dirty="0" smtClean="0">
                <a:latin typeface="Helvetica" pitchFamily="34" charset="0"/>
              </a:rPr>
              <a:t>Numbers attending</a:t>
            </a:r>
          </a:p>
          <a:p>
            <a:pPr lvl="0">
              <a:spcBef>
                <a:spcPts val="600"/>
              </a:spcBef>
              <a:spcAft>
                <a:spcPts val="1200"/>
              </a:spcAft>
            </a:pPr>
            <a:r>
              <a:rPr lang="en-AU" sz="2200" dirty="0" smtClean="0">
                <a:latin typeface="Helvetica" pitchFamily="34" charset="0"/>
              </a:rPr>
              <a:t>Level of service required </a:t>
            </a:r>
          </a:p>
          <a:p>
            <a:pPr lvl="0">
              <a:spcBef>
                <a:spcPts val="600"/>
              </a:spcBef>
              <a:spcAft>
                <a:spcPts val="1200"/>
              </a:spcAft>
            </a:pPr>
            <a:r>
              <a:rPr lang="en-AU" sz="2200" dirty="0" smtClean="0">
                <a:latin typeface="Helvetica" pitchFamily="34" charset="0"/>
              </a:rPr>
              <a:t>Host of associated miscellaneous details</a:t>
            </a:r>
          </a:p>
          <a:p>
            <a:pPr>
              <a:buNone/>
            </a:pPr>
            <a:endParaRPr lang="en-AU" sz="2400" dirty="0" smtClean="0"/>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W-A 6-4-04 -233_RT8 - students in Culinary class.jpg"/>
          <p:cNvPicPr>
            <a:picLocks noChangeAspect="1"/>
          </p:cNvPicPr>
          <p:nvPr/>
        </p:nvPicPr>
        <p:blipFill>
          <a:blip r:embed="rId3" cstate="print"/>
          <a:stretch>
            <a:fillRect/>
          </a:stretch>
        </p:blipFill>
        <p:spPr>
          <a:xfrm>
            <a:off x="5715008" y="3143248"/>
            <a:ext cx="2302764" cy="1535176"/>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Rostering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Rostering considerations</a:t>
            </a:r>
          </a:p>
          <a:p>
            <a:pPr>
              <a:spcBef>
                <a:spcPts val="600"/>
              </a:spcBef>
              <a:spcAft>
                <a:spcPts val="1200"/>
              </a:spcAft>
            </a:pPr>
            <a:r>
              <a:rPr lang="en-AU" sz="2200" dirty="0" smtClean="0">
                <a:latin typeface="Helvetica" pitchFamily="34" charset="0"/>
              </a:rPr>
              <a:t>Calculating staff numbers</a:t>
            </a:r>
          </a:p>
          <a:p>
            <a:pPr>
              <a:spcBef>
                <a:spcPts val="600"/>
              </a:spcBef>
              <a:spcAft>
                <a:spcPts val="1200"/>
              </a:spcAft>
            </a:pPr>
            <a:r>
              <a:rPr lang="en-AU" sz="2200" dirty="0" smtClean="0">
                <a:latin typeface="Helvetica" pitchFamily="34" charset="0"/>
              </a:rPr>
              <a:t>Ensuring productivity standards are </a:t>
            </a:r>
            <a:br>
              <a:rPr lang="en-AU" sz="2200" dirty="0" smtClean="0">
                <a:latin typeface="Helvetica" pitchFamily="34" charset="0"/>
              </a:rPr>
            </a:br>
            <a:r>
              <a:rPr lang="en-AU" sz="2200" dirty="0" smtClean="0">
                <a:latin typeface="Helvetica" pitchFamily="34" charset="0"/>
              </a:rPr>
              <a:t>met</a:t>
            </a:r>
          </a:p>
          <a:p>
            <a:pPr>
              <a:spcBef>
                <a:spcPts val="600"/>
              </a:spcBef>
              <a:spcAft>
                <a:spcPts val="1200"/>
              </a:spcAft>
            </a:pPr>
            <a:r>
              <a:rPr lang="en-AU" sz="2200" dirty="0" smtClean="0">
                <a:latin typeface="Helvetica" pitchFamily="34" charset="0"/>
              </a:rPr>
              <a:t>Meeting budget</a:t>
            </a:r>
          </a:p>
          <a:p>
            <a:pPr>
              <a:spcBef>
                <a:spcPts val="600"/>
              </a:spcBef>
              <a:spcAft>
                <a:spcPts val="1200"/>
              </a:spcAft>
            </a:pPr>
            <a:r>
              <a:rPr lang="en-AU" sz="2200" dirty="0" smtClean="0">
                <a:latin typeface="Helvetica" pitchFamily="34" charset="0"/>
              </a:rPr>
              <a:t>Allocating the right mix of staff</a:t>
            </a:r>
          </a:p>
          <a:p>
            <a:pPr>
              <a:spcBef>
                <a:spcPts val="600"/>
              </a:spcBef>
              <a:spcAft>
                <a:spcPts val="1200"/>
              </a:spcAft>
            </a:pPr>
            <a:r>
              <a:rPr lang="en-AU" sz="2200" dirty="0" smtClean="0">
                <a:latin typeface="Helvetica" pitchFamily="34" charset="0"/>
              </a:rPr>
              <a:t>Accessing staff</a:t>
            </a:r>
          </a:p>
          <a:p>
            <a:pPr>
              <a:spcBef>
                <a:spcPts val="600"/>
              </a:spcBef>
              <a:spcAft>
                <a:spcPts val="1200"/>
              </a:spcAft>
            </a:pPr>
            <a:r>
              <a:rPr lang="en-AU" sz="2200" dirty="0" smtClean="0">
                <a:latin typeface="Helvetica" pitchFamily="34" charset="0"/>
              </a:rPr>
              <a:t>Confirming staff</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smtClean="0"/>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7" name="Picture 6" descr="5.jpg"/>
          <p:cNvPicPr/>
          <p:nvPr/>
        </p:nvPicPr>
        <p:blipFill>
          <a:blip r:embed="rId3" cstate="print"/>
          <a:stretch>
            <a:fillRect/>
          </a:stretch>
        </p:blipFill>
        <p:spPr>
          <a:xfrm>
            <a:off x="6215074" y="2357430"/>
            <a:ext cx="2029460" cy="1657350"/>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4:</a:t>
            </a:r>
          </a:p>
          <a:p>
            <a:pPr marL="0">
              <a:spcBef>
                <a:spcPts val="600"/>
              </a:spcBef>
              <a:spcAft>
                <a:spcPts val="1200"/>
              </a:spcAft>
              <a:buNone/>
            </a:pPr>
            <a:r>
              <a:rPr lang="en-AU" sz="4000" dirty="0" smtClean="0">
                <a:solidFill>
                  <a:srgbClr val="FF6600"/>
                </a:solidFill>
                <a:latin typeface="Helvetica" pitchFamily="34" charset="0"/>
              </a:rPr>
              <a:t>Plan and deliver sponsorship plans</a:t>
            </a: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5" name="Picture 4" descr="MP900442744[1].JPG"/>
          <p:cNvPicPr>
            <a:picLocks noChangeAspect="1"/>
          </p:cNvPicPr>
          <p:nvPr/>
        </p:nvPicPr>
        <p:blipFill>
          <a:blip r:embed="rId3" cstate="print"/>
          <a:stretch>
            <a:fillRect/>
          </a:stretch>
        </p:blipFill>
        <p:spPr>
          <a:xfrm>
            <a:off x="3214678" y="3500438"/>
            <a:ext cx="2805178" cy="1864618"/>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Plan and deliver sponsorship plans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sponsorship opportunities, where appropriate</a:t>
            </a:r>
          </a:p>
          <a:p>
            <a:pPr>
              <a:spcBef>
                <a:spcPts val="600"/>
              </a:spcBef>
              <a:spcAft>
                <a:spcPts val="1200"/>
              </a:spcAft>
            </a:pPr>
            <a:r>
              <a:rPr lang="en-AU" sz="2200" dirty="0" smtClean="0">
                <a:latin typeface="Helvetica" pitchFamily="34" charset="0"/>
              </a:rPr>
              <a:t>Create and promote sponsorship packages, where appropriate</a:t>
            </a:r>
          </a:p>
          <a:p>
            <a:pPr>
              <a:spcBef>
                <a:spcPts val="600"/>
              </a:spcBef>
              <a:spcAft>
                <a:spcPts val="1200"/>
              </a:spcAft>
            </a:pPr>
            <a:r>
              <a:rPr lang="en-AU" sz="2200" dirty="0" smtClean="0">
                <a:latin typeface="Helvetica" pitchFamily="34" charset="0"/>
              </a:rPr>
              <a:t>Implement sponsorship items and activities</a:t>
            </a:r>
          </a:p>
          <a:p>
            <a:pPr>
              <a:spcBef>
                <a:spcPts val="600"/>
              </a:spcBef>
              <a:spcAft>
                <a:spcPts val="1200"/>
              </a:spcAft>
            </a:pPr>
            <a:r>
              <a:rPr lang="en-AU" sz="2200" dirty="0" smtClean="0">
                <a:latin typeface="Helvetica" pitchFamily="34" charset="0"/>
              </a:rPr>
              <a:t>Follow up with sponsors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715272" y="2071678"/>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571736" y="307181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500826" y="3571876"/>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143372" y="4143380"/>
            <a:ext cx="399154" cy="527046"/>
          </a:xfrm>
          <a:prstGeom prst="rect">
            <a:avLst/>
          </a:prstGeom>
          <a:noFill/>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Sponsorship is a common part of running an event</a:t>
            </a:r>
          </a:p>
          <a:p>
            <a:pPr>
              <a:spcBef>
                <a:spcPts val="600"/>
              </a:spcBef>
              <a:spcAft>
                <a:spcPts val="1200"/>
              </a:spcAft>
            </a:pPr>
            <a:r>
              <a:rPr lang="en-AU" sz="2200" dirty="0" smtClean="0">
                <a:latin typeface="Helvetica" pitchFamily="34" charset="0"/>
              </a:rPr>
              <a:t>There are benefits for both the event organiser and the sponsoring business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7" name="Picture 6" descr="MP900401735[1].JPG"/>
          <p:cNvPicPr/>
          <p:nvPr/>
        </p:nvPicPr>
        <p:blipFill>
          <a:blip r:embed="rId3" cstate="print"/>
          <a:stretch>
            <a:fillRect/>
          </a:stretch>
        </p:blipFill>
        <p:spPr>
          <a:xfrm>
            <a:off x="5983803" y="2857496"/>
            <a:ext cx="1840029" cy="2286016"/>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606008"/>
          </a:xfrm>
        </p:spPr>
        <p:txBody>
          <a:bodyPr>
            <a:normAutofit/>
          </a:bodyPr>
          <a:lstStyle/>
          <a:p>
            <a:pPr>
              <a:spcBef>
                <a:spcPts val="600"/>
              </a:spcBef>
              <a:spcAft>
                <a:spcPts val="1200"/>
              </a:spcAft>
              <a:buNone/>
            </a:pPr>
            <a:r>
              <a:rPr lang="en-AU" sz="2100" b="1" dirty="0" smtClean="0">
                <a:latin typeface="Helvetica" pitchFamily="34" charset="0"/>
              </a:rPr>
              <a:t>Benefits for sponsors</a:t>
            </a:r>
            <a:endParaRPr lang="en-AU" sz="2100" dirty="0" smtClean="0">
              <a:latin typeface="Helvetica" pitchFamily="34" charset="0"/>
            </a:endParaRPr>
          </a:p>
          <a:p>
            <a:pPr lvl="0">
              <a:spcBef>
                <a:spcPts val="600"/>
              </a:spcBef>
              <a:spcAft>
                <a:spcPts val="1200"/>
              </a:spcAft>
            </a:pPr>
            <a:r>
              <a:rPr lang="en-AU" sz="2100" dirty="0" smtClean="0">
                <a:latin typeface="Helvetica" pitchFamily="34" charset="0"/>
              </a:rPr>
              <a:t>Right to display and promote their name </a:t>
            </a:r>
          </a:p>
          <a:p>
            <a:pPr lvl="0">
              <a:spcBef>
                <a:spcPts val="600"/>
              </a:spcBef>
              <a:spcAft>
                <a:spcPts val="1200"/>
              </a:spcAft>
            </a:pPr>
            <a:r>
              <a:rPr lang="en-AU" sz="2100" dirty="0" smtClean="0">
                <a:latin typeface="Helvetica" pitchFamily="34" charset="0"/>
              </a:rPr>
              <a:t>Increase brand awareness</a:t>
            </a:r>
          </a:p>
          <a:p>
            <a:pPr lvl="0">
              <a:spcBef>
                <a:spcPts val="600"/>
              </a:spcBef>
              <a:spcAft>
                <a:spcPts val="1200"/>
              </a:spcAft>
            </a:pPr>
            <a:r>
              <a:rPr lang="en-AU" sz="2100" dirty="0" smtClean="0">
                <a:latin typeface="Helvetica" pitchFamily="34" charset="0"/>
              </a:rPr>
              <a:t>Affiliate with other organisations, charities </a:t>
            </a:r>
            <a:br>
              <a:rPr lang="en-AU" sz="2100" dirty="0" smtClean="0">
                <a:latin typeface="Helvetica" pitchFamily="34" charset="0"/>
              </a:rPr>
            </a:br>
            <a:r>
              <a:rPr lang="en-AU" sz="2100" dirty="0" smtClean="0">
                <a:latin typeface="Helvetica" pitchFamily="34" charset="0"/>
              </a:rPr>
              <a:t>or celebrities </a:t>
            </a:r>
          </a:p>
          <a:p>
            <a:pPr lvl="0">
              <a:spcBef>
                <a:spcPts val="600"/>
              </a:spcBef>
              <a:spcAft>
                <a:spcPts val="1200"/>
              </a:spcAft>
            </a:pPr>
            <a:r>
              <a:rPr lang="en-AU" sz="2100" dirty="0" smtClean="0">
                <a:latin typeface="Helvetica" pitchFamily="34" charset="0"/>
              </a:rPr>
              <a:t>Enhance the brand or visibility of an event </a:t>
            </a:r>
            <a:br>
              <a:rPr lang="en-AU" sz="2100" dirty="0" smtClean="0">
                <a:latin typeface="Helvetica" pitchFamily="34" charset="0"/>
              </a:rPr>
            </a:br>
            <a:r>
              <a:rPr lang="en-AU" sz="2100" dirty="0" smtClean="0">
                <a:latin typeface="Helvetica" pitchFamily="34" charset="0"/>
              </a:rPr>
              <a:t>by having a ‘reputable’ company behind it</a:t>
            </a:r>
          </a:p>
          <a:p>
            <a:pPr lvl="0">
              <a:spcBef>
                <a:spcPts val="600"/>
              </a:spcBef>
              <a:spcAft>
                <a:spcPts val="1200"/>
              </a:spcAft>
            </a:pPr>
            <a:r>
              <a:rPr lang="en-AU" sz="2100" dirty="0" smtClean="0">
                <a:latin typeface="Helvetica" pitchFamily="34" charset="0"/>
              </a:rPr>
              <a:t>Engage with the community and employees</a:t>
            </a:r>
          </a:p>
          <a:p>
            <a:pPr lvl="0">
              <a:spcBef>
                <a:spcPts val="600"/>
              </a:spcBef>
              <a:spcAft>
                <a:spcPts val="1200"/>
              </a:spcAft>
            </a:pPr>
            <a:r>
              <a:rPr lang="en-AU" sz="2100" dirty="0" smtClean="0">
                <a:latin typeface="Helvetica" pitchFamily="34" charset="0"/>
              </a:rPr>
              <a:t>Enhance product and service sampling </a:t>
            </a:r>
          </a:p>
          <a:p>
            <a:pPr lvl="0">
              <a:spcBef>
                <a:spcPts val="600"/>
              </a:spcBef>
              <a:spcAft>
                <a:spcPts val="1200"/>
              </a:spcAft>
            </a:pPr>
            <a:r>
              <a:rPr lang="en-AU" sz="2100" dirty="0" smtClean="0">
                <a:latin typeface="Helvetica" pitchFamily="34" charset="0"/>
              </a:rPr>
              <a:t>Improve contact and visual presence with the media</a:t>
            </a:r>
          </a:p>
          <a:p>
            <a:pPr marL="0">
              <a:spcBef>
                <a:spcPts val="600"/>
              </a:spcBef>
              <a:spcAft>
                <a:spcPts val="1200"/>
              </a:spcAft>
              <a:buNone/>
            </a:pPr>
            <a:endParaRPr lang="en-AU" sz="2100" dirty="0" smtClean="0">
              <a:latin typeface="Helvetica" pitchFamily="34" charset="0"/>
            </a:endParaRPr>
          </a:p>
          <a:p>
            <a:pPr>
              <a:buNone/>
            </a:pPr>
            <a:endParaRPr lang="en-AU" sz="21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5" name="Picture 4" descr="Bar.jpg"/>
          <p:cNvPicPr/>
          <p:nvPr/>
        </p:nvPicPr>
        <p:blipFill>
          <a:blip r:embed="rId3" cstate="print"/>
          <a:stretch>
            <a:fillRect/>
          </a:stretch>
        </p:blipFill>
        <p:spPr>
          <a:xfrm>
            <a:off x="6500826" y="3143248"/>
            <a:ext cx="1909540" cy="1285884"/>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Identify potential sponsors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Potential sponsors can include:</a:t>
            </a:r>
          </a:p>
          <a:p>
            <a:pPr lvl="0">
              <a:spcBef>
                <a:spcPts val="600"/>
              </a:spcBef>
              <a:spcAft>
                <a:spcPts val="1200"/>
              </a:spcAft>
            </a:pPr>
            <a:r>
              <a:rPr lang="en-AU" sz="2200" dirty="0" smtClean="0">
                <a:latin typeface="Helvetica" pitchFamily="34" charset="0"/>
              </a:rPr>
              <a:t>Individuals </a:t>
            </a:r>
          </a:p>
          <a:p>
            <a:pPr lvl="0">
              <a:spcBef>
                <a:spcPts val="600"/>
              </a:spcBef>
              <a:spcAft>
                <a:spcPts val="1200"/>
              </a:spcAft>
            </a:pPr>
            <a:r>
              <a:rPr lang="en-AU" sz="2200" dirty="0" smtClean="0">
                <a:latin typeface="Helvetica" pitchFamily="34" charset="0"/>
              </a:rPr>
              <a:t>Government agencies</a:t>
            </a:r>
          </a:p>
          <a:p>
            <a:pPr lvl="0">
              <a:spcBef>
                <a:spcPts val="600"/>
              </a:spcBef>
              <a:spcAft>
                <a:spcPts val="1200"/>
              </a:spcAft>
            </a:pPr>
            <a:r>
              <a:rPr lang="en-AU" sz="2200" dirty="0" smtClean="0">
                <a:latin typeface="Helvetica" pitchFamily="34" charset="0"/>
              </a:rPr>
              <a:t>Companies </a:t>
            </a:r>
          </a:p>
          <a:p>
            <a:pPr lvl="0">
              <a:spcBef>
                <a:spcPts val="600"/>
              </a:spcBef>
              <a:spcAft>
                <a:spcPts val="1200"/>
              </a:spcAft>
            </a:pPr>
            <a:r>
              <a:rPr lang="en-AU" sz="2200" dirty="0" smtClean="0">
                <a:latin typeface="Helvetica" pitchFamily="34" charset="0"/>
              </a:rPr>
              <a:t>Industry organisations </a:t>
            </a:r>
          </a:p>
          <a:p>
            <a:pPr>
              <a:spcBef>
                <a:spcPts val="600"/>
              </a:spcBef>
              <a:spcAft>
                <a:spcPts val="1200"/>
              </a:spcAft>
            </a:pPr>
            <a:r>
              <a:rPr lang="en-AU" sz="2200" dirty="0" smtClean="0">
                <a:latin typeface="Helvetica" pitchFamily="34" charset="0"/>
              </a:rPr>
              <a:t>Community groups </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6" name="Picture 5" descr="5372616452_3eb1b487e2_m.jpg"/>
          <p:cNvPicPr/>
          <p:nvPr/>
        </p:nvPicPr>
        <p:blipFill>
          <a:blip r:embed="rId3" cstate="print">
            <a:grayscl/>
            <a:lum bright="10000"/>
          </a:blip>
          <a:stretch>
            <a:fillRect/>
          </a:stretch>
        </p:blipFill>
        <p:spPr>
          <a:xfrm>
            <a:off x="6215074" y="2428868"/>
            <a:ext cx="1725786" cy="2264643"/>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Identify potential sponsors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great starting point is to compile a list of suitable sponsors. This can include:</a:t>
            </a:r>
          </a:p>
          <a:p>
            <a:pPr lvl="0">
              <a:spcBef>
                <a:spcPts val="600"/>
              </a:spcBef>
              <a:spcAft>
                <a:spcPts val="1200"/>
              </a:spcAft>
            </a:pPr>
            <a:r>
              <a:rPr lang="en-AU" sz="2200" dirty="0" smtClean="0">
                <a:latin typeface="Helvetica" pitchFamily="34" charset="0"/>
              </a:rPr>
              <a:t>Current vendors</a:t>
            </a:r>
          </a:p>
          <a:p>
            <a:pPr lvl="0">
              <a:spcBef>
                <a:spcPts val="600"/>
              </a:spcBef>
              <a:spcAft>
                <a:spcPts val="1200"/>
              </a:spcAft>
            </a:pPr>
            <a:r>
              <a:rPr lang="en-AU" sz="2200" dirty="0" smtClean="0">
                <a:latin typeface="Helvetica" pitchFamily="34" charset="0"/>
              </a:rPr>
              <a:t>Past sponsors</a:t>
            </a:r>
          </a:p>
          <a:p>
            <a:pPr lvl="0">
              <a:spcBef>
                <a:spcPts val="600"/>
              </a:spcBef>
              <a:spcAft>
                <a:spcPts val="1200"/>
              </a:spcAft>
            </a:pPr>
            <a:r>
              <a:rPr lang="en-AU" sz="2200" dirty="0" smtClean="0">
                <a:latin typeface="Helvetica" pitchFamily="34" charset="0"/>
              </a:rPr>
              <a:t>Business partners</a:t>
            </a:r>
          </a:p>
          <a:p>
            <a:pPr lvl="0">
              <a:spcBef>
                <a:spcPts val="600"/>
              </a:spcBef>
              <a:spcAft>
                <a:spcPts val="1200"/>
              </a:spcAft>
            </a:pPr>
            <a:r>
              <a:rPr lang="en-AU" sz="2200" dirty="0" smtClean="0">
                <a:latin typeface="Helvetica" pitchFamily="34" charset="0"/>
              </a:rPr>
              <a:t>Affiliated businesses</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7" name="Picture 6" descr="MP900424406.JPG"/>
          <p:cNvPicPr>
            <a:picLocks noChangeAspect="1"/>
          </p:cNvPicPr>
          <p:nvPr/>
        </p:nvPicPr>
        <p:blipFill>
          <a:blip r:embed="rId3" cstate="print"/>
          <a:stretch>
            <a:fillRect/>
          </a:stretch>
        </p:blipFill>
        <p:spPr>
          <a:xfrm>
            <a:off x="6572264" y="2786058"/>
            <a:ext cx="1650727" cy="2250792"/>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sponsorship</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sponsorship</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a number of common types of sponsorship including:</a:t>
            </a:r>
          </a:p>
          <a:p>
            <a:pPr lvl="0">
              <a:spcBef>
                <a:spcPts val="600"/>
              </a:spcBef>
              <a:spcAft>
                <a:spcPts val="1200"/>
              </a:spcAft>
            </a:pPr>
            <a:r>
              <a:rPr lang="en-AU" sz="2200" dirty="0" smtClean="0">
                <a:latin typeface="Helvetica" pitchFamily="34" charset="0"/>
              </a:rPr>
              <a:t>Cash sponsorship </a:t>
            </a:r>
          </a:p>
          <a:p>
            <a:pPr lvl="0">
              <a:spcBef>
                <a:spcPts val="600"/>
              </a:spcBef>
              <a:spcAft>
                <a:spcPts val="1200"/>
              </a:spcAft>
            </a:pPr>
            <a:r>
              <a:rPr lang="en-AU" sz="2200" dirty="0" smtClean="0">
                <a:latin typeface="Helvetica" pitchFamily="34" charset="0"/>
              </a:rPr>
              <a:t>Product sponsorship </a:t>
            </a:r>
          </a:p>
          <a:p>
            <a:pPr lvl="0">
              <a:spcBef>
                <a:spcPts val="600"/>
              </a:spcBef>
              <a:spcAft>
                <a:spcPts val="1200"/>
              </a:spcAft>
            </a:pPr>
            <a:r>
              <a:rPr lang="en-AU" sz="2200" dirty="0" smtClean="0">
                <a:latin typeface="Helvetica" pitchFamily="34" charset="0"/>
              </a:rPr>
              <a:t>Venue sponsorship </a:t>
            </a:r>
          </a:p>
          <a:p>
            <a:pPr>
              <a:spcBef>
                <a:spcPts val="600"/>
              </a:spcBef>
              <a:spcAft>
                <a:spcPts val="1200"/>
              </a:spcAft>
            </a:pPr>
            <a:r>
              <a:rPr lang="en-AU" sz="2200" dirty="0" smtClean="0">
                <a:latin typeface="Helvetica" pitchFamily="34" charset="0"/>
              </a:rPr>
              <a:t>Person sponsorship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6" name="Picture 5" descr="Chef.jpg"/>
          <p:cNvPicPr>
            <a:picLocks noChangeAspect="1"/>
          </p:cNvPicPr>
          <p:nvPr/>
        </p:nvPicPr>
        <p:blipFill>
          <a:blip r:embed="rId3" cstate="print"/>
          <a:stretch>
            <a:fillRect/>
          </a:stretch>
        </p:blipFill>
        <p:spPr>
          <a:xfrm>
            <a:off x="5500694" y="3143248"/>
            <a:ext cx="2006119" cy="1819424"/>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Sponsorship packages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Create different sponsorship levels</a:t>
            </a:r>
          </a:p>
          <a:p>
            <a:pPr marL="0">
              <a:spcBef>
                <a:spcPts val="600"/>
              </a:spcBef>
              <a:spcAft>
                <a:spcPts val="1200"/>
              </a:spcAft>
              <a:buNone/>
            </a:pPr>
            <a:r>
              <a:rPr lang="en-AU" sz="2200" dirty="0" smtClean="0">
                <a:latin typeface="Helvetica" pitchFamily="34" charset="0"/>
              </a:rPr>
              <a:t>It is a proven idea to offer different sponsorship packages. </a:t>
            </a:r>
          </a:p>
          <a:p>
            <a:pPr marL="0">
              <a:spcBef>
                <a:spcPts val="600"/>
              </a:spcBef>
              <a:spcAft>
                <a:spcPts val="1200"/>
              </a:spcAft>
              <a:buNone/>
            </a:pPr>
            <a:r>
              <a:rPr lang="en-AU" sz="2200" dirty="0" smtClean="0">
                <a:latin typeface="Helvetica" pitchFamily="34" charset="0"/>
              </a:rPr>
              <a:t>Each level will have a different financial cost and matching benefits.</a:t>
            </a:r>
          </a:p>
          <a:p>
            <a:pPr>
              <a:spcBef>
                <a:spcPts val="600"/>
              </a:spcBef>
              <a:spcAft>
                <a:spcPts val="1200"/>
              </a:spcAft>
            </a:pPr>
            <a:r>
              <a:rPr lang="en-AU" sz="2200" dirty="0" smtClean="0">
                <a:latin typeface="Helvetica" pitchFamily="34" charset="0"/>
              </a:rPr>
              <a:t>What are examples of different levels of sponsorships for different events?</a:t>
            </a:r>
          </a:p>
          <a:p>
            <a:pPr>
              <a:spcBef>
                <a:spcPts val="600"/>
              </a:spcBef>
              <a:spcAft>
                <a:spcPts val="1200"/>
              </a:spcAft>
            </a:pPr>
            <a:r>
              <a:rPr lang="en-AU" sz="2200" dirty="0" smtClean="0">
                <a:latin typeface="Helvetica" pitchFamily="34" charset="0"/>
              </a:rPr>
              <a:t>What is the cost?</a:t>
            </a:r>
          </a:p>
          <a:p>
            <a:pPr>
              <a:spcBef>
                <a:spcPts val="600"/>
              </a:spcBef>
              <a:spcAft>
                <a:spcPts val="1200"/>
              </a:spcAft>
            </a:pPr>
            <a:r>
              <a:rPr lang="en-AU" sz="2200" dirty="0" smtClean="0">
                <a:latin typeface="Helvetica" pitchFamily="34" charset="0"/>
              </a:rPr>
              <a:t>What does the sponsor get?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7" name="Picture 6" descr="2515212927_076145ca61_m.jpg"/>
          <p:cNvPicPr/>
          <p:nvPr/>
        </p:nvPicPr>
        <p:blipFill>
          <a:blip r:embed="rId3" cstate="print"/>
          <a:stretch>
            <a:fillRect/>
          </a:stretch>
        </p:blipFill>
        <p:spPr>
          <a:xfrm>
            <a:off x="5572132" y="4214818"/>
            <a:ext cx="2649080" cy="1643074"/>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Sponsorship packages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Basic sponsorship categories / levels</a:t>
            </a:r>
          </a:p>
          <a:p>
            <a:pPr>
              <a:spcBef>
                <a:spcPts val="600"/>
              </a:spcBef>
              <a:spcAft>
                <a:spcPts val="1200"/>
              </a:spcAft>
            </a:pP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Basic level sponsorship</a:t>
            </a:r>
          </a:p>
          <a:p>
            <a:pPr>
              <a:spcBef>
                <a:spcPts val="600"/>
              </a:spcBef>
              <a:spcAft>
                <a:spcPts val="1200"/>
              </a:spcAft>
            </a:pPr>
            <a:r>
              <a:rPr lang="en-AU" sz="2200" dirty="0" smtClean="0">
                <a:latin typeface="Helvetica" pitchFamily="34" charset="0"/>
              </a:rPr>
              <a:t>Medium level sponsorship</a:t>
            </a:r>
          </a:p>
          <a:p>
            <a:pPr>
              <a:spcBef>
                <a:spcPts val="600"/>
              </a:spcBef>
              <a:spcAft>
                <a:spcPts val="1200"/>
              </a:spcAft>
            </a:pPr>
            <a:r>
              <a:rPr lang="en-AU" sz="2200" dirty="0" smtClean="0">
                <a:latin typeface="Helvetica" pitchFamily="34" charset="0"/>
              </a:rPr>
              <a:t>Top level sponsorship</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6" name="Picture 5" descr="3309756576_2795177281_m.jpg"/>
          <p:cNvPicPr/>
          <p:nvPr/>
        </p:nvPicPr>
        <p:blipFill>
          <a:blip r:embed="rId3" cstate="print"/>
          <a:stretch>
            <a:fillRect/>
          </a:stretch>
        </p:blipFill>
        <p:spPr>
          <a:xfrm>
            <a:off x="5929322" y="2143116"/>
            <a:ext cx="2204953" cy="1542083"/>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Sponsorship packages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Create different sponsorship levels</a:t>
            </a:r>
          </a:p>
          <a:p>
            <a:pPr marL="0">
              <a:spcBef>
                <a:spcPts val="600"/>
              </a:spcBef>
              <a:spcAft>
                <a:spcPts val="1200"/>
              </a:spcAft>
              <a:buNone/>
            </a:pPr>
            <a:r>
              <a:rPr lang="en-AU" sz="2200" dirty="0" smtClean="0">
                <a:latin typeface="Helvetica" pitchFamily="34" charset="0"/>
              </a:rPr>
              <a:t>It is a proven idea to offer different sponsorship packages. </a:t>
            </a:r>
          </a:p>
          <a:p>
            <a:pPr marL="0">
              <a:spcBef>
                <a:spcPts val="600"/>
              </a:spcBef>
              <a:spcAft>
                <a:spcPts val="1200"/>
              </a:spcAft>
              <a:buNone/>
            </a:pPr>
            <a:r>
              <a:rPr lang="en-AU" sz="2200" dirty="0" smtClean="0">
                <a:latin typeface="Helvetica" pitchFamily="34" charset="0"/>
              </a:rPr>
              <a:t>Each level will have a different financial cost and matching benefits.</a:t>
            </a:r>
          </a:p>
          <a:p>
            <a:pPr>
              <a:spcBef>
                <a:spcPts val="600"/>
              </a:spcBef>
              <a:spcAft>
                <a:spcPts val="1200"/>
              </a:spcAft>
            </a:pPr>
            <a:r>
              <a:rPr lang="en-AU" sz="2200" dirty="0" smtClean="0">
                <a:latin typeface="Helvetica" pitchFamily="34" charset="0"/>
              </a:rPr>
              <a:t>What are examples of different levels of sponsorships for different events?</a:t>
            </a:r>
          </a:p>
          <a:p>
            <a:pPr>
              <a:spcBef>
                <a:spcPts val="600"/>
              </a:spcBef>
              <a:spcAft>
                <a:spcPts val="1200"/>
              </a:spcAft>
            </a:pPr>
            <a:r>
              <a:rPr lang="en-AU" sz="2200" dirty="0" smtClean="0">
                <a:latin typeface="Helvetica" pitchFamily="34" charset="0"/>
              </a:rPr>
              <a:t>What is the cost?</a:t>
            </a:r>
          </a:p>
          <a:p>
            <a:pPr>
              <a:spcBef>
                <a:spcPts val="600"/>
              </a:spcBef>
              <a:spcAft>
                <a:spcPts val="1200"/>
              </a:spcAft>
            </a:pPr>
            <a:r>
              <a:rPr lang="en-AU" sz="2200" dirty="0" smtClean="0">
                <a:latin typeface="Helvetica" pitchFamily="34" charset="0"/>
              </a:rPr>
              <a:t>What does the sponsor get?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9219" name="Picture 3" descr="C:\Documents and Settings\danielc\Local Settings\Temporary Internet Files\Content.IE5\SIQ5KRQ3\MC900237203[1].wmf"/>
          <p:cNvPicPr>
            <a:picLocks noChangeAspect="1" noChangeArrowheads="1"/>
          </p:cNvPicPr>
          <p:nvPr/>
        </p:nvPicPr>
        <p:blipFill>
          <a:blip r:embed="rId3" cstate="print"/>
          <a:srcRect/>
          <a:stretch>
            <a:fillRect/>
          </a:stretch>
        </p:blipFill>
        <p:spPr bwMode="auto">
          <a:xfrm>
            <a:off x="6143636" y="4143380"/>
            <a:ext cx="1908772" cy="2195465"/>
          </a:xfrm>
          <a:prstGeom prst="rect">
            <a:avLst/>
          </a:prstGeom>
          <a:noFill/>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Sponsorship packages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600"/>
              </a:spcAft>
              <a:buNone/>
            </a:pPr>
            <a:r>
              <a:rPr lang="en-AU" sz="2200" b="1" dirty="0" smtClean="0">
                <a:latin typeface="Helvetica" pitchFamily="34" charset="0"/>
              </a:rPr>
              <a:t>Examples of sponsorship inclusions</a:t>
            </a:r>
          </a:p>
          <a:p>
            <a:pPr>
              <a:spcBef>
                <a:spcPts val="600"/>
              </a:spcBef>
              <a:spcAft>
                <a:spcPts val="600"/>
              </a:spcAft>
              <a:buNone/>
            </a:pPr>
            <a:r>
              <a:rPr lang="en-AU" sz="2200" b="1" dirty="0" smtClean="0">
                <a:latin typeface="Helvetica" pitchFamily="34" charset="0"/>
              </a:rPr>
              <a:t>Example – Food and Wine Festival</a:t>
            </a:r>
          </a:p>
          <a:p>
            <a:pPr lvl="0">
              <a:spcBef>
                <a:spcPts val="600"/>
              </a:spcBef>
              <a:spcAft>
                <a:spcPts val="600"/>
              </a:spcAft>
            </a:pPr>
            <a:r>
              <a:rPr lang="en-AU" sz="2200" dirty="0" smtClean="0">
                <a:latin typeface="Helvetica" pitchFamily="34" charset="0"/>
              </a:rPr>
              <a:t>Signage/banner opportunities (stage, railing, towers, street pole, etc.) </a:t>
            </a:r>
          </a:p>
          <a:p>
            <a:pPr lvl="0">
              <a:spcBef>
                <a:spcPts val="600"/>
              </a:spcBef>
              <a:spcAft>
                <a:spcPts val="600"/>
              </a:spcAft>
            </a:pPr>
            <a:r>
              <a:rPr lang="en-AU" sz="2200" dirty="0" smtClean="0">
                <a:latin typeface="Helvetica" pitchFamily="34" charset="0"/>
              </a:rPr>
              <a:t>Corporate logo on main stage </a:t>
            </a:r>
          </a:p>
          <a:p>
            <a:pPr lvl="0">
              <a:spcBef>
                <a:spcPts val="600"/>
              </a:spcBef>
              <a:spcAft>
                <a:spcPts val="600"/>
              </a:spcAft>
            </a:pPr>
            <a:r>
              <a:rPr lang="en-AU" sz="2200" dirty="0" smtClean="0">
                <a:latin typeface="Helvetica" pitchFamily="34" charset="0"/>
              </a:rPr>
              <a:t>Category exclusivity </a:t>
            </a:r>
          </a:p>
          <a:p>
            <a:pPr lvl="0">
              <a:spcBef>
                <a:spcPts val="600"/>
              </a:spcBef>
              <a:spcAft>
                <a:spcPts val="600"/>
              </a:spcAft>
            </a:pPr>
            <a:r>
              <a:rPr lang="en-AU" sz="2200" dirty="0" smtClean="0">
                <a:latin typeface="Helvetica" pitchFamily="34" charset="0"/>
              </a:rPr>
              <a:t>Promotional tent </a:t>
            </a:r>
          </a:p>
          <a:p>
            <a:pPr lvl="0">
              <a:spcBef>
                <a:spcPts val="600"/>
              </a:spcBef>
              <a:spcAft>
                <a:spcPts val="600"/>
              </a:spcAft>
            </a:pPr>
            <a:r>
              <a:rPr lang="en-AU" sz="2200" dirty="0" smtClean="0">
                <a:latin typeface="Helvetica" pitchFamily="34" charset="0"/>
              </a:rPr>
              <a:t>Advertisement in program materials </a:t>
            </a:r>
          </a:p>
          <a:p>
            <a:pPr lvl="0">
              <a:spcBef>
                <a:spcPts val="600"/>
              </a:spcBef>
              <a:spcAft>
                <a:spcPts val="600"/>
              </a:spcAft>
            </a:pPr>
            <a:r>
              <a:rPr lang="en-AU" sz="2200" dirty="0" smtClean="0">
                <a:latin typeface="Helvetica" pitchFamily="34" charset="0"/>
              </a:rPr>
              <a:t>Status level on event brochure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6" name="Picture 5" descr="3309756576_2795177281_m.jpg"/>
          <p:cNvPicPr>
            <a:picLocks noChangeAspect="1"/>
          </p:cNvPicPr>
          <p:nvPr/>
        </p:nvPicPr>
        <p:blipFill>
          <a:blip r:embed="rId3" cstate="print"/>
          <a:stretch>
            <a:fillRect/>
          </a:stretch>
        </p:blipFill>
        <p:spPr>
          <a:xfrm>
            <a:off x="5929322" y="3357562"/>
            <a:ext cx="2342811" cy="1571636"/>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Sponsorship packages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Examples of sponsorship inclusions</a:t>
            </a:r>
          </a:p>
          <a:p>
            <a:pPr>
              <a:spcBef>
                <a:spcPts val="600"/>
              </a:spcBef>
              <a:spcAft>
                <a:spcPts val="1200"/>
              </a:spcAft>
              <a:buNone/>
            </a:pPr>
            <a:r>
              <a:rPr lang="en-AU" sz="2200" b="1" dirty="0" smtClean="0">
                <a:latin typeface="Helvetica" pitchFamily="34" charset="0"/>
              </a:rPr>
              <a:t>Example – Food and Wine Festival</a:t>
            </a:r>
          </a:p>
          <a:p>
            <a:pPr lvl="0">
              <a:spcBef>
                <a:spcPts val="600"/>
              </a:spcBef>
              <a:spcAft>
                <a:spcPts val="600"/>
              </a:spcAft>
            </a:pPr>
            <a:r>
              <a:rPr lang="en-AU" sz="2200" dirty="0" smtClean="0">
                <a:latin typeface="Helvetica" pitchFamily="34" charset="0"/>
              </a:rPr>
              <a:t>Corporate logo on event advertisements </a:t>
            </a:r>
          </a:p>
          <a:p>
            <a:pPr>
              <a:spcBef>
                <a:spcPts val="600"/>
              </a:spcBef>
              <a:spcAft>
                <a:spcPts val="600"/>
              </a:spcAft>
            </a:pPr>
            <a:r>
              <a:rPr lang="en-AU" sz="2200" dirty="0" smtClean="0">
                <a:latin typeface="Helvetica" pitchFamily="34" charset="0"/>
              </a:rPr>
              <a:t>Corporate logo at ticket windows</a:t>
            </a:r>
          </a:p>
          <a:p>
            <a:pPr lvl="0">
              <a:spcBef>
                <a:spcPts val="600"/>
              </a:spcBef>
              <a:spcAft>
                <a:spcPts val="1200"/>
              </a:spcAft>
            </a:pPr>
            <a:r>
              <a:rPr lang="en-AU" sz="2200" dirty="0" smtClean="0">
                <a:latin typeface="Helvetica" pitchFamily="34" charset="0"/>
              </a:rPr>
              <a:t>Mentions in radio advertising </a:t>
            </a:r>
          </a:p>
          <a:p>
            <a:pPr lvl="0">
              <a:spcBef>
                <a:spcPts val="600"/>
              </a:spcBef>
              <a:spcAft>
                <a:spcPts val="1200"/>
              </a:spcAft>
            </a:pPr>
            <a:r>
              <a:rPr lang="en-AU" sz="2200" dirty="0" smtClean="0">
                <a:latin typeface="Helvetica" pitchFamily="34" charset="0"/>
              </a:rPr>
              <a:t>Priority seating tickets </a:t>
            </a:r>
          </a:p>
          <a:p>
            <a:pPr lvl="0">
              <a:spcBef>
                <a:spcPts val="600"/>
              </a:spcBef>
              <a:spcAft>
                <a:spcPts val="1200"/>
              </a:spcAft>
            </a:pPr>
            <a:r>
              <a:rPr lang="en-AU" sz="2200" dirty="0" smtClean="0">
                <a:latin typeface="Helvetica" pitchFamily="34" charset="0"/>
              </a:rPr>
              <a:t>Use of corporate hospitality tents </a:t>
            </a:r>
          </a:p>
          <a:p>
            <a:pPr lvl="0">
              <a:spcBef>
                <a:spcPts val="600"/>
              </a:spcBef>
              <a:spcAft>
                <a:spcPts val="1200"/>
              </a:spcAft>
            </a:pPr>
            <a:r>
              <a:rPr lang="en-AU" sz="2200" dirty="0" smtClean="0">
                <a:latin typeface="Helvetica" pitchFamily="34" charset="0"/>
              </a:rPr>
              <a:t>Main stage presentations </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5" name="Picture 4" descr="7944194826_9cb3f12be7_m.jpg"/>
          <p:cNvPicPr>
            <a:picLocks noChangeAspect="1"/>
          </p:cNvPicPr>
          <p:nvPr/>
        </p:nvPicPr>
        <p:blipFill>
          <a:blip r:embed="rId3" cstate="print">
            <a:lum contrast="20000"/>
          </a:blip>
          <a:stretch>
            <a:fillRect/>
          </a:stretch>
        </p:blipFill>
        <p:spPr>
          <a:xfrm>
            <a:off x="6572264" y="2928934"/>
            <a:ext cx="1589294" cy="2119059"/>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Sponsorship packages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Examples of sponsorship inclusions</a:t>
            </a:r>
          </a:p>
          <a:p>
            <a:pPr>
              <a:spcBef>
                <a:spcPts val="600"/>
              </a:spcBef>
              <a:spcAft>
                <a:spcPts val="1200"/>
              </a:spcAft>
              <a:buNone/>
            </a:pPr>
            <a:r>
              <a:rPr lang="en-AU" sz="2200" b="1" dirty="0" smtClean="0">
                <a:latin typeface="Helvetica" pitchFamily="34" charset="0"/>
              </a:rPr>
              <a:t>Example – Food and Wine Festival</a:t>
            </a:r>
          </a:p>
          <a:p>
            <a:pPr lvl="0">
              <a:spcBef>
                <a:spcPts val="600"/>
              </a:spcBef>
              <a:spcAft>
                <a:spcPts val="1200"/>
              </a:spcAft>
            </a:pPr>
            <a:r>
              <a:rPr lang="en-AU" sz="2200" dirty="0" smtClean="0">
                <a:latin typeface="Helvetica" pitchFamily="34" charset="0"/>
              </a:rPr>
              <a:t>Main stage mentions </a:t>
            </a:r>
          </a:p>
          <a:p>
            <a:pPr lvl="0">
              <a:spcBef>
                <a:spcPts val="600"/>
              </a:spcBef>
              <a:spcAft>
                <a:spcPts val="1200"/>
              </a:spcAft>
            </a:pPr>
            <a:r>
              <a:rPr lang="en-AU" sz="2200" dirty="0" smtClean="0">
                <a:latin typeface="Helvetica" pitchFamily="34" charset="0"/>
              </a:rPr>
              <a:t>Opportunity to bring inflatable for increased visibility </a:t>
            </a:r>
          </a:p>
          <a:p>
            <a:pPr lvl="0">
              <a:spcBef>
                <a:spcPts val="600"/>
              </a:spcBef>
              <a:spcAft>
                <a:spcPts val="1200"/>
              </a:spcAft>
            </a:pPr>
            <a:r>
              <a:rPr lang="en-AU" sz="2200" dirty="0" smtClean="0">
                <a:latin typeface="Helvetica" pitchFamily="34" charset="0"/>
              </a:rPr>
              <a:t>Corporate press releases with event press kits </a:t>
            </a:r>
          </a:p>
          <a:p>
            <a:pPr lvl="0">
              <a:spcBef>
                <a:spcPts val="600"/>
              </a:spcBef>
              <a:spcAft>
                <a:spcPts val="1200"/>
              </a:spcAft>
            </a:pPr>
            <a:r>
              <a:rPr lang="en-AU" sz="2200" dirty="0" smtClean="0">
                <a:latin typeface="Helvetica" pitchFamily="34" charset="0"/>
              </a:rPr>
              <a:t>Parking and delivery permits </a:t>
            </a:r>
          </a:p>
          <a:p>
            <a:pPr lvl="0">
              <a:spcBef>
                <a:spcPts val="600"/>
              </a:spcBef>
              <a:spcAft>
                <a:spcPts val="1200"/>
              </a:spcAft>
            </a:pPr>
            <a:r>
              <a:rPr lang="en-AU" sz="2200" dirty="0" smtClean="0">
                <a:latin typeface="Helvetica" pitchFamily="34" charset="0"/>
              </a:rPr>
              <a:t>Opportunity to distribute pre-approved sample items</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6" name="Picture 5" descr="2515203533_4787e3e753_m.jpg"/>
          <p:cNvPicPr>
            <a:picLocks noChangeAspect="1"/>
          </p:cNvPicPr>
          <p:nvPr/>
        </p:nvPicPr>
        <p:blipFill>
          <a:blip r:embed="rId3" cstate="print"/>
          <a:stretch>
            <a:fillRect/>
          </a:stretch>
        </p:blipFill>
        <p:spPr>
          <a:xfrm>
            <a:off x="6143636" y="1928802"/>
            <a:ext cx="2050919" cy="1153642"/>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Sponsorship items and activities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Summary of items and activities to prepare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Sponsorship items and activities that need to be prepared may include:</a:t>
            </a:r>
          </a:p>
          <a:p>
            <a:pPr lvl="0">
              <a:spcBef>
                <a:spcPts val="600"/>
              </a:spcBef>
              <a:spcAft>
                <a:spcPts val="1200"/>
              </a:spcAft>
            </a:pPr>
            <a:r>
              <a:rPr lang="en-AU" sz="2200" dirty="0" smtClean="0">
                <a:latin typeface="Helvetica" pitchFamily="34" charset="0"/>
              </a:rPr>
              <a:t>Overall event sponsorship and/or segmented sponsorship</a:t>
            </a:r>
          </a:p>
          <a:p>
            <a:pPr lvl="0">
              <a:spcBef>
                <a:spcPts val="600"/>
              </a:spcBef>
              <a:spcAft>
                <a:spcPts val="1200"/>
              </a:spcAft>
            </a:pPr>
            <a:r>
              <a:rPr lang="en-AU" sz="2200" dirty="0" smtClean="0">
                <a:latin typeface="Helvetica" pitchFamily="34" charset="0"/>
              </a:rPr>
              <a:t>Satchels, gifts and physical items</a:t>
            </a:r>
          </a:p>
          <a:p>
            <a:pPr lvl="0">
              <a:spcBef>
                <a:spcPts val="600"/>
              </a:spcBef>
              <a:spcAft>
                <a:spcPts val="1200"/>
              </a:spcAft>
            </a:pPr>
            <a:r>
              <a:rPr lang="en-AU" sz="2200" dirty="0" smtClean="0">
                <a:latin typeface="Helvetica" pitchFamily="34" charset="0"/>
              </a:rPr>
              <a:t>Meals, drinks, travel, accommodation, speakers, social events</a:t>
            </a:r>
          </a:p>
          <a:p>
            <a:pPr lvl="0">
              <a:spcBef>
                <a:spcPts val="600"/>
              </a:spcBef>
              <a:spcAft>
                <a:spcPts val="1200"/>
              </a:spcAft>
            </a:pPr>
            <a:r>
              <a:rPr lang="en-AU" sz="2200" dirty="0" smtClean="0">
                <a:latin typeface="Helvetica" pitchFamily="34" charset="0"/>
              </a:rPr>
              <a:t>One-off promotional activities and on-going organisational activities</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7" name="Picture 6" descr="MP900402202[1].JPG"/>
          <p:cNvPicPr>
            <a:picLocks noChangeAspect="1"/>
          </p:cNvPicPr>
          <p:nvPr/>
        </p:nvPicPr>
        <p:blipFill>
          <a:blip r:embed="rId3" cstate="print"/>
          <a:stretch>
            <a:fillRect/>
          </a:stretch>
        </p:blipFill>
        <p:spPr>
          <a:xfrm>
            <a:off x="7000892" y="3000372"/>
            <a:ext cx="1662688" cy="1330150"/>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Follow up with sponsors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33424" y="1285860"/>
            <a:ext cx="7467600" cy="5606008"/>
          </a:xfrm>
        </p:spPr>
        <p:txBody>
          <a:bodyPr>
            <a:normAutofit/>
          </a:bodyPr>
          <a:lstStyle/>
          <a:p>
            <a:pPr>
              <a:spcBef>
                <a:spcPts val="600"/>
              </a:spcBef>
              <a:spcAft>
                <a:spcPts val="1200"/>
              </a:spcAft>
              <a:buNone/>
            </a:pPr>
            <a:r>
              <a:rPr lang="en-AU" sz="2200" b="1" dirty="0" smtClean="0">
                <a:latin typeface="Helvetica" pitchFamily="34" charset="0"/>
              </a:rPr>
              <a:t>Importance of communicating with sponsors</a:t>
            </a:r>
            <a:endParaRPr lang="en-AU" sz="2200" dirty="0" smtClean="0">
              <a:latin typeface="Helvetica" pitchFamily="34" charset="0"/>
            </a:endParaRPr>
          </a:p>
          <a:p>
            <a:pPr marL="421200">
              <a:spcBef>
                <a:spcPts val="600"/>
              </a:spcBef>
              <a:spcAft>
                <a:spcPts val="1200"/>
              </a:spcAft>
            </a:pPr>
            <a:r>
              <a:rPr lang="en-AU" sz="2200" dirty="0" smtClean="0">
                <a:latin typeface="Helvetica" pitchFamily="34" charset="0"/>
              </a:rPr>
              <a:t>Why is it important to communicate with sponsors?</a:t>
            </a:r>
          </a:p>
          <a:p>
            <a:pPr marL="421200">
              <a:spcBef>
                <a:spcPts val="600"/>
              </a:spcBef>
              <a:spcAft>
                <a:spcPts val="1200"/>
              </a:spcAft>
            </a:pPr>
            <a:r>
              <a:rPr lang="en-AU" sz="2200" dirty="0" smtClean="0">
                <a:latin typeface="Helvetica" pitchFamily="34" charset="0"/>
              </a:rPr>
              <a:t>How would this be done?</a:t>
            </a:r>
          </a:p>
          <a:p>
            <a:pPr marL="421200">
              <a:spcBef>
                <a:spcPts val="600"/>
              </a:spcBef>
              <a:spcAft>
                <a:spcPts val="1200"/>
              </a:spcAft>
            </a:pPr>
            <a:r>
              <a:rPr lang="en-AU" sz="2200" dirty="0" smtClean="0">
                <a:latin typeface="Helvetica" pitchFamily="34" charset="0"/>
              </a:rPr>
              <a:t>How often would it be done?</a:t>
            </a:r>
          </a:p>
          <a:p>
            <a:pPr marL="421200">
              <a:spcBef>
                <a:spcPts val="600"/>
              </a:spcBef>
              <a:spcAft>
                <a:spcPts val="1200"/>
              </a:spcAft>
            </a:pPr>
            <a:r>
              <a:rPr lang="en-AU" sz="2200" dirty="0" smtClean="0">
                <a:latin typeface="Helvetica" pitchFamily="34" charset="0"/>
              </a:rPr>
              <a:t>What involvement would sponsors need to have during the planning and implementation of an event?</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10243" name="Picture 3" descr="C:\Documents and Settings\danielc\Local Settings\Temporary Internet Files\Content.IE5\3DV3UKH9\MP900406569[1].jpg"/>
          <p:cNvPicPr>
            <a:picLocks noChangeAspect="1" noChangeArrowheads="1"/>
          </p:cNvPicPr>
          <p:nvPr/>
        </p:nvPicPr>
        <p:blipFill>
          <a:blip r:embed="rId3" cstate="print">
            <a:grayscl/>
          </a:blip>
          <a:srcRect/>
          <a:stretch>
            <a:fillRect/>
          </a:stretch>
        </p:blipFill>
        <p:spPr bwMode="auto">
          <a:xfrm>
            <a:off x="3714744" y="4643446"/>
            <a:ext cx="1928796" cy="1543037"/>
          </a:xfrm>
          <a:prstGeom prst="rect">
            <a:avLst/>
          </a:prstGeom>
          <a:noFill/>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5:</a:t>
            </a:r>
          </a:p>
          <a:p>
            <a:pPr marL="0">
              <a:spcBef>
                <a:spcPts val="600"/>
              </a:spcBef>
              <a:spcAft>
                <a:spcPts val="1200"/>
              </a:spcAft>
              <a:buNone/>
            </a:pPr>
            <a:r>
              <a:rPr lang="en-AU" sz="4000" dirty="0" smtClean="0">
                <a:solidFill>
                  <a:srgbClr val="FF6600"/>
                </a:solidFill>
              </a:rPr>
              <a:t>Plan and deliver event management</a:t>
            </a:r>
            <a:endParaRPr lang="en-AU" sz="4000" dirty="0" smtClean="0">
              <a:solidFill>
                <a:srgbClr val="FF6600"/>
              </a:solidFill>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6" name="Picture 5" descr="Events.JPG"/>
          <p:cNvPicPr>
            <a:picLocks noChangeAspect="1"/>
          </p:cNvPicPr>
          <p:nvPr/>
        </p:nvPicPr>
        <p:blipFill>
          <a:blip r:embed="rId3" cstate="print"/>
          <a:stretch>
            <a:fillRect/>
          </a:stretch>
        </p:blipFill>
        <p:spPr>
          <a:xfrm>
            <a:off x="3286116" y="3857628"/>
            <a:ext cx="2837335" cy="1884499"/>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Plan and deliver event management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Liaise with event stakeholders</a:t>
            </a:r>
          </a:p>
          <a:p>
            <a:pPr>
              <a:spcBef>
                <a:spcPts val="600"/>
              </a:spcBef>
              <a:spcAft>
                <a:spcPts val="1200"/>
              </a:spcAft>
            </a:pPr>
            <a:r>
              <a:rPr lang="en-AU" sz="2200" dirty="0" smtClean="0">
                <a:latin typeface="Helvetica" pitchFamily="34" charset="0"/>
              </a:rPr>
              <a:t>Prepare event management plan</a:t>
            </a:r>
          </a:p>
          <a:p>
            <a:pPr>
              <a:spcBef>
                <a:spcPts val="600"/>
              </a:spcBef>
              <a:spcAft>
                <a:spcPts val="1200"/>
              </a:spcAft>
            </a:pPr>
            <a:r>
              <a:rPr lang="en-AU" sz="2200" dirty="0" smtClean="0">
                <a:latin typeface="Helvetica" pitchFamily="34" charset="0"/>
              </a:rPr>
              <a:t>Manage event set up in-line with event management plan</a:t>
            </a:r>
          </a:p>
          <a:p>
            <a:pPr>
              <a:spcBef>
                <a:spcPts val="600"/>
              </a:spcBef>
              <a:spcAft>
                <a:spcPts val="1200"/>
              </a:spcAft>
            </a:pPr>
            <a:r>
              <a:rPr lang="en-AU" sz="2200" dirty="0" smtClean="0">
                <a:latin typeface="Helvetica" pitchFamily="34" charset="0"/>
              </a:rPr>
              <a:t>Monitor conduct and implementation of event in-line with event management plan</a:t>
            </a:r>
          </a:p>
          <a:p>
            <a:pPr>
              <a:spcBef>
                <a:spcPts val="600"/>
              </a:spcBef>
              <a:spcAft>
                <a:spcPts val="1200"/>
              </a:spcAft>
            </a:pPr>
            <a:r>
              <a:rPr lang="en-AU" sz="2200" dirty="0" smtClean="0">
                <a:latin typeface="Helvetica" pitchFamily="34" charset="0"/>
              </a:rPr>
              <a:t>Manage finalisation of event and event breakdown in-line with event management plan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887226" y="2071678"/>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214942" y="2643182"/>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1672516" y="3643314"/>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714876" y="450057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214942" y="5429264"/>
            <a:ext cx="399154" cy="527046"/>
          </a:xfrm>
          <a:prstGeom prst="rect">
            <a:avLst/>
          </a:prstGeom>
          <a:noFill/>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Liaise with stakeholders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dirty="0" smtClean="0">
                <a:latin typeface="Helvetica" pitchFamily="34" charset="0"/>
              </a:rPr>
              <a:t>All successful functions are a result of effective teamwork. </a:t>
            </a:r>
          </a:p>
          <a:p>
            <a:pPr>
              <a:spcBef>
                <a:spcPts val="600"/>
              </a:spcBef>
              <a:spcAft>
                <a:spcPts val="1200"/>
              </a:spcAft>
              <a:buNone/>
            </a:pPr>
            <a:r>
              <a:rPr lang="en-AU" sz="2200" dirty="0" smtClean="0">
                <a:latin typeface="Helvetica" pitchFamily="34" charset="0"/>
              </a:rPr>
              <a:t>There is a need to involve others in the planning phase:</a:t>
            </a:r>
          </a:p>
          <a:p>
            <a:pPr>
              <a:spcBef>
                <a:spcPts val="600"/>
              </a:spcBef>
              <a:spcAft>
                <a:spcPts val="1200"/>
              </a:spcAft>
            </a:pPr>
            <a:r>
              <a:rPr lang="en-AU" sz="2200" dirty="0" smtClean="0">
                <a:latin typeface="Helvetica" pitchFamily="34" charset="0"/>
              </a:rPr>
              <a:t>Who would you involve?</a:t>
            </a:r>
          </a:p>
          <a:p>
            <a:pPr>
              <a:spcBef>
                <a:spcPts val="600"/>
              </a:spcBef>
              <a:spcAft>
                <a:spcPts val="1200"/>
              </a:spcAft>
            </a:pPr>
            <a:r>
              <a:rPr lang="en-AU" sz="2200" dirty="0" smtClean="0">
                <a:latin typeface="Helvetica" pitchFamily="34" charset="0"/>
              </a:rPr>
              <a:t>What help can they offer?</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11266" name="Picture 2" descr="C:\Documents and Settings\danielc\Local Settings\Temporary Internet Files\Content.IE5\SIQ5KRQ3\MP900387533[1].jpg"/>
          <p:cNvPicPr>
            <a:picLocks noChangeAspect="1" noChangeArrowheads="1"/>
          </p:cNvPicPr>
          <p:nvPr/>
        </p:nvPicPr>
        <p:blipFill>
          <a:blip r:embed="rId3" cstate="print"/>
          <a:srcRect/>
          <a:stretch>
            <a:fillRect/>
          </a:stretch>
        </p:blipFill>
        <p:spPr bwMode="auto">
          <a:xfrm>
            <a:off x="6143636" y="3000372"/>
            <a:ext cx="1559340" cy="2185990"/>
          </a:xfrm>
          <a:prstGeom prst="rect">
            <a:avLst/>
          </a:prstGeom>
          <a:noFill/>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Liaise with stakeholders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a:spcBef>
                <a:spcPts val="600"/>
              </a:spcBef>
              <a:spcAft>
                <a:spcPts val="1200"/>
              </a:spcAft>
              <a:buNone/>
            </a:pPr>
            <a:r>
              <a:rPr lang="en-AU" sz="2200" b="1" dirty="0" smtClean="0">
                <a:latin typeface="Helvetica" pitchFamily="34" charset="0"/>
              </a:rPr>
              <a:t>Who might be involved?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Executive Chef </a:t>
            </a:r>
          </a:p>
          <a:p>
            <a:pPr lvl="0">
              <a:spcBef>
                <a:spcPts val="600"/>
              </a:spcBef>
              <a:spcAft>
                <a:spcPts val="1200"/>
              </a:spcAft>
            </a:pPr>
            <a:r>
              <a:rPr lang="en-AU" sz="2200" dirty="0" smtClean="0">
                <a:latin typeface="Helvetica" pitchFamily="34" charset="0"/>
              </a:rPr>
              <a:t>Beverage Manager </a:t>
            </a:r>
          </a:p>
          <a:p>
            <a:pPr lvl="0">
              <a:spcBef>
                <a:spcPts val="600"/>
              </a:spcBef>
              <a:spcAft>
                <a:spcPts val="1200"/>
              </a:spcAft>
            </a:pPr>
            <a:r>
              <a:rPr lang="en-AU" sz="2200" dirty="0" smtClean="0">
                <a:latin typeface="Helvetica" pitchFamily="34" charset="0"/>
              </a:rPr>
              <a:t>Maintenance Department</a:t>
            </a:r>
          </a:p>
          <a:p>
            <a:pPr lvl="0">
              <a:spcBef>
                <a:spcPts val="600"/>
              </a:spcBef>
              <a:spcAft>
                <a:spcPts val="1200"/>
              </a:spcAft>
            </a:pPr>
            <a:r>
              <a:rPr lang="en-AU" sz="2200" dirty="0" smtClean="0">
                <a:latin typeface="Helvetica" pitchFamily="34" charset="0"/>
              </a:rPr>
              <a:t>Executive Housekeeper</a:t>
            </a:r>
          </a:p>
          <a:p>
            <a:pPr lvl="0">
              <a:spcBef>
                <a:spcPts val="600"/>
              </a:spcBef>
              <a:spcAft>
                <a:spcPts val="1200"/>
              </a:spcAft>
            </a:pPr>
            <a:r>
              <a:rPr lang="en-AU" sz="2200" dirty="0" smtClean="0">
                <a:latin typeface="Helvetica" pitchFamily="34" charset="0"/>
              </a:rPr>
              <a:t>Catering  and Conference Coordinator </a:t>
            </a:r>
          </a:p>
          <a:p>
            <a:pPr lvl="0">
              <a:spcBef>
                <a:spcPts val="600"/>
              </a:spcBef>
              <a:spcAft>
                <a:spcPts val="1200"/>
              </a:spcAft>
            </a:pPr>
            <a:r>
              <a:rPr lang="en-AU" sz="2200" dirty="0" smtClean="0">
                <a:latin typeface="Helvetica" pitchFamily="34" charset="0"/>
              </a:rPr>
              <a:t>Purchasing Manager</a:t>
            </a:r>
          </a:p>
          <a:p>
            <a:pPr lvl="0">
              <a:spcBef>
                <a:spcPts val="600"/>
              </a:spcBef>
              <a:spcAft>
                <a:spcPts val="1200"/>
              </a:spcAft>
            </a:pPr>
            <a:r>
              <a:rPr lang="en-AU" sz="2200" dirty="0" smtClean="0">
                <a:latin typeface="Helvetica" pitchFamily="34" charset="0"/>
              </a:rPr>
              <a:t>Front Office Manager</a:t>
            </a:r>
          </a:p>
          <a:p>
            <a:pPr lvl="0">
              <a:spcBef>
                <a:spcPts val="600"/>
              </a:spcBef>
              <a:spcAft>
                <a:spcPts val="1200"/>
              </a:spcAft>
            </a:pPr>
            <a:r>
              <a:rPr lang="en-AU" sz="2200" dirty="0" smtClean="0">
                <a:latin typeface="Helvetica" pitchFamily="34" charset="0"/>
              </a:rPr>
              <a:t>Security</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12290" name="Picture 2" descr="C:\Documents and Settings\danielc\Local Settings\Temporary Internet Files\Content.IE5\112MAXTI\MC900078749[1].wmf"/>
          <p:cNvPicPr>
            <a:picLocks noChangeAspect="1" noChangeArrowheads="1"/>
          </p:cNvPicPr>
          <p:nvPr/>
        </p:nvPicPr>
        <p:blipFill>
          <a:blip r:embed="rId3" cstate="print"/>
          <a:srcRect/>
          <a:stretch>
            <a:fillRect/>
          </a:stretch>
        </p:blipFill>
        <p:spPr bwMode="auto">
          <a:xfrm>
            <a:off x="4929190" y="2357430"/>
            <a:ext cx="3113089" cy="1297849"/>
          </a:xfrm>
          <a:prstGeom prst="rect">
            <a:avLst/>
          </a:prstGeom>
          <a:noFill/>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Prepare event management plan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Once all details of an event have been finalised and confirmed it is vital that event management prepare a detailed event management plan</a:t>
            </a:r>
          </a:p>
          <a:p>
            <a:pPr>
              <a:spcBef>
                <a:spcPts val="600"/>
              </a:spcBef>
              <a:spcAft>
                <a:spcPts val="1200"/>
              </a:spcAft>
            </a:pPr>
            <a:r>
              <a:rPr lang="en-AU" sz="2200" dirty="0" smtClean="0">
                <a:latin typeface="Helvetica" pitchFamily="34" charset="0"/>
              </a:rPr>
              <a:t>This plan takes into consideration all possible scenarios and activities that need to either be planned or addressed</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13314" name="Picture 2" descr="C:\Documents and Settings\danielc\Local Settings\Temporary Internet Files\Content.IE5\Y88G682L\MC900439359[1].jpg"/>
          <p:cNvPicPr>
            <a:picLocks noChangeAspect="1" noChangeArrowheads="1"/>
          </p:cNvPicPr>
          <p:nvPr/>
        </p:nvPicPr>
        <p:blipFill>
          <a:blip r:embed="rId3" cstate="print"/>
          <a:srcRect/>
          <a:stretch>
            <a:fillRect/>
          </a:stretch>
        </p:blipFill>
        <p:spPr bwMode="auto">
          <a:xfrm>
            <a:off x="3357554" y="3929066"/>
            <a:ext cx="2128830" cy="2128830"/>
          </a:xfrm>
          <a:prstGeom prst="rect">
            <a:avLst/>
          </a:prstGeom>
          <a:noFill/>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Prepare event management plan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Inclusions in an event management plan</a:t>
            </a:r>
          </a:p>
          <a:p>
            <a:pPr lvl="0">
              <a:spcBef>
                <a:spcPts val="600"/>
              </a:spcBef>
              <a:spcAft>
                <a:spcPts val="1200"/>
              </a:spcAft>
            </a:pPr>
            <a:r>
              <a:rPr lang="en-AU" sz="2200" dirty="0" smtClean="0">
                <a:latin typeface="Helvetica" pitchFamily="34" charset="0"/>
              </a:rPr>
              <a:t>Staffing requirements</a:t>
            </a:r>
          </a:p>
          <a:p>
            <a:pPr lvl="0">
              <a:spcBef>
                <a:spcPts val="600"/>
              </a:spcBef>
              <a:spcAft>
                <a:spcPts val="1200"/>
              </a:spcAft>
            </a:pPr>
            <a:r>
              <a:rPr lang="en-AU" sz="2200" dirty="0" smtClean="0">
                <a:latin typeface="Helvetica" pitchFamily="34" charset="0"/>
              </a:rPr>
              <a:t>Security</a:t>
            </a:r>
          </a:p>
          <a:p>
            <a:pPr lvl="0">
              <a:spcBef>
                <a:spcPts val="600"/>
              </a:spcBef>
              <a:spcAft>
                <a:spcPts val="1200"/>
              </a:spcAft>
            </a:pPr>
            <a:r>
              <a:rPr lang="en-AU" sz="2200" dirty="0" smtClean="0">
                <a:latin typeface="Helvetica" pitchFamily="34" charset="0"/>
              </a:rPr>
              <a:t>Management of external contractors</a:t>
            </a:r>
          </a:p>
          <a:p>
            <a:pPr lvl="0">
              <a:spcBef>
                <a:spcPts val="600"/>
              </a:spcBef>
              <a:spcAft>
                <a:spcPts val="1200"/>
              </a:spcAft>
            </a:pPr>
            <a:r>
              <a:rPr lang="en-AU" sz="2200" dirty="0" smtClean="0">
                <a:latin typeface="Helvetica" pitchFamily="34" charset="0"/>
              </a:rPr>
              <a:t>Running sheets</a:t>
            </a:r>
          </a:p>
          <a:p>
            <a:pPr lvl="0">
              <a:spcBef>
                <a:spcPts val="600"/>
              </a:spcBef>
              <a:spcAft>
                <a:spcPts val="1200"/>
              </a:spcAft>
            </a:pPr>
            <a:r>
              <a:rPr lang="en-AU" sz="2200" dirty="0" smtClean="0">
                <a:latin typeface="Helvetica" pitchFamily="34" charset="0"/>
              </a:rPr>
              <a:t>Briefing papers</a:t>
            </a:r>
          </a:p>
          <a:p>
            <a:pPr>
              <a:spcBef>
                <a:spcPts val="600"/>
              </a:spcBef>
              <a:spcAft>
                <a:spcPts val="1200"/>
              </a:spcAft>
            </a:pPr>
            <a:r>
              <a:rPr lang="en-AU" sz="2200" dirty="0" smtClean="0">
                <a:latin typeface="Helvetica" pitchFamily="34" charset="0"/>
              </a:rPr>
              <a:t>Staging elements or requirements </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6" name="Picture 5" descr="MP900438488.JPG"/>
          <p:cNvPicPr/>
          <p:nvPr/>
        </p:nvPicPr>
        <p:blipFill>
          <a:blip r:embed="rId3" cstate="print"/>
          <a:stretch>
            <a:fillRect/>
          </a:stretch>
        </p:blipFill>
        <p:spPr>
          <a:xfrm>
            <a:off x="6715140" y="2714620"/>
            <a:ext cx="1374264" cy="1877566"/>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Prepare event management plan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606008"/>
          </a:xfrm>
        </p:spPr>
        <p:txBody>
          <a:bodyPr>
            <a:normAutofit/>
          </a:bodyPr>
          <a:lstStyle/>
          <a:p>
            <a:pPr>
              <a:spcBef>
                <a:spcPts val="600"/>
              </a:spcBef>
              <a:spcAft>
                <a:spcPts val="1200"/>
              </a:spcAft>
              <a:buNone/>
            </a:pPr>
            <a:r>
              <a:rPr lang="en-AU" sz="2200" b="1" dirty="0" smtClean="0">
                <a:latin typeface="Helvetica" pitchFamily="34" charset="0"/>
              </a:rPr>
              <a:t>Inclusions in an event management plan</a:t>
            </a:r>
          </a:p>
          <a:p>
            <a:pPr lvl="0">
              <a:spcBef>
                <a:spcPts val="600"/>
              </a:spcBef>
              <a:spcAft>
                <a:spcPts val="1200"/>
              </a:spcAft>
            </a:pPr>
            <a:r>
              <a:rPr lang="en-AU" sz="2200" dirty="0" smtClean="0">
                <a:latin typeface="Helvetica" pitchFamily="34" charset="0"/>
              </a:rPr>
              <a:t>Catering arrangements </a:t>
            </a:r>
          </a:p>
          <a:p>
            <a:pPr lvl="0">
              <a:spcBef>
                <a:spcPts val="600"/>
              </a:spcBef>
              <a:spcAft>
                <a:spcPts val="1200"/>
              </a:spcAft>
            </a:pPr>
            <a:r>
              <a:rPr lang="en-AU" sz="2200" dirty="0" smtClean="0">
                <a:latin typeface="Helvetica" pitchFamily="34" charset="0"/>
              </a:rPr>
              <a:t>Liaison with stakeholders, dignitaries, delegates and guests, media, sponsors</a:t>
            </a:r>
          </a:p>
          <a:p>
            <a:pPr lvl="0">
              <a:spcBef>
                <a:spcPts val="600"/>
              </a:spcBef>
              <a:spcAft>
                <a:spcPts val="1200"/>
              </a:spcAft>
            </a:pPr>
            <a:r>
              <a:rPr lang="en-AU" sz="2200" dirty="0" smtClean="0">
                <a:latin typeface="Helvetica" pitchFamily="34" charset="0"/>
              </a:rPr>
              <a:t>Guest/delegate management on arrival, during the event and on departure</a:t>
            </a:r>
          </a:p>
          <a:p>
            <a:pPr lvl="0">
              <a:spcBef>
                <a:spcPts val="600"/>
              </a:spcBef>
              <a:spcAft>
                <a:spcPts val="1200"/>
              </a:spcAft>
            </a:pPr>
            <a:r>
              <a:rPr lang="en-AU" sz="2200" dirty="0" smtClean="0">
                <a:latin typeface="Helvetica" pitchFamily="34" charset="0"/>
              </a:rPr>
              <a:t>Risk management</a:t>
            </a:r>
          </a:p>
          <a:p>
            <a:pPr lvl="0">
              <a:spcBef>
                <a:spcPts val="600"/>
              </a:spcBef>
              <a:spcAft>
                <a:spcPts val="1200"/>
              </a:spcAft>
            </a:pPr>
            <a:r>
              <a:rPr lang="en-AU" sz="2200" dirty="0" smtClean="0">
                <a:latin typeface="Helvetica" pitchFamily="34" charset="0"/>
              </a:rPr>
              <a:t>Emergency management</a:t>
            </a:r>
          </a:p>
          <a:p>
            <a:pPr lvl="0">
              <a:spcBef>
                <a:spcPts val="600"/>
              </a:spcBef>
              <a:spcAft>
                <a:spcPts val="1200"/>
              </a:spcAft>
            </a:pPr>
            <a:r>
              <a:rPr lang="en-AU" sz="2200" dirty="0" smtClean="0">
                <a:latin typeface="Helvetica" pitchFamily="34" charset="0"/>
              </a:rPr>
              <a:t>Performance standards and guidelines</a:t>
            </a:r>
          </a:p>
          <a:p>
            <a:pPr>
              <a:buNone/>
            </a:pPr>
            <a:endParaRPr lang="en-AU" sz="2400" dirty="0" smtClean="0"/>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5" name="Picture 4" descr="MP900400454[1].JPG"/>
          <p:cNvPicPr/>
          <p:nvPr/>
        </p:nvPicPr>
        <p:blipFill>
          <a:blip r:embed="rId3" cstate="print"/>
          <a:stretch>
            <a:fillRect/>
          </a:stretch>
        </p:blipFill>
        <p:spPr>
          <a:xfrm>
            <a:off x="6215074" y="4071942"/>
            <a:ext cx="1823958" cy="1239763"/>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Prepare event management plan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606008"/>
          </a:xfrm>
        </p:spPr>
        <p:txBody>
          <a:bodyPr>
            <a:normAutofit/>
          </a:bodyPr>
          <a:lstStyle/>
          <a:p>
            <a:pPr>
              <a:spcBef>
                <a:spcPts val="600"/>
              </a:spcBef>
              <a:spcAft>
                <a:spcPts val="1200"/>
              </a:spcAft>
              <a:buNone/>
            </a:pPr>
            <a:r>
              <a:rPr lang="en-AU" sz="2200" b="1" dirty="0" smtClean="0">
                <a:latin typeface="Helvetica" pitchFamily="34" charset="0"/>
              </a:rPr>
              <a:t>Inclusions in an event management plan</a:t>
            </a:r>
          </a:p>
          <a:p>
            <a:pPr lvl="0">
              <a:spcBef>
                <a:spcPts val="600"/>
              </a:spcBef>
              <a:spcAft>
                <a:spcPts val="1200"/>
              </a:spcAft>
            </a:pPr>
            <a:r>
              <a:rPr lang="en-AU" sz="2200" dirty="0" smtClean="0">
                <a:latin typeface="Helvetica" pitchFamily="34" charset="0"/>
              </a:rPr>
              <a:t>Traffic management </a:t>
            </a:r>
          </a:p>
          <a:p>
            <a:pPr lvl="0">
              <a:spcBef>
                <a:spcPts val="600"/>
              </a:spcBef>
              <a:spcAft>
                <a:spcPts val="1200"/>
              </a:spcAft>
            </a:pPr>
            <a:r>
              <a:rPr lang="en-AU" sz="2200" dirty="0" smtClean="0">
                <a:latin typeface="Helvetica" pitchFamily="34" charset="0"/>
              </a:rPr>
              <a:t>Specification of control, command and communication structures </a:t>
            </a:r>
          </a:p>
          <a:p>
            <a:pPr lvl="0">
              <a:spcBef>
                <a:spcPts val="600"/>
              </a:spcBef>
              <a:spcAft>
                <a:spcPts val="1200"/>
              </a:spcAft>
            </a:pPr>
            <a:r>
              <a:rPr lang="en-AU" sz="2200" dirty="0" smtClean="0">
                <a:latin typeface="Helvetica" pitchFamily="34" charset="0"/>
              </a:rPr>
              <a:t>Scopes of responsibility, identification of </a:t>
            </a:r>
            <a:br>
              <a:rPr lang="en-AU" sz="2200" dirty="0" smtClean="0">
                <a:latin typeface="Helvetica" pitchFamily="34" charset="0"/>
              </a:rPr>
            </a:br>
            <a:r>
              <a:rPr lang="en-AU" sz="2200" dirty="0" smtClean="0">
                <a:latin typeface="Helvetica" pitchFamily="34" charset="0"/>
              </a:rPr>
              <a:t>key contact details for event managers</a:t>
            </a:r>
          </a:p>
          <a:p>
            <a:pPr lvl="0">
              <a:spcBef>
                <a:spcPts val="600"/>
              </a:spcBef>
              <a:spcAft>
                <a:spcPts val="1200"/>
              </a:spcAft>
            </a:pPr>
            <a:r>
              <a:rPr lang="en-AU" sz="2200" dirty="0" smtClean="0">
                <a:latin typeface="Helvetica" pitchFamily="34" charset="0"/>
              </a:rPr>
              <a:t>Use of technology</a:t>
            </a:r>
          </a:p>
          <a:p>
            <a:pPr lvl="0">
              <a:spcBef>
                <a:spcPts val="600"/>
              </a:spcBef>
              <a:spcAft>
                <a:spcPts val="1200"/>
              </a:spcAft>
            </a:pPr>
            <a:r>
              <a:rPr lang="en-AU" sz="2200" dirty="0" smtClean="0">
                <a:latin typeface="Helvetica" pitchFamily="34" charset="0"/>
              </a:rPr>
              <a:t>Timing and co-ordination of services, facilities</a:t>
            </a:r>
          </a:p>
          <a:p>
            <a:pPr>
              <a:spcBef>
                <a:spcPts val="600"/>
              </a:spcBef>
              <a:spcAft>
                <a:spcPts val="1200"/>
              </a:spcAft>
            </a:pPr>
            <a:r>
              <a:rPr lang="en-AU" sz="2200" dirty="0" smtClean="0">
                <a:latin typeface="Helvetica" pitchFamily="34" charset="0"/>
              </a:rPr>
              <a:t>Contingency plans </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14338" name="Picture 2" descr="C:\Documents and Settings\danielc\Local Settings\Temporary Internet Files\Content.IE5\V9A2RTT8\MC900055285[1].wmf"/>
          <p:cNvPicPr>
            <a:picLocks noChangeAspect="1" noChangeArrowheads="1"/>
          </p:cNvPicPr>
          <p:nvPr/>
        </p:nvPicPr>
        <p:blipFill>
          <a:blip r:embed="rId3" cstate="print"/>
          <a:srcRect/>
          <a:stretch>
            <a:fillRect/>
          </a:stretch>
        </p:blipFill>
        <p:spPr bwMode="auto">
          <a:xfrm>
            <a:off x="6715140" y="3143248"/>
            <a:ext cx="1604596" cy="1661165"/>
          </a:xfrm>
          <a:prstGeom prst="rect">
            <a:avLst/>
          </a:prstGeom>
          <a:noFill/>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Many individual functions traditionally may require the use of specialised skills or equipment which may not be available within the organisation</a:t>
            </a:r>
          </a:p>
          <a:p>
            <a:pPr>
              <a:spcBef>
                <a:spcPts val="600"/>
              </a:spcBef>
              <a:spcAft>
                <a:spcPts val="1200"/>
              </a:spcAft>
            </a:pPr>
            <a:r>
              <a:rPr lang="en-AU" sz="2200" dirty="0" smtClean="0">
                <a:latin typeface="Helvetica" pitchFamily="34" charset="0"/>
              </a:rPr>
              <a:t>At these times, external services will be utilised</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6" name="Picture 5" descr="MP900386115.JPG"/>
          <p:cNvPicPr/>
          <p:nvPr/>
        </p:nvPicPr>
        <p:blipFill>
          <a:blip r:embed="rId3" cstate="print"/>
          <a:stretch>
            <a:fillRect/>
          </a:stretch>
        </p:blipFill>
        <p:spPr>
          <a:xfrm>
            <a:off x="3500430" y="3571876"/>
            <a:ext cx="2019300" cy="2352675"/>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external providers </a:t>
            </a:r>
          </a:p>
          <a:p>
            <a:pPr lvl="0">
              <a:spcBef>
                <a:spcPts val="600"/>
              </a:spcBef>
              <a:spcAft>
                <a:spcPts val="1200"/>
              </a:spcAft>
            </a:pPr>
            <a:r>
              <a:rPr lang="en-AU" sz="2200" dirty="0" smtClean="0">
                <a:latin typeface="Helvetica" pitchFamily="34" charset="0"/>
              </a:rPr>
              <a:t>Florists </a:t>
            </a:r>
          </a:p>
          <a:p>
            <a:pPr lvl="0">
              <a:spcBef>
                <a:spcPts val="600"/>
              </a:spcBef>
              <a:spcAft>
                <a:spcPts val="1200"/>
              </a:spcAft>
            </a:pPr>
            <a:r>
              <a:rPr lang="en-AU" sz="2200" dirty="0" smtClean="0">
                <a:latin typeface="Helvetica" pitchFamily="34" charset="0"/>
              </a:rPr>
              <a:t>Photographers</a:t>
            </a:r>
          </a:p>
          <a:p>
            <a:pPr lvl="0">
              <a:spcBef>
                <a:spcPts val="600"/>
              </a:spcBef>
              <a:spcAft>
                <a:spcPts val="1200"/>
              </a:spcAft>
            </a:pPr>
            <a:r>
              <a:rPr lang="en-AU" sz="2200" dirty="0" smtClean="0">
                <a:latin typeface="Helvetica" pitchFamily="34" charset="0"/>
              </a:rPr>
              <a:t>Party Hire companies</a:t>
            </a:r>
          </a:p>
          <a:p>
            <a:pPr lvl="0">
              <a:spcBef>
                <a:spcPts val="600"/>
              </a:spcBef>
              <a:spcAft>
                <a:spcPts val="1200"/>
              </a:spcAft>
            </a:pPr>
            <a:r>
              <a:rPr lang="en-AU" sz="2200" dirty="0" smtClean="0">
                <a:latin typeface="Helvetica" pitchFamily="34" charset="0"/>
              </a:rPr>
              <a:t>Entertainers</a:t>
            </a:r>
          </a:p>
          <a:p>
            <a:pPr lvl="0">
              <a:spcBef>
                <a:spcPts val="600"/>
              </a:spcBef>
              <a:spcAft>
                <a:spcPts val="1200"/>
              </a:spcAft>
            </a:pPr>
            <a:r>
              <a:rPr lang="en-AU" sz="2200" dirty="0" smtClean="0">
                <a:latin typeface="Helvetica" pitchFamily="34" charset="0"/>
              </a:rPr>
              <a:t>AV Technicians</a:t>
            </a:r>
          </a:p>
          <a:p>
            <a:pPr lvl="0">
              <a:spcBef>
                <a:spcPts val="600"/>
              </a:spcBef>
              <a:spcAft>
                <a:spcPts val="1200"/>
              </a:spcAft>
            </a:pPr>
            <a:r>
              <a:rPr lang="en-AU" sz="2200" dirty="0" smtClean="0">
                <a:latin typeface="Helvetica" pitchFamily="34" charset="0"/>
              </a:rPr>
              <a:t>Printers</a:t>
            </a:r>
          </a:p>
          <a:p>
            <a:pPr lvl="0"/>
            <a:endParaRPr lang="en-AU" sz="2400" dirty="0" smtClean="0"/>
          </a:p>
          <a:p>
            <a:pPr>
              <a:buNone/>
            </a:pPr>
            <a:endParaRPr lang="en-AU" sz="2400" dirty="0" smtClean="0"/>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7" name="Picture 6" descr="MP910220920.JPG"/>
          <p:cNvPicPr>
            <a:picLocks noChangeAspect="1"/>
          </p:cNvPicPr>
          <p:nvPr/>
        </p:nvPicPr>
        <p:blipFill>
          <a:blip r:embed="rId3" cstate="print"/>
          <a:stretch>
            <a:fillRect/>
          </a:stretch>
        </p:blipFill>
        <p:spPr>
          <a:xfrm>
            <a:off x="5500694" y="2786058"/>
            <a:ext cx="2608468" cy="1732330"/>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Sourcing option</a:t>
            </a:r>
            <a:r>
              <a:rPr lang="en-AU" sz="2200" dirty="0" smtClean="0">
                <a:latin typeface="Helvetica" pitchFamily="34" charset="0"/>
              </a:rPr>
              <a:t> </a:t>
            </a:r>
          </a:p>
          <a:p>
            <a:pPr>
              <a:spcBef>
                <a:spcPts val="600"/>
              </a:spcBef>
              <a:spcAft>
                <a:spcPts val="1200"/>
              </a:spcAft>
            </a:pPr>
            <a:r>
              <a:rPr lang="en-AU" sz="2200" dirty="0" smtClean="0">
                <a:latin typeface="Helvetica" pitchFamily="34" charset="0"/>
              </a:rPr>
              <a:t>Like with any business, different companies will offer different products and services as a means of identifying their point of difference</a:t>
            </a:r>
          </a:p>
          <a:p>
            <a:pPr>
              <a:spcBef>
                <a:spcPts val="600"/>
              </a:spcBef>
              <a:spcAft>
                <a:spcPts val="1200"/>
              </a:spcAft>
            </a:pPr>
            <a:r>
              <a:rPr lang="en-AU" sz="2200" dirty="0" smtClean="0">
                <a:latin typeface="Helvetica" pitchFamily="34" charset="0"/>
              </a:rPr>
              <a:t>It is a good idea to source at least three companies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15362" name="Picture 2" descr="C:\Documents and Settings\danielc\Local Settings\Temporary Internet Files\Content.IE5\V9A2RTT8\MC900234431[1].wmf"/>
          <p:cNvPicPr>
            <a:picLocks noChangeAspect="1" noChangeArrowheads="1"/>
          </p:cNvPicPr>
          <p:nvPr/>
        </p:nvPicPr>
        <p:blipFill>
          <a:blip r:embed="rId3" cstate="print"/>
          <a:srcRect/>
          <a:stretch>
            <a:fillRect/>
          </a:stretch>
        </p:blipFill>
        <p:spPr bwMode="auto">
          <a:xfrm>
            <a:off x="3000364" y="4000504"/>
            <a:ext cx="3043473" cy="2071735"/>
          </a:xfrm>
          <a:prstGeom prst="rect">
            <a:avLst/>
          </a:prstGeom>
          <a:noFill/>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285860"/>
            <a:ext cx="7467600" cy="5606008"/>
          </a:xfrm>
        </p:spPr>
        <p:txBody>
          <a:bodyPr>
            <a:normAutofit/>
          </a:bodyPr>
          <a:lstStyle/>
          <a:p>
            <a:pPr>
              <a:spcBef>
                <a:spcPts val="600"/>
              </a:spcBef>
              <a:spcAft>
                <a:spcPts val="1200"/>
              </a:spcAft>
              <a:buNone/>
            </a:pPr>
            <a:r>
              <a:rPr lang="en-AU" sz="2200" b="1" dirty="0" smtClean="0">
                <a:latin typeface="Helvetica" pitchFamily="34" charset="0"/>
              </a:rPr>
              <a:t>Liaising with providers to understand offering</a:t>
            </a:r>
          </a:p>
          <a:p>
            <a:pPr lvl="0">
              <a:spcBef>
                <a:spcPts val="600"/>
              </a:spcBef>
              <a:spcAft>
                <a:spcPts val="1200"/>
              </a:spcAft>
            </a:pPr>
            <a:r>
              <a:rPr lang="en-AU" sz="2200" dirty="0" smtClean="0">
                <a:latin typeface="Helvetica" pitchFamily="34" charset="0"/>
              </a:rPr>
              <a:t>Range of offering</a:t>
            </a:r>
          </a:p>
          <a:p>
            <a:pPr lvl="0">
              <a:spcBef>
                <a:spcPts val="600"/>
              </a:spcBef>
              <a:spcAft>
                <a:spcPts val="1200"/>
              </a:spcAft>
            </a:pPr>
            <a:r>
              <a:rPr lang="en-AU" sz="2200" dirty="0" smtClean="0">
                <a:latin typeface="Helvetica" pitchFamily="34" charset="0"/>
              </a:rPr>
              <a:t>Pricing structure for each item</a:t>
            </a:r>
          </a:p>
          <a:p>
            <a:pPr lvl="0">
              <a:spcBef>
                <a:spcPts val="600"/>
              </a:spcBef>
              <a:spcAft>
                <a:spcPts val="1200"/>
              </a:spcAft>
            </a:pPr>
            <a:r>
              <a:rPr lang="en-AU" sz="2200" dirty="0" smtClean="0">
                <a:latin typeface="Helvetica" pitchFamily="34" charset="0"/>
              </a:rPr>
              <a:t>Service guarantees</a:t>
            </a:r>
          </a:p>
          <a:p>
            <a:pPr lvl="0">
              <a:spcBef>
                <a:spcPts val="600"/>
              </a:spcBef>
              <a:spcAft>
                <a:spcPts val="1200"/>
              </a:spcAft>
            </a:pPr>
            <a:r>
              <a:rPr lang="en-AU" sz="2200" dirty="0" smtClean="0">
                <a:latin typeface="Helvetica" pitchFamily="34" charset="0"/>
              </a:rPr>
              <a:t>Availability</a:t>
            </a:r>
          </a:p>
          <a:p>
            <a:pPr lvl="0">
              <a:spcBef>
                <a:spcPts val="600"/>
              </a:spcBef>
              <a:spcAft>
                <a:spcPts val="1200"/>
              </a:spcAft>
            </a:pPr>
            <a:r>
              <a:rPr lang="en-AU" sz="2200" dirty="0" smtClean="0">
                <a:latin typeface="Helvetica" pitchFamily="34" charset="0"/>
              </a:rPr>
              <a:t>Prep-event services</a:t>
            </a:r>
          </a:p>
          <a:p>
            <a:pPr lvl="0">
              <a:spcBef>
                <a:spcPts val="600"/>
              </a:spcBef>
              <a:spcAft>
                <a:spcPts val="1200"/>
              </a:spcAft>
            </a:pPr>
            <a:r>
              <a:rPr lang="en-AU" sz="2200" dirty="0" smtClean="0">
                <a:latin typeface="Helvetica" pitchFamily="34" charset="0"/>
              </a:rPr>
              <a:t>Event services</a:t>
            </a:r>
          </a:p>
          <a:p>
            <a:pPr lvl="0">
              <a:spcBef>
                <a:spcPts val="600"/>
              </a:spcBef>
              <a:spcAft>
                <a:spcPts val="1200"/>
              </a:spcAft>
            </a:pPr>
            <a:r>
              <a:rPr lang="en-AU" sz="2200" dirty="0" smtClean="0">
                <a:latin typeface="Helvetica" pitchFamily="34" charset="0"/>
              </a:rPr>
              <a:t>Post-event services</a:t>
            </a:r>
          </a:p>
          <a:p>
            <a:pPr lvl="0">
              <a:spcBef>
                <a:spcPts val="600"/>
              </a:spcBef>
              <a:spcAft>
                <a:spcPts val="1200"/>
              </a:spcAft>
            </a:pPr>
            <a:r>
              <a:rPr lang="en-AU" sz="2200" dirty="0" smtClean="0">
                <a:latin typeface="Helvetica" pitchFamily="34" charset="0"/>
              </a:rPr>
              <a:t>Billing and payment arrangements</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6" name="Picture 5" descr="00402960.jpg"/>
          <p:cNvPicPr/>
          <p:nvPr/>
        </p:nvPicPr>
        <p:blipFill>
          <a:blip r:embed="rId3" cstate="print"/>
          <a:stretch>
            <a:fillRect/>
          </a:stretch>
        </p:blipFill>
        <p:spPr>
          <a:xfrm>
            <a:off x="5572132" y="2928934"/>
            <a:ext cx="2224723" cy="1509713"/>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Facilitating access by external providers </a:t>
            </a:r>
          </a:p>
          <a:p>
            <a:pPr>
              <a:spcBef>
                <a:spcPts val="600"/>
              </a:spcBef>
              <a:spcAft>
                <a:spcPts val="1200"/>
              </a:spcAft>
              <a:buNone/>
            </a:pPr>
            <a:r>
              <a:rPr lang="en-AU" sz="2200" dirty="0" smtClean="0">
                <a:latin typeface="Helvetica" pitchFamily="34" charset="0"/>
              </a:rPr>
              <a:t>It is essential that providers understand:</a:t>
            </a:r>
          </a:p>
          <a:p>
            <a:pPr lvl="0">
              <a:spcBef>
                <a:spcPts val="600"/>
              </a:spcBef>
              <a:spcAft>
                <a:spcPts val="1200"/>
              </a:spcAft>
            </a:pPr>
            <a:r>
              <a:rPr lang="en-AU" sz="2200" dirty="0" smtClean="0">
                <a:latin typeface="Helvetica" pitchFamily="34" charset="0"/>
              </a:rPr>
              <a:t>What time they have access</a:t>
            </a:r>
          </a:p>
          <a:p>
            <a:pPr lvl="0">
              <a:spcBef>
                <a:spcPts val="600"/>
              </a:spcBef>
              <a:spcAft>
                <a:spcPts val="1200"/>
              </a:spcAft>
            </a:pPr>
            <a:r>
              <a:rPr lang="en-AU" sz="2200" dirty="0" smtClean="0">
                <a:latin typeface="Helvetica" pitchFamily="34" charset="0"/>
              </a:rPr>
              <a:t>Delivery and parking zones</a:t>
            </a:r>
          </a:p>
          <a:p>
            <a:pPr lvl="0">
              <a:spcBef>
                <a:spcPts val="600"/>
              </a:spcBef>
              <a:spcAft>
                <a:spcPts val="1200"/>
              </a:spcAft>
            </a:pPr>
            <a:r>
              <a:rPr lang="en-AU" sz="2200" dirty="0" smtClean="0">
                <a:latin typeface="Helvetica" pitchFamily="34" charset="0"/>
              </a:rPr>
              <a:t>Storage areas</a:t>
            </a:r>
          </a:p>
          <a:p>
            <a:pPr lvl="0">
              <a:spcBef>
                <a:spcPts val="600"/>
              </a:spcBef>
              <a:spcAft>
                <a:spcPts val="1200"/>
              </a:spcAft>
            </a:pPr>
            <a:r>
              <a:rPr lang="en-AU" sz="2200" dirty="0" smtClean="0">
                <a:latin typeface="Helvetica" pitchFamily="34" charset="0"/>
              </a:rPr>
              <a:t>Commencement and finishing times of the function</a:t>
            </a:r>
          </a:p>
          <a:p>
            <a:pPr lvl="0">
              <a:spcBef>
                <a:spcPts val="600"/>
              </a:spcBef>
              <a:spcAft>
                <a:spcPts val="1200"/>
              </a:spcAft>
            </a:pPr>
            <a:r>
              <a:rPr lang="en-AU" sz="2200" dirty="0" smtClean="0">
                <a:latin typeface="Helvetica" pitchFamily="34" charset="0"/>
              </a:rPr>
              <a:t>Amount of time allocated after the event for access</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7" name="Picture 6" descr="MP900386045.JPG"/>
          <p:cNvPicPr>
            <a:picLocks noChangeAspect="1"/>
          </p:cNvPicPr>
          <p:nvPr/>
        </p:nvPicPr>
        <p:blipFill>
          <a:blip r:embed="rId3" cstate="print"/>
          <a:stretch>
            <a:fillRect/>
          </a:stretch>
        </p:blipFill>
        <p:spPr>
          <a:xfrm>
            <a:off x="6215074" y="2714620"/>
            <a:ext cx="2026920" cy="1447800"/>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Arrange external services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394892"/>
            <a:ext cx="7467600" cy="5606008"/>
          </a:xfrm>
        </p:spPr>
        <p:txBody>
          <a:bodyPr>
            <a:normAutofit/>
          </a:bodyPr>
          <a:lstStyle/>
          <a:p>
            <a:pPr marL="0">
              <a:spcBef>
                <a:spcPts val="600"/>
              </a:spcBef>
              <a:spcAft>
                <a:spcPts val="1200"/>
              </a:spcAft>
              <a:buNone/>
            </a:pPr>
            <a:r>
              <a:rPr lang="en-AU" sz="2200" b="1" dirty="0" smtClean="0">
                <a:latin typeface="Helvetica" pitchFamily="34" charset="0"/>
              </a:rPr>
              <a:t>Connecting service providers with customer, where appropriate</a:t>
            </a:r>
          </a:p>
          <a:p>
            <a:pPr marL="0">
              <a:spcBef>
                <a:spcPts val="600"/>
              </a:spcBef>
              <a:spcAft>
                <a:spcPts val="1200"/>
              </a:spcAft>
              <a:buNone/>
            </a:pPr>
            <a:r>
              <a:rPr lang="en-AU" sz="2200" dirty="0" smtClean="0">
                <a:latin typeface="Helvetica" pitchFamily="34" charset="0"/>
              </a:rPr>
              <a:t>In many cases functions staff will suggest that external providers correspond directly with the client because:</a:t>
            </a:r>
          </a:p>
          <a:p>
            <a:pPr lvl="0">
              <a:spcBef>
                <a:spcPts val="600"/>
              </a:spcBef>
              <a:spcAft>
                <a:spcPts val="1200"/>
              </a:spcAft>
            </a:pPr>
            <a:r>
              <a:rPr lang="en-AU" sz="2200" dirty="0" smtClean="0">
                <a:latin typeface="Helvetica" pitchFamily="34" charset="0"/>
              </a:rPr>
              <a:t>Functions staff do not have the technical knowledge or understanding</a:t>
            </a:r>
          </a:p>
          <a:p>
            <a:pPr lvl="0">
              <a:spcBef>
                <a:spcPts val="600"/>
              </a:spcBef>
              <a:spcAft>
                <a:spcPts val="1200"/>
              </a:spcAft>
            </a:pPr>
            <a:r>
              <a:rPr lang="en-AU" sz="2200" dirty="0" smtClean="0">
                <a:latin typeface="Helvetica" pitchFamily="34" charset="0"/>
              </a:rPr>
              <a:t>External providers can explain what                                 they can offer and provide suggestions</a:t>
            </a:r>
          </a:p>
          <a:p>
            <a:pPr lvl="0">
              <a:spcBef>
                <a:spcPts val="600"/>
              </a:spcBef>
              <a:spcAft>
                <a:spcPts val="1200"/>
              </a:spcAft>
            </a:pPr>
            <a:r>
              <a:rPr lang="en-AU" sz="2200" dirty="0" smtClean="0">
                <a:latin typeface="Helvetica" pitchFamily="34" charset="0"/>
              </a:rPr>
              <a:t>Can remove a level of activity or                             responsibility from the functions department</a:t>
            </a:r>
          </a:p>
          <a:p>
            <a:pPr>
              <a:buNone/>
            </a:pPr>
            <a:endParaRPr lang="en-AU" sz="2400" dirty="0" smtClean="0"/>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6" name="Picture 5" descr="MP900407236.JPG"/>
          <p:cNvPicPr>
            <a:picLocks noChangeAspect="1"/>
          </p:cNvPicPr>
          <p:nvPr/>
        </p:nvPicPr>
        <p:blipFill>
          <a:blip r:embed="rId3" cstate="print"/>
          <a:stretch>
            <a:fillRect/>
          </a:stretch>
        </p:blipFill>
        <p:spPr>
          <a:xfrm>
            <a:off x="6929454" y="3929066"/>
            <a:ext cx="1318914" cy="1980305"/>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A function sheet, sometimes also known as an ‘event order’ or ‘function order’, is an internal communication form developed to suit each venue’s needs that sets out the details of a function:</a:t>
            </a:r>
          </a:p>
          <a:p>
            <a:pPr>
              <a:spcBef>
                <a:spcPts val="600"/>
              </a:spcBef>
              <a:spcAft>
                <a:spcPts val="1200"/>
              </a:spcAft>
            </a:pPr>
            <a:r>
              <a:rPr lang="en-AU" sz="2200" dirty="0" smtClean="0">
                <a:latin typeface="Helvetica" pitchFamily="34" charset="0"/>
              </a:rPr>
              <a:t>What information is included in a Function Sheet?</a:t>
            </a: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5" name="Picture 4" descr="MP900406846[1].JPG"/>
          <p:cNvPicPr>
            <a:picLocks noChangeAspect="1"/>
          </p:cNvPicPr>
          <p:nvPr/>
        </p:nvPicPr>
        <p:blipFill>
          <a:blip r:embed="rId3" cstate="print">
            <a:duotone>
              <a:prstClr val="black"/>
              <a:srgbClr val="D9C3A5">
                <a:tint val="50000"/>
                <a:satMod val="180000"/>
              </a:srgbClr>
            </a:duotone>
            <a:lum bright="10000"/>
          </a:blip>
          <a:stretch>
            <a:fillRect/>
          </a:stretch>
        </p:blipFill>
        <p:spPr>
          <a:xfrm>
            <a:off x="3143240" y="4143380"/>
            <a:ext cx="2484299" cy="1655552"/>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sheet</a:t>
            </a:r>
          </a:p>
          <a:p>
            <a:pPr lvl="0">
              <a:spcBef>
                <a:spcPts val="600"/>
              </a:spcBef>
              <a:spcAft>
                <a:spcPts val="1200"/>
              </a:spcAft>
            </a:pPr>
            <a:r>
              <a:rPr lang="en-AU" sz="2200" dirty="0" smtClean="0">
                <a:latin typeface="Helvetica" pitchFamily="34" charset="0"/>
              </a:rPr>
              <a:t>Type of function</a:t>
            </a:r>
          </a:p>
          <a:p>
            <a:pPr lvl="0">
              <a:spcBef>
                <a:spcPts val="600"/>
              </a:spcBef>
              <a:spcAft>
                <a:spcPts val="1200"/>
              </a:spcAft>
            </a:pPr>
            <a:r>
              <a:rPr lang="en-AU" sz="2200" dirty="0" smtClean="0">
                <a:latin typeface="Helvetica" pitchFamily="34" charset="0"/>
              </a:rPr>
              <a:t>Name, address, and contact number of client </a:t>
            </a:r>
          </a:p>
          <a:p>
            <a:pPr lvl="0">
              <a:spcBef>
                <a:spcPts val="600"/>
              </a:spcBef>
              <a:spcAft>
                <a:spcPts val="1200"/>
              </a:spcAft>
            </a:pPr>
            <a:r>
              <a:rPr lang="en-AU" sz="2200" dirty="0" smtClean="0">
                <a:latin typeface="Helvetica" pitchFamily="34" charset="0"/>
              </a:rPr>
              <a:t>Day, date and time of the function </a:t>
            </a:r>
          </a:p>
          <a:p>
            <a:pPr lvl="0">
              <a:spcBef>
                <a:spcPts val="600"/>
              </a:spcBef>
              <a:spcAft>
                <a:spcPts val="1200"/>
              </a:spcAft>
            </a:pPr>
            <a:r>
              <a:rPr lang="en-AU" sz="2200" dirty="0" smtClean="0">
                <a:latin typeface="Helvetica" pitchFamily="34" charset="0"/>
              </a:rPr>
              <a:t>Rooms and locations</a:t>
            </a:r>
          </a:p>
          <a:p>
            <a:pPr lvl="0">
              <a:spcBef>
                <a:spcPts val="600"/>
              </a:spcBef>
              <a:spcAft>
                <a:spcPts val="1200"/>
              </a:spcAft>
            </a:pPr>
            <a:r>
              <a:rPr lang="en-AU" sz="2200" dirty="0" smtClean="0">
                <a:latin typeface="Helvetica" pitchFamily="34" charset="0"/>
              </a:rPr>
              <a:t>Billing instructions</a:t>
            </a:r>
          </a:p>
          <a:p>
            <a:pPr lvl="0">
              <a:spcBef>
                <a:spcPts val="600"/>
              </a:spcBef>
              <a:spcAft>
                <a:spcPts val="1200"/>
              </a:spcAft>
            </a:pPr>
            <a:r>
              <a:rPr lang="en-AU" sz="2200" dirty="0" smtClean="0">
                <a:latin typeface="Helvetica" pitchFamily="34" charset="0"/>
              </a:rPr>
              <a:t>Menu</a:t>
            </a: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6" name="Picture 5" descr="00443126.jpg"/>
          <p:cNvPicPr/>
          <p:nvPr/>
        </p:nvPicPr>
        <p:blipFill>
          <a:blip r:embed="rId3" cstate="print"/>
          <a:stretch>
            <a:fillRect/>
          </a:stretch>
        </p:blipFill>
        <p:spPr>
          <a:xfrm>
            <a:off x="5929322" y="3500438"/>
            <a:ext cx="2371722" cy="1581148"/>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function sheets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Contents of a function sheet</a:t>
            </a:r>
          </a:p>
          <a:p>
            <a:pPr lvl="0">
              <a:spcBef>
                <a:spcPts val="600"/>
              </a:spcBef>
              <a:spcAft>
                <a:spcPts val="1200"/>
              </a:spcAft>
            </a:pPr>
            <a:r>
              <a:rPr lang="en-AU" sz="2200" dirty="0" smtClean="0">
                <a:latin typeface="Helvetica" pitchFamily="34" charset="0"/>
              </a:rPr>
              <a:t>Beverage arrangements</a:t>
            </a:r>
          </a:p>
          <a:p>
            <a:pPr lvl="0">
              <a:spcBef>
                <a:spcPts val="600"/>
              </a:spcBef>
              <a:spcAft>
                <a:spcPts val="1200"/>
              </a:spcAft>
            </a:pPr>
            <a:r>
              <a:rPr lang="en-AU" sz="2200" dirty="0" smtClean="0">
                <a:latin typeface="Helvetica" pitchFamily="34" charset="0"/>
              </a:rPr>
              <a:t>Sequence of service</a:t>
            </a:r>
          </a:p>
          <a:p>
            <a:pPr lvl="0">
              <a:spcBef>
                <a:spcPts val="600"/>
              </a:spcBef>
              <a:spcAft>
                <a:spcPts val="1200"/>
              </a:spcAft>
            </a:pPr>
            <a:r>
              <a:rPr lang="en-AU" sz="2200" dirty="0" smtClean="0">
                <a:latin typeface="Helvetica" pitchFamily="34" charset="0"/>
              </a:rPr>
              <a:t>Entertainment</a:t>
            </a:r>
          </a:p>
          <a:p>
            <a:pPr lvl="0">
              <a:spcBef>
                <a:spcPts val="600"/>
              </a:spcBef>
              <a:spcAft>
                <a:spcPts val="1200"/>
              </a:spcAft>
            </a:pPr>
            <a:r>
              <a:rPr lang="en-AU" sz="2200" dirty="0" smtClean="0">
                <a:latin typeface="Helvetica" pitchFamily="34" charset="0"/>
              </a:rPr>
              <a:t>Room set up</a:t>
            </a:r>
          </a:p>
          <a:p>
            <a:pPr lvl="0">
              <a:spcBef>
                <a:spcPts val="600"/>
              </a:spcBef>
              <a:spcAft>
                <a:spcPts val="1200"/>
              </a:spcAft>
            </a:pPr>
            <a:r>
              <a:rPr lang="en-AU" sz="2200" dirty="0" smtClean="0">
                <a:latin typeface="Helvetica" pitchFamily="34" charset="0"/>
              </a:rPr>
              <a:t>Type of service</a:t>
            </a:r>
          </a:p>
          <a:p>
            <a:pPr lvl="0">
              <a:spcBef>
                <a:spcPts val="600"/>
              </a:spcBef>
              <a:spcAft>
                <a:spcPts val="1200"/>
              </a:spcAft>
            </a:pPr>
            <a:r>
              <a:rPr lang="en-AU" sz="2200" dirty="0" smtClean="0">
                <a:latin typeface="Helvetica" pitchFamily="34" charset="0"/>
              </a:rPr>
              <a:t>Special requirements</a:t>
            </a:r>
          </a:p>
          <a:p>
            <a:pPr marL="0">
              <a:spcBef>
                <a:spcPts val="600"/>
              </a:spcBef>
              <a:spcAft>
                <a:spcPts val="1200"/>
              </a:spcAft>
              <a:buNone/>
            </a:pPr>
            <a:endParaRPr lang="en-AU" sz="2200" b="1" dirty="0" smtClean="0">
              <a:latin typeface="Helvetica" pitchFamily="34" charset="0"/>
            </a:endParaRPr>
          </a:p>
          <a:p>
            <a:pPr>
              <a:buNone/>
            </a:pPr>
            <a:endParaRPr lang="en-AU" sz="2200" dirty="0" smtClean="0">
              <a:latin typeface="Helvetica" pitchFamily="34" charset="0"/>
            </a:endParaRPr>
          </a:p>
          <a:p>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7" name="Picture 6" descr="breakfast_buffet_closeup.jpg"/>
          <p:cNvPicPr>
            <a:picLocks noChangeAspect="1"/>
          </p:cNvPicPr>
          <p:nvPr/>
        </p:nvPicPr>
        <p:blipFill>
          <a:blip r:embed="rId3" cstate="print"/>
          <a:stretch>
            <a:fillRect/>
          </a:stretch>
        </p:blipFill>
        <p:spPr>
          <a:xfrm>
            <a:off x="6000760" y="2643182"/>
            <a:ext cx="2127641" cy="2121408"/>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Minimise impact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Functions affecting other outlets</a:t>
            </a:r>
          </a:p>
          <a:p>
            <a:pPr marL="0">
              <a:spcBef>
                <a:spcPts val="600"/>
              </a:spcBef>
              <a:spcAft>
                <a:spcPts val="1200"/>
              </a:spcAft>
              <a:buNone/>
            </a:pPr>
            <a:r>
              <a:rPr lang="en-AU" sz="2200" dirty="0" smtClean="0">
                <a:latin typeface="Helvetica" pitchFamily="34" charset="0"/>
              </a:rPr>
              <a:t>Most function departments within a hotel are very busy places, with a number of events being held at the same time. </a:t>
            </a:r>
          </a:p>
          <a:p>
            <a:pPr marL="0">
              <a:spcBef>
                <a:spcPts val="600"/>
              </a:spcBef>
              <a:spcAft>
                <a:spcPts val="1200"/>
              </a:spcAft>
              <a:buNone/>
            </a:pPr>
            <a:r>
              <a:rPr lang="en-AU" sz="2200" dirty="0" smtClean="0">
                <a:latin typeface="Helvetica" pitchFamily="34" charset="0"/>
              </a:rPr>
              <a:t>It is important that each function does not greatly impact on:</a:t>
            </a:r>
          </a:p>
          <a:p>
            <a:pPr>
              <a:spcBef>
                <a:spcPts val="600"/>
              </a:spcBef>
              <a:spcAft>
                <a:spcPts val="1200"/>
              </a:spcAft>
            </a:pPr>
            <a:r>
              <a:rPr lang="en-AU" sz="2200" dirty="0" smtClean="0">
                <a:latin typeface="Helvetica" pitchFamily="34" charset="0"/>
              </a:rPr>
              <a:t>Other functions</a:t>
            </a:r>
          </a:p>
          <a:p>
            <a:pPr>
              <a:spcBef>
                <a:spcPts val="600"/>
              </a:spcBef>
              <a:spcAft>
                <a:spcPts val="1200"/>
              </a:spcAft>
            </a:pPr>
            <a:r>
              <a:rPr lang="en-AU" sz="2200" dirty="0" smtClean="0">
                <a:latin typeface="Helvetica" pitchFamily="34" charset="0"/>
              </a:rPr>
              <a:t>General hotel outlets</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8" name="Picture 7" descr="MP900431165[1].JPG"/>
          <p:cNvPicPr>
            <a:picLocks noChangeAspect="1"/>
          </p:cNvPicPr>
          <p:nvPr/>
        </p:nvPicPr>
        <p:blipFill>
          <a:blip r:embed="rId3" cstate="print"/>
          <a:stretch>
            <a:fillRect/>
          </a:stretch>
        </p:blipFill>
        <p:spPr>
          <a:xfrm>
            <a:off x="5357818" y="4214818"/>
            <a:ext cx="2285106" cy="1522809"/>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Minimise impact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marL="0">
              <a:spcBef>
                <a:spcPts val="600"/>
              </a:spcBef>
              <a:spcAft>
                <a:spcPts val="1200"/>
              </a:spcAft>
              <a:buNone/>
            </a:pPr>
            <a:r>
              <a:rPr lang="en-AU" sz="2200" b="1" dirty="0" smtClean="0">
                <a:latin typeface="Helvetica" pitchFamily="34" charset="0"/>
              </a:rPr>
              <a:t>Impacts</a:t>
            </a:r>
          </a:p>
          <a:p>
            <a:pPr>
              <a:spcBef>
                <a:spcPts val="600"/>
              </a:spcBef>
              <a:spcAft>
                <a:spcPts val="1200"/>
              </a:spcAft>
            </a:pPr>
            <a:r>
              <a:rPr lang="en-AU" sz="2200" dirty="0" smtClean="0">
                <a:latin typeface="Helvetica" pitchFamily="34" charset="0"/>
              </a:rPr>
              <a:t>Shortage of staff </a:t>
            </a:r>
          </a:p>
          <a:p>
            <a:pPr>
              <a:spcBef>
                <a:spcPts val="600"/>
              </a:spcBef>
              <a:spcAft>
                <a:spcPts val="1200"/>
              </a:spcAft>
            </a:pPr>
            <a:r>
              <a:rPr lang="en-AU" sz="2200" dirty="0" smtClean="0">
                <a:latin typeface="Helvetica" pitchFamily="34" charset="0"/>
              </a:rPr>
              <a:t>Loss of power or IT connections </a:t>
            </a:r>
          </a:p>
          <a:p>
            <a:pPr>
              <a:spcBef>
                <a:spcPts val="600"/>
              </a:spcBef>
              <a:spcAft>
                <a:spcPts val="1200"/>
              </a:spcAft>
            </a:pPr>
            <a:r>
              <a:rPr lang="en-AU" sz="2200" dirty="0" smtClean="0">
                <a:latin typeface="Helvetica" pitchFamily="34" charset="0"/>
              </a:rPr>
              <a:t>Equipment malfunctions </a:t>
            </a:r>
          </a:p>
          <a:p>
            <a:pPr>
              <a:spcBef>
                <a:spcPts val="600"/>
              </a:spcBef>
              <a:spcAft>
                <a:spcPts val="1200"/>
              </a:spcAft>
            </a:pPr>
            <a:r>
              <a:rPr lang="en-AU" sz="2200" dirty="0" smtClean="0">
                <a:latin typeface="Helvetica" pitchFamily="34" charset="0"/>
              </a:rPr>
              <a:t>Excess noise affecting other areas of the business </a:t>
            </a:r>
          </a:p>
          <a:p>
            <a:pPr>
              <a:spcBef>
                <a:spcPts val="600"/>
              </a:spcBef>
              <a:spcAft>
                <a:spcPts val="1200"/>
              </a:spcAft>
            </a:pPr>
            <a:r>
              <a:rPr lang="en-AU" sz="2200" dirty="0" smtClean="0">
                <a:latin typeface="Helvetica" pitchFamily="34" charset="0"/>
              </a:rPr>
              <a:t>Shortage of food and beverage products                                and any associated items </a:t>
            </a:r>
          </a:p>
          <a:p>
            <a:pPr marL="0">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16386" name="Picture 2" descr="C:\Documents and Settings\danielc\Local Settings\Temporary Internet Files\Content.IE5\SIQ5KRQ3\MC900149602[1].wmf"/>
          <p:cNvPicPr>
            <a:picLocks noChangeAspect="1" noChangeArrowheads="1"/>
          </p:cNvPicPr>
          <p:nvPr/>
        </p:nvPicPr>
        <p:blipFill>
          <a:blip r:embed="rId3" cstate="print"/>
          <a:srcRect/>
          <a:stretch>
            <a:fillRect/>
          </a:stretch>
        </p:blipFill>
        <p:spPr bwMode="auto">
          <a:xfrm>
            <a:off x="6429388" y="1643050"/>
            <a:ext cx="1579068" cy="1964456"/>
          </a:xfrm>
          <a:prstGeom prst="rect">
            <a:avLst/>
          </a:prstGeom>
          <a:noFill/>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Minimise impact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marL="0">
              <a:spcBef>
                <a:spcPts val="600"/>
              </a:spcBef>
              <a:spcAft>
                <a:spcPts val="1200"/>
              </a:spcAft>
              <a:buNone/>
            </a:pPr>
            <a:r>
              <a:rPr lang="en-AU" sz="2200" b="1" dirty="0" smtClean="0">
                <a:latin typeface="Helvetica" pitchFamily="34" charset="0"/>
              </a:rPr>
              <a:t>Impacts</a:t>
            </a:r>
          </a:p>
          <a:p>
            <a:pPr>
              <a:spcBef>
                <a:spcPts val="600"/>
              </a:spcBef>
              <a:spcAft>
                <a:spcPts val="1200"/>
              </a:spcAft>
            </a:pPr>
            <a:r>
              <a:rPr lang="en-AU" sz="2200" dirty="0" smtClean="0">
                <a:latin typeface="Helvetica" pitchFamily="34" charset="0"/>
              </a:rPr>
              <a:t>Unacceptable behaviour</a:t>
            </a:r>
          </a:p>
          <a:p>
            <a:pPr>
              <a:spcBef>
                <a:spcPts val="600"/>
              </a:spcBef>
              <a:spcAft>
                <a:spcPts val="1200"/>
              </a:spcAft>
            </a:pPr>
            <a:r>
              <a:rPr lang="en-AU" sz="2200" dirty="0" smtClean="0">
                <a:latin typeface="Helvetica" pitchFamily="34" charset="0"/>
              </a:rPr>
              <a:t>Disruption to normal service caused by closure of room/areas</a:t>
            </a:r>
          </a:p>
          <a:p>
            <a:pPr>
              <a:spcBef>
                <a:spcPts val="600"/>
              </a:spcBef>
              <a:spcAft>
                <a:spcPts val="1200"/>
              </a:spcAft>
            </a:pPr>
            <a:r>
              <a:rPr lang="en-AU" sz="2200" dirty="0" smtClean="0">
                <a:latin typeface="Helvetica" pitchFamily="34" charset="0"/>
              </a:rPr>
              <a:t>Restricted access to the venue</a:t>
            </a:r>
          </a:p>
          <a:p>
            <a:pPr>
              <a:spcBef>
                <a:spcPts val="600"/>
              </a:spcBef>
              <a:spcAft>
                <a:spcPts val="1200"/>
              </a:spcAft>
            </a:pPr>
            <a:r>
              <a:rPr lang="en-AU" sz="2200" dirty="0" smtClean="0">
                <a:latin typeface="Helvetica" pitchFamily="34" charset="0"/>
              </a:rPr>
              <a:t>Reduced availability of parking for regular </a:t>
            </a:r>
            <a:br>
              <a:rPr lang="en-AU" sz="2200" dirty="0" smtClean="0">
                <a:latin typeface="Helvetica" pitchFamily="34" charset="0"/>
              </a:rPr>
            </a:br>
            <a:r>
              <a:rPr lang="en-AU" sz="2200" dirty="0" smtClean="0">
                <a:latin typeface="Helvetica" pitchFamily="34" charset="0"/>
              </a:rPr>
              <a:t>customers</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17413" name="Picture 5" descr="C:\Documents and Settings\danielc\Local Settings\Temporary Internet Files\Content.IE5\3DV3UKH9\MC900054722[1].wmf"/>
          <p:cNvPicPr>
            <a:picLocks noChangeAspect="1" noChangeArrowheads="1"/>
          </p:cNvPicPr>
          <p:nvPr/>
        </p:nvPicPr>
        <p:blipFill>
          <a:blip r:embed="rId3" cstate="print"/>
          <a:srcRect/>
          <a:stretch>
            <a:fillRect/>
          </a:stretch>
        </p:blipFill>
        <p:spPr bwMode="auto">
          <a:xfrm>
            <a:off x="6858016" y="3071810"/>
            <a:ext cx="1591527" cy="1598254"/>
          </a:xfrm>
          <a:prstGeom prst="rect">
            <a:avLst/>
          </a:prstGeom>
          <a:noFill/>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set up of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It is critical to have the function set up and ready to go by the agreed starting time</a:t>
            </a:r>
          </a:p>
          <a:p>
            <a:pPr>
              <a:spcBef>
                <a:spcPts val="600"/>
              </a:spcBef>
              <a:spcAft>
                <a:spcPts val="1200"/>
              </a:spcAft>
            </a:pPr>
            <a:r>
              <a:rPr lang="en-AU" sz="2200" dirty="0" smtClean="0">
                <a:latin typeface="Helvetica" pitchFamily="34" charset="0"/>
              </a:rPr>
              <a:t>A key objective when monitoring set up for a function is that all necessary mise-en-place is completed</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7" name="Picture 6" descr="Bar.jpg"/>
          <p:cNvPicPr/>
          <p:nvPr/>
        </p:nvPicPr>
        <p:blipFill>
          <a:blip r:embed="rId3" cstate="print"/>
          <a:stretch>
            <a:fillRect/>
          </a:stretch>
        </p:blipFill>
        <p:spPr>
          <a:xfrm>
            <a:off x="3500430" y="3714752"/>
            <a:ext cx="1968892" cy="1500198"/>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Mise-en-place is a French term that means ‘to put in place’.</a:t>
            </a:r>
          </a:p>
          <a:p>
            <a:pPr marL="0">
              <a:spcBef>
                <a:spcPts val="600"/>
              </a:spcBef>
              <a:spcAft>
                <a:spcPts val="1200"/>
              </a:spcAft>
              <a:buNone/>
            </a:pPr>
            <a:r>
              <a:rPr lang="en-AU" sz="2200" dirty="0" smtClean="0">
                <a:latin typeface="Helvetica" pitchFamily="34" charset="0"/>
              </a:rPr>
              <a:t>Therefore, ‘set up and mise-en-place’ refers to all the activities required to prepare the room for service:</a:t>
            </a:r>
          </a:p>
          <a:p>
            <a:pPr>
              <a:spcBef>
                <a:spcPts val="600"/>
              </a:spcBef>
              <a:spcAft>
                <a:spcPts val="1200"/>
              </a:spcAft>
            </a:pPr>
            <a:r>
              <a:rPr lang="en-AU" sz="2200" dirty="0" smtClean="0">
                <a:latin typeface="Helvetica" pitchFamily="34" charset="0"/>
              </a:rPr>
              <a:t>What mise-en-place activities need to be undertaken when preparing a function?</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6" name="Picture 5" descr="werribee196 - student and lecturer in Food and Beverage class.jpg"/>
          <p:cNvPicPr>
            <a:picLocks noChangeAspect="1"/>
          </p:cNvPicPr>
          <p:nvPr/>
        </p:nvPicPr>
        <p:blipFill>
          <a:blip r:embed="rId3" cstate="print"/>
          <a:stretch>
            <a:fillRect/>
          </a:stretch>
        </p:blipFill>
        <p:spPr>
          <a:xfrm>
            <a:off x="3286116" y="4500570"/>
            <a:ext cx="2464611" cy="1643074"/>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Using checklists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Importance of Checklists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An industry-wide method of monitoring completion and performance of activities is to use a series of checklists</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18434" name="Picture 2" descr="C:\Documents and Settings\danielc\Local Settings\Temporary Internet Files\Content.IE5\3DV3UKH9\MC900034407[1].wmf"/>
          <p:cNvPicPr>
            <a:picLocks noChangeAspect="1" noChangeArrowheads="1"/>
          </p:cNvPicPr>
          <p:nvPr/>
        </p:nvPicPr>
        <p:blipFill>
          <a:blip r:embed="rId3" cstate="print"/>
          <a:srcRect/>
          <a:stretch>
            <a:fillRect/>
          </a:stretch>
        </p:blipFill>
        <p:spPr bwMode="auto">
          <a:xfrm>
            <a:off x="2928926" y="3571876"/>
            <a:ext cx="2934223" cy="2140041"/>
          </a:xfrm>
          <a:prstGeom prst="rect">
            <a:avLst/>
          </a:prstGeom>
          <a:noFill/>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Planning set up</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Many venues will have plans of previous function set-ups to guide set-ups. </a:t>
            </a:r>
          </a:p>
          <a:p>
            <a:pPr marL="0">
              <a:spcBef>
                <a:spcPts val="600"/>
              </a:spcBef>
              <a:spcAft>
                <a:spcPts val="1200"/>
              </a:spcAft>
              <a:buNone/>
            </a:pPr>
            <a:r>
              <a:rPr lang="en-AU" sz="2200" dirty="0" smtClean="0">
                <a:latin typeface="Helvetica" pitchFamily="34" charset="0"/>
              </a:rPr>
              <a:t>In all instances the room set-up must be in accordance with client wishes as set out in the contract. </a:t>
            </a:r>
          </a:p>
          <a:p>
            <a:pPr>
              <a:spcBef>
                <a:spcPts val="600"/>
              </a:spcBef>
              <a:spcAft>
                <a:spcPts val="1200"/>
              </a:spcAft>
            </a:pPr>
            <a:r>
              <a:rPr lang="en-AU" sz="2200" dirty="0" smtClean="0">
                <a:latin typeface="Helvetica" pitchFamily="34" charset="0"/>
              </a:rPr>
              <a:t>What needs to be planned?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7" name="Picture 6" descr="7980146464_12a43065a6_m.jpg"/>
          <p:cNvPicPr/>
          <p:nvPr/>
        </p:nvPicPr>
        <p:blipFill>
          <a:blip r:embed="rId3" cstate="print"/>
          <a:stretch>
            <a:fillRect/>
          </a:stretch>
        </p:blipFill>
        <p:spPr>
          <a:xfrm>
            <a:off x="3214678" y="4357694"/>
            <a:ext cx="2286000" cy="1514475"/>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Planning set up</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a:spcBef>
                <a:spcPts val="600"/>
              </a:spcBef>
              <a:spcAft>
                <a:spcPts val="1200"/>
              </a:spcAft>
              <a:buNone/>
            </a:pPr>
            <a:r>
              <a:rPr lang="en-AU" sz="2200" b="1" dirty="0" smtClean="0">
                <a:latin typeface="Helvetica" pitchFamily="34" charset="0"/>
              </a:rPr>
              <a:t>Setting up tables</a:t>
            </a:r>
          </a:p>
          <a:p>
            <a:pPr marL="0">
              <a:spcBef>
                <a:spcPts val="600"/>
              </a:spcBef>
              <a:spcAft>
                <a:spcPts val="1200"/>
              </a:spcAft>
              <a:buNone/>
            </a:pPr>
            <a:r>
              <a:rPr lang="en-AU" sz="2200" dirty="0" smtClean="0">
                <a:latin typeface="Helvetica" pitchFamily="34" charset="0"/>
              </a:rPr>
              <a:t>When setting up the relevant locations the function sheet should be referred to determine the need for specific furniture such as:</a:t>
            </a:r>
          </a:p>
          <a:p>
            <a:pPr>
              <a:spcBef>
                <a:spcPts val="600"/>
              </a:spcBef>
              <a:spcAft>
                <a:spcPts val="1200"/>
              </a:spcAft>
            </a:pPr>
            <a:r>
              <a:rPr lang="en-AU" sz="2200" dirty="0" smtClean="0">
                <a:latin typeface="Helvetica" pitchFamily="34" charset="0"/>
              </a:rPr>
              <a:t>Display tables</a:t>
            </a:r>
          </a:p>
          <a:p>
            <a:pPr>
              <a:spcBef>
                <a:spcPts val="600"/>
              </a:spcBef>
              <a:spcAft>
                <a:spcPts val="1200"/>
              </a:spcAft>
            </a:pPr>
            <a:r>
              <a:rPr lang="en-AU" sz="2200" dirty="0" smtClean="0">
                <a:latin typeface="Helvetica" pitchFamily="34" charset="0"/>
              </a:rPr>
              <a:t>Registration tables</a:t>
            </a:r>
          </a:p>
          <a:p>
            <a:pPr>
              <a:spcBef>
                <a:spcPts val="600"/>
              </a:spcBef>
              <a:spcAft>
                <a:spcPts val="1200"/>
              </a:spcAft>
            </a:pPr>
            <a:r>
              <a:rPr lang="en-AU" sz="2200" dirty="0" smtClean="0">
                <a:latin typeface="Helvetica" pitchFamily="34" charset="0"/>
              </a:rPr>
              <a:t>Tables for merchandise and delegate materials, catering and IT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6" name="Picture 5" descr="MP900399686.JPG"/>
          <p:cNvPicPr>
            <a:picLocks noChangeAspect="1"/>
          </p:cNvPicPr>
          <p:nvPr/>
        </p:nvPicPr>
        <p:blipFill>
          <a:blip r:embed="rId3" cstate="print"/>
          <a:stretch>
            <a:fillRect/>
          </a:stretch>
        </p:blipFill>
        <p:spPr>
          <a:xfrm>
            <a:off x="6572264" y="2928934"/>
            <a:ext cx="1712594" cy="1370075"/>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Floor-related mise-en-place tasks</a:t>
            </a:r>
          </a:p>
          <a:p>
            <a:pPr lvl="0">
              <a:spcBef>
                <a:spcPts val="600"/>
              </a:spcBef>
              <a:spcAft>
                <a:spcPts val="1200"/>
              </a:spcAft>
            </a:pPr>
            <a:r>
              <a:rPr lang="en-AU" sz="2200" dirty="0" smtClean="0">
                <a:latin typeface="Helvetica" pitchFamily="34" charset="0"/>
              </a:rPr>
              <a:t>Preparing, polishing and setting glasses on each table at each setting</a:t>
            </a:r>
          </a:p>
          <a:p>
            <a:pPr lvl="0">
              <a:spcBef>
                <a:spcPts val="600"/>
              </a:spcBef>
              <a:spcAft>
                <a:spcPts val="1200"/>
              </a:spcAft>
            </a:pPr>
            <a:r>
              <a:rPr lang="en-AU" sz="2200" dirty="0" smtClean="0">
                <a:latin typeface="Helvetica" pitchFamily="34" charset="0"/>
              </a:rPr>
              <a:t>Preparing crockery and cutlery</a:t>
            </a:r>
          </a:p>
          <a:p>
            <a:pPr lvl="0">
              <a:spcBef>
                <a:spcPts val="600"/>
              </a:spcBef>
              <a:spcAft>
                <a:spcPts val="1200"/>
              </a:spcAft>
            </a:pPr>
            <a:r>
              <a:rPr lang="en-AU" sz="2200" dirty="0" smtClean="0">
                <a:latin typeface="Helvetica" pitchFamily="34" charset="0"/>
              </a:rPr>
              <a:t>Checking support items are ready</a:t>
            </a:r>
          </a:p>
          <a:p>
            <a:pPr lvl="0">
              <a:spcBef>
                <a:spcPts val="600"/>
              </a:spcBef>
              <a:spcAft>
                <a:spcPts val="1200"/>
              </a:spcAft>
            </a:pPr>
            <a:r>
              <a:rPr lang="en-AU" sz="2200" dirty="0" smtClean="0">
                <a:latin typeface="Helvetica" pitchFamily="34" charset="0"/>
              </a:rPr>
              <a:t>Folding napkins</a:t>
            </a:r>
          </a:p>
          <a:p>
            <a:pPr lvl="0">
              <a:spcBef>
                <a:spcPts val="600"/>
              </a:spcBef>
              <a:spcAft>
                <a:spcPts val="1200"/>
              </a:spcAft>
            </a:pPr>
            <a:r>
              <a:rPr lang="en-AU" sz="2200" dirty="0" smtClean="0">
                <a:latin typeface="Helvetica" pitchFamily="34" charset="0"/>
              </a:rPr>
              <a:t>Preparing condiments</a:t>
            </a:r>
          </a:p>
          <a:p>
            <a:pPr>
              <a:spcBef>
                <a:spcPts val="600"/>
              </a:spcBef>
              <a:spcAft>
                <a:spcPts val="1200"/>
              </a:spcAft>
              <a:buNone/>
            </a:pPr>
            <a:endParaRPr lang="en-AU" sz="2400" b="1"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7" name="Picture 6" descr="March 2005  345_RT8.TIF"/>
          <p:cNvPicPr/>
          <p:nvPr/>
        </p:nvPicPr>
        <p:blipFill>
          <a:blip r:embed="rId3" cstate="print"/>
          <a:stretch>
            <a:fillRect/>
          </a:stretch>
        </p:blipFill>
        <p:spPr>
          <a:xfrm>
            <a:off x="6215074" y="3214686"/>
            <a:ext cx="2142499" cy="1500198"/>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Floor-related mise-en-place tasks</a:t>
            </a:r>
          </a:p>
          <a:p>
            <a:pPr lvl="0">
              <a:spcBef>
                <a:spcPts val="600"/>
              </a:spcBef>
              <a:spcAft>
                <a:spcPts val="1200"/>
              </a:spcAft>
            </a:pPr>
            <a:r>
              <a:rPr lang="en-AU" sz="2200" dirty="0" smtClean="0">
                <a:latin typeface="Helvetica" pitchFamily="34" charset="0"/>
              </a:rPr>
              <a:t>Preparing butters</a:t>
            </a:r>
          </a:p>
          <a:p>
            <a:pPr lvl="0">
              <a:spcBef>
                <a:spcPts val="600"/>
              </a:spcBef>
              <a:spcAft>
                <a:spcPts val="1200"/>
              </a:spcAft>
            </a:pPr>
            <a:r>
              <a:rPr lang="en-AU" sz="2200" dirty="0" smtClean="0">
                <a:latin typeface="Helvetica" pitchFamily="34" charset="0"/>
              </a:rPr>
              <a:t>Readying all equipment</a:t>
            </a:r>
          </a:p>
          <a:p>
            <a:pPr lvl="0">
              <a:spcBef>
                <a:spcPts val="600"/>
              </a:spcBef>
              <a:spcAft>
                <a:spcPts val="1200"/>
              </a:spcAft>
            </a:pPr>
            <a:r>
              <a:rPr lang="en-AU" sz="2200" dirty="0" smtClean="0">
                <a:latin typeface="Helvetica" pitchFamily="34" charset="0"/>
              </a:rPr>
              <a:t>Checking or preparing display materials</a:t>
            </a:r>
          </a:p>
          <a:p>
            <a:pPr lvl="0">
              <a:spcBef>
                <a:spcPts val="600"/>
              </a:spcBef>
              <a:spcAft>
                <a:spcPts val="1200"/>
              </a:spcAft>
            </a:pPr>
            <a:r>
              <a:rPr lang="en-AU" sz="2200" dirty="0" smtClean="0">
                <a:latin typeface="Helvetica" pitchFamily="34" charset="0"/>
              </a:rPr>
              <a:t>Preparing and checking operational readiness of cash registers</a:t>
            </a:r>
          </a:p>
          <a:p>
            <a:pPr>
              <a:spcBef>
                <a:spcPts val="600"/>
              </a:spcBef>
              <a:spcAft>
                <a:spcPts val="1200"/>
              </a:spcAft>
              <a:buNone/>
            </a:pPr>
            <a:endParaRPr lang="en-AU" sz="2400" b="1"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6" name="Picture 5" descr="6594988505_4c258c3a5d_m.jpg"/>
          <p:cNvPicPr/>
          <p:nvPr/>
        </p:nvPicPr>
        <p:blipFill>
          <a:blip r:embed="rId3" cstate="print"/>
          <a:stretch>
            <a:fillRect/>
          </a:stretch>
        </p:blipFill>
        <p:spPr>
          <a:xfrm>
            <a:off x="6572264" y="1714488"/>
            <a:ext cx="1424484" cy="1852608"/>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606008"/>
          </a:xfrm>
        </p:spPr>
        <p:txBody>
          <a:bodyPr>
            <a:normAutofit/>
          </a:bodyPr>
          <a:lstStyle/>
          <a:p>
            <a:pPr>
              <a:spcBef>
                <a:spcPts val="600"/>
              </a:spcBef>
              <a:spcAft>
                <a:spcPts val="1200"/>
              </a:spcAft>
              <a:buNone/>
            </a:pPr>
            <a:r>
              <a:rPr lang="en-AU" sz="2200" b="1" dirty="0" smtClean="0">
                <a:latin typeface="Helvetica" pitchFamily="34" charset="0"/>
              </a:rPr>
              <a:t>Bar related mise-en-place tasks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Storing beverages that have been delivered to the bar</a:t>
            </a:r>
          </a:p>
          <a:p>
            <a:pPr lvl="0">
              <a:spcBef>
                <a:spcPts val="600"/>
              </a:spcBef>
              <a:spcAft>
                <a:spcPts val="1200"/>
              </a:spcAft>
            </a:pPr>
            <a:r>
              <a:rPr lang="en-AU" sz="2200" dirty="0" smtClean="0">
                <a:latin typeface="Helvetica" pitchFamily="34" charset="0"/>
              </a:rPr>
              <a:t>Preparing bar garnishes</a:t>
            </a:r>
          </a:p>
          <a:p>
            <a:pPr lvl="0">
              <a:spcBef>
                <a:spcPts val="600"/>
              </a:spcBef>
              <a:spcAft>
                <a:spcPts val="1200"/>
              </a:spcAft>
            </a:pPr>
            <a:r>
              <a:rPr lang="en-AU" sz="2200" dirty="0" smtClean="0">
                <a:latin typeface="Helvetica" pitchFamily="34" charset="0"/>
              </a:rPr>
              <a:t>Preparing ice</a:t>
            </a:r>
          </a:p>
          <a:p>
            <a:pPr lvl="0">
              <a:spcBef>
                <a:spcPts val="600"/>
              </a:spcBef>
              <a:spcAft>
                <a:spcPts val="1200"/>
              </a:spcAft>
            </a:pPr>
            <a:r>
              <a:rPr lang="en-AU" sz="2200" dirty="0" smtClean="0">
                <a:latin typeface="Helvetica" pitchFamily="34" charset="0"/>
              </a:rPr>
              <a:t>Preparing and checking operational readiness                      of cash registers</a:t>
            </a:r>
          </a:p>
          <a:p>
            <a:pPr>
              <a:spcBef>
                <a:spcPts val="600"/>
              </a:spcBef>
              <a:spcAft>
                <a:spcPts val="1200"/>
              </a:spcAft>
            </a:pPr>
            <a:r>
              <a:rPr lang="en-AU" sz="2200" dirty="0" smtClean="0">
                <a:latin typeface="Helvetica" pitchFamily="34" charset="0"/>
              </a:rPr>
              <a:t>Checking to see that all beverages listed on running sheets are available</a:t>
            </a:r>
            <a:endParaRPr lang="en-AU" sz="2200" b="1" u="sng"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6" name="Picture 5" descr="IMG_1976.jpg"/>
          <p:cNvPicPr/>
          <p:nvPr/>
        </p:nvPicPr>
        <p:blipFill>
          <a:blip r:embed="rId3" cstate="print"/>
          <a:stretch>
            <a:fillRect/>
          </a:stretch>
        </p:blipFill>
        <p:spPr>
          <a:xfrm>
            <a:off x="7286644" y="2643182"/>
            <a:ext cx="1357723" cy="1700211"/>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Bar related mise-en-place tasks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Checking the post-mix</a:t>
            </a:r>
          </a:p>
          <a:p>
            <a:pPr lvl="0">
              <a:spcBef>
                <a:spcPts val="600"/>
              </a:spcBef>
              <a:spcAft>
                <a:spcPts val="1200"/>
              </a:spcAft>
            </a:pPr>
            <a:r>
              <a:rPr lang="en-AU" sz="2200" dirty="0" smtClean="0">
                <a:latin typeface="Helvetica" pitchFamily="34" charset="0"/>
              </a:rPr>
              <a:t>Turning on espresso coffee machine</a:t>
            </a:r>
          </a:p>
          <a:p>
            <a:pPr lvl="0">
              <a:spcBef>
                <a:spcPts val="600"/>
              </a:spcBef>
              <a:spcAft>
                <a:spcPts val="1200"/>
              </a:spcAft>
            </a:pPr>
            <a:r>
              <a:rPr lang="en-AU" sz="2200" dirty="0" smtClean="0">
                <a:latin typeface="Helvetica" pitchFamily="34" charset="0"/>
              </a:rPr>
              <a:t>Setting out drip trays</a:t>
            </a:r>
          </a:p>
          <a:p>
            <a:pPr lvl="0">
              <a:spcBef>
                <a:spcPts val="600"/>
              </a:spcBef>
              <a:spcAft>
                <a:spcPts val="1200"/>
              </a:spcAft>
            </a:pPr>
            <a:r>
              <a:rPr lang="en-AU" sz="2200" dirty="0" smtClean="0">
                <a:latin typeface="Helvetica" pitchFamily="34" charset="0"/>
              </a:rPr>
              <a:t>Setting out under-trays and racks for                            dirty glassware</a:t>
            </a:r>
          </a:p>
          <a:p>
            <a:pPr lvl="0">
              <a:spcBef>
                <a:spcPts val="600"/>
              </a:spcBef>
              <a:spcAft>
                <a:spcPts val="1200"/>
              </a:spcAft>
            </a:pPr>
            <a:r>
              <a:rPr lang="en-AU" sz="2200" dirty="0" smtClean="0">
                <a:latin typeface="Helvetica" pitchFamily="34" charset="0"/>
              </a:rPr>
              <a:t>Checking equipment and bar utensils                               are clean and in working order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8" name="Picture 7" descr="MP900422980.JPG"/>
          <p:cNvPicPr>
            <a:picLocks noChangeAspect="1"/>
          </p:cNvPicPr>
          <p:nvPr/>
        </p:nvPicPr>
        <p:blipFill>
          <a:blip r:embed="rId3" cstate="print"/>
          <a:stretch>
            <a:fillRect/>
          </a:stretch>
        </p:blipFill>
        <p:spPr>
          <a:xfrm>
            <a:off x="6643702" y="2357430"/>
            <a:ext cx="1632642" cy="2374751"/>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Bar related mise-en-place tasks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Checking glassware to ensure no cracks, chips, lipstick marks, etc</a:t>
            </a:r>
          </a:p>
          <a:p>
            <a:pPr lvl="0">
              <a:spcBef>
                <a:spcPts val="600"/>
              </a:spcBef>
              <a:spcAft>
                <a:spcPts val="1200"/>
              </a:spcAft>
            </a:pPr>
            <a:r>
              <a:rPr lang="en-AU" sz="2200" dirty="0" smtClean="0">
                <a:latin typeface="Helvetica" pitchFamily="34" charset="0"/>
              </a:rPr>
              <a:t>Placing spirit pourers on the appropriate bottles</a:t>
            </a:r>
          </a:p>
          <a:p>
            <a:pPr lvl="0">
              <a:spcBef>
                <a:spcPts val="600"/>
              </a:spcBef>
              <a:spcAft>
                <a:spcPts val="1200"/>
              </a:spcAft>
            </a:pPr>
            <a:r>
              <a:rPr lang="en-AU" sz="2200" dirty="0" smtClean="0">
                <a:latin typeface="Helvetica" pitchFamily="34" charset="0"/>
              </a:rPr>
              <a:t>Stacking and ensuring cleanliness of service trays</a:t>
            </a:r>
          </a:p>
          <a:p>
            <a:pPr lvl="0">
              <a:spcBef>
                <a:spcPts val="600"/>
              </a:spcBef>
              <a:spcAft>
                <a:spcPts val="1200"/>
              </a:spcAft>
            </a:pPr>
            <a:r>
              <a:rPr lang="en-AU" sz="2200" dirty="0" smtClean="0">
                <a:latin typeface="Helvetica" pitchFamily="34" charset="0"/>
              </a:rPr>
              <a:t>Filling up ice buckets</a:t>
            </a:r>
          </a:p>
          <a:p>
            <a:pPr lvl="0">
              <a:spcBef>
                <a:spcPts val="600"/>
              </a:spcBef>
              <a:spcAft>
                <a:spcPts val="1200"/>
              </a:spcAft>
            </a:pPr>
            <a:r>
              <a:rPr lang="en-AU" sz="2200" dirty="0" smtClean="0">
                <a:latin typeface="Helvetica" pitchFamily="34" charset="0"/>
              </a:rPr>
              <a:t>Opening pre-selected wines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6" name="Picture 5" descr="IMG_1978.jpg"/>
          <p:cNvPicPr/>
          <p:nvPr/>
        </p:nvPicPr>
        <p:blipFill>
          <a:blip r:embed="rId3" cstate="print"/>
          <a:stretch>
            <a:fillRect/>
          </a:stretch>
        </p:blipFill>
        <p:spPr>
          <a:xfrm>
            <a:off x="6072198" y="4357694"/>
            <a:ext cx="2238375" cy="163830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Mise-en-place</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556792"/>
            <a:ext cx="7467600" cy="5606008"/>
          </a:xfrm>
        </p:spPr>
        <p:txBody>
          <a:bodyPr>
            <a:normAutofit/>
          </a:bodyPr>
          <a:lstStyle/>
          <a:p>
            <a:pPr>
              <a:spcBef>
                <a:spcPts val="600"/>
              </a:spcBef>
              <a:spcAft>
                <a:spcPts val="1200"/>
              </a:spcAft>
              <a:buNone/>
            </a:pPr>
            <a:r>
              <a:rPr lang="en-AU" sz="2200" b="1" dirty="0" smtClean="0">
                <a:latin typeface="Helvetica" pitchFamily="34" charset="0"/>
              </a:rPr>
              <a:t>Bar related mise-en-place tasks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Preparing and filling water jugs or other items</a:t>
            </a:r>
          </a:p>
          <a:p>
            <a:pPr lvl="0">
              <a:spcBef>
                <a:spcPts val="600"/>
              </a:spcBef>
              <a:spcAft>
                <a:spcPts val="1200"/>
              </a:spcAft>
            </a:pPr>
            <a:r>
              <a:rPr lang="en-AU" sz="2200" dirty="0" smtClean="0">
                <a:latin typeface="Helvetica" pitchFamily="34" charset="0"/>
              </a:rPr>
              <a:t>Prepare pre-ordered drinks</a:t>
            </a:r>
          </a:p>
          <a:p>
            <a:pPr>
              <a:spcBef>
                <a:spcPts val="600"/>
              </a:spcBef>
              <a:spcAft>
                <a:spcPts val="1200"/>
              </a:spcAft>
            </a:pPr>
            <a:r>
              <a:rPr lang="en-AU" sz="2200" dirty="0" smtClean="0">
                <a:latin typeface="Helvetica" pitchFamily="34" charset="0"/>
              </a:rPr>
              <a:t>Set out appropriate glassware on the tables</a:t>
            </a:r>
          </a:p>
          <a:p>
            <a:pPr>
              <a:spcBef>
                <a:spcPts val="600"/>
              </a:spcBef>
              <a:spcAft>
                <a:spcPts val="1200"/>
              </a:spcAft>
            </a:pPr>
            <a:r>
              <a:rPr lang="en-AU" sz="2200" dirty="0" smtClean="0">
                <a:latin typeface="Helvetica" pitchFamily="34" charset="0"/>
              </a:rPr>
              <a:t>Prepare service trays and drinks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19459" name="Picture 3" descr="C:\Documents and Settings\danielc\Local Settings\Temporary Internet Files\Content.IE5\XGIII3N1\MC900279230[1].wmf"/>
          <p:cNvPicPr>
            <a:picLocks noChangeAspect="1" noChangeArrowheads="1"/>
          </p:cNvPicPr>
          <p:nvPr/>
        </p:nvPicPr>
        <p:blipFill>
          <a:blip r:embed="rId3" cstate="print"/>
          <a:srcRect/>
          <a:stretch>
            <a:fillRect/>
          </a:stretch>
        </p:blipFill>
        <p:spPr bwMode="auto">
          <a:xfrm>
            <a:off x="6786578" y="2571744"/>
            <a:ext cx="1625803" cy="1825142"/>
          </a:xfrm>
          <a:prstGeom prst="rect">
            <a:avLst/>
          </a:prstGeom>
          <a:noFill/>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606008"/>
          </a:xfrm>
        </p:spPr>
        <p:txBody>
          <a:bodyPr>
            <a:normAutofit/>
          </a:bodyPr>
          <a:lstStyle/>
          <a:p>
            <a:pPr marL="0">
              <a:spcBef>
                <a:spcPts val="600"/>
              </a:spcBef>
              <a:spcAft>
                <a:spcPts val="1200"/>
              </a:spcAft>
              <a:buNone/>
            </a:pPr>
            <a:r>
              <a:rPr lang="en-AU" sz="2200" dirty="0" smtClean="0">
                <a:latin typeface="Helvetica" pitchFamily="34" charset="0"/>
              </a:rPr>
              <a:t>Stock is a very important aspect of a function and without it no function can take place. </a:t>
            </a:r>
          </a:p>
          <a:p>
            <a:pPr marL="0">
              <a:spcBef>
                <a:spcPts val="600"/>
              </a:spcBef>
              <a:spcAft>
                <a:spcPts val="1200"/>
              </a:spcAft>
              <a:buNone/>
            </a:pPr>
            <a:r>
              <a:rPr lang="en-AU" sz="2200" dirty="0" smtClean="0">
                <a:latin typeface="Helvetica" pitchFamily="34" charset="0"/>
              </a:rPr>
              <a:t>Many functions require a wide variety of stock items which need to be arranged, whether:</a:t>
            </a:r>
          </a:p>
          <a:p>
            <a:pPr>
              <a:spcBef>
                <a:spcPts val="600"/>
              </a:spcBef>
              <a:spcAft>
                <a:spcPts val="1200"/>
              </a:spcAft>
            </a:pPr>
            <a:r>
              <a:rPr lang="en-AU" sz="2200" dirty="0" smtClean="0">
                <a:latin typeface="Helvetica" pitchFamily="34" charset="0"/>
              </a:rPr>
              <a:t>Borrowed from other departments</a:t>
            </a:r>
          </a:p>
          <a:p>
            <a:pPr>
              <a:spcBef>
                <a:spcPts val="600"/>
              </a:spcBef>
              <a:spcAft>
                <a:spcPts val="1200"/>
              </a:spcAft>
            </a:pPr>
            <a:r>
              <a:rPr lang="en-AU" sz="2200" dirty="0" smtClean="0">
                <a:latin typeface="Helvetica" pitchFamily="34" charset="0"/>
              </a:rPr>
              <a:t>Ordered internally through the purchasing </a:t>
            </a:r>
            <a:br>
              <a:rPr lang="en-AU" sz="2200" dirty="0" smtClean="0">
                <a:latin typeface="Helvetica" pitchFamily="34" charset="0"/>
              </a:rPr>
            </a:br>
            <a:r>
              <a:rPr lang="en-AU" sz="2200" dirty="0" smtClean="0">
                <a:latin typeface="Helvetica" pitchFamily="34" charset="0"/>
              </a:rPr>
              <a:t>department</a:t>
            </a:r>
          </a:p>
          <a:p>
            <a:pPr>
              <a:spcBef>
                <a:spcPts val="600"/>
              </a:spcBef>
              <a:spcAft>
                <a:spcPts val="1200"/>
              </a:spcAft>
            </a:pPr>
            <a:r>
              <a:rPr lang="en-AU" sz="2200" dirty="0" smtClean="0">
                <a:latin typeface="Helvetica" pitchFamily="34" charset="0"/>
              </a:rPr>
              <a:t>Purchased or hired through external providers</a:t>
            </a: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6" name="Picture 5" descr="MP910218777.JPG"/>
          <p:cNvPicPr/>
          <p:nvPr/>
        </p:nvPicPr>
        <p:blipFill>
          <a:blip r:embed="rId3" cstate="print"/>
          <a:stretch>
            <a:fillRect/>
          </a:stretch>
        </p:blipFill>
        <p:spPr>
          <a:xfrm>
            <a:off x="7072330" y="2928934"/>
            <a:ext cx="1296671" cy="1937513"/>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Types of stock</a:t>
            </a:r>
          </a:p>
          <a:p>
            <a:pPr lvl="0">
              <a:spcBef>
                <a:spcPts val="600"/>
              </a:spcBef>
              <a:spcAft>
                <a:spcPts val="1200"/>
              </a:spcAft>
            </a:pPr>
            <a:r>
              <a:rPr lang="en-AU" sz="2200" dirty="0" smtClean="0">
                <a:latin typeface="Helvetica" pitchFamily="34" charset="0"/>
              </a:rPr>
              <a:t>Food and beverages</a:t>
            </a:r>
          </a:p>
          <a:p>
            <a:pPr lvl="0">
              <a:spcBef>
                <a:spcPts val="600"/>
              </a:spcBef>
              <a:spcAft>
                <a:spcPts val="1200"/>
              </a:spcAft>
            </a:pPr>
            <a:r>
              <a:rPr lang="en-AU" sz="2200" dirty="0" smtClean="0">
                <a:latin typeface="Helvetica" pitchFamily="34" charset="0"/>
              </a:rPr>
              <a:t>Decorations</a:t>
            </a:r>
          </a:p>
          <a:p>
            <a:pPr lvl="0">
              <a:spcBef>
                <a:spcPts val="600"/>
              </a:spcBef>
              <a:spcAft>
                <a:spcPts val="1200"/>
              </a:spcAft>
            </a:pPr>
            <a:r>
              <a:rPr lang="en-AU" sz="2200" dirty="0" smtClean="0">
                <a:latin typeface="Helvetica" pitchFamily="34" charset="0"/>
              </a:rPr>
              <a:t>Stationery</a:t>
            </a:r>
          </a:p>
          <a:p>
            <a:pPr lvl="0">
              <a:spcBef>
                <a:spcPts val="600"/>
              </a:spcBef>
              <a:spcAft>
                <a:spcPts val="1200"/>
              </a:spcAft>
            </a:pPr>
            <a:r>
              <a:rPr lang="en-AU" sz="2200" dirty="0" smtClean="0">
                <a:latin typeface="Helvetica" pitchFamily="34" charset="0"/>
              </a:rPr>
              <a:t>Equipment</a:t>
            </a:r>
          </a:p>
          <a:p>
            <a:pPr lvl="0">
              <a:spcBef>
                <a:spcPts val="600"/>
              </a:spcBef>
              <a:spcAft>
                <a:spcPts val="1200"/>
              </a:spcAft>
            </a:pPr>
            <a:r>
              <a:rPr lang="en-AU" sz="2200" dirty="0" smtClean="0">
                <a:latin typeface="Helvetica" pitchFamily="34" charset="0"/>
              </a:rPr>
              <a:t>Linen</a:t>
            </a:r>
          </a:p>
          <a:p>
            <a:pPr marL="0">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20482" name="Picture 2" descr="C:\Documents and Settings\danielc\Local Settings\Temporary Internet Files\Content.IE5\UMECW9PM\MC900391574[1].wmf"/>
          <p:cNvPicPr>
            <a:picLocks noChangeAspect="1" noChangeArrowheads="1"/>
          </p:cNvPicPr>
          <p:nvPr/>
        </p:nvPicPr>
        <p:blipFill>
          <a:blip r:embed="rId3" cstate="print"/>
          <a:srcRect/>
          <a:stretch>
            <a:fillRect/>
          </a:stretch>
        </p:blipFill>
        <p:spPr bwMode="auto">
          <a:xfrm>
            <a:off x="5072066" y="2643182"/>
            <a:ext cx="1806854" cy="1421892"/>
          </a:xfrm>
          <a:prstGeom prst="rect">
            <a:avLst/>
          </a:prstGeom>
          <a:noFill/>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Purchase necessary stock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Types of stock</a:t>
            </a:r>
          </a:p>
          <a:p>
            <a:pPr lvl="0">
              <a:spcBef>
                <a:spcPts val="600"/>
              </a:spcBef>
              <a:spcAft>
                <a:spcPts val="1200"/>
              </a:spcAft>
            </a:pPr>
            <a:r>
              <a:rPr lang="en-AU" sz="2200" dirty="0" smtClean="0">
                <a:latin typeface="Helvetica" pitchFamily="34" charset="0"/>
              </a:rPr>
              <a:t>Crockery and glassware</a:t>
            </a:r>
          </a:p>
          <a:p>
            <a:pPr lvl="0">
              <a:spcBef>
                <a:spcPts val="600"/>
              </a:spcBef>
              <a:spcAft>
                <a:spcPts val="1200"/>
              </a:spcAft>
            </a:pPr>
            <a:r>
              <a:rPr lang="en-AU" sz="2200" dirty="0" smtClean="0">
                <a:latin typeface="Helvetica" pitchFamily="34" charset="0"/>
              </a:rPr>
              <a:t>Cleaning supplies</a:t>
            </a:r>
          </a:p>
          <a:p>
            <a:pPr>
              <a:spcBef>
                <a:spcPts val="600"/>
              </a:spcBef>
              <a:spcAft>
                <a:spcPts val="1200"/>
              </a:spcAft>
            </a:pPr>
            <a:r>
              <a:rPr lang="en-AU" sz="2200" dirty="0" smtClean="0">
                <a:latin typeface="Helvetica" pitchFamily="34" charset="0"/>
              </a:rPr>
              <a:t>Consumables</a:t>
            </a:r>
            <a:endParaRPr lang="en-AU" sz="2200" b="1"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21507" name="Picture 3" descr="C:\Documents and Settings\danielc\Local Settings\Temporary Internet Files\Content.IE5\3DV3UKH9\MC900241319[1].wmf"/>
          <p:cNvPicPr>
            <a:picLocks noChangeAspect="1" noChangeArrowheads="1"/>
          </p:cNvPicPr>
          <p:nvPr/>
        </p:nvPicPr>
        <p:blipFill>
          <a:blip r:embed="rId3" cstate="print"/>
          <a:srcRect/>
          <a:stretch>
            <a:fillRect/>
          </a:stretch>
        </p:blipFill>
        <p:spPr bwMode="auto">
          <a:xfrm>
            <a:off x="5214942" y="2071678"/>
            <a:ext cx="1591970" cy="1822399"/>
          </a:xfrm>
          <a:prstGeom prst="rect">
            <a:avLst/>
          </a:prstGeom>
          <a:noFill/>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Conduct pre-function briefings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The best way to communicate to staff the requirements of an event is in the form of a pre-function briefing when staff are all together.</a:t>
            </a:r>
          </a:p>
          <a:p>
            <a:pPr>
              <a:spcBef>
                <a:spcPts val="600"/>
              </a:spcBef>
              <a:spcAft>
                <a:spcPts val="1200"/>
              </a:spcAft>
            </a:pPr>
            <a:r>
              <a:rPr lang="en-AU" sz="2200" dirty="0" smtClean="0">
                <a:latin typeface="Helvetica" pitchFamily="34" charset="0"/>
              </a:rPr>
              <a:t>What needs to be discussed?</a:t>
            </a:r>
          </a:p>
          <a:p>
            <a:pPr>
              <a:spcBef>
                <a:spcPts val="600"/>
              </a:spcBef>
              <a:spcAft>
                <a:spcPts val="1200"/>
              </a:spcAft>
            </a:pPr>
            <a:r>
              <a:rPr lang="en-AU" sz="2200" dirty="0" smtClean="0">
                <a:latin typeface="Helvetica" pitchFamily="34" charset="0"/>
              </a:rPr>
              <a:t>Who should attend?</a:t>
            </a:r>
          </a:p>
          <a:p>
            <a:pPr>
              <a:spcBef>
                <a:spcPts val="600"/>
              </a:spcBef>
              <a:spcAft>
                <a:spcPts val="1200"/>
              </a:spcAft>
              <a:buNone/>
            </a:pPr>
            <a:endParaRPr lang="en-AU" sz="2400" dirty="0" smtClean="0"/>
          </a:p>
          <a:p>
            <a:pPr>
              <a:spcBef>
                <a:spcPts val="600"/>
              </a:spcBef>
              <a:spcAft>
                <a:spcPts val="1200"/>
              </a:spcAft>
              <a:buNone/>
            </a:pP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7" name="Picture 6" descr="MP900442559.JPG"/>
          <p:cNvPicPr/>
          <p:nvPr/>
        </p:nvPicPr>
        <p:blipFill>
          <a:blip r:embed="rId3" cstate="print"/>
          <a:stretch>
            <a:fillRect/>
          </a:stretch>
        </p:blipFill>
        <p:spPr>
          <a:xfrm>
            <a:off x="5786446" y="2786058"/>
            <a:ext cx="2091690" cy="1419225"/>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service delivery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GB" sz="2200" dirty="0" smtClean="0">
                <a:latin typeface="Helvetica" pitchFamily="34" charset="0"/>
              </a:rPr>
              <a:t>Not only is it important that activities are monitored in the lead up to a function, it is absolutely essential that they are monitored as the function is taking place</a:t>
            </a:r>
          </a:p>
          <a:p>
            <a:pPr>
              <a:spcBef>
                <a:spcPts val="600"/>
              </a:spcBef>
              <a:spcAft>
                <a:spcPts val="1200"/>
              </a:spcAft>
            </a:pPr>
            <a:r>
              <a:rPr lang="en-GB" sz="2200" dirty="0" smtClean="0">
                <a:latin typeface="Helvetica" pitchFamily="34" charset="0"/>
              </a:rPr>
              <a:t>Managers must ensure that work activities designated to staff or make up their job role, must be completed in an acceptable manner within the desired timeframes</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6" name="Picture 5" descr="MP900385549[1].JPG"/>
          <p:cNvPicPr/>
          <p:nvPr/>
        </p:nvPicPr>
        <p:blipFill>
          <a:blip r:embed="rId3" cstate="print"/>
          <a:stretch>
            <a:fillRect/>
          </a:stretch>
        </p:blipFill>
        <p:spPr>
          <a:xfrm>
            <a:off x="4000496" y="4286256"/>
            <a:ext cx="1352550" cy="1838325"/>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service delivery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a:spcBef>
                <a:spcPts val="600"/>
              </a:spcBef>
              <a:spcAft>
                <a:spcPts val="1200"/>
              </a:spcAft>
              <a:buNone/>
            </a:pPr>
            <a:r>
              <a:rPr lang="en-GB" sz="2200" b="1" dirty="0" smtClean="0">
                <a:latin typeface="Helvetica" pitchFamily="34" charset="0"/>
              </a:rPr>
              <a:t>Common monitoring methods</a:t>
            </a:r>
            <a:endParaRPr lang="en-AU" sz="2200" b="1" dirty="0" smtClean="0">
              <a:latin typeface="Helvetica" pitchFamily="34" charset="0"/>
            </a:endParaRPr>
          </a:p>
          <a:p>
            <a:pPr>
              <a:spcBef>
                <a:spcPts val="600"/>
              </a:spcBef>
              <a:spcAft>
                <a:spcPts val="1200"/>
              </a:spcAft>
            </a:pPr>
            <a:r>
              <a:rPr lang="en-GB" sz="2200" dirty="0" smtClean="0">
                <a:latin typeface="Helvetica" pitchFamily="34" charset="0"/>
              </a:rPr>
              <a:t>Workplace observation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Talking to staff</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Feedback from the function co-ordinator or customers of the function</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7" name="Picture 6" descr="MP900410119[1].JPG"/>
          <p:cNvPicPr/>
          <p:nvPr/>
        </p:nvPicPr>
        <p:blipFill>
          <a:blip r:embed="rId3" cstate="print"/>
          <a:stretch>
            <a:fillRect/>
          </a:stretch>
        </p:blipFill>
        <p:spPr>
          <a:xfrm>
            <a:off x="3571868" y="4286256"/>
            <a:ext cx="2329498" cy="1614488"/>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Monitoring the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a:spcBef>
                <a:spcPts val="600"/>
              </a:spcBef>
              <a:spcAft>
                <a:spcPts val="1200"/>
              </a:spcAft>
              <a:buNone/>
            </a:pPr>
            <a:r>
              <a:rPr lang="en-AU" sz="2200" b="1" dirty="0" smtClean="0">
                <a:latin typeface="Helvetica" pitchFamily="34" charset="0"/>
              </a:rPr>
              <a:t>Areas to monitor</a:t>
            </a:r>
          </a:p>
          <a:p>
            <a:pPr>
              <a:spcBef>
                <a:spcPts val="600"/>
              </a:spcBef>
              <a:spcAft>
                <a:spcPts val="1200"/>
              </a:spcAft>
            </a:pPr>
            <a:r>
              <a:rPr lang="en-SG" sz="2200" dirty="0" smtClean="0">
                <a:latin typeface="Helvetica" pitchFamily="34" charset="0"/>
              </a:rPr>
              <a:t>Checking running times</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Adjusting service delivery to align with Running Sheet</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Arranging changes to the agreed Running Sheet to accommodate the need to do so </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Ensuring quality service delivery</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Ensuring all customer requirements are met</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6" name="Picture 5" descr="MP900438870[1].JPG"/>
          <p:cNvPicPr/>
          <p:nvPr/>
        </p:nvPicPr>
        <p:blipFill>
          <a:blip r:embed="rId3" cstate="print"/>
          <a:stretch>
            <a:fillRect/>
          </a:stretch>
        </p:blipFill>
        <p:spPr>
          <a:xfrm>
            <a:off x="6143636" y="1357298"/>
            <a:ext cx="1615440" cy="1162050"/>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Monitoring the function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Areas to monitor</a:t>
            </a:r>
          </a:p>
          <a:p>
            <a:pPr>
              <a:spcBef>
                <a:spcPts val="600"/>
              </a:spcBef>
              <a:spcAft>
                <a:spcPts val="1200"/>
              </a:spcAft>
            </a:pPr>
            <a:r>
              <a:rPr lang="en-SG" sz="2200" dirty="0" smtClean="0">
                <a:latin typeface="Helvetica" pitchFamily="34" charset="0"/>
              </a:rPr>
              <a:t>Responding to queries and requests from clients and guests </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Liaising with customer during function to check level of satisfaction</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Enquiring if customer has additional </a:t>
            </a:r>
            <a:br>
              <a:rPr lang="en-SG" sz="2200" dirty="0" smtClean="0">
                <a:latin typeface="Helvetica" pitchFamily="34" charset="0"/>
              </a:rPr>
            </a:br>
            <a:r>
              <a:rPr lang="en-SG" sz="2200" dirty="0" smtClean="0">
                <a:latin typeface="Helvetica" pitchFamily="34" charset="0"/>
              </a:rPr>
              <a:t>requirements during service</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Providing additional items as required</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Clearing rubbish and used items</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7" name="Picture 6" descr="Culinaryacademy142.TIF"/>
          <p:cNvPicPr/>
          <p:nvPr/>
        </p:nvPicPr>
        <p:blipFill>
          <a:blip r:embed="rId3" cstate="print"/>
          <a:stretch>
            <a:fillRect/>
          </a:stretch>
        </p:blipFill>
        <p:spPr>
          <a:xfrm>
            <a:off x="6500826" y="3643314"/>
            <a:ext cx="1821180" cy="1343025"/>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Taking action to address service problems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It is a fact of life there will be problems of some sort at any function</a:t>
            </a:r>
          </a:p>
          <a:p>
            <a:pPr>
              <a:spcBef>
                <a:spcPts val="600"/>
              </a:spcBef>
              <a:spcAft>
                <a:spcPts val="1200"/>
              </a:spcAft>
            </a:pPr>
            <a:r>
              <a:rPr lang="en-AU" sz="2200" dirty="0" smtClean="0">
                <a:latin typeface="Helvetica" pitchFamily="34" charset="0"/>
              </a:rPr>
              <a:t>Even where appropriate planning and preparation </a:t>
            </a:r>
            <a:br>
              <a:rPr lang="en-AU" sz="2200" dirty="0" smtClean="0">
                <a:latin typeface="Helvetica" pitchFamily="34" charset="0"/>
              </a:rPr>
            </a:br>
            <a:r>
              <a:rPr lang="en-AU" sz="2200" dirty="0" smtClean="0">
                <a:latin typeface="Helvetica" pitchFamily="34" charset="0"/>
              </a:rPr>
              <a:t>has taken place it is still likely there will be </a:t>
            </a:r>
            <a:br>
              <a:rPr lang="en-AU" sz="2200" dirty="0" smtClean="0">
                <a:latin typeface="Helvetica" pitchFamily="34" charset="0"/>
              </a:rPr>
            </a:br>
            <a:r>
              <a:rPr lang="en-AU" sz="2200" dirty="0" smtClean="0">
                <a:latin typeface="Helvetica" pitchFamily="34" charset="0"/>
              </a:rPr>
              <a:t>problems</a:t>
            </a:r>
          </a:p>
          <a:p>
            <a:pPr>
              <a:spcBef>
                <a:spcPts val="600"/>
              </a:spcBef>
              <a:spcAft>
                <a:spcPts val="1200"/>
              </a:spcAft>
            </a:pPr>
            <a:r>
              <a:rPr lang="en-AU" sz="2200" dirty="0" smtClean="0">
                <a:latin typeface="Helvetica" pitchFamily="34" charset="0"/>
              </a:rPr>
              <a:t>Problems may be caused by equipment failure, shortage of materials, patrons</a:t>
            </a:r>
          </a:p>
          <a:p>
            <a:pPr>
              <a:spcBef>
                <a:spcPts val="600"/>
              </a:spcBef>
              <a:spcAft>
                <a:spcPts val="1200"/>
              </a:spcAft>
            </a:pPr>
            <a:r>
              <a:rPr lang="en-AU" sz="2200" dirty="0" smtClean="0">
                <a:latin typeface="Helvetica" pitchFamily="34" charset="0"/>
              </a:rPr>
              <a:t>Many problems relate to timing issues</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8" name="Picture 7" descr="MP900422224[1].JPG"/>
          <p:cNvPicPr>
            <a:picLocks noChangeAspect="1"/>
          </p:cNvPicPr>
          <p:nvPr/>
        </p:nvPicPr>
        <p:blipFill>
          <a:blip r:embed="rId3" cstate="print"/>
          <a:stretch>
            <a:fillRect/>
          </a:stretch>
        </p:blipFill>
        <p:spPr>
          <a:xfrm>
            <a:off x="7500958" y="2500306"/>
            <a:ext cx="1270620" cy="1905000"/>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Taking action to address service problems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pPr>
            <a:r>
              <a:rPr lang="en-AU" sz="2200" dirty="0" smtClean="0">
                <a:latin typeface="Helvetica" pitchFamily="34" charset="0"/>
              </a:rPr>
              <a:t>Actively monitor all aspects of the function </a:t>
            </a:r>
          </a:p>
          <a:p>
            <a:pPr>
              <a:spcBef>
                <a:spcPts val="600"/>
              </a:spcBef>
              <a:spcAft>
                <a:spcPts val="1200"/>
              </a:spcAft>
            </a:pPr>
            <a:r>
              <a:rPr lang="en-AU" sz="2200" dirty="0" smtClean="0">
                <a:latin typeface="Helvetica" pitchFamily="34" charset="0"/>
              </a:rPr>
              <a:t>Communicate with relevant people </a:t>
            </a:r>
            <a:br>
              <a:rPr lang="en-AU" sz="2200" dirty="0" smtClean="0">
                <a:latin typeface="Helvetica" pitchFamily="34" charset="0"/>
              </a:rPr>
            </a:br>
            <a:r>
              <a:rPr lang="en-AU" sz="2200" dirty="0" smtClean="0">
                <a:latin typeface="Helvetica" pitchFamily="34" charset="0"/>
              </a:rPr>
              <a:t>about what is happening </a:t>
            </a:r>
          </a:p>
          <a:p>
            <a:pPr>
              <a:spcBef>
                <a:spcPts val="600"/>
              </a:spcBef>
              <a:spcAft>
                <a:spcPts val="1200"/>
              </a:spcAft>
            </a:pPr>
            <a:r>
              <a:rPr lang="en-AU" sz="2200" dirty="0" smtClean="0">
                <a:latin typeface="Helvetica" pitchFamily="34" charset="0"/>
              </a:rPr>
              <a:t>Take immediate action </a:t>
            </a:r>
          </a:p>
          <a:p>
            <a:pPr marL="0">
              <a:spcBef>
                <a:spcPts val="600"/>
              </a:spcBef>
              <a:spcAft>
                <a:spcPts val="1200"/>
              </a:spcAft>
              <a:buNone/>
            </a:pPr>
            <a:r>
              <a:rPr lang="en-AU" sz="2200" dirty="0" smtClean="0">
                <a:latin typeface="Helvetica" pitchFamily="34" charset="0"/>
              </a:rPr>
              <a:t>As soon as you notice a problem or a timing issue you have to immediately begin to do something to resolve or address the situation. </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6" name="Picture 5" descr="W-A 6-4-04 -162_RT8 - student in Food and Beverage Class.jpg"/>
          <p:cNvPicPr/>
          <p:nvPr/>
        </p:nvPicPr>
        <p:blipFill>
          <a:blip r:embed="rId3" cstate="print"/>
          <a:stretch>
            <a:fillRect/>
          </a:stretch>
        </p:blipFill>
        <p:spPr>
          <a:xfrm>
            <a:off x="6328252" y="2214554"/>
            <a:ext cx="1999467" cy="1262062"/>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 event breakdown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Identifying time of next event of function</a:t>
            </a:r>
          </a:p>
          <a:p>
            <a:pPr>
              <a:spcBef>
                <a:spcPts val="600"/>
              </a:spcBef>
              <a:spcAft>
                <a:spcPts val="1200"/>
              </a:spcAft>
            </a:pPr>
            <a:r>
              <a:rPr lang="en-AU" sz="2200" dirty="0" smtClean="0">
                <a:latin typeface="Helvetica" pitchFamily="34" charset="0"/>
              </a:rPr>
              <a:t>Why is this important?</a:t>
            </a:r>
          </a:p>
          <a:p>
            <a:pPr>
              <a:spcBef>
                <a:spcPts val="600"/>
              </a:spcBef>
              <a:spcAft>
                <a:spcPts val="1200"/>
              </a:spcAft>
              <a:buNone/>
            </a:pPr>
            <a:r>
              <a:rPr lang="en-AU" sz="2200" b="1" dirty="0" smtClean="0">
                <a:latin typeface="Helvetica" pitchFamily="34" charset="0"/>
              </a:rPr>
              <a:t>Monitor event breakdown activities?</a:t>
            </a:r>
          </a:p>
          <a:p>
            <a:pPr>
              <a:spcBef>
                <a:spcPts val="600"/>
              </a:spcBef>
              <a:spcAft>
                <a:spcPts val="1200"/>
              </a:spcAft>
            </a:pPr>
            <a:r>
              <a:rPr lang="en-AU" sz="2200" dirty="0" smtClean="0">
                <a:latin typeface="Helvetica" pitchFamily="34" charset="0"/>
              </a:rPr>
              <a:t>What activities take place during the </a:t>
            </a:r>
            <a:br>
              <a:rPr lang="en-AU" sz="2200" dirty="0" smtClean="0">
                <a:latin typeface="Helvetica" pitchFamily="34" charset="0"/>
              </a:rPr>
            </a:br>
            <a:r>
              <a:rPr lang="en-AU" sz="2200" dirty="0" smtClean="0">
                <a:latin typeface="Helvetica" pitchFamily="34" charset="0"/>
              </a:rPr>
              <a:t>breakdown of an event?</a:t>
            </a:r>
          </a:p>
          <a:p>
            <a:pPr>
              <a:spcBef>
                <a:spcPts val="600"/>
              </a:spcBef>
              <a:spcAft>
                <a:spcPts val="1200"/>
              </a:spcAft>
            </a:pPr>
            <a:r>
              <a:rPr lang="en-AU" sz="2200" dirty="0" smtClean="0">
                <a:latin typeface="Helvetica" pitchFamily="34" charset="0"/>
              </a:rPr>
              <a:t>How do you monitor these activities?</a:t>
            </a:r>
            <a:r>
              <a:rPr lang="en-AU" sz="2200" b="1" dirty="0" smtClean="0">
                <a:latin typeface="Helvetica" pitchFamily="34" charset="0"/>
              </a:rPr>
              <a:t> </a:t>
            </a: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7" name="Picture 6" descr="backpack vacuum.jpeg"/>
          <p:cNvPicPr>
            <a:picLocks noChangeAspect="1"/>
          </p:cNvPicPr>
          <p:nvPr/>
        </p:nvPicPr>
        <p:blipFill>
          <a:blip r:embed="rId3" cstate="print"/>
          <a:stretch>
            <a:fillRect/>
          </a:stretch>
        </p:blipFill>
        <p:spPr>
          <a:xfrm>
            <a:off x="6929454" y="2285992"/>
            <a:ext cx="1262633" cy="1848495"/>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6:</a:t>
            </a:r>
          </a:p>
          <a:p>
            <a:pPr marL="0">
              <a:spcBef>
                <a:spcPts val="600"/>
              </a:spcBef>
              <a:spcAft>
                <a:spcPts val="1200"/>
              </a:spcAft>
              <a:buNone/>
            </a:pPr>
            <a:r>
              <a:rPr lang="en-AU" sz="4000" dirty="0" smtClean="0">
                <a:solidFill>
                  <a:srgbClr val="FF6600"/>
                </a:solidFill>
                <a:latin typeface="Helvetica" pitchFamily="34" charset="0"/>
              </a:rPr>
              <a:t>Plan and deliver event registration</a:t>
            </a:r>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22530" name="Picture 2" descr="I:\Overseas Projects\PHOTOS\2013\Office\MC900233081.WMF"/>
          <p:cNvPicPr>
            <a:picLocks noChangeAspect="1" noChangeArrowheads="1"/>
          </p:cNvPicPr>
          <p:nvPr/>
        </p:nvPicPr>
        <p:blipFill>
          <a:blip r:embed="rId3" cstate="print"/>
          <a:srcRect/>
          <a:stretch>
            <a:fillRect/>
          </a:stretch>
        </p:blipFill>
        <p:spPr bwMode="auto">
          <a:xfrm>
            <a:off x="3714744" y="3286124"/>
            <a:ext cx="2636837" cy="2668587"/>
          </a:xfrm>
          <a:prstGeom prst="rect">
            <a:avLst/>
          </a:prstGeom>
          <a:noFill/>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Plan and deliver event registration</a:t>
            </a: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Take event bookings and process event registrations</a:t>
            </a:r>
          </a:p>
          <a:p>
            <a:pPr>
              <a:spcBef>
                <a:spcPts val="600"/>
              </a:spcBef>
              <a:spcAft>
                <a:spcPts val="1200"/>
              </a:spcAft>
            </a:pPr>
            <a:r>
              <a:rPr lang="en-AU" sz="2200" dirty="0" smtClean="0">
                <a:latin typeface="Helvetica" pitchFamily="34" charset="0"/>
              </a:rPr>
              <a:t>Monitor on-going event registrations and take remedial action where necessary to increase attendance/registrations</a:t>
            </a:r>
          </a:p>
          <a:p>
            <a:pPr>
              <a:spcBef>
                <a:spcPts val="600"/>
              </a:spcBef>
              <a:spcAft>
                <a:spcPts val="1200"/>
              </a:spcAft>
            </a:pPr>
            <a:r>
              <a:rPr lang="en-AU" sz="2200" dirty="0" smtClean="0">
                <a:latin typeface="Helvetica" pitchFamily="34" charset="0"/>
              </a:rPr>
              <a:t>Finalise event registrations</a:t>
            </a:r>
          </a:p>
          <a:p>
            <a:pPr>
              <a:spcBef>
                <a:spcPts val="600"/>
              </a:spcBef>
              <a:spcAft>
                <a:spcPts val="1200"/>
              </a:spcAft>
            </a:pPr>
            <a:r>
              <a:rPr lang="en-AU" sz="2200" dirty="0" smtClean="0">
                <a:latin typeface="Helvetica" pitchFamily="34" charset="0"/>
              </a:rPr>
              <a:t>Produce identified event materials for guests and delegates</a:t>
            </a:r>
          </a:p>
          <a:p>
            <a:pPr>
              <a:spcBef>
                <a:spcPts val="600"/>
              </a:spcBef>
              <a:spcAft>
                <a:spcPts val="1200"/>
              </a:spcAft>
            </a:pPr>
            <a:r>
              <a:rPr lang="en-AU" sz="2200" dirty="0" smtClean="0">
                <a:latin typeface="Helvetica" pitchFamily="34" charset="0"/>
              </a:rPr>
              <a:t>Coordinate and process guest and delegate registration at the event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643834" y="2000240"/>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143372" y="3214686"/>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500562" y="371475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357422" y="4572008"/>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4071934" y="5429264"/>
            <a:ext cx="399154" cy="527046"/>
          </a:xfrm>
          <a:prstGeom prst="rect">
            <a:avLst/>
          </a:prstGeom>
          <a:noFill/>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Role of event registrations and bookings?</a:t>
            </a:r>
          </a:p>
          <a:p>
            <a:pPr>
              <a:spcBef>
                <a:spcPts val="600"/>
              </a:spcBef>
              <a:spcAft>
                <a:spcPts val="1200"/>
              </a:spcAft>
            </a:pPr>
            <a:r>
              <a:rPr lang="en-AU" sz="2200" dirty="0" smtClean="0">
                <a:latin typeface="Helvetica" pitchFamily="34" charset="0"/>
              </a:rPr>
              <a:t>What are the benefits of these?</a:t>
            </a:r>
          </a:p>
          <a:p>
            <a:pPr>
              <a:spcBef>
                <a:spcPts val="600"/>
              </a:spcBef>
              <a:spcAft>
                <a:spcPts val="1200"/>
              </a:spcAft>
            </a:pPr>
            <a:r>
              <a:rPr lang="en-AU" sz="2200" dirty="0" smtClean="0">
                <a:latin typeface="Helvetica" pitchFamily="34" charset="0"/>
              </a:rPr>
              <a:t>Why are these necessary?</a:t>
            </a:r>
          </a:p>
          <a:p>
            <a:pPr>
              <a:spcBef>
                <a:spcPts val="600"/>
              </a:spcBef>
              <a:spcAft>
                <a:spcPts val="1200"/>
              </a:spcAft>
            </a:pPr>
            <a:r>
              <a:rPr lang="en-AU" sz="2200" dirty="0" smtClean="0">
                <a:latin typeface="Helvetica" pitchFamily="34" charset="0"/>
              </a:rPr>
              <a:t>How are they taken?</a:t>
            </a:r>
          </a:p>
          <a:p>
            <a:pPr>
              <a:spcBef>
                <a:spcPts val="600"/>
              </a:spcBef>
              <a:spcAft>
                <a:spcPts val="1200"/>
              </a:spcAft>
            </a:pPr>
            <a:r>
              <a:rPr lang="en-AU" sz="2200" dirty="0" smtClean="0">
                <a:latin typeface="Helvetica" pitchFamily="34" charset="0"/>
              </a:rPr>
              <a:t>What information do they record?</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23555" name="Picture 3" descr="C:\Documents and Settings\danielc\Local Settings\Temporary Internet Files\Content.IE5\112MAXTI\MC900301344[1].wmf"/>
          <p:cNvPicPr>
            <a:picLocks noChangeAspect="1" noChangeArrowheads="1"/>
          </p:cNvPicPr>
          <p:nvPr/>
        </p:nvPicPr>
        <p:blipFill>
          <a:blip r:embed="rId3" cstate="print"/>
          <a:srcRect/>
          <a:stretch>
            <a:fillRect/>
          </a:stretch>
        </p:blipFill>
        <p:spPr bwMode="auto">
          <a:xfrm>
            <a:off x="6286512" y="2357430"/>
            <a:ext cx="1816913" cy="1677924"/>
          </a:xfrm>
          <a:prstGeom prst="rect">
            <a:avLst/>
          </a:prstGeom>
          <a:noFill/>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a:spcBef>
                <a:spcPts val="600"/>
              </a:spcBef>
              <a:spcAft>
                <a:spcPts val="600"/>
              </a:spcAft>
              <a:buNone/>
            </a:pPr>
            <a:r>
              <a:rPr lang="en-AU" sz="2200" b="1" dirty="0" smtClean="0">
                <a:latin typeface="Helvetica" pitchFamily="34" charset="0"/>
              </a:rPr>
              <a:t>Types of registrations or bookings </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Travel to and from the venue</a:t>
            </a:r>
          </a:p>
          <a:p>
            <a:pPr lvl="0">
              <a:spcBef>
                <a:spcPts val="600"/>
              </a:spcBef>
              <a:spcAft>
                <a:spcPts val="600"/>
              </a:spcAft>
            </a:pPr>
            <a:r>
              <a:rPr lang="en-AU" sz="2200" dirty="0" smtClean="0">
                <a:latin typeface="Helvetica" pitchFamily="34" charset="0"/>
              </a:rPr>
              <a:t>Accommodation</a:t>
            </a:r>
          </a:p>
          <a:p>
            <a:pPr lvl="0">
              <a:spcBef>
                <a:spcPts val="600"/>
              </a:spcBef>
              <a:spcAft>
                <a:spcPts val="600"/>
              </a:spcAft>
            </a:pPr>
            <a:r>
              <a:rPr lang="en-AU" sz="2200" dirty="0" smtClean="0">
                <a:latin typeface="Helvetica" pitchFamily="34" charset="0"/>
              </a:rPr>
              <a:t>Car hire</a:t>
            </a:r>
          </a:p>
          <a:p>
            <a:pPr lvl="0">
              <a:spcBef>
                <a:spcPts val="600"/>
              </a:spcBef>
              <a:spcAft>
                <a:spcPts val="600"/>
              </a:spcAft>
            </a:pPr>
            <a:r>
              <a:rPr lang="en-AU" sz="2200" dirty="0" smtClean="0">
                <a:latin typeface="Helvetica" pitchFamily="34" charset="0"/>
              </a:rPr>
              <a:t>Meals</a:t>
            </a:r>
          </a:p>
          <a:p>
            <a:pPr lvl="0">
              <a:spcBef>
                <a:spcPts val="600"/>
              </a:spcBef>
              <a:spcAft>
                <a:spcPts val="600"/>
              </a:spcAft>
            </a:pPr>
            <a:r>
              <a:rPr lang="en-AU" sz="2200" dirty="0" smtClean="0">
                <a:latin typeface="Helvetica" pitchFamily="34" charset="0"/>
              </a:rPr>
              <a:t>Sessions/ workshops</a:t>
            </a:r>
          </a:p>
          <a:p>
            <a:pPr lvl="0">
              <a:spcBef>
                <a:spcPts val="600"/>
              </a:spcBef>
              <a:spcAft>
                <a:spcPts val="600"/>
              </a:spcAft>
            </a:pPr>
            <a:r>
              <a:rPr lang="en-AU" sz="2200" dirty="0" smtClean="0">
                <a:latin typeface="Helvetica" pitchFamily="34" charset="0"/>
              </a:rPr>
              <a:t>Pre-dinner cocktails</a:t>
            </a:r>
          </a:p>
          <a:p>
            <a:pPr lvl="0">
              <a:spcBef>
                <a:spcPts val="600"/>
              </a:spcBef>
              <a:spcAft>
                <a:spcPts val="600"/>
              </a:spcAft>
            </a:pPr>
            <a:r>
              <a:rPr lang="en-AU" sz="2200" dirty="0" smtClean="0">
                <a:latin typeface="Helvetica" pitchFamily="34" charset="0"/>
              </a:rPr>
              <a:t>Dinner with keynote speaker</a:t>
            </a:r>
          </a:p>
          <a:p>
            <a:pPr lvl="0">
              <a:spcBef>
                <a:spcPts val="600"/>
              </a:spcBef>
              <a:spcAft>
                <a:spcPts val="600"/>
              </a:spcAft>
            </a:pPr>
            <a:r>
              <a:rPr lang="en-AU" sz="2200" dirty="0" smtClean="0">
                <a:latin typeface="Helvetica" pitchFamily="34" charset="0"/>
              </a:rPr>
              <a:t>Post-meeting entertainment</a:t>
            </a:r>
          </a:p>
          <a:p>
            <a:pPr lvl="0">
              <a:spcBef>
                <a:spcPts val="600"/>
              </a:spcBef>
              <a:spcAft>
                <a:spcPts val="600"/>
              </a:spcAft>
            </a:pPr>
            <a:r>
              <a:rPr lang="en-AU" sz="2200" dirty="0" smtClean="0">
                <a:latin typeface="Helvetica" pitchFamily="34" charset="0"/>
              </a:rPr>
              <a:t>Recreational activities</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24578" name="Picture 2" descr="C:\Documents and Settings\danielc\Local Settings\Temporary Internet Files\Content.IE5\SIQ5KRQ3\MP900284892[1].jpg"/>
          <p:cNvPicPr>
            <a:picLocks noChangeAspect="1" noChangeArrowheads="1"/>
          </p:cNvPicPr>
          <p:nvPr/>
        </p:nvPicPr>
        <p:blipFill>
          <a:blip r:embed="rId3" cstate="print"/>
          <a:srcRect/>
          <a:stretch>
            <a:fillRect/>
          </a:stretch>
        </p:blipFill>
        <p:spPr bwMode="auto">
          <a:xfrm>
            <a:off x="5929322" y="2500306"/>
            <a:ext cx="1725124" cy="2543180"/>
          </a:xfrm>
          <a:prstGeom prst="rect">
            <a:avLst/>
          </a:prstGeom>
          <a:noFill/>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The Registration Process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Every meeting or event has a basic registration procedure. </a:t>
            </a:r>
          </a:p>
          <a:p>
            <a:pPr lvl="0">
              <a:spcBef>
                <a:spcPts val="600"/>
              </a:spcBef>
              <a:spcAft>
                <a:spcPts val="1200"/>
              </a:spcAft>
            </a:pPr>
            <a:r>
              <a:rPr lang="en-AU" sz="2200" dirty="0" smtClean="0">
                <a:latin typeface="Helvetica" pitchFamily="34" charset="0"/>
              </a:rPr>
              <a:t>Expression of Interest</a:t>
            </a:r>
          </a:p>
          <a:p>
            <a:pPr lvl="0">
              <a:spcBef>
                <a:spcPts val="600"/>
              </a:spcBef>
              <a:spcAft>
                <a:spcPts val="1200"/>
              </a:spcAft>
            </a:pPr>
            <a:r>
              <a:rPr lang="en-AU" sz="2200" dirty="0" smtClean="0">
                <a:latin typeface="Helvetica" pitchFamily="34" charset="0"/>
              </a:rPr>
              <a:t>Registration Brochure</a:t>
            </a:r>
          </a:p>
          <a:p>
            <a:pPr lvl="0">
              <a:spcBef>
                <a:spcPts val="600"/>
              </a:spcBef>
              <a:spcAft>
                <a:spcPts val="1200"/>
              </a:spcAft>
            </a:pPr>
            <a:r>
              <a:rPr lang="en-AU" sz="2200" dirty="0" smtClean="0">
                <a:latin typeface="Helvetica" pitchFamily="34" charset="0"/>
              </a:rPr>
              <a:t>Registration Form</a:t>
            </a:r>
          </a:p>
          <a:p>
            <a:pPr lvl="0">
              <a:spcBef>
                <a:spcPts val="600"/>
              </a:spcBef>
              <a:spcAft>
                <a:spcPts val="1200"/>
              </a:spcAft>
            </a:pPr>
            <a:r>
              <a:rPr lang="en-AU" sz="2200" dirty="0" smtClean="0">
                <a:latin typeface="Helvetica" pitchFamily="34" charset="0"/>
              </a:rPr>
              <a:t>Process Registrations</a:t>
            </a:r>
          </a:p>
          <a:p>
            <a:pPr lvl="0">
              <a:spcBef>
                <a:spcPts val="600"/>
              </a:spcBef>
              <a:spcAft>
                <a:spcPts val="1200"/>
              </a:spcAft>
            </a:pPr>
            <a:r>
              <a:rPr lang="en-AU" sz="2200" dirty="0" smtClean="0">
                <a:latin typeface="Helvetica" pitchFamily="34" charset="0"/>
              </a:rPr>
              <a:t>Registration at the event</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6" name="Picture 5" descr="registration table.jpg"/>
          <p:cNvPicPr>
            <a:picLocks noChangeAspect="1"/>
          </p:cNvPicPr>
          <p:nvPr/>
        </p:nvPicPr>
        <p:blipFill>
          <a:blip r:embed="rId3" cstate="print"/>
          <a:stretch>
            <a:fillRect/>
          </a:stretch>
        </p:blipFill>
        <p:spPr>
          <a:xfrm>
            <a:off x="5500694" y="3214686"/>
            <a:ext cx="2339752" cy="1754814"/>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Expression of interest</a:t>
            </a:r>
          </a:p>
          <a:p>
            <a:pPr marL="0">
              <a:spcBef>
                <a:spcPts val="600"/>
              </a:spcBef>
              <a:spcAft>
                <a:spcPts val="1200"/>
              </a:spcAft>
              <a:buNone/>
            </a:pPr>
            <a:r>
              <a:rPr lang="en-AU" sz="2200" dirty="0" smtClean="0">
                <a:latin typeface="Helvetica" pitchFamily="34" charset="0"/>
              </a:rPr>
              <a:t>An ‘Expression of Interest’ form is used to gather information of whether people would be interested in attending your event as a delegate, speaker or exhibitor.</a:t>
            </a:r>
          </a:p>
          <a:p>
            <a:pPr>
              <a:spcBef>
                <a:spcPts val="600"/>
              </a:spcBef>
              <a:spcAft>
                <a:spcPts val="1200"/>
              </a:spcAft>
            </a:pPr>
            <a:r>
              <a:rPr lang="en-AU" sz="2200" dirty="0" smtClean="0">
                <a:latin typeface="Helvetica" pitchFamily="34" charset="0"/>
              </a:rPr>
              <a:t>Who is this form send to?</a:t>
            </a:r>
          </a:p>
          <a:p>
            <a:pPr>
              <a:spcBef>
                <a:spcPts val="600"/>
              </a:spcBef>
              <a:spcAft>
                <a:spcPts val="1200"/>
              </a:spcAft>
            </a:pPr>
            <a:r>
              <a:rPr lang="en-AU" sz="2200" dirty="0" smtClean="0">
                <a:latin typeface="Helvetica" pitchFamily="34" charset="0"/>
              </a:rPr>
              <a:t>How is it sent?</a:t>
            </a:r>
          </a:p>
          <a:p>
            <a:pPr>
              <a:spcBef>
                <a:spcPts val="600"/>
              </a:spcBef>
              <a:spcAft>
                <a:spcPts val="1200"/>
              </a:spcAft>
            </a:pPr>
            <a:r>
              <a:rPr lang="en-AU" sz="2200" dirty="0" smtClean="0">
                <a:latin typeface="Helvetica" pitchFamily="34" charset="0"/>
              </a:rPr>
              <a:t>What information would you include                                       in the form?</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7" name="Picture 6" descr="MP900442494.JPG"/>
          <p:cNvPicPr/>
          <p:nvPr/>
        </p:nvPicPr>
        <p:blipFill>
          <a:blip r:embed="rId3" cstate="print"/>
          <a:stretch>
            <a:fillRect/>
          </a:stretch>
        </p:blipFill>
        <p:spPr>
          <a:xfrm>
            <a:off x="6786578" y="3571876"/>
            <a:ext cx="1366637" cy="1815673"/>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Registration Brochure</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The brochure is designed to </a:t>
            </a:r>
            <a:r>
              <a:rPr lang="en-AU" sz="2200" u="sng" dirty="0" smtClean="0">
                <a:latin typeface="Helvetica" pitchFamily="34" charset="0"/>
              </a:rPr>
              <a:t>give</a:t>
            </a:r>
            <a:r>
              <a:rPr lang="en-AU" sz="2200" dirty="0" smtClean="0">
                <a:latin typeface="Helvetica" pitchFamily="34" charset="0"/>
              </a:rPr>
              <a:t> information</a:t>
            </a:r>
          </a:p>
          <a:p>
            <a:pPr>
              <a:spcBef>
                <a:spcPts val="600"/>
              </a:spcBef>
              <a:spcAft>
                <a:spcPts val="1200"/>
              </a:spcAft>
            </a:pPr>
            <a:r>
              <a:rPr lang="en-AU" sz="2200" dirty="0" smtClean="0">
                <a:latin typeface="Helvetica" pitchFamily="34" charset="0"/>
              </a:rPr>
              <a:t>The purpose of a registration brochure is to not only inform potential audiences of an upcoming event but appeal to their needs, either as a delegate, speaker or exhibitor</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6" name="Picture 5" descr="4113687831_5b2b3338a4_m.jpg"/>
          <p:cNvPicPr/>
          <p:nvPr/>
        </p:nvPicPr>
        <p:blipFill>
          <a:blip r:embed="rId3" cstate="print"/>
          <a:stretch>
            <a:fillRect/>
          </a:stretch>
        </p:blipFill>
        <p:spPr>
          <a:xfrm>
            <a:off x="3214678" y="4286256"/>
            <a:ext cx="2525469" cy="1714512"/>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Registration Form</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The form is designed to </a:t>
            </a:r>
            <a:r>
              <a:rPr lang="en-AU" sz="2200" u="sng" dirty="0" smtClean="0">
                <a:latin typeface="Helvetica" pitchFamily="34" charset="0"/>
              </a:rPr>
              <a:t>collect</a:t>
            </a:r>
            <a:r>
              <a:rPr lang="en-AU" sz="2200" dirty="0" smtClean="0">
                <a:latin typeface="Helvetica" pitchFamily="34" charset="0"/>
              </a:rPr>
              <a:t> information</a:t>
            </a:r>
          </a:p>
          <a:p>
            <a:pPr>
              <a:spcBef>
                <a:spcPts val="600"/>
              </a:spcBef>
              <a:spcAft>
                <a:spcPts val="1200"/>
              </a:spcAft>
            </a:pPr>
            <a:r>
              <a:rPr lang="en-AU" sz="2200" dirty="0" smtClean="0">
                <a:latin typeface="Helvetica" pitchFamily="34" charset="0"/>
              </a:rPr>
              <a:t>The registration form or database is designed to capture all the important information relevant to guest or delegate registration for an event</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8" name="Picture 7" descr="4784672611_11ae90a31c_m.jpg"/>
          <p:cNvPicPr>
            <a:picLocks noChangeAspect="1"/>
          </p:cNvPicPr>
          <p:nvPr/>
        </p:nvPicPr>
        <p:blipFill>
          <a:blip r:embed="rId3" cstate="print"/>
          <a:stretch>
            <a:fillRect/>
          </a:stretch>
        </p:blipFill>
        <p:spPr>
          <a:xfrm>
            <a:off x="3428992" y="4071942"/>
            <a:ext cx="1847850" cy="2286000"/>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Inclusions in a Registration Form</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Event Details</a:t>
            </a:r>
          </a:p>
          <a:p>
            <a:pPr>
              <a:spcBef>
                <a:spcPts val="600"/>
              </a:spcBef>
              <a:spcAft>
                <a:spcPts val="1200"/>
              </a:spcAft>
            </a:pPr>
            <a:r>
              <a:rPr lang="en-AU" sz="2200" dirty="0" smtClean="0">
                <a:latin typeface="Helvetica" pitchFamily="34" charset="0"/>
              </a:rPr>
              <a:t>Delegate details</a:t>
            </a:r>
          </a:p>
          <a:p>
            <a:pPr>
              <a:spcBef>
                <a:spcPts val="600"/>
              </a:spcBef>
              <a:spcAft>
                <a:spcPts val="1200"/>
              </a:spcAft>
            </a:pPr>
            <a:r>
              <a:rPr lang="en-AU" sz="2200" dirty="0" smtClean="0">
                <a:latin typeface="Helvetica" pitchFamily="34" charset="0"/>
              </a:rPr>
              <a:t>Types of registrations</a:t>
            </a:r>
          </a:p>
          <a:p>
            <a:pPr>
              <a:spcBef>
                <a:spcPts val="600"/>
              </a:spcBef>
              <a:spcAft>
                <a:spcPts val="1200"/>
              </a:spcAft>
            </a:pPr>
            <a:r>
              <a:rPr lang="en-AU" sz="2200" dirty="0" smtClean="0">
                <a:latin typeface="Helvetica" pitchFamily="34" charset="0"/>
              </a:rPr>
              <a:t>Travel information</a:t>
            </a:r>
          </a:p>
          <a:p>
            <a:pPr>
              <a:spcBef>
                <a:spcPts val="600"/>
              </a:spcBef>
              <a:spcAft>
                <a:spcPts val="1200"/>
              </a:spcAft>
            </a:pPr>
            <a:r>
              <a:rPr lang="en-AU" sz="2200" dirty="0" smtClean="0">
                <a:latin typeface="Helvetica" pitchFamily="34" charset="0"/>
              </a:rPr>
              <a:t>Accommodation</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25603" name="Picture 3" descr="C:\Documents and Settings\danielc\Local Settings\Temporary Internet Files\Content.IE5\Y88G682L\MP900405072[1].jpg"/>
          <p:cNvPicPr>
            <a:picLocks noChangeAspect="1" noChangeArrowheads="1"/>
          </p:cNvPicPr>
          <p:nvPr/>
        </p:nvPicPr>
        <p:blipFill>
          <a:blip r:embed="rId3" cstate="print"/>
          <a:srcRect/>
          <a:stretch>
            <a:fillRect/>
          </a:stretch>
        </p:blipFill>
        <p:spPr bwMode="auto">
          <a:xfrm>
            <a:off x="5429256" y="2643182"/>
            <a:ext cx="1857372" cy="1857372"/>
          </a:xfrm>
          <a:prstGeom prst="rect">
            <a:avLst/>
          </a:prstGeom>
          <a:noFill/>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Inclusions in a Registration Form</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Car Hire </a:t>
            </a:r>
          </a:p>
          <a:p>
            <a:pPr>
              <a:spcBef>
                <a:spcPts val="600"/>
              </a:spcBef>
              <a:spcAft>
                <a:spcPts val="1200"/>
              </a:spcAft>
            </a:pPr>
            <a:r>
              <a:rPr lang="en-AU" sz="2200" dirty="0" smtClean="0">
                <a:latin typeface="Helvetica" pitchFamily="34" charset="0"/>
              </a:rPr>
              <a:t>Special requirements</a:t>
            </a:r>
          </a:p>
          <a:p>
            <a:pPr>
              <a:spcBef>
                <a:spcPts val="600"/>
              </a:spcBef>
              <a:spcAft>
                <a:spcPts val="1200"/>
              </a:spcAft>
            </a:pPr>
            <a:r>
              <a:rPr lang="en-AU" sz="2200" dirty="0" smtClean="0">
                <a:latin typeface="Helvetica" pitchFamily="34" charset="0"/>
              </a:rPr>
              <a:t>Payment details</a:t>
            </a:r>
          </a:p>
          <a:p>
            <a:pPr>
              <a:spcBef>
                <a:spcPts val="600"/>
              </a:spcBef>
              <a:spcAft>
                <a:spcPts val="1200"/>
              </a:spcAft>
            </a:pPr>
            <a:r>
              <a:rPr lang="en-AU" sz="2200" dirty="0" smtClean="0">
                <a:latin typeface="Helvetica" pitchFamily="34" charset="0"/>
              </a:rPr>
              <a:t>Insurance</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26626" name="Picture 2" descr="C:\Documents and Settings\danielc\Local Settings\Temporary Internet Files\Content.IE5\3DV3UKH9\MP900422442[1].jpg"/>
          <p:cNvPicPr>
            <a:picLocks noChangeAspect="1" noChangeArrowheads="1"/>
          </p:cNvPicPr>
          <p:nvPr/>
        </p:nvPicPr>
        <p:blipFill>
          <a:blip r:embed="rId3" cstate="print"/>
          <a:srcRect/>
          <a:stretch>
            <a:fillRect/>
          </a:stretch>
        </p:blipFill>
        <p:spPr bwMode="auto">
          <a:xfrm>
            <a:off x="5500694" y="2357430"/>
            <a:ext cx="2649738" cy="1914850"/>
          </a:xfrm>
          <a:prstGeom prst="rect">
            <a:avLst/>
          </a:prstGeom>
          <a:noFill/>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Process registrations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includes the following activities:</a:t>
            </a:r>
          </a:p>
          <a:p>
            <a:pPr lvl="0">
              <a:spcBef>
                <a:spcPts val="600"/>
              </a:spcBef>
              <a:spcAft>
                <a:spcPts val="1200"/>
              </a:spcAft>
            </a:pPr>
            <a:r>
              <a:rPr lang="en-AU" sz="2200" dirty="0" smtClean="0">
                <a:latin typeface="Helvetica" pitchFamily="34" charset="0"/>
              </a:rPr>
              <a:t>Enter information into database</a:t>
            </a:r>
          </a:p>
          <a:p>
            <a:pPr lvl="0">
              <a:spcBef>
                <a:spcPts val="600"/>
              </a:spcBef>
              <a:spcAft>
                <a:spcPts val="1200"/>
              </a:spcAft>
            </a:pPr>
            <a:r>
              <a:rPr lang="en-AU" sz="2200" dirty="0" smtClean="0">
                <a:latin typeface="Helvetica" pitchFamily="34" charset="0"/>
              </a:rPr>
              <a:t>Send out confirmation letters, itineraries, receipts</a:t>
            </a:r>
          </a:p>
          <a:p>
            <a:pPr lvl="0">
              <a:spcBef>
                <a:spcPts val="600"/>
              </a:spcBef>
              <a:spcAft>
                <a:spcPts val="1200"/>
              </a:spcAft>
            </a:pPr>
            <a:r>
              <a:rPr lang="en-AU" sz="2200" dirty="0" smtClean="0">
                <a:latin typeface="Helvetica" pitchFamily="34" charset="0"/>
              </a:rPr>
              <a:t>Make bookings with suppliers  for rooms, flights, meals etc</a:t>
            </a:r>
          </a:p>
          <a:p>
            <a:pPr>
              <a:spcBef>
                <a:spcPts val="600"/>
              </a:spcBef>
              <a:spcAft>
                <a:spcPts val="1200"/>
              </a:spcAft>
            </a:pPr>
            <a:r>
              <a:rPr lang="en-AU" sz="2200" dirty="0" smtClean="0">
                <a:latin typeface="Helvetica" pitchFamily="34" charset="0"/>
              </a:rPr>
              <a:t>Identifying dietary requirements and special requests</a:t>
            </a:r>
          </a:p>
          <a:p>
            <a:pPr>
              <a:spcBef>
                <a:spcPts val="600"/>
              </a:spcBef>
              <a:spcAft>
                <a:spcPts val="1200"/>
              </a:spcAft>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6" name="Picture 5" descr="MP900390463[1].JPG"/>
          <p:cNvPicPr>
            <a:picLocks noChangeAspect="1"/>
          </p:cNvPicPr>
          <p:nvPr/>
        </p:nvPicPr>
        <p:blipFill>
          <a:blip r:embed="rId3" cstate="print"/>
          <a:stretch>
            <a:fillRect/>
          </a:stretch>
        </p:blipFill>
        <p:spPr>
          <a:xfrm>
            <a:off x="5929322" y="1714488"/>
            <a:ext cx="2044824" cy="1458641"/>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Monitor event registration</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Why is it important to monitor event registrations?</a:t>
            </a:r>
          </a:p>
          <a:p>
            <a:pPr>
              <a:spcBef>
                <a:spcPts val="600"/>
              </a:spcBef>
              <a:spcAft>
                <a:spcPts val="1200"/>
              </a:spcAft>
            </a:pPr>
            <a:r>
              <a:rPr lang="en-AU" sz="2200" dirty="0" smtClean="0">
                <a:latin typeface="Helvetica" pitchFamily="34" charset="0"/>
              </a:rPr>
              <a:t>How can you do this?</a:t>
            </a:r>
          </a:p>
          <a:p>
            <a:pPr>
              <a:spcBef>
                <a:spcPts val="600"/>
              </a:spcBef>
              <a:spcAft>
                <a:spcPts val="1200"/>
              </a:spcAft>
            </a:pPr>
            <a:r>
              <a:rPr lang="en-AU" sz="2200" dirty="0" smtClean="0">
                <a:latin typeface="Helvetica" pitchFamily="34" charset="0"/>
              </a:rPr>
              <a:t>Why is it important to maintain accurate records?</a:t>
            </a:r>
          </a:p>
          <a:p>
            <a:pPr>
              <a:spcBef>
                <a:spcPts val="600"/>
              </a:spcBef>
              <a:spcAft>
                <a:spcPts val="1200"/>
              </a:spcAft>
            </a:pPr>
            <a:r>
              <a:rPr lang="en-AU" sz="2200" dirty="0" smtClean="0">
                <a:latin typeface="Helvetica" pitchFamily="34" charset="0"/>
              </a:rPr>
              <a:t>What information needs to be updated on a regular basis?</a:t>
            </a:r>
          </a:p>
          <a:p>
            <a:pPr>
              <a:spcBef>
                <a:spcPts val="600"/>
              </a:spcBef>
              <a:spcAft>
                <a:spcPts val="1200"/>
              </a:spcAft>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7" name="Picture 6" descr="1208426_woman_using_computer.jpg"/>
          <p:cNvPicPr/>
          <p:nvPr/>
        </p:nvPicPr>
        <p:blipFill>
          <a:blip r:embed="rId3" cstate="print"/>
          <a:stretch>
            <a:fillRect/>
          </a:stretch>
        </p:blipFill>
        <p:spPr>
          <a:xfrm>
            <a:off x="3428992" y="4643446"/>
            <a:ext cx="2287513" cy="1350640"/>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Finalise event registration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registrations correspondence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Inward Registration Correspondence</a:t>
            </a:r>
          </a:p>
          <a:p>
            <a:pPr lvl="0">
              <a:spcBef>
                <a:spcPts val="600"/>
              </a:spcBef>
              <a:spcAft>
                <a:spcPts val="1200"/>
              </a:spcAft>
            </a:pPr>
            <a:r>
              <a:rPr lang="en-AU" sz="2200" dirty="0" smtClean="0">
                <a:latin typeface="Helvetica" pitchFamily="34" charset="0"/>
              </a:rPr>
              <a:t>Letters of Confirmation</a:t>
            </a:r>
          </a:p>
          <a:p>
            <a:pPr lvl="0">
              <a:spcBef>
                <a:spcPts val="600"/>
              </a:spcBef>
              <a:spcAft>
                <a:spcPts val="1200"/>
              </a:spcAft>
            </a:pPr>
            <a:r>
              <a:rPr lang="en-AU" sz="2200" dirty="0" smtClean="0">
                <a:latin typeface="Helvetica" pitchFamily="34" charset="0"/>
              </a:rPr>
              <a:t>Identify Special requirements</a:t>
            </a:r>
          </a:p>
          <a:p>
            <a:pPr lvl="0">
              <a:spcBef>
                <a:spcPts val="600"/>
              </a:spcBef>
              <a:spcAft>
                <a:spcPts val="1200"/>
              </a:spcAft>
            </a:pPr>
            <a:r>
              <a:rPr lang="en-AU" sz="2200" dirty="0" smtClean="0">
                <a:latin typeface="Helvetica" pitchFamily="34" charset="0"/>
              </a:rPr>
              <a:t>Press Releases</a:t>
            </a:r>
          </a:p>
          <a:p>
            <a:pPr lvl="0">
              <a:spcBef>
                <a:spcPts val="600"/>
              </a:spcBef>
              <a:spcAft>
                <a:spcPts val="1200"/>
              </a:spcAft>
            </a:pPr>
            <a:r>
              <a:rPr lang="en-AU" sz="2200" dirty="0" smtClean="0">
                <a:latin typeface="Helvetica" pitchFamily="34" charset="0"/>
              </a:rPr>
              <a:t>Refund Advice</a:t>
            </a:r>
          </a:p>
          <a:p>
            <a:pPr lvl="0">
              <a:spcBef>
                <a:spcPts val="600"/>
              </a:spcBef>
              <a:spcAft>
                <a:spcPts val="1200"/>
              </a:spcAft>
            </a:pPr>
            <a:r>
              <a:rPr lang="en-AU" sz="2200" dirty="0" smtClean="0">
                <a:latin typeface="Helvetica" pitchFamily="34" charset="0"/>
              </a:rPr>
              <a:t>Conference Agenda</a:t>
            </a:r>
          </a:p>
          <a:p>
            <a:pPr lvl="0">
              <a:spcBef>
                <a:spcPts val="600"/>
              </a:spcBef>
              <a:spcAft>
                <a:spcPts val="1200"/>
              </a:spcAft>
            </a:pPr>
            <a:r>
              <a:rPr lang="en-AU" sz="2200" dirty="0" smtClean="0">
                <a:latin typeface="Helvetica" pitchFamily="34" charset="0"/>
              </a:rPr>
              <a:t>Merchandise and Sales Items</a:t>
            </a:r>
            <a:r>
              <a:rPr lang="en-AU" sz="2400" b="1" dirty="0" smtClean="0"/>
              <a:t/>
            </a:r>
            <a:br>
              <a:rPr lang="en-AU" sz="2400" b="1" dirty="0" smtClean="0"/>
            </a:br>
            <a:endParaRPr lang="en-AU" sz="2400" dirty="0" smtClean="0"/>
          </a:p>
          <a:p>
            <a:pPr>
              <a:spcBef>
                <a:spcPts val="600"/>
              </a:spcBef>
              <a:spcAft>
                <a:spcPts val="1200"/>
              </a:spcAft>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8" name="Picture 7" descr="MP900438650.JPG"/>
          <p:cNvPicPr/>
          <p:nvPr/>
        </p:nvPicPr>
        <p:blipFill>
          <a:blip r:embed="rId3" cstate="print"/>
          <a:stretch>
            <a:fillRect/>
          </a:stretch>
        </p:blipFill>
        <p:spPr>
          <a:xfrm>
            <a:off x="6500826" y="2786058"/>
            <a:ext cx="1661350" cy="2019671"/>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Produce event materials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event materials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Conference Kit</a:t>
            </a:r>
          </a:p>
          <a:p>
            <a:pPr lvl="0">
              <a:spcBef>
                <a:spcPts val="600"/>
              </a:spcBef>
              <a:spcAft>
                <a:spcPts val="1200"/>
              </a:spcAft>
            </a:pPr>
            <a:r>
              <a:rPr lang="en-AU" sz="2200" dirty="0" smtClean="0">
                <a:latin typeface="Helvetica" pitchFamily="34" charset="0"/>
              </a:rPr>
              <a:t>Satchels</a:t>
            </a:r>
          </a:p>
          <a:p>
            <a:pPr>
              <a:spcBef>
                <a:spcPts val="600"/>
              </a:spcBef>
              <a:spcAft>
                <a:spcPts val="1200"/>
              </a:spcAft>
            </a:pPr>
            <a:r>
              <a:rPr lang="en-US" sz="2200" dirty="0" smtClean="0">
                <a:latin typeface="Helvetica" pitchFamily="34" charset="0"/>
              </a:rPr>
              <a:t>Promotional Items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Merchandise and sales items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Name Badges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Card and carriers</a:t>
            </a:r>
          </a:p>
          <a:p>
            <a:pPr lvl="0">
              <a:spcBef>
                <a:spcPts val="600"/>
              </a:spcBef>
              <a:spcAft>
                <a:spcPts val="1200"/>
              </a:spcAft>
            </a:pPr>
            <a:r>
              <a:rPr lang="en-AU" sz="2200" dirty="0" smtClean="0">
                <a:latin typeface="Helvetica" pitchFamily="34" charset="0"/>
              </a:rPr>
              <a:t>Service vouchers</a:t>
            </a:r>
            <a:r>
              <a:rPr lang="en-AU" sz="2400" dirty="0" smtClean="0"/>
              <a:t/>
            </a:r>
            <a:br>
              <a:rPr lang="en-AU" sz="2400" dirty="0" smtClean="0"/>
            </a:br>
            <a:endParaRPr lang="en-AU" sz="2400" dirty="0" smtClean="0"/>
          </a:p>
          <a:p>
            <a:pPr>
              <a:spcBef>
                <a:spcPts val="600"/>
              </a:spcBef>
              <a:spcAft>
                <a:spcPts val="1200"/>
              </a:spcAft>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6" name="Picture 5" descr="2967825014_fdf3ea1f95_m.jpg"/>
          <p:cNvPicPr/>
          <p:nvPr/>
        </p:nvPicPr>
        <p:blipFill>
          <a:blip r:embed="rId3" cstate="print"/>
          <a:stretch>
            <a:fillRect/>
          </a:stretch>
        </p:blipFill>
        <p:spPr>
          <a:xfrm>
            <a:off x="5643570" y="2857496"/>
            <a:ext cx="2153305" cy="1808808"/>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registration desk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606008"/>
          </a:xfrm>
        </p:spPr>
        <p:txBody>
          <a:bodyPr>
            <a:normAutofit/>
          </a:bodyPr>
          <a:lstStyle/>
          <a:p>
            <a:pPr>
              <a:spcBef>
                <a:spcPts val="600"/>
              </a:spcBef>
              <a:spcAft>
                <a:spcPts val="600"/>
              </a:spcAft>
              <a:buNone/>
            </a:pPr>
            <a:r>
              <a:rPr lang="en-AU" sz="2200" b="1" dirty="0" smtClean="0">
                <a:latin typeface="Helvetica" pitchFamily="34" charset="0"/>
              </a:rPr>
              <a:t>Registration desk</a:t>
            </a:r>
            <a:endParaRPr lang="en-AU" sz="2200" dirty="0" smtClean="0">
              <a:latin typeface="Helvetica" pitchFamily="34" charset="0"/>
            </a:endParaRPr>
          </a:p>
          <a:p>
            <a:pPr marL="0">
              <a:spcBef>
                <a:spcPts val="600"/>
              </a:spcBef>
              <a:spcAft>
                <a:spcPts val="600"/>
              </a:spcAft>
              <a:buNone/>
            </a:pPr>
            <a:r>
              <a:rPr lang="en-AU" sz="2200" dirty="0" smtClean="0">
                <a:latin typeface="Helvetica" pitchFamily="34" charset="0"/>
              </a:rPr>
              <a:t>The registration Desk area is a focal point for everyone involved including:</a:t>
            </a:r>
          </a:p>
          <a:p>
            <a:pPr lvl="0">
              <a:spcBef>
                <a:spcPts val="600"/>
              </a:spcBef>
              <a:spcAft>
                <a:spcPts val="600"/>
              </a:spcAft>
            </a:pPr>
            <a:r>
              <a:rPr lang="en-AU" sz="2200" dirty="0" smtClean="0">
                <a:latin typeface="Helvetica" pitchFamily="34" charset="0"/>
              </a:rPr>
              <a:t>Venue</a:t>
            </a:r>
          </a:p>
          <a:p>
            <a:pPr lvl="0">
              <a:spcBef>
                <a:spcPts val="600"/>
              </a:spcBef>
              <a:spcAft>
                <a:spcPts val="600"/>
              </a:spcAft>
            </a:pPr>
            <a:r>
              <a:rPr lang="en-AU" sz="2200" dirty="0" smtClean="0">
                <a:latin typeface="Helvetica" pitchFamily="34" charset="0"/>
              </a:rPr>
              <a:t>Committee</a:t>
            </a:r>
          </a:p>
          <a:p>
            <a:pPr lvl="0">
              <a:spcBef>
                <a:spcPts val="600"/>
              </a:spcBef>
              <a:spcAft>
                <a:spcPts val="600"/>
              </a:spcAft>
            </a:pPr>
            <a:r>
              <a:rPr lang="en-AU" sz="2200" dirty="0" smtClean="0">
                <a:latin typeface="Helvetica" pitchFamily="34" charset="0"/>
              </a:rPr>
              <a:t>Presenters / Guest Speakers</a:t>
            </a:r>
          </a:p>
          <a:p>
            <a:pPr lvl="0">
              <a:spcBef>
                <a:spcPts val="600"/>
              </a:spcBef>
              <a:spcAft>
                <a:spcPts val="600"/>
              </a:spcAft>
            </a:pPr>
            <a:r>
              <a:rPr lang="en-AU" sz="2200" dirty="0" smtClean="0">
                <a:latin typeface="Helvetica" pitchFamily="34" charset="0"/>
              </a:rPr>
              <a:t>Sponsors</a:t>
            </a:r>
          </a:p>
          <a:p>
            <a:pPr lvl="0">
              <a:spcBef>
                <a:spcPts val="600"/>
              </a:spcBef>
              <a:spcAft>
                <a:spcPts val="600"/>
              </a:spcAft>
            </a:pPr>
            <a:r>
              <a:rPr lang="en-AU" sz="2200" dirty="0" smtClean="0">
                <a:latin typeface="Helvetica" pitchFamily="34" charset="0"/>
              </a:rPr>
              <a:t>Exhibitors</a:t>
            </a:r>
          </a:p>
          <a:p>
            <a:pPr lvl="0">
              <a:spcBef>
                <a:spcPts val="600"/>
              </a:spcBef>
              <a:spcAft>
                <a:spcPts val="600"/>
              </a:spcAft>
            </a:pPr>
            <a:r>
              <a:rPr lang="en-AU" sz="2200" dirty="0" smtClean="0">
                <a:latin typeface="Helvetica" pitchFamily="34" charset="0"/>
              </a:rPr>
              <a:t>Delegates</a:t>
            </a:r>
          </a:p>
          <a:p>
            <a:pPr lvl="0">
              <a:spcBef>
                <a:spcPts val="600"/>
              </a:spcBef>
              <a:spcAft>
                <a:spcPts val="600"/>
              </a:spcAft>
            </a:pPr>
            <a:r>
              <a:rPr lang="en-AU" sz="2200" dirty="0" smtClean="0">
                <a:latin typeface="Helvetica" pitchFamily="34" charset="0"/>
              </a:rPr>
              <a:t>Accompanying Persons</a:t>
            </a:r>
          </a:p>
          <a:p>
            <a:pPr>
              <a:spcBef>
                <a:spcPts val="600"/>
              </a:spcBef>
              <a:spcAft>
                <a:spcPts val="600"/>
              </a:spcAft>
            </a:pPr>
            <a:r>
              <a:rPr lang="en-AU" sz="2200" dirty="0" smtClean="0">
                <a:latin typeface="Helvetica" pitchFamily="34" charset="0"/>
              </a:rPr>
              <a:t>VIP’s / Guests</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7" name="Picture 6" descr="5890730525_fd3b27c5de_m.jpg"/>
          <p:cNvPicPr/>
          <p:nvPr/>
        </p:nvPicPr>
        <p:blipFill>
          <a:blip r:embed="rId3" cstate="print"/>
          <a:stretch>
            <a:fillRect/>
          </a:stretch>
        </p:blipFill>
        <p:spPr>
          <a:xfrm>
            <a:off x="5500694" y="3357562"/>
            <a:ext cx="2360464" cy="1585516"/>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registration desk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33424" y="1428736"/>
            <a:ext cx="7467600" cy="5606008"/>
          </a:xfrm>
        </p:spPr>
        <p:txBody>
          <a:bodyPr>
            <a:normAutofit/>
          </a:bodyPr>
          <a:lstStyle/>
          <a:p>
            <a:pPr>
              <a:spcBef>
                <a:spcPts val="600"/>
              </a:spcBef>
              <a:spcAft>
                <a:spcPts val="1200"/>
              </a:spcAft>
              <a:buNone/>
            </a:pPr>
            <a:r>
              <a:rPr lang="en-AU" sz="2200" b="1" dirty="0" smtClean="0">
                <a:latin typeface="Helvetica" pitchFamily="34" charset="0"/>
              </a:rPr>
              <a:t>Registration desk considerations</a:t>
            </a:r>
            <a:endParaRPr lang="en-AU" sz="2200" dirty="0" smtClean="0">
              <a:latin typeface="Helvetica" pitchFamily="34" charset="0"/>
            </a:endParaRPr>
          </a:p>
          <a:p>
            <a:pPr marL="421200">
              <a:spcBef>
                <a:spcPts val="600"/>
              </a:spcBef>
              <a:spcAft>
                <a:spcPts val="1200"/>
              </a:spcAft>
            </a:pPr>
            <a:r>
              <a:rPr lang="en-AU" sz="2200" dirty="0" smtClean="0">
                <a:latin typeface="Helvetica" pitchFamily="34" charset="0"/>
              </a:rPr>
              <a:t>What are considerations when preparing a registration desk?</a:t>
            </a:r>
          </a:p>
          <a:p>
            <a:pPr marL="421200">
              <a:spcBef>
                <a:spcPts val="600"/>
              </a:spcBef>
              <a:spcAft>
                <a:spcPts val="1200"/>
              </a:spcAft>
            </a:pPr>
            <a:r>
              <a:rPr lang="en-AU" sz="2200" dirty="0" smtClean="0">
                <a:latin typeface="Helvetica" pitchFamily="34" charset="0"/>
              </a:rPr>
              <a:t>What do you need to confirm with venue management?</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6" name="Picture 5" descr="4840731690_99e27a1ae2_m.jpg"/>
          <p:cNvPicPr/>
          <p:nvPr/>
        </p:nvPicPr>
        <p:blipFill>
          <a:blip r:embed="rId3" cstate="print"/>
          <a:stretch>
            <a:fillRect/>
          </a:stretch>
        </p:blipFill>
        <p:spPr>
          <a:xfrm>
            <a:off x="3428992" y="4000504"/>
            <a:ext cx="2308647" cy="1657524"/>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registration desk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Preparing for registrations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Name tags prepared in numerical or alphabetical order</a:t>
            </a:r>
          </a:p>
          <a:p>
            <a:pPr lvl="0">
              <a:spcBef>
                <a:spcPts val="600"/>
              </a:spcBef>
              <a:spcAft>
                <a:spcPts val="1200"/>
              </a:spcAft>
            </a:pPr>
            <a:r>
              <a:rPr lang="en-AU" sz="2200" dirty="0" smtClean="0">
                <a:latin typeface="Helvetica" pitchFamily="34" charset="0"/>
              </a:rPr>
              <a:t>Clear registrations signage / other signage</a:t>
            </a:r>
          </a:p>
          <a:p>
            <a:pPr lvl="0">
              <a:spcBef>
                <a:spcPts val="600"/>
              </a:spcBef>
              <a:spcAft>
                <a:spcPts val="1200"/>
              </a:spcAft>
            </a:pPr>
            <a:r>
              <a:rPr lang="en-AU" sz="2200" dirty="0" smtClean="0">
                <a:latin typeface="Helvetica" pitchFamily="34" charset="0"/>
              </a:rPr>
              <a:t>Adequate Staff to look after attendees</a:t>
            </a:r>
          </a:p>
          <a:p>
            <a:pPr lvl="0">
              <a:spcBef>
                <a:spcPts val="600"/>
              </a:spcBef>
              <a:spcAft>
                <a:spcPts val="1200"/>
              </a:spcAft>
            </a:pPr>
            <a:r>
              <a:rPr lang="en-AU" sz="2200" dirty="0" smtClean="0">
                <a:latin typeface="Helvetica" pitchFamily="34" charset="0"/>
              </a:rPr>
              <a:t>List of registrations for all staff</a:t>
            </a:r>
          </a:p>
          <a:p>
            <a:pPr lvl="0">
              <a:spcBef>
                <a:spcPts val="600"/>
              </a:spcBef>
              <a:spcAft>
                <a:spcPts val="1200"/>
              </a:spcAft>
            </a:pPr>
            <a:r>
              <a:rPr lang="en-AU" sz="2200" dirty="0" smtClean="0">
                <a:latin typeface="Helvetica" pitchFamily="34" charset="0"/>
              </a:rPr>
              <a:t>Satchels / handouts / agenda</a:t>
            </a:r>
          </a:p>
          <a:p>
            <a:pPr lvl="0">
              <a:spcBef>
                <a:spcPts val="600"/>
              </a:spcBef>
              <a:spcAft>
                <a:spcPts val="1200"/>
              </a:spcAft>
            </a:pPr>
            <a:r>
              <a:rPr lang="en-AU" sz="2200" dirty="0" smtClean="0">
                <a:latin typeface="Helvetica" pitchFamily="34" charset="0"/>
              </a:rPr>
              <a:t>Queuing issues</a:t>
            </a:r>
          </a:p>
          <a:p>
            <a:pPr lvl="0">
              <a:spcBef>
                <a:spcPts val="600"/>
              </a:spcBef>
              <a:spcAft>
                <a:spcPts val="1200"/>
              </a:spcAft>
            </a:pPr>
            <a:r>
              <a:rPr lang="en-AU" sz="2200" dirty="0" smtClean="0">
                <a:latin typeface="Helvetica" pitchFamily="34" charset="0"/>
              </a:rPr>
              <a:t>Late registrations desk</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7" name="Picture 6" descr="8061063033_1109b322b5_m.jpg"/>
          <p:cNvPicPr/>
          <p:nvPr/>
        </p:nvPicPr>
        <p:blipFill>
          <a:blip r:embed="rId3" cstate="print"/>
          <a:stretch>
            <a:fillRect/>
          </a:stretch>
        </p:blipFill>
        <p:spPr>
          <a:xfrm>
            <a:off x="6572264" y="3643314"/>
            <a:ext cx="1780208" cy="1387971"/>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registration desk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Preparing for registrations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Security of money obtained through late registration</a:t>
            </a:r>
          </a:p>
          <a:p>
            <a:pPr lvl="0">
              <a:spcBef>
                <a:spcPts val="600"/>
              </a:spcBef>
              <a:spcAft>
                <a:spcPts val="1200"/>
              </a:spcAft>
            </a:pPr>
            <a:r>
              <a:rPr lang="en-AU" sz="2200" dirty="0" smtClean="0">
                <a:latin typeface="Helvetica" pitchFamily="34" charset="0"/>
              </a:rPr>
              <a:t>Undercover for registration facilities</a:t>
            </a:r>
          </a:p>
          <a:p>
            <a:pPr lvl="0">
              <a:spcBef>
                <a:spcPts val="600"/>
              </a:spcBef>
              <a:spcAft>
                <a:spcPts val="1200"/>
              </a:spcAft>
            </a:pPr>
            <a:r>
              <a:rPr lang="en-AU" sz="2200" dirty="0" smtClean="0">
                <a:latin typeface="Helvetica" pitchFamily="34" charset="0"/>
              </a:rPr>
              <a:t>Relief staff for registration</a:t>
            </a:r>
          </a:p>
          <a:p>
            <a:pPr lvl="0">
              <a:spcBef>
                <a:spcPts val="600"/>
              </a:spcBef>
              <a:spcAft>
                <a:spcPts val="1200"/>
              </a:spcAft>
            </a:pPr>
            <a:r>
              <a:rPr lang="en-AU" sz="2200" dirty="0" smtClean="0">
                <a:latin typeface="Helvetica" pitchFamily="34" charset="0"/>
              </a:rPr>
              <a:t>Food and beverage for staff</a:t>
            </a:r>
          </a:p>
          <a:p>
            <a:pPr lvl="0">
              <a:spcBef>
                <a:spcPts val="600"/>
              </a:spcBef>
              <a:spcAft>
                <a:spcPts val="1200"/>
              </a:spcAft>
            </a:pPr>
            <a:r>
              <a:rPr lang="en-AU" sz="2200" dirty="0" smtClean="0">
                <a:latin typeface="Helvetica" pitchFamily="34" charset="0"/>
              </a:rPr>
              <a:t>Telephone</a:t>
            </a:r>
          </a:p>
          <a:p>
            <a:pPr lvl="0">
              <a:spcBef>
                <a:spcPts val="600"/>
              </a:spcBef>
              <a:spcAft>
                <a:spcPts val="1200"/>
              </a:spcAft>
            </a:pPr>
            <a:r>
              <a:rPr lang="en-AU" sz="2200" dirty="0" smtClean="0">
                <a:latin typeface="Helvetica" pitchFamily="34" charset="0"/>
              </a:rPr>
              <a:t>Computer / Laptop</a:t>
            </a:r>
          </a:p>
          <a:p>
            <a:pPr>
              <a:spcBef>
                <a:spcPts val="600"/>
              </a:spcBef>
              <a:spcAft>
                <a:spcPts val="1200"/>
              </a:spcAft>
            </a:pPr>
            <a:r>
              <a:rPr lang="en-AU" sz="2200" dirty="0" smtClean="0">
                <a:latin typeface="Helvetica" pitchFamily="34" charset="0"/>
              </a:rPr>
              <a:t>Uniform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5" name="Picture 4" descr="4000666114_a8f153e88d_m.jpg"/>
          <p:cNvPicPr/>
          <p:nvPr/>
        </p:nvPicPr>
        <p:blipFill>
          <a:blip r:embed="rId3" cstate="print"/>
          <a:stretch>
            <a:fillRect/>
          </a:stretch>
        </p:blipFill>
        <p:spPr>
          <a:xfrm>
            <a:off x="6072198" y="2958640"/>
            <a:ext cx="2184250" cy="1546283"/>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registration desk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US" sz="2200" b="1" dirty="0" smtClean="0">
                <a:latin typeface="Helvetica" pitchFamily="34" charset="0"/>
              </a:rPr>
              <a:t>The registration process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Give each person a friendly welcome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Ask for their names and/or copy of their confirmation letter or invitation</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Find their envelope with name badge and function tickets and confirm these are correct as you hand them to delegates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Explain briefly what information is in the satchel</a:t>
            </a:r>
            <a:endParaRPr lang="en-AU" sz="2200" dirty="0" smtClean="0">
              <a:latin typeface="Helvetica" pitchFamily="34" charset="0"/>
            </a:endParaRPr>
          </a:p>
          <a:p>
            <a:pPr lvl="0">
              <a:buNone/>
            </a:pPr>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registration desk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428736"/>
            <a:ext cx="7467600" cy="5606008"/>
          </a:xfrm>
        </p:spPr>
        <p:txBody>
          <a:bodyPr>
            <a:normAutofit/>
          </a:bodyPr>
          <a:lstStyle/>
          <a:p>
            <a:pPr>
              <a:spcBef>
                <a:spcPts val="600"/>
              </a:spcBef>
              <a:spcAft>
                <a:spcPts val="1200"/>
              </a:spcAft>
              <a:buNone/>
            </a:pPr>
            <a:r>
              <a:rPr lang="en-US" sz="2200" b="1" dirty="0" smtClean="0">
                <a:latin typeface="Helvetica" pitchFamily="34" charset="0"/>
              </a:rPr>
              <a:t>The registration process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Advise when and where the first session is to take place or how the exhibition works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Advise of any changes to the program or additional information they may need to know</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Wish them an enjoyable time and advise that you will be there to answer any questions</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5" name="Picture 4" descr="2078451623_0a78d48c42_m.jpg"/>
          <p:cNvPicPr/>
          <p:nvPr/>
        </p:nvPicPr>
        <p:blipFill>
          <a:blip r:embed="rId3" cstate="print"/>
          <a:stretch>
            <a:fillRect/>
          </a:stretch>
        </p:blipFill>
        <p:spPr>
          <a:xfrm>
            <a:off x="3643306" y="4929198"/>
            <a:ext cx="1875656" cy="1418456"/>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registration desk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394892"/>
            <a:ext cx="7467600" cy="5606008"/>
          </a:xfrm>
        </p:spPr>
        <p:txBody>
          <a:bodyPr>
            <a:normAutofit/>
          </a:bodyPr>
          <a:lstStyle/>
          <a:p>
            <a:pPr>
              <a:spcBef>
                <a:spcPts val="600"/>
              </a:spcBef>
              <a:spcAft>
                <a:spcPts val="1200"/>
              </a:spcAft>
              <a:buNone/>
            </a:pPr>
            <a:r>
              <a:rPr lang="en-US" sz="2200" b="1" dirty="0" smtClean="0">
                <a:latin typeface="Helvetica" pitchFamily="34" charset="0"/>
              </a:rPr>
              <a:t>Variations to a Normal Registration</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A delegate has registered but not paid</a:t>
            </a:r>
          </a:p>
          <a:p>
            <a:pPr>
              <a:spcBef>
                <a:spcPts val="600"/>
              </a:spcBef>
              <a:spcAft>
                <a:spcPts val="1200"/>
              </a:spcAft>
            </a:pPr>
            <a:r>
              <a:rPr lang="en-US" sz="2200" dirty="0" smtClean="0">
                <a:latin typeface="Helvetica" pitchFamily="34" charset="0"/>
              </a:rPr>
              <a:t>A delegate has not registered but turns up on the day</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A delegate has registered but you do not have any information or details for him/her</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A delegate now advises he/she cannot go to a function or now wishes to attend a function previously declined</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6" name="Picture 5" descr="4000666114_a8f153e88d_m.jpg"/>
          <p:cNvPicPr>
            <a:picLocks noChangeAspect="1"/>
          </p:cNvPicPr>
          <p:nvPr/>
        </p:nvPicPr>
        <p:blipFill>
          <a:blip r:embed="rId3" cstate="print"/>
          <a:stretch>
            <a:fillRect/>
          </a:stretch>
        </p:blipFill>
        <p:spPr>
          <a:xfrm>
            <a:off x="3428992" y="5000636"/>
            <a:ext cx="2071702" cy="1381135"/>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7:</a:t>
            </a:r>
          </a:p>
          <a:p>
            <a:pPr marL="0">
              <a:spcBef>
                <a:spcPts val="600"/>
              </a:spcBef>
              <a:spcAft>
                <a:spcPts val="1200"/>
              </a:spcAft>
              <a:buNone/>
            </a:pPr>
            <a:r>
              <a:rPr lang="en-AU" sz="4000" dirty="0" smtClean="0">
                <a:solidFill>
                  <a:srgbClr val="FF6600"/>
                </a:solidFill>
                <a:latin typeface="Helvetica" pitchFamily="34" charset="0"/>
              </a:rPr>
              <a:t>Plan and deliver infrastructure for outdoor event</a:t>
            </a: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27650" name="Picture 2" descr="C:\Documents and Settings\danielc\Local Settings\Temporary Internet Files\Content.IE5\3Y3SDCJX\MC900045105[1].wmf"/>
          <p:cNvPicPr>
            <a:picLocks noChangeAspect="1" noChangeArrowheads="1"/>
          </p:cNvPicPr>
          <p:nvPr/>
        </p:nvPicPr>
        <p:blipFill>
          <a:blip r:embed="rId3" cstate="print"/>
          <a:srcRect/>
          <a:stretch>
            <a:fillRect/>
          </a:stretch>
        </p:blipFill>
        <p:spPr bwMode="auto">
          <a:xfrm>
            <a:off x="3929659" y="3357562"/>
            <a:ext cx="2714043" cy="2357454"/>
          </a:xfrm>
          <a:prstGeom prst="rect">
            <a:avLst/>
          </a:prstGeom>
          <a:noFill/>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Plan and deliver infrastructure for outdoor event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necessary infrastructure requirements</a:t>
            </a:r>
          </a:p>
          <a:p>
            <a:pPr>
              <a:spcBef>
                <a:spcPts val="600"/>
              </a:spcBef>
              <a:spcAft>
                <a:spcPts val="1200"/>
              </a:spcAft>
            </a:pPr>
            <a:r>
              <a:rPr lang="en-AU" sz="2200" dirty="0" smtClean="0">
                <a:latin typeface="Helvetica" pitchFamily="34" charset="0"/>
              </a:rPr>
              <a:t>Organise identified infrastructure needs</a:t>
            </a:r>
          </a:p>
          <a:p>
            <a:pPr>
              <a:spcBef>
                <a:spcPts val="600"/>
              </a:spcBef>
              <a:spcAft>
                <a:spcPts val="1200"/>
              </a:spcAft>
            </a:pPr>
            <a:r>
              <a:rPr lang="en-AU" sz="2200" dirty="0" smtClean="0">
                <a:latin typeface="Helvetica" pitchFamily="34" charset="0"/>
              </a:rPr>
              <a:t>Monitor implementation of identified infrastructure requirements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858016" y="207167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072198" y="264318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786050" y="3643314"/>
            <a:ext cx="399154" cy="527046"/>
          </a:xfrm>
          <a:prstGeom prst="rect">
            <a:avLst/>
          </a:prstGeom>
          <a:noFill/>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Importance of outdoor events</a:t>
            </a:r>
          </a:p>
          <a:p>
            <a:pPr>
              <a:spcBef>
                <a:spcPts val="600"/>
              </a:spcBef>
              <a:spcAft>
                <a:spcPts val="1200"/>
              </a:spcAft>
            </a:pPr>
            <a:r>
              <a:rPr lang="en-AU" sz="2200" dirty="0" smtClean="0">
                <a:latin typeface="Helvetica" pitchFamily="34" charset="0"/>
              </a:rPr>
              <a:t>Why are outdoor events popular?</a:t>
            </a:r>
          </a:p>
          <a:p>
            <a:pPr>
              <a:spcBef>
                <a:spcPts val="600"/>
              </a:spcBef>
              <a:spcAft>
                <a:spcPts val="1200"/>
              </a:spcAft>
            </a:pPr>
            <a:r>
              <a:rPr lang="en-AU" sz="2200" dirty="0" smtClean="0">
                <a:latin typeface="Helvetica" pitchFamily="34" charset="0"/>
              </a:rPr>
              <a:t>What types of outdoor events are there?</a:t>
            </a:r>
          </a:p>
          <a:p>
            <a:pPr>
              <a:spcBef>
                <a:spcPts val="600"/>
              </a:spcBef>
              <a:spcAft>
                <a:spcPts val="1200"/>
              </a:spcAft>
            </a:pPr>
            <a:r>
              <a:rPr lang="en-AU" sz="2200" dirty="0" smtClean="0">
                <a:latin typeface="Helvetica" pitchFamily="34" charset="0"/>
              </a:rPr>
              <a:t>Where are they normally held?</a:t>
            </a:r>
          </a:p>
          <a:p>
            <a:pPr>
              <a:spcBef>
                <a:spcPts val="600"/>
              </a:spcBef>
              <a:spcAft>
                <a:spcPts val="1200"/>
              </a:spcAft>
            </a:pPr>
            <a:r>
              <a:rPr lang="en-AU" sz="2200" dirty="0" smtClean="0">
                <a:latin typeface="Helvetica" pitchFamily="34" charset="0"/>
              </a:rPr>
              <a:t>What infrastructure needs to be organised for these events?</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7" name="Picture 6" descr="5073842792_e66cd1f546_m.jpg"/>
          <p:cNvPicPr>
            <a:picLocks noChangeAspect="1"/>
          </p:cNvPicPr>
          <p:nvPr/>
        </p:nvPicPr>
        <p:blipFill>
          <a:blip r:embed="rId3" cstate="print"/>
          <a:stretch>
            <a:fillRect/>
          </a:stretch>
        </p:blipFill>
        <p:spPr>
          <a:xfrm>
            <a:off x="3357554" y="4572008"/>
            <a:ext cx="2286000" cy="1714500"/>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Outdoor event considerations</a:t>
            </a:r>
          </a:p>
          <a:p>
            <a:pPr lvl="0">
              <a:spcBef>
                <a:spcPts val="600"/>
              </a:spcBef>
              <a:spcAft>
                <a:spcPts val="1200"/>
              </a:spcAft>
            </a:pPr>
            <a:r>
              <a:rPr lang="en-US" sz="2200" dirty="0" smtClean="0">
                <a:latin typeface="Helvetica" pitchFamily="34" charset="0"/>
              </a:rPr>
              <a:t>Food, beverage or alcohol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Tables, chairs, stage, grounds keeping, toilets etc</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Tent, sheltered or enclosed spaces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Sound and lighting systems</a:t>
            </a:r>
          </a:p>
          <a:p>
            <a:pPr lvl="0">
              <a:spcBef>
                <a:spcPts val="600"/>
              </a:spcBef>
              <a:spcAft>
                <a:spcPts val="1200"/>
              </a:spcAft>
            </a:pPr>
            <a:r>
              <a:rPr lang="en-US" sz="2200" dirty="0" smtClean="0">
                <a:latin typeface="Helvetica" pitchFamily="34" charset="0"/>
              </a:rPr>
              <a:t>Merchandise sales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Types of customers</a:t>
            </a:r>
          </a:p>
          <a:p>
            <a:pPr lvl="0">
              <a:spcBef>
                <a:spcPts val="600"/>
              </a:spcBef>
              <a:spcAft>
                <a:spcPts val="1200"/>
              </a:spcAft>
            </a:pPr>
            <a:r>
              <a:rPr lang="en-AU" sz="2200" dirty="0" smtClean="0">
                <a:latin typeface="Helvetica" pitchFamily="34" charset="0"/>
              </a:rPr>
              <a:t>Security</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8" name="Picture 7" descr="3766367796_5c64221816_m.jpg"/>
          <p:cNvPicPr>
            <a:picLocks noChangeAspect="1"/>
          </p:cNvPicPr>
          <p:nvPr/>
        </p:nvPicPr>
        <p:blipFill>
          <a:blip r:embed="rId3" cstate="print"/>
          <a:stretch>
            <a:fillRect/>
          </a:stretch>
        </p:blipFill>
        <p:spPr>
          <a:xfrm>
            <a:off x="6072198" y="3357562"/>
            <a:ext cx="2186184" cy="1639638"/>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Outdoor event considerations</a:t>
            </a:r>
          </a:p>
          <a:p>
            <a:pPr lvl="0">
              <a:spcBef>
                <a:spcPts val="600"/>
              </a:spcBef>
              <a:spcAft>
                <a:spcPts val="1200"/>
              </a:spcAft>
            </a:pPr>
            <a:r>
              <a:rPr lang="en-US" sz="2200" dirty="0" smtClean="0">
                <a:latin typeface="Helvetica" pitchFamily="34" charset="0"/>
              </a:rPr>
              <a:t>Transportation, traffic and parking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Entertainment</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Ticket sales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Weather back up plans</a:t>
            </a:r>
          </a:p>
          <a:p>
            <a:pPr lvl="0">
              <a:spcBef>
                <a:spcPts val="600"/>
              </a:spcBef>
              <a:spcAft>
                <a:spcPts val="1200"/>
              </a:spcAft>
            </a:pPr>
            <a:r>
              <a:rPr lang="en-US" sz="2200" dirty="0" smtClean="0">
                <a:latin typeface="Helvetica" pitchFamily="34" charset="0"/>
              </a:rPr>
              <a:t>Permits or special licenses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Local council restrictions</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5" name="Picture 4" descr="3766364900_c445d5dc8d_m.jpg"/>
          <p:cNvPicPr>
            <a:picLocks noChangeAspect="1"/>
          </p:cNvPicPr>
          <p:nvPr/>
        </p:nvPicPr>
        <p:blipFill>
          <a:blip r:embed="rId3" cstate="print"/>
          <a:stretch>
            <a:fillRect/>
          </a:stretch>
        </p:blipFill>
        <p:spPr>
          <a:xfrm>
            <a:off x="5715008" y="2786058"/>
            <a:ext cx="2381267" cy="1785950"/>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infrastructure requirements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Power and water supply</a:t>
            </a:r>
          </a:p>
          <a:p>
            <a:pPr>
              <a:spcBef>
                <a:spcPts val="600"/>
              </a:spcBef>
              <a:spcAft>
                <a:spcPts val="1200"/>
              </a:spcAft>
            </a:pPr>
            <a:r>
              <a:rPr lang="en-AU" sz="2200" dirty="0" smtClean="0">
                <a:latin typeface="Helvetica" pitchFamily="34" charset="0"/>
              </a:rPr>
              <a:t>Food and beverage equipment</a:t>
            </a:r>
          </a:p>
          <a:p>
            <a:pPr>
              <a:spcBef>
                <a:spcPts val="600"/>
              </a:spcBef>
              <a:spcAft>
                <a:spcPts val="1200"/>
              </a:spcAft>
            </a:pPr>
            <a:r>
              <a:rPr lang="en-AU" sz="2200" dirty="0" smtClean="0">
                <a:latin typeface="Helvetica" pitchFamily="34" charset="0"/>
              </a:rPr>
              <a:t>Tables, chairs and related items</a:t>
            </a:r>
          </a:p>
          <a:p>
            <a:pPr>
              <a:spcBef>
                <a:spcPts val="600"/>
              </a:spcBef>
              <a:spcAft>
                <a:spcPts val="1200"/>
              </a:spcAft>
            </a:pPr>
            <a:r>
              <a:rPr lang="en-AU" sz="2200" dirty="0" smtClean="0">
                <a:latin typeface="Helvetica" pitchFamily="34" charset="0"/>
              </a:rPr>
              <a:t>Environmental control</a:t>
            </a:r>
          </a:p>
          <a:p>
            <a:pPr>
              <a:spcBef>
                <a:spcPts val="600"/>
              </a:spcBef>
              <a:spcAft>
                <a:spcPts val="1200"/>
              </a:spcAft>
            </a:pPr>
            <a:r>
              <a:rPr lang="en-AU" sz="2200" dirty="0" smtClean="0">
                <a:latin typeface="Helvetica" pitchFamily="34" charset="0"/>
              </a:rPr>
              <a:t>Toilets</a:t>
            </a:r>
          </a:p>
          <a:p>
            <a:pPr>
              <a:spcBef>
                <a:spcPts val="600"/>
              </a:spcBef>
              <a:spcAft>
                <a:spcPts val="1200"/>
              </a:spcAft>
            </a:pPr>
            <a:r>
              <a:rPr lang="en-AU" sz="2200" dirty="0" smtClean="0">
                <a:latin typeface="Helvetica" pitchFamily="34" charset="0"/>
              </a:rPr>
              <a:t>Emergency services</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6" name="Picture 5" descr="44210263_5ad8c693d3_m.jpg"/>
          <p:cNvPicPr>
            <a:picLocks noChangeAspect="1"/>
          </p:cNvPicPr>
          <p:nvPr/>
        </p:nvPicPr>
        <p:blipFill>
          <a:blip r:embed="rId3" cstate="print">
            <a:lum contrast="20000"/>
          </a:blip>
          <a:stretch>
            <a:fillRect/>
          </a:stretch>
        </p:blipFill>
        <p:spPr>
          <a:xfrm>
            <a:off x="5857884" y="2786058"/>
            <a:ext cx="2172072" cy="1448048"/>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Types of infrastructure requirements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Car and coach parking </a:t>
            </a:r>
          </a:p>
          <a:p>
            <a:pPr>
              <a:spcBef>
                <a:spcPts val="600"/>
              </a:spcBef>
              <a:spcAft>
                <a:spcPts val="1200"/>
              </a:spcAft>
            </a:pPr>
            <a:r>
              <a:rPr lang="en-AU" sz="2200" dirty="0" smtClean="0">
                <a:latin typeface="Helvetica" pitchFamily="34" charset="0"/>
              </a:rPr>
              <a:t>Disabled access</a:t>
            </a:r>
          </a:p>
          <a:p>
            <a:pPr>
              <a:spcBef>
                <a:spcPts val="600"/>
              </a:spcBef>
              <a:spcAft>
                <a:spcPts val="1200"/>
              </a:spcAft>
            </a:pPr>
            <a:r>
              <a:rPr lang="en-AU" sz="2200" dirty="0" smtClean="0">
                <a:latin typeface="Helvetica" pitchFamily="34" charset="0"/>
              </a:rPr>
              <a:t>Signage</a:t>
            </a:r>
          </a:p>
          <a:p>
            <a:pPr>
              <a:spcBef>
                <a:spcPts val="600"/>
              </a:spcBef>
              <a:spcAft>
                <a:spcPts val="1200"/>
              </a:spcAft>
            </a:pPr>
            <a:r>
              <a:rPr lang="en-AU" sz="2200" dirty="0" smtClean="0">
                <a:latin typeface="Helvetica" pitchFamily="34" charset="0"/>
              </a:rPr>
              <a:t>Waste management</a:t>
            </a:r>
          </a:p>
          <a:p>
            <a:pPr>
              <a:spcBef>
                <a:spcPts val="600"/>
              </a:spcBef>
              <a:spcAft>
                <a:spcPts val="1200"/>
              </a:spcAft>
            </a:pPr>
            <a:r>
              <a:rPr lang="en-AU" sz="2200" dirty="0" smtClean="0">
                <a:latin typeface="Helvetica" pitchFamily="34" charset="0"/>
              </a:rPr>
              <a:t>Animals and insects</a:t>
            </a:r>
          </a:p>
          <a:p>
            <a:pPr>
              <a:spcBef>
                <a:spcPts val="600"/>
              </a:spcBef>
              <a:spcAft>
                <a:spcPts val="1200"/>
              </a:spcAft>
            </a:pPr>
            <a:r>
              <a:rPr lang="en-AU" sz="2200" dirty="0" smtClean="0">
                <a:latin typeface="Helvetica" pitchFamily="34" charset="0"/>
              </a:rPr>
              <a:t>Weather considerations</a:t>
            </a:r>
          </a:p>
          <a:p>
            <a:pPr>
              <a:spcBef>
                <a:spcPts val="600"/>
              </a:spcBef>
              <a:spcAft>
                <a:spcPts val="1200"/>
              </a:spcAft>
            </a:pPr>
            <a:r>
              <a:rPr lang="en-AU" sz="2200" dirty="0" smtClean="0">
                <a:latin typeface="Helvetica" pitchFamily="34" charset="0"/>
              </a:rPr>
              <a:t>Entertainment infrastructure</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7" name="Picture 6" descr="3803601048_19ee6abf5b_m.jpg"/>
          <p:cNvPicPr/>
          <p:nvPr/>
        </p:nvPicPr>
        <p:blipFill>
          <a:blip r:embed="rId3" cstate="print"/>
          <a:stretch>
            <a:fillRect/>
          </a:stretch>
        </p:blipFill>
        <p:spPr>
          <a:xfrm>
            <a:off x="5786446" y="2928934"/>
            <a:ext cx="2111102" cy="1781349"/>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Organise infrastructure needs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Prepare a plan</a:t>
            </a:r>
          </a:p>
          <a:p>
            <a:pPr>
              <a:spcBef>
                <a:spcPts val="600"/>
              </a:spcBef>
              <a:spcAft>
                <a:spcPts val="1200"/>
              </a:spcAft>
            </a:pPr>
            <a:r>
              <a:rPr lang="en-AU" sz="2200" dirty="0" smtClean="0">
                <a:latin typeface="Helvetica" pitchFamily="34" charset="0"/>
              </a:rPr>
              <a:t>Identify suppliers</a:t>
            </a:r>
          </a:p>
          <a:p>
            <a:pPr>
              <a:spcBef>
                <a:spcPts val="600"/>
              </a:spcBef>
              <a:spcAft>
                <a:spcPts val="1200"/>
              </a:spcAft>
            </a:pPr>
            <a:r>
              <a:rPr lang="en-AU" sz="2200" dirty="0" smtClean="0">
                <a:latin typeface="Helvetica" pitchFamily="34" charset="0"/>
              </a:rPr>
              <a:t>Arrange delivery dates and times</a:t>
            </a:r>
          </a:p>
          <a:p>
            <a:pPr>
              <a:spcBef>
                <a:spcPts val="600"/>
              </a:spcBef>
              <a:spcAft>
                <a:spcPts val="1200"/>
              </a:spcAft>
            </a:pPr>
            <a:r>
              <a:rPr lang="en-AU" sz="2200" dirty="0" smtClean="0">
                <a:latin typeface="Helvetica" pitchFamily="34" charset="0"/>
              </a:rPr>
              <a:t>Provide access and security details </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8" name="Picture 7" descr="25674322_4198b24f45_m.jpg"/>
          <p:cNvPicPr/>
          <p:nvPr/>
        </p:nvPicPr>
        <p:blipFill>
          <a:blip r:embed="rId3" cstate="print"/>
          <a:stretch>
            <a:fillRect/>
          </a:stretch>
        </p:blipFill>
        <p:spPr>
          <a:xfrm>
            <a:off x="6357950" y="2500306"/>
            <a:ext cx="1844400" cy="1427547"/>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Outdoor event considerations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Monitor implementation of identified infrastructure requirements</a:t>
            </a:r>
          </a:p>
          <a:p>
            <a:pPr>
              <a:spcBef>
                <a:spcPts val="600"/>
              </a:spcBef>
              <a:spcAft>
                <a:spcPts val="1200"/>
              </a:spcAft>
            </a:pPr>
            <a:r>
              <a:rPr lang="en-AU" sz="2200" dirty="0" smtClean="0">
                <a:latin typeface="Helvetica" pitchFamily="34" charset="0"/>
              </a:rPr>
              <a:t>Why is it important to monitor the set up of infrastructure?</a:t>
            </a:r>
          </a:p>
          <a:p>
            <a:pPr>
              <a:spcBef>
                <a:spcPts val="600"/>
              </a:spcBef>
              <a:spcAft>
                <a:spcPts val="1200"/>
              </a:spcAft>
            </a:pPr>
            <a:r>
              <a:rPr lang="en-AU" sz="2200" dirty="0" smtClean="0">
                <a:latin typeface="Helvetica" pitchFamily="34" charset="0"/>
              </a:rPr>
              <a:t>How do you do this?</a:t>
            </a:r>
          </a:p>
          <a:p>
            <a:pPr>
              <a:spcBef>
                <a:spcPts val="600"/>
              </a:spcBef>
              <a:spcAft>
                <a:spcPts val="1200"/>
              </a:spcAft>
            </a:pPr>
            <a:r>
              <a:rPr lang="en-AU" sz="2200" dirty="0" smtClean="0">
                <a:latin typeface="Helvetica" pitchFamily="34" charset="0"/>
              </a:rPr>
              <a:t>What are you looking for?</a:t>
            </a:r>
          </a:p>
          <a:p>
            <a:endParaRPr lang="en-AU" sz="2400"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6" name="Picture 5" descr="6646222557_7729af3889_m.jpg"/>
          <p:cNvPicPr/>
          <p:nvPr/>
        </p:nvPicPr>
        <p:blipFill>
          <a:blip r:embed="rId3" cstate="print"/>
          <a:stretch>
            <a:fillRect/>
          </a:stretch>
        </p:blipFill>
        <p:spPr>
          <a:xfrm>
            <a:off x="6000760" y="3214686"/>
            <a:ext cx="2289026" cy="1680766"/>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marL="0">
              <a:buNone/>
            </a:pPr>
            <a:r>
              <a:rPr lang="en-AU" sz="4000" b="1" dirty="0" smtClean="0">
                <a:solidFill>
                  <a:srgbClr val="FF6600"/>
                </a:solidFill>
              </a:rPr>
              <a:t>Element 8:</a:t>
            </a:r>
          </a:p>
          <a:p>
            <a:pPr marL="0">
              <a:spcBef>
                <a:spcPts val="600"/>
              </a:spcBef>
              <a:spcAft>
                <a:spcPts val="1200"/>
              </a:spcAft>
              <a:buNone/>
            </a:pPr>
            <a:r>
              <a:rPr lang="en-AU" sz="4000" dirty="0" smtClean="0">
                <a:solidFill>
                  <a:srgbClr val="FF6600"/>
                </a:solidFill>
              </a:rPr>
              <a:t>Conduct post-event evaluation</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28674" name="Picture 2" descr="I:\Overseas Projects\PHOTOS\2011\Pen.jpg"/>
          <p:cNvPicPr>
            <a:picLocks noChangeAspect="1" noChangeArrowheads="1"/>
          </p:cNvPicPr>
          <p:nvPr/>
        </p:nvPicPr>
        <p:blipFill>
          <a:blip r:embed="rId3" cstate="print"/>
          <a:srcRect/>
          <a:stretch>
            <a:fillRect/>
          </a:stretch>
        </p:blipFill>
        <p:spPr bwMode="auto">
          <a:xfrm>
            <a:off x="3143240" y="3214686"/>
            <a:ext cx="2364268" cy="2357454"/>
          </a:xfrm>
          <a:prstGeom prst="rect">
            <a:avLst/>
          </a:prstGeom>
          <a:noFill/>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Conduct post-event evaluation</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Meet with client to discuss the event and finalise outstanding issues</a:t>
            </a:r>
          </a:p>
          <a:p>
            <a:pPr>
              <a:spcBef>
                <a:spcPts val="600"/>
              </a:spcBef>
              <a:spcAft>
                <a:spcPts val="1200"/>
              </a:spcAft>
            </a:pPr>
            <a:r>
              <a:rPr lang="en-AU" sz="2200" dirty="0" smtClean="0">
                <a:latin typeface="Helvetica" pitchFamily="34" charset="0"/>
              </a:rPr>
              <a:t>Meet with sponsors to analyse their thoughts</a:t>
            </a:r>
          </a:p>
          <a:p>
            <a:pPr>
              <a:spcBef>
                <a:spcPts val="600"/>
              </a:spcBef>
              <a:spcAft>
                <a:spcPts val="1200"/>
              </a:spcAft>
            </a:pPr>
            <a:r>
              <a:rPr lang="en-AU" sz="2200" dirty="0" smtClean="0">
                <a:latin typeface="Helvetica" pitchFamily="34" charset="0"/>
              </a:rPr>
              <a:t>Meet with staff to debrief the event</a:t>
            </a:r>
          </a:p>
          <a:p>
            <a:pPr>
              <a:spcBef>
                <a:spcPts val="600"/>
              </a:spcBef>
              <a:spcAft>
                <a:spcPts val="1200"/>
              </a:spcAft>
            </a:pPr>
            <a:r>
              <a:rPr lang="en-AU" sz="2200" dirty="0" smtClean="0">
                <a:latin typeface="Helvetica" pitchFamily="34" charset="0"/>
              </a:rPr>
              <a:t>Calculate the financial outcome of the event</a:t>
            </a:r>
          </a:p>
          <a:p>
            <a:pPr>
              <a:spcBef>
                <a:spcPts val="600"/>
              </a:spcBef>
              <a:spcAft>
                <a:spcPts val="1200"/>
              </a:spcAft>
            </a:pPr>
            <a:r>
              <a:rPr lang="en-AU" sz="2200" dirty="0" smtClean="0">
                <a:latin typeface="Helvetica" pitchFamily="34" charset="0"/>
              </a:rPr>
              <a:t>Determine the extent to which the event                            attained the identified objectives that were                               set for it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500430" y="2500306"/>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715140" y="300037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429256" y="357187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572264" y="4071942"/>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143108" y="5429264"/>
            <a:ext cx="399154" cy="527046"/>
          </a:xfrm>
          <a:prstGeom prst="rect">
            <a:avLst/>
          </a:prstGeom>
          <a:noFill/>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 feedback from customers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It should be standard practice during and after every function to seek feedback that may be used to assist in the planning and implementation of future functions. </a:t>
            </a:r>
          </a:p>
          <a:p>
            <a:pPr>
              <a:spcBef>
                <a:spcPts val="600"/>
              </a:spcBef>
              <a:spcAft>
                <a:spcPts val="1200"/>
              </a:spcAft>
            </a:pPr>
            <a:r>
              <a:rPr lang="en-AU" sz="2200" dirty="0" smtClean="0">
                <a:latin typeface="Helvetica" pitchFamily="34" charset="0"/>
              </a:rPr>
              <a:t>When is the best time to get feedback?</a:t>
            </a:r>
          </a:p>
          <a:p>
            <a:pPr>
              <a:spcBef>
                <a:spcPts val="600"/>
              </a:spcBef>
              <a:spcAft>
                <a:spcPts val="1200"/>
              </a:spcAft>
            </a:pPr>
            <a:r>
              <a:rPr lang="en-AU" sz="2200" dirty="0" smtClean="0">
                <a:latin typeface="Helvetica" pitchFamily="34" charset="0"/>
              </a:rPr>
              <a:t>How can you get feedback?</a:t>
            </a:r>
          </a:p>
          <a:p>
            <a:pPr>
              <a:spcBef>
                <a:spcPts val="600"/>
              </a:spcBef>
              <a:spcAft>
                <a:spcPts val="1200"/>
              </a:spcAft>
            </a:pPr>
            <a:r>
              <a:rPr lang="en-AU" sz="2200" dirty="0" smtClean="0">
                <a:latin typeface="Helvetica" pitchFamily="34" charset="0"/>
              </a:rPr>
              <a:t>What do you want to know?</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7" name="Picture 6" descr="MP900442744.JPG"/>
          <p:cNvPicPr/>
          <p:nvPr/>
        </p:nvPicPr>
        <p:blipFill>
          <a:blip r:embed="rId3" cstate="print"/>
          <a:stretch>
            <a:fillRect/>
          </a:stretch>
        </p:blipFill>
        <p:spPr>
          <a:xfrm>
            <a:off x="6143636" y="3429000"/>
            <a:ext cx="2200273" cy="1555366"/>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External provider feedback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dirty="0" smtClean="0">
                <a:latin typeface="Helvetica" pitchFamily="34" charset="0"/>
              </a:rPr>
              <a:t>Matters which could be addressed include: </a:t>
            </a:r>
          </a:p>
          <a:p>
            <a:pPr>
              <a:spcBef>
                <a:spcPts val="600"/>
              </a:spcBef>
              <a:spcAft>
                <a:spcPts val="1200"/>
              </a:spcAft>
            </a:pPr>
            <a:r>
              <a:rPr lang="en-SG" sz="2200" dirty="0" smtClean="0">
                <a:latin typeface="Helvetica" pitchFamily="34" charset="0"/>
              </a:rPr>
              <a:t>Did they have sufficient information to enable them to provide the goods and services?</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What extra information do they need next time?</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What issues very evident</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What suggestions do they have that may assist in the planning and execution of future functions</a:t>
            </a: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Sponsor feedback</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Meet with sponsors to analyse their thoughts</a:t>
            </a: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How is this done?</a:t>
            </a:r>
          </a:p>
          <a:p>
            <a:pPr>
              <a:spcBef>
                <a:spcPts val="600"/>
              </a:spcBef>
              <a:spcAft>
                <a:spcPts val="1200"/>
              </a:spcAft>
            </a:pPr>
            <a:r>
              <a:rPr lang="en-AU" sz="2200" dirty="0" smtClean="0">
                <a:latin typeface="Helvetica" pitchFamily="34" charset="0"/>
              </a:rPr>
              <a:t>What information do you want from them?</a:t>
            </a:r>
          </a:p>
          <a:p>
            <a:pPr>
              <a:spcBef>
                <a:spcPts val="600"/>
              </a:spcBef>
              <a:spcAft>
                <a:spcPts val="1200"/>
              </a:spcAft>
            </a:pPr>
            <a:r>
              <a:rPr lang="en-AU" sz="2200" dirty="0" smtClean="0">
                <a:latin typeface="Helvetica" pitchFamily="34" charset="0"/>
              </a:rPr>
              <a:t>What information do they want?</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7" name="Picture 6" descr="MP900443186.JPG"/>
          <p:cNvPicPr/>
          <p:nvPr/>
        </p:nvPicPr>
        <p:blipFill>
          <a:blip r:embed="rId3" cstate="print"/>
          <a:stretch>
            <a:fillRect/>
          </a:stretch>
        </p:blipFill>
        <p:spPr>
          <a:xfrm>
            <a:off x="6572264" y="2857496"/>
            <a:ext cx="2111716" cy="1364356"/>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De-brief staff</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600"/>
              </a:spcAft>
              <a:buNone/>
            </a:pPr>
            <a:r>
              <a:rPr lang="en-AU" sz="2200" dirty="0" smtClean="0">
                <a:latin typeface="Helvetica" pitchFamily="34" charset="0"/>
              </a:rPr>
              <a:t>In the same way that some properties encourage or require supervisors to hold a briefing session with staff at the start of a session, they also encourage a de-briefing session to be held at the completion of the session.</a:t>
            </a:r>
          </a:p>
          <a:p>
            <a:pPr lvl="0">
              <a:spcBef>
                <a:spcPts val="600"/>
              </a:spcBef>
              <a:spcAft>
                <a:spcPts val="1200"/>
              </a:spcAft>
            </a:pPr>
            <a:r>
              <a:rPr lang="en-AU" sz="2200" dirty="0" smtClean="0">
                <a:latin typeface="Helvetica" pitchFamily="34" charset="0"/>
              </a:rPr>
              <a:t>What should be asked in a de-brief?</a:t>
            </a:r>
          </a:p>
          <a:p>
            <a:pPr lvl="0">
              <a:spcBef>
                <a:spcPts val="600"/>
              </a:spcBef>
              <a:spcAft>
                <a:spcPts val="1200"/>
              </a:spcAft>
            </a:pPr>
            <a:r>
              <a:rPr lang="en-AU" sz="2200" dirty="0" smtClean="0">
                <a:latin typeface="Helvetica" pitchFamily="34" charset="0"/>
              </a:rPr>
              <a:t>When should it be done?</a:t>
            </a:r>
          </a:p>
          <a:p>
            <a:pPr lvl="0">
              <a:spcBef>
                <a:spcPts val="600"/>
              </a:spcBef>
              <a:spcAft>
                <a:spcPts val="1200"/>
              </a:spcAft>
            </a:pPr>
            <a:r>
              <a:rPr lang="en-AU" sz="2200" dirty="0" smtClean="0">
                <a:latin typeface="Helvetica" pitchFamily="34" charset="0"/>
              </a:rPr>
              <a:t>Who should attend?</a:t>
            </a:r>
          </a:p>
          <a:p>
            <a:pPr marL="0">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7" name="Picture 6" descr="MP900178868.JPG"/>
          <p:cNvPicPr/>
          <p:nvPr/>
        </p:nvPicPr>
        <p:blipFill>
          <a:blip r:embed="rId3" cstate="print">
            <a:lum bright="10000"/>
          </a:blip>
          <a:stretch>
            <a:fillRect/>
          </a:stretch>
        </p:blipFill>
        <p:spPr>
          <a:xfrm>
            <a:off x="6357950" y="3357562"/>
            <a:ext cx="1953221" cy="1324943"/>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Obtain payment for function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dirty="0" smtClean="0">
                <a:latin typeface="Helvetica" pitchFamily="34" charset="0"/>
              </a:rPr>
              <a:t>Once the function has been concluded and all the feedback has been collected by the customer, it is now time for the client to settle the account.</a:t>
            </a:r>
          </a:p>
          <a:p>
            <a:pPr>
              <a:spcBef>
                <a:spcPts val="600"/>
              </a:spcBef>
              <a:spcAft>
                <a:spcPts val="1200"/>
              </a:spcAft>
            </a:pPr>
            <a:r>
              <a:rPr lang="en-AU" sz="2200" dirty="0" smtClean="0">
                <a:latin typeface="Helvetica" pitchFamily="34" charset="0"/>
              </a:rPr>
              <a:t>What steps are involved in preparing the account?</a:t>
            </a:r>
          </a:p>
          <a:p>
            <a:pPr>
              <a:spcBef>
                <a:spcPts val="600"/>
              </a:spcBef>
              <a:spcAft>
                <a:spcPts val="1200"/>
              </a:spcAft>
            </a:pPr>
            <a:r>
              <a:rPr lang="en-AU" sz="2200" dirty="0" smtClean="0">
                <a:latin typeface="Helvetica" pitchFamily="34" charset="0"/>
              </a:rPr>
              <a:t>How can a client settle an account?</a:t>
            </a:r>
          </a:p>
          <a:p>
            <a:pPr>
              <a:spcBef>
                <a:spcPts val="600"/>
              </a:spcBef>
              <a:spcAft>
                <a:spcPts val="1200"/>
              </a:spcAft>
            </a:pPr>
            <a:r>
              <a:rPr lang="en-AU" sz="2200" dirty="0" smtClean="0">
                <a:latin typeface="Helvetica" pitchFamily="34" charset="0"/>
              </a:rPr>
              <a:t>What happens if the client doesn’t agree                          with the price?</a:t>
            </a:r>
          </a:p>
          <a:p>
            <a:pPr>
              <a:spcBef>
                <a:spcPts val="600"/>
              </a:spcBef>
              <a:spcAft>
                <a:spcPts val="1200"/>
              </a:spcAft>
            </a:pPr>
            <a:r>
              <a:rPr lang="en-AU" sz="2200" dirty="0" smtClean="0">
                <a:latin typeface="Helvetica" pitchFamily="34" charset="0"/>
              </a:rPr>
              <a:t>What if they don’t pay?</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29700" name="Picture 4" descr="C:\Documents and Settings\danielc\Local Settings\Temporary Internet Files\Content.IE5\UMECW9PM\MC900439237[1].jpg"/>
          <p:cNvPicPr>
            <a:picLocks noChangeAspect="1" noChangeArrowheads="1"/>
          </p:cNvPicPr>
          <p:nvPr/>
        </p:nvPicPr>
        <p:blipFill>
          <a:blip r:embed="rId3" cstate="print"/>
          <a:srcRect/>
          <a:stretch>
            <a:fillRect/>
          </a:stretch>
        </p:blipFill>
        <p:spPr bwMode="auto">
          <a:xfrm>
            <a:off x="6500826" y="3500438"/>
            <a:ext cx="1816534" cy="2543148"/>
          </a:xfrm>
          <a:prstGeom prst="rect">
            <a:avLst/>
          </a:prstGeom>
          <a:noFill/>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account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Possible charges</a:t>
            </a:r>
          </a:p>
          <a:p>
            <a:pPr>
              <a:spcBef>
                <a:spcPts val="600"/>
              </a:spcBef>
              <a:spcAft>
                <a:spcPts val="1200"/>
              </a:spcAft>
              <a:buNone/>
            </a:pPr>
            <a:r>
              <a:rPr lang="en-AU" sz="2200" dirty="0" smtClean="0">
                <a:latin typeface="Helvetica" pitchFamily="34" charset="0"/>
              </a:rPr>
              <a:t>Charges may include: </a:t>
            </a:r>
          </a:p>
          <a:p>
            <a:pPr lvl="0">
              <a:spcBef>
                <a:spcPts val="600"/>
              </a:spcBef>
              <a:spcAft>
                <a:spcPts val="1200"/>
              </a:spcAft>
            </a:pPr>
            <a:r>
              <a:rPr lang="en-AU" sz="2200" dirty="0" smtClean="0">
                <a:latin typeface="Helvetica" pitchFamily="34" charset="0"/>
              </a:rPr>
              <a:t>Food and beverage</a:t>
            </a:r>
          </a:p>
          <a:p>
            <a:pPr lvl="0">
              <a:spcBef>
                <a:spcPts val="600"/>
              </a:spcBef>
              <a:spcAft>
                <a:spcPts val="1200"/>
              </a:spcAft>
            </a:pPr>
            <a:r>
              <a:rPr lang="en-AU" sz="2200" dirty="0" smtClean="0">
                <a:latin typeface="Helvetica" pitchFamily="34" charset="0"/>
              </a:rPr>
              <a:t>Entertainment</a:t>
            </a:r>
          </a:p>
          <a:p>
            <a:pPr lvl="0">
              <a:spcBef>
                <a:spcPts val="600"/>
              </a:spcBef>
              <a:spcAft>
                <a:spcPts val="1200"/>
              </a:spcAft>
            </a:pPr>
            <a:r>
              <a:rPr lang="en-AU" sz="2200" dirty="0" smtClean="0">
                <a:latin typeface="Helvetica" pitchFamily="34" charset="0"/>
              </a:rPr>
              <a:t>Venue hire</a:t>
            </a:r>
          </a:p>
          <a:p>
            <a:pPr lvl="0">
              <a:spcBef>
                <a:spcPts val="600"/>
              </a:spcBef>
              <a:spcAft>
                <a:spcPts val="1200"/>
              </a:spcAft>
            </a:pPr>
            <a:r>
              <a:rPr lang="en-AU" sz="2200" dirty="0" smtClean="0">
                <a:latin typeface="Helvetica" pitchFamily="34" charset="0"/>
              </a:rPr>
              <a:t>Labour</a:t>
            </a: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6" name="Picture 5" descr="MP900431290.JPG"/>
          <p:cNvPicPr/>
          <p:nvPr/>
        </p:nvPicPr>
        <p:blipFill>
          <a:blip r:embed="rId3" cstate="print"/>
          <a:stretch>
            <a:fillRect/>
          </a:stretch>
        </p:blipFill>
        <p:spPr>
          <a:xfrm>
            <a:off x="6143636" y="2643182"/>
            <a:ext cx="1871661" cy="1871661"/>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account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a:spcBef>
                <a:spcPts val="600"/>
              </a:spcBef>
              <a:spcAft>
                <a:spcPts val="1200"/>
              </a:spcAft>
              <a:buNone/>
            </a:pPr>
            <a:r>
              <a:rPr lang="en-AU" sz="2200" b="1" dirty="0" smtClean="0">
                <a:latin typeface="Helvetica" pitchFamily="34" charset="0"/>
              </a:rPr>
              <a:t>Possible charges</a:t>
            </a:r>
          </a:p>
          <a:p>
            <a:pPr lvl="0">
              <a:spcBef>
                <a:spcPts val="600"/>
              </a:spcBef>
              <a:spcAft>
                <a:spcPts val="1200"/>
              </a:spcAft>
            </a:pPr>
            <a:r>
              <a:rPr lang="en-AU" sz="2200" dirty="0" smtClean="0">
                <a:latin typeface="Helvetica" pitchFamily="34" charset="0"/>
              </a:rPr>
              <a:t>Flowers </a:t>
            </a:r>
          </a:p>
          <a:p>
            <a:pPr lvl="0">
              <a:spcBef>
                <a:spcPts val="600"/>
              </a:spcBef>
              <a:spcAft>
                <a:spcPts val="1200"/>
              </a:spcAft>
            </a:pPr>
            <a:r>
              <a:rPr lang="en-AU" sz="2200" dirty="0" smtClean="0">
                <a:latin typeface="Helvetica" pitchFamily="34" charset="0"/>
              </a:rPr>
              <a:t>Audio-visual equipment hire</a:t>
            </a:r>
          </a:p>
          <a:p>
            <a:pPr lvl="0">
              <a:spcBef>
                <a:spcPts val="600"/>
              </a:spcBef>
              <a:spcAft>
                <a:spcPts val="1200"/>
              </a:spcAft>
            </a:pPr>
            <a:r>
              <a:rPr lang="en-AU" sz="2200" dirty="0" smtClean="0">
                <a:latin typeface="Helvetica" pitchFamily="34" charset="0"/>
              </a:rPr>
              <a:t>Printing, photocopying, secretarial services, phone and fax usage </a:t>
            </a:r>
          </a:p>
          <a:p>
            <a:pPr lvl="0">
              <a:spcBef>
                <a:spcPts val="600"/>
              </a:spcBef>
              <a:spcAft>
                <a:spcPts val="1200"/>
              </a:spcAft>
            </a:pPr>
            <a:r>
              <a:rPr lang="en-AU" sz="2200" dirty="0" smtClean="0">
                <a:latin typeface="Helvetica" pitchFamily="34" charset="0"/>
              </a:rPr>
              <a:t>Ice or margarine carvings, balloons, streamers and other specialised decorations </a:t>
            </a:r>
          </a:p>
          <a:p>
            <a:pPr lvl="0">
              <a:spcBef>
                <a:spcPts val="600"/>
              </a:spcBef>
              <a:spcAft>
                <a:spcPts val="1200"/>
              </a:spcAft>
            </a:pPr>
            <a:r>
              <a:rPr lang="en-AU" sz="2200" dirty="0" smtClean="0">
                <a:latin typeface="Helvetica" pitchFamily="34" charset="0"/>
              </a:rPr>
              <a:t>Dance floor hire</a:t>
            </a: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30722" name="Picture 2" descr="C:\Documents and Settings\danielc\Local Settings\Temporary Internet Files\Content.IE5\112MAXTI\MC900440391[1].png"/>
          <p:cNvPicPr>
            <a:picLocks noChangeAspect="1" noChangeArrowheads="1"/>
          </p:cNvPicPr>
          <p:nvPr/>
        </p:nvPicPr>
        <p:blipFill>
          <a:blip r:embed="rId3" cstate="print"/>
          <a:srcRect/>
          <a:stretch>
            <a:fillRect/>
          </a:stretch>
        </p:blipFill>
        <p:spPr bwMode="auto">
          <a:xfrm>
            <a:off x="6000760" y="1500174"/>
            <a:ext cx="1585914" cy="1585914"/>
          </a:xfrm>
          <a:prstGeom prst="rect">
            <a:avLst/>
          </a:prstGeom>
          <a:noFill/>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Preparing the account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a:spcBef>
                <a:spcPts val="600"/>
              </a:spcBef>
              <a:spcAft>
                <a:spcPts val="1200"/>
              </a:spcAft>
              <a:buNone/>
            </a:pPr>
            <a:r>
              <a:rPr lang="en-AU" sz="2200" b="1" dirty="0" smtClean="0">
                <a:latin typeface="Helvetica" pitchFamily="34" charset="0"/>
              </a:rPr>
              <a:t>Next steps:</a:t>
            </a:r>
          </a:p>
          <a:p>
            <a:pPr>
              <a:spcBef>
                <a:spcPts val="600"/>
              </a:spcBef>
              <a:spcAft>
                <a:spcPts val="1200"/>
              </a:spcAft>
            </a:pPr>
            <a:r>
              <a:rPr lang="en-AU" sz="2200" dirty="0" smtClean="0">
                <a:latin typeface="Helvetica" pitchFamily="34" charset="0"/>
              </a:rPr>
              <a:t>Verifying the account with management</a:t>
            </a:r>
          </a:p>
          <a:p>
            <a:pPr>
              <a:spcBef>
                <a:spcPts val="600"/>
              </a:spcBef>
              <a:spcAft>
                <a:spcPts val="1200"/>
              </a:spcAft>
            </a:pPr>
            <a:r>
              <a:rPr lang="en-AU" sz="2200" dirty="0" smtClean="0">
                <a:latin typeface="Helvetica" pitchFamily="34" charset="0"/>
              </a:rPr>
              <a:t>Presenting the account</a:t>
            </a:r>
          </a:p>
          <a:p>
            <a:pPr>
              <a:spcBef>
                <a:spcPts val="600"/>
              </a:spcBef>
              <a:spcAft>
                <a:spcPts val="1200"/>
              </a:spcAft>
            </a:pPr>
            <a:r>
              <a:rPr lang="en-AU" sz="2200" dirty="0" smtClean="0">
                <a:latin typeface="Helvetica" pitchFamily="34" charset="0"/>
              </a:rPr>
              <a:t>Process using correct method of payment</a:t>
            </a:r>
          </a:p>
          <a:p>
            <a:pPr>
              <a:spcBef>
                <a:spcPts val="600"/>
              </a:spcBef>
              <a:spcAft>
                <a:spcPts val="1200"/>
              </a:spcAft>
              <a:buNone/>
            </a:pPr>
            <a:endParaRPr lang="en-AU" sz="2200" b="1" dirty="0" smtClean="0">
              <a:latin typeface="Helvetica" pitchFamily="34" charset="0"/>
            </a:endParaRPr>
          </a:p>
          <a:p>
            <a:pPr>
              <a:spcBef>
                <a:spcPts val="600"/>
              </a:spcBef>
              <a:spcAft>
                <a:spcPts val="1200"/>
              </a:spcAft>
              <a:buNone/>
            </a:pPr>
            <a:endParaRPr lang="en-AU" sz="2200" b="1" dirty="0" smtClean="0">
              <a:latin typeface="Helvetica" pitchFamily="34" charset="0"/>
            </a:endParaRPr>
          </a:p>
          <a:p>
            <a:pPr>
              <a:buNone/>
            </a:pPr>
            <a:endParaRPr lang="en-AU" sz="2400" dirty="0" smtClean="0"/>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6" name="Picture 5" descr="MP900409427[1].JPG"/>
          <p:cNvPicPr>
            <a:picLocks noChangeAspect="1"/>
          </p:cNvPicPr>
          <p:nvPr/>
        </p:nvPicPr>
        <p:blipFill>
          <a:blip r:embed="rId3" cstate="print"/>
          <a:stretch>
            <a:fillRect/>
          </a:stretch>
        </p:blipFill>
        <p:spPr>
          <a:xfrm>
            <a:off x="6786578" y="2214554"/>
            <a:ext cx="1533524" cy="1533524"/>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Complete administration documentation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71472" y="1609206"/>
            <a:ext cx="7467600" cy="5606008"/>
          </a:xfrm>
        </p:spPr>
        <p:txBody>
          <a:bodyPr>
            <a:normAutofit/>
          </a:bodyPr>
          <a:lstStyle/>
          <a:p>
            <a:pPr>
              <a:spcBef>
                <a:spcPts val="600"/>
              </a:spcBef>
              <a:spcAft>
                <a:spcPts val="1200"/>
              </a:spcAft>
            </a:pPr>
            <a:r>
              <a:rPr lang="en-AU" sz="2200" dirty="0" smtClean="0">
                <a:latin typeface="Helvetica" pitchFamily="34" charset="0"/>
              </a:rPr>
              <a:t>It is quite common for the Functions manager to complete a range of documentation at the completion of a function</a:t>
            </a:r>
          </a:p>
          <a:p>
            <a:pPr>
              <a:spcBef>
                <a:spcPts val="600"/>
              </a:spcBef>
              <a:spcAft>
                <a:spcPts val="1200"/>
              </a:spcAft>
            </a:pPr>
            <a:r>
              <a:rPr lang="en-AU" sz="2200" dirty="0" smtClean="0">
                <a:latin typeface="Helvetica" pitchFamily="34" charset="0"/>
              </a:rPr>
              <a:t>There is generally an urgency associated with this as the venue will commonly seek to finalise this aspect of the function as soon as possible </a:t>
            </a:r>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7" name="Picture 6" descr="MP900446464.JPG"/>
          <p:cNvPicPr/>
          <p:nvPr/>
        </p:nvPicPr>
        <p:blipFill>
          <a:blip r:embed="rId3" cstate="print"/>
          <a:stretch>
            <a:fillRect/>
          </a:stretch>
        </p:blipFill>
        <p:spPr>
          <a:xfrm>
            <a:off x="3500430" y="4286256"/>
            <a:ext cx="2183023" cy="1643074"/>
          </a:xfrm>
          <a:prstGeom prst="rect">
            <a:avLst/>
          </a:prstGeom>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Determine event objective attainment</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606008"/>
          </a:xfrm>
        </p:spPr>
        <p:txBody>
          <a:bodyPr>
            <a:normAutofit/>
          </a:bodyPr>
          <a:lstStyle/>
          <a:p>
            <a:pPr marL="0" lvl="0">
              <a:spcBef>
                <a:spcPts val="600"/>
              </a:spcBef>
              <a:spcAft>
                <a:spcPts val="1200"/>
              </a:spcAft>
              <a:buNone/>
            </a:pPr>
            <a:r>
              <a:rPr lang="en-AU" sz="2200" b="1" dirty="0" smtClean="0">
                <a:latin typeface="Helvetica" pitchFamily="34" charset="0"/>
              </a:rPr>
              <a:t>Determine the extent to which the event attained the identified objectives that were set for it</a:t>
            </a:r>
          </a:p>
          <a:p>
            <a:pPr lvl="0">
              <a:spcBef>
                <a:spcPts val="600"/>
              </a:spcBef>
              <a:spcAft>
                <a:spcPts val="1200"/>
              </a:spcAft>
            </a:pPr>
            <a:r>
              <a:rPr lang="en-AU" sz="2200" dirty="0" smtClean="0">
                <a:latin typeface="Helvetica" pitchFamily="34" charset="0"/>
              </a:rPr>
              <a:t>What different event objectives may an event organiser have?</a:t>
            </a:r>
          </a:p>
          <a:p>
            <a:pPr lvl="0">
              <a:spcBef>
                <a:spcPts val="600"/>
              </a:spcBef>
              <a:spcAft>
                <a:spcPts val="1200"/>
              </a:spcAft>
            </a:pPr>
            <a:r>
              <a:rPr lang="en-AU" sz="2200" dirty="0" smtClean="0">
                <a:latin typeface="Helvetica" pitchFamily="34" charset="0"/>
              </a:rPr>
              <a:t>How can these be measured?</a:t>
            </a:r>
          </a:p>
          <a:p>
            <a:pPr marL="0">
              <a:spcBef>
                <a:spcPts val="600"/>
              </a:spcBef>
              <a:spcAft>
                <a:spcPts val="1200"/>
              </a:spcAft>
              <a:buNone/>
            </a:pP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7" name="Picture 6" descr="MP900316764.JPG"/>
          <p:cNvPicPr/>
          <p:nvPr/>
        </p:nvPicPr>
        <p:blipFill>
          <a:blip r:embed="rId3" cstate="print">
            <a:lum bright="20000"/>
          </a:blip>
          <a:stretch>
            <a:fillRect/>
          </a:stretch>
        </p:blipFill>
        <p:spPr>
          <a:xfrm>
            <a:off x="5929322" y="3357562"/>
            <a:ext cx="1987342" cy="132129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2501</TotalTime>
  <Words>10583</Words>
  <Application>Microsoft Office PowerPoint</Application>
  <PresentationFormat>On-screen Show (4:3)</PresentationFormat>
  <Paragraphs>2266</Paragraphs>
  <Slides>169</Slides>
  <Notes>169</Notes>
  <HiddenSlides>0</HiddenSlides>
  <MMClips>0</MMClips>
  <ScaleCrop>false</ScaleCrop>
  <HeadingPairs>
    <vt:vector size="4" baseType="variant">
      <vt:variant>
        <vt:lpstr>Theme</vt:lpstr>
      </vt:variant>
      <vt:variant>
        <vt:i4>1</vt:i4>
      </vt:variant>
      <vt:variant>
        <vt:lpstr>Slide Titles</vt:lpstr>
      </vt:variant>
      <vt:variant>
        <vt:i4>169</vt:i4>
      </vt:variant>
    </vt:vector>
  </HeadingPairs>
  <TitlesOfParts>
    <vt:vector size="170" baseType="lpstr">
      <vt:lpstr>PPT_Food_&amp;_Bev_template_250612</vt:lpstr>
      <vt:lpstr>MANAGE SPECIAL EVENTS</vt:lpstr>
      <vt:lpstr>Subject Elements</vt:lpstr>
      <vt:lpstr>Subject Elements</vt:lpstr>
      <vt:lpstr>Assessment</vt:lpstr>
      <vt:lpstr>Slide 5</vt:lpstr>
      <vt:lpstr>Develop event concept and proposal</vt:lpstr>
      <vt:lpstr>Events</vt:lpstr>
      <vt:lpstr>Events</vt:lpstr>
      <vt:lpstr>Events</vt:lpstr>
      <vt:lpstr>Benefits of events</vt:lpstr>
      <vt:lpstr>Types of events</vt:lpstr>
      <vt:lpstr>Types of events</vt:lpstr>
      <vt:lpstr>Types of events</vt:lpstr>
      <vt:lpstr>Types of events</vt:lpstr>
      <vt:lpstr>Types of events</vt:lpstr>
      <vt:lpstr>Event facilities</vt:lpstr>
      <vt:lpstr>Event facilities</vt:lpstr>
      <vt:lpstr>Event facilities</vt:lpstr>
      <vt:lpstr>Event facilities</vt:lpstr>
      <vt:lpstr>Event facilities</vt:lpstr>
      <vt:lpstr>Receiving an enquiry</vt:lpstr>
      <vt:lpstr>Receiving an enquiry</vt:lpstr>
      <vt:lpstr>Meeting with clients</vt:lpstr>
      <vt:lpstr>Determine customer needs</vt:lpstr>
      <vt:lpstr>Event considerations</vt:lpstr>
      <vt:lpstr>Event considerations</vt:lpstr>
      <vt:lpstr>Function set up options</vt:lpstr>
      <vt:lpstr>Event set up options</vt:lpstr>
      <vt:lpstr>Event set up options</vt:lpstr>
      <vt:lpstr>Key stakeholders</vt:lpstr>
      <vt:lpstr>Liaison and management structure</vt:lpstr>
      <vt:lpstr>Identify options for events</vt:lpstr>
      <vt:lpstr>Prepare event brief</vt:lpstr>
      <vt:lpstr>Contents of an event brief</vt:lpstr>
      <vt:lpstr>Contents of an event brief</vt:lpstr>
      <vt:lpstr>Provide proposal to client </vt:lpstr>
      <vt:lpstr>Slide 37</vt:lpstr>
      <vt:lpstr>Determine event venue/location</vt:lpstr>
      <vt:lpstr>Identify potential venues and sites</vt:lpstr>
      <vt:lpstr>Identify potential venues and sites</vt:lpstr>
      <vt:lpstr>Identify potential venues and sites</vt:lpstr>
      <vt:lpstr>Identify potential venues and sites</vt:lpstr>
      <vt:lpstr>Analyse location options </vt:lpstr>
      <vt:lpstr>Select event venue/site</vt:lpstr>
      <vt:lpstr>Negotiate and agree upon final event details</vt:lpstr>
      <vt:lpstr>Preparing the event contract</vt:lpstr>
      <vt:lpstr>Preparing the event contract</vt:lpstr>
      <vt:lpstr>Preparing the event contract</vt:lpstr>
      <vt:lpstr>Preparing the event contract</vt:lpstr>
      <vt:lpstr>Preparing the event contract</vt:lpstr>
      <vt:lpstr>Obtaining deposit for function</vt:lpstr>
      <vt:lpstr>Updated financial information</vt:lpstr>
      <vt:lpstr>Preparing confirmations </vt:lpstr>
      <vt:lpstr>Slide 54</vt:lpstr>
      <vt:lpstr>Plan and deliver event catering</vt:lpstr>
      <vt:lpstr>Factors impacting catering</vt:lpstr>
      <vt:lpstr>Factors impacting catering</vt:lpstr>
      <vt:lpstr>Event menu options</vt:lpstr>
      <vt:lpstr>Types of food and beverage menus</vt:lpstr>
      <vt:lpstr>Types of food and beverage menus</vt:lpstr>
      <vt:lpstr>Types of food and beverage menus</vt:lpstr>
      <vt:lpstr>Styles of service</vt:lpstr>
      <vt:lpstr>Types of food and beverage packages</vt:lpstr>
      <vt:lpstr>Prepare and send proposal</vt:lpstr>
      <vt:lpstr>Follow up proposal</vt:lpstr>
      <vt:lpstr>Prepare catering operational plan</vt:lpstr>
      <vt:lpstr>Prepare catering operational plan</vt:lpstr>
      <vt:lpstr>Rostering staff</vt:lpstr>
      <vt:lpstr>Rostering staff</vt:lpstr>
      <vt:lpstr>Rostering staff</vt:lpstr>
      <vt:lpstr>Slide 71</vt:lpstr>
      <vt:lpstr>Plan and deliver sponsorship plans</vt:lpstr>
      <vt:lpstr>Event sponsorship</vt:lpstr>
      <vt:lpstr>Event sponsorship</vt:lpstr>
      <vt:lpstr>Event sponsorship</vt:lpstr>
      <vt:lpstr>Event sponsorship</vt:lpstr>
      <vt:lpstr>Event sponsorship</vt:lpstr>
      <vt:lpstr>Sponsorship packages</vt:lpstr>
      <vt:lpstr>Sponsorship packages</vt:lpstr>
      <vt:lpstr>Sponsorship packages</vt:lpstr>
      <vt:lpstr>Sponsorship packages</vt:lpstr>
      <vt:lpstr>Sponsorship packages</vt:lpstr>
      <vt:lpstr>Sponsorship packages</vt:lpstr>
      <vt:lpstr>Sponsorship items and activities</vt:lpstr>
      <vt:lpstr>Follow up with sponsors</vt:lpstr>
      <vt:lpstr>Slide 86</vt:lpstr>
      <vt:lpstr>Plan and deliver event management</vt:lpstr>
      <vt:lpstr>Liaise with stakeholders</vt:lpstr>
      <vt:lpstr>Liaise with stakeholders</vt:lpstr>
      <vt:lpstr>Prepare event management plan</vt:lpstr>
      <vt:lpstr>Prepare event management plan</vt:lpstr>
      <vt:lpstr>Prepare event management plan</vt:lpstr>
      <vt:lpstr>Prepare event management plan</vt:lpstr>
      <vt:lpstr>Arrange external services</vt:lpstr>
      <vt:lpstr>Arrange external services</vt:lpstr>
      <vt:lpstr>Arrange external services</vt:lpstr>
      <vt:lpstr>Arrange external services</vt:lpstr>
      <vt:lpstr>Arrange external services</vt:lpstr>
      <vt:lpstr>Arrange external services</vt:lpstr>
      <vt:lpstr>Preparing function sheets </vt:lpstr>
      <vt:lpstr>Preparing function sheets </vt:lpstr>
      <vt:lpstr>Preparing function sheets </vt:lpstr>
      <vt:lpstr>Minimise impact of function</vt:lpstr>
      <vt:lpstr>Minimise impact of function</vt:lpstr>
      <vt:lpstr>Minimise impact of function</vt:lpstr>
      <vt:lpstr>Monitor set up of function</vt:lpstr>
      <vt:lpstr>Mise-en-place</vt:lpstr>
      <vt:lpstr>Using checklists</vt:lpstr>
      <vt:lpstr>Planning set up</vt:lpstr>
      <vt:lpstr>Planning set up</vt:lpstr>
      <vt:lpstr>Mise-en-place</vt:lpstr>
      <vt:lpstr>Mise-en-place</vt:lpstr>
      <vt:lpstr>Mise-en-place</vt:lpstr>
      <vt:lpstr>Mise-en-place</vt:lpstr>
      <vt:lpstr>Mise-en-place</vt:lpstr>
      <vt:lpstr>Mise-en-place</vt:lpstr>
      <vt:lpstr>Purchase necessary stock</vt:lpstr>
      <vt:lpstr>Purchase necessary stock</vt:lpstr>
      <vt:lpstr>Purchase necessary stock</vt:lpstr>
      <vt:lpstr>Conduct pre-function briefings</vt:lpstr>
      <vt:lpstr>Monitor service delivery</vt:lpstr>
      <vt:lpstr>Monitor service delivery</vt:lpstr>
      <vt:lpstr>Monitoring the function</vt:lpstr>
      <vt:lpstr>Monitoring the function</vt:lpstr>
      <vt:lpstr>Taking action to address service problems </vt:lpstr>
      <vt:lpstr>Taking action to address service problems </vt:lpstr>
      <vt:lpstr>Monitor event breakdown</vt:lpstr>
      <vt:lpstr>Slide 128</vt:lpstr>
      <vt:lpstr>Plan and deliver event registration</vt:lpstr>
      <vt:lpstr>Event registration</vt:lpstr>
      <vt:lpstr>Event registration</vt:lpstr>
      <vt:lpstr>Event registration</vt:lpstr>
      <vt:lpstr>Event registration</vt:lpstr>
      <vt:lpstr>Event registration</vt:lpstr>
      <vt:lpstr>Event registration</vt:lpstr>
      <vt:lpstr>Event registration</vt:lpstr>
      <vt:lpstr>Event registration</vt:lpstr>
      <vt:lpstr>Event registration</vt:lpstr>
      <vt:lpstr>Event registration</vt:lpstr>
      <vt:lpstr>Finalise event registration</vt:lpstr>
      <vt:lpstr>Produce event materials</vt:lpstr>
      <vt:lpstr>Coordinate registration desk</vt:lpstr>
      <vt:lpstr>Coordinate registration desk</vt:lpstr>
      <vt:lpstr>Coordinate registration desk</vt:lpstr>
      <vt:lpstr>Coordinate registration desk</vt:lpstr>
      <vt:lpstr>Coordinate registration desk</vt:lpstr>
      <vt:lpstr>Coordinate registration desk</vt:lpstr>
      <vt:lpstr>Coordinate registration desk</vt:lpstr>
      <vt:lpstr>Slide 149</vt:lpstr>
      <vt:lpstr>Plan and deliver infrastructure for outdoor event</vt:lpstr>
      <vt:lpstr>Outdoor event considerations</vt:lpstr>
      <vt:lpstr>Outdoor event considerations</vt:lpstr>
      <vt:lpstr>Outdoor event considerations</vt:lpstr>
      <vt:lpstr>Outdoor event considerations</vt:lpstr>
      <vt:lpstr>Outdoor event considerations</vt:lpstr>
      <vt:lpstr>Outdoor event considerations</vt:lpstr>
      <vt:lpstr>Outdoor event considerations</vt:lpstr>
      <vt:lpstr>Slide 158</vt:lpstr>
      <vt:lpstr>Conduct post-event evaluation</vt:lpstr>
      <vt:lpstr>Obtain feedback from customers</vt:lpstr>
      <vt:lpstr>External provider feedback</vt:lpstr>
      <vt:lpstr>Sponsor feedback</vt:lpstr>
      <vt:lpstr>De-brief staff</vt:lpstr>
      <vt:lpstr>Obtain payment for function</vt:lpstr>
      <vt:lpstr>Preparing the account </vt:lpstr>
      <vt:lpstr>Preparing the account </vt:lpstr>
      <vt:lpstr>Preparing the account </vt:lpstr>
      <vt:lpstr>Complete administration documentation</vt:lpstr>
      <vt:lpstr>Determine event objective attainment</vt:lpstr>
    </vt:vector>
  </TitlesOfParts>
  <Company>William Angliss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Unit name</dc:title>
  <dc:creator>Administrator</dc:creator>
  <cp:lastModifiedBy>Daniel James Chee</cp:lastModifiedBy>
  <cp:revision>167</cp:revision>
  <dcterms:created xsi:type="dcterms:W3CDTF">2013-02-04T23:50:43Z</dcterms:created>
  <dcterms:modified xsi:type="dcterms:W3CDTF">2013-05-23T05:41:23Z</dcterms:modified>
</cp:coreProperties>
</file>