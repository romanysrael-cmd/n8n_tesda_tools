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18"/>
  </p:notesMasterIdLst>
  <p:handoutMasterIdLst>
    <p:handoutMasterId r:id="rId119"/>
  </p:handoutMasterIdLst>
  <p:sldIdLst>
    <p:sldId id="256" r:id="rId2"/>
    <p:sldId id="267" r:id="rId3"/>
    <p:sldId id="268" r:id="rId4"/>
    <p:sldId id="269" r:id="rId5"/>
    <p:sldId id="257" r:id="rId6"/>
    <p:sldId id="270" r:id="rId7"/>
    <p:sldId id="271" r:id="rId8"/>
    <p:sldId id="272" r:id="rId9"/>
    <p:sldId id="281" r:id="rId10"/>
    <p:sldId id="282" r:id="rId11"/>
    <p:sldId id="283" r:id="rId12"/>
    <p:sldId id="284" r:id="rId13"/>
    <p:sldId id="285" r:id="rId14"/>
    <p:sldId id="258" r:id="rId15"/>
    <p:sldId id="286" r:id="rId16"/>
    <p:sldId id="287" r:id="rId17"/>
    <p:sldId id="288" r:id="rId18"/>
    <p:sldId id="289" r:id="rId19"/>
    <p:sldId id="290" r:id="rId20"/>
    <p:sldId id="259" r:id="rId21"/>
    <p:sldId id="291" r:id="rId22"/>
    <p:sldId id="292" r:id="rId23"/>
    <p:sldId id="293" r:id="rId24"/>
    <p:sldId id="294" r:id="rId25"/>
    <p:sldId id="260" r:id="rId26"/>
    <p:sldId id="295" r:id="rId27"/>
    <p:sldId id="296" r:id="rId28"/>
    <p:sldId id="261" r:id="rId29"/>
    <p:sldId id="297" r:id="rId30"/>
    <p:sldId id="298" r:id="rId31"/>
    <p:sldId id="299" r:id="rId32"/>
    <p:sldId id="300" r:id="rId33"/>
    <p:sldId id="301" r:id="rId34"/>
    <p:sldId id="302" r:id="rId35"/>
    <p:sldId id="262" r:id="rId36"/>
    <p:sldId id="263" r:id="rId37"/>
    <p:sldId id="303" r:id="rId38"/>
    <p:sldId id="304" r:id="rId39"/>
    <p:sldId id="305" r:id="rId40"/>
    <p:sldId id="306" r:id="rId41"/>
    <p:sldId id="307" r:id="rId42"/>
    <p:sldId id="308" r:id="rId43"/>
    <p:sldId id="264" r:id="rId44"/>
    <p:sldId id="312" r:id="rId45"/>
    <p:sldId id="313" r:id="rId46"/>
    <p:sldId id="265" r:id="rId47"/>
    <p:sldId id="314" r:id="rId48"/>
    <p:sldId id="309" r:id="rId49"/>
    <p:sldId id="315" r:id="rId50"/>
    <p:sldId id="310" r:id="rId51"/>
    <p:sldId id="316" r:id="rId52"/>
    <p:sldId id="317" r:id="rId53"/>
    <p:sldId id="318" r:id="rId54"/>
    <p:sldId id="319" r:id="rId55"/>
    <p:sldId id="311" r:id="rId56"/>
    <p:sldId id="325" r:id="rId57"/>
    <p:sldId id="266" r:id="rId58"/>
    <p:sldId id="326" r:id="rId59"/>
    <p:sldId id="327" r:id="rId60"/>
    <p:sldId id="328" r:id="rId61"/>
    <p:sldId id="329" r:id="rId62"/>
    <p:sldId id="330" r:id="rId63"/>
    <p:sldId id="331" r:id="rId64"/>
    <p:sldId id="332" r:id="rId65"/>
    <p:sldId id="333" r:id="rId66"/>
    <p:sldId id="320" r:id="rId67"/>
    <p:sldId id="334" r:id="rId68"/>
    <p:sldId id="321" r:id="rId69"/>
    <p:sldId id="335" r:id="rId70"/>
    <p:sldId id="336" r:id="rId71"/>
    <p:sldId id="337" r:id="rId72"/>
    <p:sldId id="338" r:id="rId73"/>
    <p:sldId id="339" r:id="rId74"/>
    <p:sldId id="340" r:id="rId75"/>
    <p:sldId id="341" r:id="rId76"/>
    <p:sldId id="342" r:id="rId77"/>
    <p:sldId id="323" r:id="rId78"/>
    <p:sldId id="343" r:id="rId79"/>
    <p:sldId id="344" r:id="rId80"/>
    <p:sldId id="324" r:id="rId81"/>
    <p:sldId id="353" r:id="rId82"/>
    <p:sldId id="345" r:id="rId83"/>
    <p:sldId id="354" r:id="rId84"/>
    <p:sldId id="355" r:id="rId85"/>
    <p:sldId id="346" r:id="rId86"/>
    <p:sldId id="356" r:id="rId87"/>
    <p:sldId id="357" r:id="rId88"/>
    <p:sldId id="358" r:id="rId89"/>
    <p:sldId id="359" r:id="rId90"/>
    <p:sldId id="360" r:id="rId91"/>
    <p:sldId id="361" r:id="rId92"/>
    <p:sldId id="362" r:id="rId93"/>
    <p:sldId id="348" r:id="rId94"/>
    <p:sldId id="349" r:id="rId95"/>
    <p:sldId id="363" r:id="rId96"/>
    <p:sldId id="364" r:id="rId97"/>
    <p:sldId id="365" r:id="rId98"/>
    <p:sldId id="366" r:id="rId99"/>
    <p:sldId id="350" r:id="rId100"/>
    <p:sldId id="367" r:id="rId101"/>
    <p:sldId id="368" r:id="rId102"/>
    <p:sldId id="369" r:id="rId103"/>
    <p:sldId id="351" r:id="rId104"/>
    <p:sldId id="375" r:id="rId105"/>
    <p:sldId id="376" r:id="rId106"/>
    <p:sldId id="352" r:id="rId107"/>
    <p:sldId id="377" r:id="rId108"/>
    <p:sldId id="378" r:id="rId109"/>
    <p:sldId id="370" r:id="rId110"/>
    <p:sldId id="379" r:id="rId111"/>
    <p:sldId id="380" r:id="rId112"/>
    <p:sldId id="381" r:id="rId113"/>
    <p:sldId id="382" r:id="rId114"/>
    <p:sldId id="383" r:id="rId115"/>
    <p:sldId id="384" r:id="rId116"/>
    <p:sldId id="385" r:id="rId11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97" autoAdjust="0"/>
    <p:restoredTop sz="74481" autoAdjust="0"/>
  </p:normalViewPr>
  <p:slideViewPr>
    <p:cSldViewPr>
      <p:cViewPr>
        <p:scale>
          <a:sx n="70" d="100"/>
          <a:sy n="70" d="100"/>
        </p:scale>
        <p:origin x="-3288" y="-7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4/27/2015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4/27/2015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slideshare.net/lykmrsnmndz/kinds-of-tour"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bodymindspiritjourneys.com/thailand-tour-sample-itinerary.html"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www.nrao.edu/greenbank/motorCoachMailer.pdf" TargetMode="External"/><Relationship Id="rId5" Type="http://schemas.openxmlformats.org/officeDocument/2006/relationships/hyperlink" Target="http://www.gobaguio.com/itinerary.html" TargetMode="External"/><Relationship Id="rId4" Type="http://schemas.openxmlformats.org/officeDocument/2006/relationships/hyperlink" Target="http://www.audleytravel.com/destinations/southeast-asia/cambodia/itinerary-ideas.aspx"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www.qantas.com.au/travel/airlines/special-travel-needs/global/en" TargetMode="External"/><Relationship Id="rId2" Type="http://schemas.openxmlformats.org/officeDocument/2006/relationships/slide" Target="../slides/slide25.xml"/><Relationship Id="rId1" Type="http://schemas.openxmlformats.org/officeDocument/2006/relationships/notesMaster" Target="../notesMasters/notesMaster1.xml"/><Relationship Id="rId5" Type="http://schemas.openxmlformats.org/officeDocument/2006/relationships/hyperlink" Target="http://www.friendshipcircle.org/blog/2012/04/04/7-travel-agencies-for-special-needs-travel/" TargetMode="External"/><Relationship Id="rId4" Type="http://schemas.openxmlformats.org/officeDocument/2006/relationships/hyperlink" Target="http://easyaccesstravel.com/"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four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a:buFont typeface="Arial" pitchFamily="34" charset="0"/>
              <a:buChar char="•"/>
            </a:pPr>
            <a:r>
              <a:rPr lang="en-US" baseline="0" dirty="0" smtClean="0"/>
              <a:t>What experience have you had with tours?</a:t>
            </a:r>
          </a:p>
          <a:p>
            <a:pPr>
              <a:buFont typeface="Arial" pitchFamily="34" charset="0"/>
              <a:buChar char="•"/>
            </a:pPr>
            <a:r>
              <a:rPr lang="en-US" baseline="0" dirty="0" smtClean="0"/>
              <a:t>Why is there a need to conduct pre-departure checks?</a:t>
            </a:r>
          </a:p>
          <a:p>
            <a:pPr>
              <a:buFont typeface="Arial" pitchFamily="34" charset="0"/>
              <a:buChar char="•"/>
            </a:pPr>
            <a:r>
              <a:rPr lang="en-US" baseline="0" dirty="0" smtClean="0"/>
              <a:t>Who might do these checks?</a:t>
            </a:r>
          </a:p>
          <a:p>
            <a:pPr>
              <a:buFont typeface="Arial" pitchFamily="34" charset="0"/>
              <a:buChar char="•"/>
            </a:pPr>
            <a:r>
              <a:rPr lang="en-US" baseline="0" dirty="0" smtClean="0"/>
              <a:t>What do you think is involved in undertaking these checks?</a:t>
            </a:r>
          </a:p>
          <a:p>
            <a:pPr>
              <a:buFont typeface="Arial" pitchFamily="34" charset="0"/>
              <a:buChar char="•"/>
            </a:pPr>
            <a:r>
              <a:rPr lang="en-US" baseline="0" dirty="0" smtClean="0"/>
              <a:t>Why are these checks important?</a:t>
            </a:r>
          </a:p>
          <a:p>
            <a:pPr>
              <a:buFont typeface="Arial" pitchFamily="34" charset="0"/>
              <a:buChar char="•"/>
            </a:pPr>
            <a:endParaRPr lang="en-US" baseline="0" dirty="0" smtClean="0"/>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provides a content for the unit with reference to the following points:</a:t>
            </a:r>
          </a:p>
          <a:p>
            <a:r>
              <a:rPr lang="en-AU" sz="1200" b="1" kern="1200" dirty="0" smtClean="0">
                <a:solidFill>
                  <a:schemeClr val="tx1"/>
                </a:solidFill>
                <a:ea typeface="+mn-ea"/>
                <a:cs typeface="+mn-cs"/>
              </a:rPr>
              <a:t>Durations</a:t>
            </a:r>
            <a:endParaRPr lang="en-AU" sz="1200" kern="1200" dirty="0" smtClean="0">
              <a:solidFill>
                <a:schemeClr val="tx1"/>
              </a:solidFill>
              <a:ea typeface="+mn-ea"/>
              <a:cs typeface="+mn-cs"/>
            </a:endParaRPr>
          </a:p>
          <a:p>
            <a:pPr>
              <a:buFont typeface="Arial" pitchFamily="34" charset="0"/>
              <a:buNone/>
            </a:pPr>
            <a:r>
              <a:rPr lang="en-AU" sz="1200" kern="1200" dirty="0" smtClean="0">
                <a:solidFill>
                  <a:schemeClr val="tx1"/>
                </a:solidFill>
                <a:ea typeface="+mn-ea"/>
                <a:cs typeface="+mn-cs"/>
              </a:rPr>
              <a:t>Duration of tours/trips may be:</a:t>
            </a:r>
          </a:p>
          <a:p>
            <a:pPr>
              <a:buFont typeface="Arial" pitchFamily="34" charset="0"/>
              <a:buChar char="•"/>
            </a:pPr>
            <a:r>
              <a:rPr lang="en-AU" sz="1200" kern="1200" dirty="0" smtClean="0">
                <a:solidFill>
                  <a:schemeClr val="tx1"/>
                </a:solidFill>
                <a:ea typeface="+mn-ea"/>
                <a:cs typeface="+mn-cs"/>
              </a:rPr>
              <a:t>Short tours – the duration of these will differ between providers and can vary from half-an-hour to half-a-day.</a:t>
            </a:r>
          </a:p>
          <a:p>
            <a:pPr lvl="1">
              <a:buFont typeface="Arial" pitchFamily="34" charset="0"/>
              <a:buChar char="•"/>
            </a:pPr>
            <a:r>
              <a:rPr lang="en-AU" sz="1200" kern="1200" dirty="0" smtClean="0">
                <a:solidFill>
                  <a:schemeClr val="tx1"/>
                </a:solidFill>
                <a:ea typeface="+mn-ea"/>
                <a:cs typeface="+mn-cs"/>
              </a:rPr>
              <a:t>These are sometimes referred to as ‘Excursions’.</a:t>
            </a:r>
          </a:p>
          <a:p>
            <a:pPr>
              <a:buFont typeface="Arial" pitchFamily="34" charset="0"/>
              <a:buChar char="•"/>
            </a:pPr>
            <a:r>
              <a:rPr lang="en-AU" sz="1200" kern="1200" dirty="0" smtClean="0">
                <a:solidFill>
                  <a:schemeClr val="tx1"/>
                </a:solidFill>
                <a:ea typeface="+mn-ea"/>
                <a:cs typeface="+mn-cs"/>
              </a:rPr>
              <a:t>Full-day tours – where the tour departs and returns same day and the tour duration is around 8 – 10 hours.</a:t>
            </a:r>
          </a:p>
          <a:p>
            <a:pPr lvl="1">
              <a:buFont typeface="Arial" pitchFamily="34" charset="0"/>
              <a:buChar char="•"/>
            </a:pPr>
            <a:r>
              <a:rPr lang="en-AU" sz="1200" kern="1200" dirty="0" smtClean="0">
                <a:solidFill>
                  <a:schemeClr val="tx1"/>
                </a:solidFill>
                <a:ea typeface="+mn-ea"/>
                <a:cs typeface="+mn-cs"/>
              </a:rPr>
              <a:t>These are also known as ‘Day Trips’.</a:t>
            </a:r>
          </a:p>
          <a:p>
            <a:pPr>
              <a:buFont typeface="Arial" pitchFamily="34" charset="0"/>
              <a:buChar char="•"/>
            </a:pPr>
            <a:r>
              <a:rPr lang="en-AU" sz="1200" kern="1200" dirty="0" smtClean="0">
                <a:solidFill>
                  <a:schemeClr val="tx1"/>
                </a:solidFill>
                <a:ea typeface="+mn-ea"/>
                <a:cs typeface="+mn-cs"/>
              </a:rPr>
              <a:t>Overnight tours – where the tour departs one day and returns the nest</a:t>
            </a:r>
          </a:p>
          <a:p>
            <a:pPr>
              <a:buFont typeface="Arial" pitchFamily="34" charset="0"/>
              <a:buChar char="•"/>
            </a:pPr>
            <a:r>
              <a:rPr lang="en-AU" sz="1200" kern="1200" dirty="0" smtClean="0">
                <a:solidFill>
                  <a:schemeClr val="tx1"/>
                </a:solidFill>
                <a:ea typeface="+mn-ea"/>
                <a:cs typeface="+mn-cs"/>
              </a:rPr>
              <a:t>Multi-day tours – where the tour party has more than one night away.</a:t>
            </a:r>
          </a:p>
          <a:p>
            <a:pPr lvl="1">
              <a:buFont typeface="Arial" pitchFamily="34" charset="0"/>
              <a:buChar char="•"/>
            </a:pPr>
            <a:r>
              <a:rPr lang="en-AU" sz="1200" kern="1200" dirty="0" smtClean="0">
                <a:solidFill>
                  <a:schemeClr val="tx1"/>
                </a:solidFill>
                <a:ea typeface="+mn-ea"/>
                <a:cs typeface="+mn-cs"/>
              </a:rPr>
              <a:t>Common lengths are between 2-days to 14-days.</a:t>
            </a:r>
          </a:p>
          <a:p>
            <a:pPr lvl="1">
              <a:buFont typeface="Arial" pitchFamily="34" charset="0"/>
              <a:buChar char="•"/>
            </a:pPr>
            <a:r>
              <a:rPr lang="en-AU" sz="1200" kern="1200" dirty="0" smtClean="0">
                <a:solidFill>
                  <a:schemeClr val="tx1"/>
                </a:solidFill>
                <a:ea typeface="+mn-ea"/>
                <a:cs typeface="+mn-cs"/>
              </a:rPr>
              <a:t>These are also known as ‘Extended’ tours.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providing context</a:t>
            </a:r>
            <a:r>
              <a:rPr lang="en-US" baseline="0" noProof="0" dirty="0" smtClean="0"/>
              <a:t> for the unit with reference to:</a:t>
            </a:r>
          </a:p>
          <a:p>
            <a:r>
              <a:rPr lang="en-AU" sz="1200" b="1" kern="1200" dirty="0" smtClean="0">
                <a:solidFill>
                  <a:schemeClr val="tx1"/>
                </a:solidFill>
                <a:ea typeface="+mn-ea"/>
                <a:cs typeface="+mn-cs"/>
              </a:rPr>
              <a:t>Classifications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Tours/trips may be:</a:t>
            </a:r>
          </a:p>
          <a:p>
            <a:pPr>
              <a:buFont typeface="Arial" pitchFamily="34" charset="0"/>
              <a:buChar char="•"/>
            </a:pPr>
            <a:r>
              <a:rPr lang="en-AU" sz="1200" kern="1200" dirty="0" smtClean="0">
                <a:solidFill>
                  <a:schemeClr val="tx1"/>
                </a:solidFill>
                <a:ea typeface="+mn-ea"/>
                <a:cs typeface="+mn-cs"/>
              </a:rPr>
              <a:t>General tours – these are the normal/standard tours advertised by the operator and available to general members of the public </a:t>
            </a:r>
          </a:p>
          <a:p>
            <a:pPr>
              <a:buFont typeface="Arial" pitchFamily="34" charset="0"/>
              <a:buChar char="•"/>
            </a:pPr>
            <a:r>
              <a:rPr lang="en-AU" sz="1200" kern="1200" dirty="0" smtClean="0">
                <a:solidFill>
                  <a:schemeClr val="tx1"/>
                </a:solidFill>
                <a:ea typeface="+mn-ea"/>
                <a:cs typeface="+mn-cs"/>
              </a:rPr>
              <a:t>Private tours – standard tours conducted for a private group of people such as a club, organisation or other cohort of prescribed people</a:t>
            </a:r>
          </a:p>
          <a:p>
            <a:pPr>
              <a:buFont typeface="Arial" pitchFamily="34" charset="0"/>
              <a:buChar char="•"/>
            </a:pPr>
            <a:r>
              <a:rPr lang="en-AU" sz="1200" kern="1200" dirty="0" smtClean="0">
                <a:solidFill>
                  <a:schemeClr val="tx1"/>
                </a:solidFill>
                <a:ea typeface="+mn-ea"/>
                <a:cs typeface="+mn-cs"/>
              </a:rPr>
              <a:t>Custom tours – tours which are tailored/customised to suit the specific needs of a client with certain/stated needs or requirements</a:t>
            </a:r>
          </a:p>
          <a:p>
            <a:pPr>
              <a:buFont typeface="Arial" pitchFamily="34" charset="0"/>
              <a:buChar char="•"/>
            </a:pPr>
            <a:r>
              <a:rPr lang="en-AU" sz="1200" kern="1200" dirty="0" smtClean="0">
                <a:solidFill>
                  <a:schemeClr val="tx1"/>
                </a:solidFill>
                <a:ea typeface="+mn-ea"/>
                <a:cs typeface="+mn-cs"/>
              </a:rPr>
              <a:t>Shore excursions – tours taken by those on a cruise while they are in port.</a:t>
            </a:r>
          </a:p>
          <a:p>
            <a:pPr lvl="1">
              <a:buFont typeface="Arial" pitchFamily="34" charset="0"/>
              <a:buChar char="•"/>
            </a:pPr>
            <a:r>
              <a:rPr lang="en-AU" sz="1200" kern="1200" dirty="0" smtClean="0">
                <a:solidFill>
                  <a:schemeClr val="tx1"/>
                </a:solidFill>
                <a:ea typeface="+mn-ea"/>
                <a:cs typeface="+mn-cs"/>
              </a:rPr>
              <a:t>Also known as ‘Port of Call’ tours.</a:t>
            </a:r>
          </a:p>
          <a:p>
            <a:pPr>
              <a:buFont typeface="Arial" pitchFamily="34" charset="0"/>
              <a:buNone/>
            </a:pPr>
            <a:endParaRPr lang="en-US"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providing context</a:t>
            </a:r>
            <a:r>
              <a:rPr lang="en-US" baseline="0" noProof="0" dirty="0" smtClean="0"/>
              <a:t> for the unit with reference to:</a:t>
            </a:r>
          </a:p>
          <a:p>
            <a:r>
              <a:rPr lang="en-AU" sz="1200" b="1" kern="1200" dirty="0" smtClean="0">
                <a:solidFill>
                  <a:schemeClr val="tx1"/>
                </a:solidFill>
                <a:ea typeface="+mn-ea"/>
                <a:cs typeface="+mn-cs"/>
              </a:rPr>
              <a:t>Purpose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tour/trip purpose/focus may be:</a:t>
            </a:r>
          </a:p>
          <a:p>
            <a:pPr>
              <a:buFont typeface="Arial" pitchFamily="34" charset="0"/>
              <a:buChar char="•"/>
            </a:pPr>
            <a:r>
              <a:rPr lang="en-AU" sz="1200" kern="1200" dirty="0" smtClean="0">
                <a:solidFill>
                  <a:schemeClr val="tx1"/>
                </a:solidFill>
                <a:ea typeface="+mn-ea"/>
                <a:cs typeface="+mn-cs"/>
              </a:rPr>
              <a:t>Sightseeing</a:t>
            </a:r>
          </a:p>
          <a:p>
            <a:pPr>
              <a:buFont typeface="Arial" pitchFamily="34" charset="0"/>
              <a:buChar char="•"/>
            </a:pPr>
            <a:r>
              <a:rPr lang="en-AU" sz="1200" kern="1200" dirty="0" smtClean="0">
                <a:solidFill>
                  <a:schemeClr val="tx1"/>
                </a:solidFill>
                <a:ea typeface="+mn-ea"/>
                <a:cs typeface="+mn-cs"/>
              </a:rPr>
              <a:t>Educational</a:t>
            </a:r>
          </a:p>
          <a:p>
            <a:pPr>
              <a:buFont typeface="Arial" pitchFamily="34" charset="0"/>
              <a:buChar char="•"/>
            </a:pPr>
            <a:r>
              <a:rPr lang="en-AU" sz="1200" kern="1200" dirty="0" smtClean="0">
                <a:solidFill>
                  <a:schemeClr val="tx1"/>
                </a:solidFill>
                <a:ea typeface="+mn-ea"/>
                <a:cs typeface="+mn-cs"/>
              </a:rPr>
              <a:t>Activity-focussed – such as walking, biking, white water rafting, any sports-related activity</a:t>
            </a:r>
          </a:p>
          <a:p>
            <a:pPr>
              <a:buFont typeface="Arial" pitchFamily="34" charset="0"/>
              <a:buChar char="•"/>
            </a:pPr>
            <a:r>
              <a:rPr lang="en-AU" sz="1200" kern="1200" dirty="0" smtClean="0">
                <a:solidFill>
                  <a:schemeClr val="tx1"/>
                </a:solidFill>
                <a:ea typeface="+mn-ea"/>
                <a:cs typeface="+mn-cs"/>
              </a:rPr>
              <a:t>Themed – such as:</a:t>
            </a:r>
          </a:p>
          <a:p>
            <a:pPr lvl="1">
              <a:buFont typeface="Arial" pitchFamily="34" charset="0"/>
              <a:buChar char="•"/>
            </a:pPr>
            <a:r>
              <a:rPr lang="en-US" sz="1200" kern="1200" dirty="0" smtClean="0">
                <a:solidFill>
                  <a:schemeClr val="tx1"/>
                </a:solidFill>
                <a:ea typeface="+mn-ea"/>
                <a:cs typeface="+mn-cs"/>
              </a:rPr>
              <a:t>Food, wine and nightlife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Cultural</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Historic and heritage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Shows and concerts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Sporting events.</a:t>
            </a: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r>
              <a:rPr lang="en-US" sz="1200" b="1" kern="1200" dirty="0" smtClean="0">
                <a:solidFill>
                  <a:schemeClr val="tx1"/>
                </a:solidFill>
                <a:ea typeface="+mn-ea"/>
                <a:cs typeface="+mn-cs"/>
              </a:rPr>
              <a:t>Classroom Activity – Internet Research</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smtClean="0"/>
              <a:t>Trainer supervises internet research on relevant websites for items identified above, such as: </a:t>
            </a:r>
          </a:p>
          <a:p>
            <a:r>
              <a:rPr lang="en-AU" sz="1200" kern="1200" dirty="0" smtClean="0">
                <a:solidFill>
                  <a:schemeClr val="tx1"/>
                </a:solidFill>
                <a:ea typeface="+mn-ea"/>
                <a:cs typeface="+mn-cs"/>
              </a:rPr>
              <a:t>‘Kinds of tour/types of tourism’ at </a:t>
            </a:r>
            <a:r>
              <a:rPr lang="en-AU" sz="1200" u="sng" kern="1200" dirty="0" smtClean="0">
                <a:solidFill>
                  <a:schemeClr val="tx1"/>
                </a:solidFill>
                <a:ea typeface="+mn-ea"/>
                <a:cs typeface="+mn-cs"/>
                <a:hlinkClick r:id="rId3"/>
              </a:rPr>
              <a:t>http://www.slideshare.net/lykmrsnmndz/kinds-of-tour</a:t>
            </a:r>
            <a:endParaRPr lang="en-US"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providing context</a:t>
            </a:r>
            <a:r>
              <a:rPr lang="en-US" baseline="0" noProof="0" dirty="0" smtClean="0"/>
              <a:t> for the unit with reference to:</a:t>
            </a: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dirty="0" smtClean="0">
                <a:solidFill>
                  <a:schemeClr val="tx1"/>
                </a:solidFill>
                <a:ea typeface="+mn-ea"/>
                <a:cs typeface="+mn-cs"/>
              </a:rPr>
              <a:t>Transportation</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Transportation for these tours/trips can be provided by any one of a multitude of options which can include but is not limited to:</a:t>
            </a:r>
          </a:p>
          <a:p>
            <a:pPr>
              <a:buFont typeface="Arial" pitchFamily="34" charset="0"/>
              <a:buChar char="•"/>
            </a:pPr>
            <a:r>
              <a:rPr lang="en-AU" sz="1200" kern="1200" dirty="0" smtClean="0">
                <a:solidFill>
                  <a:schemeClr val="tx1"/>
                </a:solidFill>
                <a:ea typeface="+mn-ea"/>
                <a:cs typeface="+mn-cs"/>
              </a:rPr>
              <a:t>Water – cruising, sailing, rafting</a:t>
            </a:r>
          </a:p>
          <a:p>
            <a:pPr>
              <a:buFont typeface="Arial" pitchFamily="34" charset="0"/>
              <a:buChar char="•"/>
            </a:pPr>
            <a:r>
              <a:rPr lang="en-AU" sz="1200" kern="1200" dirty="0" smtClean="0">
                <a:solidFill>
                  <a:schemeClr val="tx1"/>
                </a:solidFill>
                <a:ea typeface="+mn-ea"/>
                <a:cs typeface="+mn-cs"/>
              </a:rPr>
              <a:t>Air – aeroplane, ballooning, helicopter</a:t>
            </a:r>
          </a:p>
          <a:p>
            <a:pPr>
              <a:buFont typeface="Arial" pitchFamily="34" charset="0"/>
              <a:buChar char="•"/>
            </a:pPr>
            <a:r>
              <a:rPr lang="en-AU" sz="1200" kern="1200" dirty="0" smtClean="0">
                <a:solidFill>
                  <a:schemeClr val="tx1"/>
                </a:solidFill>
                <a:ea typeface="+mn-ea"/>
                <a:cs typeface="+mn-cs"/>
              </a:rPr>
              <a:t>Vehicle – coaches, 4WDs</a:t>
            </a:r>
          </a:p>
          <a:p>
            <a:pPr>
              <a:buFont typeface="Arial" pitchFamily="34" charset="0"/>
              <a:buChar char="•"/>
            </a:pPr>
            <a:r>
              <a:rPr lang="en-AU" sz="1200" kern="1200" dirty="0" smtClean="0">
                <a:solidFill>
                  <a:schemeClr val="tx1"/>
                </a:solidFill>
                <a:ea typeface="+mn-ea"/>
                <a:cs typeface="+mn-cs"/>
              </a:rPr>
              <a:t>Animals – horses, camels, elephants.</a:t>
            </a:r>
          </a:p>
          <a:p>
            <a:pPr>
              <a:buFont typeface="Arial" pitchFamily="34" charset="0"/>
              <a:buNone/>
            </a:pPr>
            <a:endParaRPr lang="en-US"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providing context</a:t>
            </a:r>
            <a:r>
              <a:rPr lang="en-US" baseline="0" noProof="0" dirty="0" smtClean="0"/>
              <a:t> for the unit with reference to:</a:t>
            </a:r>
          </a:p>
          <a:p>
            <a:r>
              <a:rPr lang="en-AU" sz="1200" b="1" kern="1200" dirty="0" smtClean="0">
                <a:solidFill>
                  <a:schemeClr val="tx1"/>
                </a:solidFill>
                <a:ea typeface="+mn-ea"/>
                <a:cs typeface="+mn-cs"/>
              </a:rPr>
              <a:t>Destination/s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trip/tour may be:</a:t>
            </a:r>
          </a:p>
          <a:p>
            <a:pPr>
              <a:buFont typeface="Arial" pitchFamily="34" charset="0"/>
              <a:buChar char="•"/>
            </a:pPr>
            <a:r>
              <a:rPr lang="en-AU" sz="1200" kern="1200" dirty="0" smtClean="0">
                <a:solidFill>
                  <a:schemeClr val="tx1"/>
                </a:solidFill>
                <a:ea typeface="+mn-ea"/>
                <a:cs typeface="+mn-cs"/>
              </a:rPr>
              <a:t>Local – staying in the area relatively close to where the tour departs</a:t>
            </a:r>
          </a:p>
          <a:p>
            <a:pPr>
              <a:buFont typeface="Arial" pitchFamily="34" charset="0"/>
              <a:buChar char="•"/>
            </a:pPr>
            <a:r>
              <a:rPr lang="en-AU" sz="1200" kern="1200" dirty="0" smtClean="0">
                <a:solidFill>
                  <a:schemeClr val="tx1"/>
                </a:solidFill>
                <a:ea typeface="+mn-ea"/>
                <a:cs typeface="+mn-cs"/>
              </a:rPr>
              <a:t>In-country – where the tour covers destinations within the country</a:t>
            </a:r>
          </a:p>
          <a:p>
            <a:pPr>
              <a:buFont typeface="Arial" pitchFamily="34" charset="0"/>
              <a:buChar char="•"/>
            </a:pPr>
            <a:r>
              <a:rPr lang="en-AU" sz="1200" kern="1200" dirty="0" smtClean="0">
                <a:solidFill>
                  <a:schemeClr val="tx1"/>
                </a:solidFill>
                <a:ea typeface="+mn-ea"/>
                <a:cs typeface="+mn-cs"/>
              </a:rPr>
              <a:t>International – where the tour/trip visits other countries.</a:t>
            </a:r>
          </a:p>
          <a:p>
            <a:pPr>
              <a:buFont typeface="Arial" pitchFamily="34" charset="0"/>
              <a:buNone/>
            </a:pPr>
            <a:endParaRPr lang="en-US"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pre</a:t>
            </a:r>
            <a:r>
              <a:rPr lang="en-AU" sz="1200" kern="1200" dirty="0" smtClean="0">
                <a:solidFill>
                  <a:schemeClr val="tx1"/>
                </a:solidFill>
                <a:ea typeface="+mn-ea"/>
                <a:cs typeface="+mn-cs"/>
              </a:rPr>
              <a:t>-departure checks are conducted to:</a:t>
            </a:r>
          </a:p>
          <a:p>
            <a:pPr>
              <a:buFont typeface="Arial" pitchFamily="34" charset="0"/>
              <a:buChar char="•"/>
            </a:pPr>
            <a:r>
              <a:rPr lang="en-AU" sz="1200" kern="1200" dirty="0" smtClean="0">
                <a:solidFill>
                  <a:schemeClr val="tx1"/>
                </a:solidFill>
                <a:ea typeface="+mn-ea"/>
                <a:cs typeface="+mn-cs"/>
              </a:rPr>
              <a:t>Ensure the tour runs smoothly</a:t>
            </a:r>
          </a:p>
          <a:p>
            <a:pPr>
              <a:buFont typeface="Arial" pitchFamily="34" charset="0"/>
              <a:buChar char="•"/>
            </a:pPr>
            <a:r>
              <a:rPr lang="en-AU" sz="1200" kern="1200" dirty="0" smtClean="0">
                <a:solidFill>
                  <a:schemeClr val="tx1"/>
                </a:solidFill>
                <a:ea typeface="+mn-ea"/>
                <a:cs typeface="+mn-cs"/>
              </a:rPr>
              <a:t>Meet customer expectations</a:t>
            </a:r>
          </a:p>
          <a:p>
            <a:pPr>
              <a:buFont typeface="Arial" pitchFamily="34" charset="0"/>
              <a:buChar char="•"/>
            </a:pPr>
            <a:r>
              <a:rPr lang="en-AU" sz="1200" kern="1200" dirty="0" smtClean="0">
                <a:solidFill>
                  <a:schemeClr val="tx1"/>
                </a:solidFill>
                <a:ea typeface="+mn-ea"/>
                <a:cs typeface="+mn-cs"/>
              </a:rPr>
              <a:t>Discharge Duty of Care and other legal obligations</a:t>
            </a:r>
          </a:p>
          <a:p>
            <a:pPr>
              <a:buFont typeface="Arial" pitchFamily="34" charset="0"/>
              <a:buChar char="•"/>
            </a:pPr>
            <a:r>
              <a:rPr lang="en-AU" sz="1200" kern="1200" dirty="0" smtClean="0">
                <a:solidFill>
                  <a:schemeClr val="tx1"/>
                </a:solidFill>
                <a:ea typeface="+mn-ea"/>
                <a:cs typeface="+mn-cs"/>
              </a:rPr>
              <a:t>Make sure all necessary items are loaded for the tour</a:t>
            </a:r>
          </a:p>
          <a:p>
            <a:pPr>
              <a:buFont typeface="Arial" pitchFamily="34" charset="0"/>
              <a:buChar char="•"/>
            </a:pPr>
            <a:r>
              <a:rPr lang="en-AU" sz="1200" kern="1200" dirty="0" smtClean="0">
                <a:solidFill>
                  <a:schemeClr val="tx1"/>
                </a:solidFill>
                <a:ea typeface="+mn-ea"/>
                <a:cs typeface="+mn-cs"/>
              </a:rPr>
              <a:t>Support tour guides and other tour staff.</a:t>
            </a:r>
          </a:p>
          <a:p>
            <a:pPr>
              <a:buFont typeface="Arial" pitchFamily="34" charset="0"/>
              <a:buNone/>
            </a:pPr>
            <a:endParaRPr lang="en-US" baseline="0" noProof="0" dirty="0" smtClean="0"/>
          </a:p>
          <a:p>
            <a:pPr>
              <a:buFont typeface="Arial" pitchFamily="34" charset="0"/>
              <a:buNone/>
            </a:pPr>
            <a:r>
              <a:rPr lang="en-US" b="1" baseline="0" noProof="0" dirty="0" smtClean="0"/>
              <a:t>Classroom Activity – Guest Speaker</a:t>
            </a:r>
          </a:p>
          <a:p>
            <a:pPr>
              <a:buFont typeface="Arial" pitchFamily="34" charset="0"/>
              <a:buNone/>
            </a:pPr>
            <a:r>
              <a:rPr lang="en-US" b="0" baseline="0" noProof="0" dirty="0" smtClean="0"/>
              <a:t>Trainer arranges for person with experience in conducting pre-departure checks for trips/tours (as described by the Competency Standard) and asks them to:</a:t>
            </a:r>
          </a:p>
          <a:p>
            <a:pPr>
              <a:buFont typeface="Arial" pitchFamily="34" charset="0"/>
              <a:buChar char="•"/>
            </a:pPr>
            <a:r>
              <a:rPr lang="en-US" b="0" baseline="0" noProof="0" dirty="0" smtClean="0"/>
              <a:t>Discuss their job</a:t>
            </a:r>
          </a:p>
          <a:p>
            <a:pPr>
              <a:buFont typeface="Arial" pitchFamily="34" charset="0"/>
              <a:buChar char="•"/>
            </a:pPr>
            <a:r>
              <a:rPr lang="en-US" b="0" baseline="0" noProof="0" dirty="0" smtClean="0"/>
              <a:t>Explain what they do</a:t>
            </a:r>
          </a:p>
          <a:p>
            <a:pPr>
              <a:buFont typeface="Arial" pitchFamily="34" charset="0"/>
              <a:buChar char="•"/>
            </a:pPr>
            <a:r>
              <a:rPr lang="en-US" b="0" baseline="0" noProof="0" dirty="0" smtClean="0"/>
              <a:t>Give tips and advice on the role</a:t>
            </a:r>
          </a:p>
          <a:p>
            <a:pPr>
              <a:buFont typeface="Arial" pitchFamily="34" charset="0"/>
              <a:buChar char="•"/>
            </a:pPr>
            <a:r>
              <a:rPr lang="en-US" b="0" baseline="0" noProof="0" dirty="0" smtClean="0"/>
              <a:t>Identify responsibilities associated with the work</a:t>
            </a:r>
          </a:p>
          <a:p>
            <a:pPr>
              <a:buFont typeface="Arial" pitchFamily="34" charset="0"/>
              <a:buChar char="•"/>
            </a:pPr>
            <a:r>
              <a:rPr lang="en-US" b="0" baseline="0" noProof="0" dirty="0" smtClean="0"/>
              <a:t>Explain communication and relationships with other staff in the organisation to enable job to be properly completed</a:t>
            </a:r>
          </a:p>
          <a:p>
            <a:pPr>
              <a:buFont typeface="Arial" pitchFamily="34" charset="0"/>
              <a:buChar char="•"/>
            </a:pPr>
            <a:r>
              <a:rPr lang="en-US" b="0" baseline="0" noProof="0" dirty="0" smtClean="0"/>
              <a:t>Identify and supply examples of documents used</a:t>
            </a:r>
          </a:p>
          <a:p>
            <a:pPr>
              <a:buFont typeface="Arial" pitchFamily="34" charset="0"/>
              <a:buChar char="•"/>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introduces</a:t>
            </a:r>
            <a:r>
              <a:rPr lang="en-US" baseline="0" noProof="0" dirty="0" smtClean="0"/>
              <a:t> ‘itinerary’ explaining it </a:t>
            </a:r>
            <a:r>
              <a:rPr lang="en-AU" sz="1200" kern="1200" dirty="0" smtClean="0">
                <a:solidFill>
                  <a:schemeClr val="tx1"/>
                </a:solidFill>
                <a:ea typeface="+mn-ea"/>
                <a:cs typeface="+mn-cs"/>
              </a:rPr>
              <a:t>is the plan for a trip or tour and an itinerary is commonly provided for every tour/trip (and all travel) sold and provided to the client/tour group member and may list:</a:t>
            </a:r>
          </a:p>
          <a:p>
            <a:pPr>
              <a:buFont typeface="Arial" pitchFamily="34" charset="0"/>
              <a:buChar char="•"/>
            </a:pPr>
            <a:r>
              <a:rPr lang="en-AU" sz="1200" kern="1200" dirty="0" smtClean="0">
                <a:solidFill>
                  <a:schemeClr val="tx1"/>
                </a:solidFill>
                <a:ea typeface="+mn-ea"/>
                <a:cs typeface="+mn-cs"/>
              </a:rPr>
              <a:t>Name and contact details of the organisation which has organised/sold the trip, tour or travel</a:t>
            </a:r>
          </a:p>
          <a:p>
            <a:pPr>
              <a:buFont typeface="Arial" pitchFamily="34" charset="0"/>
              <a:buChar char="•"/>
            </a:pPr>
            <a:r>
              <a:rPr lang="en-AU" sz="1200" kern="1200" dirty="0" smtClean="0">
                <a:solidFill>
                  <a:schemeClr val="tx1"/>
                </a:solidFill>
                <a:ea typeface="+mn-ea"/>
                <a:cs typeface="+mn-cs"/>
              </a:rPr>
              <a:t>Name of client</a:t>
            </a:r>
          </a:p>
          <a:p>
            <a:pPr>
              <a:buFont typeface="Arial" pitchFamily="34" charset="0"/>
              <a:buChar char="•"/>
            </a:pPr>
            <a:r>
              <a:rPr lang="en-AU" sz="1200" kern="1200" dirty="0" smtClean="0">
                <a:solidFill>
                  <a:schemeClr val="tx1"/>
                </a:solidFill>
                <a:ea typeface="+mn-ea"/>
                <a:cs typeface="+mn-cs"/>
              </a:rPr>
              <a:t>Dates and times – of travel (arrivals and departures) as well as trip time </a:t>
            </a:r>
          </a:p>
          <a:p>
            <a:pPr>
              <a:buFont typeface="Arial" pitchFamily="34" charset="0"/>
              <a:buChar char="•"/>
            </a:pPr>
            <a:r>
              <a:rPr lang="en-AU" sz="1200" kern="1200" dirty="0" smtClean="0">
                <a:solidFill>
                  <a:schemeClr val="tx1"/>
                </a:solidFill>
                <a:ea typeface="+mn-ea"/>
                <a:cs typeface="+mn-cs"/>
              </a:rPr>
              <a:t>Destinations, areas/regions, towns and venues/attractions to be visited</a:t>
            </a:r>
          </a:p>
          <a:p>
            <a:pPr>
              <a:buFont typeface="Arial" pitchFamily="34" charset="0"/>
              <a:buChar char="•"/>
            </a:pPr>
            <a:r>
              <a:rPr lang="en-AU" sz="1200" kern="1200" dirty="0" smtClean="0">
                <a:solidFill>
                  <a:schemeClr val="tx1"/>
                </a:solidFill>
                <a:ea typeface="+mn-ea"/>
                <a:cs typeface="+mn-cs"/>
              </a:rPr>
              <a:t>Activities and inclusions</a:t>
            </a:r>
          </a:p>
          <a:p>
            <a:pPr>
              <a:buFont typeface="Arial" pitchFamily="34" charset="0"/>
              <a:buChar char="•"/>
            </a:pPr>
            <a:r>
              <a:rPr lang="en-AU" sz="1200" kern="1200" dirty="0" smtClean="0">
                <a:solidFill>
                  <a:schemeClr val="tx1"/>
                </a:solidFill>
                <a:ea typeface="+mn-ea"/>
                <a:cs typeface="+mn-cs"/>
              </a:rPr>
              <a:t>Modes of travel</a:t>
            </a:r>
          </a:p>
          <a:p>
            <a:pPr>
              <a:buFont typeface="Arial" pitchFamily="34" charset="0"/>
              <a:buChar char="•"/>
            </a:pPr>
            <a:r>
              <a:rPr lang="en-AU" sz="1200" kern="1200" dirty="0" smtClean="0">
                <a:solidFill>
                  <a:schemeClr val="tx1"/>
                </a:solidFill>
                <a:ea typeface="+mn-ea"/>
                <a:cs typeface="+mn-cs"/>
              </a:rPr>
              <a:t>Transportation details – such as type of vehicle used, name of vessel, flight number</a:t>
            </a:r>
          </a:p>
          <a:p>
            <a:pPr>
              <a:buFont typeface="Arial" pitchFamily="34" charset="0"/>
              <a:buChar char="•"/>
            </a:pPr>
            <a:r>
              <a:rPr lang="en-AU" sz="1200" kern="1200" dirty="0" smtClean="0">
                <a:solidFill>
                  <a:schemeClr val="tx1"/>
                </a:solidFill>
                <a:ea typeface="+mn-ea"/>
                <a:cs typeface="+mn-cs"/>
              </a:rPr>
              <a:t>Accommodation arrangements – name of facility (hotel room or camping), dates</a:t>
            </a:r>
          </a:p>
          <a:p>
            <a:pPr>
              <a:buFont typeface="Arial" pitchFamily="34" charset="0"/>
              <a:buChar char="•"/>
            </a:pPr>
            <a:r>
              <a:rPr lang="en-AU" sz="1200" kern="1200" dirty="0" smtClean="0">
                <a:solidFill>
                  <a:schemeClr val="tx1"/>
                </a:solidFill>
                <a:ea typeface="+mn-ea"/>
                <a:cs typeface="+mn-cs"/>
              </a:rPr>
              <a:t>Terms and conditions – for carriers, accommodation and other service providers</a:t>
            </a:r>
          </a:p>
          <a:p>
            <a:pPr>
              <a:buFont typeface="Arial" pitchFamily="34" charset="0"/>
              <a:buChar char="•"/>
            </a:pPr>
            <a:r>
              <a:rPr lang="en-AU" sz="1200" kern="1200" dirty="0" smtClean="0">
                <a:solidFill>
                  <a:schemeClr val="tx1"/>
                </a:solidFill>
                <a:ea typeface="+mn-ea"/>
                <a:cs typeface="+mn-cs"/>
              </a:rPr>
              <a:t>Specific requirements relating to the travel/destinations – such as:</a:t>
            </a:r>
          </a:p>
          <a:p>
            <a:pPr lvl="1">
              <a:buFont typeface="Arial" pitchFamily="34" charset="0"/>
              <a:buChar char="•"/>
            </a:pPr>
            <a:r>
              <a:rPr lang="en-US" sz="1200" kern="1200" dirty="0" smtClean="0">
                <a:solidFill>
                  <a:schemeClr val="tx1"/>
                </a:solidFill>
                <a:ea typeface="+mn-ea"/>
                <a:cs typeface="+mn-cs"/>
              </a:rPr>
              <a:t>Visa requirements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Health issues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Time to arrive prior to departure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Customs and immigration requirements.</a:t>
            </a:r>
            <a:endParaRPr lang="en-AU" sz="1200" kern="1200" dirty="0" smtClean="0">
              <a:solidFill>
                <a:schemeClr val="tx1"/>
              </a:solidFill>
              <a:ea typeface="+mn-ea"/>
              <a:cs typeface="+mn-cs"/>
            </a:endParaRPr>
          </a:p>
          <a:p>
            <a:pPr>
              <a:buFont typeface="Arial" pitchFamily="34" charset="0"/>
              <a:buNone/>
            </a:pPr>
            <a:endParaRPr lang="en-US" baseline="0" noProof="0" dirty="0" smtClean="0"/>
          </a:p>
          <a:p>
            <a:pPr>
              <a:buFont typeface="Arial" pitchFamily="34" charset="0"/>
              <a:buNone/>
            </a:pPr>
            <a:r>
              <a:rPr lang="en-US" b="1" baseline="0" noProof="0" dirty="0" smtClean="0"/>
              <a:t>Classroom Activity – Handouts</a:t>
            </a:r>
          </a:p>
          <a:p>
            <a:pPr>
              <a:buFont typeface="Arial" pitchFamily="34" charset="0"/>
              <a:buNone/>
            </a:pPr>
            <a:r>
              <a:rPr lang="en-US" b="0" baseline="0" noProof="0" dirty="0" smtClean="0"/>
              <a:t>Trainer distributes and discusses sample itineraries.</a:t>
            </a:r>
          </a:p>
          <a:p>
            <a:pPr>
              <a:buFont typeface="Arial" pitchFamily="34" charset="0"/>
              <a:buNone/>
            </a:pPr>
            <a:endParaRPr lang="en-US" b="0" baseline="0" noProof="0" dirty="0" smtClean="0"/>
          </a:p>
          <a:p>
            <a:pPr>
              <a:buFont typeface="Arial" pitchFamily="34" charset="0"/>
              <a:buNone/>
            </a:pPr>
            <a:endParaRPr lang="en-US" b="1"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a:t>
            </a:r>
            <a:r>
              <a:rPr lang="en-AU" sz="1200" kern="1200" dirty="0" smtClean="0">
                <a:solidFill>
                  <a:schemeClr val="tx1"/>
                </a:solidFill>
                <a:ea typeface="+mn-ea"/>
                <a:cs typeface="+mn-cs"/>
              </a:rPr>
              <a:t>ways to obtain the itinerary are:</a:t>
            </a:r>
          </a:p>
          <a:p>
            <a:pPr>
              <a:buFont typeface="Arial" pitchFamily="34" charset="0"/>
              <a:buChar char="•"/>
            </a:pPr>
            <a:r>
              <a:rPr lang="en-AU" sz="1200" kern="1200" dirty="0" smtClean="0">
                <a:solidFill>
                  <a:schemeClr val="tx1"/>
                </a:solidFill>
                <a:ea typeface="+mn-ea"/>
                <a:cs typeface="+mn-cs"/>
              </a:rPr>
              <a:t>Speak to management – who will advise what is happening/required</a:t>
            </a:r>
          </a:p>
          <a:p>
            <a:pPr>
              <a:buFont typeface="Arial" pitchFamily="34" charset="0"/>
              <a:buChar char="•"/>
            </a:pPr>
            <a:r>
              <a:rPr lang="en-AU" sz="1200" kern="1200" dirty="0" smtClean="0">
                <a:solidFill>
                  <a:schemeClr val="tx1"/>
                </a:solidFill>
                <a:ea typeface="+mn-ea"/>
                <a:cs typeface="+mn-cs"/>
              </a:rPr>
              <a:t>Refer to standard trip details – where the trip is a normal tour</a:t>
            </a:r>
          </a:p>
          <a:p>
            <a:pPr>
              <a:buFont typeface="Arial" pitchFamily="34" charset="0"/>
              <a:buChar char="•"/>
            </a:pPr>
            <a:r>
              <a:rPr lang="en-AU" sz="1200" kern="1200" dirty="0" smtClean="0">
                <a:solidFill>
                  <a:schemeClr val="tx1"/>
                </a:solidFill>
                <a:ea typeface="+mn-ea"/>
                <a:cs typeface="+mn-cs"/>
              </a:rPr>
              <a:t>Look at the client file – where the tour is customised or is a private trip</a:t>
            </a:r>
          </a:p>
          <a:p>
            <a:pPr>
              <a:buFont typeface="Arial" pitchFamily="34" charset="0"/>
              <a:buChar char="•"/>
            </a:pPr>
            <a:r>
              <a:rPr lang="en-AU" sz="1200" kern="1200" dirty="0" smtClean="0">
                <a:solidFill>
                  <a:schemeClr val="tx1"/>
                </a:solidFill>
                <a:ea typeface="+mn-ea"/>
                <a:cs typeface="+mn-cs"/>
              </a:rPr>
              <a:t>Talk to other staff – this involves speaking with employees who have worked on/with previous similar trips/tours.</a:t>
            </a:r>
          </a:p>
          <a:p>
            <a:pPr>
              <a:buFont typeface="Arial" pitchFamily="34" charset="0"/>
              <a:buNone/>
            </a:pPr>
            <a:endParaRPr lang="en-US" baseline="0" noProof="0" dirty="0" smtClean="0"/>
          </a:p>
          <a:p>
            <a:r>
              <a:rPr lang="en-US" sz="1200" b="1" kern="1200" dirty="0" smtClean="0">
                <a:solidFill>
                  <a:schemeClr val="tx1"/>
                </a:solidFill>
                <a:ea typeface="+mn-ea"/>
                <a:cs typeface="+mn-cs"/>
              </a:rPr>
              <a:t>Classroom Activity – Internet Research</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smtClean="0"/>
              <a:t>Trainer supervises internet research on relevant websites for items identified above, such as: </a:t>
            </a:r>
          </a:p>
          <a:p>
            <a:pPr>
              <a:buFont typeface="Arial" pitchFamily="34" charset="0"/>
              <a:buChar char="•"/>
            </a:pPr>
            <a:r>
              <a:rPr lang="en-US" sz="1200" u="sng" kern="1200" dirty="0" smtClean="0">
                <a:solidFill>
                  <a:schemeClr val="tx1"/>
                </a:solidFill>
                <a:ea typeface="+mn-ea"/>
                <a:cs typeface="+mn-cs"/>
                <a:hlinkClick r:id="rId3"/>
              </a:rPr>
              <a:t>http://bodymindspiritjourneys.com/thailand-tour-sample-itinerary.html</a:t>
            </a:r>
            <a:r>
              <a:rPr lang="en-US" sz="1200" kern="1200" dirty="0" smtClean="0">
                <a:solidFill>
                  <a:schemeClr val="tx1"/>
                </a:solidFill>
                <a:ea typeface="+mn-ea"/>
                <a:cs typeface="+mn-cs"/>
              </a:rPr>
              <a:t> </a:t>
            </a:r>
            <a:endParaRPr lang="en-AU" sz="1200" kern="1200" dirty="0" smtClean="0">
              <a:solidFill>
                <a:schemeClr val="tx1"/>
              </a:solidFill>
              <a:ea typeface="+mn-ea"/>
              <a:cs typeface="+mn-cs"/>
            </a:endParaRPr>
          </a:p>
          <a:p>
            <a:pPr>
              <a:buFont typeface="Arial" pitchFamily="34" charset="0"/>
              <a:buChar char="•"/>
            </a:pPr>
            <a:r>
              <a:rPr lang="en-US" sz="1200" u="sng" kern="1200" dirty="0" smtClean="0">
                <a:solidFill>
                  <a:schemeClr val="tx1"/>
                </a:solidFill>
                <a:ea typeface="+mn-ea"/>
                <a:cs typeface="+mn-cs"/>
                <a:hlinkClick r:id="rId4"/>
              </a:rPr>
              <a:t>http://www.audleytravel.com/destinations/southeast-asia/cambodia/itinerary-ideas.aspx</a:t>
            </a:r>
            <a:endParaRPr lang="en-AU" sz="1200" kern="1200" dirty="0" smtClean="0">
              <a:solidFill>
                <a:schemeClr val="tx1"/>
              </a:solidFill>
              <a:ea typeface="+mn-ea"/>
              <a:cs typeface="+mn-cs"/>
            </a:endParaRPr>
          </a:p>
          <a:p>
            <a:pPr>
              <a:buFont typeface="Arial" pitchFamily="34" charset="0"/>
              <a:buChar char="•"/>
            </a:pPr>
            <a:r>
              <a:rPr lang="en-US" sz="1200" u="sng" kern="1200" dirty="0" smtClean="0">
                <a:solidFill>
                  <a:schemeClr val="tx1"/>
                </a:solidFill>
                <a:ea typeface="+mn-ea"/>
                <a:cs typeface="+mn-cs"/>
                <a:hlinkClick r:id="rId5"/>
              </a:rPr>
              <a:t>http://www.gobaguio.com/itinerary.html#.VAO39aOaKho</a:t>
            </a:r>
            <a:r>
              <a:rPr lang="en-US" sz="1200" kern="1200" dirty="0" smtClean="0">
                <a:solidFill>
                  <a:schemeClr val="tx1"/>
                </a:solidFill>
                <a:ea typeface="+mn-ea"/>
                <a:cs typeface="+mn-cs"/>
              </a:rPr>
              <a:t> </a:t>
            </a:r>
            <a:endParaRPr lang="en-AU" sz="1200" kern="1200" dirty="0" smtClean="0">
              <a:solidFill>
                <a:schemeClr val="tx1"/>
              </a:solidFill>
              <a:ea typeface="+mn-ea"/>
              <a:cs typeface="+mn-cs"/>
            </a:endParaRPr>
          </a:p>
          <a:p>
            <a:pPr>
              <a:buFont typeface="Arial" pitchFamily="34" charset="0"/>
              <a:buChar char="•"/>
            </a:pPr>
            <a:r>
              <a:rPr lang="en-US" sz="1200" u="sng" kern="1200" dirty="0" smtClean="0">
                <a:solidFill>
                  <a:schemeClr val="tx1"/>
                </a:solidFill>
                <a:ea typeface="+mn-ea"/>
                <a:cs typeface="+mn-cs"/>
                <a:hlinkClick r:id="rId6"/>
              </a:rPr>
              <a:t>https://www.nrao.edu/greenbank/motorCoachMailer.pdf</a:t>
            </a:r>
            <a:endParaRPr lang="en-AU" sz="1200" kern="1200" dirty="0" smtClean="0">
              <a:solidFill>
                <a:schemeClr val="tx1"/>
              </a:solidFill>
              <a:ea typeface="+mn-ea"/>
              <a:cs typeface="+mn-cs"/>
            </a:endParaRPr>
          </a:p>
          <a:p>
            <a:pPr>
              <a:buFont typeface="Arial" pitchFamily="34" charset="0"/>
              <a:buNone/>
            </a:pPr>
            <a:endParaRPr lang="en-US"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noProof="0" dirty="0" smtClean="0"/>
              <a:t>Trainer observes there is a need </a:t>
            </a:r>
            <a:r>
              <a:rPr lang="en-AU" sz="1200" kern="1200" dirty="0" smtClean="0">
                <a:solidFill>
                  <a:schemeClr val="tx1"/>
                </a:solidFill>
                <a:ea typeface="+mn-ea"/>
                <a:cs typeface="+mn-cs"/>
              </a:rPr>
              <a:t>to obtain a </a:t>
            </a:r>
            <a:r>
              <a:rPr lang="en-AU" sz="1200" b="1" kern="1200" dirty="0" smtClean="0">
                <a:solidFill>
                  <a:schemeClr val="tx1"/>
                </a:solidFill>
                <a:ea typeface="+mn-ea"/>
                <a:cs typeface="+mn-cs"/>
              </a:rPr>
              <a:t>hard copy</a:t>
            </a:r>
            <a:r>
              <a:rPr lang="en-AU" sz="1200" kern="1200" dirty="0" smtClean="0">
                <a:solidFill>
                  <a:schemeClr val="tx1"/>
                </a:solidFill>
                <a:ea typeface="+mn-ea"/>
                <a:cs typeface="+mn-cs"/>
              </a:rPr>
              <a:t> to serve as a basis for:</a:t>
            </a:r>
          </a:p>
          <a:p>
            <a:pPr>
              <a:buFont typeface="Arial" pitchFamily="34" charset="0"/>
              <a:buChar char="•"/>
            </a:pPr>
            <a:r>
              <a:rPr lang="en-AU" sz="1200" kern="1200" dirty="0" smtClean="0">
                <a:solidFill>
                  <a:schemeClr val="tx1"/>
                </a:solidFill>
                <a:ea typeface="+mn-ea"/>
                <a:cs typeface="+mn-cs"/>
              </a:rPr>
              <a:t>Identifying the itinerary – that is, being able to identify the details of the trip/tour (as identified above) which gives a </a:t>
            </a:r>
            <a:r>
              <a:rPr lang="en-AU" sz="1200" b="1" kern="1200" dirty="0" smtClean="0">
                <a:solidFill>
                  <a:schemeClr val="tx1"/>
                </a:solidFill>
                <a:ea typeface="+mn-ea"/>
                <a:cs typeface="+mn-cs"/>
              </a:rPr>
              <a:t>general feel</a:t>
            </a:r>
            <a:r>
              <a:rPr lang="en-AU" sz="1200" kern="1200" dirty="0" smtClean="0">
                <a:solidFill>
                  <a:schemeClr val="tx1"/>
                </a:solidFill>
                <a:ea typeface="+mn-ea"/>
                <a:cs typeface="+mn-cs"/>
              </a:rPr>
              <a:t> for and understanding of what will be necessary for the trip/tour</a:t>
            </a:r>
          </a:p>
          <a:p>
            <a:pPr>
              <a:buFont typeface="Arial" pitchFamily="34" charset="0"/>
              <a:buChar char="•"/>
            </a:pPr>
            <a:r>
              <a:rPr lang="en-AU" sz="1200" kern="1200" dirty="0" smtClean="0">
                <a:solidFill>
                  <a:schemeClr val="tx1"/>
                </a:solidFill>
                <a:ea typeface="+mn-ea"/>
                <a:cs typeface="+mn-cs"/>
              </a:rPr>
              <a:t>Establishing </a:t>
            </a:r>
            <a:r>
              <a:rPr lang="en-AU" sz="1200" b="1" kern="1200" dirty="0" smtClean="0">
                <a:solidFill>
                  <a:schemeClr val="tx1"/>
                </a:solidFill>
                <a:ea typeface="+mn-ea"/>
                <a:cs typeface="+mn-cs"/>
              </a:rPr>
              <a:t>specific nature</a:t>
            </a:r>
            <a:r>
              <a:rPr lang="en-AU" sz="1200" kern="1200" dirty="0" smtClean="0">
                <a:solidFill>
                  <a:schemeClr val="tx1"/>
                </a:solidFill>
                <a:ea typeface="+mn-ea"/>
                <a:cs typeface="+mn-cs"/>
              </a:rPr>
              <a:t> and purpose of the tour – these will/can vary between tours depending on:</a:t>
            </a:r>
          </a:p>
          <a:p>
            <a:pPr lvl="1">
              <a:buFont typeface="Arial" pitchFamily="34" charset="0"/>
              <a:buChar char="•"/>
            </a:pPr>
            <a:r>
              <a:rPr lang="en-US" sz="1200" kern="1200" dirty="0" smtClean="0">
                <a:solidFill>
                  <a:schemeClr val="tx1"/>
                </a:solidFill>
                <a:ea typeface="+mn-ea"/>
                <a:cs typeface="+mn-cs"/>
              </a:rPr>
              <a:t>Client/tour group party and their individual or special requests/needs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Title/name of the trip/tour</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Identifying duration of the trip/tour – this is a key and relates to:</a:t>
            </a:r>
          </a:p>
          <a:p>
            <a:pPr lvl="1">
              <a:buFont typeface="Arial" pitchFamily="34" charset="0"/>
              <a:buChar char="•"/>
            </a:pPr>
            <a:r>
              <a:rPr lang="en-US" sz="1200" kern="1200" dirty="0" smtClean="0">
                <a:solidFill>
                  <a:schemeClr val="tx1"/>
                </a:solidFill>
                <a:ea typeface="+mn-ea"/>
                <a:cs typeface="+mn-cs"/>
              </a:rPr>
              <a:t>Departure and arrival dates – these are the dates the tour leaves the office/agency, and arrives either at destinations or back at the office/agency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Days and nights away – nights away is always one less than days away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Any specific timing considerations – such as the non-negotiable need for the tour group to be at a location at a specified time. These considerations are important to ensure the tour integrates with other activities or events, such as the need for the tour party to:</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Be at a sporting pavilion in time for the game to start; Be present at feeding time for the animals; Be seated for meals at a hotel/external provider; Arrive at an accommodation venue.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Identifying potential support services and suppliers involved in the trip/tour – including other business/organisations (third party providers) who will share in providing a range of goods and services, such as:</a:t>
            </a:r>
          </a:p>
          <a:p>
            <a:pPr lvl="1">
              <a:buFont typeface="Arial" pitchFamily="34" charset="0"/>
              <a:buChar char="•"/>
            </a:pPr>
            <a:r>
              <a:rPr lang="en-US" sz="1200" kern="1200" dirty="0" smtClean="0">
                <a:solidFill>
                  <a:schemeClr val="tx1"/>
                </a:solidFill>
                <a:ea typeface="+mn-ea"/>
                <a:cs typeface="+mn-cs"/>
              </a:rPr>
              <a:t>Meals – food and beverages; Ancillary transport and activities; Accommodation; Equipment and supplies. </a:t>
            </a:r>
            <a:endParaRPr lang="en-AU" sz="1200" kern="1200" dirty="0" smtClean="0">
              <a:solidFill>
                <a:schemeClr val="tx1"/>
              </a:solidFill>
              <a:ea typeface="+mn-ea"/>
              <a:cs typeface="+mn-cs"/>
            </a:endParaRPr>
          </a:p>
          <a:p>
            <a:pPr>
              <a:buFont typeface="Arial" pitchFamily="34" charset="0"/>
              <a:buNone/>
            </a:pPr>
            <a:endParaRPr lang="en-US"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a:t>
            </a:r>
            <a:r>
              <a:rPr lang="en-AU" sz="1200" kern="1200" dirty="0" smtClean="0">
                <a:solidFill>
                  <a:schemeClr val="tx1"/>
                </a:solidFill>
                <a:ea typeface="+mn-ea"/>
                <a:cs typeface="+mn-cs"/>
              </a:rPr>
              <a:t>people on tours may be referred to by a range of names and operators have their own preferences with options including:</a:t>
            </a:r>
          </a:p>
          <a:p>
            <a:pPr>
              <a:buFont typeface="Arial" pitchFamily="34" charset="0"/>
              <a:buChar char="•"/>
            </a:pPr>
            <a:r>
              <a:rPr lang="en-AU" sz="1200" kern="1200" dirty="0" smtClean="0">
                <a:solidFill>
                  <a:schemeClr val="tx1"/>
                </a:solidFill>
                <a:ea typeface="+mn-ea"/>
                <a:cs typeface="+mn-cs"/>
              </a:rPr>
              <a:t>Customers</a:t>
            </a:r>
          </a:p>
          <a:p>
            <a:pPr>
              <a:buFont typeface="Arial" pitchFamily="34" charset="0"/>
              <a:buChar char="•"/>
            </a:pPr>
            <a:r>
              <a:rPr lang="en-AU" sz="1200" kern="1200" dirty="0" smtClean="0">
                <a:solidFill>
                  <a:schemeClr val="tx1"/>
                </a:solidFill>
                <a:ea typeface="+mn-ea"/>
                <a:cs typeface="+mn-cs"/>
              </a:rPr>
              <a:t>Clients</a:t>
            </a:r>
          </a:p>
          <a:p>
            <a:pPr>
              <a:buFont typeface="Arial" pitchFamily="34" charset="0"/>
              <a:buChar char="•"/>
            </a:pPr>
            <a:r>
              <a:rPr lang="en-AU" sz="1200" kern="1200" dirty="0" smtClean="0">
                <a:solidFill>
                  <a:schemeClr val="tx1"/>
                </a:solidFill>
                <a:ea typeface="+mn-ea"/>
                <a:cs typeface="+mn-cs"/>
              </a:rPr>
              <a:t>Guests</a:t>
            </a:r>
          </a:p>
          <a:p>
            <a:pPr>
              <a:buFont typeface="Arial" pitchFamily="34" charset="0"/>
              <a:buChar char="•"/>
            </a:pPr>
            <a:r>
              <a:rPr lang="en-AU" sz="1200" kern="1200" dirty="0" smtClean="0">
                <a:solidFill>
                  <a:schemeClr val="tx1"/>
                </a:solidFill>
                <a:ea typeface="+mn-ea"/>
                <a:cs typeface="+mn-cs"/>
              </a:rPr>
              <a:t>Pax</a:t>
            </a:r>
          </a:p>
          <a:p>
            <a:pPr>
              <a:buFont typeface="Arial" pitchFamily="34" charset="0"/>
              <a:buChar char="•"/>
            </a:pPr>
            <a:r>
              <a:rPr lang="en-AU" sz="1200" kern="1200" dirty="0" smtClean="0">
                <a:solidFill>
                  <a:schemeClr val="tx1"/>
                </a:solidFill>
                <a:ea typeface="+mn-ea"/>
                <a:cs typeface="+mn-cs"/>
              </a:rPr>
              <a:t>Tour group members</a:t>
            </a:r>
          </a:p>
          <a:p>
            <a:pPr>
              <a:buFont typeface="Arial" pitchFamily="34" charset="0"/>
              <a:buChar char="•"/>
            </a:pPr>
            <a:r>
              <a:rPr lang="en-AU" sz="1200" kern="1200" dirty="0" smtClean="0">
                <a:solidFill>
                  <a:schemeClr val="tx1"/>
                </a:solidFill>
                <a:ea typeface="+mn-ea"/>
                <a:cs typeface="+mn-cs"/>
              </a:rPr>
              <a:t>Tour party.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instructs </a:t>
            </a:r>
            <a:r>
              <a:rPr lang="en-AU" sz="1200" kern="1200" dirty="0" smtClean="0">
                <a:solidFill>
                  <a:schemeClr val="tx1"/>
                </a:solidFill>
                <a:ea typeface="+mn-ea"/>
                <a:cs typeface="+mn-cs"/>
              </a:rPr>
              <a:t>tour group numbers can be identified by:</a:t>
            </a:r>
          </a:p>
          <a:p>
            <a:pPr lvl="0">
              <a:buFont typeface="Arial" pitchFamily="34" charset="0"/>
              <a:buChar char="•"/>
            </a:pPr>
            <a:r>
              <a:rPr lang="en-AU" sz="1200" kern="1200" dirty="0" smtClean="0">
                <a:solidFill>
                  <a:schemeClr val="tx1"/>
                </a:solidFill>
                <a:ea typeface="+mn-ea"/>
                <a:cs typeface="+mn-cs"/>
              </a:rPr>
              <a:t>Counting tickets/places sold – this is the most common method for all tours. This is commonly done by:</a:t>
            </a:r>
          </a:p>
          <a:p>
            <a:pPr lvl="1">
              <a:buFont typeface="Arial" pitchFamily="34" charset="0"/>
              <a:buChar char="•"/>
            </a:pPr>
            <a:r>
              <a:rPr lang="en-US" sz="1200" kern="1200" dirty="0" smtClean="0">
                <a:solidFill>
                  <a:schemeClr val="tx1"/>
                </a:solidFill>
                <a:ea typeface="+mn-ea"/>
                <a:cs typeface="+mn-cs"/>
              </a:rPr>
              <a:t>Counting ticket stubs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Counting duplicate tickets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Referring to a database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Talking to sales staff</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Checking the client file – for private and custom tours</a:t>
            </a:r>
          </a:p>
          <a:p>
            <a:pPr>
              <a:buFont typeface="Arial" pitchFamily="34" charset="0"/>
              <a:buChar char="•"/>
            </a:pPr>
            <a:r>
              <a:rPr lang="en-AU" sz="1200" kern="1200" dirty="0" smtClean="0">
                <a:solidFill>
                  <a:schemeClr val="tx1"/>
                </a:solidFill>
                <a:ea typeface="+mn-ea"/>
                <a:cs typeface="+mn-cs"/>
              </a:rPr>
              <a:t>Speaking with management – to get input they may have received from clients and/or joint venture operators</a:t>
            </a:r>
          </a:p>
          <a:p>
            <a:pPr>
              <a:buFont typeface="Arial" pitchFamily="34" charset="0"/>
              <a:buChar char="•"/>
            </a:pPr>
            <a:r>
              <a:rPr lang="en-AU" sz="1200" kern="1200" dirty="0" smtClean="0">
                <a:solidFill>
                  <a:schemeClr val="tx1"/>
                </a:solidFill>
                <a:ea typeface="+mn-ea"/>
                <a:cs typeface="+mn-cs"/>
              </a:rPr>
              <a:t>Talking to Tour and counter staff – who may provide information to assist in relation to:</a:t>
            </a:r>
          </a:p>
          <a:p>
            <a:pPr lvl="1">
              <a:buFont typeface="Arial" pitchFamily="34" charset="0"/>
              <a:buChar char="•"/>
            </a:pPr>
            <a:r>
              <a:rPr lang="en-US" sz="1200" kern="1200" dirty="0" smtClean="0">
                <a:solidFill>
                  <a:schemeClr val="tx1"/>
                </a:solidFill>
                <a:ea typeface="+mn-ea"/>
                <a:cs typeface="+mn-cs"/>
              </a:rPr>
              <a:t>Numbers normally experienced on similar tours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Personal knowledge regarding the individual up-coming trip based on feedback from participants and/or comments which they have overheard.</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noProof="0" dirty="0" smtClean="0"/>
              <a:t>Trainer states</a:t>
            </a:r>
            <a:r>
              <a:rPr lang="en-AU" sz="1200" kern="1200" dirty="0" smtClean="0">
                <a:solidFill>
                  <a:schemeClr val="tx1"/>
                </a:solidFill>
                <a:ea typeface="+mn-ea"/>
                <a:cs typeface="+mn-cs"/>
              </a:rPr>
              <a:t>identifying tour group members must be done to determine:</a:t>
            </a:r>
          </a:p>
          <a:p>
            <a:pPr>
              <a:buFont typeface="Arial" pitchFamily="34" charset="0"/>
              <a:buChar char="•"/>
            </a:pPr>
            <a:r>
              <a:rPr lang="en-AU" sz="1200" kern="1200" dirty="0" smtClean="0">
                <a:solidFill>
                  <a:schemeClr val="tx1"/>
                </a:solidFill>
                <a:ea typeface="+mn-ea"/>
                <a:cs typeface="+mn-cs"/>
              </a:rPr>
              <a:t>The number of tour members/participants – in total.</a:t>
            </a:r>
          </a:p>
          <a:p>
            <a:pPr>
              <a:buFont typeface="Arial" pitchFamily="34" charset="0"/>
              <a:buChar char="•"/>
            </a:pPr>
            <a:r>
              <a:rPr lang="en-AU" sz="1200" kern="1200" dirty="0" smtClean="0">
                <a:solidFill>
                  <a:schemeClr val="tx1"/>
                </a:solidFill>
                <a:ea typeface="+mn-ea"/>
                <a:cs typeface="+mn-cs"/>
              </a:rPr>
              <a:t>Those who will depart and/or join the tour along the way – in terms of:</a:t>
            </a:r>
          </a:p>
          <a:p>
            <a:pPr lvl="1">
              <a:buFont typeface="Arial" pitchFamily="34" charset="0"/>
              <a:buChar char="•"/>
            </a:pPr>
            <a:r>
              <a:rPr lang="en-US" sz="1200" kern="1200" dirty="0" smtClean="0">
                <a:solidFill>
                  <a:schemeClr val="tx1"/>
                </a:solidFill>
                <a:ea typeface="+mn-ea"/>
                <a:cs typeface="+mn-cs"/>
              </a:rPr>
              <a:t>Their names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Destinations/locations where they will join or leave the tour</a:t>
            </a:r>
            <a:endParaRPr lang="en-AU" sz="1200" kern="1200" dirty="0" smtClean="0">
              <a:solidFill>
                <a:schemeClr val="tx1"/>
              </a:solidFill>
              <a:ea typeface="+mn-ea"/>
              <a:cs typeface="+mn-cs"/>
            </a:endParaRPr>
          </a:p>
          <a:p>
            <a:pPr lvl="2">
              <a:buFont typeface="Arial" pitchFamily="34" charset="0"/>
              <a:buChar char="•"/>
            </a:pPr>
            <a:r>
              <a:rPr lang="en-AU" sz="1200" kern="1200" dirty="0" smtClean="0">
                <a:solidFill>
                  <a:schemeClr val="tx1"/>
                </a:solidFill>
                <a:ea typeface="+mn-ea"/>
                <a:cs typeface="+mn-cs"/>
              </a:rPr>
              <a:t>The above two factors have obvious implications for </a:t>
            </a:r>
            <a:r>
              <a:rPr lang="en-AU" sz="1200" b="1" kern="1200" dirty="0" smtClean="0">
                <a:solidFill>
                  <a:schemeClr val="tx1"/>
                </a:solidFill>
                <a:ea typeface="+mn-ea"/>
                <a:cs typeface="+mn-cs"/>
              </a:rPr>
              <a:t>the</a:t>
            </a:r>
            <a:r>
              <a:rPr lang="en-AU" sz="1200" kern="1200" dirty="0" smtClean="0">
                <a:solidFill>
                  <a:schemeClr val="tx1"/>
                </a:solidFill>
                <a:ea typeface="+mn-ea"/>
                <a:cs typeface="+mn-cs"/>
              </a:rPr>
              <a:t> </a:t>
            </a:r>
            <a:r>
              <a:rPr lang="en-AU" sz="1200" b="1" kern="1200" dirty="0" smtClean="0">
                <a:solidFill>
                  <a:schemeClr val="tx1"/>
                </a:solidFill>
                <a:ea typeface="+mn-ea"/>
                <a:cs typeface="+mn-cs"/>
              </a:rPr>
              <a:t>quantities</a:t>
            </a:r>
            <a:r>
              <a:rPr lang="en-AU" sz="1200" kern="1200" dirty="0" smtClean="0">
                <a:solidFill>
                  <a:schemeClr val="tx1"/>
                </a:solidFill>
                <a:ea typeface="+mn-ea"/>
                <a:cs typeface="+mn-cs"/>
              </a:rPr>
              <a:t> </a:t>
            </a:r>
            <a:r>
              <a:rPr lang="en-AU" sz="1200" b="1" kern="1200" dirty="0" smtClean="0">
                <a:solidFill>
                  <a:schemeClr val="tx1"/>
                </a:solidFill>
                <a:ea typeface="+mn-ea"/>
                <a:cs typeface="+mn-cs"/>
              </a:rPr>
              <a:t>of resources</a:t>
            </a:r>
            <a:r>
              <a:rPr lang="en-AU" sz="1200" kern="1200" dirty="0" smtClean="0">
                <a:solidFill>
                  <a:schemeClr val="tx1"/>
                </a:solidFill>
                <a:ea typeface="+mn-ea"/>
                <a:cs typeface="+mn-cs"/>
              </a:rPr>
              <a:t> which need to be provided/arranged</a:t>
            </a:r>
          </a:p>
          <a:p>
            <a:pPr>
              <a:buFont typeface="Arial" pitchFamily="34" charset="0"/>
              <a:buChar char="•"/>
            </a:pPr>
            <a:r>
              <a:rPr lang="en-AU" sz="1200" kern="1200" dirty="0" smtClean="0">
                <a:solidFill>
                  <a:schemeClr val="tx1"/>
                </a:solidFill>
                <a:ea typeface="+mn-ea"/>
                <a:cs typeface="+mn-cs"/>
              </a:rPr>
              <a:t>Classification and quantification of nominated group on the trip – such as:</a:t>
            </a:r>
          </a:p>
          <a:p>
            <a:pPr lvl="1">
              <a:buFont typeface="Arial" pitchFamily="34" charset="0"/>
              <a:buChar char="•"/>
            </a:pPr>
            <a:r>
              <a:rPr lang="en-US" sz="1200" kern="1200" dirty="0" smtClean="0">
                <a:solidFill>
                  <a:schemeClr val="tx1"/>
                </a:solidFill>
                <a:ea typeface="+mn-ea"/>
                <a:cs typeface="+mn-cs"/>
              </a:rPr>
              <a:t>Men and women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Adults, children and babies/infants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Age groups.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Requirements in this regard will depend on the individual trip/tour trip – sometimes these details are necessary/important and sometimes they are not.</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Potential usage of participants – this needs to be assessed for each activity, at each location and for every service and/or product advertised.</a:t>
            </a:r>
          </a:p>
          <a:p>
            <a:pPr lvl="1">
              <a:buFont typeface="Arial" pitchFamily="34" charset="0"/>
              <a:buChar char="•"/>
            </a:pPr>
            <a:r>
              <a:rPr lang="en-AU" sz="1200" kern="1200" dirty="0" smtClean="0">
                <a:solidFill>
                  <a:schemeClr val="tx1"/>
                </a:solidFill>
                <a:ea typeface="+mn-ea"/>
                <a:cs typeface="+mn-cs"/>
              </a:rPr>
              <a:t>Information gained from previous tours coupled with personal experience and common sense form the basis for this.</a:t>
            </a:r>
          </a:p>
          <a:p>
            <a:pPr lvl="1">
              <a:buFont typeface="Arial" pitchFamily="34" charset="0"/>
              <a:buChar char="•"/>
            </a:pPr>
            <a:r>
              <a:rPr lang="en-AU" sz="1200" kern="1200" dirty="0" smtClean="0">
                <a:solidFill>
                  <a:schemeClr val="tx1"/>
                </a:solidFill>
                <a:ea typeface="+mn-ea"/>
                <a:cs typeface="+mn-cs"/>
              </a:rPr>
              <a:t>The above two factors have obvious implications for </a:t>
            </a:r>
            <a:r>
              <a:rPr lang="en-AU" sz="1200" b="1" kern="1200" dirty="0" smtClean="0">
                <a:solidFill>
                  <a:schemeClr val="tx1"/>
                </a:solidFill>
                <a:ea typeface="+mn-ea"/>
                <a:cs typeface="+mn-cs"/>
              </a:rPr>
              <a:t>the nature of resources</a:t>
            </a:r>
            <a:r>
              <a:rPr lang="en-AU" sz="1200" kern="1200" dirty="0" smtClean="0">
                <a:solidFill>
                  <a:schemeClr val="tx1"/>
                </a:solidFill>
                <a:ea typeface="+mn-ea"/>
                <a:cs typeface="+mn-cs"/>
              </a:rPr>
              <a:t> which need to be provided/arranged.</a:t>
            </a:r>
          </a:p>
          <a:p>
            <a:pPr>
              <a:buFont typeface="Arial" pitchFamily="34" charset="0"/>
              <a:buChar char="•"/>
            </a:pPr>
            <a:r>
              <a:rPr lang="en-AU" sz="1200" kern="1200" dirty="0" smtClean="0">
                <a:solidFill>
                  <a:schemeClr val="tx1"/>
                </a:solidFill>
                <a:ea typeface="+mn-ea"/>
                <a:cs typeface="+mn-cs"/>
              </a:rPr>
              <a:t>In combination, then, identifying group tour numbers and profiles is the basis for determining the resources and requirements which need to be loaded and/or otherwise arranged for the tour/trip. </a:t>
            </a:r>
          </a:p>
          <a:p>
            <a:r>
              <a:rPr lang="en-AU" sz="1200" b="1" kern="1200" dirty="0" smtClean="0">
                <a:solidFill>
                  <a:schemeClr val="tx1"/>
                </a:solidFill>
                <a:ea typeface="+mn-ea"/>
                <a:cs typeface="+mn-cs"/>
              </a:rPr>
              <a:t>Point to note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Some operators, for some tours, will require a standard loading of resources for a tour </a:t>
            </a:r>
            <a:r>
              <a:rPr lang="en-AU" sz="1200" b="1" kern="1200" dirty="0" smtClean="0">
                <a:solidFill>
                  <a:schemeClr val="tx1"/>
                </a:solidFill>
                <a:ea typeface="+mn-ea"/>
                <a:cs typeface="+mn-cs"/>
              </a:rPr>
              <a:t>regardless of numbers booked</a:t>
            </a:r>
            <a:r>
              <a:rPr lang="en-AU" sz="1200" kern="1200" dirty="0" smtClean="0">
                <a:solidFill>
                  <a:schemeClr val="tx1"/>
                </a:solidFill>
                <a:ea typeface="+mn-ea"/>
                <a:cs typeface="+mn-cs"/>
              </a:rPr>
              <a:t>.</a:t>
            </a:r>
          </a:p>
          <a:p>
            <a:r>
              <a:rPr lang="en-AU" sz="1200" kern="1200" dirty="0" smtClean="0">
                <a:solidFill>
                  <a:schemeClr val="tx1"/>
                </a:solidFill>
                <a:ea typeface="+mn-ea"/>
                <a:cs typeface="+mn-cs"/>
              </a:rPr>
              <a:t>This is called ‘par stock’ for the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depending</a:t>
            </a:r>
            <a:r>
              <a:rPr lang="en-US" baseline="0" noProof="0" dirty="0" smtClean="0"/>
              <a:t> </a:t>
            </a:r>
            <a:r>
              <a:rPr lang="en-AU" sz="1200" kern="1200" dirty="0" smtClean="0">
                <a:solidFill>
                  <a:schemeClr val="tx1"/>
                </a:solidFill>
                <a:ea typeface="+mn-ea"/>
                <a:cs typeface="+mn-cs"/>
              </a:rPr>
              <a:t>on the tour type there can also be a need to obtain additional documentation relating to the tour explaining documentation may be required to:</a:t>
            </a:r>
          </a:p>
          <a:p>
            <a:pPr>
              <a:buFont typeface="Arial" pitchFamily="34" charset="0"/>
              <a:buChar char="•"/>
            </a:pPr>
            <a:r>
              <a:rPr lang="en-AU" sz="1200" kern="1200" dirty="0" smtClean="0">
                <a:solidFill>
                  <a:schemeClr val="tx1"/>
                </a:solidFill>
                <a:ea typeface="+mn-ea"/>
                <a:cs typeface="+mn-cs"/>
              </a:rPr>
              <a:t>Provide to tourist guides</a:t>
            </a:r>
          </a:p>
          <a:p>
            <a:pPr>
              <a:buFont typeface="Arial" pitchFamily="34" charset="0"/>
              <a:buChar char="•"/>
            </a:pPr>
            <a:r>
              <a:rPr lang="en-AU" sz="1200" kern="1200" dirty="0" smtClean="0">
                <a:solidFill>
                  <a:schemeClr val="tx1"/>
                </a:solidFill>
                <a:ea typeface="+mn-ea"/>
                <a:cs typeface="+mn-cs"/>
              </a:rPr>
              <a:t>Load onto the tour vehicle</a:t>
            </a:r>
          </a:p>
          <a:p>
            <a:pPr>
              <a:buFont typeface="Arial" pitchFamily="34" charset="0"/>
              <a:buChar char="•"/>
            </a:pPr>
            <a:r>
              <a:rPr lang="en-AU" sz="1200" kern="1200" dirty="0" smtClean="0">
                <a:solidFill>
                  <a:schemeClr val="tx1"/>
                </a:solidFill>
                <a:ea typeface="+mn-ea"/>
                <a:cs typeface="+mn-cs"/>
              </a:rPr>
              <a:t>Forward to third party providers</a:t>
            </a:r>
          </a:p>
          <a:p>
            <a:pPr>
              <a:buFont typeface="Arial" pitchFamily="34" charset="0"/>
              <a:buChar char="•"/>
            </a:pPr>
            <a:r>
              <a:rPr lang="en-AU" sz="1200" kern="1200" dirty="0" smtClean="0">
                <a:solidFill>
                  <a:schemeClr val="tx1"/>
                </a:solidFill>
                <a:ea typeface="+mn-ea"/>
                <a:cs typeface="+mn-cs"/>
              </a:rPr>
              <a:t>Form the basis of internal protocols (for administration and financial performance purposes) associated with preparing, checking and loading vehicles prior to a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other </a:t>
            </a:r>
            <a:r>
              <a:rPr lang="en-AU" sz="1200" kern="1200" dirty="0" smtClean="0">
                <a:solidFill>
                  <a:schemeClr val="tx1"/>
                </a:solidFill>
                <a:ea typeface="+mn-ea"/>
                <a:cs typeface="+mn-cs"/>
              </a:rPr>
              <a:t>documentation required can include:</a:t>
            </a:r>
          </a:p>
          <a:p>
            <a:pPr>
              <a:buFont typeface="Arial" pitchFamily="34" charset="0"/>
              <a:buChar char="•"/>
            </a:pPr>
            <a:r>
              <a:rPr lang="en-AU" sz="1200" kern="1200" dirty="0" smtClean="0">
                <a:solidFill>
                  <a:schemeClr val="tx1"/>
                </a:solidFill>
                <a:ea typeface="+mn-ea"/>
                <a:cs typeface="+mn-cs"/>
              </a:rPr>
              <a:t>Passenger lists – this can be:</a:t>
            </a:r>
          </a:p>
          <a:p>
            <a:pPr lvl="1">
              <a:buFont typeface="Arial" pitchFamily="34" charset="0"/>
              <a:buChar char="•"/>
            </a:pPr>
            <a:r>
              <a:rPr lang="en-US" sz="1200" kern="1200" dirty="0" smtClean="0">
                <a:solidFill>
                  <a:schemeClr val="tx1"/>
                </a:solidFill>
                <a:ea typeface="+mn-ea"/>
                <a:cs typeface="+mn-cs"/>
              </a:rPr>
              <a:t>List of numbers on the tour with no further details. List does not distinguish by age, gender or other characteristic.</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Manifests – these are detailed versions of ‘Passenger List’ containing information such as:</a:t>
            </a:r>
          </a:p>
          <a:p>
            <a:pPr lvl="1">
              <a:buFont typeface="Arial" pitchFamily="34" charset="0"/>
              <a:buChar char="•"/>
            </a:pPr>
            <a:r>
              <a:rPr lang="en-US" sz="1200" kern="1200" dirty="0" smtClean="0">
                <a:solidFill>
                  <a:schemeClr val="tx1"/>
                </a:solidFill>
                <a:ea typeface="+mn-ea"/>
                <a:cs typeface="+mn-cs"/>
              </a:rPr>
              <a:t>Names; Age; Date of Birth; Passport number/details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Seating lists – identifying seating arrangements (especially priority or preferential seats [window seats; front of bus; aisle] which have been requested/paid for) by name</a:t>
            </a:r>
          </a:p>
          <a:p>
            <a:pPr>
              <a:buFont typeface="Arial" pitchFamily="34" charset="0"/>
              <a:buChar char="•"/>
            </a:pPr>
            <a:r>
              <a:rPr lang="en-AU" sz="1200" kern="1200" dirty="0" smtClean="0">
                <a:solidFill>
                  <a:schemeClr val="tx1"/>
                </a:solidFill>
                <a:ea typeface="+mn-ea"/>
                <a:cs typeface="+mn-cs"/>
              </a:rPr>
              <a:t>Rooming lists – this is a list of tour group members by name showing the room number they are staying/roomed in at accommodations venues used by the tour.</a:t>
            </a:r>
          </a:p>
          <a:p>
            <a:pPr lvl="1">
              <a:buFont typeface="Arial" pitchFamily="34" charset="0"/>
              <a:buChar char="•"/>
            </a:pPr>
            <a:r>
              <a:rPr lang="en-AU" sz="1200" kern="1200" dirty="0" smtClean="0">
                <a:solidFill>
                  <a:schemeClr val="tx1"/>
                </a:solidFill>
                <a:ea typeface="+mn-ea"/>
                <a:cs typeface="+mn-cs"/>
              </a:rPr>
              <a:t>Rooms may be shared or single.</a:t>
            </a:r>
          </a:p>
          <a:p>
            <a:pPr>
              <a:buFont typeface="Arial" pitchFamily="34" charset="0"/>
              <a:buChar char="•"/>
            </a:pPr>
            <a:r>
              <a:rPr lang="en-AU" sz="1200" kern="1200" dirty="0" smtClean="0">
                <a:solidFill>
                  <a:schemeClr val="tx1"/>
                </a:solidFill>
                <a:ea typeface="+mn-ea"/>
                <a:cs typeface="+mn-cs"/>
              </a:rPr>
              <a:t>Passenger profile sheets – these are not common/regular documents but can be prepared where individual groups or tour group members have special needs or have made special requests.</a:t>
            </a:r>
          </a:p>
          <a:p>
            <a:pPr>
              <a:buFont typeface="Arial" pitchFamily="34" charset="0"/>
              <a:buChar char="•"/>
            </a:pPr>
            <a:r>
              <a:rPr lang="en-AU" sz="1200" kern="1200" dirty="0" smtClean="0">
                <a:solidFill>
                  <a:schemeClr val="tx1"/>
                </a:solidFill>
                <a:ea typeface="+mn-ea"/>
                <a:cs typeface="+mn-cs"/>
              </a:rPr>
              <a:t>Technical or operations itinerary – this is an itinerary released only to and used only by tour staff.</a:t>
            </a:r>
          </a:p>
          <a:p>
            <a:pPr lvl="1">
              <a:buFont typeface="Arial" pitchFamily="34" charset="0"/>
              <a:buChar char="•"/>
            </a:pPr>
            <a:r>
              <a:rPr lang="en-AU" sz="1200" kern="1200" dirty="0" smtClean="0">
                <a:solidFill>
                  <a:schemeClr val="tx1"/>
                </a:solidFill>
                <a:ea typeface="+mn-ea"/>
                <a:cs typeface="+mn-cs"/>
              </a:rPr>
              <a:t>It reflects and enables the itinerary provided to tour group members but lists details necessary for staff to keep the tour on-time and conduct activities when scheduled.</a:t>
            </a: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examples of documents as identified on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additional documents</a:t>
            </a:r>
            <a:r>
              <a:rPr lang="en-US" baseline="0" noProof="0" dirty="0" smtClean="0"/>
              <a:t> which may be required/used:</a:t>
            </a:r>
            <a:endParaRPr lang="en-US" noProof="0" dirty="0" smtClean="0"/>
          </a:p>
          <a:p>
            <a:pPr>
              <a:buFont typeface="Arial" pitchFamily="34" charset="0"/>
              <a:buChar char="•"/>
            </a:pPr>
            <a:r>
              <a:rPr lang="en-AU" sz="1200" kern="1200" dirty="0" smtClean="0">
                <a:solidFill>
                  <a:schemeClr val="tx1"/>
                </a:solidFill>
                <a:ea typeface="+mn-ea"/>
                <a:cs typeface="+mn-cs"/>
              </a:rPr>
              <a:t>Catering information – used where tour requires catering. It can apply to:</a:t>
            </a:r>
          </a:p>
          <a:p>
            <a:pPr lvl="1">
              <a:buFont typeface="Arial" pitchFamily="34" charset="0"/>
              <a:buChar char="•"/>
            </a:pPr>
            <a:r>
              <a:rPr lang="en-US" sz="1200" kern="1200" dirty="0" smtClean="0">
                <a:solidFill>
                  <a:schemeClr val="tx1"/>
                </a:solidFill>
                <a:ea typeface="+mn-ea"/>
                <a:cs typeface="+mn-cs"/>
              </a:rPr>
              <a:t>Tour-provided catering – where the tour supplies (for example):</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Refreshments – such as tea, coffee, water and biscuits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Basic food – such as pre-packed meals or on-site cooking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Third party provisions – in terms of:</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Snacks; Meals; Drinks; Take-away food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Itemised lists of required supplies and equipment – known as ‘Supply Lists’ these can form the basis of Loading sheets and help standardise provision of items for tours and guarantee all required items are provided.</a:t>
            </a:r>
          </a:p>
          <a:p>
            <a:pPr>
              <a:buFont typeface="Arial" pitchFamily="34" charset="0"/>
              <a:buChar char="•"/>
            </a:pPr>
            <a:r>
              <a:rPr lang="en-AU" sz="1200" kern="1200" dirty="0" smtClean="0">
                <a:solidFill>
                  <a:schemeClr val="tx1"/>
                </a:solidFill>
                <a:ea typeface="+mn-ea"/>
                <a:cs typeface="+mn-cs"/>
              </a:rPr>
              <a:t>Checklists – which are used by some operators to:</a:t>
            </a:r>
          </a:p>
          <a:p>
            <a:pPr lvl="1">
              <a:buFont typeface="Arial" pitchFamily="34" charset="0"/>
              <a:buChar char="•"/>
            </a:pPr>
            <a:r>
              <a:rPr lang="en-US" sz="1200" kern="1200" dirty="0" smtClean="0">
                <a:solidFill>
                  <a:schemeClr val="tx1"/>
                </a:solidFill>
                <a:ea typeface="+mn-ea"/>
                <a:cs typeface="+mn-cs"/>
              </a:rPr>
              <a:t>Guide inspections and checks to be undertaken at various stages and for nominated topics before a trip/tour departs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Provide proof required protocols have been followed to ensure pre-departure checks and activities have been completed as required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Basic fault reports – these are warnings/advice relating to identified items notifying there are certain faults with equipment which operators/tour staff need to be aware of but which do not mean the items are unsafe or cannot be used</a:t>
            </a:r>
          </a:p>
          <a:p>
            <a:pPr>
              <a:buFont typeface="Arial" pitchFamily="34" charset="0"/>
              <a:buChar char="•"/>
            </a:pPr>
            <a:r>
              <a:rPr lang="en-AU" sz="1200" kern="1200" dirty="0" smtClean="0">
                <a:solidFill>
                  <a:schemeClr val="tx1"/>
                </a:solidFill>
                <a:ea typeface="+mn-ea"/>
                <a:cs typeface="+mn-cs"/>
              </a:rPr>
              <a:t>Weather reports – depending on the duration for the tour (or the season of the year).there may be a need to include a current weather forecast/report</a:t>
            </a:r>
          </a:p>
          <a:p>
            <a:pPr>
              <a:buFont typeface="Arial" pitchFamily="34" charset="0"/>
              <a:buChar char="•"/>
            </a:pPr>
            <a:r>
              <a:rPr lang="en-AU" sz="1200" kern="1200" dirty="0" smtClean="0">
                <a:solidFill>
                  <a:schemeClr val="tx1"/>
                </a:solidFill>
                <a:ea typeface="+mn-ea"/>
                <a:cs typeface="+mn-cs"/>
              </a:rPr>
              <a:t>Road report – in some cases it is standard practice to access a nominated website which lists local road closures and/or road issues which tour leaders/drivers need to be aware of.</a:t>
            </a:r>
          </a:p>
          <a:p>
            <a:pPr>
              <a:buFont typeface="Arial" pitchFamily="34" charset="0"/>
              <a:buChar char="•"/>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examples of documents as identified on 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explains third party providers are </a:t>
            </a:r>
            <a:r>
              <a:rPr lang="en-AU" sz="1200" kern="1200" dirty="0" smtClean="0">
                <a:solidFill>
                  <a:schemeClr val="tx1"/>
                </a:solidFill>
                <a:ea typeface="+mn-ea"/>
                <a:cs typeface="+mn-cs"/>
              </a:rPr>
              <a:t>often used by tour companies because:</a:t>
            </a:r>
          </a:p>
          <a:p>
            <a:pPr>
              <a:buFont typeface="Arial" pitchFamily="34" charset="0"/>
              <a:buChar char="•"/>
            </a:pPr>
            <a:r>
              <a:rPr lang="en-AU" sz="1200" kern="1200" dirty="0" smtClean="0">
                <a:solidFill>
                  <a:schemeClr val="tx1"/>
                </a:solidFill>
                <a:ea typeface="+mn-ea"/>
                <a:cs typeface="+mn-cs"/>
              </a:rPr>
              <a:t>Using local providers is often more effective and operationally efficient than buying all requirements beforehand, carrying them and using them when needed – in many cases it is just physically impossible for a tour to carry all its own resources as there is just insufficient room or the added weight will cause additional expense or compromise ride safety or quality</a:t>
            </a:r>
          </a:p>
          <a:p>
            <a:pPr>
              <a:buFont typeface="Arial" pitchFamily="34" charset="0"/>
              <a:buChar char="•"/>
            </a:pPr>
            <a:r>
              <a:rPr lang="en-AU" sz="1200" kern="1200" dirty="0" smtClean="0">
                <a:solidFill>
                  <a:schemeClr val="tx1"/>
                </a:solidFill>
                <a:ea typeface="+mn-ea"/>
                <a:cs typeface="+mn-cs"/>
              </a:rPr>
              <a:t>Resources bought on tour can often be less expensive than those purchased at the base of operations by the tour business – they may also be of better quality.</a:t>
            </a:r>
          </a:p>
          <a:p>
            <a:pPr lvl="1">
              <a:buFont typeface="Arial" pitchFamily="34" charset="0"/>
              <a:buChar char="•"/>
            </a:pPr>
            <a:r>
              <a:rPr lang="en-AU" sz="1200" kern="1200" dirty="0" smtClean="0">
                <a:solidFill>
                  <a:schemeClr val="tx1"/>
                </a:solidFill>
                <a:ea typeface="+mn-ea"/>
                <a:cs typeface="+mn-cs"/>
              </a:rPr>
              <a:t>This is often the case when it relates to perishable food items.</a:t>
            </a:r>
          </a:p>
          <a:p>
            <a:pPr>
              <a:buFont typeface="Arial" pitchFamily="34" charset="0"/>
              <a:buChar char="•"/>
            </a:pPr>
            <a:r>
              <a:rPr lang="en-AU" sz="1200" kern="1200" dirty="0" smtClean="0">
                <a:solidFill>
                  <a:schemeClr val="tx1"/>
                </a:solidFill>
                <a:ea typeface="+mn-ea"/>
                <a:cs typeface="+mn-cs"/>
              </a:rPr>
              <a:t>They give ‘local flavour’ to the tour and add an extra dimension for tour group participants – for example, when they dine and sleep in local establishments they get to experience the local conditions, culture and hospitality on a first-hand basis</a:t>
            </a:r>
          </a:p>
          <a:p>
            <a:pPr>
              <a:buFont typeface="Arial" pitchFamily="34" charset="0"/>
              <a:buChar char="•"/>
            </a:pPr>
            <a:r>
              <a:rPr lang="en-AU" sz="1200" kern="1200" dirty="0" smtClean="0">
                <a:solidFill>
                  <a:schemeClr val="tx1"/>
                </a:solidFill>
                <a:ea typeface="+mn-ea"/>
                <a:cs typeface="+mn-cs"/>
              </a:rPr>
              <a:t>Use of third party providers can add an element of luxury and indulgence to a tour – to give a break from what may be otherwise Spartan and difficult conditions</a:t>
            </a:r>
          </a:p>
          <a:p>
            <a:pPr>
              <a:buFont typeface="Arial" pitchFamily="34" charset="0"/>
              <a:buChar char="•"/>
            </a:pPr>
            <a:r>
              <a:rPr lang="en-AU" sz="1200" kern="1200" dirty="0" smtClean="0">
                <a:solidFill>
                  <a:schemeClr val="tx1"/>
                </a:solidFill>
                <a:ea typeface="+mn-ea"/>
                <a:cs typeface="+mn-cs"/>
              </a:rPr>
              <a:t>These providers are the only local options for the provision of items such as:</a:t>
            </a:r>
          </a:p>
          <a:p>
            <a:pPr lvl="1">
              <a:buFont typeface="Arial" pitchFamily="34" charset="0"/>
              <a:buChar char="•"/>
            </a:pPr>
            <a:r>
              <a:rPr lang="en-US" sz="1200" kern="1200" dirty="0" smtClean="0">
                <a:solidFill>
                  <a:schemeClr val="tx1"/>
                </a:solidFill>
                <a:ea typeface="+mn-ea"/>
                <a:cs typeface="+mn-cs"/>
              </a:rPr>
              <a:t>Food and beverages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Activities and rides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Local transportation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Local guides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Local knowledge and advice.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There may be a trade-off required by local operators or communities – for example, it may be a condition of entry to a community or area that:</a:t>
            </a:r>
          </a:p>
          <a:p>
            <a:pPr lvl="1">
              <a:buFont typeface="Arial" pitchFamily="34" charset="0"/>
              <a:buChar char="•"/>
            </a:pPr>
            <a:r>
              <a:rPr lang="en-US" sz="1200" kern="1200" dirty="0" smtClean="0">
                <a:solidFill>
                  <a:schemeClr val="tx1"/>
                </a:solidFill>
                <a:ea typeface="+mn-ea"/>
                <a:cs typeface="+mn-cs"/>
              </a:rPr>
              <a:t>Money is spent locally to help promote the economy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Local people are used to provide certain tour-related work to help create jobs and sustainable employment for the local population.</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some operators </a:t>
            </a:r>
            <a:r>
              <a:rPr lang="en-AU" sz="1200" kern="1200" dirty="0" smtClean="0">
                <a:solidFill>
                  <a:schemeClr val="tx1"/>
                </a:solidFill>
                <a:ea typeface="+mn-ea"/>
                <a:cs typeface="+mn-cs"/>
              </a:rPr>
              <a:t>may undertake a cost-benefit analysis in relation to using third party providers.</a:t>
            </a:r>
          </a:p>
          <a:p>
            <a:r>
              <a:rPr lang="en-AU" sz="1200" kern="1200" dirty="0" smtClean="0">
                <a:solidFill>
                  <a:schemeClr val="tx1"/>
                </a:solidFill>
                <a:ea typeface="+mn-ea"/>
                <a:cs typeface="+mn-cs"/>
              </a:rPr>
              <a:t>This analysis:</a:t>
            </a:r>
          </a:p>
          <a:p>
            <a:pPr>
              <a:buFont typeface="Arial" pitchFamily="34" charset="0"/>
              <a:buChar char="•"/>
            </a:pPr>
            <a:r>
              <a:rPr lang="en-AU" sz="1200" kern="1200" dirty="0" smtClean="0">
                <a:solidFill>
                  <a:schemeClr val="tx1"/>
                </a:solidFill>
                <a:ea typeface="+mn-ea"/>
                <a:cs typeface="+mn-cs"/>
              </a:rPr>
              <a:t>Identifies items (products and services) available at different points along the tour</a:t>
            </a:r>
          </a:p>
          <a:p>
            <a:pPr>
              <a:buFont typeface="Arial" pitchFamily="34" charset="0"/>
              <a:buChar char="•"/>
            </a:pPr>
            <a:r>
              <a:rPr lang="en-AU" sz="1200" kern="1200" dirty="0" smtClean="0">
                <a:solidFill>
                  <a:schemeClr val="tx1"/>
                </a:solidFill>
                <a:ea typeface="+mn-ea"/>
                <a:cs typeface="+mn-cs"/>
              </a:rPr>
              <a:t>Assesses their price and quality</a:t>
            </a:r>
          </a:p>
          <a:p>
            <a:pPr>
              <a:buFont typeface="Arial" pitchFamily="34" charset="0"/>
              <a:buChar char="•"/>
            </a:pPr>
            <a:r>
              <a:rPr lang="en-AU" sz="1200" kern="1200" dirty="0" smtClean="0">
                <a:solidFill>
                  <a:schemeClr val="tx1"/>
                </a:solidFill>
                <a:ea typeface="+mn-ea"/>
                <a:cs typeface="+mn-cs"/>
              </a:rPr>
              <a:t>Evaluates suitability and integration of items into the tour</a:t>
            </a:r>
          </a:p>
          <a:p>
            <a:pPr>
              <a:buFont typeface="Arial" pitchFamily="34" charset="0"/>
              <a:buChar char="•"/>
            </a:pPr>
            <a:r>
              <a:rPr lang="en-AU" sz="1200" kern="1200" dirty="0" smtClean="0">
                <a:solidFill>
                  <a:schemeClr val="tx1"/>
                </a:solidFill>
                <a:ea typeface="+mn-ea"/>
                <a:cs typeface="+mn-cs"/>
              </a:rPr>
              <a:t>Determines the decision to take supplies, or buy them </a:t>
            </a:r>
            <a:r>
              <a:rPr lang="en-AU" sz="1200" i="1" kern="1200" dirty="0" smtClean="0">
                <a:solidFill>
                  <a:schemeClr val="tx1"/>
                </a:solidFill>
                <a:ea typeface="+mn-ea"/>
                <a:cs typeface="+mn-cs"/>
              </a:rPr>
              <a:t>en route.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While a cost-benefit analysis may be sound business practice in order to identify where items should be purchased this is not always possible as other factors (see above) often have to be factored in.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presents usual </a:t>
            </a:r>
            <a:r>
              <a:rPr lang="en-AU" sz="1200" kern="1200" dirty="0" smtClean="0">
                <a:solidFill>
                  <a:schemeClr val="tx1"/>
                </a:solidFill>
                <a:ea typeface="+mn-ea"/>
                <a:cs typeface="+mn-cs"/>
              </a:rPr>
              <a:t>techniques to identify third</a:t>
            </a:r>
            <a:r>
              <a:rPr lang="en-AU" sz="1200" kern="1200" baseline="0" dirty="0" smtClean="0">
                <a:solidFill>
                  <a:schemeClr val="tx1"/>
                </a:solidFill>
                <a:ea typeface="+mn-ea"/>
                <a:cs typeface="+mn-cs"/>
              </a:rPr>
              <a:t> party providers in an area</a:t>
            </a:r>
            <a:r>
              <a:rPr lang="en-AU" sz="1200" kern="1200" dirty="0" smtClean="0">
                <a:solidFill>
                  <a:schemeClr val="tx1"/>
                </a:solidFill>
                <a:ea typeface="+mn-ea"/>
                <a:cs typeface="+mn-cs"/>
              </a:rPr>
              <a:t>:</a:t>
            </a:r>
          </a:p>
          <a:p>
            <a:pPr>
              <a:buFont typeface="Arial" pitchFamily="34" charset="0"/>
              <a:buChar char="•"/>
            </a:pPr>
            <a:r>
              <a:rPr lang="en-AU" sz="1200" kern="1200" dirty="0" smtClean="0">
                <a:solidFill>
                  <a:schemeClr val="tx1"/>
                </a:solidFill>
                <a:ea typeface="+mn-ea"/>
                <a:cs typeface="+mn-cs"/>
              </a:rPr>
              <a:t>Speak to tour staff – who have experience in the relevant areas to be visited to see what they know about what is available and who may be able to supply</a:t>
            </a:r>
          </a:p>
          <a:p>
            <a:pPr>
              <a:buFont typeface="Arial" pitchFamily="34" charset="0"/>
              <a:buChar char="•"/>
            </a:pPr>
            <a:r>
              <a:rPr lang="en-AU" sz="1200" kern="1200" dirty="0" smtClean="0">
                <a:solidFill>
                  <a:schemeClr val="tx1"/>
                </a:solidFill>
                <a:ea typeface="+mn-ea"/>
                <a:cs typeface="+mn-cs"/>
              </a:rPr>
              <a:t>Read the details of any arrangements entered into with local communities – which necessitate purchasing certain items/services from them as part of the deal in relation to accessing their area/land</a:t>
            </a:r>
          </a:p>
          <a:p>
            <a:pPr>
              <a:buFont typeface="Arial" pitchFamily="34" charset="0"/>
              <a:buChar char="•"/>
            </a:pPr>
            <a:r>
              <a:rPr lang="en-AU" sz="1200" kern="1200" dirty="0" smtClean="0">
                <a:solidFill>
                  <a:schemeClr val="tx1"/>
                </a:solidFill>
                <a:ea typeface="+mn-ea"/>
                <a:cs typeface="+mn-cs"/>
              </a:rPr>
              <a:t>Conduct internet searches – using appropriate key words to refine the searches</a:t>
            </a:r>
          </a:p>
          <a:p>
            <a:pPr>
              <a:buFont typeface="Arial" pitchFamily="34" charset="0"/>
              <a:buChar char="•"/>
            </a:pPr>
            <a:r>
              <a:rPr lang="en-AU" sz="1200" kern="1200" dirty="0" smtClean="0">
                <a:solidFill>
                  <a:schemeClr val="tx1"/>
                </a:solidFill>
                <a:ea typeface="+mn-ea"/>
                <a:cs typeface="+mn-cs"/>
              </a:rPr>
              <a:t>Use region-specific telephone books – to identify relevant businesses in the areas</a:t>
            </a:r>
          </a:p>
          <a:p>
            <a:pPr>
              <a:buFont typeface="Arial" pitchFamily="34" charset="0"/>
              <a:buChar char="•"/>
            </a:pPr>
            <a:r>
              <a:rPr lang="en-AU" sz="1200" kern="1200" dirty="0" smtClean="0">
                <a:solidFill>
                  <a:schemeClr val="tx1"/>
                </a:solidFill>
                <a:ea typeface="+mn-ea"/>
                <a:cs typeface="+mn-cs"/>
              </a:rPr>
              <a:t>Talk to competitors who conduct trips/tours in the areas – to identify who they use and to learn from what they do</a:t>
            </a:r>
          </a:p>
          <a:p>
            <a:pPr>
              <a:buFont typeface="Arial" pitchFamily="34" charset="0"/>
              <a:buChar char="•"/>
            </a:pPr>
            <a:r>
              <a:rPr lang="en-AU" sz="1200" kern="1200" dirty="0" smtClean="0">
                <a:solidFill>
                  <a:schemeClr val="tx1"/>
                </a:solidFill>
                <a:ea typeface="+mn-ea"/>
                <a:cs typeface="+mn-cs"/>
              </a:rPr>
              <a:t>Go to the regions/areas – and:</a:t>
            </a:r>
          </a:p>
          <a:p>
            <a:pPr lvl="1">
              <a:buFont typeface="Arial" pitchFamily="34" charset="0"/>
              <a:buChar char="•"/>
            </a:pPr>
            <a:r>
              <a:rPr lang="en-US" sz="1200" kern="1200" dirty="0" smtClean="0">
                <a:solidFill>
                  <a:schemeClr val="tx1"/>
                </a:solidFill>
                <a:ea typeface="+mn-ea"/>
                <a:cs typeface="+mn-cs"/>
              </a:rPr>
              <a:t>Visit potential providers and get to know them and what they provide and what they may be able to do for the trips/tours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View their facilities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Taste or test their products and services – to get a first-hand idea of their quality and relevant other factors.</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Exercise</a:t>
            </a:r>
          </a:p>
          <a:p>
            <a:pPr>
              <a:buFont typeface="Arial" pitchFamily="34" charset="0"/>
              <a:buNone/>
            </a:pPr>
            <a:r>
              <a:rPr lang="en-US" b="0" noProof="0" dirty="0" smtClean="0"/>
              <a:t>Trainer provides students with relevant telephone books and internet access and asks them to identify potential suppliers for identified tour requirements from a given</a:t>
            </a:r>
            <a:r>
              <a:rPr lang="en-US" b="0" baseline="0" noProof="0" dirty="0" smtClean="0"/>
              <a:t> destination/location</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when </a:t>
            </a:r>
            <a:r>
              <a:rPr lang="en-AU" sz="1200" kern="1200" dirty="0" smtClean="0">
                <a:solidFill>
                  <a:schemeClr val="tx1"/>
                </a:solidFill>
                <a:ea typeface="+mn-ea"/>
                <a:cs typeface="+mn-cs"/>
              </a:rPr>
              <a:t>organising for the third party supply of resources to tour groups it may be necessary to undertake the following activities:</a:t>
            </a:r>
          </a:p>
          <a:p>
            <a:pPr>
              <a:buFont typeface="Arial" pitchFamily="34" charset="0"/>
              <a:buChar char="•"/>
            </a:pPr>
            <a:r>
              <a:rPr lang="en-AU" sz="1200" kern="1200" dirty="0" smtClean="0">
                <a:solidFill>
                  <a:schemeClr val="tx1"/>
                </a:solidFill>
                <a:ea typeface="+mn-ea"/>
                <a:cs typeface="+mn-cs"/>
              </a:rPr>
              <a:t>Compare prices and quality available from a variety of local suppliers – in order to source the best product/s and the best deals, in the most appropriate locations at the time and on the days required</a:t>
            </a:r>
          </a:p>
          <a:p>
            <a:pPr>
              <a:buFont typeface="Arial" pitchFamily="34" charset="0"/>
              <a:buChar char="•"/>
            </a:pPr>
            <a:r>
              <a:rPr lang="en-AU" sz="1200" kern="1200" dirty="0" smtClean="0">
                <a:solidFill>
                  <a:schemeClr val="tx1"/>
                </a:solidFill>
                <a:ea typeface="+mn-ea"/>
                <a:cs typeface="+mn-cs"/>
              </a:rPr>
              <a:t>Negotiate deals – in relation to issues such as discounts for cash or prompt payments, quantity discounts, loyalty bonuses</a:t>
            </a:r>
          </a:p>
          <a:p>
            <a:pPr>
              <a:buFont typeface="Arial" pitchFamily="34" charset="0"/>
              <a:buChar char="•"/>
            </a:pPr>
            <a:r>
              <a:rPr lang="en-AU" sz="1200" kern="1200" dirty="0" smtClean="0">
                <a:solidFill>
                  <a:schemeClr val="tx1"/>
                </a:solidFill>
                <a:ea typeface="+mn-ea"/>
                <a:cs typeface="+mn-cs"/>
              </a:rPr>
              <a:t>Develop contracts/tender documentation – and posting them inviting local suppliers to tender for the contracts/supply of identified goods and services</a:t>
            </a:r>
          </a:p>
          <a:p>
            <a:pPr>
              <a:buFont typeface="Arial" pitchFamily="34" charset="0"/>
              <a:buChar char="•"/>
            </a:pPr>
            <a:r>
              <a:rPr lang="en-AU" sz="1200" kern="1200" dirty="0" smtClean="0">
                <a:solidFill>
                  <a:schemeClr val="tx1"/>
                </a:solidFill>
                <a:ea typeface="+mn-ea"/>
                <a:cs typeface="+mn-cs"/>
              </a:rPr>
              <a:t>Organise lines of credit – so tour groups can make purchases as required and the costs can be charged back to the tour organisation</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pre-tour arrangements in relation to the use of third party providers:</a:t>
            </a:r>
          </a:p>
          <a:p>
            <a:pPr>
              <a:buFont typeface="Arial" pitchFamily="34" charset="0"/>
              <a:buChar char="•"/>
            </a:pPr>
            <a:r>
              <a:rPr lang="en-AU" sz="1200" kern="1200" dirty="0" smtClean="0">
                <a:solidFill>
                  <a:schemeClr val="tx1"/>
                </a:solidFill>
                <a:ea typeface="+mn-ea"/>
                <a:cs typeface="+mn-cs"/>
              </a:rPr>
              <a:t>Pre-pay for known items and quantities – it may be a condition of buying from a local business all items need to be paid for ‘in advance’ before they will be supplied</a:t>
            </a:r>
          </a:p>
          <a:p>
            <a:pPr>
              <a:buFont typeface="Arial" pitchFamily="34" charset="0"/>
              <a:buChar char="•"/>
            </a:pPr>
            <a:r>
              <a:rPr lang="en-AU" sz="1200" kern="1200" dirty="0" smtClean="0">
                <a:solidFill>
                  <a:schemeClr val="tx1"/>
                </a:solidFill>
                <a:ea typeface="+mn-ea"/>
                <a:cs typeface="+mn-cs"/>
              </a:rPr>
              <a:t>Obtain vouchers or other documentation in advance – so relevant forms, tickets and coupons can be issued to Tour Leaders and tour group members for them to redeem for the provision of goods and services as required from local businesses/outlets</a:t>
            </a:r>
          </a:p>
          <a:p>
            <a:pPr>
              <a:buFont typeface="Arial" pitchFamily="34" charset="0"/>
              <a:buChar char="•"/>
            </a:pPr>
            <a:r>
              <a:rPr lang="en-AU" sz="1200" kern="1200" dirty="0" smtClean="0">
                <a:solidFill>
                  <a:schemeClr val="tx1"/>
                </a:solidFill>
                <a:ea typeface="+mn-ea"/>
                <a:cs typeface="+mn-cs"/>
              </a:rPr>
              <a:t>Organise locations, dates and times – to suit the needs of the tour group and the operation of the supplier’s business</a:t>
            </a:r>
          </a:p>
          <a:p>
            <a:pPr>
              <a:buFont typeface="Arial" pitchFamily="34" charset="0"/>
              <a:buChar char="•"/>
            </a:pPr>
            <a:r>
              <a:rPr lang="en-AU" sz="1200" kern="1200" dirty="0" smtClean="0">
                <a:solidFill>
                  <a:schemeClr val="tx1"/>
                </a:solidFill>
                <a:ea typeface="+mn-ea"/>
                <a:cs typeface="+mn-cs"/>
              </a:rPr>
              <a:t>Contact third party suppliers immediately prior to tour group departure – to confirm arrangements, verify availability of supply and update any last-minute requirements/changes to previous agreements.</a:t>
            </a:r>
            <a:endParaRPr lang="en-AU" sz="1200" kern="1200" noProof="0" dirty="0">
              <a:solidFill>
                <a:schemeClr val="tx1"/>
              </a:solidFill>
              <a:ea typeface="+mn-ea"/>
              <a:cs typeface="+mn-cs"/>
            </a:endParaRPr>
          </a:p>
          <a:p>
            <a:pPr>
              <a:buFont typeface="Arial" pitchFamily="34" charset="0"/>
              <a:buNone/>
            </a:pPr>
            <a:endParaRPr lang="en-US" sz="1200" b="1" kern="1200" noProof="0" dirty="0" smtClean="0">
              <a:solidFill>
                <a:schemeClr val="tx1"/>
              </a:solidFill>
              <a:ea typeface="+mn-ea"/>
              <a:cs typeface="+mn-cs"/>
            </a:endParaRPr>
          </a:p>
          <a:p>
            <a:pPr>
              <a:buFont typeface="Arial" pitchFamily="34" charset="0"/>
              <a:buNone/>
            </a:pPr>
            <a:r>
              <a:rPr lang="en-US" sz="1200" b="1" kern="1200" noProof="0" dirty="0" smtClean="0">
                <a:solidFill>
                  <a:schemeClr val="tx1"/>
                </a:solidFill>
                <a:ea typeface="+mn-ea"/>
                <a:cs typeface="+mn-cs"/>
              </a:rPr>
              <a:t>Classroom</a:t>
            </a:r>
            <a:r>
              <a:rPr lang="en-US" sz="1200" b="1" kern="1200" baseline="0" noProof="0" dirty="0" smtClean="0">
                <a:solidFill>
                  <a:schemeClr val="tx1"/>
                </a:solidFill>
                <a:ea typeface="+mn-ea"/>
                <a:cs typeface="+mn-cs"/>
              </a:rPr>
              <a:t> Activity – Guest Speaker</a:t>
            </a:r>
          </a:p>
          <a:p>
            <a:pPr>
              <a:buFont typeface="Arial" pitchFamily="34" charset="0"/>
              <a:buNone/>
            </a:pPr>
            <a:r>
              <a:rPr lang="en-US" sz="1200" b="0" kern="1200" dirty="0" smtClean="0">
                <a:solidFill>
                  <a:schemeClr val="tx1"/>
                </a:solidFill>
                <a:ea typeface="+mn-ea"/>
                <a:cs typeface="+mn-cs"/>
              </a:rPr>
              <a:t>Trainer arranges for management/owner of tour operator business</a:t>
            </a:r>
            <a:r>
              <a:rPr lang="en-US" sz="1200" b="0" kern="1200" baseline="0" dirty="0" smtClean="0">
                <a:solidFill>
                  <a:schemeClr val="tx1"/>
                </a:solidFill>
                <a:ea typeface="+mn-ea"/>
                <a:cs typeface="+mn-cs"/>
              </a:rPr>
              <a:t> to attend and:</a:t>
            </a:r>
          </a:p>
          <a:p>
            <a:pPr>
              <a:buFont typeface="Arial" pitchFamily="34" charset="0"/>
              <a:buChar char="•"/>
            </a:pPr>
            <a:r>
              <a:rPr lang="en-US" sz="1200" b="0" kern="1200" dirty="0" smtClean="0">
                <a:solidFill>
                  <a:schemeClr val="tx1"/>
                </a:solidFill>
                <a:ea typeface="+mn-ea"/>
                <a:cs typeface="+mn-cs"/>
              </a:rPr>
              <a:t>Explain how they determine need for external providers to support trips and tours</a:t>
            </a:r>
          </a:p>
          <a:p>
            <a:pPr>
              <a:buFont typeface="Arial" pitchFamily="34" charset="0"/>
              <a:buChar char="•"/>
            </a:pPr>
            <a:r>
              <a:rPr lang="en-US" sz="1200" b="0" kern="1200" dirty="0" smtClean="0">
                <a:solidFill>
                  <a:schemeClr val="tx1"/>
                </a:solidFill>
                <a:ea typeface="+mn-ea"/>
                <a:cs typeface="+mn-cs"/>
              </a:rPr>
              <a:t>Discuss</a:t>
            </a:r>
            <a:r>
              <a:rPr lang="en-US" sz="1200" b="0" kern="1200" baseline="0" dirty="0" smtClean="0">
                <a:solidFill>
                  <a:schemeClr val="tx1"/>
                </a:solidFill>
                <a:ea typeface="+mn-ea"/>
                <a:cs typeface="+mn-cs"/>
              </a:rPr>
              <a:t> their use of third party providers identifying who they use, why and what </a:t>
            </a:r>
            <a:r>
              <a:rPr lang="en-US" sz="1200" b="0" kern="1200" baseline="0" dirty="0" smtClean="0">
                <a:solidFill>
                  <a:schemeClr val="tx1"/>
                </a:solidFill>
                <a:ea typeface="+mn-ea"/>
                <a:cs typeface="+mn-cs"/>
              </a:rPr>
              <a:t>for.</a:t>
            </a:r>
            <a:endParaRPr lang="en-US" sz="1200" b="0" kern="1200" baseline="0" dirty="0" smtClean="0">
              <a:solidFill>
                <a:schemeClr val="tx1"/>
              </a:solidFill>
              <a:ea typeface="+mn-ea"/>
              <a:cs typeface="+mn-cs"/>
            </a:endParaRPr>
          </a:p>
          <a:p>
            <a:pPr>
              <a:buFont typeface="Arial" pitchFamily="34" charset="0"/>
              <a:buChar char="•"/>
            </a:pPr>
            <a:endParaRPr lang="en-US" sz="1200" b="0" kern="1200" baseline="0" dirty="0" smtClean="0">
              <a:solidFill>
                <a:schemeClr val="tx1"/>
              </a:solidFill>
              <a:ea typeface="+mn-ea"/>
              <a:cs typeface="+mn-cs"/>
            </a:endParaRPr>
          </a:p>
          <a:p>
            <a:pPr>
              <a:buFont typeface="Arial" pitchFamily="34" charset="0"/>
              <a:buChar char="•"/>
            </a:pP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identifies </a:t>
            </a:r>
            <a:r>
              <a:rPr lang="en-AU" sz="1200" kern="1200" dirty="0" smtClean="0">
                <a:solidFill>
                  <a:schemeClr val="tx1"/>
                </a:solidFill>
                <a:ea typeface="+mn-ea"/>
                <a:cs typeface="+mn-cs"/>
              </a:rPr>
              <a:t>special needs can include those who:</a:t>
            </a:r>
          </a:p>
          <a:p>
            <a:pPr>
              <a:buFont typeface="Arial" pitchFamily="34" charset="0"/>
              <a:buChar char="•"/>
            </a:pPr>
            <a:r>
              <a:rPr lang="en-AU" sz="1200" kern="1200" dirty="0" smtClean="0">
                <a:solidFill>
                  <a:schemeClr val="tx1"/>
                </a:solidFill>
                <a:ea typeface="+mn-ea"/>
                <a:cs typeface="+mn-cs"/>
              </a:rPr>
              <a:t>Are disabled – mentally or physically</a:t>
            </a:r>
          </a:p>
          <a:p>
            <a:pPr>
              <a:buFont typeface="Arial" pitchFamily="34" charset="0"/>
              <a:buChar char="•"/>
            </a:pPr>
            <a:r>
              <a:rPr lang="en-AU" sz="1200" kern="1200" dirty="0" smtClean="0">
                <a:solidFill>
                  <a:schemeClr val="tx1"/>
                </a:solidFill>
                <a:ea typeface="+mn-ea"/>
                <a:cs typeface="+mn-cs"/>
              </a:rPr>
              <a:t>Have language limitations – and cannot speak/understand the local language </a:t>
            </a:r>
          </a:p>
          <a:p>
            <a:pPr>
              <a:buFont typeface="Arial" pitchFamily="34" charset="0"/>
              <a:buChar char="•"/>
            </a:pPr>
            <a:r>
              <a:rPr lang="en-AU" sz="1200" kern="1200" dirty="0" smtClean="0">
                <a:solidFill>
                  <a:schemeClr val="tx1"/>
                </a:solidFill>
                <a:ea typeface="+mn-ea"/>
                <a:cs typeface="+mn-cs"/>
              </a:rPr>
              <a:t>Need any type of special assistance – such as:</a:t>
            </a:r>
          </a:p>
          <a:p>
            <a:pPr lvl="1">
              <a:buFont typeface="Arial" pitchFamily="34" charset="0"/>
              <a:buChar char="•"/>
            </a:pPr>
            <a:r>
              <a:rPr lang="en-AU" sz="1200" kern="1200" dirty="0" smtClean="0">
                <a:solidFill>
                  <a:schemeClr val="tx1"/>
                </a:solidFill>
                <a:ea typeface="+mn-ea"/>
                <a:cs typeface="+mn-cs"/>
              </a:rPr>
              <a:t>Children travelling alone – known as UAMs</a:t>
            </a:r>
          </a:p>
          <a:p>
            <a:pPr lvl="1">
              <a:buFont typeface="Arial" pitchFamily="34" charset="0"/>
              <a:buChar char="•"/>
            </a:pPr>
            <a:r>
              <a:rPr lang="en-AU" sz="1200" kern="1200" dirty="0" smtClean="0">
                <a:solidFill>
                  <a:schemeClr val="tx1"/>
                </a:solidFill>
                <a:ea typeface="+mn-ea"/>
                <a:cs typeface="+mn-cs"/>
              </a:rPr>
              <a:t>Elderly – who might need help with luggage/transfers</a:t>
            </a:r>
          </a:p>
          <a:p>
            <a:pPr lvl="1">
              <a:buFont typeface="Arial" pitchFamily="34" charset="0"/>
              <a:buChar char="•"/>
            </a:pPr>
            <a:r>
              <a:rPr lang="en-AU" sz="1200" kern="1200" dirty="0" smtClean="0">
                <a:solidFill>
                  <a:schemeClr val="tx1"/>
                </a:solidFill>
                <a:ea typeface="+mn-ea"/>
                <a:cs typeface="+mn-cs"/>
              </a:rPr>
              <a:t>People travelling with service dogs/animals.</a:t>
            </a:r>
          </a:p>
          <a:p>
            <a:pPr>
              <a:buFont typeface="Arial" pitchFamily="34" charset="0"/>
              <a:buNone/>
            </a:pPr>
            <a:endParaRPr lang="en-US" noProof="0" dirty="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pPr>
              <a:buFont typeface="Arial" pitchFamily="34" charset="0"/>
              <a:buChar char="•"/>
            </a:pPr>
            <a:r>
              <a:rPr lang="en-AU" sz="1200" u="sng" kern="1200" dirty="0" smtClean="0">
                <a:solidFill>
                  <a:schemeClr val="tx1"/>
                </a:solidFill>
                <a:ea typeface="+mn-ea"/>
                <a:cs typeface="+mn-cs"/>
                <a:hlinkClick r:id="rId3"/>
              </a:rPr>
              <a:t>http://www.qantas.com.au/travel/airlines/special-travel-needs/global/en</a:t>
            </a:r>
            <a:endParaRPr lang="en-AU" sz="1200" kern="1200" dirty="0" smtClean="0">
              <a:solidFill>
                <a:schemeClr val="tx1"/>
              </a:solidFill>
              <a:ea typeface="+mn-ea"/>
              <a:cs typeface="+mn-cs"/>
            </a:endParaRPr>
          </a:p>
          <a:p>
            <a:pPr>
              <a:buFont typeface="Arial" pitchFamily="34" charset="0"/>
              <a:buChar char="•"/>
            </a:pPr>
            <a:r>
              <a:rPr lang="en-AU" sz="1200" u="sng" kern="1200" dirty="0" smtClean="0">
                <a:solidFill>
                  <a:schemeClr val="tx1"/>
                </a:solidFill>
                <a:ea typeface="+mn-ea"/>
                <a:cs typeface="+mn-cs"/>
                <a:hlinkClick r:id="rId4"/>
              </a:rPr>
              <a:t>http://easyaccesstravel.com/</a:t>
            </a:r>
            <a:endParaRPr lang="en-AU" sz="1200" kern="1200" dirty="0" smtClean="0">
              <a:solidFill>
                <a:schemeClr val="tx1"/>
              </a:solidFill>
              <a:ea typeface="+mn-ea"/>
              <a:cs typeface="+mn-cs"/>
            </a:endParaRPr>
          </a:p>
          <a:p>
            <a:pPr>
              <a:buFont typeface="Arial" pitchFamily="34" charset="0"/>
              <a:buChar char="•"/>
            </a:pPr>
            <a:r>
              <a:rPr lang="en-AU" sz="1200" u="sng" kern="1200" dirty="0" smtClean="0">
                <a:solidFill>
                  <a:schemeClr val="tx1"/>
                </a:solidFill>
                <a:ea typeface="+mn-ea"/>
                <a:cs typeface="+mn-cs"/>
                <a:hlinkClick r:id="rId5"/>
              </a:rPr>
              <a:t>http://www.friendshipcircle.org/blog/2012/04/04/7-travel-agencies-for-special-needs-travel/</a:t>
            </a:r>
            <a:endParaRPr lang="en-AU" sz="1200" kern="1200" dirty="0" smtClean="0">
              <a:solidFill>
                <a:schemeClr val="tx1"/>
              </a:solidFill>
              <a:ea typeface="+mn-ea"/>
              <a:cs typeface="+mn-cs"/>
            </a:endParaRPr>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highlights all </a:t>
            </a:r>
            <a:r>
              <a:rPr lang="en-AU" sz="1200" kern="1200" dirty="0" smtClean="0">
                <a:solidFill>
                  <a:schemeClr val="tx1"/>
                </a:solidFill>
                <a:ea typeface="+mn-ea"/>
                <a:cs typeface="+mn-cs"/>
              </a:rPr>
              <a:t>operators will strive to meet the needs of all their special needs travellers and tourists noting legislation may require they do this but stressing there will always be limitations on what can be done in terms of:</a:t>
            </a:r>
          </a:p>
          <a:p>
            <a:pPr>
              <a:buFont typeface="Arial" pitchFamily="34" charset="0"/>
              <a:buChar char="•"/>
            </a:pPr>
            <a:r>
              <a:rPr lang="en-AU" sz="1200" kern="1200" dirty="0" smtClean="0">
                <a:solidFill>
                  <a:schemeClr val="tx1"/>
                </a:solidFill>
                <a:ea typeface="+mn-ea"/>
                <a:cs typeface="+mn-cs"/>
              </a:rPr>
              <a:t>Staff who can be supplied</a:t>
            </a:r>
          </a:p>
          <a:p>
            <a:pPr>
              <a:buFont typeface="Arial" pitchFamily="34" charset="0"/>
              <a:buChar char="•"/>
            </a:pPr>
            <a:r>
              <a:rPr lang="en-AU" sz="1200" kern="1200" dirty="0" smtClean="0">
                <a:solidFill>
                  <a:schemeClr val="tx1"/>
                </a:solidFill>
                <a:ea typeface="+mn-ea"/>
                <a:cs typeface="+mn-cs"/>
              </a:rPr>
              <a:t>Resources which can be provided.</a:t>
            </a:r>
          </a:p>
          <a:p>
            <a:r>
              <a:rPr lang="en-AU" sz="1200" kern="1200" dirty="0" smtClean="0">
                <a:solidFill>
                  <a:schemeClr val="tx1"/>
                </a:solidFill>
                <a:ea typeface="+mn-ea"/>
                <a:cs typeface="+mn-cs"/>
              </a:rPr>
              <a:t>Many operators will identify what they are able to do and what they cannot supply on their web page and/or as part of their standard Terms and Conditions.</a:t>
            </a:r>
          </a:p>
          <a:p>
            <a:pPr>
              <a:buFont typeface="Arial" pitchFamily="34" charset="0"/>
              <a:buNone/>
            </a:pPr>
            <a:endParaRPr lang="en-US" noProof="0" dirty="0" smtClean="0"/>
          </a:p>
          <a:p>
            <a:pPr>
              <a:buFont typeface="Arial" pitchFamily="34" charset="0"/>
              <a:buNone/>
            </a:pPr>
            <a:r>
              <a:rPr lang="en-US" b="1" noProof="0" dirty="0" smtClean="0"/>
              <a:t>Classroom Activity – Handout</a:t>
            </a:r>
          </a:p>
          <a:p>
            <a:pPr>
              <a:buFont typeface="Arial" pitchFamily="34" charset="0"/>
              <a:buNone/>
            </a:pPr>
            <a:r>
              <a:rPr lang="en-US" b="0" noProof="0" dirty="0" smtClean="0"/>
              <a:t>Trainer distributes and discusses Terms and Conditions</a:t>
            </a:r>
            <a:r>
              <a:rPr lang="en-US" b="0" baseline="0" noProof="0" dirty="0" smtClean="0"/>
              <a:t> from a local tour operator highlighting the sections relating to catering for special need customers.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smtClean="0"/>
              <a:t>Trainer</a:t>
            </a:r>
            <a:r>
              <a:rPr lang="en-US" baseline="0" noProof="0" dirty="0" smtClean="0"/>
              <a:t> discusses </a:t>
            </a:r>
            <a:r>
              <a:rPr lang="en-AU" sz="1200" kern="1200" dirty="0" smtClean="0">
                <a:solidFill>
                  <a:schemeClr val="tx1"/>
                </a:solidFill>
                <a:ea typeface="+mn-ea"/>
                <a:cs typeface="+mn-cs"/>
              </a:rPr>
              <a:t>SOPs to address the requirements which may arise in relation to those with special needs:</a:t>
            </a:r>
          </a:p>
          <a:p>
            <a:pPr>
              <a:buFont typeface="Arial" pitchFamily="34" charset="0"/>
              <a:buChar char="•"/>
            </a:pPr>
            <a:r>
              <a:rPr lang="en-AU" sz="1200" kern="1200" dirty="0" smtClean="0">
                <a:solidFill>
                  <a:schemeClr val="tx1"/>
                </a:solidFill>
                <a:ea typeface="+mn-ea"/>
                <a:cs typeface="+mn-cs"/>
              </a:rPr>
              <a:t>Check the ‘Special request’ forms for the tour – most operators have these forms which are available for customers and/or sales staff to complete. These forms identify the special needs of the person/group and their names so they can be identified and their needs catered for.</a:t>
            </a:r>
          </a:p>
          <a:p>
            <a:pPr>
              <a:buFont typeface="Arial" pitchFamily="34" charset="0"/>
              <a:buChar char="•"/>
            </a:pPr>
            <a:r>
              <a:rPr lang="en-AU" sz="1200" kern="1200" dirty="0" smtClean="0">
                <a:solidFill>
                  <a:schemeClr val="tx1"/>
                </a:solidFill>
                <a:ea typeface="+mn-ea"/>
                <a:cs typeface="+mn-cs"/>
              </a:rPr>
              <a:t>Read the contracts which have been prepared for customised and private tours – as these may be focussed on groups where some or all of the party have identified special needs. Custom tours are increasingly being organised for elderly, disabled and other special needs groups.</a:t>
            </a:r>
          </a:p>
          <a:p>
            <a:pPr lvl="0">
              <a:buFont typeface="Arial" pitchFamily="34" charset="0"/>
              <a:buChar char="•"/>
            </a:pPr>
            <a:r>
              <a:rPr lang="en-AU" sz="1200" kern="1200" dirty="0" smtClean="0">
                <a:solidFill>
                  <a:schemeClr val="tx1"/>
                </a:solidFill>
                <a:ea typeface="+mn-ea"/>
                <a:cs typeface="+mn-cs"/>
              </a:rPr>
              <a:t>Adjust the standard provisioning for the trip/tour by supplying/loading necessary items as identified by the pre-tour notifications – this can require:</a:t>
            </a:r>
          </a:p>
          <a:p>
            <a:pPr lvl="1">
              <a:buFont typeface="Arial" pitchFamily="34" charset="0"/>
              <a:buChar char="•"/>
            </a:pPr>
            <a:r>
              <a:rPr lang="en-US" sz="1200" kern="1200" dirty="0" smtClean="0">
                <a:solidFill>
                  <a:schemeClr val="tx1"/>
                </a:solidFill>
                <a:ea typeface="+mn-ea"/>
                <a:cs typeface="+mn-cs"/>
              </a:rPr>
              <a:t>Providing handouts and other printed materials: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In languages appropriate for the identified special needs traveler</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In large print for those with vision impairment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Making wheelchairs available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Supplying baby requirements – strollers/perambulators, basinets, baby capsules/seats/restraints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Arranging for special food needs to cater for religious, cultural and diet-related or medical conditions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Loading special headsets for those with identified hearting problems – in situations where the tour has a scripted commentary as part of the deal</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Factoring in variations to standard equipment and supplies traditionally packed for similar tours – to ensure special needs are accommodated as required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Purchasing additional or new equipment and supplies – to ensure promises made and customer expectations are met: always make sure these purchases occur within budget limitations/allowances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Notifying destinations, attractions, joint venture partners, carriers and others of the special needs customers – so they too can prepare for their arrival and also meet their needs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Complete necessary internal documentation to reflect action taken to address special needs – these may include:</a:t>
            </a:r>
          </a:p>
          <a:p>
            <a:pPr lvl="1">
              <a:buFont typeface="Arial" pitchFamily="34" charset="0"/>
              <a:buChar char="•"/>
            </a:pPr>
            <a:r>
              <a:rPr lang="en-US" sz="1200" kern="1200" dirty="0" smtClean="0">
                <a:solidFill>
                  <a:schemeClr val="tx1"/>
                </a:solidFill>
                <a:ea typeface="+mn-ea"/>
                <a:cs typeface="+mn-cs"/>
              </a:rPr>
              <a:t>Loading sheets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Requisitions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Purchase Orders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Internal advice sheets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Pass on the identified special needs information to tour staff – such as the Tour Guides and/or Driver at the pre-tour briefing including advice regarding action taken to meet the identified need.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stresses there </a:t>
            </a:r>
            <a:r>
              <a:rPr lang="en-AU" sz="1200" kern="1200" dirty="0" smtClean="0">
                <a:solidFill>
                  <a:schemeClr val="tx1"/>
                </a:solidFill>
                <a:ea typeface="+mn-ea"/>
                <a:cs typeface="+mn-cs"/>
              </a:rPr>
              <a:t>is a general requirement all trips/tours are operated within a budget set by management highlighting the budget is set based on a combination of factors such as:</a:t>
            </a:r>
          </a:p>
          <a:p>
            <a:pPr>
              <a:buFont typeface="Arial" pitchFamily="34" charset="0"/>
              <a:buChar char="•"/>
            </a:pPr>
            <a:r>
              <a:rPr lang="en-AU" sz="1200" kern="1200" dirty="0" smtClean="0">
                <a:solidFill>
                  <a:schemeClr val="tx1"/>
                </a:solidFill>
                <a:ea typeface="+mn-ea"/>
                <a:cs typeface="+mn-cs"/>
              </a:rPr>
              <a:t>Previous experience with similar trips/tours and general industry experience</a:t>
            </a:r>
          </a:p>
          <a:p>
            <a:pPr>
              <a:buFont typeface="Arial" pitchFamily="34" charset="0"/>
              <a:buChar char="•"/>
            </a:pPr>
            <a:r>
              <a:rPr lang="en-AU" sz="1200" kern="1200" dirty="0" smtClean="0">
                <a:solidFill>
                  <a:schemeClr val="tx1"/>
                </a:solidFill>
                <a:ea typeface="+mn-ea"/>
                <a:cs typeface="+mn-cs"/>
              </a:rPr>
              <a:t>Prices charged – to the tour group members/customers</a:t>
            </a:r>
          </a:p>
          <a:p>
            <a:pPr>
              <a:buFont typeface="Arial" pitchFamily="34" charset="0"/>
              <a:buChar char="•"/>
            </a:pPr>
            <a:r>
              <a:rPr lang="en-AU" sz="1200" kern="1200" dirty="0" smtClean="0">
                <a:solidFill>
                  <a:schemeClr val="tx1"/>
                </a:solidFill>
                <a:ea typeface="+mn-ea"/>
                <a:cs typeface="+mn-cs"/>
              </a:rPr>
              <a:t>Promises made about what will be provided – in advertisements and contracts/agreements</a:t>
            </a:r>
          </a:p>
          <a:p>
            <a:pPr>
              <a:buFont typeface="Arial" pitchFamily="34" charset="0"/>
              <a:buChar char="•"/>
            </a:pPr>
            <a:r>
              <a:rPr lang="en-AU" sz="1200" kern="1200" dirty="0" smtClean="0">
                <a:solidFill>
                  <a:schemeClr val="tx1"/>
                </a:solidFill>
                <a:ea typeface="+mn-ea"/>
                <a:cs typeface="+mn-cs"/>
              </a:rPr>
              <a:t>Need to meet legally-imposed obligations – in relation to health, safety, security and other applicable issues</a:t>
            </a:r>
          </a:p>
          <a:p>
            <a:pPr>
              <a:buFont typeface="Arial" pitchFamily="34" charset="0"/>
              <a:buChar char="•"/>
            </a:pPr>
            <a:r>
              <a:rPr lang="en-AU" sz="1200" kern="1200" dirty="0" smtClean="0">
                <a:solidFill>
                  <a:schemeClr val="tx1"/>
                </a:solidFill>
                <a:ea typeface="+mn-ea"/>
                <a:cs typeface="+mn-cs"/>
              </a:rPr>
              <a:t>Need to provide value-for-money to participants – so the trip/tour gains a good reputation which will enhance the potential for repeat and referral business</a:t>
            </a:r>
          </a:p>
          <a:p>
            <a:pPr>
              <a:buFont typeface="Arial" pitchFamily="34" charset="0"/>
              <a:buChar char="•"/>
            </a:pPr>
            <a:r>
              <a:rPr lang="en-AU" sz="1200" kern="1200" dirty="0" smtClean="0">
                <a:solidFill>
                  <a:schemeClr val="tx1"/>
                </a:solidFill>
                <a:ea typeface="+mn-ea"/>
                <a:cs typeface="+mn-cs"/>
              </a:rPr>
              <a:t>Need to meet what the opposition is doing – so the trip/tour becomes a remains a viable option for customers</a:t>
            </a:r>
          </a:p>
          <a:p>
            <a:pPr>
              <a:buFont typeface="Arial" pitchFamily="34" charset="0"/>
              <a:buChar char="•"/>
            </a:pPr>
            <a:r>
              <a:rPr lang="en-AU" sz="1200" kern="1200" dirty="0" smtClean="0">
                <a:solidFill>
                  <a:schemeClr val="tx1"/>
                </a:solidFill>
                <a:ea typeface="+mn-ea"/>
                <a:cs typeface="+mn-cs"/>
              </a:rPr>
              <a:t>Need for the organisation to generate a profit – to sustain the business and maintain and grow jobs.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a:t>
            </a:r>
            <a:r>
              <a:rPr lang="en-AU" sz="1200" kern="1200" dirty="0" smtClean="0">
                <a:solidFill>
                  <a:schemeClr val="tx1"/>
                </a:solidFill>
                <a:ea typeface="+mn-ea"/>
                <a:cs typeface="+mn-cs"/>
              </a:rPr>
              <a:t>for custom and private tours the budget can be identified by:</a:t>
            </a:r>
          </a:p>
          <a:p>
            <a:pPr>
              <a:buFont typeface="Arial" pitchFamily="34" charset="0"/>
              <a:buChar char="•"/>
            </a:pPr>
            <a:r>
              <a:rPr lang="en-AU" sz="1200" kern="1200" dirty="0" smtClean="0">
                <a:solidFill>
                  <a:schemeClr val="tx1"/>
                </a:solidFill>
                <a:ea typeface="+mn-ea"/>
                <a:cs typeface="+mn-cs"/>
              </a:rPr>
              <a:t>Reading the client file for the individual tour</a:t>
            </a:r>
          </a:p>
          <a:p>
            <a:pPr>
              <a:buFont typeface="Arial" pitchFamily="34" charset="0"/>
              <a:buChar char="•"/>
            </a:pPr>
            <a:r>
              <a:rPr lang="en-AU" sz="1200" kern="1200" dirty="0" smtClean="0">
                <a:solidFill>
                  <a:schemeClr val="tx1"/>
                </a:solidFill>
                <a:ea typeface="+mn-ea"/>
                <a:cs typeface="+mn-cs"/>
              </a:rPr>
              <a:t>Talking to management</a:t>
            </a:r>
          </a:p>
          <a:p>
            <a:pPr>
              <a:buFont typeface="Arial" pitchFamily="34" charset="0"/>
              <a:buChar char="•"/>
            </a:pPr>
            <a:r>
              <a:rPr lang="en-AU" sz="1200" kern="1200" dirty="0" smtClean="0">
                <a:solidFill>
                  <a:schemeClr val="tx1"/>
                </a:solidFill>
                <a:ea typeface="+mn-ea"/>
                <a:cs typeface="+mn-cs"/>
              </a:rPr>
              <a:t>Speaking with the sales staff/consultants who negotiated the deal for the trip/tour.</a:t>
            </a:r>
          </a:p>
          <a:p>
            <a:r>
              <a:rPr lang="en-AU" sz="1200" kern="1200" dirty="0" smtClean="0">
                <a:solidFill>
                  <a:schemeClr val="tx1"/>
                </a:solidFill>
                <a:ea typeface="+mn-ea"/>
                <a:cs typeface="+mn-cs"/>
              </a:rPr>
              <a:t>These tours/trips are all ‘one-off’ in nature so the resources and budget will likewise be unique for each individual trip/tour.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for </a:t>
            </a:r>
            <a:r>
              <a:rPr lang="en-AU" sz="1200" kern="1200" dirty="0" smtClean="0">
                <a:solidFill>
                  <a:schemeClr val="tx1"/>
                </a:solidFill>
                <a:ea typeface="+mn-ea"/>
                <a:cs typeface="+mn-cs"/>
              </a:rPr>
              <a:t>other trips/tours (these are the normal/standard trips/tours conducted on a regular and ongoing basis) the budget is commonly pre-set and automatically factored into the resource sheets for each individual type of tour and these sheets are known variously as:</a:t>
            </a:r>
          </a:p>
          <a:p>
            <a:pPr>
              <a:buFont typeface="Arial" pitchFamily="34" charset="0"/>
              <a:buChar char="•"/>
            </a:pPr>
            <a:r>
              <a:rPr lang="en-AU" sz="1200" kern="1200" dirty="0" smtClean="0">
                <a:solidFill>
                  <a:schemeClr val="tx1"/>
                </a:solidFill>
                <a:ea typeface="+mn-ea"/>
                <a:cs typeface="+mn-cs"/>
              </a:rPr>
              <a:t>Loading sheets</a:t>
            </a:r>
          </a:p>
          <a:p>
            <a:pPr>
              <a:buFont typeface="Arial" pitchFamily="34" charset="0"/>
              <a:buChar char="•"/>
            </a:pPr>
            <a:r>
              <a:rPr lang="en-AU" sz="1200" kern="1200" dirty="0" smtClean="0">
                <a:solidFill>
                  <a:schemeClr val="tx1"/>
                </a:solidFill>
                <a:ea typeface="+mn-ea"/>
                <a:cs typeface="+mn-cs"/>
              </a:rPr>
              <a:t>Stocking sheets</a:t>
            </a:r>
          </a:p>
          <a:p>
            <a:pPr>
              <a:buFont typeface="Arial" pitchFamily="34" charset="0"/>
              <a:buChar char="•"/>
            </a:pPr>
            <a:r>
              <a:rPr lang="en-AU" sz="1200" kern="1200" dirty="0" smtClean="0">
                <a:solidFill>
                  <a:schemeClr val="tx1"/>
                </a:solidFill>
                <a:ea typeface="+mn-ea"/>
                <a:cs typeface="+mn-cs"/>
              </a:rPr>
              <a:t>Tour sheets.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commonly:</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Administration/management will provide these sheets to guide the operation of the trip/tour including all necessary pre-departure checks. SOP is:</a:t>
            </a:r>
          </a:p>
          <a:p>
            <a:pPr lvl="1">
              <a:buFont typeface="Arial" pitchFamily="34" charset="0"/>
              <a:buChar char="•"/>
            </a:pPr>
            <a:r>
              <a:rPr lang="en-US" sz="1200" kern="1200" dirty="0" smtClean="0">
                <a:solidFill>
                  <a:schemeClr val="tx1"/>
                </a:solidFill>
                <a:ea typeface="+mn-ea"/>
                <a:cs typeface="+mn-cs"/>
              </a:rPr>
              <a:t>To contact them to request the Loading sheet for the trip/tour being serviced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For them to distribute the sheets at a start-of-shift staff briefing.</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Administration/management monitor use of listed resources to determine:</a:t>
            </a:r>
          </a:p>
          <a:p>
            <a:pPr lvl="1">
              <a:buFont typeface="Arial" pitchFamily="34" charset="0"/>
              <a:buChar char="•"/>
            </a:pPr>
            <a:r>
              <a:rPr lang="en-US" sz="1200" kern="1200" dirty="0" smtClean="0">
                <a:solidFill>
                  <a:schemeClr val="tx1"/>
                </a:solidFill>
                <a:ea typeface="+mn-ea"/>
                <a:cs typeface="+mn-cs"/>
              </a:rPr>
              <a:t>If additional supplies/resources are needed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When allocation of resources needs to change based on feedback from tour participants and tour staff</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If the amount of resources can be reduced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Resources are </a:t>
            </a:r>
            <a:r>
              <a:rPr lang="en-AU" sz="1200" b="1" kern="1200" dirty="0" smtClean="0">
                <a:solidFill>
                  <a:schemeClr val="tx1"/>
                </a:solidFill>
                <a:ea typeface="+mn-ea"/>
                <a:cs typeface="+mn-cs"/>
              </a:rPr>
              <a:t>dictated</a:t>
            </a:r>
            <a:r>
              <a:rPr lang="en-AU" sz="1200" kern="1200" dirty="0" smtClean="0">
                <a:solidFill>
                  <a:schemeClr val="tx1"/>
                </a:solidFill>
                <a:ea typeface="+mn-ea"/>
                <a:cs typeface="+mn-cs"/>
              </a:rPr>
              <a:t> by these Loading/Stocking sheets – this means the sheets specify exactly what must be provided in terms of all resources. There is no room to adjust what is listed on these sheets. The sheets will either:</a:t>
            </a:r>
          </a:p>
          <a:p>
            <a:pPr lvl="1">
              <a:buFont typeface="Arial" pitchFamily="34" charset="0"/>
              <a:buChar char="•"/>
            </a:pPr>
            <a:r>
              <a:rPr lang="en-US" sz="1200" kern="1200" dirty="0" smtClean="0">
                <a:solidFill>
                  <a:schemeClr val="tx1"/>
                </a:solidFill>
                <a:ea typeface="+mn-ea"/>
                <a:cs typeface="+mn-cs"/>
              </a:rPr>
              <a:t>Allocate/identify the same items (by type and quantity) to every one of the same trips/tours: ‘par stock’  </a:t>
            </a:r>
            <a:endParaRPr lang="en-AU" sz="1200" kern="1200" dirty="0" smtClean="0">
              <a:solidFill>
                <a:schemeClr val="tx1"/>
              </a:solidFill>
              <a:ea typeface="+mn-ea"/>
              <a:cs typeface="+mn-cs"/>
            </a:endParaRPr>
          </a:p>
          <a:p>
            <a:pPr lvl="1">
              <a:buFont typeface="Arial" pitchFamily="34" charset="0"/>
              <a:buNone/>
            </a:pPr>
            <a:r>
              <a:rPr lang="en-US" sz="1200" kern="1200" dirty="0" smtClean="0">
                <a:solidFill>
                  <a:schemeClr val="tx1"/>
                </a:solidFill>
                <a:ea typeface="+mn-ea"/>
                <a:cs typeface="+mn-cs"/>
              </a:rPr>
              <a:t>or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Calculate the resources to be provided (by type and quantity) based on ticket sales and known special requests/need to accommodate special needs.</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where </a:t>
            </a:r>
            <a:r>
              <a:rPr lang="en-AU" sz="1200" kern="1200" dirty="0" smtClean="0">
                <a:solidFill>
                  <a:schemeClr val="tx1"/>
                </a:solidFill>
                <a:ea typeface="+mn-ea"/>
                <a:cs typeface="+mn-cs"/>
              </a:rPr>
              <a:t>there is a need to obtain extra resources these must be requested from administration/management and there is always a need to get permission before supplying more resources than officially allocated highlighting there may be a need to:</a:t>
            </a:r>
          </a:p>
          <a:p>
            <a:pPr>
              <a:buFont typeface="Arial" pitchFamily="34" charset="0"/>
              <a:buChar char="•"/>
            </a:pPr>
            <a:r>
              <a:rPr lang="en-AU" sz="1200" kern="1200" dirty="0" smtClean="0">
                <a:solidFill>
                  <a:schemeClr val="tx1"/>
                </a:solidFill>
                <a:ea typeface="+mn-ea"/>
                <a:cs typeface="+mn-cs"/>
              </a:rPr>
              <a:t>Identify and quantify what is required</a:t>
            </a:r>
          </a:p>
          <a:p>
            <a:pPr>
              <a:buFont typeface="Arial" pitchFamily="34" charset="0"/>
              <a:buChar char="•"/>
            </a:pPr>
            <a:r>
              <a:rPr lang="en-AU" sz="1200" kern="1200" dirty="0" smtClean="0">
                <a:solidFill>
                  <a:schemeClr val="tx1"/>
                </a:solidFill>
                <a:ea typeface="+mn-ea"/>
                <a:cs typeface="+mn-cs"/>
              </a:rPr>
              <a:t>Explain/justify why it is required and which trip/tour the items are required for</a:t>
            </a:r>
          </a:p>
          <a:p>
            <a:pPr>
              <a:buFont typeface="Arial" pitchFamily="34" charset="0"/>
              <a:buChar char="•"/>
            </a:pPr>
            <a:r>
              <a:rPr lang="en-AU" sz="1200" kern="1200" dirty="0" smtClean="0">
                <a:solidFill>
                  <a:schemeClr val="tx1"/>
                </a:solidFill>
                <a:ea typeface="+mn-ea"/>
                <a:cs typeface="+mn-cs"/>
              </a:rPr>
              <a:t>Complete a relevant internal document – such as a Request for Resources/Resource Request form.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there </a:t>
            </a:r>
            <a:r>
              <a:rPr lang="en-AU" sz="1200" kern="1200" dirty="0" smtClean="0">
                <a:solidFill>
                  <a:schemeClr val="tx1"/>
                </a:solidFill>
                <a:ea typeface="+mn-ea"/>
                <a:cs typeface="+mn-cs"/>
              </a:rPr>
              <a:t>is always an expectation common sense is used when resourcing a trip/tour.</a:t>
            </a:r>
          </a:p>
          <a:p>
            <a:r>
              <a:rPr lang="en-AU" sz="1200" kern="1200" dirty="0" smtClean="0">
                <a:solidFill>
                  <a:schemeClr val="tx1"/>
                </a:solidFill>
                <a:ea typeface="+mn-ea"/>
                <a:cs typeface="+mn-cs"/>
              </a:rPr>
              <a:t>For example, if an item is listed for loading but is unavailable at the time then it is expected a substitute/alternate item is provided and when this is done:</a:t>
            </a:r>
          </a:p>
          <a:p>
            <a:pPr>
              <a:buFont typeface="Arial" pitchFamily="34" charset="0"/>
              <a:buChar char="•"/>
            </a:pPr>
            <a:r>
              <a:rPr lang="en-AU" sz="1200" kern="1200" dirty="0" smtClean="0">
                <a:solidFill>
                  <a:schemeClr val="tx1"/>
                </a:solidFill>
                <a:ea typeface="+mn-ea"/>
                <a:cs typeface="+mn-cs"/>
              </a:rPr>
              <a:t>This must be recorded – on the Stocking Sheet or on an Internal Stock Transfer (or similar) sheet</a:t>
            </a:r>
          </a:p>
          <a:p>
            <a:pPr>
              <a:buFont typeface="Arial" pitchFamily="34" charset="0"/>
              <a:buChar char="•"/>
            </a:pPr>
            <a:r>
              <a:rPr lang="en-AU" sz="1200" kern="1200" dirty="0" smtClean="0">
                <a:solidFill>
                  <a:schemeClr val="tx1"/>
                </a:solidFill>
                <a:ea typeface="+mn-ea"/>
                <a:cs typeface="+mn-cs"/>
              </a:rPr>
              <a:t>Administration/management must be advised the item is out-of-stock – and a request for additional goods (via use of a requisition form or similar) made</a:t>
            </a:r>
          </a:p>
          <a:p>
            <a:pPr>
              <a:buFont typeface="Arial" pitchFamily="34" charset="0"/>
              <a:buChar char="•"/>
            </a:pPr>
            <a:r>
              <a:rPr lang="en-AU" sz="1200" kern="1200" dirty="0" smtClean="0">
                <a:solidFill>
                  <a:schemeClr val="tx1"/>
                </a:solidFill>
                <a:ea typeface="+mn-ea"/>
                <a:cs typeface="+mn-cs"/>
              </a:rPr>
              <a:t>Staff on the trip/tour must be advised of the shortage/change made.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where </a:t>
            </a:r>
            <a:r>
              <a:rPr lang="en-AU" sz="1200" kern="1200" dirty="0" smtClean="0">
                <a:solidFill>
                  <a:schemeClr val="tx1"/>
                </a:solidFill>
                <a:ea typeface="+mn-ea"/>
                <a:cs typeface="+mn-cs"/>
              </a:rPr>
              <a:t>special purchases need to be made for trip/tour all internal protocols must be adhered to.</a:t>
            </a:r>
          </a:p>
          <a:p>
            <a:r>
              <a:rPr lang="en-AU" sz="1200" kern="1200" dirty="0" smtClean="0">
                <a:solidFill>
                  <a:schemeClr val="tx1"/>
                </a:solidFill>
                <a:ea typeface="+mn-ea"/>
                <a:cs typeface="+mn-cs"/>
              </a:rPr>
              <a:t>These protocols generally address issues such as:</a:t>
            </a:r>
          </a:p>
          <a:p>
            <a:pPr>
              <a:buFont typeface="Arial" pitchFamily="34" charset="0"/>
              <a:buChar char="•"/>
            </a:pPr>
            <a:r>
              <a:rPr lang="en-AU" sz="1200" kern="1200" dirty="0" smtClean="0">
                <a:solidFill>
                  <a:schemeClr val="tx1"/>
                </a:solidFill>
                <a:ea typeface="+mn-ea"/>
                <a:cs typeface="+mn-cs"/>
              </a:rPr>
              <a:t>Need to obtain authorisation to make purchases – this may be verbal or in writing</a:t>
            </a:r>
          </a:p>
          <a:p>
            <a:pPr>
              <a:buFont typeface="Arial" pitchFamily="34" charset="0"/>
              <a:buChar char="•"/>
            </a:pPr>
            <a:r>
              <a:rPr lang="en-AU" sz="1200" kern="1200" dirty="0" smtClean="0">
                <a:solidFill>
                  <a:schemeClr val="tx1"/>
                </a:solidFill>
                <a:ea typeface="+mn-ea"/>
                <a:cs typeface="+mn-cs"/>
              </a:rPr>
              <a:t>Need to follow standard organisational practices – which may include:</a:t>
            </a:r>
          </a:p>
          <a:p>
            <a:pPr lvl="1">
              <a:buFont typeface="Arial" pitchFamily="34" charset="0"/>
              <a:buChar char="•"/>
            </a:pPr>
            <a:r>
              <a:rPr lang="en-AU" sz="1200" kern="1200" dirty="0" smtClean="0">
                <a:solidFill>
                  <a:schemeClr val="tx1"/>
                </a:solidFill>
                <a:ea typeface="+mn-ea"/>
                <a:cs typeface="+mn-cs"/>
              </a:rPr>
              <a:t>Obtaining quotations</a:t>
            </a:r>
          </a:p>
          <a:p>
            <a:pPr lvl="1">
              <a:buFont typeface="Arial" pitchFamily="34" charset="0"/>
              <a:buChar char="•"/>
            </a:pPr>
            <a:r>
              <a:rPr lang="en-AU" sz="1200" kern="1200" dirty="0" smtClean="0">
                <a:solidFill>
                  <a:schemeClr val="tx1"/>
                </a:solidFill>
                <a:ea typeface="+mn-ea"/>
                <a:cs typeface="+mn-cs"/>
              </a:rPr>
              <a:t>Raising a Purchase Order</a:t>
            </a:r>
          </a:p>
          <a:p>
            <a:pPr lvl="1">
              <a:buFont typeface="Arial" pitchFamily="34" charset="0"/>
              <a:buChar char="•"/>
            </a:pPr>
            <a:r>
              <a:rPr lang="en-AU" sz="1200" kern="1200" dirty="0" smtClean="0">
                <a:solidFill>
                  <a:schemeClr val="tx1"/>
                </a:solidFill>
                <a:ea typeface="+mn-ea"/>
                <a:cs typeface="+mn-cs"/>
              </a:rPr>
              <a:t>Buying from ‘preferred suppliers’</a:t>
            </a:r>
          </a:p>
          <a:p>
            <a:pPr>
              <a:buFont typeface="Arial" pitchFamily="34" charset="0"/>
              <a:buChar char="•"/>
            </a:pPr>
            <a:r>
              <a:rPr lang="en-AU" sz="1200" kern="1200" dirty="0" smtClean="0">
                <a:solidFill>
                  <a:schemeClr val="tx1"/>
                </a:solidFill>
                <a:ea typeface="+mn-ea"/>
                <a:cs typeface="+mn-cs"/>
              </a:rPr>
              <a:t>Need to notify administration/management of extra costs/costs incurred – so these can be:</a:t>
            </a:r>
          </a:p>
          <a:p>
            <a:pPr lvl="1">
              <a:buFont typeface="Arial" pitchFamily="34" charset="0"/>
              <a:buChar char="•"/>
            </a:pPr>
            <a:r>
              <a:rPr lang="en-US" sz="1200" kern="1200" dirty="0" smtClean="0">
                <a:solidFill>
                  <a:schemeClr val="tx1"/>
                </a:solidFill>
                <a:ea typeface="+mn-ea"/>
                <a:cs typeface="+mn-cs"/>
              </a:rPr>
              <a:t>Allocated to the correct trips/tours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Factored into calculations relating to financial performance of the trips/tours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Passed on to tour group members so all legitimate expenses can be claimed back</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Integrated into future resource allocations for upcoming tours/trips.</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a:t>
            </a:r>
            <a:r>
              <a:rPr lang="en-US" baseline="0" noProof="0" dirty="0" smtClean="0"/>
              <a:t> describes some of the resources required for trips/tours:</a:t>
            </a:r>
          </a:p>
          <a:p>
            <a:pPr>
              <a:buFont typeface="Arial" pitchFamily="34" charset="0"/>
              <a:buChar char="•"/>
            </a:pPr>
            <a:r>
              <a:rPr lang="en-AU" sz="1200" kern="1200" dirty="0" smtClean="0">
                <a:solidFill>
                  <a:schemeClr val="tx1"/>
                </a:solidFill>
                <a:ea typeface="+mn-ea"/>
                <a:cs typeface="+mn-cs"/>
              </a:rPr>
              <a:t>Camping gear – including tents and bedding</a:t>
            </a:r>
          </a:p>
          <a:p>
            <a:pPr>
              <a:buFont typeface="Arial" pitchFamily="34" charset="0"/>
              <a:buChar char="•"/>
            </a:pPr>
            <a:r>
              <a:rPr lang="en-AU" sz="1200" kern="1200" dirty="0" smtClean="0">
                <a:solidFill>
                  <a:schemeClr val="tx1"/>
                </a:solidFill>
                <a:ea typeface="+mn-ea"/>
                <a:cs typeface="+mn-cs"/>
              </a:rPr>
              <a:t>Catering gear – including cooking and food service equipment</a:t>
            </a:r>
          </a:p>
          <a:p>
            <a:pPr>
              <a:buFont typeface="Arial" pitchFamily="34" charset="0"/>
              <a:buChar char="•"/>
            </a:pPr>
            <a:r>
              <a:rPr lang="en-AU" sz="1200" kern="1200" dirty="0" smtClean="0">
                <a:solidFill>
                  <a:schemeClr val="tx1"/>
                </a:solidFill>
                <a:ea typeface="+mn-ea"/>
                <a:cs typeface="+mn-cs"/>
              </a:rPr>
              <a:t>Maintenance equipment – such as tools, spare parts repair kits</a:t>
            </a:r>
          </a:p>
          <a:p>
            <a:pPr>
              <a:buFont typeface="Arial" pitchFamily="34" charset="0"/>
              <a:buChar char="•"/>
            </a:pPr>
            <a:r>
              <a:rPr lang="en-US" sz="1200" kern="1200" dirty="0" smtClean="0">
                <a:solidFill>
                  <a:schemeClr val="tx1"/>
                </a:solidFill>
                <a:ea typeface="+mn-ea"/>
                <a:cs typeface="+mn-cs"/>
              </a:rPr>
              <a:t>What other resources – see Classroom Activity below.</a:t>
            </a: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r>
              <a:rPr lang="en-US" sz="1200" b="1" kern="1200" dirty="0" smtClean="0">
                <a:solidFill>
                  <a:schemeClr val="tx1"/>
                </a:solidFill>
                <a:ea typeface="+mn-ea"/>
                <a:cs typeface="+mn-cs"/>
              </a:rPr>
              <a:t>Classroom Activity – Group Discussion</a:t>
            </a:r>
          </a:p>
          <a:p>
            <a:r>
              <a:rPr lang="en-US" sz="1200" b="0" kern="1200" dirty="0" smtClean="0">
                <a:solidFill>
                  <a:schemeClr val="tx1"/>
                </a:solidFill>
                <a:ea typeface="+mn-ea"/>
                <a:cs typeface="+mn-cs"/>
              </a:rPr>
              <a:t>Trainer asks group to identify examples of possible other items required.</a:t>
            </a:r>
          </a:p>
          <a:p>
            <a:r>
              <a:rPr lang="en-US" sz="1200" b="0" kern="1200" dirty="0" smtClean="0">
                <a:solidFill>
                  <a:schemeClr val="tx1"/>
                </a:solidFill>
                <a:ea typeface="+mn-ea"/>
                <a:cs typeface="+mn-cs"/>
              </a:rPr>
              <a:t>Answers may include:</a:t>
            </a:r>
          </a:p>
          <a:p>
            <a:pPr>
              <a:buFont typeface="Arial" pitchFamily="34" charset="0"/>
              <a:buChar char="•"/>
            </a:pPr>
            <a:r>
              <a:rPr lang="en-AU" sz="1200" kern="1200" dirty="0" smtClean="0">
                <a:solidFill>
                  <a:schemeClr val="tx1"/>
                </a:solidFill>
                <a:ea typeface="+mn-ea"/>
                <a:cs typeface="+mn-cs"/>
              </a:rPr>
              <a:t>Recreational gear – to allow participants to relax, play games, have fun</a:t>
            </a:r>
          </a:p>
          <a:p>
            <a:pPr>
              <a:buFont typeface="Arial" pitchFamily="34" charset="0"/>
              <a:buChar char="•"/>
            </a:pPr>
            <a:r>
              <a:rPr lang="en-AU" sz="1200" kern="1200" dirty="0" smtClean="0">
                <a:solidFill>
                  <a:schemeClr val="tx1"/>
                </a:solidFill>
                <a:ea typeface="+mn-ea"/>
                <a:cs typeface="+mn-cs"/>
              </a:rPr>
              <a:t>Educational items – such as props, sample items, handouts, models, equipment to enable demonstrations and identified practical sessions, and materials to support interpretive activities</a:t>
            </a:r>
          </a:p>
          <a:p>
            <a:pPr>
              <a:buFont typeface="Arial" pitchFamily="34" charset="0"/>
              <a:buChar char="•"/>
            </a:pPr>
            <a:r>
              <a:rPr lang="en-AU" sz="1200" kern="1200" dirty="0" smtClean="0">
                <a:solidFill>
                  <a:schemeClr val="tx1"/>
                </a:solidFill>
                <a:ea typeface="+mn-ea"/>
                <a:cs typeface="+mn-cs"/>
              </a:rPr>
              <a:t>Communication equipment – for the vehicle being used, for tour staff and (where appropriate) for tour group members</a:t>
            </a:r>
          </a:p>
          <a:p>
            <a:pPr>
              <a:buFont typeface="Arial" pitchFamily="34" charset="0"/>
              <a:buChar char="•"/>
            </a:pPr>
            <a:r>
              <a:rPr lang="en-AU" sz="1200" kern="1200" dirty="0" smtClean="0">
                <a:solidFill>
                  <a:schemeClr val="tx1"/>
                </a:solidFill>
                <a:ea typeface="+mn-ea"/>
                <a:cs typeface="+mn-cs"/>
              </a:rPr>
              <a:t>PPE – needed where the trip/tour includes activities requiring protective clothing and equipment</a:t>
            </a:r>
          </a:p>
          <a:p>
            <a:pPr>
              <a:buFont typeface="Arial" pitchFamily="34" charset="0"/>
              <a:buChar char="•"/>
            </a:pPr>
            <a:r>
              <a:rPr lang="en-AU" sz="1200" kern="1200" dirty="0" smtClean="0">
                <a:solidFill>
                  <a:schemeClr val="tx1"/>
                </a:solidFill>
                <a:ea typeface="+mn-ea"/>
                <a:cs typeface="+mn-cs"/>
              </a:rPr>
              <a:t>Fuel – petrol, diesel, gas, batteries</a:t>
            </a:r>
          </a:p>
          <a:p>
            <a:pPr>
              <a:buFont typeface="Arial" pitchFamily="34" charset="0"/>
              <a:buChar char="•"/>
            </a:pPr>
            <a:r>
              <a:rPr lang="en-AU" sz="1200" kern="1200" dirty="0" smtClean="0">
                <a:solidFill>
                  <a:schemeClr val="tx1"/>
                </a:solidFill>
                <a:ea typeface="+mn-ea"/>
                <a:cs typeface="+mn-cs"/>
              </a:rPr>
              <a:t>Water</a:t>
            </a:r>
          </a:p>
          <a:p>
            <a:pPr>
              <a:buFont typeface="Arial" pitchFamily="34" charset="0"/>
              <a:buChar char="•"/>
            </a:pPr>
            <a:r>
              <a:rPr lang="en-AU" sz="1200" kern="1200" dirty="0" smtClean="0">
                <a:solidFill>
                  <a:schemeClr val="tx1"/>
                </a:solidFill>
                <a:ea typeface="+mn-ea"/>
                <a:cs typeface="+mn-cs"/>
              </a:rPr>
              <a:t>Food and beverages</a:t>
            </a:r>
          </a:p>
          <a:p>
            <a:pPr>
              <a:buFont typeface="Arial" pitchFamily="34" charset="0"/>
              <a:buChar char="•"/>
            </a:pPr>
            <a:r>
              <a:rPr lang="en-AU" sz="1200" kern="1200" dirty="0" smtClean="0">
                <a:solidFill>
                  <a:schemeClr val="tx1"/>
                </a:solidFill>
                <a:ea typeface="+mn-ea"/>
                <a:cs typeface="+mn-cs"/>
              </a:rPr>
              <a:t>Luggage – of the customers (where it has been forwarded) and employees/tour staff</a:t>
            </a:r>
          </a:p>
          <a:p>
            <a:pPr>
              <a:buFont typeface="Arial" pitchFamily="34" charset="0"/>
              <a:buChar char="•"/>
            </a:pPr>
            <a:r>
              <a:rPr lang="en-AU" sz="1200" kern="1200" dirty="0" smtClean="0">
                <a:solidFill>
                  <a:schemeClr val="tx1"/>
                </a:solidFill>
                <a:ea typeface="+mn-ea"/>
                <a:cs typeface="+mn-cs"/>
              </a:rPr>
              <a:t>Medical and first aid items</a:t>
            </a:r>
          </a:p>
          <a:p>
            <a:pPr>
              <a:buFont typeface="Arial" pitchFamily="34" charset="0"/>
              <a:buChar char="•"/>
            </a:pPr>
            <a:r>
              <a:rPr lang="en-AU" sz="1200" kern="1200" dirty="0" smtClean="0">
                <a:solidFill>
                  <a:schemeClr val="tx1"/>
                </a:solidFill>
                <a:ea typeface="+mn-ea"/>
                <a:cs typeface="+mn-cs"/>
              </a:rPr>
              <a:t>Commercial cargo, where applicable – commercial cargo refers to goods carried by the tour to be delivered (for a fee) to a nominated location </a:t>
            </a:r>
            <a:r>
              <a:rPr lang="en-AU" sz="1200" i="1" kern="1200" dirty="0" smtClean="0">
                <a:solidFill>
                  <a:schemeClr val="tx1"/>
                </a:solidFill>
                <a:ea typeface="+mn-ea"/>
                <a:cs typeface="+mn-cs"/>
              </a:rPr>
              <a:t>en route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Funds or payment documentation – which may include:</a:t>
            </a:r>
          </a:p>
          <a:p>
            <a:pPr lvl="1">
              <a:buFont typeface="Arial" pitchFamily="34" charset="0"/>
              <a:buChar char="•"/>
            </a:pPr>
            <a:r>
              <a:rPr lang="en-US" sz="1200" kern="1200" dirty="0" smtClean="0">
                <a:solidFill>
                  <a:schemeClr val="tx1"/>
                </a:solidFill>
                <a:ea typeface="+mn-ea"/>
                <a:cs typeface="+mn-cs"/>
              </a:rPr>
              <a:t>Cash – in various currencies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Travellers’ cheques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Vouchers and coupons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Letters/various authorities to act and/or make purchases on behalf of the host enterprise.</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determining </a:t>
            </a:r>
            <a:r>
              <a:rPr lang="en-AU" sz="1200" kern="1200" dirty="0" smtClean="0">
                <a:solidFill>
                  <a:schemeClr val="tx1"/>
                </a:solidFill>
                <a:ea typeface="+mn-ea"/>
                <a:cs typeface="+mn-cs"/>
              </a:rPr>
              <a:t>final requirements for a trip/tour necessitates combining a series of activities which essentially revolve around:</a:t>
            </a:r>
          </a:p>
          <a:p>
            <a:pPr>
              <a:buFont typeface="Arial" pitchFamily="34" charset="0"/>
              <a:buChar char="•"/>
            </a:pPr>
            <a:r>
              <a:rPr lang="en-AU" sz="1200" kern="1200" dirty="0" smtClean="0">
                <a:solidFill>
                  <a:schemeClr val="tx1"/>
                </a:solidFill>
                <a:ea typeface="+mn-ea"/>
                <a:cs typeface="+mn-cs"/>
              </a:rPr>
              <a:t>Double-checking what has already been done – essentially a verification process</a:t>
            </a:r>
          </a:p>
          <a:p>
            <a:pPr>
              <a:buFont typeface="Arial" pitchFamily="34" charset="0"/>
              <a:buChar char="•"/>
            </a:pPr>
            <a:r>
              <a:rPr lang="en-AU" sz="1200" kern="1200" dirty="0" smtClean="0">
                <a:solidFill>
                  <a:schemeClr val="tx1"/>
                </a:solidFill>
                <a:ea typeface="+mn-ea"/>
                <a:cs typeface="+mn-cs"/>
              </a:rPr>
              <a:t>Communicating preparation activities to relevant others</a:t>
            </a:r>
          </a:p>
          <a:p>
            <a:pPr>
              <a:buFont typeface="Arial" pitchFamily="34" charset="0"/>
              <a:buChar char="•"/>
            </a:pPr>
            <a:r>
              <a:rPr lang="en-AU" sz="1200" kern="1200" dirty="0" smtClean="0">
                <a:solidFill>
                  <a:schemeClr val="tx1"/>
                </a:solidFill>
                <a:ea typeface="+mn-ea"/>
                <a:cs typeface="+mn-cs"/>
              </a:rPr>
              <a:t>Actively searching/asking about last-minute changes and/or special requests</a:t>
            </a:r>
          </a:p>
          <a:p>
            <a:pPr>
              <a:buFont typeface="Arial" pitchFamily="34" charset="0"/>
              <a:buChar char="•"/>
            </a:pPr>
            <a:r>
              <a:rPr lang="en-AU" sz="1200" kern="1200" dirty="0" smtClean="0">
                <a:solidFill>
                  <a:schemeClr val="tx1"/>
                </a:solidFill>
                <a:ea typeface="+mn-ea"/>
                <a:cs typeface="+mn-cs"/>
              </a:rPr>
              <a:t>Obtaining approval for planned resourcing and preparation actions to be implemented.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noProof="0" dirty="0" smtClean="0"/>
              <a:t>Trainer </a:t>
            </a:r>
            <a:r>
              <a:rPr lang="en-AU" sz="1200" kern="1200" dirty="0" smtClean="0">
                <a:solidFill>
                  <a:schemeClr val="tx1"/>
                </a:solidFill>
                <a:ea typeface="+mn-ea"/>
                <a:cs typeface="+mn-cs"/>
              </a:rPr>
              <a:t>identifies activities required are:</a:t>
            </a:r>
          </a:p>
          <a:p>
            <a:pPr>
              <a:buFont typeface="Arial" pitchFamily="34" charset="0"/>
              <a:buChar char="•"/>
            </a:pPr>
            <a:r>
              <a:rPr lang="en-AU" sz="1200" kern="1200" dirty="0" smtClean="0">
                <a:solidFill>
                  <a:schemeClr val="tx1"/>
                </a:solidFill>
                <a:ea typeface="+mn-ea"/>
                <a:cs typeface="+mn-cs"/>
              </a:rPr>
              <a:t>Confirming numbers – which </a:t>
            </a:r>
            <a:r>
              <a:rPr lang="en-AU" sz="1200" b="1" kern="1200" dirty="0" smtClean="0">
                <a:solidFill>
                  <a:schemeClr val="tx1"/>
                </a:solidFill>
                <a:ea typeface="+mn-ea"/>
                <a:cs typeface="+mn-cs"/>
              </a:rPr>
              <a:t>demands</a:t>
            </a:r>
            <a:r>
              <a:rPr lang="en-AU" sz="1200" kern="1200" dirty="0" smtClean="0">
                <a:solidFill>
                  <a:schemeClr val="tx1"/>
                </a:solidFill>
                <a:ea typeface="+mn-ea"/>
                <a:cs typeface="+mn-cs"/>
              </a:rPr>
              <a:t> checking to see if there are:</a:t>
            </a:r>
          </a:p>
          <a:p>
            <a:pPr lvl="1">
              <a:buFont typeface="Arial" pitchFamily="34" charset="0"/>
              <a:buChar char="•"/>
            </a:pPr>
            <a:r>
              <a:rPr lang="en-AU" sz="1200" kern="1200" dirty="0" smtClean="0">
                <a:solidFill>
                  <a:schemeClr val="tx1"/>
                </a:solidFill>
                <a:ea typeface="+mn-ea"/>
                <a:cs typeface="+mn-cs"/>
              </a:rPr>
              <a:t>Additional tour party members – these may be referred to as </a:t>
            </a:r>
            <a:r>
              <a:rPr lang="en-US" sz="1200" kern="1200" dirty="0" smtClean="0">
                <a:solidFill>
                  <a:schemeClr val="tx1"/>
                </a:solidFill>
                <a:ea typeface="+mn-ea"/>
                <a:cs typeface="+mn-cs"/>
              </a:rPr>
              <a:t>Late Arrivals , Walk Ins. FITs</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Last-minute withdrawals or cancellations</a:t>
            </a:r>
          </a:p>
          <a:p>
            <a:pPr lvl="1">
              <a:buFont typeface="Arial" pitchFamily="34" charset="0"/>
              <a:buChar char="•"/>
            </a:pPr>
            <a:r>
              <a:rPr lang="en-AU" sz="1200" kern="1200" dirty="0" smtClean="0">
                <a:solidFill>
                  <a:schemeClr val="tx1"/>
                </a:solidFill>
                <a:ea typeface="+mn-ea"/>
                <a:cs typeface="+mn-cs"/>
              </a:rPr>
              <a:t>Variations in regard to where people are joining/departing the trip/tour</a:t>
            </a:r>
          </a:p>
          <a:p>
            <a:pPr lvl="1">
              <a:buFont typeface="Arial" pitchFamily="34" charset="0"/>
              <a:buChar char="•"/>
            </a:pPr>
            <a:r>
              <a:rPr lang="en-AU" sz="1200" kern="1200" dirty="0" smtClean="0">
                <a:solidFill>
                  <a:schemeClr val="tx1"/>
                </a:solidFill>
                <a:ea typeface="+mn-ea"/>
                <a:cs typeface="+mn-cs"/>
              </a:rPr>
              <a:t>Significant variations in customer profiles – that is, sufficient to warrant altering the resourcing schedule/lists already prepared on the basis of (say) age, gender or other characteristics</a:t>
            </a:r>
          </a:p>
          <a:p>
            <a:pPr>
              <a:buFont typeface="Arial" pitchFamily="34" charset="0"/>
              <a:buChar char="•"/>
            </a:pPr>
            <a:r>
              <a:rPr lang="en-AU" sz="1200" kern="1200" dirty="0" smtClean="0">
                <a:solidFill>
                  <a:schemeClr val="tx1"/>
                </a:solidFill>
                <a:ea typeface="+mn-ea"/>
                <a:cs typeface="+mn-cs"/>
              </a:rPr>
              <a:t>Checking what has already been done – to verify requirements have:</a:t>
            </a:r>
          </a:p>
          <a:p>
            <a:pPr lvl="1">
              <a:buFont typeface="Arial" pitchFamily="34" charset="0"/>
              <a:buChar char="•"/>
            </a:pPr>
            <a:r>
              <a:rPr lang="en-AU" sz="1200" kern="1200" dirty="0" smtClean="0">
                <a:solidFill>
                  <a:schemeClr val="tx1"/>
                </a:solidFill>
                <a:ea typeface="+mn-ea"/>
                <a:cs typeface="+mn-cs"/>
              </a:rPr>
              <a:t>Been fully identified</a:t>
            </a:r>
          </a:p>
          <a:p>
            <a:pPr lvl="1">
              <a:buFont typeface="Arial" pitchFamily="34" charset="0"/>
              <a:buChar char="•"/>
            </a:pPr>
            <a:r>
              <a:rPr lang="en-AU" sz="1200" kern="1200" dirty="0" smtClean="0">
                <a:solidFill>
                  <a:schemeClr val="tx1"/>
                </a:solidFill>
                <a:ea typeface="+mn-ea"/>
                <a:cs typeface="+mn-cs"/>
              </a:rPr>
              <a:t>Factored in the required </a:t>
            </a:r>
            <a:r>
              <a:rPr lang="en-US" sz="1200" kern="1200" dirty="0" smtClean="0">
                <a:solidFill>
                  <a:schemeClr val="tx1"/>
                </a:solidFill>
                <a:ea typeface="+mn-ea"/>
                <a:cs typeface="+mn-cs"/>
              </a:rPr>
              <a:t>safety factor margin by quantity/amount for nominated important items of equipment and supplies</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Been properly calculated and are accurate and correct</a:t>
            </a:r>
          </a:p>
          <a:p>
            <a:pPr lvl="1">
              <a:buFont typeface="Arial" pitchFamily="34" charset="0"/>
              <a:buChar char="•"/>
            </a:pPr>
            <a:r>
              <a:rPr lang="en-AU" sz="1200" kern="1200" dirty="0" smtClean="0">
                <a:solidFill>
                  <a:schemeClr val="tx1"/>
                </a:solidFill>
                <a:ea typeface="+mn-ea"/>
                <a:cs typeface="+mn-cs"/>
              </a:rPr>
              <a:t>Been suitably and professionally prepared for loading</a:t>
            </a:r>
          </a:p>
          <a:p>
            <a:pPr>
              <a:buFont typeface="Arial" pitchFamily="34" charset="0"/>
              <a:buChar char="•"/>
            </a:pPr>
            <a:r>
              <a:rPr lang="en-AU" sz="1200" kern="1200" dirty="0" smtClean="0">
                <a:solidFill>
                  <a:schemeClr val="tx1"/>
                </a:solidFill>
                <a:ea typeface="+mn-ea"/>
                <a:cs typeface="+mn-cs"/>
              </a:rPr>
              <a:t>Talking to tour staff – to:</a:t>
            </a:r>
          </a:p>
          <a:p>
            <a:pPr lvl="1">
              <a:buFont typeface="Arial" pitchFamily="34" charset="0"/>
              <a:buChar char="•"/>
            </a:pPr>
            <a:r>
              <a:rPr lang="en-US" sz="1200" kern="1200" dirty="0" smtClean="0">
                <a:solidFill>
                  <a:schemeClr val="tx1"/>
                </a:solidFill>
                <a:ea typeface="+mn-ea"/>
                <a:cs typeface="+mn-cs"/>
              </a:rPr>
              <a:t>Confirm itinerary – this is necessary because resources will need to be available to support duration of the trip/tour and all planned activities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Confirm tour staff – by staff and numbers: to ensure sufficient and appropriate support/facilities are supplied (as appropriate to the individual working/employment conditions of each employee)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Identify and quantify resources for the trip/tour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Physically inspect the resources – a checklist may be required to prove this occurred and to provide a basis for recording issues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Pass on Loading sheets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Identify resources which could not/have not been provided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Explain intentions for physically stowing items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Receive their feedback/input regarding loading requirements of resources into vehicles and containers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Being alert to the ever-present need for last-minute changes – this is a constant possibility as a result of: </a:t>
            </a:r>
          </a:p>
          <a:p>
            <a:pPr lvl="1">
              <a:buFont typeface="Arial" pitchFamily="34" charset="0"/>
              <a:buChar char="•"/>
            </a:pPr>
            <a:r>
              <a:rPr lang="en-US" sz="1200" kern="1200" dirty="0" smtClean="0">
                <a:solidFill>
                  <a:schemeClr val="tx1"/>
                </a:solidFill>
                <a:ea typeface="+mn-ea"/>
                <a:cs typeface="+mn-cs"/>
              </a:rPr>
              <a:t>Late requests from tour group members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Alterations which have to be made to the route, itinerary and/or activities due to (for example) weather, unexpected closure of a destination/attraction, road or travel issues, vehicle breakdown, staff absences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Illness and accidents.</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where </a:t>
            </a:r>
            <a:r>
              <a:rPr lang="en-AU" sz="1200" b="0" kern="1200" dirty="0" smtClean="0">
                <a:solidFill>
                  <a:schemeClr val="tx1"/>
                </a:solidFill>
                <a:ea typeface="+mn-ea"/>
                <a:cs typeface="+mn-cs"/>
              </a:rPr>
              <a:t>problems or short-falls in the provision of resources are identified, suitable action to address the situation must occur and the decision about what to do in these situations may be made by management or the tour staff rather than the person who has responsibility for conducting the pre-departure checks, highlighting action to address the issue may require:</a:t>
            </a:r>
            <a:endParaRPr lang="en-AU" sz="1200" b="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Amendments to the itinerary</a:t>
            </a:r>
          </a:p>
          <a:p>
            <a:pPr>
              <a:buFont typeface="Arial" pitchFamily="34" charset="0"/>
              <a:buChar char="•"/>
            </a:pPr>
            <a:r>
              <a:rPr lang="en-AU" sz="1200" kern="1200" dirty="0" smtClean="0">
                <a:solidFill>
                  <a:schemeClr val="tx1"/>
                </a:solidFill>
                <a:ea typeface="+mn-ea"/>
                <a:cs typeface="+mn-cs"/>
              </a:rPr>
              <a:t>Substitution of resources</a:t>
            </a:r>
          </a:p>
          <a:p>
            <a:pPr>
              <a:buFont typeface="Arial" pitchFamily="34" charset="0"/>
              <a:buChar char="•"/>
            </a:pPr>
            <a:r>
              <a:rPr lang="en-AU" sz="1200" kern="1200" dirty="0" smtClean="0">
                <a:solidFill>
                  <a:schemeClr val="tx1"/>
                </a:solidFill>
                <a:ea typeface="+mn-ea"/>
                <a:cs typeface="+mn-cs"/>
              </a:rPr>
              <a:t>Allocation of extra resources</a:t>
            </a:r>
          </a:p>
          <a:p>
            <a:pPr>
              <a:buFont typeface="Arial" pitchFamily="34" charset="0"/>
              <a:buChar char="•"/>
            </a:pPr>
            <a:r>
              <a:rPr lang="en-AU" sz="1200" kern="1200" dirty="0" smtClean="0">
                <a:solidFill>
                  <a:schemeClr val="tx1"/>
                </a:solidFill>
                <a:ea typeface="+mn-ea"/>
                <a:cs typeface="+mn-cs"/>
              </a:rPr>
              <a:t>Emergency purchase of items</a:t>
            </a:r>
          </a:p>
          <a:p>
            <a:pPr>
              <a:buFont typeface="Arial" pitchFamily="34" charset="0"/>
              <a:buChar char="•"/>
            </a:pPr>
            <a:r>
              <a:rPr lang="en-AU" sz="1200" kern="1200" dirty="0" smtClean="0">
                <a:solidFill>
                  <a:schemeClr val="tx1"/>
                </a:solidFill>
                <a:ea typeface="+mn-ea"/>
                <a:cs typeface="+mn-cs"/>
              </a:rPr>
              <a:t>Arrangements for acquiring resources </a:t>
            </a:r>
            <a:r>
              <a:rPr lang="en-AU" sz="1200" i="1" kern="1200" dirty="0" smtClean="0">
                <a:solidFill>
                  <a:schemeClr val="tx1"/>
                </a:solidFill>
                <a:ea typeface="+mn-ea"/>
                <a:cs typeface="+mn-cs"/>
              </a:rPr>
              <a:t>en route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Organisation to enable required items to be taken to the tour group while they are actually on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is there a need to check quantities and condition of equipment and supplies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How might you do this?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host enterprise SOPs might exist in this regard?</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the </a:t>
            </a:r>
            <a:r>
              <a:rPr lang="en-AU" sz="1200" kern="1200" dirty="0" smtClean="0">
                <a:solidFill>
                  <a:schemeClr val="tx1"/>
                </a:solidFill>
                <a:ea typeface="+mn-ea"/>
                <a:cs typeface="+mn-cs"/>
              </a:rPr>
              <a:t>two key aims of this stage of the process are to:</a:t>
            </a:r>
          </a:p>
          <a:p>
            <a:pPr>
              <a:buFont typeface="Arial" pitchFamily="34" charset="0"/>
              <a:buChar char="•"/>
            </a:pPr>
            <a:r>
              <a:rPr lang="en-AU" sz="1200" kern="1200" dirty="0" smtClean="0">
                <a:solidFill>
                  <a:schemeClr val="tx1"/>
                </a:solidFill>
                <a:ea typeface="+mn-ea"/>
                <a:cs typeface="+mn-cs"/>
              </a:rPr>
              <a:t>Physically acquire required resources</a:t>
            </a:r>
          </a:p>
          <a:p>
            <a:pPr>
              <a:buFont typeface="Arial" pitchFamily="34" charset="0"/>
              <a:buChar char="•"/>
            </a:pPr>
            <a:r>
              <a:rPr lang="en-AU" sz="1200" kern="1200" dirty="0" smtClean="0">
                <a:solidFill>
                  <a:schemeClr val="tx1"/>
                </a:solidFill>
                <a:ea typeface="+mn-ea"/>
                <a:cs typeface="+mn-cs"/>
              </a:rPr>
              <a:t>Determine if additional items need to be ordered/purchased.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to </a:t>
            </a:r>
            <a:r>
              <a:rPr lang="en-AU" sz="1200" b="0" kern="1200" dirty="0" smtClean="0">
                <a:solidFill>
                  <a:schemeClr val="tx1"/>
                </a:solidFill>
                <a:ea typeface="+mn-ea"/>
                <a:cs typeface="+mn-cs"/>
              </a:rPr>
              <a:t>achieve the objectives above there is generally a need to:</a:t>
            </a:r>
            <a:endParaRPr lang="en-AU" sz="1200" b="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Retrieve items from storage – as identified on relevant paperwork in terms of type and quantities which could/should include:</a:t>
            </a:r>
          </a:p>
          <a:p>
            <a:pPr lvl="1">
              <a:buFont typeface="Arial" pitchFamily="34" charset="0"/>
              <a:buChar char="•"/>
            </a:pPr>
            <a:r>
              <a:rPr lang="en-US" sz="1200" kern="1200" dirty="0" smtClean="0">
                <a:solidFill>
                  <a:schemeClr val="tx1"/>
                </a:solidFill>
                <a:ea typeface="+mn-ea"/>
                <a:cs typeface="+mn-cs"/>
              </a:rPr>
              <a:t>Counting of items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Inspecting items/products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Stowing items in patrol boxes, tour wallets and other storage containers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Refrigerating and freezing foodstuffs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Rotate stock – in accordance with standard stock control principles which traditionally require:</a:t>
            </a:r>
          </a:p>
          <a:p>
            <a:pPr lvl="1">
              <a:buFont typeface="Arial" pitchFamily="34" charset="0"/>
              <a:buChar char="•"/>
            </a:pPr>
            <a:r>
              <a:rPr lang="en-US" sz="1200" kern="1200" dirty="0" smtClean="0">
                <a:solidFill>
                  <a:schemeClr val="tx1"/>
                </a:solidFill>
                <a:ea typeface="+mn-ea"/>
                <a:cs typeface="+mn-cs"/>
              </a:rPr>
              <a:t>‘First In, First Out’ rotation of stock, especially food and beverages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Checking inspection/testing or other compliance-related dates relating to internal and/or legislated need for safety checks for other items such as safety equipment, pressure vessels and medical supplies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Record movement of stock – on nominated internal forms so:</a:t>
            </a:r>
          </a:p>
          <a:p>
            <a:pPr lvl="1">
              <a:buFont typeface="Arial" pitchFamily="34" charset="0"/>
              <a:buChar char="•"/>
            </a:pPr>
            <a:r>
              <a:rPr lang="en-US" sz="1200" kern="1200" dirty="0" smtClean="0">
                <a:solidFill>
                  <a:schemeClr val="tx1"/>
                </a:solidFill>
                <a:ea typeface="+mn-ea"/>
                <a:cs typeface="+mn-cs"/>
              </a:rPr>
              <a:t>Stock control activities can be implemented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Financial performance relating to use of resources can be calculated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Stock outages can be avoided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Inventory size can be </a:t>
            </a:r>
            <a:r>
              <a:rPr lang="en-US" sz="1200" kern="1200" dirty="0" smtClean="0">
                <a:solidFill>
                  <a:schemeClr val="tx1"/>
                </a:solidFill>
                <a:ea typeface="+mn-ea"/>
                <a:cs typeface="+mn-cs"/>
              </a:rPr>
              <a:t>managed/controlled.</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activities required to achieve objectives of this stage:</a:t>
            </a:r>
          </a:p>
          <a:p>
            <a:pPr>
              <a:buFont typeface="Arial" pitchFamily="34" charset="0"/>
              <a:buChar char="•"/>
            </a:pPr>
            <a:r>
              <a:rPr lang="en-AU" sz="1200" kern="1200" dirty="0" smtClean="0">
                <a:solidFill>
                  <a:schemeClr val="tx1"/>
                </a:solidFill>
                <a:ea typeface="+mn-ea"/>
                <a:cs typeface="+mn-cs"/>
              </a:rPr>
              <a:t>Move items between tour groups – which can require:</a:t>
            </a:r>
          </a:p>
          <a:p>
            <a:pPr lvl="1">
              <a:buFont typeface="Arial" pitchFamily="34" charset="0"/>
              <a:buChar char="•"/>
            </a:pPr>
            <a:r>
              <a:rPr lang="en-US" sz="1200" kern="1200" dirty="0" smtClean="0">
                <a:solidFill>
                  <a:schemeClr val="tx1"/>
                </a:solidFill>
                <a:ea typeface="+mn-ea"/>
                <a:cs typeface="+mn-cs"/>
              </a:rPr>
              <a:t>Unloading stock from returning tours/vehicles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Completing paperwork to reflect returned stock/items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Transferring returned stock/items to out-going trip/tour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Updating records for out-going trip/tour to show items issued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Transport items – to the trip/tour loading area:</a:t>
            </a:r>
          </a:p>
          <a:p>
            <a:pPr lvl="1">
              <a:buFont typeface="Arial" pitchFamily="34" charset="0"/>
              <a:buChar char="•"/>
            </a:pPr>
            <a:r>
              <a:rPr lang="en-US" sz="1200" kern="1200" dirty="0" smtClean="0">
                <a:solidFill>
                  <a:schemeClr val="tx1"/>
                </a:solidFill>
                <a:ea typeface="+mn-ea"/>
                <a:cs typeface="+mn-cs"/>
              </a:rPr>
              <a:t>Using trolleys and carts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Following safe manual handling protocols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Order and purchase new items. </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checking </a:t>
            </a:r>
            <a:r>
              <a:rPr lang="en-AU" sz="1200" kern="1200" dirty="0" smtClean="0">
                <a:solidFill>
                  <a:schemeClr val="tx1"/>
                </a:solidFill>
                <a:ea typeface="+mn-ea"/>
                <a:cs typeface="+mn-cs"/>
              </a:rPr>
              <a:t>the condition of equipment and supplies means </a:t>
            </a:r>
            <a:r>
              <a:rPr lang="en-AU" sz="1200" b="1" kern="1200" dirty="0" smtClean="0">
                <a:solidFill>
                  <a:schemeClr val="tx1"/>
                </a:solidFill>
                <a:ea typeface="+mn-ea"/>
                <a:cs typeface="+mn-cs"/>
              </a:rPr>
              <a:t>inspecting</a:t>
            </a:r>
            <a:r>
              <a:rPr lang="en-AU" sz="1200" kern="1200" dirty="0" smtClean="0">
                <a:solidFill>
                  <a:schemeClr val="tx1"/>
                </a:solidFill>
                <a:ea typeface="+mn-ea"/>
                <a:cs typeface="+mn-cs"/>
              </a:rPr>
              <a:t> each item and checks can therefore entail:</a:t>
            </a:r>
          </a:p>
          <a:p>
            <a:pPr>
              <a:buFont typeface="Arial" pitchFamily="34" charset="0"/>
              <a:buChar char="•"/>
            </a:pPr>
            <a:r>
              <a:rPr lang="en-AU" sz="1200" kern="1200" dirty="0" smtClean="0">
                <a:solidFill>
                  <a:schemeClr val="tx1"/>
                </a:solidFill>
                <a:ea typeface="+mn-ea"/>
                <a:cs typeface="+mn-cs"/>
              </a:rPr>
              <a:t>Visually checking each item – to ensure it looks as it should and is clean, acceptable and appears ‘fit for purpose’</a:t>
            </a:r>
          </a:p>
          <a:p>
            <a:pPr>
              <a:buFont typeface="Arial" pitchFamily="34" charset="0"/>
              <a:buChar char="•"/>
            </a:pPr>
            <a:r>
              <a:rPr lang="en-AU" sz="1200" kern="1200" dirty="0" smtClean="0">
                <a:solidFill>
                  <a:schemeClr val="tx1"/>
                </a:solidFill>
                <a:ea typeface="+mn-ea"/>
                <a:cs typeface="+mn-cs"/>
              </a:rPr>
              <a:t>Spot cleaning of items – as required, such as:</a:t>
            </a:r>
          </a:p>
          <a:p>
            <a:pPr lvl="1">
              <a:buFont typeface="Arial" pitchFamily="34" charset="0"/>
              <a:buChar char="•"/>
            </a:pPr>
            <a:r>
              <a:rPr lang="en-US" sz="1200" kern="1200" dirty="0" smtClean="0">
                <a:solidFill>
                  <a:schemeClr val="tx1"/>
                </a:solidFill>
                <a:ea typeface="+mn-ea"/>
                <a:cs typeface="+mn-cs"/>
              </a:rPr>
              <a:t>Dusting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Wiping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Washing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Providing basic repairs – as required by the condition of items and within individual scope of ability and authority. Many items will have to be:</a:t>
            </a:r>
          </a:p>
          <a:p>
            <a:pPr lvl="1">
              <a:buFont typeface="Arial" pitchFamily="34" charset="0"/>
              <a:buChar char="•"/>
            </a:pPr>
            <a:r>
              <a:rPr lang="en-US" sz="1200" kern="1200" dirty="0" smtClean="0">
                <a:solidFill>
                  <a:schemeClr val="tx1"/>
                </a:solidFill>
                <a:ea typeface="+mn-ea"/>
                <a:cs typeface="+mn-cs"/>
              </a:rPr>
              <a:t>Sent away for repairs/service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Forwarded to an internal department for maintenance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Repaired by technicians who need to be called </a:t>
            </a:r>
            <a:r>
              <a:rPr lang="en-US" sz="1200" kern="1200" dirty="0" smtClean="0">
                <a:solidFill>
                  <a:schemeClr val="tx1"/>
                </a:solidFill>
                <a:ea typeface="+mn-ea"/>
                <a:cs typeface="+mn-cs"/>
              </a:rPr>
              <a:t>in.</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checks:</a:t>
            </a:r>
          </a:p>
          <a:p>
            <a:pPr>
              <a:buFont typeface="Arial" pitchFamily="34" charset="0"/>
              <a:buChar char="•"/>
            </a:pPr>
            <a:r>
              <a:rPr lang="en-AU" sz="1200" kern="1200" dirty="0" smtClean="0">
                <a:solidFill>
                  <a:schemeClr val="tx1"/>
                </a:solidFill>
                <a:ea typeface="+mn-ea"/>
                <a:cs typeface="+mn-cs"/>
              </a:rPr>
              <a:t>Checking dates for food and beverages – especially in relation to:</a:t>
            </a:r>
          </a:p>
          <a:p>
            <a:pPr lvl="1">
              <a:buFont typeface="Arial" pitchFamily="34" charset="0"/>
              <a:buChar char="•"/>
            </a:pPr>
            <a:r>
              <a:rPr lang="en-US" sz="1200" kern="1200" dirty="0" smtClean="0">
                <a:solidFill>
                  <a:schemeClr val="tx1"/>
                </a:solidFill>
                <a:ea typeface="+mn-ea"/>
                <a:cs typeface="+mn-cs"/>
              </a:rPr>
              <a:t>‘Use By’ dates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‘Best Before’ dates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Verifying wrapping and packaging of food – that it:</a:t>
            </a:r>
          </a:p>
          <a:p>
            <a:pPr lvl="1">
              <a:buFont typeface="Arial" pitchFamily="34" charset="0"/>
              <a:buChar char="•"/>
            </a:pPr>
            <a:r>
              <a:rPr lang="en-US" sz="1200" kern="1200" dirty="0" smtClean="0">
                <a:solidFill>
                  <a:schemeClr val="tx1"/>
                </a:solidFill>
                <a:ea typeface="+mn-ea"/>
                <a:cs typeface="+mn-cs"/>
              </a:rPr>
              <a:t>Is secure and complete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Is not torn or otherwise compromised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Shows no sign of pest/rodent attack or infestation</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Ensuring items meet safety standards – as appropriate to individual items, such as:</a:t>
            </a:r>
          </a:p>
          <a:p>
            <a:pPr lvl="1">
              <a:buFont typeface="Arial" pitchFamily="34" charset="0"/>
              <a:buChar char="•"/>
            </a:pPr>
            <a:r>
              <a:rPr lang="en-US" sz="1200" kern="1200" dirty="0" smtClean="0">
                <a:solidFill>
                  <a:schemeClr val="tx1"/>
                </a:solidFill>
                <a:ea typeface="+mn-ea"/>
                <a:cs typeface="+mn-cs"/>
              </a:rPr>
              <a:t>Verifying operational readiness of equipment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Conducting test-runs on items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Making sure all required parts/components are in place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Rejecting suspect, defective, unsafe or otherwise inappropriate items – and:</a:t>
            </a:r>
          </a:p>
          <a:p>
            <a:pPr lvl="1">
              <a:buFont typeface="Arial" pitchFamily="34" charset="0"/>
              <a:buChar char="•"/>
            </a:pPr>
            <a:r>
              <a:rPr lang="en-US" sz="1200" kern="1200" dirty="0" smtClean="0">
                <a:solidFill>
                  <a:schemeClr val="tx1"/>
                </a:solidFill>
                <a:ea typeface="+mn-ea"/>
                <a:cs typeface="+mn-cs"/>
              </a:rPr>
              <a:t>Returning them to suppliers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Removing them from service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Completing required internal paperwork to reflect what action </a:t>
            </a:r>
            <a:r>
              <a:rPr lang="en-US" sz="1200" kern="1200" dirty="0" smtClean="0">
                <a:solidFill>
                  <a:schemeClr val="tx1"/>
                </a:solidFill>
                <a:ea typeface="+mn-ea"/>
                <a:cs typeface="+mn-cs"/>
              </a:rPr>
              <a:t>occurred.</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noProof="0" dirty="0" smtClean="0"/>
              <a:t>Trainer explains to </a:t>
            </a:r>
            <a:r>
              <a:rPr lang="en-AU" sz="1200" kern="1200" dirty="0" smtClean="0">
                <a:solidFill>
                  <a:schemeClr val="tx1"/>
                </a:solidFill>
                <a:ea typeface="+mn-ea"/>
                <a:cs typeface="+mn-cs"/>
              </a:rPr>
              <a:t>help ensure the required amount/number of resources is provided to match identified requirements there can be a need to:</a:t>
            </a:r>
          </a:p>
          <a:p>
            <a:pPr>
              <a:buFont typeface="Arial" pitchFamily="34" charset="0"/>
              <a:buChar char="•"/>
            </a:pPr>
            <a:r>
              <a:rPr lang="en-AU" sz="1200" kern="1200" dirty="0" smtClean="0">
                <a:solidFill>
                  <a:schemeClr val="tx1"/>
                </a:solidFill>
                <a:ea typeface="+mn-ea"/>
                <a:cs typeface="+mn-cs"/>
              </a:rPr>
              <a:t>Count each item – this can mean:</a:t>
            </a:r>
          </a:p>
          <a:p>
            <a:pPr lvl="1">
              <a:buFont typeface="Arial" pitchFamily="34" charset="0"/>
              <a:buChar char="•"/>
            </a:pPr>
            <a:r>
              <a:rPr lang="en-US" sz="1200" kern="1200" dirty="0" smtClean="0">
                <a:solidFill>
                  <a:schemeClr val="tx1"/>
                </a:solidFill>
                <a:ea typeface="+mn-ea"/>
                <a:cs typeface="+mn-cs"/>
              </a:rPr>
              <a:t>Identifying the quantity required from the Loading sheet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Finding the item in the store</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Physically counting out each and every item – one-by-one</a:t>
            </a:r>
          </a:p>
          <a:p>
            <a:pPr>
              <a:buFont typeface="Arial" pitchFamily="34" charset="0"/>
              <a:buChar char="•"/>
            </a:pPr>
            <a:r>
              <a:rPr lang="en-AU" sz="1200" kern="1200" dirty="0" smtClean="0">
                <a:solidFill>
                  <a:schemeClr val="tx1"/>
                </a:solidFill>
                <a:ea typeface="+mn-ea"/>
                <a:cs typeface="+mn-cs"/>
              </a:rPr>
              <a:t>Weigh or otherwise measure items – which may be required for:</a:t>
            </a:r>
          </a:p>
          <a:p>
            <a:pPr lvl="1">
              <a:buFont typeface="Arial" pitchFamily="34" charset="0"/>
              <a:buChar char="•"/>
            </a:pPr>
            <a:r>
              <a:rPr lang="en-US" sz="1200" kern="1200" dirty="0" smtClean="0">
                <a:solidFill>
                  <a:schemeClr val="tx1"/>
                </a:solidFill>
                <a:ea typeface="+mn-ea"/>
                <a:cs typeface="+mn-cs"/>
              </a:rPr>
              <a:t>Foodstuffs – to match the catering requirements for the trip</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Fuel – for vehicles</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Match items to group numbers – using the accepted ratio for each item</a:t>
            </a:r>
          </a:p>
          <a:p>
            <a:pPr>
              <a:buFont typeface="Arial" pitchFamily="34" charset="0"/>
              <a:buChar char="•"/>
            </a:pPr>
            <a:r>
              <a:rPr lang="en-AU" sz="1200" kern="1200" dirty="0" smtClean="0">
                <a:solidFill>
                  <a:schemeClr val="tx1"/>
                </a:solidFill>
                <a:ea typeface="+mn-ea"/>
                <a:cs typeface="+mn-cs"/>
              </a:rPr>
              <a:t>Open </a:t>
            </a:r>
            <a:r>
              <a:rPr lang="en-AU" sz="1200" b="1" kern="1200" dirty="0" smtClean="0">
                <a:solidFill>
                  <a:schemeClr val="tx1"/>
                </a:solidFill>
                <a:ea typeface="+mn-ea"/>
                <a:cs typeface="+mn-cs"/>
              </a:rPr>
              <a:t>closed</a:t>
            </a:r>
            <a:r>
              <a:rPr lang="en-AU" sz="1200" kern="1200" dirty="0" smtClean="0">
                <a:solidFill>
                  <a:schemeClr val="tx1"/>
                </a:solidFill>
                <a:ea typeface="+mn-ea"/>
                <a:cs typeface="+mn-cs"/>
              </a:rPr>
              <a:t> boxes/cartons to confirm content/numbers inside – as opposed to simply </a:t>
            </a:r>
            <a:r>
              <a:rPr lang="en-AU" sz="1200" i="1" kern="1200" dirty="0" smtClean="0">
                <a:solidFill>
                  <a:schemeClr val="tx1"/>
                </a:solidFill>
                <a:ea typeface="+mn-ea"/>
                <a:cs typeface="+mn-cs"/>
              </a:rPr>
              <a:t>accepting</a:t>
            </a:r>
            <a:r>
              <a:rPr lang="en-AU" sz="1200" kern="1200" dirty="0" smtClean="0">
                <a:solidFill>
                  <a:schemeClr val="tx1"/>
                </a:solidFill>
                <a:ea typeface="+mn-ea"/>
                <a:cs typeface="+mn-cs"/>
              </a:rPr>
              <a:t> what is written on the box/container. This means there is a need to open and check/count inside:</a:t>
            </a:r>
          </a:p>
          <a:p>
            <a:pPr lvl="1">
              <a:buFont typeface="Arial" pitchFamily="34" charset="0"/>
              <a:buChar char="•"/>
            </a:pPr>
            <a:r>
              <a:rPr lang="en-AU" sz="1200" kern="1200" dirty="0" smtClean="0">
                <a:solidFill>
                  <a:schemeClr val="tx1"/>
                </a:solidFill>
                <a:ea typeface="+mn-ea"/>
                <a:cs typeface="+mn-cs"/>
              </a:rPr>
              <a:t>Sealed cartons of goods – to ensure products match the description and there are no damaged/defective products</a:t>
            </a:r>
          </a:p>
          <a:p>
            <a:pPr lvl="1">
              <a:buFont typeface="Arial" pitchFamily="34" charset="0"/>
              <a:buChar char="•"/>
            </a:pPr>
            <a:r>
              <a:rPr lang="en-AU" sz="1200" kern="1200" dirty="0" smtClean="0">
                <a:solidFill>
                  <a:schemeClr val="tx1"/>
                </a:solidFill>
                <a:ea typeface="+mn-ea"/>
                <a:cs typeface="+mn-cs"/>
              </a:rPr>
              <a:t>First aid kits – to make sure sufficient quantities of all required medical supplies are present and have not been used previously</a:t>
            </a:r>
          </a:p>
          <a:p>
            <a:pPr lvl="1">
              <a:buFont typeface="Arial" pitchFamily="34" charset="0"/>
              <a:buChar char="•"/>
            </a:pPr>
            <a:r>
              <a:rPr lang="en-AU" sz="1200" kern="1200" dirty="0" smtClean="0">
                <a:solidFill>
                  <a:schemeClr val="tx1"/>
                </a:solidFill>
                <a:ea typeface="+mn-ea"/>
                <a:cs typeface="+mn-cs"/>
              </a:rPr>
              <a:t>Camping gear packs – to verify tent poles, guy ropes, tent pegs and other necessities by type and number</a:t>
            </a:r>
          </a:p>
          <a:p>
            <a:pPr>
              <a:buFont typeface="Arial" pitchFamily="34" charset="0"/>
              <a:buChar char="•"/>
            </a:pPr>
            <a:r>
              <a:rPr lang="en-AU" sz="1200" kern="1200" dirty="0" smtClean="0">
                <a:solidFill>
                  <a:schemeClr val="tx1"/>
                </a:solidFill>
                <a:ea typeface="+mn-ea"/>
                <a:cs typeface="+mn-cs"/>
              </a:rPr>
              <a:t>Physically segregate items which have been obtained and counted – so they are not used by anyone else/not loaded for another trip/tour. This can Involve:</a:t>
            </a:r>
          </a:p>
          <a:p>
            <a:pPr lvl="1">
              <a:buFont typeface="Arial" pitchFamily="34" charset="0"/>
              <a:buChar char="•"/>
            </a:pPr>
            <a:r>
              <a:rPr lang="en-US" sz="1200" kern="1200" dirty="0" smtClean="0">
                <a:solidFill>
                  <a:schemeClr val="tx1"/>
                </a:solidFill>
                <a:ea typeface="+mn-ea"/>
                <a:cs typeface="+mn-cs"/>
              </a:rPr>
              <a:t>Pre-loading onto a trolley/cart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Placing items into a designated staging area</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Maintaining security of items to ensure nothing is taken/stolen after it has been obtained.</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a:t>
            </a:r>
            <a:r>
              <a:rPr lang="en-AU" sz="1200" kern="1200" dirty="0" smtClean="0">
                <a:solidFill>
                  <a:schemeClr val="tx1"/>
                </a:solidFill>
                <a:ea typeface="+mn-ea"/>
                <a:cs typeface="+mn-cs"/>
              </a:rPr>
              <a:t>a range of records may need to be completed when physical resources are obtained or issued from stores:</a:t>
            </a:r>
          </a:p>
          <a:p>
            <a:pPr>
              <a:buFont typeface="Arial" pitchFamily="34" charset="0"/>
              <a:buChar char="•"/>
            </a:pPr>
            <a:r>
              <a:rPr lang="en-AU" sz="1200" kern="1200" dirty="0" smtClean="0">
                <a:solidFill>
                  <a:schemeClr val="tx1"/>
                </a:solidFill>
                <a:ea typeface="+mn-ea"/>
                <a:cs typeface="+mn-cs"/>
              </a:rPr>
              <a:t>Internal requisitions sheets – to order/support the taking of items from the store to trips/tours so administration can track their use for calculating financial performance of each trip/tour</a:t>
            </a:r>
          </a:p>
          <a:p>
            <a:pPr>
              <a:buFont typeface="Arial" pitchFamily="34" charset="0"/>
              <a:buChar char="•"/>
            </a:pPr>
            <a:r>
              <a:rPr lang="en-AU" sz="1200" kern="1200" dirty="0" smtClean="0">
                <a:solidFill>
                  <a:schemeClr val="tx1"/>
                </a:solidFill>
                <a:ea typeface="+mn-ea"/>
                <a:cs typeface="+mn-cs"/>
              </a:rPr>
              <a:t>Internal transfer sheets – to reflect movement of stock/items from one tour/vehicle to another tour/vehicle.</a:t>
            </a:r>
          </a:p>
          <a:p>
            <a:pPr lvl="1">
              <a:buFont typeface="Arial" pitchFamily="34" charset="0"/>
              <a:buChar char="•"/>
            </a:pPr>
            <a:r>
              <a:rPr lang="en-AU" sz="1200" kern="1200" dirty="0" smtClean="0">
                <a:solidFill>
                  <a:schemeClr val="tx1"/>
                </a:solidFill>
                <a:ea typeface="+mn-ea"/>
                <a:cs typeface="+mn-cs"/>
              </a:rPr>
              <a:t>That is, the items has already been taken out of the store and allocated to a tour/vehicle but are being re-allocated to another tour/vehicle because they were not used for the initial trip/tour.</a:t>
            </a:r>
          </a:p>
          <a:p>
            <a:pPr>
              <a:buFont typeface="Arial" pitchFamily="34" charset="0"/>
              <a:buChar char="•"/>
            </a:pPr>
            <a:r>
              <a:rPr lang="en-AU" sz="1200" kern="1200" dirty="0" smtClean="0">
                <a:solidFill>
                  <a:schemeClr val="tx1"/>
                </a:solidFill>
                <a:ea typeface="+mn-ea"/>
                <a:cs typeface="+mn-cs"/>
              </a:rPr>
              <a:t>Bin cards – showing:</a:t>
            </a:r>
          </a:p>
          <a:p>
            <a:pPr lvl="1">
              <a:buFont typeface="Arial" pitchFamily="34" charset="0"/>
              <a:buChar char="•"/>
            </a:pPr>
            <a:r>
              <a:rPr lang="en-US" sz="1200" kern="1200" dirty="0" smtClean="0">
                <a:solidFill>
                  <a:schemeClr val="tx1"/>
                </a:solidFill>
                <a:ea typeface="+mn-ea"/>
                <a:cs typeface="+mn-cs"/>
              </a:rPr>
              <a:t>Where items removed from stock have been allocated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When they were taken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How many were allocated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Who authorised their removal/took them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Number/amount of remaining stock-on-hand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Database files and fields – showing the actual movement of stock items matched against planned movement as contained in the ‘stock management’ function of the database for the particular tour type/name in question</a:t>
            </a:r>
          </a:p>
          <a:p>
            <a:pPr>
              <a:buFont typeface="Arial" pitchFamily="34" charset="0"/>
              <a:buChar char="•"/>
            </a:pPr>
            <a:r>
              <a:rPr lang="en-AU" sz="1200" kern="1200" dirty="0" smtClean="0">
                <a:solidFill>
                  <a:schemeClr val="tx1"/>
                </a:solidFill>
                <a:ea typeface="+mn-ea"/>
                <a:cs typeface="+mn-cs"/>
              </a:rPr>
              <a:t>Checklists – see next section.</a:t>
            </a:r>
          </a:p>
          <a:p>
            <a:pPr>
              <a:buFont typeface="Arial" pitchFamily="34" charset="0"/>
              <a:buChar char="•"/>
            </a:pPr>
            <a:r>
              <a:rPr lang="en-AU" sz="1200" kern="1200" dirty="0" smtClean="0">
                <a:solidFill>
                  <a:schemeClr val="tx1"/>
                </a:solidFill>
                <a:ea typeface="+mn-ea"/>
                <a:cs typeface="+mn-cs"/>
              </a:rPr>
              <a:t>Receipts – see next section.</a:t>
            </a:r>
          </a:p>
          <a:p>
            <a:pPr>
              <a:buFont typeface="Arial" pitchFamily="34" charset="0"/>
              <a:buNone/>
            </a:pPr>
            <a:endParaRPr lang="en-US" noProof="0" dirty="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examples of documents as identified on slide.</a:t>
            </a:r>
            <a:endParaRPr lang="en-AU" b="0" noProof="0" dirty="0" smtClean="0"/>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it </a:t>
            </a:r>
            <a:r>
              <a:rPr lang="en-AU" sz="1200" kern="1200" dirty="0" smtClean="0">
                <a:solidFill>
                  <a:schemeClr val="tx1"/>
                </a:solidFill>
                <a:ea typeface="+mn-ea"/>
                <a:cs typeface="+mn-cs"/>
              </a:rPr>
              <a:t>is important to understand:</a:t>
            </a:r>
          </a:p>
          <a:p>
            <a:pPr>
              <a:buFont typeface="Arial" pitchFamily="34" charset="0"/>
              <a:buChar char="•"/>
            </a:pPr>
            <a:r>
              <a:rPr lang="en-AU" sz="1200" kern="1200" dirty="0" smtClean="0">
                <a:solidFill>
                  <a:schemeClr val="tx1"/>
                </a:solidFill>
                <a:ea typeface="+mn-ea"/>
                <a:cs typeface="+mn-cs"/>
              </a:rPr>
              <a:t>All internal SOPs, policies and protocols relating to the identifying, issuing and obtaining of equipment and supplies for trips/tours must be complied with – this is a </a:t>
            </a:r>
            <a:r>
              <a:rPr lang="en-AU" sz="1200" b="1" kern="1200" dirty="0" smtClean="0">
                <a:solidFill>
                  <a:schemeClr val="tx1"/>
                </a:solidFill>
                <a:ea typeface="+mn-ea"/>
                <a:cs typeface="+mn-cs"/>
              </a:rPr>
              <a:t>non-negotiable requirement</a:t>
            </a:r>
            <a:r>
              <a:rPr lang="en-AU" sz="1200" kern="1200" dirty="0" smtClean="0">
                <a:solidFill>
                  <a:schemeClr val="tx1"/>
                </a:solidFill>
                <a:ea typeface="+mn-ea"/>
                <a:cs typeface="+mn-cs"/>
              </a:rPr>
              <a:t> for all staff every time they prepare a trip/tour.</a:t>
            </a:r>
          </a:p>
          <a:p>
            <a:pPr lvl="1">
              <a:buFont typeface="Arial" pitchFamily="34" charset="0"/>
              <a:buChar char="•"/>
            </a:pPr>
            <a:r>
              <a:rPr lang="en-AU" sz="1200" kern="1200" dirty="0" smtClean="0">
                <a:solidFill>
                  <a:schemeClr val="tx1"/>
                </a:solidFill>
                <a:ea typeface="+mn-ea"/>
                <a:cs typeface="+mn-cs"/>
              </a:rPr>
              <a:t>This means compliance is NOT optional.</a:t>
            </a:r>
          </a:p>
          <a:p>
            <a:pPr>
              <a:buFont typeface="Arial" pitchFamily="34" charset="0"/>
              <a:buChar char="•"/>
            </a:pPr>
            <a:r>
              <a:rPr lang="en-AU" sz="1200" kern="1200" dirty="0" smtClean="0">
                <a:solidFill>
                  <a:schemeClr val="tx1"/>
                </a:solidFill>
                <a:ea typeface="+mn-ea"/>
                <a:cs typeface="+mn-cs"/>
              </a:rPr>
              <a:t>Any problems or inability in complying with these requirements must be reported. Reports must be made:</a:t>
            </a:r>
          </a:p>
          <a:p>
            <a:pPr lvl="1">
              <a:buFont typeface="Arial" pitchFamily="34" charset="0"/>
              <a:buChar char="•"/>
            </a:pPr>
            <a:r>
              <a:rPr lang="en-US" sz="1200" kern="1200" dirty="0" smtClean="0">
                <a:solidFill>
                  <a:schemeClr val="tx1"/>
                </a:solidFill>
                <a:ea typeface="+mn-ea"/>
                <a:cs typeface="+mn-cs"/>
              </a:rPr>
              <a:t>To supervisor/management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Immediately – so a decision can be made straight away about remedial action to be taken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Verbally – explaining details of the issue/problem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With suggestions (if possible) about what can be done to effectively address the problem.</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the </a:t>
            </a:r>
            <a:r>
              <a:rPr lang="en-AU" sz="1200" kern="1200" dirty="0" smtClean="0">
                <a:solidFill>
                  <a:schemeClr val="tx1"/>
                </a:solidFill>
                <a:ea typeface="+mn-ea"/>
                <a:cs typeface="+mn-cs"/>
              </a:rPr>
              <a:t>need to comply with host enterprise protocols for equipment and supplies is necessary in order to ensure:</a:t>
            </a:r>
          </a:p>
          <a:p>
            <a:pPr>
              <a:buFont typeface="Arial" pitchFamily="34" charset="0"/>
              <a:buChar char="•"/>
            </a:pPr>
            <a:r>
              <a:rPr lang="en-AU" sz="1200" kern="1200" dirty="0" smtClean="0">
                <a:solidFill>
                  <a:schemeClr val="tx1"/>
                </a:solidFill>
                <a:ea typeface="+mn-ea"/>
                <a:cs typeface="+mn-cs"/>
              </a:rPr>
              <a:t>Every trip/tour is provisioned with all the resources required – the Loading Lists and similar have emerged over time as being the items vital to enable/support the tour as advertised</a:t>
            </a:r>
          </a:p>
          <a:p>
            <a:pPr>
              <a:buFont typeface="Arial" pitchFamily="34" charset="0"/>
              <a:buChar char="•"/>
            </a:pPr>
            <a:r>
              <a:rPr lang="en-AU" sz="1200" kern="1200" dirty="0" smtClean="0">
                <a:solidFill>
                  <a:schemeClr val="tx1"/>
                </a:solidFill>
                <a:ea typeface="+mn-ea"/>
                <a:cs typeface="+mn-cs"/>
              </a:rPr>
              <a:t>Each trip/tour operates an a profitable basis – as the resourcing for each trip/tour has been determined and costed by management to optimise the financial performance of the business</a:t>
            </a:r>
          </a:p>
          <a:p>
            <a:pPr>
              <a:buFont typeface="Arial" pitchFamily="34" charset="0"/>
              <a:buChar char="•"/>
            </a:pPr>
            <a:r>
              <a:rPr lang="en-AU" sz="1200" kern="1200" dirty="0" smtClean="0">
                <a:solidFill>
                  <a:schemeClr val="tx1"/>
                </a:solidFill>
                <a:ea typeface="+mn-ea"/>
                <a:cs typeface="+mn-cs"/>
              </a:rPr>
              <a:t>Trips/tours comply with legislated obligations – relating to the health, safety and welfare of tour group members and staff</a:t>
            </a:r>
          </a:p>
          <a:p>
            <a:pPr>
              <a:buFont typeface="Arial" pitchFamily="34" charset="0"/>
              <a:buChar char="•"/>
            </a:pPr>
            <a:r>
              <a:rPr lang="en-AU" sz="1200" kern="1200" dirty="0" smtClean="0">
                <a:solidFill>
                  <a:schemeClr val="tx1"/>
                </a:solidFill>
                <a:ea typeface="+mn-ea"/>
                <a:cs typeface="+mn-cs"/>
              </a:rPr>
              <a:t>The products and services supplied satisfy customers – in terms of meeting their expectations, matching what has been delivered on previous trips/tours and honouring promises made in advertisements/promotions about the trip/tour.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advises practical actions focus on:</a:t>
            </a:r>
          </a:p>
          <a:p>
            <a:r>
              <a:rPr lang="en-AU" sz="1200" kern="1200" dirty="0" smtClean="0">
                <a:solidFill>
                  <a:schemeClr val="tx1"/>
                </a:solidFill>
                <a:ea typeface="+mn-ea"/>
                <a:cs typeface="+mn-cs"/>
              </a:rPr>
              <a:t>Host enterprise protocols for equipment and supplies may include:</a:t>
            </a:r>
          </a:p>
          <a:p>
            <a:r>
              <a:rPr lang="en-AU" sz="1200" b="1" kern="1200" dirty="0" smtClean="0">
                <a:solidFill>
                  <a:schemeClr val="tx1"/>
                </a:solidFill>
                <a:ea typeface="+mn-ea"/>
                <a:cs typeface="+mn-cs"/>
              </a:rPr>
              <a:t>Using pre-determined ratios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There is a commonly throughout the industry a need to apply pre-determined ratios to the resourcing of trips/tours.</a:t>
            </a:r>
          </a:p>
          <a:p>
            <a:pPr>
              <a:buFont typeface="Arial" pitchFamily="34" charset="0"/>
              <a:buChar char="•"/>
            </a:pPr>
            <a:r>
              <a:rPr lang="en-AU" sz="1200" kern="1200" dirty="0" smtClean="0">
                <a:solidFill>
                  <a:schemeClr val="tx1"/>
                </a:solidFill>
                <a:ea typeface="+mn-ea"/>
                <a:cs typeface="+mn-cs"/>
              </a:rPr>
              <a:t>This ratio will stipulate the amount of equipment and/or supplies for every tour group member while on tour.</a:t>
            </a:r>
          </a:p>
          <a:p>
            <a:pPr>
              <a:buFont typeface="Arial" pitchFamily="34" charset="0"/>
              <a:buChar char="•"/>
            </a:pPr>
            <a:r>
              <a:rPr lang="en-AU" sz="1200" kern="1200" dirty="0" smtClean="0">
                <a:solidFill>
                  <a:schemeClr val="tx1"/>
                </a:solidFill>
                <a:ea typeface="+mn-ea"/>
                <a:cs typeface="+mn-cs"/>
              </a:rPr>
              <a:t>The ratio provided by management:</a:t>
            </a:r>
          </a:p>
          <a:p>
            <a:pPr>
              <a:buFont typeface="Arial" pitchFamily="34" charset="0"/>
              <a:buChar char="•"/>
            </a:pPr>
            <a:r>
              <a:rPr lang="en-AU" sz="1200" kern="1200" dirty="0" smtClean="0">
                <a:solidFill>
                  <a:schemeClr val="tx1"/>
                </a:solidFill>
                <a:ea typeface="+mn-ea"/>
                <a:cs typeface="+mn-cs"/>
              </a:rPr>
              <a:t>Has emerged over time as being what is necessary to provide the required level and standard of service and safety</a:t>
            </a:r>
          </a:p>
          <a:p>
            <a:pPr>
              <a:buFont typeface="Arial" pitchFamily="34" charset="0"/>
              <a:buChar char="•"/>
            </a:pPr>
            <a:r>
              <a:rPr lang="en-AU" sz="1200" kern="1200" dirty="0" smtClean="0">
                <a:solidFill>
                  <a:schemeClr val="tx1"/>
                </a:solidFill>
                <a:ea typeface="+mn-ea"/>
                <a:cs typeface="+mn-cs"/>
              </a:rPr>
              <a:t>Is used to calculate costs and the financial performance of each trip/tour</a:t>
            </a:r>
          </a:p>
          <a:p>
            <a:pPr>
              <a:buFont typeface="Arial" pitchFamily="34" charset="0"/>
              <a:buChar char="•"/>
            </a:pPr>
            <a:r>
              <a:rPr lang="en-AU" sz="1200" kern="1200" dirty="0" smtClean="0">
                <a:solidFill>
                  <a:schemeClr val="tx1"/>
                </a:solidFill>
                <a:ea typeface="+mn-ea"/>
                <a:cs typeface="+mn-cs"/>
              </a:rPr>
              <a:t>Is a </a:t>
            </a:r>
            <a:r>
              <a:rPr lang="en-AU" sz="1200" b="1" kern="1200" dirty="0" smtClean="0">
                <a:solidFill>
                  <a:schemeClr val="tx1"/>
                </a:solidFill>
                <a:ea typeface="+mn-ea"/>
                <a:cs typeface="+mn-cs"/>
              </a:rPr>
              <a:t>compulsory</a:t>
            </a:r>
            <a:r>
              <a:rPr lang="en-AU" sz="1200" kern="1200" dirty="0" smtClean="0">
                <a:solidFill>
                  <a:schemeClr val="tx1"/>
                </a:solidFill>
                <a:ea typeface="+mn-ea"/>
                <a:cs typeface="+mn-cs"/>
              </a:rPr>
              <a:t> figure which MUST be used when providing supplies/resources for a trip/tour – it is not open to interpretation or change</a:t>
            </a:r>
          </a:p>
          <a:p>
            <a:pPr>
              <a:buFont typeface="Arial" pitchFamily="34" charset="0"/>
              <a:buChar char="•"/>
            </a:pPr>
            <a:r>
              <a:rPr lang="en-AU" sz="1200" kern="1200" dirty="0" smtClean="0">
                <a:solidFill>
                  <a:schemeClr val="tx1"/>
                </a:solidFill>
                <a:ea typeface="+mn-ea"/>
                <a:cs typeface="+mn-cs"/>
              </a:rPr>
              <a:t>Determines the final quantities of certain items to be supplied for some trips/tours.</a:t>
            </a:r>
          </a:p>
          <a:p>
            <a:pPr lvl="1">
              <a:buFont typeface="Arial" pitchFamily="34" charset="0"/>
              <a:buChar char="•"/>
            </a:pPr>
            <a:r>
              <a:rPr lang="en-AU" sz="1200" kern="1200" dirty="0" smtClean="0">
                <a:solidFill>
                  <a:schemeClr val="tx1"/>
                </a:solidFill>
                <a:ea typeface="+mn-ea"/>
                <a:cs typeface="+mn-cs"/>
              </a:rPr>
              <a:t>For example:</a:t>
            </a:r>
          </a:p>
          <a:p>
            <a:pPr lvl="2">
              <a:buFont typeface="Arial" pitchFamily="34" charset="0"/>
              <a:buChar char="•"/>
            </a:pPr>
            <a:r>
              <a:rPr lang="en-US" sz="1200" kern="1200" dirty="0" smtClean="0">
                <a:solidFill>
                  <a:schemeClr val="tx1"/>
                </a:solidFill>
                <a:ea typeface="+mn-ea"/>
                <a:cs typeface="+mn-cs"/>
              </a:rPr>
              <a:t>The ratio may be 1:1 for some items – that is, one item needs to be provided for every person</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For other items the ratio may be 5:1 – that is, five items/per trip for every person.</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practical in this regard:</a:t>
            </a:r>
          </a:p>
          <a:p>
            <a:r>
              <a:rPr lang="en-AU" sz="1200" b="1" kern="1200" dirty="0" smtClean="0">
                <a:solidFill>
                  <a:schemeClr val="tx1"/>
                </a:solidFill>
                <a:ea typeface="+mn-ea"/>
                <a:cs typeface="+mn-cs"/>
              </a:rPr>
              <a:t>Using checklists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Most operators use dedicated Checklists to assist with providing and checking resources for trips/tours.</a:t>
            </a:r>
          </a:p>
          <a:p>
            <a:pPr lvl="1">
              <a:buFont typeface="Arial" pitchFamily="34" charset="0"/>
              <a:buChar char="•"/>
            </a:pPr>
            <a:r>
              <a:rPr lang="en-AU" sz="1200" kern="1200" dirty="0" smtClean="0">
                <a:solidFill>
                  <a:schemeClr val="tx1"/>
                </a:solidFill>
                <a:ea typeface="+mn-ea"/>
                <a:cs typeface="+mn-cs"/>
              </a:rPr>
              <a:t>See more on later slides.</a:t>
            </a:r>
          </a:p>
          <a:p>
            <a:r>
              <a:rPr lang="en-AU" sz="1200" b="1" kern="1200" dirty="0" smtClean="0">
                <a:solidFill>
                  <a:schemeClr val="tx1"/>
                </a:solidFill>
                <a:ea typeface="+mn-ea"/>
                <a:cs typeface="+mn-cs"/>
              </a:rPr>
              <a:t>Using receipts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It is SOP for receipts to be issued to verify/prove cash, vouchers and similar (company credit cards, travellers’ cheques, company authorisations) were given to Tour Guides/Leaders.</a:t>
            </a:r>
          </a:p>
          <a:p>
            <a:pPr>
              <a:buFont typeface="Arial" pitchFamily="34" charset="0"/>
              <a:buChar char="•"/>
            </a:pPr>
            <a:r>
              <a:rPr lang="en-AU" sz="1200" kern="1200" dirty="0" smtClean="0">
                <a:solidFill>
                  <a:schemeClr val="tx1"/>
                </a:solidFill>
                <a:ea typeface="+mn-ea"/>
                <a:cs typeface="+mn-cs"/>
              </a:rPr>
              <a:t>A standard ‘Receipt Book’ is commonly used which will detail:</a:t>
            </a:r>
          </a:p>
          <a:p>
            <a:pPr lvl="1">
              <a:buFont typeface="Arial" pitchFamily="34" charset="0"/>
              <a:buChar char="•"/>
            </a:pPr>
            <a:r>
              <a:rPr lang="en-AU" sz="1200" kern="1200" dirty="0" smtClean="0">
                <a:solidFill>
                  <a:schemeClr val="tx1"/>
                </a:solidFill>
                <a:ea typeface="+mn-ea"/>
                <a:cs typeface="+mn-cs"/>
              </a:rPr>
              <a:t>Date</a:t>
            </a:r>
          </a:p>
          <a:p>
            <a:pPr lvl="1">
              <a:buFont typeface="Arial" pitchFamily="34" charset="0"/>
              <a:buChar char="•"/>
            </a:pPr>
            <a:r>
              <a:rPr lang="en-AU" sz="1200" kern="1200" dirty="0" smtClean="0">
                <a:solidFill>
                  <a:schemeClr val="tx1"/>
                </a:solidFill>
                <a:ea typeface="+mn-ea"/>
                <a:cs typeface="+mn-cs"/>
              </a:rPr>
              <a:t>Reference number</a:t>
            </a:r>
          </a:p>
          <a:p>
            <a:pPr lvl="1">
              <a:buFont typeface="Arial" pitchFamily="34" charset="0"/>
              <a:buChar char="•"/>
            </a:pPr>
            <a:r>
              <a:rPr lang="en-AU" sz="1200" kern="1200" dirty="0" smtClean="0">
                <a:solidFill>
                  <a:schemeClr val="tx1"/>
                </a:solidFill>
                <a:ea typeface="+mn-ea"/>
                <a:cs typeface="+mn-cs"/>
              </a:rPr>
              <a:t>Details of item/s</a:t>
            </a:r>
          </a:p>
          <a:p>
            <a:pPr lvl="1">
              <a:buFont typeface="Arial" pitchFamily="34" charset="0"/>
              <a:buChar char="•"/>
            </a:pPr>
            <a:r>
              <a:rPr lang="en-AU" sz="1200" kern="1200" dirty="0" smtClean="0">
                <a:solidFill>
                  <a:schemeClr val="tx1"/>
                </a:solidFill>
                <a:ea typeface="+mn-ea"/>
                <a:cs typeface="+mn-cs"/>
              </a:rPr>
              <a:t>Value </a:t>
            </a:r>
          </a:p>
          <a:p>
            <a:pPr lvl="1">
              <a:buFont typeface="Arial" pitchFamily="34" charset="0"/>
              <a:buChar char="•"/>
            </a:pPr>
            <a:r>
              <a:rPr lang="en-AU" sz="1200" kern="1200" dirty="0" smtClean="0">
                <a:solidFill>
                  <a:schemeClr val="tx1"/>
                </a:solidFill>
                <a:ea typeface="+mn-ea"/>
                <a:cs typeface="+mn-cs"/>
              </a:rPr>
              <a:t>Reason cash/item is provided</a:t>
            </a:r>
          </a:p>
          <a:p>
            <a:pPr lvl="1">
              <a:buFont typeface="Arial" pitchFamily="34" charset="0"/>
              <a:buChar char="•"/>
            </a:pPr>
            <a:r>
              <a:rPr lang="en-AU" sz="1200" kern="1200" dirty="0" smtClean="0">
                <a:solidFill>
                  <a:schemeClr val="tx1"/>
                </a:solidFill>
                <a:ea typeface="+mn-ea"/>
                <a:cs typeface="+mn-cs"/>
              </a:rPr>
              <a:t>Name of trip/tour</a:t>
            </a:r>
          </a:p>
          <a:p>
            <a:pPr lvl="1">
              <a:buFont typeface="Arial" pitchFamily="34" charset="0"/>
              <a:buChar char="•"/>
            </a:pPr>
            <a:r>
              <a:rPr lang="en-AU" sz="1200" kern="1200" dirty="0" smtClean="0">
                <a:solidFill>
                  <a:schemeClr val="tx1"/>
                </a:solidFill>
                <a:ea typeface="+mn-ea"/>
                <a:cs typeface="+mn-cs"/>
              </a:rPr>
              <a:t>Name and signatures of:</a:t>
            </a:r>
          </a:p>
          <a:p>
            <a:pPr lvl="2">
              <a:buFont typeface="Arial" pitchFamily="34" charset="0"/>
              <a:buChar char="•"/>
            </a:pPr>
            <a:r>
              <a:rPr lang="en-US" sz="1200" kern="1200" dirty="0" smtClean="0">
                <a:solidFill>
                  <a:schemeClr val="tx1"/>
                </a:solidFill>
                <a:ea typeface="+mn-ea"/>
                <a:cs typeface="+mn-cs"/>
              </a:rPr>
              <a:t>Person providing item/cash</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Person accepting/confirming they have received the cash/item(s).</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for </a:t>
            </a:r>
            <a:r>
              <a:rPr lang="en-AU" sz="1200" kern="1200" dirty="0" smtClean="0">
                <a:solidFill>
                  <a:schemeClr val="tx1"/>
                </a:solidFill>
                <a:ea typeface="+mn-ea"/>
                <a:cs typeface="+mn-cs"/>
              </a:rPr>
              <a:t>all/many trips and tours there can be certain non-negotiable requirements that must </a:t>
            </a:r>
            <a:r>
              <a:rPr lang="en-AU" sz="1200" b="1" i="1" kern="1200" dirty="0" smtClean="0">
                <a:solidFill>
                  <a:schemeClr val="tx1"/>
                </a:solidFill>
                <a:ea typeface="+mn-ea"/>
                <a:cs typeface="+mn-cs"/>
              </a:rPr>
              <a:t>always be provided</a:t>
            </a:r>
            <a:r>
              <a:rPr lang="en-AU" sz="1200" i="1" kern="1200" dirty="0" smtClean="0">
                <a:solidFill>
                  <a:schemeClr val="tx1"/>
                </a:solidFill>
                <a:ea typeface="+mn-ea"/>
                <a:cs typeface="+mn-cs"/>
              </a:rPr>
              <a:t> </a:t>
            </a:r>
            <a:r>
              <a:rPr lang="en-AU" sz="1200" kern="1200" dirty="0" smtClean="0">
                <a:solidFill>
                  <a:schemeClr val="tx1"/>
                </a:solidFill>
                <a:ea typeface="+mn-ea"/>
                <a:cs typeface="+mn-cs"/>
              </a:rPr>
              <a:t>regardless of all other provisions and/or considerations highlighting this means despite other similar equipment supplied, the mandatory items must still be loaded for the tour and these generally they relate to:</a:t>
            </a:r>
          </a:p>
          <a:p>
            <a:pPr>
              <a:buFont typeface="Arial" pitchFamily="34" charset="0"/>
              <a:buChar char="•"/>
            </a:pPr>
            <a:r>
              <a:rPr lang="en-AU" sz="1200" kern="1200" dirty="0" smtClean="0">
                <a:solidFill>
                  <a:schemeClr val="tx1"/>
                </a:solidFill>
                <a:ea typeface="+mn-ea"/>
                <a:cs typeface="+mn-cs"/>
              </a:rPr>
              <a:t>Safety – such as:</a:t>
            </a:r>
          </a:p>
          <a:p>
            <a:pPr lvl="1">
              <a:buFont typeface="Arial" pitchFamily="34" charset="0"/>
              <a:buChar char="•"/>
            </a:pPr>
            <a:r>
              <a:rPr lang="en-US" sz="1200" kern="1200" dirty="0" smtClean="0">
                <a:solidFill>
                  <a:schemeClr val="tx1"/>
                </a:solidFill>
                <a:ea typeface="+mn-ea"/>
                <a:cs typeface="+mn-cs"/>
              </a:rPr>
              <a:t>Emergency management plans; Fire extinguishers; Medical kits; Locator beacons/EPIRB</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Communication – such as:</a:t>
            </a:r>
          </a:p>
          <a:p>
            <a:pPr lvl="1">
              <a:buFont typeface="Arial" pitchFamily="34" charset="0"/>
              <a:buChar char="•"/>
            </a:pPr>
            <a:r>
              <a:rPr lang="en-US" sz="1200" kern="1200" dirty="0" smtClean="0">
                <a:solidFill>
                  <a:schemeClr val="tx1"/>
                </a:solidFill>
                <a:ea typeface="+mn-ea"/>
                <a:cs typeface="+mn-cs"/>
              </a:rPr>
              <a:t>Cell phones/hand phones; Two-way radios; Satellite phones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Security – such as:</a:t>
            </a:r>
          </a:p>
          <a:p>
            <a:pPr lvl="1">
              <a:buFont typeface="Arial" pitchFamily="34" charset="0"/>
              <a:buChar char="•"/>
            </a:pPr>
            <a:r>
              <a:rPr lang="en-US" sz="1200" kern="1200" dirty="0" smtClean="0">
                <a:solidFill>
                  <a:schemeClr val="tx1"/>
                </a:solidFill>
                <a:ea typeface="+mn-ea"/>
                <a:cs typeface="+mn-cs"/>
              </a:rPr>
              <a:t>Alarms; Cameras; Locking devices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Cooking – such as:</a:t>
            </a:r>
          </a:p>
          <a:p>
            <a:pPr lvl="1">
              <a:buFont typeface="Arial" pitchFamily="34" charset="0"/>
              <a:buChar char="•"/>
            </a:pPr>
            <a:r>
              <a:rPr lang="en-US" sz="1200" kern="1200" dirty="0" smtClean="0">
                <a:solidFill>
                  <a:schemeClr val="tx1"/>
                </a:solidFill>
                <a:ea typeface="+mn-ea"/>
                <a:cs typeface="+mn-cs"/>
              </a:rPr>
              <a:t>Designated items for basic food and beverage </a:t>
            </a:r>
            <a:r>
              <a:rPr lang="en-US" sz="1200" i="1" kern="1200" dirty="0" smtClean="0">
                <a:solidFill>
                  <a:schemeClr val="tx1"/>
                </a:solidFill>
                <a:ea typeface="+mn-ea"/>
                <a:cs typeface="+mn-cs"/>
              </a:rPr>
              <a:t>service; </a:t>
            </a:r>
            <a:r>
              <a:rPr lang="en-US" sz="1200" kern="1200" dirty="0" smtClean="0">
                <a:solidFill>
                  <a:schemeClr val="tx1"/>
                </a:solidFill>
                <a:ea typeface="+mn-ea"/>
                <a:cs typeface="+mn-cs"/>
              </a:rPr>
              <a:t>Listed items to enable the </a:t>
            </a:r>
            <a:r>
              <a:rPr lang="en-US" sz="1200" i="1" kern="1200" dirty="0" smtClean="0">
                <a:solidFill>
                  <a:schemeClr val="tx1"/>
                </a:solidFill>
                <a:ea typeface="+mn-ea"/>
                <a:cs typeface="+mn-cs"/>
              </a:rPr>
              <a:t>production</a:t>
            </a:r>
            <a:r>
              <a:rPr lang="en-US" sz="1200" kern="1200" dirty="0" smtClean="0">
                <a:solidFill>
                  <a:schemeClr val="tx1"/>
                </a:solidFill>
                <a:ea typeface="+mn-ea"/>
                <a:cs typeface="+mn-cs"/>
              </a:rPr>
              <a:t> (and service) of nominated standard menu items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Transport – such as:</a:t>
            </a:r>
          </a:p>
          <a:p>
            <a:pPr lvl="1">
              <a:buFont typeface="Arial" pitchFamily="34" charset="0"/>
              <a:buChar char="•"/>
            </a:pPr>
            <a:r>
              <a:rPr lang="en-US" sz="1200" kern="1200" dirty="0" smtClean="0">
                <a:solidFill>
                  <a:schemeClr val="tx1"/>
                </a:solidFill>
                <a:ea typeface="+mn-ea"/>
                <a:cs typeface="+mn-cs"/>
              </a:rPr>
              <a:t>Vehicle recovery gear; Satellite navigation; Service kits and tools; Replacement parts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Accommodation needs – such as:</a:t>
            </a:r>
          </a:p>
          <a:p>
            <a:pPr lvl="1">
              <a:buFont typeface="Arial" pitchFamily="34" charset="0"/>
              <a:buChar char="•"/>
            </a:pPr>
            <a:r>
              <a:rPr lang="en-US" sz="1200" kern="1200" dirty="0" smtClean="0">
                <a:solidFill>
                  <a:schemeClr val="tx1"/>
                </a:solidFill>
                <a:ea typeface="+mn-ea"/>
                <a:cs typeface="+mn-cs"/>
              </a:rPr>
              <a:t>Tents; Bedding; Toilets.</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Sample items</a:t>
            </a:r>
          </a:p>
          <a:p>
            <a:pPr>
              <a:buFont typeface="Arial" pitchFamily="34" charset="0"/>
              <a:buNone/>
            </a:pPr>
            <a:r>
              <a:rPr lang="en-US" b="0" noProof="0" dirty="0" smtClean="0"/>
              <a:t>Trainer</a:t>
            </a:r>
            <a:r>
              <a:rPr lang="en-US" b="0" baseline="0" noProof="0" dirty="0" smtClean="0"/>
              <a:t> provides a range of items from those listed on the slide for students to familiarise themselves with.</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a:t>
            </a:r>
            <a:r>
              <a:rPr lang="en-AU" sz="1200" kern="1200" dirty="0" smtClean="0">
                <a:solidFill>
                  <a:schemeClr val="tx1"/>
                </a:solidFill>
                <a:ea typeface="+mn-ea"/>
                <a:cs typeface="+mn-cs"/>
              </a:rPr>
              <a:t>in the immediate short-term where extra resources are required it may be possible to:</a:t>
            </a:r>
          </a:p>
          <a:p>
            <a:pPr>
              <a:buFont typeface="Arial" pitchFamily="34" charset="0"/>
              <a:buChar char="•"/>
            </a:pPr>
            <a:r>
              <a:rPr lang="en-AU" sz="1200" kern="1200" dirty="0" smtClean="0">
                <a:solidFill>
                  <a:schemeClr val="tx1"/>
                </a:solidFill>
                <a:ea typeface="+mn-ea"/>
                <a:cs typeface="+mn-cs"/>
              </a:rPr>
              <a:t>Move required resources from one place to another – this can mean:</a:t>
            </a:r>
          </a:p>
          <a:p>
            <a:pPr lvl="1">
              <a:buFont typeface="Arial" pitchFamily="34" charset="0"/>
              <a:buChar char="•"/>
            </a:pPr>
            <a:r>
              <a:rPr lang="en-US" sz="1200" kern="1200" dirty="0" smtClean="0">
                <a:solidFill>
                  <a:schemeClr val="tx1"/>
                </a:solidFill>
                <a:ea typeface="+mn-ea"/>
                <a:cs typeface="+mn-cs"/>
              </a:rPr>
              <a:t>Moving items from one tour vehicle to another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Shifting items from the prepared ‘tour stock’ (or staging area) of one tour to a tour about to depart or an activity about to commence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Taking resources out of the supplies/stock (store room) of the operator and re-locating to a tour, tour vehicle or tour group</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Source required resources by:</a:t>
            </a:r>
          </a:p>
          <a:p>
            <a:pPr lvl="1">
              <a:buFont typeface="Arial" pitchFamily="34" charset="0"/>
              <a:buChar char="•"/>
            </a:pPr>
            <a:r>
              <a:rPr lang="en-US" sz="1200" kern="1200" dirty="0" smtClean="0">
                <a:solidFill>
                  <a:schemeClr val="tx1"/>
                </a:solidFill>
                <a:ea typeface="+mn-ea"/>
                <a:cs typeface="+mn-cs"/>
              </a:rPr>
              <a:t>Contacting another tour operator (even a business which is in direct competition) and asking to borrow required items from them – in many cases there is an effective ‘working relationship’ for mutual benefit even between many fierce competitors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Telephoning suppliers and organising ‘emergency’ provision of required items – which might include:</a:t>
            </a:r>
            <a:endParaRPr lang="en-AU" sz="1200" kern="1200" dirty="0" smtClean="0">
              <a:solidFill>
                <a:schemeClr val="tx1"/>
              </a:solidFill>
              <a:ea typeface="+mn-ea"/>
              <a:cs typeface="+mn-cs"/>
            </a:endParaRPr>
          </a:p>
          <a:p>
            <a:pPr lvl="2">
              <a:buFont typeface="Arial" pitchFamily="34" charset="0"/>
              <a:buChar char="•"/>
            </a:pPr>
            <a:r>
              <a:rPr lang="en-AU" sz="1200" kern="1200" dirty="0" smtClean="0">
                <a:solidFill>
                  <a:schemeClr val="tx1"/>
                </a:solidFill>
                <a:ea typeface="+mn-ea"/>
                <a:cs typeface="+mn-cs"/>
              </a:rPr>
              <a:t>The tour bus/vehicle picking up requirements </a:t>
            </a:r>
            <a:r>
              <a:rPr lang="en-AU" sz="1200" i="1" kern="1200" dirty="0" smtClean="0">
                <a:solidFill>
                  <a:schemeClr val="tx1"/>
                </a:solidFill>
                <a:ea typeface="+mn-ea"/>
                <a:cs typeface="+mn-cs"/>
              </a:rPr>
              <a:t>en route</a:t>
            </a:r>
            <a:endParaRPr lang="en-AU" sz="1200" kern="1200" dirty="0" smtClean="0">
              <a:solidFill>
                <a:schemeClr val="tx1"/>
              </a:solidFill>
              <a:ea typeface="+mn-ea"/>
              <a:cs typeface="+mn-cs"/>
            </a:endParaRPr>
          </a:p>
          <a:p>
            <a:pPr lvl="2">
              <a:buFont typeface="Arial" pitchFamily="34" charset="0"/>
              <a:buChar char="•"/>
            </a:pPr>
            <a:r>
              <a:rPr lang="en-AU" sz="1200" kern="1200" dirty="0" smtClean="0">
                <a:solidFill>
                  <a:schemeClr val="tx1"/>
                </a:solidFill>
                <a:ea typeface="+mn-ea"/>
                <a:cs typeface="+mn-cs"/>
              </a:rPr>
              <a:t>Paying for a courier to make a special delivery of the required items from the supplier to the tour business</a:t>
            </a:r>
          </a:p>
          <a:p>
            <a:pPr>
              <a:buFont typeface="Arial" pitchFamily="34" charset="0"/>
              <a:buChar char="•"/>
            </a:pPr>
            <a:r>
              <a:rPr lang="en-AU" sz="1200" kern="1200" dirty="0" smtClean="0">
                <a:solidFill>
                  <a:schemeClr val="tx1"/>
                </a:solidFill>
                <a:ea typeface="+mn-ea"/>
                <a:cs typeface="+mn-cs"/>
              </a:rPr>
              <a:t>Contact destinations and attractions – and making enquiries in relation to:</a:t>
            </a:r>
          </a:p>
          <a:p>
            <a:pPr lvl="1">
              <a:buFont typeface="Arial" pitchFamily="34" charset="0"/>
              <a:buChar char="•"/>
            </a:pPr>
            <a:r>
              <a:rPr lang="en-US" sz="1200" kern="1200" dirty="0" smtClean="0">
                <a:solidFill>
                  <a:schemeClr val="tx1"/>
                </a:solidFill>
                <a:ea typeface="+mn-ea"/>
                <a:cs typeface="+mn-cs"/>
              </a:rPr>
              <a:t>Whether they have their own resources as required which can be used by the trip/tour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If they are willing/able to loan or hire them to the tour operator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Determining quantities and condition/safety of their resources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Negotiating a mutually acceptable rental price </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noProof="0" dirty="0" smtClean="0"/>
              <a:t>Trainer suggests the </a:t>
            </a:r>
            <a:r>
              <a:rPr lang="en-AU" sz="1200" kern="1200" dirty="0" smtClean="0">
                <a:solidFill>
                  <a:schemeClr val="tx1"/>
                </a:solidFill>
                <a:ea typeface="+mn-ea"/>
                <a:cs typeface="+mn-cs"/>
              </a:rPr>
              <a:t>business may elect to look at one or more of the following in terms of long-term plans to address issues raised by the need for additional resources:</a:t>
            </a:r>
          </a:p>
          <a:p>
            <a:pPr>
              <a:buFont typeface="Arial" pitchFamily="34" charset="0"/>
              <a:buChar char="•"/>
            </a:pPr>
            <a:r>
              <a:rPr lang="en-AU" sz="1200" kern="1200" dirty="0" smtClean="0">
                <a:solidFill>
                  <a:schemeClr val="tx1"/>
                </a:solidFill>
                <a:ea typeface="+mn-ea"/>
                <a:cs typeface="+mn-cs"/>
              </a:rPr>
              <a:t>Acquire extra resources as identified –which may involve:</a:t>
            </a:r>
          </a:p>
          <a:p>
            <a:pPr lvl="1">
              <a:buFont typeface="Arial" pitchFamily="34" charset="0"/>
              <a:buChar char="•"/>
            </a:pPr>
            <a:r>
              <a:rPr lang="en-US" sz="1200" kern="1200" dirty="0" smtClean="0">
                <a:solidFill>
                  <a:schemeClr val="tx1"/>
                </a:solidFill>
                <a:ea typeface="+mn-ea"/>
                <a:cs typeface="+mn-cs"/>
              </a:rPr>
              <a:t>Purchasing more items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Leasing items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Service damaged items – which means organising and providing repairs and maintenance in order to return unsafe/unusable items back to a required standard of serviceability so there is a bigger pool of items available to use</a:t>
            </a:r>
          </a:p>
          <a:p>
            <a:pPr>
              <a:buFont typeface="Arial" pitchFamily="34" charset="0"/>
              <a:buChar char="•"/>
            </a:pPr>
            <a:r>
              <a:rPr lang="en-AU" sz="1200" kern="1200" dirty="0" smtClean="0">
                <a:solidFill>
                  <a:schemeClr val="tx1"/>
                </a:solidFill>
                <a:ea typeface="+mn-ea"/>
                <a:cs typeface="+mn-cs"/>
              </a:rPr>
              <a:t>Amend current standard tours – by: </a:t>
            </a:r>
          </a:p>
          <a:p>
            <a:pPr lvl="1">
              <a:buFont typeface="Arial" pitchFamily="34" charset="0"/>
              <a:buChar char="•"/>
            </a:pPr>
            <a:r>
              <a:rPr lang="en-US" sz="1200" kern="1200" dirty="0" smtClean="0">
                <a:solidFill>
                  <a:schemeClr val="tx1"/>
                </a:solidFill>
                <a:ea typeface="+mn-ea"/>
                <a:cs typeface="+mn-cs"/>
              </a:rPr>
              <a:t>Changing the itineraries and inclusions as necessary on the basis of the resource issue/s applying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Changing all internal and external advertising and promotional materials used to market the tour/s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Develop new tours – on the basis of:</a:t>
            </a:r>
          </a:p>
          <a:p>
            <a:pPr lvl="1">
              <a:buFont typeface="Arial" pitchFamily="34" charset="0"/>
              <a:buChar char="•"/>
            </a:pPr>
            <a:r>
              <a:rPr lang="en-US" sz="1200" kern="1200" dirty="0" smtClean="0">
                <a:solidFill>
                  <a:schemeClr val="tx1"/>
                </a:solidFill>
                <a:ea typeface="+mn-ea"/>
                <a:cs typeface="+mn-cs"/>
              </a:rPr>
              <a:t>Removing inclusions, activities, destinations etc which can no longer be included because of the resource issue – and not replacing these with anything else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Substituting alternative inclusions, activities, destinations for those which have been removed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Changing the name/focus of the tour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Altering the price of tickets for the tour.</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Small Group Exercise</a:t>
            </a:r>
          </a:p>
          <a:p>
            <a:pPr>
              <a:buFont typeface="Arial" pitchFamily="34" charset="0"/>
              <a:buNone/>
            </a:pPr>
            <a:r>
              <a:rPr lang="en-US" b="0" noProof="0" dirty="0" smtClean="0"/>
              <a:t>Trainer identifies/describes</a:t>
            </a:r>
            <a:r>
              <a:rPr lang="en-US" b="0" baseline="0" noProof="0" dirty="0" smtClean="0"/>
              <a:t> a trip/tour and nominates one or more resources which are necessary for that tour.</a:t>
            </a:r>
          </a:p>
          <a:p>
            <a:pPr>
              <a:buFont typeface="Arial" pitchFamily="34" charset="0"/>
              <a:buNone/>
            </a:pPr>
            <a:r>
              <a:rPr lang="en-US" b="0" baseline="0" noProof="0" dirty="0" smtClean="0"/>
              <a:t>Trainer explains for the purposes of this exercise these resources are unavailable, and asks students to develop a viable plan to resolve this situation.</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advises:</a:t>
            </a:r>
          </a:p>
          <a:p>
            <a:pPr>
              <a:buFont typeface="Arial" pitchFamily="34" charset="0"/>
              <a:buChar char="•"/>
            </a:pPr>
            <a:r>
              <a:rPr lang="en-AU" sz="1200" kern="1200" dirty="0" smtClean="0">
                <a:solidFill>
                  <a:schemeClr val="tx1"/>
                </a:solidFill>
                <a:ea typeface="+mn-ea"/>
                <a:cs typeface="+mn-cs"/>
              </a:rPr>
              <a:t>Every organisation has developed its own protocols in this </a:t>
            </a:r>
            <a:r>
              <a:rPr lang="en-AU" sz="1200" kern="1200" dirty="0" smtClean="0">
                <a:solidFill>
                  <a:schemeClr val="tx1"/>
                </a:solidFill>
                <a:ea typeface="+mn-ea"/>
                <a:cs typeface="+mn-cs"/>
              </a:rPr>
              <a:t>regard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While all operators will follow </a:t>
            </a:r>
            <a:r>
              <a:rPr lang="en-AU" sz="1200" i="1" kern="1200" dirty="0" smtClean="0">
                <a:solidFill>
                  <a:schemeClr val="tx1"/>
                </a:solidFill>
                <a:ea typeface="+mn-ea"/>
                <a:cs typeface="+mn-cs"/>
              </a:rPr>
              <a:t>generally</a:t>
            </a:r>
            <a:r>
              <a:rPr lang="en-AU" sz="1200" kern="1200" dirty="0" smtClean="0">
                <a:solidFill>
                  <a:schemeClr val="tx1"/>
                </a:solidFill>
                <a:ea typeface="+mn-ea"/>
                <a:cs typeface="+mn-cs"/>
              </a:rPr>
              <a:t> applicable practices and procedures there will be workplace-specific variations and these </a:t>
            </a:r>
            <a:r>
              <a:rPr lang="en-AU" sz="1200" b="1" kern="1200" dirty="0" smtClean="0">
                <a:solidFill>
                  <a:schemeClr val="tx1"/>
                </a:solidFill>
                <a:ea typeface="+mn-ea"/>
                <a:cs typeface="+mn-cs"/>
              </a:rPr>
              <a:t>must</a:t>
            </a:r>
            <a:r>
              <a:rPr lang="en-AU" sz="1200" kern="1200" dirty="0" smtClean="0">
                <a:solidFill>
                  <a:schemeClr val="tx1"/>
                </a:solidFill>
                <a:ea typeface="+mn-ea"/>
                <a:cs typeface="+mn-cs"/>
              </a:rPr>
              <a:t> be adhered to as they apply to each business.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explains SOPs in relation to verifying trip/tour supplies:</a:t>
            </a:r>
          </a:p>
          <a:p>
            <a:r>
              <a:rPr lang="en-AU" sz="1200" b="1" kern="1200" dirty="0" smtClean="0">
                <a:solidFill>
                  <a:schemeClr val="tx1"/>
                </a:solidFill>
                <a:ea typeface="+mn-ea"/>
                <a:cs typeface="+mn-cs"/>
              </a:rPr>
              <a:t>Holding final planning session</a:t>
            </a:r>
          </a:p>
          <a:p>
            <a:pPr>
              <a:buFont typeface="Arial" pitchFamily="34" charset="0"/>
              <a:buNone/>
            </a:pPr>
            <a:r>
              <a:rPr lang="en-AU" sz="1200" kern="1200" dirty="0" smtClean="0">
                <a:solidFill>
                  <a:schemeClr val="tx1"/>
                </a:solidFill>
                <a:ea typeface="+mn-ea"/>
                <a:cs typeface="+mn-cs"/>
              </a:rPr>
              <a:t>For larger trips/tours there is usually a final planning session held two to three days before departure to identify last-minute requirements. This is:</a:t>
            </a:r>
          </a:p>
          <a:p>
            <a:pPr lvl="0">
              <a:buFont typeface="Arial" pitchFamily="34" charset="0"/>
              <a:buChar char="•"/>
            </a:pPr>
            <a:r>
              <a:rPr lang="en-AU" sz="1200" kern="1200" dirty="0" smtClean="0">
                <a:solidFill>
                  <a:schemeClr val="tx1"/>
                </a:solidFill>
                <a:ea typeface="+mn-ea"/>
                <a:cs typeface="+mn-cs"/>
              </a:rPr>
              <a:t>A meeting with all tour staff</a:t>
            </a:r>
          </a:p>
          <a:p>
            <a:pPr lvl="0">
              <a:buFont typeface="Arial" pitchFamily="34" charset="0"/>
              <a:buChar char="•"/>
            </a:pPr>
            <a:r>
              <a:rPr lang="en-AU" sz="1200" kern="1200" dirty="0" smtClean="0">
                <a:solidFill>
                  <a:schemeClr val="tx1"/>
                </a:solidFill>
                <a:ea typeface="+mn-ea"/>
                <a:cs typeface="+mn-cs"/>
              </a:rPr>
              <a:t>A </a:t>
            </a:r>
            <a:r>
              <a:rPr lang="en-AU" sz="1200" b="1" kern="1200" dirty="0" smtClean="0">
                <a:solidFill>
                  <a:schemeClr val="tx1"/>
                </a:solidFill>
                <a:ea typeface="+mn-ea"/>
                <a:cs typeface="+mn-cs"/>
              </a:rPr>
              <a:t>detailed review</a:t>
            </a:r>
            <a:r>
              <a:rPr lang="en-AU" sz="1200" kern="1200" dirty="0" smtClean="0">
                <a:solidFill>
                  <a:schemeClr val="tx1"/>
                </a:solidFill>
                <a:ea typeface="+mn-ea"/>
                <a:cs typeface="+mn-cs"/>
              </a:rPr>
              <a:t> of the itinerary – matching all projected activities against ‘resources required’ (by type and quantity) for each activity on an activity-by-activity basis.</a:t>
            </a:r>
          </a:p>
          <a:p>
            <a:pPr>
              <a:buFont typeface="Arial" pitchFamily="34" charset="0"/>
              <a:buNone/>
            </a:pPr>
            <a:r>
              <a:rPr lang="en-AU" sz="1200" kern="1200" dirty="0" smtClean="0">
                <a:solidFill>
                  <a:schemeClr val="tx1"/>
                </a:solidFill>
                <a:ea typeface="+mn-ea"/>
                <a:cs typeface="+mn-cs"/>
              </a:rPr>
              <a:t>The objectives of the meeting are to:</a:t>
            </a:r>
          </a:p>
          <a:p>
            <a:pPr lvl="0">
              <a:buFont typeface="Arial" pitchFamily="34" charset="0"/>
              <a:buChar char="•"/>
            </a:pPr>
            <a:r>
              <a:rPr lang="en-AU" sz="1200" kern="1200" dirty="0" smtClean="0">
                <a:solidFill>
                  <a:schemeClr val="tx1"/>
                </a:solidFill>
                <a:ea typeface="+mn-ea"/>
                <a:cs typeface="+mn-cs"/>
              </a:rPr>
              <a:t>Confirm resources </a:t>
            </a:r>
            <a:r>
              <a:rPr lang="en-AU" sz="1200" i="1" kern="1200" dirty="0" smtClean="0">
                <a:solidFill>
                  <a:schemeClr val="tx1"/>
                </a:solidFill>
                <a:ea typeface="+mn-ea"/>
                <a:cs typeface="+mn-cs"/>
              </a:rPr>
              <a:t>provided</a:t>
            </a:r>
            <a:r>
              <a:rPr lang="en-AU" sz="1200" kern="1200" dirty="0" smtClean="0">
                <a:solidFill>
                  <a:schemeClr val="tx1"/>
                </a:solidFill>
                <a:ea typeface="+mn-ea"/>
                <a:cs typeface="+mn-cs"/>
              </a:rPr>
              <a:t> will actually meet resources </a:t>
            </a:r>
            <a:r>
              <a:rPr lang="en-AU" sz="1200" i="1" kern="1200" dirty="0" smtClean="0">
                <a:solidFill>
                  <a:schemeClr val="tx1"/>
                </a:solidFill>
                <a:ea typeface="+mn-ea"/>
                <a:cs typeface="+mn-cs"/>
              </a:rPr>
              <a:t>required</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Identify deficiencies and need for extra/different resources.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further describes verifying procedures for</a:t>
            </a:r>
          </a:p>
          <a:p>
            <a:r>
              <a:rPr lang="en-AU" sz="1200" b="1" i="1" kern="1200" dirty="0" smtClean="0">
                <a:solidFill>
                  <a:schemeClr val="tx1"/>
                </a:solidFill>
                <a:ea typeface="+mn-ea"/>
                <a:cs typeface="+mn-cs"/>
              </a:rPr>
              <a:t>Private and Custom tours</a:t>
            </a:r>
            <a:endParaRPr lang="en-AU" sz="1200" kern="1200" dirty="0" smtClean="0">
              <a:solidFill>
                <a:schemeClr val="tx1"/>
              </a:solidFill>
              <a:ea typeface="+mn-ea"/>
              <a:cs typeface="+mn-cs"/>
            </a:endParaRPr>
          </a:p>
          <a:p>
            <a:pPr>
              <a:buFont typeface="Arial" pitchFamily="34" charset="0"/>
              <a:buNone/>
            </a:pPr>
            <a:r>
              <a:rPr lang="en-AU" sz="1200" kern="1200" dirty="0" smtClean="0">
                <a:solidFill>
                  <a:schemeClr val="tx1"/>
                </a:solidFill>
                <a:ea typeface="+mn-ea"/>
                <a:cs typeface="+mn-cs"/>
              </a:rPr>
              <a:t>Where custom and/or private tours are being prepared it is common to:</a:t>
            </a:r>
          </a:p>
          <a:p>
            <a:pPr lvl="0">
              <a:buFont typeface="Arial" pitchFamily="34" charset="0"/>
              <a:buChar char="•"/>
            </a:pPr>
            <a:r>
              <a:rPr lang="en-AU" sz="1200" kern="1200" dirty="0" smtClean="0">
                <a:solidFill>
                  <a:schemeClr val="tx1"/>
                </a:solidFill>
                <a:ea typeface="+mn-ea"/>
                <a:cs typeface="+mn-cs"/>
              </a:rPr>
              <a:t>Invite host/tour group representative/s to attend, or</a:t>
            </a:r>
          </a:p>
          <a:p>
            <a:pPr lvl="0">
              <a:buFont typeface="Arial" pitchFamily="34" charset="0"/>
              <a:buChar char="•"/>
            </a:pPr>
            <a:r>
              <a:rPr lang="en-AU" sz="1200" kern="1200" dirty="0" smtClean="0">
                <a:solidFill>
                  <a:schemeClr val="tx1"/>
                </a:solidFill>
                <a:ea typeface="+mn-ea"/>
                <a:cs typeface="+mn-cs"/>
              </a:rPr>
              <a:t>Contact tour group representative/s by telephone to: </a:t>
            </a:r>
          </a:p>
          <a:p>
            <a:pPr lvl="1">
              <a:buFont typeface="Arial" pitchFamily="34" charset="0"/>
              <a:buChar char="•"/>
            </a:pPr>
            <a:r>
              <a:rPr lang="en-AU" sz="1200" kern="1200" dirty="0" smtClean="0">
                <a:solidFill>
                  <a:schemeClr val="tx1"/>
                </a:solidFill>
                <a:ea typeface="+mn-ea"/>
                <a:cs typeface="+mn-cs"/>
              </a:rPr>
              <a:t>Get their final input</a:t>
            </a:r>
          </a:p>
          <a:p>
            <a:pPr lvl="1">
              <a:buFont typeface="Arial" pitchFamily="34" charset="0"/>
              <a:buChar char="•"/>
            </a:pPr>
            <a:r>
              <a:rPr lang="en-AU" sz="1200" kern="1200" dirty="0" smtClean="0">
                <a:solidFill>
                  <a:schemeClr val="tx1"/>
                </a:solidFill>
                <a:ea typeface="+mn-ea"/>
                <a:cs typeface="+mn-cs"/>
              </a:rPr>
              <a:t>Identify last-minute requests</a:t>
            </a:r>
          </a:p>
          <a:p>
            <a:pPr lvl="1">
              <a:buFont typeface="Arial" pitchFamily="34" charset="0"/>
              <a:buChar char="•"/>
            </a:pPr>
            <a:r>
              <a:rPr lang="en-AU" sz="1200" kern="1200" dirty="0" smtClean="0">
                <a:solidFill>
                  <a:schemeClr val="tx1"/>
                </a:solidFill>
                <a:ea typeface="+mn-ea"/>
                <a:cs typeface="+mn-cs"/>
              </a:rPr>
              <a:t>Confirm arrangements already made.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further describes verifying procedures:</a:t>
            </a:r>
          </a:p>
          <a:p>
            <a:pPr>
              <a:buFont typeface="Arial" pitchFamily="34" charset="0"/>
              <a:buNone/>
            </a:pPr>
            <a:r>
              <a:rPr lang="en-AU" sz="1200" b="1" kern="1200" dirty="0" smtClean="0">
                <a:solidFill>
                  <a:schemeClr val="tx1"/>
                </a:solidFill>
                <a:ea typeface="+mn-ea"/>
                <a:cs typeface="+mn-cs"/>
              </a:rPr>
              <a:t>Undertaking final paper-based check</a:t>
            </a:r>
            <a:endParaRPr lang="en-US" b="1" baseline="0" noProof="0" dirty="0" smtClean="0"/>
          </a:p>
          <a:p>
            <a:r>
              <a:rPr lang="en-AU" sz="1200" kern="1200" dirty="0" smtClean="0">
                <a:solidFill>
                  <a:schemeClr val="tx1"/>
                </a:solidFill>
                <a:ea typeface="+mn-ea"/>
                <a:cs typeface="+mn-cs"/>
              </a:rPr>
              <a:t>One SOP is the undertaking of a final paper-based consideration of the Loading list/manifest for equipment and supplies.</a:t>
            </a:r>
          </a:p>
          <a:p>
            <a:r>
              <a:rPr lang="en-AU" sz="1200" kern="1200" dirty="0" smtClean="0">
                <a:solidFill>
                  <a:schemeClr val="tx1"/>
                </a:solidFill>
                <a:ea typeface="+mn-ea"/>
                <a:cs typeface="+mn-cs"/>
              </a:rPr>
              <a:t>This involves:</a:t>
            </a:r>
          </a:p>
          <a:p>
            <a:pPr>
              <a:buFont typeface="Arial" pitchFamily="34" charset="0"/>
              <a:buChar char="•"/>
            </a:pPr>
            <a:r>
              <a:rPr lang="en-AU" sz="1200" kern="1200" dirty="0" smtClean="0">
                <a:solidFill>
                  <a:schemeClr val="tx1"/>
                </a:solidFill>
                <a:ea typeface="+mn-ea"/>
                <a:cs typeface="+mn-cs"/>
              </a:rPr>
              <a:t>Sitting down with tour staff</a:t>
            </a:r>
          </a:p>
          <a:p>
            <a:pPr>
              <a:buFont typeface="Arial" pitchFamily="34" charset="0"/>
              <a:buChar char="•"/>
            </a:pPr>
            <a:r>
              <a:rPr lang="en-AU" sz="1200" kern="1200" dirty="0" smtClean="0">
                <a:solidFill>
                  <a:schemeClr val="tx1"/>
                </a:solidFill>
                <a:ea typeface="+mn-ea"/>
                <a:cs typeface="+mn-cs"/>
              </a:rPr>
              <a:t>Giving each member of the tour staff a copy of tour details – that is:</a:t>
            </a:r>
          </a:p>
          <a:p>
            <a:pPr lvl="1">
              <a:buFont typeface="Arial" pitchFamily="34" charset="0"/>
              <a:buChar char="•"/>
            </a:pPr>
            <a:r>
              <a:rPr lang="en-US" sz="1200" kern="1200" dirty="0" smtClean="0">
                <a:solidFill>
                  <a:schemeClr val="tx1"/>
                </a:solidFill>
                <a:ea typeface="+mn-ea"/>
                <a:cs typeface="+mn-cs"/>
              </a:rPr>
              <a:t>Tour group numbers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Group profiles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Itinerary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Copies of contracts/agreements for private or custom tours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Distributing copy of Loading sheet/manifest to each tour staff member</a:t>
            </a:r>
          </a:p>
          <a:p>
            <a:pPr>
              <a:buFont typeface="Arial" pitchFamily="34" charset="0"/>
              <a:buChar char="•"/>
            </a:pPr>
            <a:r>
              <a:rPr lang="en-AU" sz="1200" kern="1200" dirty="0" smtClean="0">
                <a:solidFill>
                  <a:schemeClr val="tx1"/>
                </a:solidFill>
                <a:ea typeface="+mn-ea"/>
                <a:cs typeface="+mn-cs"/>
              </a:rPr>
              <a:t>Evaluating the contents of the Loading sheet/manifest – which requires:</a:t>
            </a:r>
          </a:p>
          <a:p>
            <a:pPr lvl="1">
              <a:buFont typeface="Arial" pitchFamily="34" charset="0"/>
              <a:buChar char="•"/>
            </a:pPr>
            <a:r>
              <a:rPr lang="en-US" sz="1200" kern="1200" dirty="0" smtClean="0">
                <a:solidFill>
                  <a:schemeClr val="tx1"/>
                </a:solidFill>
                <a:ea typeface="+mn-ea"/>
                <a:cs typeface="+mn-cs"/>
              </a:rPr>
              <a:t>Identification of materials provided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Analysis of projected use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Confirmation of resources provided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Identification of situations where </a:t>
            </a:r>
            <a:r>
              <a:rPr lang="en-US" sz="1200" i="1" kern="1200" dirty="0" smtClean="0">
                <a:solidFill>
                  <a:schemeClr val="tx1"/>
                </a:solidFill>
                <a:ea typeface="+mn-ea"/>
                <a:cs typeface="+mn-cs"/>
              </a:rPr>
              <a:t>more</a:t>
            </a:r>
            <a:r>
              <a:rPr lang="en-US" sz="1200" kern="1200" dirty="0" smtClean="0">
                <a:solidFill>
                  <a:schemeClr val="tx1"/>
                </a:solidFill>
                <a:ea typeface="+mn-ea"/>
                <a:cs typeface="+mn-cs"/>
              </a:rPr>
              <a:t> resources are required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Identification of situations where </a:t>
            </a:r>
            <a:r>
              <a:rPr lang="en-US" sz="1200" i="1" kern="1200" dirty="0" smtClean="0">
                <a:solidFill>
                  <a:schemeClr val="tx1"/>
                </a:solidFill>
                <a:ea typeface="+mn-ea"/>
                <a:cs typeface="+mn-cs"/>
              </a:rPr>
              <a:t>different </a:t>
            </a:r>
            <a:r>
              <a:rPr lang="en-US" sz="1200" kern="1200" dirty="0" smtClean="0">
                <a:solidFill>
                  <a:schemeClr val="tx1"/>
                </a:solidFill>
                <a:ea typeface="+mn-ea"/>
                <a:cs typeface="+mn-cs"/>
              </a:rPr>
              <a:t>resources are </a:t>
            </a:r>
            <a:r>
              <a:rPr lang="en-US" sz="1200" kern="1200" dirty="0" smtClean="0">
                <a:solidFill>
                  <a:schemeClr val="tx1"/>
                </a:solidFill>
                <a:ea typeface="+mn-ea"/>
                <a:cs typeface="+mn-cs"/>
              </a:rPr>
              <a:t>required.</a:t>
            </a:r>
            <a:endParaRPr lang="en-AU" sz="1200" kern="1200" dirty="0" smtClean="0">
              <a:solidFill>
                <a:schemeClr val="tx1"/>
              </a:solidFill>
              <a:ea typeface="+mn-ea"/>
              <a:cs typeface="+mn-cs"/>
            </a:endParaRPr>
          </a:p>
          <a:p>
            <a:pPr>
              <a:buFont typeface="Arial" pitchFamily="34" charset="0"/>
              <a:buNone/>
            </a:pPr>
            <a:r>
              <a:rPr lang="en-US" baseline="0"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continues discussing </a:t>
            </a:r>
            <a:r>
              <a:rPr lang="en-AU" sz="1200" kern="1200" dirty="0" smtClean="0">
                <a:solidFill>
                  <a:schemeClr val="tx1"/>
                </a:solidFill>
                <a:ea typeface="+mn-ea"/>
                <a:cs typeface="+mn-cs"/>
              </a:rPr>
              <a:t>final paper-based verification:</a:t>
            </a:r>
          </a:p>
          <a:p>
            <a:pPr>
              <a:buFont typeface="Arial" pitchFamily="34" charset="0"/>
              <a:buChar char="•"/>
            </a:pPr>
            <a:r>
              <a:rPr lang="en-AU" sz="1200" kern="1200" dirty="0" smtClean="0">
                <a:solidFill>
                  <a:schemeClr val="tx1"/>
                </a:solidFill>
                <a:ea typeface="+mn-ea"/>
                <a:cs typeface="+mn-cs"/>
              </a:rPr>
              <a:t>Reviewing Operations Package/Manual – and checking, reviewing and/or confirming:</a:t>
            </a:r>
          </a:p>
          <a:p>
            <a:pPr lvl="1">
              <a:buFont typeface="Arial" pitchFamily="34" charset="0"/>
              <a:buChar char="•"/>
            </a:pPr>
            <a:r>
              <a:rPr lang="en-US" sz="1200" kern="1200" dirty="0" smtClean="0">
                <a:solidFill>
                  <a:schemeClr val="tx1"/>
                </a:solidFill>
                <a:ea typeface="+mn-ea"/>
                <a:cs typeface="+mn-cs"/>
              </a:rPr>
              <a:t>Emergency Plans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Permissions and permits – authorisations necessary to enter certain places/areas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Codes of Conduct – to guide behavior in nominated areas in order to respect communities and cultures and/or enable responsible environmental actions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Contact lists – list of local offices, local personnel, phone numbers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Determining course of action where extra/different resources are required – for example:</a:t>
            </a:r>
          </a:p>
          <a:p>
            <a:pPr lvl="1">
              <a:buFont typeface="Arial" pitchFamily="34" charset="0"/>
              <a:buChar char="•"/>
            </a:pPr>
            <a:r>
              <a:rPr lang="en-US" sz="1200" kern="1200" dirty="0" smtClean="0">
                <a:solidFill>
                  <a:schemeClr val="tx1"/>
                </a:solidFill>
                <a:ea typeface="+mn-ea"/>
                <a:cs typeface="+mn-cs"/>
              </a:rPr>
              <a:t>Supply of what is required – if budget/scope of authority allows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Request (with appropriate justification) to management for permission for extra resources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Signing-off by tour staff on the Loading sheets as being appropriate for the trip/tour to be conducted.</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further describes verifying procedures:</a:t>
            </a:r>
          </a:p>
          <a:p>
            <a:r>
              <a:rPr lang="en-AU" sz="1200" b="1" kern="1200" dirty="0" smtClean="0">
                <a:solidFill>
                  <a:schemeClr val="tx1"/>
                </a:solidFill>
                <a:ea typeface="+mn-ea"/>
                <a:cs typeface="+mn-cs"/>
              </a:rPr>
              <a:t>Conducting physical check</a:t>
            </a:r>
          </a:p>
          <a:p>
            <a:r>
              <a:rPr lang="en-AU" sz="1200" kern="1200" dirty="0" smtClean="0">
                <a:solidFill>
                  <a:schemeClr val="tx1"/>
                </a:solidFill>
                <a:ea typeface="+mn-ea"/>
                <a:cs typeface="+mn-cs"/>
              </a:rPr>
              <a:t>The physical check of the resources may occur:</a:t>
            </a:r>
          </a:p>
          <a:p>
            <a:pPr>
              <a:buFont typeface="Arial" pitchFamily="34" charset="0"/>
              <a:buChar char="•"/>
            </a:pPr>
            <a:r>
              <a:rPr lang="en-AU" sz="1200" kern="1200" dirty="0" smtClean="0">
                <a:solidFill>
                  <a:schemeClr val="tx1"/>
                </a:solidFill>
                <a:ea typeface="+mn-ea"/>
                <a:cs typeface="+mn-cs"/>
              </a:rPr>
              <a:t>At the same time as the paper-based check is undertaken</a:t>
            </a:r>
          </a:p>
          <a:p>
            <a:pPr>
              <a:buFont typeface="Arial" pitchFamily="34" charset="0"/>
              <a:buChar char="•"/>
            </a:pPr>
            <a:r>
              <a:rPr lang="en-AU" sz="1200" kern="1200" dirty="0" smtClean="0">
                <a:solidFill>
                  <a:schemeClr val="tx1"/>
                </a:solidFill>
                <a:ea typeface="+mn-ea"/>
                <a:cs typeface="+mn-cs"/>
              </a:rPr>
              <a:t>After the paper-based check has confirmed the ‘in principle’ provision of supplies.</a:t>
            </a:r>
          </a:p>
          <a:p>
            <a:r>
              <a:rPr lang="en-AU" sz="1200" kern="1200" dirty="0" smtClean="0">
                <a:solidFill>
                  <a:schemeClr val="tx1"/>
                </a:solidFill>
                <a:ea typeface="+mn-ea"/>
                <a:cs typeface="+mn-cs"/>
              </a:rPr>
              <a:t>Conducting a physical check means:</a:t>
            </a:r>
          </a:p>
          <a:p>
            <a:pPr>
              <a:buFont typeface="Arial" pitchFamily="34" charset="0"/>
              <a:buChar char="•"/>
            </a:pPr>
            <a:r>
              <a:rPr lang="en-AU" sz="1200" kern="1200" dirty="0" smtClean="0">
                <a:solidFill>
                  <a:schemeClr val="tx1"/>
                </a:solidFill>
                <a:ea typeface="+mn-ea"/>
                <a:cs typeface="+mn-cs"/>
              </a:rPr>
              <a:t>Going to the staging area for the trip/tour – where all the resources have been assembled</a:t>
            </a:r>
          </a:p>
          <a:p>
            <a:pPr>
              <a:buFont typeface="Arial" pitchFamily="34" charset="0"/>
              <a:buChar char="•"/>
            </a:pPr>
            <a:r>
              <a:rPr lang="en-AU" sz="1200" kern="1200" dirty="0" smtClean="0">
                <a:solidFill>
                  <a:schemeClr val="tx1"/>
                </a:solidFill>
                <a:ea typeface="+mn-ea"/>
                <a:cs typeface="+mn-cs"/>
              </a:rPr>
              <a:t>Counting items – and confirming numbers on Loading sheets</a:t>
            </a:r>
          </a:p>
          <a:p>
            <a:pPr>
              <a:buFont typeface="Arial" pitchFamily="34" charset="0"/>
              <a:buChar char="•"/>
            </a:pPr>
            <a:r>
              <a:rPr lang="en-AU" sz="1200" kern="1200" dirty="0" smtClean="0">
                <a:solidFill>
                  <a:schemeClr val="tx1"/>
                </a:solidFill>
                <a:ea typeface="+mn-ea"/>
                <a:cs typeface="+mn-cs"/>
              </a:rPr>
              <a:t>Inspecting equipment and supplies that have been assembled for the tour – to ensure they are as expected and in good condition</a:t>
            </a:r>
          </a:p>
          <a:p>
            <a:pPr>
              <a:buFont typeface="Arial" pitchFamily="34" charset="0"/>
              <a:buChar char="•"/>
            </a:pPr>
            <a:r>
              <a:rPr lang="en-AU" sz="1200" kern="1200" dirty="0" smtClean="0">
                <a:solidFill>
                  <a:schemeClr val="tx1"/>
                </a:solidFill>
                <a:ea typeface="+mn-ea"/>
                <a:cs typeface="+mn-cs"/>
              </a:rPr>
              <a:t>Deciding on action to take – to address situations where the check reveals sub-standard, inappropriate or otherwise unsuitable items</a:t>
            </a:r>
          </a:p>
          <a:p>
            <a:pPr>
              <a:buFont typeface="Arial" pitchFamily="34" charset="0"/>
              <a:buChar char="•"/>
            </a:pPr>
            <a:r>
              <a:rPr lang="en-AU" sz="1200" kern="1200" dirty="0" smtClean="0">
                <a:solidFill>
                  <a:schemeClr val="tx1"/>
                </a:solidFill>
                <a:ea typeface="+mn-ea"/>
                <a:cs typeface="+mn-cs"/>
              </a:rPr>
              <a:t>Signing off on the resources provided – on the loading sheet or a duplicate Checklist.</a:t>
            </a:r>
          </a:p>
          <a:p>
            <a:pPr>
              <a:buFont typeface="Arial" pitchFamily="34" charset="0"/>
              <a:buNone/>
            </a:pPr>
            <a:endParaRPr lang="en-US"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further describes verifying procedures:</a:t>
            </a:r>
          </a:p>
          <a:p>
            <a:r>
              <a:rPr lang="en-AU" sz="1200" b="1" kern="1200" dirty="0" smtClean="0">
                <a:solidFill>
                  <a:schemeClr val="tx1"/>
                </a:solidFill>
                <a:ea typeface="+mn-ea"/>
                <a:cs typeface="+mn-cs"/>
              </a:rPr>
              <a:t>Becoming familiar with operation of resources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Where new/different resources are provided it is standard procedure for tour staff to become familiar with items before the tour departs.</a:t>
            </a:r>
          </a:p>
          <a:p>
            <a:r>
              <a:rPr lang="en-AU" sz="1200" kern="1200" dirty="0" smtClean="0">
                <a:solidFill>
                  <a:schemeClr val="tx1"/>
                </a:solidFill>
                <a:ea typeface="+mn-ea"/>
                <a:cs typeface="+mn-cs"/>
              </a:rPr>
              <a:t>It is not recommended/professional for tour staff to have their first experience with new equipment/supplies on tour where their actions can be seen by tour group members.</a:t>
            </a:r>
          </a:p>
          <a:p>
            <a:r>
              <a:rPr lang="en-AU" sz="1200" kern="1200" dirty="0" smtClean="0">
                <a:solidFill>
                  <a:schemeClr val="tx1"/>
                </a:solidFill>
                <a:ea typeface="+mn-ea"/>
                <a:cs typeface="+mn-cs"/>
              </a:rPr>
              <a:t>Becoming familiar can involve:</a:t>
            </a:r>
          </a:p>
          <a:p>
            <a:pPr>
              <a:buFont typeface="Arial" pitchFamily="34" charset="0"/>
              <a:buChar char="•"/>
            </a:pPr>
            <a:r>
              <a:rPr lang="en-AU" sz="1200" kern="1200" dirty="0" smtClean="0">
                <a:solidFill>
                  <a:schemeClr val="tx1"/>
                </a:solidFill>
                <a:ea typeface="+mn-ea"/>
                <a:cs typeface="+mn-cs"/>
              </a:rPr>
              <a:t>Distribution and reading of User Manuals/Operator Instructions or similar</a:t>
            </a:r>
          </a:p>
          <a:p>
            <a:pPr>
              <a:buFont typeface="Arial" pitchFamily="34" charset="0"/>
              <a:buChar char="•"/>
            </a:pPr>
            <a:r>
              <a:rPr lang="en-AU" sz="1200" kern="1200" dirty="0" smtClean="0">
                <a:solidFill>
                  <a:schemeClr val="tx1"/>
                </a:solidFill>
                <a:ea typeface="+mn-ea"/>
                <a:cs typeface="+mn-cs"/>
              </a:rPr>
              <a:t>Demonstration of how to use items by manufacturers</a:t>
            </a:r>
          </a:p>
          <a:p>
            <a:pPr>
              <a:buFont typeface="Arial" pitchFamily="34" charset="0"/>
              <a:buChar char="•"/>
            </a:pPr>
            <a:r>
              <a:rPr lang="en-AU" sz="1200" kern="1200" dirty="0" smtClean="0">
                <a:solidFill>
                  <a:schemeClr val="tx1"/>
                </a:solidFill>
                <a:ea typeface="+mn-ea"/>
                <a:cs typeface="+mn-cs"/>
              </a:rPr>
              <a:t>Opportunities for practice/drill with the items.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a:t>
            </a:r>
            <a:r>
              <a:rPr lang="en-US" baseline="0" noProof="0" dirty="0" smtClean="0"/>
              <a:t> further describes verifying procedures:</a:t>
            </a:r>
          </a:p>
          <a:p>
            <a:r>
              <a:rPr lang="en-AU" sz="1200" b="1" kern="1200" dirty="0" smtClean="0">
                <a:solidFill>
                  <a:schemeClr val="tx1"/>
                </a:solidFill>
                <a:ea typeface="+mn-ea"/>
                <a:cs typeface="+mn-cs"/>
              </a:rPr>
              <a:t>Inspecting tour vehicle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Another common practice is to physically inspect the tour vehicle(s) and trailer(s) as well as any support transport which will be used to re-stock/replenish the tour.</a:t>
            </a:r>
          </a:p>
          <a:p>
            <a:r>
              <a:rPr lang="en-AU" sz="1200" kern="1200" dirty="0" smtClean="0">
                <a:solidFill>
                  <a:schemeClr val="tx1"/>
                </a:solidFill>
                <a:ea typeface="+mn-ea"/>
                <a:cs typeface="+mn-cs"/>
              </a:rPr>
              <a:t>Inspections will:</a:t>
            </a:r>
          </a:p>
          <a:p>
            <a:pPr>
              <a:buFont typeface="Arial" pitchFamily="34" charset="0"/>
              <a:buChar char="•"/>
            </a:pPr>
            <a:r>
              <a:rPr lang="en-AU" sz="1200" kern="1200" dirty="0" smtClean="0">
                <a:solidFill>
                  <a:schemeClr val="tx1"/>
                </a:solidFill>
                <a:ea typeface="+mn-ea"/>
                <a:cs typeface="+mn-cs"/>
              </a:rPr>
              <a:t>Check service to vehicle/s and trailers has been conducted as required</a:t>
            </a:r>
          </a:p>
          <a:p>
            <a:pPr>
              <a:buFont typeface="Arial" pitchFamily="34" charset="0"/>
              <a:buChar char="•"/>
            </a:pPr>
            <a:r>
              <a:rPr lang="en-AU" sz="1200" kern="1200" dirty="0" smtClean="0">
                <a:solidFill>
                  <a:schemeClr val="tx1"/>
                </a:solidFill>
                <a:ea typeface="+mn-ea"/>
                <a:cs typeface="+mn-cs"/>
              </a:rPr>
              <a:t>Test operations of certain aspects of the vehicle – a Checklist is commonly used</a:t>
            </a:r>
          </a:p>
          <a:p>
            <a:pPr>
              <a:buFont typeface="Arial" pitchFamily="34" charset="0"/>
              <a:buChar char="•"/>
            </a:pPr>
            <a:r>
              <a:rPr lang="en-AU" sz="1200" kern="1200" dirty="0" smtClean="0">
                <a:solidFill>
                  <a:schemeClr val="tx1"/>
                </a:solidFill>
                <a:ea typeface="+mn-ea"/>
                <a:cs typeface="+mn-cs"/>
              </a:rPr>
              <a:t>Verify registration and roadworthiness of vehicle/s</a:t>
            </a:r>
          </a:p>
          <a:p>
            <a:pPr>
              <a:buFont typeface="Arial" pitchFamily="34" charset="0"/>
              <a:buChar char="•"/>
            </a:pPr>
            <a:r>
              <a:rPr lang="en-AU" sz="1200" kern="1200" dirty="0" smtClean="0">
                <a:solidFill>
                  <a:schemeClr val="tx1"/>
                </a:solidFill>
                <a:ea typeface="+mn-ea"/>
                <a:cs typeface="+mn-cs"/>
              </a:rPr>
              <a:t>Make sure vehicle is clean and properly stocked</a:t>
            </a:r>
          </a:p>
          <a:p>
            <a:pPr>
              <a:buFont typeface="Arial" pitchFamily="34" charset="0"/>
              <a:buChar char="•"/>
            </a:pPr>
            <a:r>
              <a:rPr lang="en-AU" sz="1200" kern="1200" dirty="0" smtClean="0">
                <a:solidFill>
                  <a:schemeClr val="tx1"/>
                </a:solidFill>
                <a:ea typeface="+mn-ea"/>
                <a:cs typeface="+mn-cs"/>
              </a:rPr>
              <a:t>Feature a test drive of the vehicle.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discusses Contingency plans stating:</a:t>
            </a:r>
          </a:p>
          <a:p>
            <a:pPr>
              <a:buFont typeface="Arial" pitchFamily="34" charset="0"/>
              <a:buChar char="•"/>
            </a:pPr>
            <a:r>
              <a:rPr lang="en-AU" sz="1200" kern="1200" dirty="0" smtClean="0">
                <a:solidFill>
                  <a:schemeClr val="tx1"/>
                </a:solidFill>
                <a:ea typeface="+mn-ea"/>
                <a:cs typeface="+mn-cs"/>
              </a:rPr>
              <a:t>Contingency plans are plans prepared for tour staff to follow in case certain predictable events </a:t>
            </a:r>
            <a:r>
              <a:rPr lang="en-AU" sz="1200" kern="1200" dirty="0" smtClean="0">
                <a:solidFill>
                  <a:schemeClr val="tx1"/>
                </a:solidFill>
                <a:ea typeface="+mn-ea"/>
                <a:cs typeface="+mn-cs"/>
              </a:rPr>
              <a:t>materialise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They are Plan B – they detail what will be done when Plan A (what should </a:t>
            </a:r>
            <a:r>
              <a:rPr lang="en-AU" sz="1200" i="1" kern="1200" dirty="0" smtClean="0">
                <a:solidFill>
                  <a:schemeClr val="tx1"/>
                </a:solidFill>
                <a:ea typeface="+mn-ea"/>
                <a:cs typeface="+mn-cs"/>
              </a:rPr>
              <a:t>normally</a:t>
            </a:r>
            <a:r>
              <a:rPr lang="en-AU" sz="1200" kern="1200" dirty="0" smtClean="0">
                <a:solidFill>
                  <a:schemeClr val="tx1"/>
                </a:solidFill>
                <a:ea typeface="+mn-ea"/>
                <a:cs typeface="+mn-cs"/>
              </a:rPr>
              <a:t> occur) cannot happen/take </a:t>
            </a:r>
            <a:r>
              <a:rPr lang="en-AU" sz="1200" kern="1200" dirty="0" smtClean="0">
                <a:solidFill>
                  <a:schemeClr val="tx1"/>
                </a:solidFill>
                <a:ea typeface="+mn-ea"/>
                <a:cs typeface="+mn-cs"/>
              </a:rPr>
              <a:t>place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These events are not ‘emergencies’ (that is, they do not put life or property in danger) but they have the potential to cause disruption to the </a:t>
            </a:r>
            <a:r>
              <a:rPr lang="en-AU" sz="1200" kern="1200" dirty="0" smtClean="0">
                <a:solidFill>
                  <a:schemeClr val="tx1"/>
                </a:solidFill>
                <a:ea typeface="+mn-ea"/>
                <a:cs typeface="+mn-cs"/>
              </a:rPr>
              <a:t>trip/tour</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Contingency plans are prepared in advance/before the tour departs and provided for tour staff, often in the same Operations Package that contains the Emergency Plans for the </a:t>
            </a:r>
            <a:r>
              <a:rPr lang="en-AU" sz="1200" kern="1200" dirty="0" smtClean="0">
                <a:solidFill>
                  <a:schemeClr val="tx1"/>
                </a:solidFill>
                <a:ea typeface="+mn-ea"/>
                <a:cs typeface="+mn-cs"/>
              </a:rPr>
              <a:t>group/trip</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All plans are usually also available in soft copy form via various electronic options such as Iphones, pads or tablets.</a:t>
            </a:r>
          </a:p>
          <a:p>
            <a:pPr>
              <a:buFont typeface="Arial" pitchFamily="34" charset="0"/>
              <a:buNone/>
            </a:pPr>
            <a:endParaRPr lang="en-US"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a:t>
            </a:r>
            <a:r>
              <a:rPr lang="en-US" baseline="0" noProof="0" dirty="0" smtClean="0"/>
              <a:t> continues discussing Contingency plans stating:</a:t>
            </a:r>
          </a:p>
          <a:p>
            <a:pPr>
              <a:buFont typeface="Arial" pitchFamily="34" charset="0"/>
              <a:buChar char="•"/>
            </a:pPr>
            <a:r>
              <a:rPr lang="en-AU" sz="1200" kern="1200" dirty="0" smtClean="0">
                <a:solidFill>
                  <a:schemeClr val="tx1"/>
                </a:solidFill>
                <a:ea typeface="+mn-ea"/>
                <a:cs typeface="+mn-cs"/>
              </a:rPr>
              <a:t>Events which may trigger the need to activate a contingency plan include:</a:t>
            </a:r>
          </a:p>
          <a:p>
            <a:pPr lvl="1">
              <a:buFont typeface="Arial" pitchFamily="34" charset="0"/>
              <a:buChar char="•"/>
            </a:pPr>
            <a:r>
              <a:rPr lang="en-AU" sz="1200" kern="1200" dirty="0" smtClean="0">
                <a:solidFill>
                  <a:schemeClr val="tx1"/>
                </a:solidFill>
                <a:ea typeface="+mn-ea"/>
                <a:cs typeface="+mn-cs"/>
              </a:rPr>
              <a:t>Bad weather preventing implementation of a planned activity</a:t>
            </a:r>
          </a:p>
          <a:p>
            <a:pPr lvl="1">
              <a:buFont typeface="Arial" pitchFamily="34" charset="0"/>
              <a:buChar char="•"/>
            </a:pPr>
            <a:r>
              <a:rPr lang="en-AU" sz="1200" kern="1200" dirty="0" smtClean="0">
                <a:solidFill>
                  <a:schemeClr val="tx1"/>
                </a:solidFill>
                <a:ea typeface="+mn-ea"/>
                <a:cs typeface="+mn-cs"/>
              </a:rPr>
              <a:t>Unexpected closure of an advertised attraction</a:t>
            </a:r>
          </a:p>
          <a:p>
            <a:pPr lvl="1">
              <a:buFont typeface="Arial" pitchFamily="34" charset="0"/>
              <a:buChar char="•"/>
            </a:pPr>
            <a:r>
              <a:rPr lang="en-AU" sz="1200" kern="1200" dirty="0" smtClean="0">
                <a:solidFill>
                  <a:schemeClr val="tx1"/>
                </a:solidFill>
                <a:ea typeface="+mn-ea"/>
                <a:cs typeface="+mn-cs"/>
              </a:rPr>
              <a:t>Unavailability of a reserved accommodation venue</a:t>
            </a:r>
          </a:p>
          <a:p>
            <a:pPr lvl="1">
              <a:buFont typeface="Arial" pitchFamily="34" charset="0"/>
              <a:buChar char="•"/>
            </a:pPr>
            <a:r>
              <a:rPr lang="en-AU" sz="1200" kern="1200" dirty="0" smtClean="0">
                <a:solidFill>
                  <a:schemeClr val="tx1"/>
                </a:solidFill>
                <a:ea typeface="+mn-ea"/>
                <a:cs typeface="+mn-cs"/>
              </a:rPr>
              <a:t>Road closure preventing or delaying access to a destination</a:t>
            </a:r>
          </a:p>
          <a:p>
            <a:pPr lvl="1">
              <a:buFont typeface="Arial" pitchFamily="34" charset="0"/>
              <a:buChar char="•"/>
            </a:pPr>
            <a:r>
              <a:rPr lang="en-AU" sz="1200" kern="1200" dirty="0" smtClean="0">
                <a:solidFill>
                  <a:schemeClr val="tx1"/>
                </a:solidFill>
                <a:ea typeface="+mn-ea"/>
                <a:cs typeface="+mn-cs"/>
              </a:rPr>
              <a:t>Permits and permissions which were granted have been revoked.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a:t>
            </a:r>
            <a:r>
              <a:rPr lang="en-US" baseline="0" noProof="0" dirty="0" smtClean="0"/>
              <a:t> continues discussing Contingency plans stating:</a:t>
            </a:r>
          </a:p>
          <a:p>
            <a:pPr>
              <a:buFont typeface="Arial" pitchFamily="34" charset="0"/>
              <a:buChar char="•"/>
            </a:pPr>
            <a:r>
              <a:rPr lang="en-AU" sz="1200" kern="1200" dirty="0" smtClean="0">
                <a:solidFill>
                  <a:schemeClr val="tx1"/>
                </a:solidFill>
                <a:ea typeface="+mn-ea"/>
                <a:cs typeface="+mn-cs"/>
              </a:rPr>
              <a:t>Confirming contingency plans for a trip/tour generally requires:</a:t>
            </a:r>
          </a:p>
          <a:p>
            <a:pPr lvl="1">
              <a:buFont typeface="Arial" pitchFamily="34" charset="0"/>
              <a:buChar char="•"/>
            </a:pPr>
            <a:r>
              <a:rPr lang="en-AU" sz="1200" kern="1200" dirty="0" smtClean="0">
                <a:solidFill>
                  <a:schemeClr val="tx1"/>
                </a:solidFill>
                <a:ea typeface="+mn-ea"/>
                <a:cs typeface="+mn-cs"/>
              </a:rPr>
              <a:t>Reviewing existing plans</a:t>
            </a:r>
          </a:p>
          <a:p>
            <a:pPr lvl="1">
              <a:buFont typeface="Arial" pitchFamily="34" charset="0"/>
              <a:buChar char="•"/>
            </a:pPr>
            <a:r>
              <a:rPr lang="en-AU" sz="1200" kern="1200" dirty="0" smtClean="0">
                <a:solidFill>
                  <a:schemeClr val="tx1"/>
                </a:solidFill>
                <a:ea typeface="+mn-ea"/>
                <a:cs typeface="+mn-cs"/>
              </a:rPr>
              <a:t>Modifying/adapting existing plans as applicable to reflect updated circumstances and/or known factors – such as:</a:t>
            </a:r>
          </a:p>
          <a:p>
            <a:pPr lvl="2">
              <a:buFont typeface="Arial" pitchFamily="34" charset="0"/>
              <a:buChar char="•"/>
            </a:pPr>
            <a:r>
              <a:rPr lang="en-US" sz="1200" kern="1200" dirty="0" smtClean="0">
                <a:solidFill>
                  <a:schemeClr val="tx1"/>
                </a:solidFill>
                <a:ea typeface="+mn-ea"/>
                <a:cs typeface="+mn-cs"/>
              </a:rPr>
              <a:t>Weather </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Road conditions </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Seasonal factors </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Recent experience </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Input from other tours/guides/operators </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Re-writing/revising plans – or creating new ones – and incorporating them into the Operations Package/Folder.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a:t>
            </a:r>
          </a:p>
          <a:p>
            <a:pPr>
              <a:buFont typeface="Arial" pitchFamily="34" charset="0"/>
              <a:buChar char="•"/>
            </a:pPr>
            <a:r>
              <a:rPr lang="en-AU" sz="1200" kern="1200" dirty="0" smtClean="0">
                <a:solidFill>
                  <a:schemeClr val="tx1"/>
                </a:solidFill>
                <a:ea typeface="+mn-ea"/>
                <a:cs typeface="+mn-cs"/>
              </a:rPr>
              <a:t>Checklists are prepared by individual tour </a:t>
            </a:r>
            <a:r>
              <a:rPr lang="en-AU" sz="1200" kern="1200" dirty="0" smtClean="0">
                <a:solidFill>
                  <a:schemeClr val="tx1"/>
                </a:solidFill>
                <a:ea typeface="+mn-ea"/>
                <a:cs typeface="+mn-cs"/>
              </a:rPr>
              <a:t>operators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They are developed on a tour-by-tour basis and differ for each trip/tour to reflect the individual needs of each </a:t>
            </a:r>
            <a:r>
              <a:rPr lang="en-AU" sz="1200" kern="1200" dirty="0" smtClean="0">
                <a:solidFill>
                  <a:schemeClr val="tx1"/>
                </a:solidFill>
                <a:ea typeface="+mn-ea"/>
                <a:cs typeface="+mn-cs"/>
              </a:rPr>
              <a:t>trip/tour</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Items on these lists may vary between seasons.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a:t>
            </a:r>
            <a:r>
              <a:rPr lang="en-AU" sz="1200" kern="1200" dirty="0" smtClean="0">
                <a:solidFill>
                  <a:schemeClr val="tx1"/>
                </a:solidFill>
                <a:ea typeface="+mn-ea"/>
                <a:cs typeface="+mn-cs"/>
              </a:rPr>
              <a:t>Checklists can be used to:</a:t>
            </a:r>
          </a:p>
          <a:p>
            <a:pPr>
              <a:buFont typeface="Arial" pitchFamily="34" charset="0"/>
              <a:buChar char="•"/>
            </a:pPr>
            <a:r>
              <a:rPr lang="en-AU" sz="1200" kern="1200" dirty="0" smtClean="0">
                <a:solidFill>
                  <a:schemeClr val="tx1"/>
                </a:solidFill>
                <a:ea typeface="+mn-ea"/>
                <a:cs typeface="+mn-cs"/>
              </a:rPr>
              <a:t>Make sure all required items are supplied </a:t>
            </a:r>
          </a:p>
          <a:p>
            <a:pPr>
              <a:buFont typeface="Arial" pitchFamily="34" charset="0"/>
              <a:buChar char="•"/>
            </a:pPr>
            <a:r>
              <a:rPr lang="en-AU" sz="1200" kern="1200" dirty="0" smtClean="0">
                <a:solidFill>
                  <a:schemeClr val="tx1"/>
                </a:solidFill>
                <a:ea typeface="+mn-ea"/>
                <a:cs typeface="+mn-cs"/>
              </a:rPr>
              <a:t>Resources are provided (only) in the required quantity</a:t>
            </a:r>
          </a:p>
          <a:p>
            <a:pPr>
              <a:buFont typeface="Arial" pitchFamily="34" charset="0"/>
              <a:buChar char="•"/>
            </a:pPr>
            <a:r>
              <a:rPr lang="en-AU" sz="1200" kern="1200" dirty="0" smtClean="0">
                <a:solidFill>
                  <a:schemeClr val="tx1"/>
                </a:solidFill>
                <a:ea typeface="+mn-ea"/>
                <a:cs typeface="+mn-cs"/>
              </a:rPr>
              <a:t>Prove the listed items were delivered/supplied as listed</a:t>
            </a:r>
          </a:p>
          <a:p>
            <a:pPr>
              <a:buFont typeface="Arial" pitchFamily="34" charset="0"/>
              <a:buChar char="•"/>
            </a:pPr>
            <a:r>
              <a:rPr lang="en-AU" sz="1200" kern="1200" dirty="0" smtClean="0">
                <a:solidFill>
                  <a:schemeClr val="tx1"/>
                </a:solidFill>
                <a:ea typeface="+mn-ea"/>
                <a:cs typeface="+mn-cs"/>
              </a:rPr>
              <a:t>Verify the condition of the items – the checklists provide a method by which sub-standard or deficient items can be recorded (‘Missing’ or ‘Not Supplied’)</a:t>
            </a:r>
          </a:p>
          <a:p>
            <a:pPr>
              <a:buFont typeface="Arial" pitchFamily="34" charset="0"/>
              <a:buChar char="•"/>
            </a:pPr>
            <a:r>
              <a:rPr lang="en-AU" sz="1200" kern="1200" dirty="0" smtClean="0">
                <a:solidFill>
                  <a:schemeClr val="tx1"/>
                </a:solidFill>
                <a:ea typeface="+mn-ea"/>
                <a:cs typeface="+mn-cs"/>
              </a:rPr>
              <a:t>Provide a basis for checking off items when the tour returns</a:t>
            </a:r>
          </a:p>
          <a:p>
            <a:pPr>
              <a:buFont typeface="Arial" pitchFamily="34" charset="0"/>
              <a:buChar char="•"/>
            </a:pPr>
            <a:r>
              <a:rPr lang="en-AU" sz="1200" kern="1200" dirty="0" smtClean="0">
                <a:solidFill>
                  <a:schemeClr val="tx1"/>
                </a:solidFill>
                <a:ea typeface="+mn-ea"/>
                <a:cs typeface="+mn-cs"/>
              </a:rPr>
              <a:t>Enable calculation of ‘stock used’ by each trip/tour for the purposes of determining the financial performance of each trip/tour.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states </a:t>
            </a:r>
            <a:r>
              <a:rPr lang="en-AU" sz="1200" kern="1200" dirty="0" smtClean="0">
                <a:solidFill>
                  <a:schemeClr val="tx1"/>
                </a:solidFill>
                <a:ea typeface="+mn-ea"/>
                <a:cs typeface="+mn-cs"/>
              </a:rPr>
              <a:t>Checklists can also be developed to guide </a:t>
            </a:r>
            <a:r>
              <a:rPr lang="en-AU" sz="1200" i="1" kern="1200" dirty="0" smtClean="0">
                <a:solidFill>
                  <a:schemeClr val="tx1"/>
                </a:solidFill>
                <a:ea typeface="+mn-ea"/>
                <a:cs typeface="+mn-cs"/>
              </a:rPr>
              <a:t>actions required</a:t>
            </a:r>
            <a:r>
              <a:rPr lang="en-AU" sz="1200" kern="1200" dirty="0" smtClean="0">
                <a:solidFill>
                  <a:schemeClr val="tx1"/>
                </a:solidFill>
                <a:ea typeface="+mn-ea"/>
                <a:cs typeface="+mn-cs"/>
              </a:rPr>
              <a:t> in certain circumstances noting for example, operators may generate:</a:t>
            </a:r>
          </a:p>
          <a:p>
            <a:pPr>
              <a:buFont typeface="Arial" pitchFamily="34" charset="0"/>
              <a:buChar char="•"/>
            </a:pPr>
            <a:r>
              <a:rPr lang="en-AU" sz="1200" kern="1200" dirty="0" smtClean="0">
                <a:solidFill>
                  <a:schemeClr val="tx1"/>
                </a:solidFill>
                <a:ea typeface="+mn-ea"/>
                <a:cs typeface="+mn-cs"/>
              </a:rPr>
              <a:t>A Vehicle Inspection Checklist which lists all the things to be tested and inspected on the vehicle to which the checklist applies</a:t>
            </a:r>
          </a:p>
          <a:p>
            <a:pPr>
              <a:buFont typeface="Arial" pitchFamily="34" charset="0"/>
              <a:buChar char="•"/>
            </a:pPr>
            <a:r>
              <a:rPr lang="en-AU" sz="1200" kern="1200" dirty="0" smtClean="0">
                <a:solidFill>
                  <a:schemeClr val="tx1"/>
                </a:solidFill>
                <a:ea typeface="+mn-ea"/>
                <a:cs typeface="+mn-cs"/>
              </a:rPr>
              <a:t>A separate checklist for food and beverages – listing food handling protocols which need to be followed to optimise food safety, such as:</a:t>
            </a:r>
          </a:p>
          <a:p>
            <a:pPr lvl="1">
              <a:buFont typeface="Arial" pitchFamily="34" charset="0"/>
              <a:buChar char="•"/>
            </a:pPr>
            <a:r>
              <a:rPr lang="en-US" sz="1200" kern="1200" dirty="0" smtClean="0">
                <a:solidFill>
                  <a:schemeClr val="tx1"/>
                </a:solidFill>
                <a:ea typeface="+mn-ea"/>
                <a:cs typeface="+mn-cs"/>
              </a:rPr>
              <a:t>Date checking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Taking of temperatures for hot, refrigerated and frozen food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Completion of food safety records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A pre-departure checklist identifying, in sequential order, the tasks to be undertaken before a trip/tour leaves.</a:t>
            </a:r>
          </a:p>
          <a:p>
            <a:r>
              <a:rPr lang="en-AU" sz="1200" b="1" i="1" kern="1200" dirty="0" smtClean="0">
                <a:solidFill>
                  <a:schemeClr val="tx1"/>
                </a:solidFill>
                <a:ea typeface="+mn-ea"/>
                <a:cs typeface="+mn-cs"/>
              </a:rPr>
              <a:t>Checklists within checklists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There can be situations where one checklist requires the user to use </a:t>
            </a:r>
            <a:r>
              <a:rPr lang="en-AU" sz="1200" i="1" kern="1200" dirty="0" smtClean="0">
                <a:solidFill>
                  <a:schemeClr val="tx1"/>
                </a:solidFill>
                <a:ea typeface="+mn-ea"/>
                <a:cs typeface="+mn-cs"/>
              </a:rPr>
              <a:t>another</a:t>
            </a:r>
            <a:r>
              <a:rPr lang="en-AU" sz="1200" kern="1200" dirty="0" smtClean="0">
                <a:solidFill>
                  <a:schemeClr val="tx1"/>
                </a:solidFill>
                <a:ea typeface="+mn-ea"/>
                <a:cs typeface="+mn-cs"/>
              </a:rPr>
              <a:t> checklist.</a:t>
            </a:r>
          </a:p>
          <a:p>
            <a:r>
              <a:rPr lang="en-AU" sz="1200" kern="1200" dirty="0" smtClean="0">
                <a:solidFill>
                  <a:schemeClr val="tx1"/>
                </a:solidFill>
                <a:ea typeface="+mn-ea"/>
                <a:cs typeface="+mn-cs"/>
              </a:rPr>
              <a:t>For example, the checklist for loading supplies for a trip/tour may indicate the need to load ‘First aid kit – 1’ and there can be an asterisk (*) indicating there is a checklist inside the First Aid kit which lists the supplies which must be provided by name and quantity.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a:t>
            </a:r>
            <a:r>
              <a:rPr lang="en-AU" sz="1200" kern="1200" dirty="0" smtClean="0">
                <a:solidFill>
                  <a:schemeClr val="tx1"/>
                </a:solidFill>
                <a:ea typeface="+mn-ea"/>
                <a:cs typeface="+mn-cs"/>
              </a:rPr>
              <a:t>Checklists for equipment and supplies are used:</a:t>
            </a:r>
          </a:p>
          <a:p>
            <a:pPr>
              <a:buFont typeface="Arial" pitchFamily="34" charset="0"/>
              <a:buChar char="•"/>
            </a:pPr>
            <a:r>
              <a:rPr lang="en-AU" sz="1200" kern="1200" dirty="0" smtClean="0">
                <a:solidFill>
                  <a:schemeClr val="tx1"/>
                </a:solidFill>
                <a:ea typeface="+mn-ea"/>
                <a:cs typeface="+mn-cs"/>
              </a:rPr>
              <a:t>By the person </a:t>
            </a:r>
            <a:r>
              <a:rPr lang="en-AU" sz="1200" i="1" kern="1200" dirty="0" smtClean="0">
                <a:solidFill>
                  <a:schemeClr val="tx1"/>
                </a:solidFill>
                <a:ea typeface="+mn-ea"/>
                <a:cs typeface="+mn-cs"/>
              </a:rPr>
              <a:t>issuing</a:t>
            </a:r>
            <a:r>
              <a:rPr lang="en-AU" sz="1200" kern="1200" dirty="0" smtClean="0">
                <a:solidFill>
                  <a:schemeClr val="tx1"/>
                </a:solidFill>
                <a:ea typeface="+mn-ea"/>
                <a:cs typeface="+mn-cs"/>
              </a:rPr>
              <a:t> the items for the trip/tour – who:</a:t>
            </a:r>
          </a:p>
          <a:p>
            <a:pPr lvl="1">
              <a:buFont typeface="Arial" pitchFamily="34" charset="0"/>
              <a:buChar char="•"/>
            </a:pPr>
            <a:r>
              <a:rPr lang="en-US" sz="1200" kern="1200" dirty="0" smtClean="0">
                <a:solidFill>
                  <a:schemeClr val="tx1"/>
                </a:solidFill>
                <a:ea typeface="+mn-ea"/>
                <a:cs typeface="+mn-cs"/>
              </a:rPr>
              <a:t>Identifies the items by type and quantity as listed on the checklist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Picks/obtains the items from the store – and: </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Ticks off the items as being picked/selected </a:t>
            </a:r>
            <a:endParaRPr lang="en-AU" sz="1200" kern="1200" dirty="0" smtClean="0">
              <a:solidFill>
                <a:schemeClr val="tx1"/>
              </a:solidFill>
              <a:ea typeface="+mn-ea"/>
              <a:cs typeface="+mn-cs"/>
            </a:endParaRPr>
          </a:p>
          <a:p>
            <a:pPr lvl="2">
              <a:buFont typeface="Arial" pitchFamily="34" charset="0"/>
              <a:buNone/>
            </a:pPr>
            <a:r>
              <a:rPr lang="en-US" sz="1200" kern="1200" dirty="0" smtClean="0">
                <a:solidFill>
                  <a:schemeClr val="tx1"/>
                </a:solidFill>
                <a:ea typeface="+mn-ea"/>
                <a:cs typeface="+mn-cs"/>
              </a:rPr>
              <a:t>or </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Writes in the actual number provided if this figure is less than what is identified on the list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Adds unlisted items to the list – if extra items are approved for loading</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By the person </a:t>
            </a:r>
            <a:r>
              <a:rPr lang="en-AU" sz="1200" i="1" kern="1200" dirty="0" smtClean="0">
                <a:solidFill>
                  <a:schemeClr val="tx1"/>
                </a:solidFill>
                <a:ea typeface="+mn-ea"/>
                <a:cs typeface="+mn-cs"/>
              </a:rPr>
              <a:t>taking delivery</a:t>
            </a:r>
            <a:r>
              <a:rPr lang="en-AU" sz="1200" kern="1200" dirty="0" smtClean="0">
                <a:solidFill>
                  <a:schemeClr val="tx1"/>
                </a:solidFill>
                <a:ea typeface="+mn-ea"/>
                <a:cs typeface="+mn-cs"/>
              </a:rPr>
              <a:t> of the equipment and supplies – who:</a:t>
            </a:r>
          </a:p>
          <a:p>
            <a:pPr lvl="1">
              <a:buFont typeface="Arial" pitchFamily="34" charset="0"/>
              <a:buChar char="•"/>
            </a:pPr>
            <a:r>
              <a:rPr lang="en-US" sz="1200" kern="1200" dirty="0" smtClean="0">
                <a:solidFill>
                  <a:schemeClr val="tx1"/>
                </a:solidFill>
                <a:ea typeface="+mn-ea"/>
                <a:cs typeface="+mn-cs"/>
              </a:rPr>
              <a:t>Uses the checklist completed by the person provided the resources to count/check/verify all the listed items have been provided in the quantities stated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Writes on the form any discrepancies identified.</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highlights:</a:t>
            </a:r>
          </a:p>
          <a:p>
            <a:pPr>
              <a:buFont typeface="Arial" pitchFamily="34" charset="0"/>
              <a:buChar char="•"/>
            </a:pPr>
            <a:r>
              <a:rPr lang="en-AU" sz="1200" kern="1200" dirty="0" smtClean="0">
                <a:solidFill>
                  <a:schemeClr val="tx1"/>
                </a:solidFill>
                <a:ea typeface="+mn-ea"/>
                <a:cs typeface="+mn-cs"/>
              </a:rPr>
              <a:t>Signatures from both persons on the Checklist confirm the resources listed were supplied and received.</a:t>
            </a:r>
          </a:p>
          <a:p>
            <a:pPr>
              <a:buFont typeface="Arial" pitchFamily="34" charset="0"/>
              <a:buChar char="•"/>
            </a:pPr>
            <a:r>
              <a:rPr lang="en-AU" sz="1200" kern="1200" dirty="0" smtClean="0">
                <a:solidFill>
                  <a:schemeClr val="tx1"/>
                </a:solidFill>
                <a:ea typeface="+mn-ea"/>
                <a:cs typeface="+mn-cs"/>
              </a:rPr>
              <a:t>The signed and completed form is then:</a:t>
            </a:r>
          </a:p>
          <a:p>
            <a:pPr>
              <a:buFont typeface="Arial" pitchFamily="34" charset="0"/>
              <a:buChar char="•"/>
            </a:pPr>
            <a:r>
              <a:rPr lang="en-AU" sz="1200" kern="1200" dirty="0" smtClean="0">
                <a:solidFill>
                  <a:schemeClr val="tx1"/>
                </a:solidFill>
                <a:ea typeface="+mn-ea"/>
                <a:cs typeface="+mn-cs"/>
              </a:rPr>
              <a:t>Forwarded to management/administration – for them to process</a:t>
            </a:r>
          </a:p>
          <a:p>
            <a:pPr>
              <a:buFont typeface="Arial" pitchFamily="34" charset="0"/>
              <a:buChar char="•"/>
            </a:pPr>
            <a:r>
              <a:rPr lang="en-AU" sz="1200" kern="1200" dirty="0" smtClean="0">
                <a:solidFill>
                  <a:schemeClr val="tx1"/>
                </a:solidFill>
                <a:ea typeface="+mn-ea"/>
                <a:cs typeface="+mn-cs"/>
              </a:rPr>
              <a:t>Copied and filed for future use – such as:</a:t>
            </a:r>
          </a:p>
          <a:p>
            <a:pPr lvl="1">
              <a:buFont typeface="Arial" pitchFamily="34" charset="0"/>
              <a:buChar char="•"/>
            </a:pPr>
            <a:r>
              <a:rPr lang="en-US" sz="1200" kern="1200" dirty="0" smtClean="0">
                <a:solidFill>
                  <a:schemeClr val="tx1"/>
                </a:solidFill>
                <a:ea typeface="+mn-ea"/>
                <a:cs typeface="+mn-cs"/>
              </a:rPr>
              <a:t>To assist with queries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To serve as a reference point for supplying future trips/tours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To use for recording unused items returned when the trip/tour returns.</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a loading sheet?</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detail/information is contained on a loading sheet?</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involved in loading resources for a trip/tour?</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a:t>
            </a:r>
            <a:r>
              <a:rPr lang="en-US" baseline="0" noProof="0" dirty="0" smtClean="0"/>
              <a:t> the </a:t>
            </a:r>
            <a:r>
              <a:rPr lang="en-AU" sz="1200" kern="1200" dirty="0" smtClean="0">
                <a:solidFill>
                  <a:schemeClr val="tx1"/>
                </a:solidFill>
                <a:ea typeface="+mn-ea"/>
                <a:cs typeface="+mn-cs"/>
              </a:rPr>
              <a:t>following information gives a useful overview of the role of loading sheets – they:</a:t>
            </a:r>
          </a:p>
          <a:p>
            <a:pPr>
              <a:buFont typeface="Arial" pitchFamily="34" charset="0"/>
              <a:buChar char="•"/>
            </a:pPr>
            <a:r>
              <a:rPr lang="en-AU" sz="1200" kern="1200" dirty="0" smtClean="0">
                <a:solidFill>
                  <a:schemeClr val="tx1"/>
                </a:solidFill>
                <a:ea typeface="+mn-ea"/>
                <a:cs typeface="+mn-cs"/>
              </a:rPr>
              <a:t>Are prepared internally by each operator – a template document usually exists on a computer and it is:</a:t>
            </a:r>
          </a:p>
          <a:p>
            <a:pPr lvl="1">
              <a:buFont typeface="Arial" pitchFamily="34" charset="0"/>
              <a:buChar char="•"/>
            </a:pPr>
            <a:r>
              <a:rPr lang="en-US" sz="1200" kern="1200" dirty="0" smtClean="0">
                <a:solidFill>
                  <a:schemeClr val="tx1"/>
                </a:solidFill>
                <a:ea typeface="+mn-ea"/>
                <a:cs typeface="+mn-cs"/>
              </a:rPr>
              <a:t>Printed off as required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Filled in (often by-hand) for each trip tour</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Are lists of equipment and supplies to be loaded onto individual vehicles on a tour-by-tour basis – identifying items by:</a:t>
            </a:r>
          </a:p>
          <a:p>
            <a:pPr lvl="1">
              <a:buFont typeface="Arial" pitchFamily="34" charset="0"/>
              <a:buChar char="•"/>
            </a:pPr>
            <a:r>
              <a:rPr lang="en-US" sz="1200" kern="1200" dirty="0" smtClean="0">
                <a:solidFill>
                  <a:schemeClr val="tx1"/>
                </a:solidFill>
                <a:ea typeface="+mn-ea"/>
                <a:cs typeface="+mn-cs"/>
              </a:rPr>
              <a:t>Type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Quantity</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Are used to guide/govern actual loading of items into/onto vehicles or animals</a:t>
            </a:r>
          </a:p>
          <a:p>
            <a:pPr>
              <a:buFont typeface="Arial" pitchFamily="34" charset="0"/>
              <a:buChar char="•"/>
            </a:pPr>
            <a:r>
              <a:rPr lang="en-AU" sz="1200" kern="1200" dirty="0" smtClean="0">
                <a:solidFill>
                  <a:schemeClr val="tx1"/>
                </a:solidFill>
                <a:ea typeface="+mn-ea"/>
                <a:cs typeface="+mn-cs"/>
              </a:rPr>
              <a:t>Are usually multipage documents – that is, each loading sheet for each vehicle for each trip/tour often comprises two-plus sheets which are stapled together</a:t>
            </a:r>
          </a:p>
          <a:p>
            <a:pPr>
              <a:buFont typeface="Arial" pitchFamily="34" charset="0"/>
              <a:buChar char="•"/>
            </a:pPr>
            <a:r>
              <a:rPr lang="en-AU" sz="1200" kern="1200" dirty="0" smtClean="0">
                <a:solidFill>
                  <a:schemeClr val="tx1"/>
                </a:solidFill>
                <a:ea typeface="+mn-ea"/>
                <a:cs typeface="+mn-cs"/>
              </a:rPr>
              <a:t>Provide a record of items loaded for each trip/tour:</a:t>
            </a:r>
          </a:p>
          <a:p>
            <a:pPr lvl="1">
              <a:buFont typeface="Arial" pitchFamily="34" charset="0"/>
              <a:buChar char="•"/>
            </a:pPr>
            <a:r>
              <a:rPr lang="en-US" sz="1200" kern="1200" dirty="0" smtClean="0">
                <a:solidFill>
                  <a:schemeClr val="tx1"/>
                </a:solidFill>
                <a:ea typeface="+mn-ea"/>
                <a:cs typeface="+mn-cs"/>
              </a:rPr>
              <a:t>For record-keeping purposes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For calculating financial performance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For reference by tour staff</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Form the basis for ensuring all trips/tours depart with all necessary materials and can fulfil all applicable promises and obligations and meet all tour party expectations.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a:t>
            </a:r>
            <a:r>
              <a:rPr lang="en-AU" sz="1200" kern="1200" dirty="0" smtClean="0">
                <a:solidFill>
                  <a:schemeClr val="tx1"/>
                </a:solidFill>
                <a:ea typeface="+mn-ea"/>
                <a:cs typeface="+mn-cs"/>
              </a:rPr>
              <a:t>Loading sheets may need to be prepared for:</a:t>
            </a:r>
          </a:p>
          <a:p>
            <a:pPr>
              <a:buFont typeface="Arial" pitchFamily="34" charset="0"/>
              <a:buChar char="•"/>
            </a:pPr>
            <a:r>
              <a:rPr lang="en-AU" sz="1200" kern="1200" dirty="0" smtClean="0">
                <a:solidFill>
                  <a:schemeClr val="tx1"/>
                </a:solidFill>
                <a:ea typeface="+mn-ea"/>
                <a:cs typeface="+mn-cs"/>
              </a:rPr>
              <a:t>Vehicles belonging to the tour organisation – most businesses will retain/use:</a:t>
            </a:r>
          </a:p>
          <a:p>
            <a:pPr lvl="1">
              <a:buFont typeface="Arial" pitchFamily="34" charset="0"/>
              <a:buChar char="•"/>
            </a:pPr>
            <a:r>
              <a:rPr lang="en-US" sz="1200" kern="1200" dirty="0" smtClean="0">
                <a:solidFill>
                  <a:schemeClr val="tx1"/>
                </a:solidFill>
                <a:ea typeface="+mn-ea"/>
                <a:cs typeface="+mn-cs"/>
              </a:rPr>
              <a:t>A bus/coach</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 lorry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 van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 catering van/mobile kitchen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 variety of purpose-built trailers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Vehicles belonging to/hired from a third party carrier</a:t>
            </a:r>
          </a:p>
          <a:p>
            <a:pPr>
              <a:buFont typeface="Arial" pitchFamily="34" charset="0"/>
              <a:buChar char="•"/>
            </a:pPr>
            <a:r>
              <a:rPr lang="en-AU" sz="1200" kern="1200" dirty="0" smtClean="0">
                <a:solidFill>
                  <a:schemeClr val="tx1"/>
                </a:solidFill>
                <a:ea typeface="+mn-ea"/>
                <a:cs typeface="+mn-cs"/>
              </a:rPr>
              <a:t>Animals used for the trip tour</a:t>
            </a:r>
          </a:p>
          <a:p>
            <a:pPr>
              <a:buFont typeface="Arial" pitchFamily="34" charset="0"/>
              <a:buChar char="•"/>
            </a:pPr>
            <a:r>
              <a:rPr lang="en-AU" sz="1200" kern="1200" dirty="0" smtClean="0">
                <a:solidFill>
                  <a:schemeClr val="tx1"/>
                </a:solidFill>
                <a:ea typeface="+mn-ea"/>
                <a:cs typeface="+mn-cs"/>
              </a:rPr>
              <a:t>Other tour vehicles required to carry supplies.</a:t>
            </a:r>
          </a:p>
          <a:p>
            <a:pPr lvl="0">
              <a:buFont typeface="Arial" pitchFamily="34" charset="0"/>
              <a:buNone/>
            </a:pPr>
            <a:endParaRPr lang="en-AU" sz="1200" kern="1200" dirty="0" smtClean="0">
              <a:solidFill>
                <a:schemeClr val="tx1"/>
              </a:solidFill>
              <a:ea typeface="+mn-ea"/>
              <a:cs typeface="+mn-cs"/>
            </a:endParaRPr>
          </a:p>
          <a:p>
            <a:pPr lvl="0">
              <a:buFont typeface="Arial" pitchFamily="34" charset="0"/>
              <a:buNone/>
            </a:pPr>
            <a:r>
              <a:rPr lang="en-AU" sz="1200" kern="1200" dirty="0" smtClean="0">
                <a:solidFill>
                  <a:schemeClr val="tx1"/>
                </a:solidFill>
                <a:ea typeface="+mn-ea"/>
                <a:cs typeface="+mn-cs"/>
              </a:rPr>
              <a:t>While many tours using animals and push-bikes and/or motor bikes are supplied by ‘support vehicles’ (and/or purchase/acquisitions </a:t>
            </a:r>
            <a:r>
              <a:rPr lang="en-AU" sz="1200" i="1" kern="1200" dirty="0" smtClean="0">
                <a:solidFill>
                  <a:schemeClr val="tx1"/>
                </a:solidFill>
                <a:ea typeface="+mn-ea"/>
                <a:cs typeface="+mn-cs"/>
              </a:rPr>
              <a:t>en route</a:t>
            </a:r>
            <a:r>
              <a:rPr lang="en-AU" sz="1200" kern="1200" dirty="0" smtClean="0">
                <a:solidFill>
                  <a:schemeClr val="tx1"/>
                </a:solidFill>
                <a:ea typeface="+mn-ea"/>
                <a:cs typeface="+mn-cs"/>
              </a:rPr>
              <a:t>) there can be a need to carry certain/identified ‘basic needs’ on them.</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noProof="0" dirty="0" smtClean="0"/>
              <a:t>Trainer advises the </a:t>
            </a:r>
            <a:r>
              <a:rPr lang="en-AU" sz="1200" kern="1200" dirty="0" smtClean="0">
                <a:solidFill>
                  <a:schemeClr val="tx1"/>
                </a:solidFill>
                <a:ea typeface="+mn-ea"/>
                <a:cs typeface="+mn-cs"/>
              </a:rPr>
              <a:t>basic activities in preparing loading sheets are:</a:t>
            </a:r>
          </a:p>
          <a:p>
            <a:pPr>
              <a:buFont typeface="Arial" pitchFamily="34" charset="0"/>
              <a:buChar char="•"/>
            </a:pPr>
            <a:r>
              <a:rPr lang="en-AU" sz="1200" kern="1200" dirty="0" smtClean="0">
                <a:solidFill>
                  <a:schemeClr val="tx1"/>
                </a:solidFill>
                <a:ea typeface="+mn-ea"/>
                <a:cs typeface="+mn-cs"/>
              </a:rPr>
              <a:t>Printing off blank copies of the </a:t>
            </a:r>
            <a:r>
              <a:rPr lang="en-AU" sz="1200" i="1" kern="1200" dirty="0" smtClean="0">
                <a:solidFill>
                  <a:schemeClr val="tx1"/>
                </a:solidFill>
                <a:ea typeface="+mn-ea"/>
                <a:cs typeface="+mn-cs"/>
              </a:rPr>
              <a:t>pro forma</a:t>
            </a:r>
            <a:r>
              <a:rPr lang="en-AU" sz="1200" kern="1200" dirty="0" smtClean="0">
                <a:solidFill>
                  <a:schemeClr val="tx1"/>
                </a:solidFill>
                <a:ea typeface="+mn-ea"/>
                <a:cs typeface="+mn-cs"/>
              </a:rPr>
              <a:t> list/s – and writing in the items for each trip as identified. </a:t>
            </a:r>
          </a:p>
          <a:p>
            <a:pPr lvl="1">
              <a:buFont typeface="Arial" pitchFamily="34" charset="0"/>
              <a:buChar char="•"/>
            </a:pPr>
            <a:r>
              <a:rPr lang="en-AU" sz="1200" kern="1200" dirty="0" smtClean="0">
                <a:solidFill>
                  <a:schemeClr val="tx1"/>
                </a:solidFill>
                <a:ea typeface="+mn-ea"/>
                <a:cs typeface="+mn-cs"/>
              </a:rPr>
              <a:t>In some cases, the ‘Number required’ has been pre-entered by the system.</a:t>
            </a:r>
          </a:p>
          <a:p>
            <a:pPr>
              <a:buFont typeface="Arial" pitchFamily="34" charset="0"/>
              <a:buChar char="•"/>
            </a:pPr>
            <a:r>
              <a:rPr lang="en-AU" sz="1200" kern="1200" dirty="0" smtClean="0">
                <a:solidFill>
                  <a:schemeClr val="tx1"/>
                </a:solidFill>
                <a:ea typeface="+mn-ea"/>
                <a:cs typeface="+mn-cs"/>
              </a:rPr>
              <a:t>Writing in goods allocated for loading – under ‘Number Loaded’ column. This must include identifying items normally stowed on/in each vehicle (fire extinguishers, first aid kits, tools and spare parts) – these are still traditionally listed on loading sheets as:</a:t>
            </a:r>
          </a:p>
          <a:p>
            <a:pPr lvl="1">
              <a:buFont typeface="Arial" pitchFamily="34" charset="0"/>
              <a:buChar char="•"/>
            </a:pPr>
            <a:r>
              <a:rPr lang="en-US" sz="1200" kern="1200" dirty="0" smtClean="0">
                <a:solidFill>
                  <a:schemeClr val="tx1"/>
                </a:solidFill>
                <a:ea typeface="+mn-ea"/>
                <a:cs typeface="+mn-cs"/>
              </a:rPr>
              <a:t>There needs to be evidence they have been checked/provided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Tour staff know they have actually been supplied and checked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Checking them every time a tour is prepared provides an opportunity to:</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Verify their presence/existence – to make sure they have not been lost, stolen or used</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Inspect them for suitability, completeness, appearance and similar</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Identifying where within each vehicle the equipment and supplies are located – this will assist:</a:t>
            </a:r>
          </a:p>
          <a:p>
            <a:pPr lvl="1">
              <a:buFont typeface="Arial" pitchFamily="34" charset="0"/>
              <a:buChar char="•"/>
            </a:pPr>
            <a:r>
              <a:rPr lang="en-US" sz="1200" kern="1200" dirty="0" smtClean="0">
                <a:solidFill>
                  <a:schemeClr val="tx1"/>
                </a:solidFill>
                <a:ea typeface="+mn-ea"/>
                <a:cs typeface="+mn-cs"/>
              </a:rPr>
              <a:t>Inspection, checking and verification of items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Tour staff when they need to access items – an effort is always made to stow/load the same things into the same locations for each trip/tour and on all vehicles, where possible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Undertaking calculations and deliberations to:</a:t>
            </a:r>
          </a:p>
          <a:p>
            <a:pPr lvl="1">
              <a:buFont typeface="Arial" pitchFamily="34" charset="0"/>
              <a:buChar char="•"/>
            </a:pPr>
            <a:r>
              <a:rPr lang="en-US" sz="1200" kern="1200" dirty="0" smtClean="0">
                <a:solidFill>
                  <a:schemeClr val="tx1"/>
                </a:solidFill>
                <a:ea typeface="+mn-ea"/>
                <a:cs typeface="+mn-cs"/>
              </a:rPr>
              <a:t>Distribute weight appropriately between and within vehicles – this is needed to:</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Adhere to maximum loading restrictions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Optimise ride quality, safety, fuel consumption and passenger space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Share equipment and supplies between vehicles – to:</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Minimise loss in the event of an accident</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Speed up unpacking and re-packing when on tour</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a:t>
            </a:r>
          </a:p>
          <a:p>
            <a:pPr>
              <a:buFont typeface="Arial" pitchFamily="34" charset="0"/>
              <a:buNone/>
            </a:pPr>
            <a:r>
              <a:rPr lang="en-US" b="0" noProof="0" dirty="0" smtClean="0"/>
              <a:t>Trainer distributes and discusses sample Loading sheet explaining its features</a:t>
            </a:r>
            <a:r>
              <a:rPr lang="en-US" b="0" baseline="0" noProof="0" dirty="0" smtClean="0"/>
              <a:t> and how it is completed and used.</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a:t>
            </a:r>
            <a:r>
              <a:rPr lang="en-AU" sz="1200" kern="1200" dirty="0" smtClean="0">
                <a:solidFill>
                  <a:schemeClr val="tx1"/>
                </a:solidFill>
                <a:ea typeface="+mn-ea"/>
                <a:cs typeface="+mn-cs"/>
              </a:rPr>
              <a:t>‘Stowing’ is another word/term for loading and both words/terms refer to the physical loading of equipment and supplies into or onto each vehicle or method of transport to be used for trips/tours highlighting important considerations when stowing equipment and supplies include:</a:t>
            </a:r>
          </a:p>
          <a:p>
            <a:pPr>
              <a:buFont typeface="Arial" pitchFamily="34" charset="0"/>
              <a:buChar char="•"/>
            </a:pPr>
            <a:r>
              <a:rPr lang="en-AU" sz="1200" kern="1200" dirty="0" smtClean="0">
                <a:solidFill>
                  <a:schemeClr val="tx1"/>
                </a:solidFill>
                <a:ea typeface="+mn-ea"/>
                <a:cs typeface="+mn-cs"/>
              </a:rPr>
              <a:t>Prepared loading sheets must form the basis for actual loading – the planning and calculations which went into their development/creation must give the central direction for:</a:t>
            </a:r>
          </a:p>
          <a:p>
            <a:pPr lvl="1">
              <a:buFont typeface="Arial" pitchFamily="34" charset="0"/>
              <a:buChar char="•"/>
            </a:pPr>
            <a:r>
              <a:rPr lang="en-US" sz="1200" kern="1200" dirty="0" smtClean="0">
                <a:solidFill>
                  <a:schemeClr val="tx1"/>
                </a:solidFill>
                <a:ea typeface="+mn-ea"/>
                <a:cs typeface="+mn-cs"/>
              </a:rPr>
              <a:t>Which vehicle items are loaded onto</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Where in each vehicle the items are located.</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Any changes made must be reflected on the loading sheet – that is, the loading sheet MUST be amended to show </a:t>
            </a:r>
            <a:r>
              <a:rPr lang="en-US" sz="1200" i="1" kern="1200" dirty="0" smtClean="0">
                <a:solidFill>
                  <a:schemeClr val="tx1"/>
                </a:solidFill>
                <a:ea typeface="+mn-ea"/>
                <a:cs typeface="+mn-cs"/>
              </a:rPr>
              <a:t>actual</a:t>
            </a:r>
            <a:r>
              <a:rPr lang="en-US" sz="1200" kern="1200" dirty="0" smtClean="0">
                <a:solidFill>
                  <a:schemeClr val="tx1"/>
                </a:solidFill>
                <a:ea typeface="+mn-ea"/>
                <a:cs typeface="+mn-cs"/>
              </a:rPr>
              <a:t> loading.</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Complying with approved manual handling techniques – in terms of:</a:t>
            </a:r>
          </a:p>
          <a:p>
            <a:pPr lvl="1">
              <a:buFont typeface="Arial" pitchFamily="34" charset="0"/>
              <a:buChar char="•"/>
            </a:pPr>
            <a:r>
              <a:rPr lang="en-US" sz="1200" kern="1200" dirty="0" smtClean="0">
                <a:solidFill>
                  <a:schemeClr val="tx1"/>
                </a:solidFill>
                <a:ea typeface="+mn-ea"/>
                <a:cs typeface="+mn-cs"/>
              </a:rPr>
              <a:t>Safe lifting and carrying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Use of team lifts and/or mechanical devices to help move/carry items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Complying with weight restrictions – in terms of:</a:t>
            </a:r>
          </a:p>
          <a:p>
            <a:pPr lvl="1">
              <a:buFont typeface="Arial" pitchFamily="34" charset="0"/>
              <a:buChar char="•"/>
            </a:pPr>
            <a:r>
              <a:rPr lang="en-US" sz="1200" kern="1200" dirty="0" smtClean="0">
                <a:solidFill>
                  <a:schemeClr val="tx1"/>
                </a:solidFill>
                <a:ea typeface="+mn-ea"/>
                <a:cs typeface="+mn-cs"/>
              </a:rPr>
              <a:t>Weight limits for animals as advised by Codes of Practice or reference authorities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Legislated and/or manufacturer specifications for </a:t>
            </a:r>
            <a:r>
              <a:rPr lang="en-US" sz="1200" kern="1200" dirty="0" smtClean="0">
                <a:solidFill>
                  <a:schemeClr val="tx1"/>
                </a:solidFill>
                <a:ea typeface="+mn-ea"/>
                <a:cs typeface="+mn-cs"/>
              </a:rPr>
              <a:t>vehicles.</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giving important considerations when loading tour vehicles:</a:t>
            </a:r>
          </a:p>
          <a:p>
            <a:pPr>
              <a:buFont typeface="Arial" pitchFamily="34" charset="0"/>
              <a:buChar char="•"/>
            </a:pPr>
            <a:r>
              <a:rPr lang="en-AU" sz="1200" kern="1200" dirty="0" smtClean="0">
                <a:solidFill>
                  <a:schemeClr val="tx1"/>
                </a:solidFill>
                <a:ea typeface="+mn-ea"/>
                <a:cs typeface="+mn-cs"/>
              </a:rPr>
              <a:t>Taking into account tour-specific requirements – these commonly refer to:</a:t>
            </a:r>
          </a:p>
          <a:p>
            <a:pPr lvl="1">
              <a:buFont typeface="Arial" pitchFamily="34" charset="0"/>
              <a:buChar char="•"/>
            </a:pPr>
            <a:r>
              <a:rPr lang="en-US" sz="1200" kern="1200" dirty="0" smtClean="0">
                <a:solidFill>
                  <a:schemeClr val="tx1"/>
                </a:solidFill>
                <a:ea typeface="+mn-ea"/>
                <a:cs typeface="+mn-cs"/>
              </a:rPr>
              <a:t>The terrain to be covered – which can impact/influence:</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The capacity of the vehicle (or animal) to handle the load</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The potential for items to shift during transit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The itinerary – which will indicate:</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When certain items will need to be accessed</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The sequence in which some items will need to be accessed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Special needs and/or special requests which apply to the tour group</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Items available from other providers (attractions, venues, destinations) during the trip/tour</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Enabling ready access to certain equipment and items – for example:</a:t>
            </a:r>
          </a:p>
          <a:p>
            <a:pPr lvl="1">
              <a:buFont typeface="Arial" pitchFamily="34" charset="0"/>
              <a:buChar char="•"/>
            </a:pPr>
            <a:r>
              <a:rPr lang="en-US" sz="1200" kern="1200" dirty="0" smtClean="0">
                <a:solidFill>
                  <a:schemeClr val="tx1"/>
                </a:solidFill>
                <a:ea typeface="+mn-ea"/>
                <a:cs typeface="+mn-cs"/>
              </a:rPr>
              <a:t>Items that will be required first are often loaded last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Items needed for emergencies are always stowed enabling easy access in the event of an emergency</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Following legislated and/or host enterprise procedures for the stowing of hazardous items such as:</a:t>
            </a:r>
          </a:p>
          <a:p>
            <a:pPr lvl="1">
              <a:buFont typeface="Arial" pitchFamily="34" charset="0"/>
              <a:buChar char="•"/>
            </a:pPr>
            <a:r>
              <a:rPr lang="en-AU" sz="1200" kern="1200" dirty="0" smtClean="0">
                <a:solidFill>
                  <a:schemeClr val="tx1"/>
                </a:solidFill>
                <a:ea typeface="+mn-ea"/>
                <a:cs typeface="+mn-cs"/>
              </a:rPr>
              <a:t>Sharp tools or equipment; Heavy items; Items made of or containing glass; Gas containers; Heat-sensitive aerosols; Medication; Petrol, fuel and other flammable materials</a:t>
            </a:r>
          </a:p>
          <a:p>
            <a:pPr>
              <a:buFont typeface="Arial" pitchFamily="34" charset="0"/>
              <a:buChar char="•"/>
            </a:pPr>
            <a:r>
              <a:rPr lang="en-AU" sz="1200" kern="1200" dirty="0" smtClean="0">
                <a:solidFill>
                  <a:schemeClr val="tx1"/>
                </a:solidFill>
                <a:ea typeface="+mn-ea"/>
                <a:cs typeface="+mn-cs"/>
              </a:rPr>
              <a:t>Securing equipment and supplies – in order to:</a:t>
            </a:r>
          </a:p>
          <a:p>
            <a:pPr lvl="1">
              <a:buFont typeface="Arial" pitchFamily="34" charset="0"/>
              <a:buChar char="•"/>
            </a:pPr>
            <a:r>
              <a:rPr lang="en-AU" sz="1200" kern="1200" dirty="0" smtClean="0">
                <a:solidFill>
                  <a:schemeClr val="tx1"/>
                </a:solidFill>
                <a:ea typeface="+mn-ea"/>
                <a:cs typeface="+mn-cs"/>
              </a:rPr>
              <a:t>Prevent movement, as far as practicable</a:t>
            </a:r>
          </a:p>
          <a:p>
            <a:pPr lvl="1">
              <a:buFont typeface="Arial" pitchFamily="34" charset="0"/>
              <a:buChar char="•"/>
            </a:pPr>
            <a:r>
              <a:rPr lang="en-AU" sz="1200" kern="1200" dirty="0" smtClean="0">
                <a:solidFill>
                  <a:schemeClr val="tx1"/>
                </a:solidFill>
                <a:ea typeface="+mn-ea"/>
                <a:cs typeface="+mn-cs"/>
              </a:rPr>
              <a:t>Stop unauthorised access including theft by others and unauthorised use by tour group members. </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that commonly </a:t>
            </a:r>
            <a:r>
              <a:rPr lang="en-AU" sz="1200" kern="1200" dirty="0" smtClean="0">
                <a:solidFill>
                  <a:schemeClr val="tx1"/>
                </a:solidFill>
                <a:ea typeface="+mn-ea"/>
                <a:cs typeface="+mn-cs"/>
              </a:rPr>
              <a:t>the Loading sheets are the checklists used to confirm all equipment and supplies have been loaded for trips and tours and the checking process comprises the following:</a:t>
            </a:r>
          </a:p>
          <a:p>
            <a:pPr>
              <a:buFont typeface="Arial" pitchFamily="34" charset="0"/>
              <a:buChar char="•"/>
            </a:pPr>
            <a:r>
              <a:rPr lang="en-AU" sz="1200" kern="1200" dirty="0" smtClean="0">
                <a:solidFill>
                  <a:schemeClr val="tx1"/>
                </a:solidFill>
                <a:ea typeface="+mn-ea"/>
                <a:cs typeface="+mn-cs"/>
              </a:rPr>
              <a:t>Meeting with tour staff to conduct the check – points to note are:</a:t>
            </a:r>
          </a:p>
          <a:p>
            <a:pPr lvl="1">
              <a:buFont typeface="Arial" pitchFamily="34" charset="0"/>
              <a:buChar char="•"/>
            </a:pPr>
            <a:r>
              <a:rPr lang="en-US" sz="1200" kern="1200" dirty="0" smtClean="0">
                <a:solidFill>
                  <a:schemeClr val="tx1"/>
                </a:solidFill>
                <a:ea typeface="+mn-ea"/>
                <a:cs typeface="+mn-cs"/>
              </a:rPr>
              <a:t>This meeting/activity has to be organised – it needs to be scheduled and not just left to chance, or overlooked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Sufficient time must be allocated – it is a time-consuming process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Not all tour staff need to be present at this meeting but there must be at least one tour staff member in attendance to see where things are, to be informed of necessary information and to make input r</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Photocopying loading sheets completed as part of the loading process – so the tour staff member has their own copy</a:t>
            </a:r>
          </a:p>
          <a:p>
            <a:pPr>
              <a:buFont typeface="Arial" pitchFamily="34" charset="0"/>
              <a:buChar char="•"/>
            </a:pPr>
            <a:r>
              <a:rPr lang="en-AU" sz="1200" kern="1200" dirty="0" smtClean="0">
                <a:solidFill>
                  <a:schemeClr val="tx1"/>
                </a:solidFill>
                <a:ea typeface="+mn-ea"/>
                <a:cs typeface="+mn-cs"/>
              </a:rPr>
              <a:t>Handling any last-minute requirements – and ensuring these are authorised and documented as </a:t>
            </a:r>
            <a:r>
              <a:rPr lang="en-AU" sz="1200" kern="1200" dirty="0" smtClean="0">
                <a:solidFill>
                  <a:schemeClr val="tx1"/>
                </a:solidFill>
                <a:ea typeface="+mn-ea"/>
                <a:cs typeface="+mn-cs"/>
              </a:rPr>
              <a:t>appropriate.</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use of Loading sheets as checklists:</a:t>
            </a:r>
          </a:p>
          <a:p>
            <a:pPr>
              <a:buFont typeface="Arial" pitchFamily="34" charset="0"/>
              <a:buChar char="•"/>
            </a:pPr>
            <a:r>
              <a:rPr lang="en-AU" sz="1200" kern="1200" dirty="0" smtClean="0">
                <a:solidFill>
                  <a:schemeClr val="tx1"/>
                </a:solidFill>
                <a:ea typeface="+mn-ea"/>
                <a:cs typeface="+mn-cs"/>
              </a:rPr>
              <a:t>Verifying/inspecting items as necessary/appropriate to the nature of each item – for example:</a:t>
            </a:r>
          </a:p>
          <a:p>
            <a:pPr lvl="1">
              <a:buFont typeface="Arial" pitchFamily="34" charset="0"/>
              <a:buChar char="•"/>
            </a:pPr>
            <a:r>
              <a:rPr lang="en-US" sz="1200" kern="1200" dirty="0" smtClean="0">
                <a:solidFill>
                  <a:schemeClr val="tx1"/>
                </a:solidFill>
                <a:ea typeface="+mn-ea"/>
                <a:cs typeface="+mn-cs"/>
              </a:rPr>
              <a:t>Gas cylinders are within their legislated testing dates required for pressure vessels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EPIRBs are registered correctly and are still in date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Vehicle registration is current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Foods are within required Use By dates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There is no obvious/unacceptable damage or defects to goods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Adjusting the loading sheets – as/if required in accordance with actual loading and/or decisions made. This involves:</a:t>
            </a:r>
          </a:p>
          <a:p>
            <a:pPr lvl="1">
              <a:buFont typeface="Arial" pitchFamily="34" charset="0"/>
              <a:buChar char="•"/>
            </a:pPr>
            <a:r>
              <a:rPr lang="en-US" sz="1200" kern="1200" dirty="0" smtClean="0">
                <a:solidFill>
                  <a:schemeClr val="tx1"/>
                </a:solidFill>
                <a:ea typeface="+mn-ea"/>
                <a:cs typeface="+mn-cs"/>
              </a:rPr>
              <a:t>Amending/entering figures in the Number Loaded column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Adding written comment in the Comments column</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Signing-off and dating the loading sheets – the loading sheet needs to be signed:</a:t>
            </a:r>
          </a:p>
          <a:p>
            <a:pPr lvl="1">
              <a:buFont typeface="Arial" pitchFamily="34" charset="0"/>
              <a:buChar char="•"/>
            </a:pPr>
            <a:r>
              <a:rPr lang="en-US" sz="1200" kern="1200" dirty="0" smtClean="0">
                <a:solidFill>
                  <a:schemeClr val="tx1"/>
                </a:solidFill>
                <a:ea typeface="+mn-ea"/>
                <a:cs typeface="+mn-cs"/>
              </a:rPr>
              <a:t>By the person/s who loaded the vehicle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By the tour staff member who participated in the checking process – their signature indicates: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All items were provided as indicated in good condition</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They are taking responsibility for the items listed.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notes:</a:t>
            </a:r>
          </a:p>
          <a:p>
            <a:pPr>
              <a:buFont typeface="Arial" pitchFamily="34" charset="0"/>
              <a:buChar char="•"/>
            </a:pPr>
            <a:r>
              <a:rPr lang="en-AU" sz="1200" b="0" kern="1200" dirty="0" smtClean="0">
                <a:solidFill>
                  <a:schemeClr val="tx1"/>
                </a:solidFill>
                <a:ea typeface="+mn-ea"/>
                <a:cs typeface="+mn-cs"/>
              </a:rPr>
              <a:t>In some cases loading and stowing of the equipment and supplies takes place </a:t>
            </a:r>
            <a:r>
              <a:rPr lang="en-AU" sz="1200" b="1" kern="1200" dirty="0" smtClean="0">
                <a:solidFill>
                  <a:schemeClr val="tx1"/>
                </a:solidFill>
                <a:ea typeface="+mn-ea"/>
                <a:cs typeface="+mn-cs"/>
              </a:rPr>
              <a:t>at the same time</a:t>
            </a:r>
            <a:r>
              <a:rPr lang="en-AU" sz="1200" b="0" kern="1200" dirty="0" smtClean="0">
                <a:solidFill>
                  <a:schemeClr val="tx1"/>
                </a:solidFill>
                <a:ea typeface="+mn-ea"/>
                <a:cs typeface="+mn-cs"/>
              </a:rPr>
              <a:t> as the checks are made to ensure all items have been packed.</a:t>
            </a:r>
            <a:endParaRPr lang="en-AU" sz="1200" b="1" kern="1200" dirty="0" smtClean="0">
              <a:solidFill>
                <a:schemeClr val="tx1"/>
              </a:solidFill>
              <a:ea typeface="+mn-ea"/>
              <a:cs typeface="+mn-cs"/>
            </a:endParaRPr>
          </a:p>
          <a:p>
            <a:pPr lvl="1">
              <a:buFont typeface="Arial" pitchFamily="34" charset="0"/>
              <a:buChar char="•"/>
            </a:pPr>
            <a:r>
              <a:rPr lang="en-AU" sz="1200" b="0" kern="1200" dirty="0" smtClean="0">
                <a:solidFill>
                  <a:schemeClr val="tx1"/>
                </a:solidFill>
                <a:ea typeface="+mn-ea"/>
                <a:cs typeface="+mn-cs"/>
              </a:rPr>
              <a:t>In these cases:</a:t>
            </a:r>
            <a:endParaRPr lang="en-AU" sz="1200" b="1" kern="1200" dirty="0" smtClean="0">
              <a:solidFill>
                <a:schemeClr val="tx1"/>
              </a:solidFill>
              <a:ea typeface="+mn-ea"/>
              <a:cs typeface="+mn-cs"/>
            </a:endParaRPr>
          </a:p>
          <a:p>
            <a:pPr lvl="2">
              <a:buFont typeface="Arial" pitchFamily="34" charset="0"/>
              <a:buChar char="•"/>
            </a:pPr>
            <a:r>
              <a:rPr lang="en-AU" sz="1200" kern="1200" dirty="0" smtClean="0">
                <a:solidFill>
                  <a:schemeClr val="tx1"/>
                </a:solidFill>
                <a:ea typeface="+mn-ea"/>
                <a:cs typeface="+mn-cs"/>
              </a:rPr>
              <a:t>Tour staff help load and stow the items</a:t>
            </a:r>
          </a:p>
          <a:p>
            <a:pPr lvl="2">
              <a:buFont typeface="Arial" pitchFamily="34" charset="0"/>
              <a:buChar char="•"/>
            </a:pPr>
            <a:r>
              <a:rPr lang="en-AU" sz="1200" kern="1200" dirty="0" smtClean="0">
                <a:solidFill>
                  <a:schemeClr val="tx1"/>
                </a:solidFill>
                <a:ea typeface="+mn-ea"/>
                <a:cs typeface="+mn-cs"/>
              </a:rPr>
              <a:t>Tour staff decide where they want supplies and equipment to be located</a:t>
            </a:r>
          </a:p>
          <a:p>
            <a:pPr lvl="2">
              <a:buFont typeface="Arial" pitchFamily="34" charset="0"/>
              <a:buChar char="•"/>
            </a:pPr>
            <a:r>
              <a:rPr lang="en-AU" sz="1200" kern="1200" dirty="0" smtClean="0">
                <a:solidFill>
                  <a:schemeClr val="tx1"/>
                </a:solidFill>
                <a:ea typeface="+mn-ea"/>
                <a:cs typeface="+mn-cs"/>
              </a:rPr>
              <a:t>Loading sheets are signed-off when the process of packing/loading has been completed.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states the </a:t>
            </a:r>
            <a:r>
              <a:rPr lang="en-AU" sz="1200" kern="1200" dirty="0" smtClean="0">
                <a:solidFill>
                  <a:schemeClr val="tx1"/>
                </a:solidFill>
                <a:ea typeface="+mn-ea"/>
                <a:cs typeface="+mn-cs"/>
              </a:rPr>
              <a:t>final check usually precedes trip/tour departure by ‘some time’ explaining:</a:t>
            </a:r>
          </a:p>
          <a:p>
            <a:pPr>
              <a:buFont typeface="Arial" pitchFamily="34" charset="0"/>
              <a:buChar char="•"/>
            </a:pPr>
            <a:r>
              <a:rPr lang="en-AU" sz="1200" kern="1200" dirty="0" smtClean="0">
                <a:solidFill>
                  <a:schemeClr val="tx1"/>
                </a:solidFill>
                <a:ea typeface="+mn-ea"/>
                <a:cs typeface="+mn-cs"/>
              </a:rPr>
              <a:t>Exactly what is ‘some time’ varies between trips.</a:t>
            </a:r>
          </a:p>
          <a:p>
            <a:pPr>
              <a:buFont typeface="Arial" pitchFamily="34" charset="0"/>
              <a:buChar char="•"/>
            </a:pPr>
            <a:r>
              <a:rPr lang="en-AU" sz="1200" kern="1200" dirty="0" smtClean="0">
                <a:solidFill>
                  <a:schemeClr val="tx1"/>
                </a:solidFill>
                <a:ea typeface="+mn-ea"/>
                <a:cs typeface="+mn-cs"/>
              </a:rPr>
              <a:t>Trips/tours which are longer duration, custom or private and involving greater numbers, more complexity and higher vehicle numbers are traditionally conducted ‘earlier’ – such as a day or more in advance.</a:t>
            </a:r>
          </a:p>
          <a:p>
            <a:pPr>
              <a:buFont typeface="Arial" pitchFamily="34" charset="0"/>
              <a:buChar char="•"/>
            </a:pPr>
            <a:r>
              <a:rPr lang="en-AU" sz="1200" kern="1200" dirty="0" smtClean="0">
                <a:solidFill>
                  <a:schemeClr val="tx1"/>
                </a:solidFill>
                <a:ea typeface="+mn-ea"/>
                <a:cs typeface="+mn-cs"/>
              </a:rPr>
              <a:t>Final checks for these trips/tours take place at this time to give a realistic time frame to make any adjustments (re-packing/re-loading) or repairs which may be needed.</a:t>
            </a:r>
          </a:p>
          <a:p>
            <a:pPr>
              <a:buFont typeface="Arial" pitchFamily="34" charset="0"/>
              <a:buChar char="•"/>
            </a:pPr>
            <a:r>
              <a:rPr lang="en-AU" sz="1200" kern="1200" dirty="0" smtClean="0">
                <a:solidFill>
                  <a:schemeClr val="tx1"/>
                </a:solidFill>
                <a:ea typeface="+mn-ea"/>
                <a:cs typeface="+mn-cs"/>
              </a:rPr>
              <a:t>Regular, shorter trips/tours tend to have final checks undertaken ‘on the day’ or within 24 hours of departure.</a:t>
            </a:r>
          </a:p>
          <a:p>
            <a:pPr>
              <a:buFont typeface="Arial" pitchFamily="34" charset="0"/>
              <a:buChar char="•"/>
            </a:pPr>
            <a:r>
              <a:rPr lang="en-AU" sz="1200" kern="1200" dirty="0" smtClean="0">
                <a:solidFill>
                  <a:schemeClr val="tx1"/>
                </a:solidFill>
                <a:ea typeface="+mn-ea"/>
                <a:cs typeface="+mn-cs"/>
              </a:rPr>
              <a:t>A shorter lead time for these checks is used because:</a:t>
            </a:r>
          </a:p>
          <a:p>
            <a:pPr lvl="1">
              <a:buFont typeface="Arial" pitchFamily="34" charset="0"/>
              <a:buChar char="•"/>
            </a:pPr>
            <a:r>
              <a:rPr lang="en-AU" sz="1200" kern="1200" dirty="0" smtClean="0">
                <a:solidFill>
                  <a:schemeClr val="tx1"/>
                </a:solidFill>
                <a:ea typeface="+mn-ea"/>
                <a:cs typeface="+mn-cs"/>
              </a:rPr>
              <a:t>The vehicles usually need to be kept in service/available for use</a:t>
            </a:r>
          </a:p>
          <a:p>
            <a:pPr lvl="1">
              <a:buFont typeface="Arial" pitchFamily="34" charset="0"/>
              <a:buChar char="•"/>
            </a:pPr>
            <a:r>
              <a:rPr lang="en-AU" sz="1200" kern="1200" dirty="0" smtClean="0">
                <a:solidFill>
                  <a:schemeClr val="tx1"/>
                </a:solidFill>
                <a:ea typeface="+mn-ea"/>
                <a:cs typeface="+mn-cs"/>
              </a:rPr>
              <a:t>Issues arising are usually less problematic and more readily addressed</a:t>
            </a:r>
          </a:p>
          <a:p>
            <a:pPr lvl="1">
              <a:buFont typeface="Arial" pitchFamily="34" charset="0"/>
              <a:buChar char="•"/>
            </a:pPr>
            <a:r>
              <a:rPr lang="en-AU" sz="1200" kern="1200" dirty="0" smtClean="0">
                <a:solidFill>
                  <a:schemeClr val="tx1"/>
                </a:solidFill>
                <a:ea typeface="+mn-ea"/>
                <a:cs typeface="+mn-cs"/>
              </a:rPr>
              <a:t>There is less equipment to be checked – or re-loaded to another vehicle if necessary.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presents practices </a:t>
            </a:r>
            <a:r>
              <a:rPr lang="en-AU" sz="1200" kern="1200" dirty="0" smtClean="0">
                <a:solidFill>
                  <a:schemeClr val="tx1"/>
                </a:solidFill>
                <a:ea typeface="+mn-ea"/>
                <a:cs typeface="+mn-cs"/>
              </a:rPr>
              <a:t>used to complete final checking can include:</a:t>
            </a:r>
          </a:p>
          <a:p>
            <a:pPr>
              <a:buFont typeface="Arial" pitchFamily="34" charset="0"/>
              <a:buChar char="•"/>
            </a:pPr>
            <a:r>
              <a:rPr lang="en-AU" sz="1200" kern="1200" dirty="0" smtClean="0">
                <a:solidFill>
                  <a:schemeClr val="tx1"/>
                </a:solidFill>
                <a:ea typeface="+mn-ea"/>
                <a:cs typeface="+mn-cs"/>
              </a:rPr>
              <a:t>Providing all tour staff with their own copy of the loading sheets – for their personal reference</a:t>
            </a:r>
          </a:p>
          <a:p>
            <a:pPr>
              <a:buFont typeface="Arial" pitchFamily="34" charset="0"/>
              <a:buChar char="•"/>
            </a:pPr>
            <a:r>
              <a:rPr lang="en-AU" sz="1200" kern="1200" dirty="0" smtClean="0">
                <a:solidFill>
                  <a:schemeClr val="tx1"/>
                </a:solidFill>
                <a:ea typeface="+mn-ea"/>
                <a:cs typeface="+mn-cs"/>
              </a:rPr>
              <a:t>Familiarising tour staff with location of equipment and supplies within individual vehicles – by:</a:t>
            </a:r>
          </a:p>
          <a:p>
            <a:pPr lvl="1">
              <a:buFont typeface="Arial" pitchFamily="34" charset="0"/>
              <a:buChar char="•"/>
            </a:pPr>
            <a:r>
              <a:rPr lang="en-US" sz="1200" kern="1200" dirty="0" smtClean="0">
                <a:solidFill>
                  <a:schemeClr val="tx1"/>
                </a:solidFill>
                <a:ea typeface="+mn-ea"/>
                <a:cs typeface="+mn-cs"/>
              </a:rPr>
              <a:t>Conducting a ‘walk-around’ of the vehicle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Opening compartments and physically showing/indicating where individual items have been stowed (with reference to their location on the loading sheets)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Notifying staff in relation to special precautions that have been taken – which may include:</a:t>
            </a:r>
          </a:p>
          <a:p>
            <a:pPr lvl="1">
              <a:buFont typeface="Arial" pitchFamily="34" charset="0"/>
              <a:buChar char="•"/>
            </a:pPr>
            <a:r>
              <a:rPr lang="en-US" sz="1200" kern="1200" dirty="0" smtClean="0">
                <a:solidFill>
                  <a:schemeClr val="tx1"/>
                </a:solidFill>
                <a:ea typeface="+mn-ea"/>
                <a:cs typeface="+mn-cs"/>
              </a:rPr>
              <a:t>Advising of storage of traditional items which have been stowed in other than usual locations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Explaining use of (and reasons) special packaging and storing materials and/or techniques which may have been applied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Demonstrating packaging and storing techniques so staff can duplicate them </a:t>
            </a:r>
            <a:r>
              <a:rPr lang="en-US" sz="1200" i="1" kern="1200" dirty="0" smtClean="0">
                <a:solidFill>
                  <a:schemeClr val="tx1"/>
                </a:solidFill>
                <a:ea typeface="+mn-ea"/>
                <a:cs typeface="+mn-cs"/>
              </a:rPr>
              <a:t>en </a:t>
            </a:r>
            <a:r>
              <a:rPr lang="en-US" sz="1200" i="1" kern="1200" dirty="0" smtClean="0">
                <a:solidFill>
                  <a:schemeClr val="tx1"/>
                </a:solidFill>
                <a:ea typeface="+mn-ea"/>
                <a:cs typeface="+mn-cs"/>
              </a:rPr>
              <a:t>route.</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continues presenting practices </a:t>
            </a:r>
            <a:r>
              <a:rPr lang="en-AU" sz="1200" kern="1200" dirty="0" smtClean="0">
                <a:solidFill>
                  <a:schemeClr val="tx1"/>
                </a:solidFill>
                <a:ea typeface="+mn-ea"/>
                <a:cs typeface="+mn-cs"/>
              </a:rPr>
              <a:t>used to complete final checking:</a:t>
            </a:r>
          </a:p>
          <a:p>
            <a:pPr>
              <a:buFont typeface="Arial" pitchFamily="34" charset="0"/>
              <a:buChar char="•"/>
            </a:pPr>
            <a:r>
              <a:rPr lang="en-AU" sz="1200" kern="1200" dirty="0" smtClean="0">
                <a:solidFill>
                  <a:schemeClr val="tx1"/>
                </a:solidFill>
                <a:ea typeface="+mn-ea"/>
                <a:cs typeface="+mn-cs"/>
              </a:rPr>
              <a:t>Taking vehicle for a shake-down run – this is often done to:</a:t>
            </a:r>
          </a:p>
          <a:p>
            <a:pPr lvl="1">
              <a:buFont typeface="Arial" pitchFamily="34" charset="0"/>
              <a:buChar char="•"/>
            </a:pPr>
            <a:r>
              <a:rPr lang="en-US" sz="1200" kern="1200" dirty="0" smtClean="0">
                <a:solidFill>
                  <a:schemeClr val="tx1"/>
                </a:solidFill>
                <a:ea typeface="+mn-ea"/>
                <a:cs typeface="+mn-cs"/>
              </a:rPr>
              <a:t>Settle items in position – so:</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They do not rattle when customers first board</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They can be further secured prior to tour departure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Verify:</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Impact of load (in terms of weight and balance) on behavior, handling and performance</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Overall vehicle operational status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Trigger indications there are problems – with load or vehicle: see immediately below</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Visually inspecting the load and the vehicles for problem signs – such as:</a:t>
            </a:r>
          </a:p>
          <a:p>
            <a:pPr lvl="1">
              <a:buFont typeface="Arial" pitchFamily="34" charset="0"/>
              <a:buChar char="•"/>
            </a:pPr>
            <a:r>
              <a:rPr lang="en-US" sz="1200" kern="1200" dirty="0" smtClean="0">
                <a:solidFill>
                  <a:schemeClr val="tx1"/>
                </a:solidFill>
                <a:ea typeface="+mn-ea"/>
                <a:cs typeface="+mn-cs"/>
              </a:rPr>
              <a:t>Leakages from supplies as a result of the shake-down run, or due to faulty containers or packaging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Leakages from the vehicle – such as water, fuel, other fluids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Protrusions outside the acceptable dimensions of the vehicle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Double-checking Loading sheets have been completed as required – and all required equipment and supplies have been loaded</a:t>
            </a:r>
          </a:p>
          <a:p>
            <a:pPr>
              <a:buFont typeface="Arial" pitchFamily="34" charset="0"/>
              <a:buChar char="•"/>
            </a:pPr>
            <a:r>
              <a:rPr lang="en-AU" sz="1200" kern="1200" dirty="0" smtClean="0">
                <a:solidFill>
                  <a:schemeClr val="tx1"/>
                </a:solidFill>
                <a:ea typeface="+mn-ea"/>
                <a:cs typeface="+mn-cs"/>
              </a:rPr>
              <a:t>Ensuring comfort and safety for those who may be travelling in vehicles that have been packed with equipment and supplies.</a:t>
            </a:r>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notes in </a:t>
            </a:r>
            <a:r>
              <a:rPr lang="en-AU" sz="1200" kern="1200" dirty="0" smtClean="0">
                <a:solidFill>
                  <a:schemeClr val="tx1"/>
                </a:solidFill>
                <a:ea typeface="+mn-ea"/>
                <a:cs typeface="+mn-cs"/>
              </a:rPr>
              <a:t>some cases, the final check:</a:t>
            </a:r>
          </a:p>
          <a:p>
            <a:pPr>
              <a:buFont typeface="Arial" pitchFamily="34" charset="0"/>
              <a:buChar char="•"/>
            </a:pPr>
            <a:r>
              <a:rPr lang="en-AU" sz="1200" kern="1200" dirty="0" smtClean="0">
                <a:solidFill>
                  <a:schemeClr val="tx1"/>
                </a:solidFill>
                <a:ea typeface="+mn-ea"/>
                <a:cs typeface="+mn-cs"/>
              </a:rPr>
              <a:t>May include a representative of a private tour party – where this has been requested or negotiated</a:t>
            </a:r>
          </a:p>
          <a:p>
            <a:pPr>
              <a:buFont typeface="Arial" pitchFamily="34" charset="0"/>
              <a:buChar char="•"/>
            </a:pPr>
            <a:r>
              <a:rPr lang="en-AU" sz="1200" kern="1200" dirty="0" smtClean="0">
                <a:solidFill>
                  <a:schemeClr val="tx1"/>
                </a:solidFill>
                <a:ea typeface="+mn-ea"/>
                <a:cs typeface="+mn-cs"/>
              </a:rPr>
              <a:t>May feature loading of certain foodstuffs – such as:</a:t>
            </a:r>
          </a:p>
          <a:p>
            <a:pPr lvl="1">
              <a:buFont typeface="Arial" pitchFamily="34" charset="0"/>
              <a:buChar char="•"/>
            </a:pPr>
            <a:r>
              <a:rPr lang="en-US" sz="1200" kern="1200" dirty="0" smtClean="0">
                <a:solidFill>
                  <a:schemeClr val="tx1"/>
                </a:solidFill>
                <a:ea typeface="+mn-ea"/>
                <a:cs typeface="+mn-cs"/>
              </a:rPr>
              <a:t>Pre-prepared hot food and/or beverages (including hot water for tea, coffees) – which is to be maintained ‘hot’ so it can be served hot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Refrigerated and frozen foods – which have been held in commercial fridges and freezers and will be loaded into portable refrigeration and/or freezer units.</a:t>
            </a:r>
            <a:br>
              <a:rPr lang="en-US" sz="1200" kern="1200" dirty="0" smtClean="0">
                <a:solidFill>
                  <a:schemeClr val="tx1"/>
                </a:solidFill>
                <a:ea typeface="+mn-ea"/>
                <a:cs typeface="+mn-cs"/>
              </a:rPr>
            </a:br>
            <a:endParaRPr lang="en-AU" sz="1200" kern="1200" dirty="0" smtClean="0">
              <a:solidFill>
                <a:schemeClr val="tx1"/>
              </a:solidFill>
              <a:ea typeface="+mn-ea"/>
              <a:cs typeface="+mn-cs"/>
            </a:endParaRPr>
          </a:p>
          <a:p>
            <a:pPr>
              <a:buFont typeface="Arial" pitchFamily="34" charset="0"/>
              <a:buNone/>
            </a:pPr>
            <a:r>
              <a:rPr lang="en-US" b="1" noProof="0" dirty="0" smtClean="0"/>
              <a:t>Classroom Activity – Excursion</a:t>
            </a:r>
          </a:p>
          <a:p>
            <a:pPr>
              <a:buFont typeface="Arial" pitchFamily="34" charset="0"/>
              <a:buNone/>
            </a:pPr>
            <a:r>
              <a:rPr lang="en-US" b="0" noProof="0" dirty="0" smtClean="0"/>
              <a:t>Trainer organises an</a:t>
            </a:r>
            <a:r>
              <a:rPr lang="en-US" b="0" baseline="0" noProof="0" dirty="0" smtClean="0"/>
              <a:t> excursion to a suitable operator so students can:</a:t>
            </a:r>
          </a:p>
          <a:p>
            <a:pPr>
              <a:buFont typeface="Arial" pitchFamily="34" charset="0"/>
              <a:buChar char="•"/>
            </a:pPr>
            <a:r>
              <a:rPr lang="en-US" b="0" baseline="0" noProof="0" dirty="0" smtClean="0"/>
              <a:t>Talk to management and employees</a:t>
            </a:r>
          </a:p>
          <a:p>
            <a:pPr>
              <a:buFont typeface="Arial" pitchFamily="34" charset="0"/>
              <a:buChar char="•"/>
            </a:pPr>
            <a:r>
              <a:rPr lang="en-US" b="0" baseline="0" noProof="0" dirty="0" smtClean="0"/>
              <a:t>View facilities</a:t>
            </a:r>
          </a:p>
          <a:p>
            <a:pPr>
              <a:buFont typeface="Arial" pitchFamily="34" charset="0"/>
              <a:buChar char="•"/>
            </a:pPr>
            <a:r>
              <a:rPr lang="en-US" b="0" baseline="0" noProof="0" dirty="0" smtClean="0"/>
              <a:t>Learn how staff determine and prepare individual tour requirements</a:t>
            </a:r>
          </a:p>
          <a:p>
            <a:pPr>
              <a:buFont typeface="Arial" pitchFamily="34" charset="0"/>
              <a:buChar char="•"/>
            </a:pPr>
            <a:r>
              <a:rPr lang="en-US" b="0" baseline="0" noProof="0" dirty="0" smtClean="0"/>
              <a:t>Observe pre-departure checks and practices undertaken by employees and tour staff</a:t>
            </a:r>
          </a:p>
          <a:p>
            <a:pPr>
              <a:buFont typeface="Arial" pitchFamily="34" charset="0"/>
              <a:buChar char="•"/>
            </a:pPr>
            <a:r>
              <a:rPr lang="en-US" b="0" baseline="0" noProof="0" dirty="0" smtClean="0"/>
              <a:t>Watch loading activities</a:t>
            </a:r>
          </a:p>
          <a:p>
            <a:pPr>
              <a:buFont typeface="Arial" pitchFamily="34" charset="0"/>
              <a:buChar char="•"/>
            </a:pPr>
            <a:r>
              <a:rPr lang="en-US" b="0" noProof="0" dirty="0" smtClean="0"/>
              <a:t>Obtain sample documentation relating to trips/tours.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a:buFont typeface="Arial" pitchFamily="34" charset="0"/>
              <a:buChar char="•"/>
            </a:pPr>
            <a:r>
              <a:rPr lang="en-US" sz="1200" kern="1200" baseline="0" dirty="0" smtClean="0">
                <a:solidFill>
                  <a:schemeClr val="tx1"/>
                </a:solidFill>
                <a:ea typeface="+mn-ea"/>
                <a:cs typeface="+mn-cs"/>
              </a:rPr>
              <a:t>What documentation needs to be completed?</a:t>
            </a:r>
          </a:p>
          <a:p>
            <a:pPr>
              <a:buFont typeface="Arial" pitchFamily="34" charset="0"/>
              <a:buChar char="•"/>
            </a:pPr>
            <a:r>
              <a:rPr lang="en-US" sz="1200" kern="1200" baseline="0" dirty="0" smtClean="0">
                <a:solidFill>
                  <a:schemeClr val="tx1"/>
                </a:solidFill>
                <a:ea typeface="+mn-ea"/>
                <a:cs typeface="+mn-cs"/>
              </a:rPr>
              <a:t>Who competes it?</a:t>
            </a:r>
          </a:p>
          <a:p>
            <a:pPr>
              <a:buFont typeface="Arial" pitchFamily="34" charset="0"/>
              <a:buChar char="•"/>
            </a:pPr>
            <a:r>
              <a:rPr lang="en-US" sz="1200" kern="1200" baseline="0" dirty="0" smtClean="0">
                <a:solidFill>
                  <a:schemeClr val="tx1"/>
                </a:solidFill>
                <a:ea typeface="+mn-ea"/>
                <a:cs typeface="+mn-cs"/>
              </a:rPr>
              <a:t>Why does it need to be completed?</a:t>
            </a:r>
          </a:p>
          <a:p>
            <a:pPr>
              <a:buFont typeface="Arial" pitchFamily="34" charset="0"/>
              <a:buChar char="•"/>
            </a:pPr>
            <a:r>
              <a:rPr lang="en-US" sz="1200" kern="1200" baseline="0" dirty="0" smtClean="0">
                <a:solidFill>
                  <a:schemeClr val="tx1"/>
                </a:solidFill>
                <a:ea typeface="+mn-ea"/>
                <a:cs typeface="+mn-cs"/>
              </a:rPr>
              <a:t>When must it be completed?</a:t>
            </a:r>
          </a:p>
          <a:p>
            <a:pPr>
              <a:buFont typeface="Arial" pitchFamily="34" charset="0"/>
              <a:buChar char="•"/>
            </a:pPr>
            <a:r>
              <a:rPr lang="en-US" sz="1200" kern="1200" baseline="0" dirty="0" smtClean="0">
                <a:solidFill>
                  <a:schemeClr val="tx1"/>
                </a:solidFill>
                <a:ea typeface="+mn-ea"/>
                <a:cs typeface="+mn-cs"/>
              </a:rPr>
              <a:t>Why is it important/necessary to complete this documentation and do so accurately and promptly?</a:t>
            </a:r>
          </a:p>
          <a:p>
            <a:pPr>
              <a:buFont typeface="Arial" pitchFamily="34" charset="0"/>
              <a:buChar cha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a:t>
            </a:r>
            <a:r>
              <a:rPr lang="en-AU" sz="1200" kern="1200" dirty="0" smtClean="0">
                <a:solidFill>
                  <a:schemeClr val="tx1"/>
                </a:solidFill>
                <a:ea typeface="+mn-ea"/>
                <a:cs typeface="+mn-cs"/>
              </a:rPr>
              <a:t>checklists/supply lists and other documents which may need finalising include:</a:t>
            </a:r>
          </a:p>
          <a:p>
            <a:pPr>
              <a:buFont typeface="Arial" pitchFamily="34" charset="0"/>
              <a:buChar char="•"/>
            </a:pPr>
            <a:r>
              <a:rPr lang="en-AU" sz="1200" kern="1200" dirty="0" smtClean="0">
                <a:solidFill>
                  <a:schemeClr val="tx1"/>
                </a:solidFill>
                <a:ea typeface="+mn-ea"/>
                <a:cs typeface="+mn-cs"/>
              </a:rPr>
              <a:t>Loading sheets – these are the primary documents</a:t>
            </a:r>
          </a:p>
          <a:p>
            <a:pPr>
              <a:buFont typeface="Arial" pitchFamily="34" charset="0"/>
              <a:buChar char="•"/>
            </a:pPr>
            <a:r>
              <a:rPr lang="en-AU" sz="1200" kern="1200" dirty="0" smtClean="0">
                <a:solidFill>
                  <a:schemeClr val="tx1"/>
                </a:solidFill>
                <a:ea typeface="+mn-ea"/>
                <a:cs typeface="+mn-cs"/>
              </a:rPr>
              <a:t>Requisition sheets</a:t>
            </a:r>
          </a:p>
          <a:p>
            <a:pPr>
              <a:buFont typeface="Arial" pitchFamily="34" charset="0"/>
              <a:buChar char="•"/>
            </a:pPr>
            <a:r>
              <a:rPr lang="en-AU" sz="1200" kern="1200" dirty="0" smtClean="0">
                <a:solidFill>
                  <a:schemeClr val="tx1"/>
                </a:solidFill>
                <a:ea typeface="+mn-ea"/>
                <a:cs typeface="+mn-cs"/>
              </a:rPr>
              <a:t>Internal stock transfer sheets</a:t>
            </a:r>
          </a:p>
          <a:p>
            <a:pPr>
              <a:buFont typeface="Arial" pitchFamily="34" charset="0"/>
              <a:buChar char="•"/>
            </a:pPr>
            <a:r>
              <a:rPr lang="en-AU" sz="1200" kern="1200" dirty="0" smtClean="0">
                <a:solidFill>
                  <a:schemeClr val="tx1"/>
                </a:solidFill>
                <a:ea typeface="+mn-ea"/>
                <a:cs typeface="+mn-cs"/>
              </a:rPr>
              <a:t>Passenger sheets/manifests </a:t>
            </a:r>
          </a:p>
          <a:p>
            <a:pPr>
              <a:buFont typeface="Arial" pitchFamily="34" charset="0"/>
              <a:buChar char="•"/>
            </a:pPr>
            <a:r>
              <a:rPr lang="en-AU" sz="1200" kern="1200" dirty="0" smtClean="0">
                <a:solidFill>
                  <a:schemeClr val="tx1"/>
                </a:solidFill>
                <a:ea typeface="+mn-ea"/>
                <a:cs typeface="+mn-cs"/>
              </a:rPr>
              <a:t>Supply </a:t>
            </a:r>
            <a:r>
              <a:rPr lang="en-AU" sz="1200" kern="1200" dirty="0" smtClean="0">
                <a:solidFill>
                  <a:schemeClr val="tx1"/>
                </a:solidFill>
                <a:ea typeface="+mn-ea"/>
                <a:cs typeface="+mn-cs"/>
              </a:rPr>
              <a:t>lists.</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documents identified on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identifying </a:t>
            </a:r>
            <a:r>
              <a:rPr lang="en-AU" sz="1200" kern="1200" dirty="0" smtClean="0">
                <a:solidFill>
                  <a:schemeClr val="tx1"/>
                </a:solidFill>
                <a:ea typeface="+mn-ea"/>
                <a:cs typeface="+mn-cs"/>
              </a:rPr>
              <a:t>checklists/supply lists and other documents which may need finalising include:</a:t>
            </a:r>
          </a:p>
          <a:p>
            <a:pPr>
              <a:buFont typeface="Arial" pitchFamily="34" charset="0"/>
              <a:buChar char="•"/>
            </a:pPr>
            <a:r>
              <a:rPr lang="en-AU" sz="1200" kern="1200" dirty="0" smtClean="0">
                <a:solidFill>
                  <a:schemeClr val="tx1"/>
                </a:solidFill>
                <a:ea typeface="+mn-ea"/>
                <a:cs typeface="+mn-cs"/>
              </a:rPr>
              <a:t>Inspection checklists</a:t>
            </a:r>
          </a:p>
          <a:p>
            <a:pPr>
              <a:buFont typeface="Arial" pitchFamily="34" charset="0"/>
              <a:buChar char="•"/>
            </a:pPr>
            <a:r>
              <a:rPr lang="en-AU" sz="1200" kern="1200" dirty="0" smtClean="0">
                <a:solidFill>
                  <a:schemeClr val="tx1"/>
                </a:solidFill>
                <a:ea typeface="+mn-ea"/>
                <a:cs typeface="+mn-cs"/>
              </a:rPr>
              <a:t>Internal advice sheets</a:t>
            </a:r>
          </a:p>
          <a:p>
            <a:pPr>
              <a:buFont typeface="Arial" pitchFamily="34" charset="0"/>
              <a:buChar char="•"/>
            </a:pPr>
            <a:r>
              <a:rPr lang="en-AU" sz="1200" kern="1200" dirty="0" smtClean="0">
                <a:solidFill>
                  <a:schemeClr val="tx1"/>
                </a:solidFill>
                <a:ea typeface="+mn-ea"/>
                <a:cs typeface="+mn-cs"/>
              </a:rPr>
              <a:t>Catering advice sheets</a:t>
            </a:r>
          </a:p>
          <a:p>
            <a:pPr>
              <a:buFont typeface="Arial" pitchFamily="34" charset="0"/>
              <a:buChar char="•"/>
            </a:pPr>
            <a:r>
              <a:rPr lang="en-AU" sz="1200" kern="1200" dirty="0" smtClean="0">
                <a:solidFill>
                  <a:schemeClr val="tx1"/>
                </a:solidFill>
                <a:ea typeface="+mn-ea"/>
                <a:cs typeface="+mn-cs"/>
              </a:rPr>
              <a:t>One-off notifications from management:</a:t>
            </a:r>
          </a:p>
          <a:p>
            <a:pPr lvl="1">
              <a:buFont typeface="Arial" pitchFamily="34" charset="0"/>
              <a:buChar char="•"/>
            </a:pPr>
            <a:r>
              <a:rPr lang="en-AU" sz="1200" kern="1200" dirty="0" smtClean="0">
                <a:solidFill>
                  <a:schemeClr val="tx1"/>
                </a:solidFill>
                <a:ea typeface="+mn-ea"/>
                <a:cs typeface="+mn-cs"/>
              </a:rPr>
              <a:t>Authorising extra allocation of physical resources</a:t>
            </a:r>
          </a:p>
          <a:p>
            <a:pPr lvl="1">
              <a:buFont typeface="Arial" pitchFamily="34" charset="0"/>
              <a:buChar char="•"/>
            </a:pPr>
            <a:r>
              <a:rPr lang="en-AU" sz="1200" kern="1200" dirty="0" smtClean="0">
                <a:solidFill>
                  <a:schemeClr val="tx1"/>
                </a:solidFill>
                <a:ea typeface="+mn-ea"/>
                <a:cs typeface="+mn-cs"/>
              </a:rPr>
              <a:t>Allowing more funding to be granted </a:t>
            </a:r>
          </a:p>
          <a:p>
            <a:pPr lvl="1">
              <a:buFont typeface="Arial" pitchFamily="34" charset="0"/>
              <a:buChar char="•"/>
            </a:pPr>
            <a:r>
              <a:rPr lang="en-AU" sz="1200" kern="1200" dirty="0" smtClean="0">
                <a:solidFill>
                  <a:schemeClr val="tx1"/>
                </a:solidFill>
                <a:ea typeface="+mn-ea"/>
                <a:cs typeface="+mn-cs"/>
              </a:rPr>
              <a:t>Noting agreed changes to SOPs.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documents identified on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also states there </a:t>
            </a:r>
            <a:r>
              <a:rPr lang="en-AU" sz="1200" kern="1200" dirty="0" smtClean="0">
                <a:solidFill>
                  <a:schemeClr val="tx1"/>
                </a:solidFill>
                <a:ea typeface="+mn-ea"/>
                <a:cs typeface="+mn-cs"/>
              </a:rPr>
              <a:t>can also be a need to:</a:t>
            </a:r>
          </a:p>
          <a:p>
            <a:pPr>
              <a:buFont typeface="Arial" pitchFamily="34" charset="0"/>
              <a:buChar char="•"/>
            </a:pPr>
            <a:r>
              <a:rPr lang="en-AU" sz="1200" kern="1200" dirty="0" smtClean="0">
                <a:solidFill>
                  <a:schemeClr val="tx1"/>
                </a:solidFill>
                <a:ea typeface="+mn-ea"/>
                <a:cs typeface="+mn-cs"/>
              </a:rPr>
              <a:t>Update databases</a:t>
            </a:r>
          </a:p>
          <a:p>
            <a:pPr>
              <a:buFont typeface="Arial" pitchFamily="34" charset="0"/>
              <a:buChar char="•"/>
            </a:pPr>
            <a:r>
              <a:rPr lang="en-AU" sz="1200" kern="1200" dirty="0" smtClean="0">
                <a:solidFill>
                  <a:schemeClr val="tx1"/>
                </a:solidFill>
                <a:ea typeface="+mn-ea"/>
                <a:cs typeface="+mn-cs"/>
              </a:rPr>
              <a:t>Complete relevant/required fields</a:t>
            </a:r>
          </a:p>
          <a:p>
            <a:pPr>
              <a:buFont typeface="Arial" pitchFamily="34" charset="0"/>
              <a:buChar char="•"/>
            </a:pPr>
            <a:r>
              <a:rPr lang="en-AU" sz="1200" kern="1200" dirty="0" smtClean="0">
                <a:solidFill>
                  <a:schemeClr val="tx1"/>
                </a:solidFill>
                <a:ea typeface="+mn-ea"/>
                <a:cs typeface="+mn-cs"/>
              </a:rPr>
              <a:t>Perform nominated data entry procedures.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indicates it </a:t>
            </a:r>
            <a:r>
              <a:rPr lang="en-AU" sz="1200" kern="1200" dirty="0" smtClean="0">
                <a:solidFill>
                  <a:schemeClr val="tx1"/>
                </a:solidFill>
                <a:ea typeface="+mn-ea"/>
                <a:cs typeface="+mn-cs"/>
              </a:rPr>
              <a:t>is important to understand every operator will have their own unique protocols for completing internal paperwork and checklists which means:</a:t>
            </a:r>
          </a:p>
          <a:p>
            <a:pPr>
              <a:buFont typeface="Arial" pitchFamily="34" charset="0"/>
              <a:buChar char="•"/>
            </a:pPr>
            <a:r>
              <a:rPr lang="en-AU" sz="1200" kern="1200" dirty="0" smtClean="0">
                <a:solidFill>
                  <a:schemeClr val="tx1"/>
                </a:solidFill>
                <a:ea typeface="+mn-ea"/>
                <a:cs typeface="+mn-cs"/>
              </a:rPr>
              <a:t>In some cases for certain businesses (or trips/tours) some of the steps identified below will have been undertaken as part of other activities – as already described in earlier notes</a:t>
            </a:r>
          </a:p>
          <a:p>
            <a:pPr>
              <a:buFont typeface="Arial" pitchFamily="34" charset="0"/>
              <a:buChar char="•"/>
            </a:pPr>
            <a:r>
              <a:rPr lang="en-AU" sz="1200" kern="1200" dirty="0" smtClean="0">
                <a:solidFill>
                  <a:schemeClr val="tx1"/>
                </a:solidFill>
                <a:ea typeface="+mn-ea"/>
                <a:cs typeface="+mn-cs"/>
              </a:rPr>
              <a:t>In other cases for other businesses (or trips/tours) some of the steps listed below will take place as a separate activity after all other tasks have been finished – often because:</a:t>
            </a:r>
          </a:p>
          <a:p>
            <a:pPr lvl="1">
              <a:buFont typeface="Arial" pitchFamily="34" charset="0"/>
              <a:buChar char="•"/>
            </a:pPr>
            <a:r>
              <a:rPr lang="en-US" sz="1200" kern="1200" dirty="0" smtClean="0">
                <a:solidFill>
                  <a:schemeClr val="tx1"/>
                </a:solidFill>
                <a:ea typeface="+mn-ea"/>
                <a:cs typeface="+mn-cs"/>
              </a:rPr>
              <a:t>There was insufficient time available to do so at the time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There was insufficient information to make the correct decision about how completion of the document should occur.</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a:t>
            </a:r>
            <a:r>
              <a:rPr lang="en-US" baseline="0" noProof="0" dirty="0" smtClean="0"/>
              <a:t> </a:t>
            </a:r>
            <a:r>
              <a:rPr lang="en-AU" sz="1200" b="0" kern="1200" dirty="0" smtClean="0">
                <a:solidFill>
                  <a:schemeClr val="tx1"/>
                </a:solidFill>
                <a:ea typeface="+mn-ea"/>
                <a:cs typeface="+mn-cs"/>
              </a:rPr>
              <a:t>tasks which may need to be undertaken can include:</a:t>
            </a:r>
            <a:endParaRPr lang="en-AU" sz="1200" b="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Obtaining signatures from tour guides and tour leaders – to acknowledge receipt of the equipment and supplies</a:t>
            </a:r>
          </a:p>
          <a:p>
            <a:pPr>
              <a:buFont typeface="Arial" pitchFamily="34" charset="0"/>
              <a:buChar char="•"/>
            </a:pPr>
            <a:r>
              <a:rPr lang="en-AU" sz="1200" kern="1200" dirty="0" smtClean="0">
                <a:solidFill>
                  <a:schemeClr val="tx1"/>
                </a:solidFill>
                <a:ea typeface="+mn-ea"/>
                <a:cs typeface="+mn-cs"/>
              </a:rPr>
              <a:t>Photocopying loading sheets – so one copy per staff member can be distributed at the pre-tour briefing to tour guides, leaders, drivers</a:t>
            </a:r>
          </a:p>
          <a:p>
            <a:pPr>
              <a:buFont typeface="Arial" pitchFamily="34" charset="0"/>
              <a:buChar char="•"/>
            </a:pPr>
            <a:r>
              <a:rPr lang="en-AU" sz="1200" kern="1200" dirty="0" smtClean="0">
                <a:solidFill>
                  <a:schemeClr val="tx1"/>
                </a:solidFill>
                <a:ea typeface="+mn-ea"/>
                <a:cs typeface="+mn-cs"/>
              </a:rPr>
              <a:t>Dating and adding specific tour group information to the sheets – as specific to each trip/tour</a:t>
            </a:r>
          </a:p>
          <a:p>
            <a:pPr>
              <a:buFont typeface="Arial" pitchFamily="34" charset="0"/>
              <a:buChar char="•"/>
            </a:pPr>
            <a:r>
              <a:rPr lang="en-AU" sz="1200" kern="1200" dirty="0" smtClean="0">
                <a:solidFill>
                  <a:schemeClr val="tx1"/>
                </a:solidFill>
                <a:ea typeface="+mn-ea"/>
                <a:cs typeface="+mn-cs"/>
              </a:rPr>
              <a:t>Adding missing facts and figures – not previously </a:t>
            </a:r>
            <a:r>
              <a:rPr lang="en-AU" sz="1200" kern="1200" dirty="0" smtClean="0">
                <a:solidFill>
                  <a:schemeClr val="tx1"/>
                </a:solidFill>
                <a:ea typeface="+mn-ea"/>
                <a:cs typeface="+mn-cs"/>
              </a:rPr>
              <a:t>provided/identified.</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identifies</a:t>
            </a:r>
            <a:r>
              <a:rPr lang="en-US" baseline="0" noProof="0" dirty="0" smtClean="0"/>
              <a:t> </a:t>
            </a:r>
            <a:r>
              <a:rPr lang="en-AU" sz="1200" b="0" kern="1200" dirty="0" smtClean="0">
                <a:solidFill>
                  <a:schemeClr val="tx1"/>
                </a:solidFill>
                <a:ea typeface="+mn-ea"/>
                <a:cs typeface="+mn-cs"/>
              </a:rPr>
              <a:t>tasks which may need to be undertaken can include:</a:t>
            </a:r>
          </a:p>
          <a:p>
            <a:pPr>
              <a:buFont typeface="Arial" pitchFamily="34" charset="0"/>
              <a:buChar char="•"/>
            </a:pPr>
            <a:r>
              <a:rPr lang="en-AU" sz="1200" kern="1200" dirty="0" smtClean="0">
                <a:solidFill>
                  <a:schemeClr val="tx1"/>
                </a:solidFill>
                <a:ea typeface="+mn-ea"/>
                <a:cs typeface="+mn-cs"/>
              </a:rPr>
              <a:t>Entering cost prices of items – from a nominated source, catalogue, internal database or invoice</a:t>
            </a:r>
          </a:p>
          <a:p>
            <a:pPr>
              <a:buFont typeface="Arial" pitchFamily="34" charset="0"/>
              <a:buChar char="•"/>
            </a:pPr>
            <a:r>
              <a:rPr lang="en-AU" sz="1200" kern="1200" dirty="0" smtClean="0">
                <a:solidFill>
                  <a:schemeClr val="tx1"/>
                </a:solidFill>
                <a:ea typeface="+mn-ea"/>
                <a:cs typeface="+mn-cs"/>
              </a:rPr>
              <a:t>Performing basic arithmetic calculations – such as:</a:t>
            </a:r>
          </a:p>
          <a:p>
            <a:pPr lvl="1">
              <a:buFont typeface="Arial" pitchFamily="34" charset="0"/>
              <a:buChar char="•"/>
            </a:pPr>
            <a:r>
              <a:rPr lang="en-US" sz="1200" kern="1200" dirty="0" smtClean="0">
                <a:solidFill>
                  <a:schemeClr val="tx1"/>
                </a:solidFill>
                <a:ea typeface="+mn-ea"/>
                <a:cs typeface="+mn-cs"/>
              </a:rPr>
              <a:t>Extensions – by multiplying numbers provided by cost prices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Totalling various items/columns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Forwarding completed documents – for further internal processing</a:t>
            </a:r>
          </a:p>
          <a:p>
            <a:pPr>
              <a:buFont typeface="Arial" pitchFamily="34" charset="0"/>
              <a:buChar char="•"/>
            </a:pPr>
            <a:r>
              <a:rPr lang="en-AU" sz="1200" kern="1200" dirty="0" smtClean="0">
                <a:solidFill>
                  <a:schemeClr val="tx1"/>
                </a:solidFill>
                <a:ea typeface="+mn-ea"/>
                <a:cs typeface="+mn-cs"/>
              </a:rPr>
              <a:t>Filing – for future reference.</a:t>
            </a:r>
          </a:p>
          <a:p>
            <a:endParaRPr lang="en-AU" sz="1200" b="1"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smtClean="0"/>
              <a:t>Trainer notes documents </a:t>
            </a:r>
            <a:r>
              <a:rPr lang="en-AU" sz="1200" kern="1200" dirty="0" smtClean="0">
                <a:solidFill>
                  <a:schemeClr val="tx1"/>
                </a:solidFill>
                <a:ea typeface="+mn-ea"/>
                <a:cs typeface="+mn-cs"/>
              </a:rPr>
              <a:t>which may need to be provided will need to reflect the needs and nature of the individual trip/tour and may involve:</a:t>
            </a:r>
          </a:p>
          <a:p>
            <a:pPr>
              <a:buFont typeface="Arial" pitchFamily="34" charset="0"/>
              <a:buChar char="•"/>
            </a:pPr>
            <a:r>
              <a:rPr lang="en-AU" sz="1200" kern="1200" dirty="0" smtClean="0">
                <a:solidFill>
                  <a:schemeClr val="tx1"/>
                </a:solidFill>
                <a:ea typeface="+mn-ea"/>
                <a:cs typeface="+mn-cs"/>
              </a:rPr>
              <a:t>Loading sheets</a:t>
            </a:r>
          </a:p>
          <a:p>
            <a:pPr>
              <a:buFont typeface="Arial" pitchFamily="34" charset="0"/>
              <a:buChar char="•"/>
            </a:pPr>
            <a:r>
              <a:rPr lang="en-AU" sz="1200" kern="1200" dirty="0" smtClean="0">
                <a:solidFill>
                  <a:schemeClr val="tx1"/>
                </a:solidFill>
                <a:ea typeface="+mn-ea"/>
                <a:cs typeface="+mn-cs"/>
              </a:rPr>
              <a:t>Manufacturer’s instructions – as appropriate for equipment loaded</a:t>
            </a:r>
          </a:p>
          <a:p>
            <a:pPr>
              <a:buFont typeface="Arial" pitchFamily="34" charset="0"/>
              <a:buChar char="•"/>
            </a:pPr>
            <a:r>
              <a:rPr lang="en-AU" sz="1200" kern="1200" dirty="0" smtClean="0">
                <a:solidFill>
                  <a:schemeClr val="tx1"/>
                </a:solidFill>
                <a:ea typeface="+mn-ea"/>
                <a:cs typeface="+mn-cs"/>
              </a:rPr>
              <a:t>Repair manuals – for vehicles and equipment</a:t>
            </a:r>
          </a:p>
          <a:p>
            <a:pPr>
              <a:buFont typeface="Arial" pitchFamily="34" charset="0"/>
              <a:buChar char="•"/>
            </a:pPr>
            <a:r>
              <a:rPr lang="en-AU" sz="1200" kern="1200" dirty="0" smtClean="0">
                <a:solidFill>
                  <a:schemeClr val="tx1"/>
                </a:solidFill>
                <a:ea typeface="+mn-ea"/>
                <a:cs typeface="+mn-cs"/>
              </a:rPr>
              <a:t>Warranties and guarantees – relating to new items purchased and provided for the tour so staff can use/rely on these if there is breakdown/problem</a:t>
            </a:r>
          </a:p>
          <a:p>
            <a:pPr>
              <a:buFont typeface="Arial" pitchFamily="34" charset="0"/>
              <a:buChar char="•"/>
            </a:pPr>
            <a:r>
              <a:rPr lang="en-AU" sz="1200" kern="1200" dirty="0" smtClean="0">
                <a:solidFill>
                  <a:schemeClr val="tx1"/>
                </a:solidFill>
                <a:ea typeface="+mn-ea"/>
                <a:cs typeface="+mn-cs"/>
              </a:rPr>
              <a:t>Copies of standard operating procedures – for reference purposes to guide on-tour actions and responses to certain situations by </a:t>
            </a:r>
            <a:r>
              <a:rPr lang="en-AU" sz="1200" kern="1200" dirty="0" smtClean="0">
                <a:solidFill>
                  <a:schemeClr val="tx1"/>
                </a:solidFill>
                <a:ea typeface="+mn-ea"/>
                <a:cs typeface="+mn-cs"/>
              </a:rPr>
              <a:t>staff.</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documentation as identified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documents which may need to be provided:</a:t>
            </a:r>
          </a:p>
          <a:p>
            <a:pPr>
              <a:buFont typeface="Arial" pitchFamily="34" charset="0"/>
              <a:buChar char="•"/>
            </a:pPr>
            <a:r>
              <a:rPr lang="en-AU" sz="1200" kern="1200" dirty="0" smtClean="0">
                <a:solidFill>
                  <a:schemeClr val="tx1"/>
                </a:solidFill>
                <a:ea typeface="+mn-ea"/>
                <a:cs typeface="+mn-cs"/>
              </a:rPr>
              <a:t>Standard (and/or modified as required for the individual trip/tour) response plans – for reference as/if needed:</a:t>
            </a:r>
          </a:p>
          <a:p>
            <a:pPr>
              <a:buFont typeface="Arial" pitchFamily="34" charset="0"/>
              <a:buChar char="•"/>
            </a:pPr>
            <a:r>
              <a:rPr lang="en-US" sz="1200" kern="1200" dirty="0" smtClean="0">
                <a:solidFill>
                  <a:schemeClr val="tx1"/>
                </a:solidFill>
                <a:ea typeface="+mn-ea"/>
                <a:cs typeface="+mn-cs"/>
              </a:rPr>
              <a:t>Contingency plans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Emergency Management Plans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Itineraries – including:</a:t>
            </a:r>
          </a:p>
          <a:p>
            <a:pPr lvl="1">
              <a:buFont typeface="Arial" pitchFamily="34" charset="0"/>
              <a:buChar char="•"/>
            </a:pPr>
            <a:r>
              <a:rPr lang="en-US" sz="1200" kern="1200" dirty="0" smtClean="0">
                <a:solidFill>
                  <a:schemeClr val="tx1"/>
                </a:solidFill>
                <a:ea typeface="+mn-ea"/>
                <a:cs typeface="+mn-cs"/>
              </a:rPr>
              <a:t>Tour itinerary as provided to tour group – so staff are fully aware of what participants have been told about the trip/tour and know what they expect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Operational itinerary – as described previously</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Maps – for the regions, areas and countries to be visited</a:t>
            </a:r>
          </a:p>
          <a:p>
            <a:pPr>
              <a:buFont typeface="Arial" pitchFamily="34" charset="0"/>
              <a:buChar char="•"/>
            </a:pPr>
            <a:r>
              <a:rPr lang="en-AU" sz="1200" kern="1200" dirty="0" smtClean="0">
                <a:solidFill>
                  <a:schemeClr val="tx1"/>
                </a:solidFill>
                <a:ea typeface="+mn-ea"/>
                <a:cs typeface="+mn-cs"/>
              </a:rPr>
              <a:t>Passenger lists – detailing names and details of tour group party: this is not applicable to all </a:t>
            </a:r>
            <a:r>
              <a:rPr lang="en-AU" sz="1200" kern="1200" dirty="0" smtClean="0">
                <a:solidFill>
                  <a:schemeClr val="tx1"/>
                </a:solidFill>
                <a:ea typeface="+mn-ea"/>
                <a:cs typeface="+mn-cs"/>
              </a:rPr>
              <a:t>tours.</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documentation as identified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identifying documents which may need to be provided:</a:t>
            </a:r>
          </a:p>
          <a:p>
            <a:pPr>
              <a:buFont typeface="Arial" pitchFamily="34" charset="0"/>
              <a:buChar char="•"/>
            </a:pPr>
            <a:r>
              <a:rPr lang="en-AU" sz="1200" kern="1200" dirty="0" smtClean="0">
                <a:solidFill>
                  <a:schemeClr val="tx1"/>
                </a:solidFill>
                <a:ea typeface="+mn-ea"/>
                <a:cs typeface="+mn-cs"/>
              </a:rPr>
              <a:t>Rooming lists – where overnight accommodation has been arranged/booked</a:t>
            </a:r>
          </a:p>
          <a:p>
            <a:pPr>
              <a:buFont typeface="Arial" pitchFamily="34" charset="0"/>
              <a:buChar char="•"/>
            </a:pPr>
            <a:r>
              <a:rPr lang="en-AU" sz="1200" kern="1200" dirty="0" smtClean="0">
                <a:solidFill>
                  <a:schemeClr val="tx1"/>
                </a:solidFill>
                <a:ea typeface="+mn-ea"/>
                <a:cs typeface="+mn-cs"/>
              </a:rPr>
              <a:t>Passenger profiles – to give tour staff context for the trip/tour and indicate what they might expect from participants</a:t>
            </a:r>
          </a:p>
          <a:p>
            <a:pPr>
              <a:buFont typeface="Arial" pitchFamily="34" charset="0"/>
              <a:buChar char="•"/>
            </a:pPr>
            <a:r>
              <a:rPr lang="en-AU" sz="1200" kern="1200" dirty="0" smtClean="0">
                <a:solidFill>
                  <a:schemeClr val="tx1"/>
                </a:solidFill>
                <a:ea typeface="+mn-ea"/>
                <a:cs typeface="+mn-cs"/>
              </a:rPr>
              <a:t>Details of special requests – in term of:</a:t>
            </a:r>
          </a:p>
          <a:p>
            <a:pPr lvl="1">
              <a:buFont typeface="Arial" pitchFamily="34" charset="0"/>
              <a:buChar char="•"/>
            </a:pPr>
            <a:r>
              <a:rPr lang="en-US" sz="1200" kern="1200" dirty="0" smtClean="0">
                <a:solidFill>
                  <a:schemeClr val="tx1"/>
                </a:solidFill>
                <a:ea typeface="+mn-ea"/>
                <a:cs typeface="+mn-cs"/>
              </a:rPr>
              <a:t>Contracted requests – which </a:t>
            </a:r>
            <a:r>
              <a:rPr lang="en-US" sz="1200" b="1" kern="1200" dirty="0" smtClean="0">
                <a:solidFill>
                  <a:schemeClr val="tx1"/>
                </a:solidFill>
                <a:ea typeface="+mn-ea"/>
                <a:cs typeface="+mn-cs"/>
              </a:rPr>
              <a:t>must</a:t>
            </a:r>
            <a:r>
              <a:rPr lang="en-US" sz="1200" kern="1200" dirty="0" smtClean="0">
                <a:solidFill>
                  <a:schemeClr val="tx1"/>
                </a:solidFill>
                <a:ea typeface="+mn-ea"/>
                <a:cs typeface="+mn-cs"/>
              </a:rPr>
              <a:t> be met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Refused requests – which were asked for but customers have been told these requests </a:t>
            </a:r>
            <a:r>
              <a:rPr lang="en-US" sz="1200" b="1" kern="1200" dirty="0" smtClean="0">
                <a:solidFill>
                  <a:schemeClr val="tx1"/>
                </a:solidFill>
                <a:ea typeface="+mn-ea"/>
                <a:cs typeface="+mn-cs"/>
              </a:rPr>
              <a:t>cannot</a:t>
            </a:r>
            <a:r>
              <a:rPr lang="en-US" sz="1200" kern="1200" dirty="0" smtClean="0">
                <a:solidFill>
                  <a:schemeClr val="tx1"/>
                </a:solidFill>
                <a:ea typeface="+mn-ea"/>
                <a:cs typeface="+mn-cs"/>
              </a:rPr>
              <a:t> be met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Communicating known information about special requests which have been raised by members of the tour group</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Handout material – this can include:</a:t>
            </a:r>
          </a:p>
          <a:p>
            <a:pPr lvl="1">
              <a:buFont typeface="Arial" pitchFamily="34" charset="0"/>
              <a:buChar char="•"/>
            </a:pPr>
            <a:r>
              <a:rPr lang="en-US" sz="1200" kern="1200" dirty="0" smtClean="0">
                <a:solidFill>
                  <a:schemeClr val="tx1"/>
                </a:solidFill>
                <a:ea typeface="+mn-ea"/>
                <a:cs typeface="+mn-cs"/>
              </a:rPr>
              <a:t>Leaflets/information for distribution at nominated locations, sites and interpretive activities; General safety information; Tour information kits; Tour maps; Merchandise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Tour brief – which may comprise sub-sets of a variety of information as appropriate to the nature and destinations for the trip/tour such as:</a:t>
            </a:r>
          </a:p>
          <a:p>
            <a:pPr lvl="1">
              <a:buFont typeface="Arial" pitchFamily="34" charset="0"/>
              <a:buChar char="•"/>
            </a:pPr>
            <a:r>
              <a:rPr lang="en-US" sz="1200" kern="1200" dirty="0" smtClean="0">
                <a:solidFill>
                  <a:schemeClr val="tx1"/>
                </a:solidFill>
                <a:ea typeface="+mn-ea"/>
                <a:cs typeface="+mn-cs"/>
              </a:rPr>
              <a:t>Safety updates; Terrorist alerts; Weather conditions; Road conditions; Updates/alerts received from carriers and/or third party providers; Advice about known and/or possible impediments to the planned or standard conduct/operation of the trip/tour</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Catering information – which can include:</a:t>
            </a:r>
          </a:p>
          <a:p>
            <a:pPr lvl="1">
              <a:buFont typeface="Arial" pitchFamily="34" charset="0"/>
              <a:buChar char="•"/>
            </a:pPr>
            <a:r>
              <a:rPr lang="en-US" sz="1200" kern="1200" dirty="0" smtClean="0">
                <a:solidFill>
                  <a:schemeClr val="tx1"/>
                </a:solidFill>
                <a:ea typeface="+mn-ea"/>
                <a:cs typeface="+mn-cs"/>
              </a:rPr>
              <a:t>Meal schedules; Standard recipes; Food safety protocols.</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documentation as identified on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a:t>
            </a:r>
            <a:r>
              <a:rPr lang="en-US" sz="1200" kern="1200" dirty="0" smtClean="0">
                <a:solidFill>
                  <a:schemeClr val="tx1"/>
                </a:solidFill>
                <a:ea typeface="+mn-ea"/>
                <a:cs typeface="+mn-cs"/>
              </a:rPr>
              <a:t>practices for distributing documentation will vary between operators depending on nature of the trip/tour and can involve: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Posting of relevant details on staff notice board</a:t>
            </a:r>
          </a:p>
          <a:p>
            <a:pPr>
              <a:buFont typeface="Arial" pitchFamily="34" charset="0"/>
              <a:buChar char="•"/>
            </a:pPr>
            <a:r>
              <a:rPr lang="en-AU" sz="1200" kern="1200" dirty="0" smtClean="0">
                <a:solidFill>
                  <a:schemeClr val="tx1"/>
                </a:solidFill>
                <a:ea typeface="+mn-ea"/>
                <a:cs typeface="+mn-cs"/>
              </a:rPr>
              <a:t>Electronic communication of relevant details to tour staff – in terms of using:</a:t>
            </a:r>
          </a:p>
          <a:p>
            <a:pPr lvl="1">
              <a:buFont typeface="Arial" pitchFamily="34" charset="0"/>
              <a:buChar char="•"/>
            </a:pPr>
            <a:r>
              <a:rPr lang="en-US" sz="1200" kern="1200" dirty="0" smtClean="0">
                <a:solidFill>
                  <a:schemeClr val="tx1"/>
                </a:solidFill>
                <a:ea typeface="+mn-ea"/>
                <a:cs typeface="+mn-cs"/>
              </a:rPr>
              <a:t>Emails; Text messages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Face-to-face meetings – known as ‘pre-departure briefings’ these:</a:t>
            </a:r>
          </a:p>
          <a:p>
            <a:pPr lvl="1">
              <a:buFont typeface="Arial" pitchFamily="34" charset="0"/>
              <a:buChar char="•"/>
            </a:pPr>
            <a:r>
              <a:rPr lang="en-US" sz="1200" kern="1200" dirty="0" smtClean="0">
                <a:solidFill>
                  <a:schemeClr val="tx1"/>
                </a:solidFill>
                <a:ea typeface="+mn-ea"/>
                <a:cs typeface="+mn-cs"/>
              </a:rPr>
              <a:t>Can vary significantly in length from a couple of minutes for short trips/tours to </a:t>
            </a:r>
            <a:r>
              <a:rPr lang="en-US" sz="1200" i="1" kern="1200" dirty="0" smtClean="0">
                <a:solidFill>
                  <a:schemeClr val="tx1"/>
                </a:solidFill>
                <a:ea typeface="+mn-ea"/>
                <a:cs typeface="+mn-cs"/>
              </a:rPr>
              <a:t>several hours</a:t>
            </a:r>
            <a:r>
              <a:rPr lang="en-US" sz="1200" kern="1200" dirty="0" smtClean="0">
                <a:solidFill>
                  <a:schemeClr val="tx1"/>
                </a:solidFill>
                <a:ea typeface="+mn-ea"/>
                <a:cs typeface="+mn-cs"/>
              </a:rPr>
              <a:t> for longer direction events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May incorporate other activities – such as last-minute training, vehicle inspection and familiarisation, checking and verification of the loading sheets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Always include a Q&amp;A session where tour staff are encouraged to raise any issues of concern to them regarding the upcoming trip/tour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Incorporate hand-over of (and where necessary, signing for) items – such as: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Vehicle keys; Money and non-cash payment documentation; Merchandise; Cell phones; Portable </a:t>
            </a:r>
            <a:r>
              <a:rPr lang="en-US" sz="1200" kern="1200" dirty="0" smtClean="0">
                <a:solidFill>
                  <a:schemeClr val="tx1"/>
                </a:solidFill>
                <a:ea typeface="+mn-ea"/>
                <a:cs typeface="+mn-cs"/>
              </a:rPr>
              <a:t>radios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Distribution of hard copy materials – and there may also be reference to where/how these can also be sourced electronically if needed while on tour.</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in </a:t>
            </a:r>
            <a:r>
              <a:rPr lang="en-AU" sz="1200" kern="1200" dirty="0" smtClean="0">
                <a:solidFill>
                  <a:schemeClr val="tx1"/>
                </a:solidFill>
                <a:ea typeface="+mn-ea"/>
                <a:cs typeface="+mn-cs"/>
              </a:rPr>
              <a:t>relation to this aspect of the job it is important to understand:</a:t>
            </a:r>
          </a:p>
          <a:p>
            <a:pPr>
              <a:buFont typeface="Arial" pitchFamily="34" charset="0"/>
              <a:buChar char="•"/>
            </a:pPr>
            <a:r>
              <a:rPr lang="en-AU" sz="1200" kern="1200" dirty="0" smtClean="0">
                <a:solidFill>
                  <a:schemeClr val="tx1"/>
                </a:solidFill>
                <a:ea typeface="+mn-ea"/>
                <a:cs typeface="+mn-cs"/>
              </a:rPr>
              <a:t>There is a non-negotiable need to honour any previously agreed arrangements – which may have been organised as part of the initial contact and subsequent negotiation process</a:t>
            </a:r>
          </a:p>
          <a:p>
            <a:pPr>
              <a:buFont typeface="Arial" pitchFamily="34" charset="0"/>
              <a:buChar char="•"/>
            </a:pPr>
            <a:r>
              <a:rPr lang="en-AU" sz="1200" kern="1200" dirty="0" smtClean="0">
                <a:solidFill>
                  <a:schemeClr val="tx1"/>
                </a:solidFill>
                <a:ea typeface="+mn-ea"/>
                <a:cs typeface="+mn-cs"/>
              </a:rPr>
              <a:t>There is often a need to make </a:t>
            </a:r>
            <a:r>
              <a:rPr lang="en-AU" sz="1200" i="1" kern="1200" dirty="0" smtClean="0">
                <a:solidFill>
                  <a:schemeClr val="tx1"/>
                </a:solidFill>
                <a:ea typeface="+mn-ea"/>
                <a:cs typeface="+mn-cs"/>
              </a:rPr>
              <a:t>‘immediate’</a:t>
            </a:r>
            <a:r>
              <a:rPr lang="en-AU" sz="1200" kern="1200" dirty="0" smtClean="0">
                <a:solidFill>
                  <a:schemeClr val="tx1"/>
                </a:solidFill>
                <a:ea typeface="+mn-ea"/>
                <a:cs typeface="+mn-cs"/>
              </a:rPr>
              <a:t> contact to make arrangements and place orders verbally – prior to the forwarding of supporting documentation (which may take an unacceptable amount of time to organise).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highlights in </a:t>
            </a:r>
            <a:r>
              <a:rPr lang="en-AU" sz="1200" kern="1200" dirty="0" smtClean="0">
                <a:solidFill>
                  <a:schemeClr val="tx1"/>
                </a:solidFill>
                <a:ea typeface="+mn-ea"/>
                <a:cs typeface="+mn-cs"/>
              </a:rPr>
              <a:t>order to ensure the required products and services are made available by external suppliers, authorities and/or communities there can be a need to:</a:t>
            </a:r>
          </a:p>
          <a:p>
            <a:pPr>
              <a:buFont typeface="Arial" pitchFamily="34" charset="0"/>
              <a:buChar char="•"/>
            </a:pPr>
            <a:r>
              <a:rPr lang="en-AU" sz="1200" kern="1200" dirty="0" smtClean="0">
                <a:solidFill>
                  <a:schemeClr val="tx1"/>
                </a:solidFill>
                <a:ea typeface="+mn-ea"/>
                <a:cs typeface="+mn-cs"/>
              </a:rPr>
              <a:t>Confirm contractual and arrangements and similar agreements which have been agreed to – which may required forwarding of a copy of these to the suppliers</a:t>
            </a:r>
          </a:p>
          <a:p>
            <a:pPr>
              <a:buFont typeface="Arial" pitchFamily="34" charset="0"/>
              <a:buChar char="•"/>
            </a:pPr>
            <a:r>
              <a:rPr lang="en-AU" sz="1200" kern="1200" dirty="0" smtClean="0">
                <a:solidFill>
                  <a:schemeClr val="tx1"/>
                </a:solidFill>
                <a:ea typeface="+mn-ea"/>
                <a:cs typeface="+mn-cs"/>
              </a:rPr>
              <a:t>Ensure correct Purchase Orders are raised – and appropriately signed to authorise purchases</a:t>
            </a:r>
          </a:p>
          <a:p>
            <a:pPr>
              <a:buFont typeface="Arial" pitchFamily="34" charset="0"/>
              <a:buChar char="•"/>
            </a:pPr>
            <a:r>
              <a:rPr lang="en-AU" sz="1200" kern="1200" dirty="0" smtClean="0">
                <a:solidFill>
                  <a:schemeClr val="tx1"/>
                </a:solidFill>
                <a:ea typeface="+mn-ea"/>
                <a:cs typeface="+mn-cs"/>
              </a:rPr>
              <a:t>Ensure properly prepared Purchased Orders are sent to the appropriate suppliers – they may be forwarded:</a:t>
            </a:r>
          </a:p>
          <a:p>
            <a:pPr lvl="1">
              <a:buFont typeface="Arial" pitchFamily="34" charset="0"/>
              <a:buChar char="•"/>
            </a:pPr>
            <a:r>
              <a:rPr lang="en-US" sz="1200" kern="1200" dirty="0" smtClean="0">
                <a:solidFill>
                  <a:schemeClr val="tx1"/>
                </a:solidFill>
                <a:ea typeface="+mn-ea"/>
                <a:cs typeface="+mn-cs"/>
              </a:rPr>
              <a:t>In hard copy form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Electronically – via email using an ‘Attachment’ for the </a:t>
            </a:r>
            <a:r>
              <a:rPr lang="en-US" sz="1200" kern="1200" dirty="0" smtClean="0">
                <a:solidFill>
                  <a:schemeClr val="tx1"/>
                </a:solidFill>
                <a:ea typeface="+mn-ea"/>
                <a:cs typeface="+mn-cs"/>
              </a:rPr>
              <a:t>PO.</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activities that may be required at this stage:</a:t>
            </a:r>
          </a:p>
          <a:p>
            <a:pPr>
              <a:buFont typeface="Arial" pitchFamily="34" charset="0"/>
              <a:buChar char="•"/>
            </a:pPr>
            <a:r>
              <a:rPr lang="en-AU" sz="1200" kern="1200" dirty="0" smtClean="0">
                <a:solidFill>
                  <a:schemeClr val="tx1"/>
                </a:solidFill>
                <a:ea typeface="+mn-ea"/>
                <a:cs typeface="+mn-cs"/>
              </a:rPr>
              <a:t>Complete an online PO as provided on the website of the provider:</a:t>
            </a:r>
          </a:p>
          <a:p>
            <a:pPr lvl="1">
              <a:buFont typeface="Arial" pitchFamily="34" charset="0"/>
              <a:buChar char="•"/>
            </a:pPr>
            <a:r>
              <a:rPr lang="en-US" sz="1200" kern="1200" dirty="0" smtClean="0">
                <a:solidFill>
                  <a:schemeClr val="tx1"/>
                </a:solidFill>
                <a:ea typeface="+mn-ea"/>
                <a:cs typeface="+mn-cs"/>
              </a:rPr>
              <a:t>Using pre-approved Passwords/User Codes if/as necessary to buy on credit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Paying online at the time of purchase using a debit/credit card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Confirming payment will be made when goods/services are received by the trip/tour group</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Provide additional information relevant to the actual purchase – as/if required, for example:</a:t>
            </a:r>
          </a:p>
          <a:p>
            <a:pPr lvl="1">
              <a:buFont typeface="Arial" pitchFamily="34" charset="0"/>
              <a:buChar char="•"/>
            </a:pPr>
            <a:r>
              <a:rPr lang="en-US" sz="1200" kern="1200" dirty="0" smtClean="0">
                <a:solidFill>
                  <a:schemeClr val="tx1"/>
                </a:solidFill>
                <a:ea typeface="+mn-ea"/>
                <a:cs typeface="+mn-cs"/>
              </a:rPr>
              <a:t>Sending final details and confirmation regarding numbers and names of tour group members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Providing room share arrangements to accommodation venues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Advising catering suppliers of special food/diet needs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Ensure required authorisations and permits have been finalised – which will often require:</a:t>
            </a:r>
          </a:p>
          <a:p>
            <a:pPr lvl="1">
              <a:buFont typeface="Arial" pitchFamily="34" charset="0"/>
              <a:buChar char="•"/>
            </a:pPr>
            <a:r>
              <a:rPr lang="en-US" sz="1200" kern="1200" dirty="0" smtClean="0">
                <a:solidFill>
                  <a:schemeClr val="tx1"/>
                </a:solidFill>
                <a:ea typeface="+mn-ea"/>
                <a:cs typeface="+mn-cs"/>
              </a:rPr>
              <a:t>Lodgement of a formal application on an official form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Provision of nominated details/information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Payment of a fee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Submit touring plans – where required to authorities and/or local communities in order to:</a:t>
            </a:r>
          </a:p>
          <a:p>
            <a:pPr lvl="1">
              <a:buFont typeface="Arial" pitchFamily="34" charset="0"/>
              <a:buChar char="•"/>
            </a:pPr>
            <a:r>
              <a:rPr lang="en-US" sz="1200" kern="1200" dirty="0" smtClean="0">
                <a:solidFill>
                  <a:schemeClr val="tx1"/>
                </a:solidFill>
                <a:ea typeface="+mn-ea"/>
                <a:cs typeface="+mn-cs"/>
              </a:rPr>
              <a:t>Advise them of upcoming movement/events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Seek permission/s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Show respect</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Meet agreed Codes of Practice/Conduct.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noProof="0" dirty="0" smtClean="0"/>
              <a:t>Trainer states depending </a:t>
            </a:r>
            <a:r>
              <a:rPr lang="en-AU" sz="1200" kern="1200" dirty="0" smtClean="0">
                <a:solidFill>
                  <a:schemeClr val="tx1"/>
                </a:solidFill>
                <a:ea typeface="+mn-ea"/>
                <a:cs typeface="+mn-cs"/>
              </a:rPr>
              <a:t>on the trip/tour there can be a need to finalise:</a:t>
            </a:r>
          </a:p>
          <a:p>
            <a:pPr>
              <a:buFont typeface="Arial" pitchFamily="34" charset="0"/>
              <a:buChar char="•"/>
            </a:pPr>
            <a:r>
              <a:rPr lang="en-AU" sz="1200" kern="1200" dirty="0" smtClean="0">
                <a:solidFill>
                  <a:schemeClr val="tx1"/>
                </a:solidFill>
                <a:ea typeface="+mn-ea"/>
                <a:cs typeface="+mn-cs"/>
              </a:rPr>
              <a:t>Permits – for:</a:t>
            </a:r>
          </a:p>
          <a:p>
            <a:pPr lvl="1">
              <a:buFont typeface="Arial" pitchFamily="34" charset="0"/>
              <a:buChar char="•"/>
            </a:pPr>
            <a:r>
              <a:rPr lang="en-US" sz="1200" kern="1200" dirty="0" smtClean="0">
                <a:solidFill>
                  <a:schemeClr val="tx1"/>
                </a:solidFill>
                <a:ea typeface="+mn-ea"/>
                <a:cs typeface="+mn-cs"/>
              </a:rPr>
              <a:t>Vehicle access; Entry to certain areas; Using nominated items; Legislated compliance purposes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Vouchers (also known as ‘coupons’) – for distribution to tour group members and tour staff so they can:</a:t>
            </a:r>
          </a:p>
          <a:p>
            <a:pPr lvl="1">
              <a:buFont typeface="Arial" pitchFamily="34" charset="0"/>
              <a:buChar char="•"/>
            </a:pPr>
            <a:r>
              <a:rPr lang="en-US" sz="1200" kern="1200" dirty="0" smtClean="0">
                <a:solidFill>
                  <a:schemeClr val="tx1"/>
                </a:solidFill>
                <a:ea typeface="+mn-ea"/>
                <a:cs typeface="+mn-cs"/>
              </a:rPr>
              <a:t>Receive priority treatment – such as avoiding standard queues/waiting at attractions and destinations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Exchange them for nominated good and services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Swap them for ‘Goods to the value of X’.</a:t>
            </a:r>
            <a:endParaRPr lang="en-AU" sz="1200" kern="1200" dirty="0" smtClean="0">
              <a:solidFill>
                <a:schemeClr val="tx1"/>
              </a:solidFill>
              <a:ea typeface="+mn-ea"/>
              <a:cs typeface="+mn-cs"/>
            </a:endParaRPr>
          </a:p>
          <a:p>
            <a:pPr lvl="1">
              <a:buFont typeface="Arial" pitchFamily="34" charset="0"/>
              <a:buNone/>
            </a:pPr>
            <a:r>
              <a:rPr lang="en-US" sz="1200" kern="1200" dirty="0" smtClean="0">
                <a:solidFill>
                  <a:schemeClr val="tx1"/>
                </a:solidFill>
                <a:ea typeface="+mn-ea"/>
                <a:cs typeface="+mn-cs"/>
              </a:rPr>
              <a:t>There is a need to check/verify: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All required activities are covered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Sufficient numbers are provided to cater for identified/expected numbers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Reference numbers of coupons are recorded against each trip/tour for costing and reconciliation purposes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Name tags – these may be hand-written of pre-printed. Attention needs to be paid to:</a:t>
            </a:r>
          </a:p>
          <a:p>
            <a:pPr lvl="1">
              <a:buFont typeface="Arial" pitchFamily="34" charset="0"/>
              <a:buChar char="•"/>
            </a:pPr>
            <a:r>
              <a:rPr lang="en-US" sz="1200" kern="1200" dirty="0" smtClean="0">
                <a:solidFill>
                  <a:schemeClr val="tx1"/>
                </a:solidFill>
                <a:ea typeface="+mn-ea"/>
                <a:cs typeface="+mn-cs"/>
              </a:rPr>
              <a:t>Ensuring all known tour members have a tag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All types/version of tags are provided – some trips/tours issue more than one name tag such as: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For wearing on clothes/the person</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For attachment to luggage – known as ‘baggage tags’ ( or ‘bag tags’)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Correct spelling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Inclusion of required/appropriate honorifics – such as but not limited to:</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Mr, Mrs, Ms or Miss; Dr; Professor; Father (for priests</a:t>
            </a:r>
            <a:r>
              <a:rPr lang="en-US" sz="1200" kern="1200" dirty="0" smtClean="0">
                <a:solidFill>
                  <a:schemeClr val="tx1"/>
                </a:solidFill>
                <a:ea typeface="+mn-ea"/>
                <a:cs typeface="+mn-cs"/>
              </a:rPr>
              <a:t>).</a:t>
            </a:r>
            <a:endParaRPr lang="en-AU" sz="1200" kern="1200" dirty="0" smtClean="0">
              <a:solidFill>
                <a:schemeClr val="tx1"/>
              </a:solidFill>
              <a:ea typeface="+mn-ea"/>
              <a:cs typeface="+mn-cs"/>
            </a:endParaRPr>
          </a:p>
          <a:p>
            <a:pPr lvl="0">
              <a:buFont typeface="Arial" pitchFamily="34" charset="0"/>
              <a:buNone/>
            </a:pPr>
            <a:endParaRPr lang="en-US" noProof="0" dirty="0" smtClean="0"/>
          </a:p>
          <a:p>
            <a:pPr lvl="0">
              <a:buFont typeface="Arial" pitchFamily="34" charset="0"/>
              <a:buNone/>
            </a:pPr>
            <a:r>
              <a:rPr lang="en-US" b="1" noProof="0" dirty="0" smtClean="0"/>
              <a:t>Classroom Activity – Handouts</a:t>
            </a:r>
          </a:p>
          <a:p>
            <a:pPr lvl="0">
              <a:buFont typeface="Arial" pitchFamily="34" charset="0"/>
              <a:buNone/>
            </a:pPr>
            <a:r>
              <a:rPr lang="en-US" b="0" noProof="0" dirty="0" smtClean="0"/>
              <a:t>Trainer distributes and discusses items listed on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items which may need to be finalised:</a:t>
            </a:r>
          </a:p>
          <a:p>
            <a:pPr>
              <a:buFont typeface="Arial" pitchFamily="34" charset="0"/>
              <a:buChar char="•"/>
            </a:pPr>
            <a:r>
              <a:rPr lang="en-AU" sz="1200" kern="1200" dirty="0" smtClean="0">
                <a:solidFill>
                  <a:schemeClr val="tx1"/>
                </a:solidFill>
                <a:ea typeface="+mn-ea"/>
                <a:cs typeface="+mn-cs"/>
              </a:rPr>
              <a:t>Standard tour-related Informational material – which can include:</a:t>
            </a:r>
          </a:p>
          <a:p>
            <a:pPr lvl="1">
              <a:buFont typeface="Arial" pitchFamily="34" charset="0"/>
              <a:buChar char="•"/>
            </a:pPr>
            <a:r>
              <a:rPr lang="en-US" sz="1200" kern="1200" dirty="0" smtClean="0">
                <a:solidFill>
                  <a:schemeClr val="tx1"/>
                </a:solidFill>
                <a:ea typeface="+mn-ea"/>
                <a:cs typeface="+mn-cs"/>
              </a:rPr>
              <a:t>Passenger itinerary; Terms and conditions of tour; Advice regarding the destinations, dangers and details of the tour; Expectations in regard to behaviour while on tour; Copies of relevant Codes of Conduct; Advice regarding the authority of the tour guide and the tour leaders while on tour</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Organisational merchandise and other tour/trip-related items – which can include:</a:t>
            </a:r>
          </a:p>
          <a:p>
            <a:pPr lvl="1">
              <a:buFont typeface="Arial" pitchFamily="34" charset="0"/>
              <a:buChar char="•"/>
            </a:pPr>
            <a:r>
              <a:rPr lang="en-US" sz="1200" kern="1200" dirty="0" smtClean="0">
                <a:solidFill>
                  <a:schemeClr val="tx1"/>
                </a:solidFill>
                <a:ea typeface="+mn-ea"/>
                <a:cs typeface="+mn-cs"/>
              </a:rPr>
              <a:t>Hats/caps; Travel bags; Discount coupons for future tours; Feedback forms/Customer Comment cards; Special items where ‘Children’ are known to be touring – such as colouring books and pencils, reading materials, range of toys; Special items where ‘Infants’ are known to be touring – such as bibs and booties or other items (some of which may have been received FOC from third party suppliers of infant formula or clothes</a:t>
            </a:r>
            <a:r>
              <a:rPr lang="en-US" sz="1200" kern="1200" dirty="0" smtClean="0">
                <a:solidFill>
                  <a:schemeClr val="tx1"/>
                </a:solidFill>
                <a:ea typeface="+mn-ea"/>
                <a:cs typeface="+mn-cs"/>
              </a:rPr>
              <a:t>).</a:t>
            </a:r>
            <a:endParaRPr lang="en-AU" sz="1200" kern="1200" dirty="0" smtClean="0">
              <a:solidFill>
                <a:schemeClr val="tx1"/>
              </a:solidFill>
              <a:ea typeface="+mn-ea"/>
              <a:cs typeface="+mn-cs"/>
            </a:endParaRPr>
          </a:p>
          <a:p>
            <a:pPr>
              <a:buFont typeface="Arial" pitchFamily="34" charset="0"/>
              <a:buChar char="•"/>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observes several </a:t>
            </a:r>
            <a:r>
              <a:rPr lang="en-AU" sz="1200" kern="1200" dirty="0" smtClean="0">
                <a:solidFill>
                  <a:schemeClr val="tx1"/>
                </a:solidFill>
                <a:ea typeface="+mn-ea"/>
                <a:cs typeface="+mn-cs"/>
              </a:rPr>
              <a:t>variations are possible in relation to the distribution of documents and items when they have been finalised and requirements can vary not only between individual operators but also within organisations depending on tour types.</a:t>
            </a:r>
          </a:p>
          <a:p>
            <a:r>
              <a:rPr lang="en-AU" sz="1200" kern="1200" dirty="0" smtClean="0">
                <a:solidFill>
                  <a:schemeClr val="tx1"/>
                </a:solidFill>
                <a:ea typeface="+mn-ea"/>
                <a:cs typeface="+mn-cs"/>
              </a:rPr>
              <a:t>Actions required can include:</a:t>
            </a:r>
          </a:p>
          <a:p>
            <a:pPr>
              <a:buFont typeface="Arial" pitchFamily="34" charset="0"/>
              <a:buChar char="•"/>
            </a:pPr>
            <a:r>
              <a:rPr lang="en-AU" sz="1200" kern="1200" dirty="0" smtClean="0">
                <a:solidFill>
                  <a:schemeClr val="tx1"/>
                </a:solidFill>
                <a:ea typeface="+mn-ea"/>
                <a:cs typeface="+mn-cs"/>
              </a:rPr>
              <a:t>Loading of items onto the tour vehicle/s</a:t>
            </a:r>
          </a:p>
          <a:p>
            <a:pPr>
              <a:buFont typeface="Arial" pitchFamily="34" charset="0"/>
              <a:buChar char="•"/>
            </a:pPr>
            <a:r>
              <a:rPr lang="en-AU" sz="1200" kern="1200" dirty="0" smtClean="0">
                <a:solidFill>
                  <a:schemeClr val="tx1"/>
                </a:solidFill>
                <a:ea typeface="+mn-ea"/>
                <a:cs typeface="+mn-cs"/>
              </a:rPr>
              <a:t>Placing completed ‘packs’ (usually one per tour group member) in a designated location – for tour staff to collect when needed </a:t>
            </a:r>
          </a:p>
          <a:p>
            <a:pPr>
              <a:buFont typeface="Arial" pitchFamily="34" charset="0"/>
              <a:buChar char="•"/>
            </a:pPr>
            <a:r>
              <a:rPr lang="en-AU" sz="1200" kern="1200" dirty="0" smtClean="0">
                <a:solidFill>
                  <a:schemeClr val="tx1"/>
                </a:solidFill>
                <a:ea typeface="+mn-ea"/>
                <a:cs typeface="+mn-cs"/>
              </a:rPr>
              <a:t>Handing items over in-person to designated tour staff</a:t>
            </a:r>
          </a:p>
          <a:p>
            <a:pPr>
              <a:buFont typeface="Arial" pitchFamily="34" charset="0"/>
              <a:buChar char="•"/>
            </a:pPr>
            <a:r>
              <a:rPr lang="en-AU" sz="1200" kern="1200" dirty="0" smtClean="0">
                <a:solidFill>
                  <a:schemeClr val="tx1"/>
                </a:solidFill>
                <a:ea typeface="+mn-ea"/>
                <a:cs typeface="+mn-cs"/>
              </a:rPr>
              <a:t>Distributing the items to tour members – on arrival/as they board</a:t>
            </a:r>
          </a:p>
          <a:p>
            <a:pPr>
              <a:buFont typeface="Arial" pitchFamily="34" charset="0"/>
              <a:buChar char="•"/>
            </a:pPr>
            <a:r>
              <a:rPr lang="en-AU" sz="1200" kern="1200" dirty="0" smtClean="0">
                <a:solidFill>
                  <a:schemeClr val="tx1"/>
                </a:solidFill>
                <a:ea typeface="+mn-ea"/>
                <a:cs typeface="+mn-cs"/>
              </a:rPr>
              <a:t>Forwarding items to tour members (by mail, electronically, courier or by hand) prior to departure date.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instructs </a:t>
            </a:r>
            <a:r>
              <a:rPr lang="en-AU" sz="1200" kern="1200" dirty="0" smtClean="0">
                <a:solidFill>
                  <a:schemeClr val="tx1"/>
                </a:solidFill>
                <a:ea typeface="+mn-ea"/>
                <a:cs typeface="+mn-cs"/>
              </a:rPr>
              <a:t>internal records of the organisation must be updated in order to:</a:t>
            </a:r>
          </a:p>
          <a:p>
            <a:pPr>
              <a:buFont typeface="Arial" pitchFamily="34" charset="0"/>
              <a:buChar char="•"/>
            </a:pPr>
            <a:r>
              <a:rPr lang="en-AU" sz="1200" kern="1200" dirty="0" smtClean="0">
                <a:solidFill>
                  <a:schemeClr val="tx1"/>
                </a:solidFill>
                <a:ea typeface="+mn-ea"/>
                <a:cs typeface="+mn-cs"/>
              </a:rPr>
              <a:t>Manage the size of the inventory – so: </a:t>
            </a:r>
          </a:p>
          <a:p>
            <a:pPr lvl="1">
              <a:buFont typeface="Arial" pitchFamily="34" charset="0"/>
              <a:buChar char="•"/>
            </a:pPr>
            <a:r>
              <a:rPr lang="en-AU" sz="1200" kern="1200" dirty="0" smtClean="0">
                <a:solidFill>
                  <a:schemeClr val="tx1"/>
                </a:solidFill>
                <a:ea typeface="+mn-ea"/>
                <a:cs typeface="+mn-cs"/>
              </a:rPr>
              <a:t>Value of stock does not exceed required monetary value prescribed by management</a:t>
            </a:r>
          </a:p>
          <a:p>
            <a:pPr lvl="1">
              <a:buFont typeface="Arial" pitchFamily="34" charset="0"/>
              <a:buChar char="•"/>
            </a:pPr>
            <a:r>
              <a:rPr lang="en-AU" sz="1200" kern="1200" dirty="0" smtClean="0">
                <a:solidFill>
                  <a:schemeClr val="tx1"/>
                </a:solidFill>
                <a:ea typeface="+mn-ea"/>
                <a:cs typeface="+mn-cs"/>
              </a:rPr>
              <a:t>Physical size/dimensions of stock do not exceed capacity for storing same</a:t>
            </a:r>
          </a:p>
          <a:p>
            <a:pPr>
              <a:buFont typeface="Arial" pitchFamily="34" charset="0"/>
              <a:buChar char="•"/>
            </a:pPr>
            <a:r>
              <a:rPr lang="en-AU" sz="1200" kern="1200" dirty="0" smtClean="0">
                <a:solidFill>
                  <a:schemeClr val="tx1"/>
                </a:solidFill>
                <a:ea typeface="+mn-ea"/>
                <a:cs typeface="+mn-cs"/>
              </a:rPr>
              <a:t>Ensure the organisation does not run out of stock – and required items are available when necessary</a:t>
            </a:r>
          </a:p>
          <a:p>
            <a:pPr>
              <a:buFont typeface="Arial" pitchFamily="34" charset="0"/>
              <a:buChar char="•"/>
            </a:pPr>
            <a:r>
              <a:rPr lang="en-AU" sz="1200" kern="1200" dirty="0" smtClean="0">
                <a:solidFill>
                  <a:schemeClr val="tx1"/>
                </a:solidFill>
                <a:ea typeface="+mn-ea"/>
                <a:cs typeface="+mn-cs"/>
              </a:rPr>
              <a:t>Facilitate stock management and control – which forms the basis of financial control and the calculation of statistics relating to financial performance of each trip/tour. This is essential to ensure the ongoing viability of the business and indicate, for example:</a:t>
            </a:r>
          </a:p>
          <a:p>
            <a:pPr lvl="1">
              <a:buFont typeface="Arial" pitchFamily="34" charset="0"/>
              <a:buChar char="•"/>
            </a:pPr>
            <a:r>
              <a:rPr lang="en-AU" sz="1200" kern="1200" dirty="0" smtClean="0">
                <a:solidFill>
                  <a:schemeClr val="tx1"/>
                </a:solidFill>
                <a:ea typeface="+mn-ea"/>
                <a:cs typeface="+mn-cs"/>
              </a:rPr>
              <a:t>Unprofitable trips/tours which need to be removed</a:t>
            </a:r>
          </a:p>
          <a:p>
            <a:pPr lvl="1">
              <a:buFont typeface="Arial" pitchFamily="34" charset="0"/>
              <a:buChar char="•"/>
            </a:pPr>
            <a:r>
              <a:rPr lang="en-AU" sz="1200" kern="1200" dirty="0" smtClean="0">
                <a:solidFill>
                  <a:schemeClr val="tx1"/>
                </a:solidFill>
                <a:ea typeface="+mn-ea"/>
                <a:cs typeface="+mn-cs"/>
              </a:rPr>
              <a:t>Need for the price of tickets to rise</a:t>
            </a:r>
          </a:p>
          <a:p>
            <a:pPr lvl="1">
              <a:buFont typeface="Arial" pitchFamily="34" charset="0"/>
              <a:buChar char="•"/>
            </a:pPr>
            <a:r>
              <a:rPr lang="en-AU" sz="1200" kern="1200" dirty="0" smtClean="0">
                <a:solidFill>
                  <a:schemeClr val="tx1"/>
                </a:solidFill>
                <a:ea typeface="+mn-ea"/>
                <a:cs typeface="+mn-cs"/>
              </a:rPr>
              <a:t>Areas of the trip/tour which need attention</a:t>
            </a:r>
          </a:p>
          <a:p>
            <a:pPr>
              <a:buFont typeface="Arial" pitchFamily="34" charset="0"/>
              <a:buChar char="•"/>
            </a:pPr>
            <a:r>
              <a:rPr lang="en-AU" sz="1200" kern="1200" dirty="0" smtClean="0">
                <a:solidFill>
                  <a:schemeClr val="tx1"/>
                </a:solidFill>
                <a:ea typeface="+mn-ea"/>
                <a:cs typeface="+mn-cs"/>
              </a:rPr>
              <a:t>Help ensure stock is rotated correctly – generally applying the FIFO approach to stock usage.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relevant documents noting the </a:t>
            </a:r>
            <a:r>
              <a:rPr lang="en-AU" sz="1200" kern="1200" dirty="0" smtClean="0">
                <a:solidFill>
                  <a:schemeClr val="tx1"/>
                </a:solidFill>
                <a:ea typeface="+mn-ea"/>
                <a:cs typeface="+mn-cs"/>
              </a:rPr>
              <a:t>records which may need to be updated (or forwarded to administration/management) can include:</a:t>
            </a:r>
          </a:p>
          <a:p>
            <a:pPr>
              <a:buFont typeface="Arial" pitchFamily="34" charset="0"/>
              <a:buChar char="•"/>
            </a:pPr>
            <a:r>
              <a:rPr lang="en-AU" sz="1200" kern="1200" dirty="0" smtClean="0">
                <a:solidFill>
                  <a:schemeClr val="tx1"/>
                </a:solidFill>
                <a:ea typeface="+mn-ea"/>
                <a:cs typeface="+mn-cs"/>
              </a:rPr>
              <a:t>Requisitions – used to order stock from internal stores for each trip/tour</a:t>
            </a:r>
          </a:p>
          <a:p>
            <a:pPr>
              <a:buFont typeface="Arial" pitchFamily="34" charset="0"/>
              <a:buChar char="•"/>
            </a:pPr>
            <a:r>
              <a:rPr lang="en-AU" sz="1200" kern="1200" dirty="0" smtClean="0">
                <a:solidFill>
                  <a:schemeClr val="tx1"/>
                </a:solidFill>
                <a:ea typeface="+mn-ea"/>
                <a:cs typeface="+mn-cs"/>
              </a:rPr>
              <a:t>Stock take sheets – used to record stock counts</a:t>
            </a:r>
          </a:p>
          <a:p>
            <a:pPr>
              <a:buFont typeface="Arial" pitchFamily="34" charset="0"/>
              <a:buChar char="•"/>
            </a:pPr>
            <a:r>
              <a:rPr lang="en-AU" sz="1200" kern="1200" dirty="0" smtClean="0">
                <a:solidFill>
                  <a:schemeClr val="tx1"/>
                </a:solidFill>
                <a:ea typeface="+mn-ea"/>
                <a:cs typeface="+mn-cs"/>
              </a:rPr>
              <a:t>Bin cards – used to control individual stock items at their unique locations in the store room</a:t>
            </a:r>
          </a:p>
          <a:p>
            <a:pPr>
              <a:buFont typeface="Arial" pitchFamily="34" charset="0"/>
              <a:buChar char="•"/>
            </a:pPr>
            <a:r>
              <a:rPr lang="en-AU" sz="1200" kern="1200" dirty="0" smtClean="0">
                <a:solidFill>
                  <a:schemeClr val="tx1"/>
                </a:solidFill>
                <a:ea typeface="+mn-ea"/>
                <a:cs typeface="+mn-cs"/>
              </a:rPr>
              <a:t>Purchase orders – used to authorise purchases from external suppliers</a:t>
            </a:r>
          </a:p>
          <a:p>
            <a:pPr>
              <a:buFont typeface="Arial" pitchFamily="34" charset="0"/>
              <a:buChar char="•"/>
            </a:pPr>
            <a:r>
              <a:rPr lang="en-AU" sz="1200" kern="1200" dirty="0" smtClean="0">
                <a:solidFill>
                  <a:schemeClr val="tx1"/>
                </a:solidFill>
                <a:ea typeface="+mn-ea"/>
                <a:cs typeface="+mn-cs"/>
              </a:rPr>
              <a:t>Receipts –  required to demonstrate money has been paid, and/or has been spent on the items </a:t>
            </a:r>
            <a:r>
              <a:rPr lang="en-AU" sz="1200" kern="1200" dirty="0" smtClean="0">
                <a:solidFill>
                  <a:schemeClr val="tx1"/>
                </a:solidFill>
                <a:ea typeface="+mn-ea"/>
                <a:cs typeface="+mn-cs"/>
              </a:rPr>
              <a:t>listed.</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documents/records as identified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identifying</a:t>
            </a:r>
            <a:r>
              <a:rPr lang="en-US" baseline="0" noProof="0" dirty="0" smtClean="0"/>
              <a:t> internal records which might require updating:</a:t>
            </a:r>
          </a:p>
          <a:p>
            <a:pPr>
              <a:buFont typeface="Arial" pitchFamily="34" charset="0"/>
              <a:buChar char="•"/>
            </a:pPr>
            <a:r>
              <a:rPr lang="en-AU" sz="1200" kern="1200" dirty="0" smtClean="0">
                <a:solidFill>
                  <a:schemeClr val="tx1"/>
                </a:solidFill>
                <a:ea typeface="+mn-ea"/>
                <a:cs typeface="+mn-cs"/>
              </a:rPr>
              <a:t>Supplier-related documentation – such as:</a:t>
            </a:r>
          </a:p>
          <a:p>
            <a:pPr lvl="1">
              <a:buFont typeface="Arial" pitchFamily="34" charset="0"/>
              <a:buChar char="•"/>
            </a:pPr>
            <a:r>
              <a:rPr lang="en-AU" sz="1200" kern="1200" dirty="0" smtClean="0">
                <a:solidFill>
                  <a:schemeClr val="tx1"/>
                </a:solidFill>
                <a:ea typeface="+mn-ea"/>
                <a:cs typeface="+mn-cs"/>
              </a:rPr>
              <a:t>Delivery dockets and Invoices – documents which accompany deliveries from third party providers</a:t>
            </a:r>
          </a:p>
          <a:p>
            <a:pPr lvl="1">
              <a:buFont typeface="Arial" pitchFamily="34" charset="0"/>
              <a:buChar char="•"/>
            </a:pPr>
            <a:r>
              <a:rPr lang="en-AU" sz="1200" kern="1200" dirty="0" smtClean="0">
                <a:solidFill>
                  <a:schemeClr val="tx1"/>
                </a:solidFill>
                <a:ea typeface="+mn-ea"/>
                <a:cs typeface="+mn-cs"/>
              </a:rPr>
              <a:t>Statements – which are (generally) monthly documents from individual suppliers providing an overview  of transaction with them for the period and listing the amount they are owed</a:t>
            </a:r>
          </a:p>
          <a:p>
            <a:pPr lvl="1">
              <a:buFont typeface="Arial" pitchFamily="34" charset="0"/>
              <a:buChar char="•"/>
            </a:pPr>
            <a:r>
              <a:rPr lang="en-AU" sz="1200" kern="1200" dirty="0" smtClean="0">
                <a:solidFill>
                  <a:schemeClr val="tx1"/>
                </a:solidFill>
                <a:ea typeface="+mn-ea"/>
                <a:cs typeface="+mn-cs"/>
              </a:rPr>
              <a:t>Credit notes – detailing money owed to the organisation as a result of returning goods, refunds, or over-charges. </a:t>
            </a:r>
          </a:p>
          <a:p>
            <a:pPr>
              <a:buFont typeface="Arial" pitchFamily="34" charset="0"/>
              <a:buChar char="•"/>
            </a:pPr>
            <a:r>
              <a:rPr lang="en-AU" sz="1200" kern="1200" dirty="0" smtClean="0">
                <a:solidFill>
                  <a:schemeClr val="tx1"/>
                </a:solidFill>
                <a:ea typeface="+mn-ea"/>
                <a:cs typeface="+mn-cs"/>
              </a:rPr>
              <a:t>Damaged goods sheets – identifying:</a:t>
            </a:r>
          </a:p>
          <a:p>
            <a:pPr lvl="1">
              <a:buFont typeface="Arial" pitchFamily="34" charset="0"/>
              <a:buChar char="•"/>
            </a:pPr>
            <a:r>
              <a:rPr lang="en-US" sz="1200" kern="1200" dirty="0" smtClean="0">
                <a:solidFill>
                  <a:schemeClr val="tx1"/>
                </a:solidFill>
                <a:ea typeface="+mn-ea"/>
                <a:cs typeface="+mn-cs"/>
              </a:rPr>
              <a:t>Goods which have been removed from inventory by type and quantity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What has happened to these items – such as: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Returned to supplier for credit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Taken out of service for repair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Disposed of</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If any money was received (or expense incurred) as a result of action taken</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Returned goods – detailing: </a:t>
            </a:r>
          </a:p>
          <a:p>
            <a:pPr lvl="1">
              <a:buFont typeface="Arial" pitchFamily="34" charset="0"/>
              <a:buChar char="•"/>
            </a:pPr>
            <a:r>
              <a:rPr lang="en-AU" sz="1200" kern="1200" dirty="0" smtClean="0">
                <a:solidFill>
                  <a:schemeClr val="tx1"/>
                </a:solidFill>
                <a:ea typeface="+mn-ea"/>
                <a:cs typeface="+mn-cs"/>
              </a:rPr>
              <a:t>What was returned and to whom</a:t>
            </a:r>
          </a:p>
          <a:p>
            <a:pPr lvl="1">
              <a:buFont typeface="Arial" pitchFamily="34" charset="0"/>
              <a:buChar char="•"/>
            </a:pPr>
            <a:r>
              <a:rPr lang="en-AU" sz="1200" kern="1200" dirty="0" smtClean="0">
                <a:solidFill>
                  <a:schemeClr val="tx1"/>
                </a:solidFill>
                <a:ea typeface="+mn-ea"/>
                <a:cs typeface="+mn-cs"/>
              </a:rPr>
              <a:t>Value of goods in terms of expected credit</a:t>
            </a:r>
          </a:p>
          <a:p>
            <a:pPr lvl="1">
              <a:buFont typeface="Arial" pitchFamily="34" charset="0"/>
              <a:buChar char="•"/>
            </a:pPr>
            <a:r>
              <a:rPr lang="en-AU" sz="1200" kern="1200" dirty="0" smtClean="0">
                <a:solidFill>
                  <a:schemeClr val="tx1"/>
                </a:solidFill>
                <a:ea typeface="+mn-ea"/>
                <a:cs typeface="+mn-cs"/>
              </a:rPr>
              <a:t>Date and other relevant details.</a:t>
            </a: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documents/records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presents it </a:t>
            </a:r>
            <a:r>
              <a:rPr lang="en-AU" sz="1200" kern="1200" dirty="0" smtClean="0">
                <a:solidFill>
                  <a:schemeClr val="tx1"/>
                </a:solidFill>
                <a:ea typeface="+mn-ea"/>
                <a:cs typeface="+mn-cs"/>
              </a:rPr>
              <a:t>may be necessary to undertake the following in order to meet internal requirements for stock management:</a:t>
            </a:r>
          </a:p>
          <a:p>
            <a:pPr>
              <a:buFont typeface="Arial" pitchFamily="34" charset="0"/>
              <a:buChar char="•"/>
            </a:pPr>
            <a:r>
              <a:rPr lang="en-AU" sz="1200" kern="1200" dirty="0" smtClean="0">
                <a:solidFill>
                  <a:schemeClr val="tx1"/>
                </a:solidFill>
                <a:ea typeface="+mn-ea"/>
                <a:cs typeface="+mn-cs"/>
              </a:rPr>
              <a:t>Conduct stock takes – to:</a:t>
            </a:r>
          </a:p>
          <a:p>
            <a:pPr lvl="1">
              <a:buFont typeface="Arial" pitchFamily="34" charset="0"/>
              <a:buChar char="•"/>
            </a:pPr>
            <a:r>
              <a:rPr lang="en-US" sz="1200" kern="1200" dirty="0" smtClean="0">
                <a:solidFill>
                  <a:schemeClr val="tx1"/>
                </a:solidFill>
                <a:ea typeface="+mn-ea"/>
                <a:cs typeface="+mn-cs"/>
              </a:rPr>
              <a:t>Count stock-on-hand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Determine value of stock on hand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Identify stock use and/or shortages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Add final/missing details – to documents/information fields. This may relate to:</a:t>
            </a:r>
          </a:p>
          <a:p>
            <a:pPr lvl="1">
              <a:buFont typeface="Arial" pitchFamily="34" charset="0"/>
              <a:buChar char="•"/>
            </a:pPr>
            <a:r>
              <a:rPr lang="en-US" sz="1200" kern="1200" dirty="0" smtClean="0">
                <a:solidFill>
                  <a:schemeClr val="tx1"/>
                </a:solidFill>
                <a:ea typeface="+mn-ea"/>
                <a:cs typeface="+mn-cs"/>
              </a:rPr>
              <a:t>Dates; Names; Prices; Final/actual figures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Perform nominated calculations – to assist with statistical manipulation of </a:t>
            </a:r>
            <a:r>
              <a:rPr lang="en-AU" sz="1200" kern="1200" dirty="0" smtClean="0">
                <a:solidFill>
                  <a:schemeClr val="tx1"/>
                </a:solidFill>
                <a:ea typeface="+mn-ea"/>
                <a:cs typeface="+mn-cs"/>
              </a:rPr>
              <a:t>figures/data.</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demonstrates how to conduct a stock take and provides opportunity for students to practice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activities which may be involved in updating internal records:</a:t>
            </a:r>
          </a:p>
          <a:p>
            <a:pPr>
              <a:buFont typeface="Arial" pitchFamily="34" charset="0"/>
              <a:buChar char="•"/>
            </a:pPr>
            <a:r>
              <a:rPr lang="en-AU" sz="1200" kern="1200" dirty="0" smtClean="0">
                <a:solidFill>
                  <a:schemeClr val="tx1"/>
                </a:solidFill>
                <a:ea typeface="+mn-ea"/>
                <a:cs typeface="+mn-cs"/>
              </a:rPr>
              <a:t>Follow-up as required – with, as appropriate:</a:t>
            </a:r>
          </a:p>
          <a:p>
            <a:pPr lvl="1">
              <a:buFont typeface="Arial" pitchFamily="34" charset="0"/>
              <a:buChar char="•"/>
            </a:pPr>
            <a:r>
              <a:rPr lang="en-US" sz="1200" kern="1200" dirty="0" smtClean="0">
                <a:solidFill>
                  <a:schemeClr val="tx1"/>
                </a:solidFill>
                <a:ea typeface="+mn-ea"/>
                <a:cs typeface="+mn-cs"/>
              </a:rPr>
              <a:t>Internal/tour staff</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Suppliers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Count stock returned – when trip/tour returns to base</a:t>
            </a:r>
          </a:p>
          <a:p>
            <a:pPr>
              <a:buFont typeface="Arial" pitchFamily="34" charset="0"/>
              <a:buChar char="•"/>
            </a:pPr>
            <a:r>
              <a:rPr lang="en-AU" sz="1200" kern="1200" dirty="0" smtClean="0">
                <a:solidFill>
                  <a:schemeClr val="tx1"/>
                </a:solidFill>
                <a:ea typeface="+mn-ea"/>
                <a:cs typeface="+mn-cs"/>
              </a:rPr>
              <a:t>Forward nominated documents to management/administration – so:</a:t>
            </a:r>
          </a:p>
          <a:p>
            <a:pPr lvl="1">
              <a:buFont typeface="Arial" pitchFamily="34" charset="0"/>
              <a:buChar char="•"/>
            </a:pPr>
            <a:r>
              <a:rPr lang="en-US" sz="1200" kern="1200" dirty="0" smtClean="0">
                <a:solidFill>
                  <a:schemeClr val="tx1"/>
                </a:solidFill>
                <a:ea typeface="+mn-ea"/>
                <a:cs typeface="+mn-cs"/>
              </a:rPr>
              <a:t>They documents and data can be further processed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Accounts can be paid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Information can be incorporated into internal reports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File documents – for future reference</a:t>
            </a:r>
          </a:p>
          <a:p>
            <a:pPr>
              <a:buFont typeface="Arial" pitchFamily="34" charset="0"/>
              <a:buChar char="•"/>
            </a:pPr>
            <a:r>
              <a:rPr lang="en-AU" sz="1200" kern="1200" dirty="0" smtClean="0">
                <a:solidFill>
                  <a:schemeClr val="tx1"/>
                </a:solidFill>
                <a:ea typeface="+mn-ea"/>
                <a:cs typeface="+mn-cs"/>
              </a:rPr>
              <a:t>Pass on lessons learned from processing the documentation – to tour guides and leaders, management and administration.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4/27/2015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4/27/2015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4/27/2015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4/27/2015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4/27/2015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3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microsoft.com/office/2007/relationships/hdphoto" Target="../media/hdphoto1.wdp"/></Relationships>
</file>

<file path=ppt/slides/_rels/slide4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61.jpeg"/><Relationship Id="rId5" Type="http://schemas.openxmlformats.org/officeDocument/2006/relationships/image" Target="../media/image41.jpeg"/><Relationship Id="rId4" Type="http://schemas.openxmlformats.org/officeDocument/2006/relationships/image" Target="../media/image60.jpeg"/></Relationships>
</file>

<file path=ppt/slides/_rels/slide5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3490" y="548680"/>
            <a:ext cx="7654262" cy="936104"/>
          </a:xfrm>
        </p:spPr>
        <p:txBody>
          <a:bodyPr>
            <a:normAutofit fontScale="90000"/>
          </a:bodyPr>
          <a:lstStyle/>
          <a:p>
            <a:r>
              <a:rPr lang="en-AU" sz="4000" dirty="0">
                <a:ln w="5000" cmpd="sng">
                  <a:noFill/>
                  <a:prstDash val="solid"/>
                </a:ln>
                <a:solidFill>
                  <a:srgbClr val="FF6600"/>
                </a:solidFill>
                <a:latin typeface="Helvetica" pitchFamily="34" charset="0"/>
              </a:rPr>
              <a:t>CONDUCT PRE-DEPARTURE CHECKS</a:t>
            </a:r>
          </a:p>
        </p:txBody>
      </p:sp>
      <p:sp>
        <p:nvSpPr>
          <p:cNvPr id="3" name="Subtitle 2"/>
          <p:cNvSpPr>
            <a:spLocks noGrp="1"/>
          </p:cNvSpPr>
          <p:nvPr>
            <p:ph type="subTitle" idx="1"/>
          </p:nvPr>
        </p:nvSpPr>
        <p:spPr>
          <a:xfrm>
            <a:off x="5847156" y="2564904"/>
            <a:ext cx="2541268" cy="289742"/>
          </a:xfrm>
        </p:spPr>
        <p:txBody>
          <a:bodyPr>
            <a:noAutofit/>
          </a:bodyPr>
          <a:lstStyle/>
          <a:p>
            <a:r>
              <a:rPr lang="en-AU" b="1" dirty="0">
                <a:latin typeface="Helvetica" pitchFamily="34" charset="0"/>
              </a:rPr>
              <a:t>D2.TTG.CL3.04</a:t>
            </a:r>
          </a:p>
          <a:p>
            <a:r>
              <a:rPr lang="en-AU" b="1" dirty="0">
                <a:latin typeface="Helvetica" pitchFamily="34" charset="0"/>
              </a:rPr>
              <a:t>D2.TTO.CL4.04</a:t>
            </a:r>
          </a:p>
          <a:p>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683568" y="1484784"/>
            <a:ext cx="5566702" cy="4207470"/>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pre-departure checks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four Elements:</a:t>
            </a:r>
          </a:p>
          <a:p>
            <a:pPr marL="457200" indent="-457200">
              <a:spcBef>
                <a:spcPts val="600"/>
              </a:spcBef>
              <a:spcAft>
                <a:spcPts val="1200"/>
              </a:spcAft>
              <a:buNone/>
            </a:pPr>
            <a:r>
              <a:rPr lang="en-US" sz="2200" dirty="0" smtClean="0">
                <a:solidFill>
                  <a:schemeClr val="accent1"/>
                </a:solidFill>
                <a:latin typeface="Helvetica" pitchFamily="34" charset="0"/>
              </a:rPr>
              <a:t>1. </a:t>
            </a:r>
            <a:r>
              <a:rPr lang="en-US" sz="2200" dirty="0" smtClean="0">
                <a:latin typeface="Helvetica" pitchFamily="34" charset="0"/>
              </a:rPr>
              <a:t>Identify tour requirements</a:t>
            </a:r>
          </a:p>
          <a:p>
            <a:pPr marL="457200" indent="-457200">
              <a:spcBef>
                <a:spcPts val="600"/>
              </a:spcBef>
              <a:spcAft>
                <a:spcPts val="1200"/>
              </a:spcAft>
              <a:buNone/>
            </a:pPr>
            <a:r>
              <a:rPr lang="en-US" sz="2200" dirty="0" smtClean="0">
                <a:solidFill>
                  <a:schemeClr val="accent1"/>
                </a:solidFill>
                <a:latin typeface="Helvetica" pitchFamily="34" charset="0"/>
              </a:rPr>
              <a:t>2. </a:t>
            </a:r>
            <a:r>
              <a:rPr lang="en-US" sz="2200" dirty="0" smtClean="0">
                <a:latin typeface="Helvetica" pitchFamily="34" charset="0"/>
              </a:rPr>
              <a:t>Prepare identified tour requirements</a:t>
            </a:r>
          </a:p>
          <a:p>
            <a:pPr marL="360000" indent="-360000">
              <a:spcBef>
                <a:spcPts val="600"/>
              </a:spcBef>
              <a:spcAft>
                <a:spcPts val="1200"/>
              </a:spcAft>
              <a:buNone/>
            </a:pPr>
            <a:r>
              <a:rPr lang="en-US" sz="2200" dirty="0" smtClean="0">
                <a:solidFill>
                  <a:schemeClr val="accent1"/>
                </a:solidFill>
                <a:latin typeface="Helvetica" pitchFamily="34" charset="0"/>
              </a:rPr>
              <a:t>3. </a:t>
            </a:r>
            <a:r>
              <a:rPr lang="en-US" sz="2200" dirty="0" smtClean="0">
                <a:latin typeface="Helvetica" pitchFamily="34" charset="0"/>
              </a:rPr>
              <a:t>Load identified tour requirements</a:t>
            </a:r>
          </a:p>
          <a:p>
            <a:pPr marL="360000" indent="-360000">
              <a:spcBef>
                <a:spcPts val="600"/>
              </a:spcBef>
              <a:spcAft>
                <a:spcPts val="1200"/>
              </a:spcAft>
              <a:buNone/>
            </a:pPr>
            <a:r>
              <a:rPr lang="en-US" sz="2200" dirty="0" smtClean="0">
                <a:solidFill>
                  <a:schemeClr val="accent1"/>
                </a:solidFill>
                <a:latin typeface="Helvetica" pitchFamily="34" charset="0"/>
              </a:rPr>
              <a:t>4. </a:t>
            </a:r>
            <a:r>
              <a:rPr lang="en-US" sz="2200" dirty="0" smtClean="0">
                <a:latin typeface="Helvetica" pitchFamily="34" charset="0"/>
              </a:rPr>
              <a:t>Complete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2050" name="Picture 2" descr="C:\Documents and Settings\Godaishu\Desktop\PHOTOS\2014\Shutterstock 25-a-day\shutterstock_165728654.jpg"/>
          <p:cNvPicPr>
            <a:picLocks noChangeAspect="1" noChangeArrowheads="1"/>
          </p:cNvPicPr>
          <p:nvPr/>
        </p:nvPicPr>
        <p:blipFill>
          <a:blip r:embed="rId3" cstate="print"/>
          <a:srcRect/>
          <a:stretch>
            <a:fillRect/>
          </a:stretch>
        </p:blipFill>
        <p:spPr bwMode="auto">
          <a:xfrm>
            <a:off x="6228184" y="2348880"/>
            <a:ext cx="1898427" cy="1266606"/>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pPr>
            <a:r>
              <a:rPr lang="en-US" sz="2200" dirty="0" smtClean="0"/>
              <a:t>Oral questions</a:t>
            </a:r>
          </a:p>
          <a:p>
            <a:pPr marL="360000" indent="-360000">
              <a:spcBef>
                <a:spcPts val="600"/>
              </a:spcBef>
              <a:spcAft>
                <a:spcPts val="1200"/>
              </a:spcAft>
            </a:pPr>
            <a:r>
              <a:rPr lang="en-US" sz="2200" dirty="0" smtClean="0"/>
              <a:t>Written questions</a:t>
            </a:r>
          </a:p>
          <a:p>
            <a:pPr marL="360000" indent="-360000">
              <a:spcBef>
                <a:spcPts val="600"/>
              </a:spcBef>
              <a:spcAft>
                <a:spcPts val="1200"/>
              </a:spcAft>
            </a:pPr>
            <a:r>
              <a:rPr lang="en-US" sz="2200" dirty="0" smtClean="0"/>
              <a:t>Work projects</a:t>
            </a:r>
          </a:p>
          <a:p>
            <a:pPr marL="360000" indent="-360000">
              <a:spcBef>
                <a:spcPts val="600"/>
              </a:spcBef>
              <a:spcAft>
                <a:spcPts val="1200"/>
              </a:spcAft>
            </a:pPr>
            <a:r>
              <a:rPr lang="en-US" sz="2200" dirty="0" smtClean="0"/>
              <a:t>Workplace observation of practical skills</a:t>
            </a:r>
          </a:p>
          <a:p>
            <a:pPr marL="360000" indent="-360000">
              <a:spcBef>
                <a:spcPts val="600"/>
              </a:spcBef>
              <a:spcAft>
                <a:spcPts val="1200"/>
              </a:spcAft>
            </a:pPr>
            <a:r>
              <a:rPr lang="en-US" sz="2200" dirty="0" smtClean="0"/>
              <a:t>Practical exercises</a:t>
            </a:r>
          </a:p>
          <a:p>
            <a:pPr marL="360000" indent="-360000">
              <a:spcBef>
                <a:spcPts val="600"/>
              </a:spcBef>
              <a:spcAft>
                <a:spcPts val="1200"/>
              </a:spcAft>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868144" y="1916832"/>
            <a:ext cx="2560320" cy="170444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Identify tour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Identify itinerary for tour</a:t>
            </a:r>
          </a:p>
          <a:p>
            <a:pPr marL="360000" indent="-360000">
              <a:spcBef>
                <a:spcPts val="600"/>
              </a:spcBef>
              <a:spcAft>
                <a:spcPts val="1200"/>
              </a:spcAft>
            </a:pPr>
            <a:r>
              <a:rPr lang="en-US" sz="2200" dirty="0" smtClean="0">
                <a:latin typeface="Helvetica" pitchFamily="34" charset="0"/>
              </a:rPr>
              <a:t>Identify group numbers on the tour</a:t>
            </a:r>
          </a:p>
          <a:p>
            <a:pPr marL="360000" indent="-360000">
              <a:spcBef>
                <a:spcPts val="600"/>
              </a:spcBef>
              <a:spcAft>
                <a:spcPts val="1200"/>
              </a:spcAft>
            </a:pPr>
            <a:r>
              <a:rPr lang="en-US" sz="2200" dirty="0" smtClean="0">
                <a:latin typeface="Helvetica" pitchFamily="34" charset="0"/>
              </a:rPr>
              <a:t>Identify supplies that can be obtained on tour</a:t>
            </a:r>
          </a:p>
          <a:p>
            <a:pPr marL="360000" indent="-360000">
              <a:spcBef>
                <a:spcPts val="600"/>
              </a:spcBef>
              <a:spcAft>
                <a:spcPts val="1200"/>
              </a:spcAft>
            </a:pPr>
            <a:r>
              <a:rPr lang="en-US" sz="2200" dirty="0" smtClean="0">
                <a:latin typeface="Helvetica" pitchFamily="34" charset="0"/>
              </a:rPr>
              <a:t>Identify special needs for the tour</a:t>
            </a:r>
          </a:p>
          <a:p>
            <a:pPr marL="360000" indent="-360000">
              <a:spcBef>
                <a:spcPts val="600"/>
              </a:spcBef>
              <a:spcAft>
                <a:spcPts val="1200"/>
              </a:spcAft>
            </a:pPr>
            <a:r>
              <a:rPr lang="en-US" sz="2200" dirty="0" smtClean="0">
                <a:latin typeface="Helvetica" pitchFamily="34" charset="0"/>
              </a:rPr>
              <a:t>Identify budget for equipment and supplies for the tour</a:t>
            </a:r>
          </a:p>
          <a:p>
            <a:pPr marL="360000" indent="-360000">
              <a:spcBef>
                <a:spcPts val="600"/>
              </a:spcBef>
              <a:spcAft>
                <a:spcPts val="1200"/>
              </a:spcAft>
            </a:pPr>
            <a:r>
              <a:rPr lang="en-US" sz="2200" dirty="0" smtClean="0">
                <a:latin typeface="Helvetica" pitchFamily="34" charset="0"/>
              </a:rPr>
              <a:t>Determine final requirements for the tour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11" name="Picture 2" descr="C:\Users\danielc\AppData\Local\Microsoft\Windows\Temporary Internet Files\Content.IE5\B95PH30U\MC900432658[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2280" y="1412776"/>
            <a:ext cx="1714500" cy="1714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itinerary for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Durations – lengths of trips can vary:</a:t>
            </a:r>
          </a:p>
          <a:p>
            <a:pPr marL="360000" indent="-360000">
              <a:spcBef>
                <a:spcPts val="600"/>
              </a:spcBef>
              <a:spcAft>
                <a:spcPts val="1200"/>
              </a:spcAft>
            </a:pPr>
            <a:r>
              <a:rPr lang="en-US" sz="2200" dirty="0" smtClean="0">
                <a:latin typeface="Helvetica" pitchFamily="34" charset="0"/>
              </a:rPr>
              <a:t>Short trips/tours</a:t>
            </a:r>
          </a:p>
          <a:p>
            <a:pPr marL="360000" indent="-360000">
              <a:spcBef>
                <a:spcPts val="600"/>
              </a:spcBef>
              <a:spcAft>
                <a:spcPts val="1200"/>
              </a:spcAft>
            </a:pPr>
            <a:r>
              <a:rPr lang="en-US" sz="2200" dirty="0" smtClean="0">
                <a:latin typeface="Helvetica" pitchFamily="34" charset="0"/>
              </a:rPr>
              <a:t>Full-day trips/tours</a:t>
            </a:r>
          </a:p>
          <a:p>
            <a:pPr marL="360000" indent="-360000">
              <a:spcBef>
                <a:spcPts val="600"/>
              </a:spcBef>
              <a:spcAft>
                <a:spcPts val="1200"/>
              </a:spcAft>
            </a:pPr>
            <a:r>
              <a:rPr lang="en-US" sz="2200" dirty="0" smtClean="0">
                <a:latin typeface="Helvetica" pitchFamily="34" charset="0"/>
              </a:rPr>
              <a:t>Overnight tours</a:t>
            </a:r>
          </a:p>
          <a:p>
            <a:pPr marL="360000" indent="-360000">
              <a:spcBef>
                <a:spcPts val="600"/>
              </a:spcBef>
              <a:spcAft>
                <a:spcPts val="1200"/>
              </a:spcAft>
            </a:pPr>
            <a:r>
              <a:rPr lang="en-US" sz="2200" dirty="0" smtClean="0">
                <a:latin typeface="Helvetica" pitchFamily="34" charset="0"/>
              </a:rPr>
              <a:t>Multi-day trips/tours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3074" name="Picture 2" descr="C:\Documents and Settings\Godaishu\Desktop\PHOTOS\2014\Shutterstock 25-a-day\shutterstock_25712629.jpg"/>
          <p:cNvPicPr>
            <a:picLocks noChangeAspect="1" noChangeArrowheads="1"/>
          </p:cNvPicPr>
          <p:nvPr/>
        </p:nvPicPr>
        <p:blipFill>
          <a:blip r:embed="rId3" cstate="print"/>
          <a:srcRect/>
          <a:stretch>
            <a:fillRect/>
          </a:stretch>
        </p:blipFill>
        <p:spPr bwMode="auto">
          <a:xfrm>
            <a:off x="6444208" y="2348880"/>
            <a:ext cx="1473101" cy="1473101"/>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itinerary for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Trips/tours may be classified as:</a:t>
            </a:r>
          </a:p>
          <a:p>
            <a:pPr marL="360000" indent="-360000">
              <a:spcBef>
                <a:spcPts val="600"/>
              </a:spcBef>
              <a:spcAft>
                <a:spcPts val="1200"/>
              </a:spcAft>
            </a:pPr>
            <a:r>
              <a:rPr lang="en-US" sz="2200" dirty="0" smtClean="0">
                <a:latin typeface="Helvetica" pitchFamily="34" charset="0"/>
              </a:rPr>
              <a:t>General tours</a:t>
            </a:r>
          </a:p>
          <a:p>
            <a:pPr marL="360000" indent="-360000">
              <a:spcBef>
                <a:spcPts val="600"/>
              </a:spcBef>
              <a:spcAft>
                <a:spcPts val="1200"/>
              </a:spcAft>
            </a:pPr>
            <a:r>
              <a:rPr lang="en-US" sz="2200" dirty="0" smtClean="0">
                <a:latin typeface="Helvetica" pitchFamily="34" charset="0"/>
              </a:rPr>
              <a:t>Private tours</a:t>
            </a:r>
          </a:p>
          <a:p>
            <a:pPr marL="360000" indent="-360000">
              <a:spcBef>
                <a:spcPts val="600"/>
              </a:spcBef>
              <a:spcAft>
                <a:spcPts val="1200"/>
              </a:spcAft>
            </a:pPr>
            <a:r>
              <a:rPr lang="en-US" sz="2200" dirty="0" smtClean="0">
                <a:latin typeface="Helvetica" pitchFamily="34" charset="0"/>
              </a:rPr>
              <a:t>Custom tours</a:t>
            </a:r>
          </a:p>
          <a:p>
            <a:pPr marL="360000" indent="-360000">
              <a:spcBef>
                <a:spcPts val="600"/>
              </a:spcBef>
              <a:spcAft>
                <a:spcPts val="1200"/>
              </a:spcAft>
            </a:pPr>
            <a:r>
              <a:rPr lang="en-US" sz="2200" dirty="0" smtClean="0">
                <a:latin typeface="Helvetica" pitchFamily="34" charset="0"/>
              </a:rPr>
              <a:t>Shore excursions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I:\Overseas Projects\PHOTOS\2014\Shutterstock 25-a-day\shutterstock_2433437.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2160" y="2420888"/>
            <a:ext cx="2081048" cy="137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itinerary for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Trip/tour purpose may be for:</a:t>
            </a:r>
          </a:p>
          <a:p>
            <a:pPr marL="360000" indent="-360000">
              <a:spcBef>
                <a:spcPts val="600"/>
              </a:spcBef>
              <a:spcAft>
                <a:spcPts val="1200"/>
              </a:spcAft>
            </a:pPr>
            <a:r>
              <a:rPr lang="en-US" sz="2200" dirty="0" smtClean="0">
                <a:latin typeface="Helvetica" pitchFamily="34" charset="0"/>
              </a:rPr>
              <a:t>Sightseeing</a:t>
            </a:r>
          </a:p>
          <a:p>
            <a:pPr marL="360000" indent="-360000">
              <a:spcBef>
                <a:spcPts val="600"/>
              </a:spcBef>
              <a:spcAft>
                <a:spcPts val="1200"/>
              </a:spcAft>
            </a:pPr>
            <a:r>
              <a:rPr lang="en-US" sz="2200" dirty="0" smtClean="0">
                <a:latin typeface="Helvetica" pitchFamily="34" charset="0"/>
              </a:rPr>
              <a:t>Education</a:t>
            </a:r>
          </a:p>
          <a:p>
            <a:pPr marL="360000" indent="-360000">
              <a:spcBef>
                <a:spcPts val="600"/>
              </a:spcBef>
              <a:spcAft>
                <a:spcPts val="1200"/>
              </a:spcAft>
            </a:pPr>
            <a:r>
              <a:rPr lang="en-US" sz="2200" dirty="0" smtClean="0">
                <a:latin typeface="Helvetica" pitchFamily="34" charset="0"/>
              </a:rPr>
              <a:t>An activity of some sort</a:t>
            </a:r>
          </a:p>
          <a:p>
            <a:pPr marL="360000" indent="-360000">
              <a:spcBef>
                <a:spcPts val="600"/>
              </a:spcBef>
              <a:spcAft>
                <a:spcPts val="1200"/>
              </a:spcAft>
            </a:pPr>
            <a:r>
              <a:rPr lang="en-US" sz="2200" dirty="0" smtClean="0">
                <a:latin typeface="Helvetica" pitchFamily="34" charset="0"/>
              </a:rPr>
              <a:t>A theme of some kind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4098" name="Picture 2" descr="C:\Documents and Settings\Godaishu\Desktop\PHOTOS\2014\Shutterstock 25-a-day\shutterstock_12743857.jpg"/>
          <p:cNvPicPr>
            <a:picLocks noChangeAspect="1" noChangeArrowheads="1"/>
          </p:cNvPicPr>
          <p:nvPr/>
        </p:nvPicPr>
        <p:blipFill>
          <a:blip r:embed="rId3" cstate="print"/>
          <a:srcRect/>
          <a:stretch>
            <a:fillRect/>
          </a:stretch>
        </p:blipFill>
        <p:spPr bwMode="auto">
          <a:xfrm>
            <a:off x="5580112" y="2276872"/>
            <a:ext cx="1669546" cy="1688009"/>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itinerary for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Transport for trips/tours may involve:</a:t>
            </a:r>
          </a:p>
          <a:p>
            <a:pPr marL="360000" indent="-360000">
              <a:spcBef>
                <a:spcPts val="600"/>
              </a:spcBef>
              <a:spcAft>
                <a:spcPts val="1200"/>
              </a:spcAft>
            </a:pPr>
            <a:r>
              <a:rPr lang="en-US" sz="2200" dirty="0" smtClean="0">
                <a:latin typeface="Helvetica" pitchFamily="34" charset="0"/>
              </a:rPr>
              <a:t>Water</a:t>
            </a:r>
          </a:p>
          <a:p>
            <a:pPr marL="360000" indent="-360000">
              <a:spcBef>
                <a:spcPts val="600"/>
              </a:spcBef>
              <a:spcAft>
                <a:spcPts val="1200"/>
              </a:spcAft>
            </a:pPr>
            <a:r>
              <a:rPr lang="en-US" sz="2200" dirty="0" smtClean="0">
                <a:latin typeface="Helvetica" pitchFamily="34" charset="0"/>
              </a:rPr>
              <a:t>Air</a:t>
            </a:r>
          </a:p>
          <a:p>
            <a:pPr marL="360000" indent="-360000">
              <a:spcBef>
                <a:spcPts val="600"/>
              </a:spcBef>
              <a:spcAft>
                <a:spcPts val="1200"/>
              </a:spcAft>
            </a:pPr>
            <a:r>
              <a:rPr lang="en-US" sz="2200" dirty="0" smtClean="0">
                <a:latin typeface="Helvetica" pitchFamily="34" charset="0"/>
              </a:rPr>
              <a:t>Vehicle</a:t>
            </a:r>
          </a:p>
          <a:p>
            <a:pPr marL="360000" indent="-360000">
              <a:spcBef>
                <a:spcPts val="600"/>
              </a:spcBef>
              <a:spcAft>
                <a:spcPts val="1200"/>
              </a:spcAft>
            </a:pPr>
            <a:r>
              <a:rPr lang="en-US" sz="2200" dirty="0" smtClean="0">
                <a:latin typeface="Helvetica" pitchFamily="34" charset="0"/>
              </a:rPr>
              <a:t>Animals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122" name="Picture 2" descr="C:\Documents and Settings\Godaishu\Desktop\PHOTOS\2014\Shutterstock 25-a-day\shutterstock_120637234.jpg"/>
          <p:cNvPicPr>
            <a:picLocks noChangeAspect="1" noChangeArrowheads="1"/>
          </p:cNvPicPr>
          <p:nvPr/>
        </p:nvPicPr>
        <p:blipFill>
          <a:blip r:embed="rId3" cstate="print"/>
          <a:srcRect/>
          <a:stretch>
            <a:fillRect/>
          </a:stretch>
        </p:blipFill>
        <p:spPr bwMode="auto">
          <a:xfrm>
            <a:off x="5076056" y="2420888"/>
            <a:ext cx="2280524" cy="1497781"/>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itinerary for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Trips/tours can include:</a:t>
            </a:r>
          </a:p>
          <a:p>
            <a:pPr marL="360000" indent="-360000">
              <a:spcBef>
                <a:spcPts val="600"/>
              </a:spcBef>
              <a:spcAft>
                <a:spcPts val="1200"/>
              </a:spcAft>
            </a:pPr>
            <a:r>
              <a:rPr lang="en-US" sz="2200" dirty="0" smtClean="0">
                <a:latin typeface="Helvetica" pitchFamily="34" charset="0"/>
              </a:rPr>
              <a:t>Local destinations</a:t>
            </a:r>
          </a:p>
          <a:p>
            <a:pPr marL="360000" indent="-360000">
              <a:spcBef>
                <a:spcPts val="600"/>
              </a:spcBef>
              <a:spcAft>
                <a:spcPts val="1200"/>
              </a:spcAft>
            </a:pPr>
            <a:r>
              <a:rPr lang="en-US" sz="2200" dirty="0" smtClean="0">
                <a:latin typeface="Helvetica" pitchFamily="34" charset="0"/>
              </a:rPr>
              <a:t>In-country destinations</a:t>
            </a:r>
          </a:p>
          <a:p>
            <a:pPr marL="360000" indent="-360000">
              <a:spcBef>
                <a:spcPts val="600"/>
              </a:spcBef>
              <a:spcAft>
                <a:spcPts val="1200"/>
              </a:spcAft>
            </a:pPr>
            <a:r>
              <a:rPr lang="en-US" sz="2200" dirty="0" smtClean="0">
                <a:latin typeface="Helvetica" pitchFamily="34" charset="0"/>
              </a:rPr>
              <a:t>International destinations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6146" name="Picture 2" descr="C:\Documents and Settings\Godaishu\Desktop\PHOTOS\2014\Shutterstock 25-a-day\shutterstock_109822970.jpg"/>
          <p:cNvPicPr>
            <a:picLocks noChangeAspect="1" noChangeArrowheads="1"/>
          </p:cNvPicPr>
          <p:nvPr/>
        </p:nvPicPr>
        <p:blipFill>
          <a:blip r:embed="rId3" cstate="print"/>
          <a:srcRect/>
          <a:stretch>
            <a:fillRect/>
          </a:stretch>
        </p:blipFill>
        <p:spPr bwMode="auto">
          <a:xfrm>
            <a:off x="5508104" y="1916832"/>
            <a:ext cx="2269629" cy="150954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itinerary for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Pre-departure checks are conducted to:</a:t>
            </a:r>
          </a:p>
          <a:p>
            <a:pPr marL="360000" indent="-360000">
              <a:spcBef>
                <a:spcPts val="600"/>
              </a:spcBef>
              <a:spcAft>
                <a:spcPts val="1200"/>
              </a:spcAft>
            </a:pPr>
            <a:r>
              <a:rPr lang="en-US" sz="2200" dirty="0" smtClean="0">
                <a:latin typeface="Helvetica" pitchFamily="34" charset="0"/>
              </a:rPr>
              <a:t>Ensure smooth operation of trip/tour</a:t>
            </a:r>
          </a:p>
          <a:p>
            <a:pPr marL="360000" indent="-360000">
              <a:spcBef>
                <a:spcPts val="600"/>
              </a:spcBef>
              <a:spcAft>
                <a:spcPts val="1200"/>
              </a:spcAft>
            </a:pPr>
            <a:r>
              <a:rPr lang="en-US" sz="2200" dirty="0" smtClean="0">
                <a:latin typeface="Helvetica" pitchFamily="34" charset="0"/>
              </a:rPr>
              <a:t>Meet customer expectations</a:t>
            </a:r>
          </a:p>
          <a:p>
            <a:pPr marL="360000" indent="-360000">
              <a:spcBef>
                <a:spcPts val="600"/>
              </a:spcBef>
              <a:spcAft>
                <a:spcPts val="1200"/>
              </a:spcAft>
            </a:pPr>
            <a:r>
              <a:rPr lang="en-US" sz="2200" dirty="0" smtClean="0">
                <a:latin typeface="Helvetica" pitchFamily="34" charset="0"/>
              </a:rPr>
              <a:t>Discharge legal obligations</a:t>
            </a:r>
          </a:p>
          <a:p>
            <a:pPr marL="360000" indent="-360000">
              <a:spcBef>
                <a:spcPts val="600"/>
              </a:spcBef>
              <a:spcAft>
                <a:spcPts val="1200"/>
              </a:spcAft>
            </a:pPr>
            <a:r>
              <a:rPr lang="en-US" sz="2200" dirty="0" smtClean="0">
                <a:latin typeface="Helvetica" pitchFamily="34" charset="0"/>
              </a:rPr>
              <a:t>Make sure all required items are loaded</a:t>
            </a:r>
          </a:p>
          <a:p>
            <a:pPr marL="360000" indent="-360000">
              <a:spcBef>
                <a:spcPts val="600"/>
              </a:spcBef>
              <a:spcAft>
                <a:spcPts val="1200"/>
              </a:spcAft>
            </a:pPr>
            <a:r>
              <a:rPr lang="en-US" sz="2200" dirty="0" smtClean="0">
                <a:latin typeface="Helvetica" pitchFamily="34" charset="0"/>
              </a:rPr>
              <a:t>Support tour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I:\Overseas Projects\PHOTOS\2014\Shutterstock 25-a-day\shutterstock_123665365.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0192" y="2492896"/>
            <a:ext cx="2049518" cy="1371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itinerary for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556792"/>
            <a:ext cx="7715304"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‘Itinerary’ = plan for trip/tour, which lists information such as:</a:t>
            </a:r>
          </a:p>
          <a:p>
            <a:pPr marL="360000" indent="-360000">
              <a:spcBef>
                <a:spcPts val="600"/>
              </a:spcBef>
              <a:spcAft>
                <a:spcPts val="1200"/>
              </a:spcAft>
            </a:pPr>
            <a:r>
              <a:rPr lang="en-US" sz="2200" dirty="0" smtClean="0">
                <a:latin typeface="Helvetica" pitchFamily="34" charset="0"/>
              </a:rPr>
              <a:t>Name and tour company details</a:t>
            </a:r>
          </a:p>
          <a:p>
            <a:pPr marL="360000" indent="-360000">
              <a:spcBef>
                <a:spcPts val="600"/>
              </a:spcBef>
              <a:spcAft>
                <a:spcPts val="1200"/>
              </a:spcAft>
            </a:pPr>
            <a:r>
              <a:rPr lang="en-US" sz="2200" dirty="0" smtClean="0">
                <a:latin typeface="Helvetica" pitchFamily="34" charset="0"/>
              </a:rPr>
              <a:t>Client/customer name</a:t>
            </a:r>
          </a:p>
          <a:p>
            <a:pPr marL="360000" indent="-360000">
              <a:spcBef>
                <a:spcPts val="600"/>
              </a:spcBef>
              <a:spcAft>
                <a:spcPts val="1200"/>
              </a:spcAft>
            </a:pPr>
            <a:r>
              <a:rPr lang="en-US" sz="2200" dirty="0" smtClean="0">
                <a:latin typeface="Helvetica" pitchFamily="34" charset="0"/>
              </a:rPr>
              <a:t>Dates and times</a:t>
            </a:r>
          </a:p>
          <a:p>
            <a:pPr marL="360000" indent="-360000">
              <a:spcBef>
                <a:spcPts val="600"/>
              </a:spcBef>
              <a:spcAft>
                <a:spcPts val="1200"/>
              </a:spcAft>
            </a:pPr>
            <a:r>
              <a:rPr lang="en-US" sz="2200" dirty="0" smtClean="0">
                <a:latin typeface="Helvetica" pitchFamily="34" charset="0"/>
              </a:rPr>
              <a:t>Destinations, activities and inclusions</a:t>
            </a:r>
          </a:p>
          <a:p>
            <a:pPr marL="360000" indent="-360000">
              <a:spcBef>
                <a:spcPts val="600"/>
              </a:spcBef>
              <a:spcAft>
                <a:spcPts val="1200"/>
              </a:spcAft>
            </a:pPr>
            <a:r>
              <a:rPr lang="en-US" sz="2200" dirty="0" smtClean="0">
                <a:latin typeface="Helvetica" pitchFamily="34" charset="0"/>
              </a:rPr>
              <a:t>Mode/s of transport and Accommodation</a:t>
            </a:r>
          </a:p>
          <a:p>
            <a:pPr marL="360000" indent="-360000">
              <a:spcBef>
                <a:spcPts val="600"/>
              </a:spcBef>
              <a:spcAft>
                <a:spcPts val="1200"/>
              </a:spcAft>
            </a:pPr>
            <a:r>
              <a:rPr lang="en-US" sz="2200" dirty="0" smtClean="0">
                <a:latin typeface="Helvetica" pitchFamily="34" charset="0"/>
              </a:rPr>
              <a:t>Terms and Conditions</a:t>
            </a:r>
          </a:p>
          <a:p>
            <a:pPr marL="360000" indent="-360000">
              <a:spcBef>
                <a:spcPts val="600"/>
              </a:spcBef>
              <a:spcAft>
                <a:spcPts val="1200"/>
              </a:spcAft>
            </a:pPr>
            <a:r>
              <a:rPr lang="en-US" sz="2200" dirty="0" smtClean="0">
                <a:latin typeface="Helvetica" pitchFamily="34" charset="0"/>
              </a:rPr>
              <a:t>Specific requirements for the trip/tour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descr="I:\Overseas Projects\PHOTOS\2014\Shutterstock 25-a-day\shutterstock_198825635.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8184" y="2636912"/>
            <a:ext cx="2089317" cy="135697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itinerary for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obtain copy of itinerary for trip/tour:</a:t>
            </a:r>
          </a:p>
          <a:p>
            <a:pPr marL="360000" indent="-360000">
              <a:spcBef>
                <a:spcPts val="600"/>
              </a:spcBef>
              <a:spcAft>
                <a:spcPts val="1200"/>
              </a:spcAft>
            </a:pPr>
            <a:r>
              <a:rPr lang="en-US" sz="2200" dirty="0" smtClean="0">
                <a:latin typeface="Helvetica" pitchFamily="34" charset="0"/>
              </a:rPr>
              <a:t>Speak to management</a:t>
            </a:r>
          </a:p>
          <a:p>
            <a:pPr marL="360000" indent="-360000">
              <a:spcBef>
                <a:spcPts val="600"/>
              </a:spcBef>
              <a:spcAft>
                <a:spcPts val="1200"/>
              </a:spcAft>
            </a:pPr>
            <a:r>
              <a:rPr lang="en-US" sz="2200" dirty="0" smtClean="0">
                <a:latin typeface="Helvetica" pitchFamily="34" charset="0"/>
              </a:rPr>
              <a:t>Refer to standard trip details</a:t>
            </a:r>
          </a:p>
          <a:p>
            <a:pPr marL="360000" indent="-360000">
              <a:spcBef>
                <a:spcPts val="600"/>
              </a:spcBef>
              <a:spcAft>
                <a:spcPts val="1200"/>
              </a:spcAft>
            </a:pPr>
            <a:r>
              <a:rPr lang="en-US" sz="2200" dirty="0" smtClean="0">
                <a:latin typeface="Helvetica" pitchFamily="34" charset="0"/>
              </a:rPr>
              <a:t>Look at the client file</a:t>
            </a:r>
          </a:p>
          <a:p>
            <a:pPr marL="360000" indent="-360000">
              <a:spcBef>
                <a:spcPts val="600"/>
              </a:spcBef>
              <a:spcAft>
                <a:spcPts val="1200"/>
              </a:spcAft>
            </a:pPr>
            <a:r>
              <a:rPr lang="en-US" sz="2200" dirty="0" smtClean="0">
                <a:latin typeface="Helvetica" pitchFamily="34" charset="0"/>
              </a:rPr>
              <a:t>Talk to other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7170" name="Picture 2" descr="C:\Documents and Settings\Godaishu\Desktop\PHOTOS\2014\Shutterstock 25-a-day\shutterstock_92144155.jpg"/>
          <p:cNvPicPr>
            <a:picLocks noChangeAspect="1" noChangeArrowheads="1"/>
          </p:cNvPicPr>
          <p:nvPr/>
        </p:nvPicPr>
        <p:blipFill>
          <a:blip r:embed="rId3" cstate="print"/>
          <a:srcRect/>
          <a:stretch>
            <a:fillRect/>
          </a:stretch>
        </p:blipFill>
        <p:spPr bwMode="auto">
          <a:xfrm>
            <a:off x="6228184" y="2564904"/>
            <a:ext cx="1985417" cy="133602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itinerary for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408712" cy="4525963"/>
          </a:xfrm>
        </p:spPr>
        <p:txBody>
          <a:bodyPr>
            <a:normAutofit/>
          </a:bodyPr>
          <a:lstStyle/>
          <a:p>
            <a:pPr marL="0" indent="0">
              <a:spcBef>
                <a:spcPts val="600"/>
              </a:spcBef>
              <a:spcAft>
                <a:spcPts val="1200"/>
              </a:spcAft>
              <a:buNone/>
            </a:pPr>
            <a:r>
              <a:rPr lang="en-US" sz="2200" dirty="0" smtClean="0">
                <a:latin typeface="Helvetica" pitchFamily="34" charset="0"/>
              </a:rPr>
              <a:t>Need to obtain hard copy itinerary:</a:t>
            </a:r>
          </a:p>
          <a:p>
            <a:pPr marL="360000" indent="-360000">
              <a:spcBef>
                <a:spcPts val="600"/>
              </a:spcBef>
              <a:spcAft>
                <a:spcPts val="1200"/>
              </a:spcAft>
            </a:pPr>
            <a:r>
              <a:rPr lang="en-US" sz="2200" dirty="0" smtClean="0">
                <a:latin typeface="Helvetica" pitchFamily="34" charset="0"/>
              </a:rPr>
              <a:t>To identify tour details</a:t>
            </a:r>
          </a:p>
          <a:p>
            <a:pPr marL="360000" indent="-360000">
              <a:spcBef>
                <a:spcPts val="600"/>
              </a:spcBef>
              <a:spcAft>
                <a:spcPts val="1200"/>
              </a:spcAft>
            </a:pPr>
            <a:r>
              <a:rPr lang="en-US" sz="2200" dirty="0" smtClean="0">
                <a:latin typeface="Helvetica" pitchFamily="34" charset="0"/>
              </a:rPr>
              <a:t>To establish the purpose of the trip/tour</a:t>
            </a:r>
          </a:p>
          <a:p>
            <a:pPr marL="360000" indent="-360000">
              <a:spcBef>
                <a:spcPts val="600"/>
              </a:spcBef>
              <a:spcAft>
                <a:spcPts val="1200"/>
              </a:spcAft>
            </a:pPr>
            <a:r>
              <a:rPr lang="en-US" sz="2200" dirty="0" smtClean="0">
                <a:latin typeface="Helvetica" pitchFamily="34" charset="0"/>
              </a:rPr>
              <a:t>To identify tour duration</a:t>
            </a:r>
          </a:p>
          <a:p>
            <a:pPr marL="360000" indent="-360000">
              <a:spcBef>
                <a:spcPts val="600"/>
              </a:spcBef>
              <a:spcAft>
                <a:spcPts val="1200"/>
              </a:spcAft>
            </a:pPr>
            <a:r>
              <a:rPr lang="en-US" sz="2200" dirty="0" smtClean="0">
                <a:latin typeface="Helvetica" pitchFamily="34" charset="0"/>
              </a:rPr>
              <a:t>To identify support services and suppliers involved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descr="C:\Users\danielc\AppData\Local\Microsoft\Windows\Temporary Internet Files\Content.IE5\A6X2UMIZ\7217721230_877668abe8_z[1].jpg"/>
          <p:cNvPicPr/>
          <p:nvPr/>
        </p:nvPicPr>
        <p:blipFill rotWithShape="1">
          <a:blip r:embed="rId3" cstate="print">
            <a:extLst>
              <a:ext uri="{28A0092B-C50C-407E-A947-70E740481C1C}">
                <a14:useLocalDpi xmlns:a14="http://schemas.microsoft.com/office/drawing/2010/main" val="0"/>
              </a:ext>
            </a:extLst>
          </a:blip>
          <a:srcRect b="-6"/>
          <a:stretch/>
        </p:blipFill>
        <p:spPr bwMode="auto">
          <a:xfrm>
            <a:off x="6660232" y="2564904"/>
            <a:ext cx="1752539" cy="1530202"/>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group numbers on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People on trips/tours may be called:</a:t>
            </a:r>
          </a:p>
          <a:p>
            <a:pPr marL="360000" indent="-360000">
              <a:spcBef>
                <a:spcPts val="600"/>
              </a:spcBef>
              <a:spcAft>
                <a:spcPts val="1200"/>
              </a:spcAft>
            </a:pPr>
            <a:r>
              <a:rPr lang="en-US" sz="2200" dirty="0" smtClean="0">
                <a:latin typeface="Helvetica" pitchFamily="34" charset="0"/>
              </a:rPr>
              <a:t>Customers</a:t>
            </a:r>
          </a:p>
          <a:p>
            <a:pPr marL="360000" indent="-360000">
              <a:spcBef>
                <a:spcPts val="600"/>
              </a:spcBef>
              <a:spcAft>
                <a:spcPts val="1200"/>
              </a:spcAft>
            </a:pPr>
            <a:r>
              <a:rPr lang="en-US" sz="2200" dirty="0" smtClean="0">
                <a:latin typeface="Helvetica" pitchFamily="34" charset="0"/>
              </a:rPr>
              <a:t>Clients</a:t>
            </a:r>
          </a:p>
          <a:p>
            <a:pPr marL="360000" indent="-360000">
              <a:spcBef>
                <a:spcPts val="600"/>
              </a:spcBef>
              <a:spcAft>
                <a:spcPts val="1200"/>
              </a:spcAft>
            </a:pPr>
            <a:r>
              <a:rPr lang="en-US" sz="2200" dirty="0" smtClean="0">
                <a:latin typeface="Helvetica" pitchFamily="34" charset="0"/>
              </a:rPr>
              <a:t>Guests</a:t>
            </a:r>
          </a:p>
          <a:p>
            <a:pPr marL="360000" indent="-360000">
              <a:spcBef>
                <a:spcPts val="600"/>
              </a:spcBef>
              <a:spcAft>
                <a:spcPts val="1200"/>
              </a:spcAft>
            </a:pPr>
            <a:r>
              <a:rPr lang="en-US" sz="2200" dirty="0" smtClean="0">
                <a:latin typeface="Helvetica" pitchFamily="34" charset="0"/>
              </a:rPr>
              <a:t>Pax</a:t>
            </a:r>
          </a:p>
          <a:p>
            <a:pPr marL="360000" indent="-360000">
              <a:spcBef>
                <a:spcPts val="600"/>
              </a:spcBef>
              <a:spcAft>
                <a:spcPts val="1200"/>
              </a:spcAft>
            </a:pPr>
            <a:r>
              <a:rPr lang="en-US" sz="2200" dirty="0" smtClean="0">
                <a:latin typeface="Helvetica" pitchFamily="34" charset="0"/>
              </a:rPr>
              <a:t>Tour group members/Tour members</a:t>
            </a:r>
          </a:p>
          <a:p>
            <a:pPr marL="360000" indent="-360000">
              <a:spcBef>
                <a:spcPts val="600"/>
              </a:spcBef>
              <a:spcAft>
                <a:spcPts val="1200"/>
              </a:spcAft>
            </a:pPr>
            <a:r>
              <a:rPr lang="en-US" sz="2200" dirty="0" smtClean="0">
                <a:latin typeface="Helvetica" pitchFamily="34" charset="0"/>
              </a:rPr>
              <a:t>Tour party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8194" name="Picture 2" descr="C:\Documents and Settings\Godaishu\Desktop\PHOTOS\2014\Shutterstock 25-a-day\shutterstock_112272779.jpg"/>
          <p:cNvPicPr>
            <a:picLocks noChangeAspect="1" noChangeArrowheads="1"/>
          </p:cNvPicPr>
          <p:nvPr/>
        </p:nvPicPr>
        <p:blipFill>
          <a:blip r:embed="rId3" cstate="print"/>
          <a:srcRect/>
          <a:stretch>
            <a:fillRect/>
          </a:stretch>
        </p:blipFill>
        <p:spPr bwMode="auto">
          <a:xfrm>
            <a:off x="5796136" y="2564904"/>
            <a:ext cx="2462559" cy="1642988"/>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group numbers on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Numbers on a trip/tour can be identified by:</a:t>
            </a:r>
          </a:p>
          <a:p>
            <a:pPr marL="360000" indent="-360000">
              <a:spcBef>
                <a:spcPts val="600"/>
              </a:spcBef>
              <a:spcAft>
                <a:spcPts val="1200"/>
              </a:spcAft>
            </a:pPr>
            <a:r>
              <a:rPr lang="en-US" sz="2200" dirty="0" smtClean="0">
                <a:latin typeface="Helvetica" pitchFamily="34" charset="0"/>
              </a:rPr>
              <a:t>Counting tickets/places sold</a:t>
            </a:r>
          </a:p>
          <a:p>
            <a:pPr marL="360000" indent="-360000">
              <a:spcBef>
                <a:spcPts val="600"/>
              </a:spcBef>
              <a:spcAft>
                <a:spcPts val="1200"/>
              </a:spcAft>
            </a:pPr>
            <a:r>
              <a:rPr lang="en-US" sz="2200" dirty="0" smtClean="0">
                <a:latin typeface="Helvetica" pitchFamily="34" charset="0"/>
              </a:rPr>
              <a:t>Checking client file</a:t>
            </a:r>
          </a:p>
          <a:p>
            <a:pPr marL="360000" indent="-360000">
              <a:spcBef>
                <a:spcPts val="600"/>
              </a:spcBef>
              <a:spcAft>
                <a:spcPts val="1200"/>
              </a:spcAft>
            </a:pPr>
            <a:r>
              <a:rPr lang="en-US" sz="2200" dirty="0" smtClean="0">
                <a:latin typeface="Helvetica" pitchFamily="34" charset="0"/>
              </a:rPr>
              <a:t>Speaking with management</a:t>
            </a:r>
          </a:p>
          <a:p>
            <a:pPr marL="360000" indent="-360000">
              <a:spcBef>
                <a:spcPts val="600"/>
              </a:spcBef>
              <a:spcAft>
                <a:spcPts val="1200"/>
              </a:spcAft>
            </a:pPr>
            <a:r>
              <a:rPr lang="en-US" sz="2200" dirty="0" smtClean="0">
                <a:latin typeface="Helvetica" pitchFamily="34" charset="0"/>
              </a:rPr>
              <a:t>Talking to tour and counter/sales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9218" name="Picture 2" descr="C:\Documents and Settings\Godaishu\Desktop\PHOTOS\2014\Shutterstock 25-a-day\shutterstock_194513720.jpg"/>
          <p:cNvPicPr>
            <a:picLocks noChangeAspect="1" noChangeArrowheads="1"/>
          </p:cNvPicPr>
          <p:nvPr/>
        </p:nvPicPr>
        <p:blipFill>
          <a:blip r:embed="rId3" cstate="print"/>
          <a:srcRect/>
          <a:stretch>
            <a:fillRect/>
          </a:stretch>
        </p:blipFill>
        <p:spPr bwMode="auto">
          <a:xfrm>
            <a:off x="5868144" y="2204864"/>
            <a:ext cx="2255912" cy="1505116"/>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group numbers on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624736" cy="4525963"/>
          </a:xfrm>
        </p:spPr>
        <p:txBody>
          <a:bodyPr>
            <a:noAutofit/>
          </a:bodyPr>
          <a:lstStyle/>
          <a:p>
            <a:pPr marL="0" indent="0">
              <a:spcBef>
                <a:spcPts val="600"/>
              </a:spcBef>
              <a:spcAft>
                <a:spcPts val="1200"/>
              </a:spcAft>
              <a:buNone/>
            </a:pPr>
            <a:r>
              <a:rPr lang="en-US" sz="2100" dirty="0" smtClean="0">
                <a:latin typeface="Helvetica" pitchFamily="34" charset="0"/>
              </a:rPr>
              <a:t>Need to identify tour members – to:</a:t>
            </a:r>
          </a:p>
          <a:p>
            <a:pPr marL="360000" indent="-360000">
              <a:spcBef>
                <a:spcPts val="600"/>
              </a:spcBef>
              <a:spcAft>
                <a:spcPts val="1200"/>
              </a:spcAft>
            </a:pPr>
            <a:r>
              <a:rPr lang="en-US" sz="2100" dirty="0" smtClean="0">
                <a:latin typeface="Helvetica" pitchFamily="34" charset="0"/>
              </a:rPr>
              <a:t>Identify tour numbers</a:t>
            </a:r>
          </a:p>
          <a:p>
            <a:pPr marL="360000" indent="-360000">
              <a:spcBef>
                <a:spcPts val="600"/>
              </a:spcBef>
              <a:spcAft>
                <a:spcPts val="1200"/>
              </a:spcAft>
            </a:pPr>
            <a:r>
              <a:rPr lang="en-US" sz="2100" dirty="0" smtClean="0">
                <a:latin typeface="Helvetica" pitchFamily="34" charset="0"/>
              </a:rPr>
              <a:t>Identify those who will join and/or depart tour </a:t>
            </a:r>
            <a:br>
              <a:rPr lang="en-US" sz="2100" dirty="0" smtClean="0">
                <a:latin typeface="Helvetica" pitchFamily="34" charset="0"/>
              </a:rPr>
            </a:br>
            <a:r>
              <a:rPr lang="en-US" sz="2100" i="1" dirty="0" smtClean="0">
                <a:latin typeface="Helvetica" pitchFamily="34" charset="0"/>
              </a:rPr>
              <a:t>en route</a:t>
            </a:r>
          </a:p>
          <a:p>
            <a:pPr marL="360000" indent="-360000">
              <a:spcBef>
                <a:spcPts val="600"/>
              </a:spcBef>
              <a:spcAft>
                <a:spcPts val="1200"/>
              </a:spcAft>
            </a:pPr>
            <a:r>
              <a:rPr lang="en-US" sz="2100" dirty="0" smtClean="0">
                <a:latin typeface="Helvetica" pitchFamily="34" charset="0"/>
              </a:rPr>
              <a:t>Determine type and nature of group/tour</a:t>
            </a:r>
          </a:p>
          <a:p>
            <a:pPr marL="360000" indent="-360000">
              <a:spcBef>
                <a:spcPts val="600"/>
              </a:spcBef>
              <a:spcAft>
                <a:spcPts val="1200"/>
              </a:spcAft>
            </a:pPr>
            <a:r>
              <a:rPr lang="en-US" sz="2100" dirty="0" smtClean="0">
                <a:latin typeface="Helvetica" pitchFamily="34" charset="0"/>
              </a:rPr>
              <a:t>Determine general nature of requirements/resources</a:t>
            </a:r>
          </a:p>
          <a:p>
            <a:pPr marL="360000" indent="-360000">
              <a:spcBef>
                <a:spcPts val="600"/>
              </a:spcBef>
              <a:spcAft>
                <a:spcPts val="1200"/>
              </a:spcAft>
            </a:pPr>
            <a:r>
              <a:rPr lang="en-US" sz="2100" dirty="0" smtClean="0">
                <a:latin typeface="Helvetica" pitchFamily="34" charset="0"/>
              </a:rPr>
              <a:t>Get a feel for usage of resources by tour members</a:t>
            </a:r>
          </a:p>
          <a:p>
            <a:pPr marL="360000" indent="-360000" algn="ctr">
              <a:spcBef>
                <a:spcPts val="600"/>
              </a:spcBef>
              <a:spcAft>
                <a:spcPts val="1200"/>
              </a:spcAft>
              <a:buNone/>
            </a:pPr>
            <a:r>
              <a:rPr lang="en-US" sz="2100" dirty="0" smtClean="0">
                <a:latin typeface="Helvetica" pitchFamily="34" charset="0"/>
              </a:rPr>
              <a:t>Some operators provide standard resources regardless of numbers booked (‘par stock’).</a:t>
            </a: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10242" name="Picture 2" descr="C:\Documents and Settings\Godaishu\Desktop\PHOTOS\2014\Shutterstock 25-a-day\shutterstock_193827812.jpg"/>
          <p:cNvPicPr>
            <a:picLocks noChangeAspect="1" noChangeArrowheads="1"/>
          </p:cNvPicPr>
          <p:nvPr/>
        </p:nvPicPr>
        <p:blipFill>
          <a:blip r:embed="rId3" cstate="print"/>
          <a:srcRect/>
          <a:stretch>
            <a:fillRect/>
          </a:stretch>
        </p:blipFill>
        <p:spPr bwMode="auto">
          <a:xfrm>
            <a:off x="6388955" y="3140968"/>
            <a:ext cx="1932906" cy="1289611"/>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group numbers on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Additional documents may be needed to:</a:t>
            </a:r>
          </a:p>
          <a:p>
            <a:pPr marL="360000" indent="-360000">
              <a:spcBef>
                <a:spcPts val="600"/>
              </a:spcBef>
              <a:spcAft>
                <a:spcPts val="1200"/>
              </a:spcAft>
            </a:pPr>
            <a:r>
              <a:rPr lang="en-US" sz="2200" dirty="0" smtClean="0">
                <a:latin typeface="Helvetica" pitchFamily="34" charset="0"/>
              </a:rPr>
              <a:t>Give to tour staff</a:t>
            </a:r>
          </a:p>
          <a:p>
            <a:pPr marL="360000" indent="-360000">
              <a:spcBef>
                <a:spcPts val="600"/>
              </a:spcBef>
              <a:spcAft>
                <a:spcPts val="1200"/>
              </a:spcAft>
            </a:pPr>
            <a:r>
              <a:rPr lang="en-US" sz="2200" dirty="0" smtClean="0">
                <a:latin typeface="Helvetica" pitchFamily="34" charset="0"/>
              </a:rPr>
              <a:t>Load onto tour vehicle/s</a:t>
            </a:r>
          </a:p>
          <a:p>
            <a:pPr marL="360000" indent="-360000">
              <a:spcBef>
                <a:spcPts val="600"/>
              </a:spcBef>
              <a:spcAft>
                <a:spcPts val="1200"/>
              </a:spcAft>
            </a:pPr>
            <a:r>
              <a:rPr lang="en-US" sz="2200" dirty="0" smtClean="0">
                <a:latin typeface="Helvetica" pitchFamily="34" charset="0"/>
              </a:rPr>
              <a:t>Forward the third party providers</a:t>
            </a:r>
          </a:p>
          <a:p>
            <a:pPr marL="360000" indent="-360000">
              <a:spcBef>
                <a:spcPts val="600"/>
              </a:spcBef>
              <a:spcAft>
                <a:spcPts val="1200"/>
              </a:spcAft>
            </a:pPr>
            <a:r>
              <a:rPr lang="en-US" sz="2200" dirty="0" smtClean="0">
                <a:latin typeface="Helvetica" pitchFamily="34" charset="0"/>
              </a:rPr>
              <a:t>Form the basis of various internal protocols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descr="I:\Overseas Projects\PHOTOS\2014\Shutterstock 25-a-day\shutterstock_11012749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0232" y="1916832"/>
            <a:ext cx="1450428" cy="217564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group numbers on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Other/extra documents may include:</a:t>
            </a:r>
          </a:p>
          <a:p>
            <a:pPr marL="360000" indent="-360000">
              <a:spcBef>
                <a:spcPts val="600"/>
              </a:spcBef>
              <a:spcAft>
                <a:spcPts val="1200"/>
              </a:spcAft>
            </a:pPr>
            <a:r>
              <a:rPr lang="en-US" sz="2200" dirty="0" smtClean="0">
                <a:latin typeface="Helvetica" pitchFamily="34" charset="0"/>
              </a:rPr>
              <a:t>Passenger lists</a:t>
            </a:r>
          </a:p>
          <a:p>
            <a:pPr marL="360000" indent="-360000">
              <a:spcBef>
                <a:spcPts val="600"/>
              </a:spcBef>
              <a:spcAft>
                <a:spcPts val="1200"/>
              </a:spcAft>
            </a:pPr>
            <a:r>
              <a:rPr lang="en-US" sz="2200" dirty="0" smtClean="0">
                <a:latin typeface="Helvetica" pitchFamily="34" charset="0"/>
              </a:rPr>
              <a:t>Manifests</a:t>
            </a:r>
          </a:p>
          <a:p>
            <a:pPr marL="360000" indent="-360000">
              <a:spcBef>
                <a:spcPts val="600"/>
              </a:spcBef>
              <a:spcAft>
                <a:spcPts val="1200"/>
              </a:spcAft>
            </a:pPr>
            <a:r>
              <a:rPr lang="en-US" sz="2200" dirty="0" smtClean="0">
                <a:latin typeface="Helvetica" pitchFamily="34" charset="0"/>
              </a:rPr>
              <a:t>Seating lists</a:t>
            </a:r>
          </a:p>
          <a:p>
            <a:pPr marL="360000" indent="-360000">
              <a:spcBef>
                <a:spcPts val="600"/>
              </a:spcBef>
              <a:spcAft>
                <a:spcPts val="1200"/>
              </a:spcAft>
            </a:pPr>
            <a:r>
              <a:rPr lang="en-US" sz="2200" dirty="0" smtClean="0">
                <a:latin typeface="Helvetica" pitchFamily="34" charset="0"/>
              </a:rPr>
              <a:t>Rooming lists</a:t>
            </a:r>
          </a:p>
          <a:p>
            <a:pPr marL="360000" indent="-360000">
              <a:spcBef>
                <a:spcPts val="600"/>
              </a:spcBef>
              <a:spcAft>
                <a:spcPts val="1200"/>
              </a:spcAft>
            </a:pPr>
            <a:r>
              <a:rPr lang="en-US" sz="2200" dirty="0" smtClean="0">
                <a:latin typeface="Helvetica" pitchFamily="34" charset="0"/>
              </a:rPr>
              <a:t>Technical/operations itinerary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11266" name="Picture 2" descr="C:\Documents and Settings\Godaishu\Desktop\PHOTOS\2014\Shutterstock 25-a-day\Best Tour_129392636.jpg"/>
          <p:cNvPicPr>
            <a:picLocks noChangeAspect="1" noChangeArrowheads="1"/>
          </p:cNvPicPr>
          <p:nvPr/>
        </p:nvPicPr>
        <p:blipFill>
          <a:blip r:embed="rId3" cstate="print"/>
          <a:srcRect/>
          <a:stretch>
            <a:fillRect/>
          </a:stretch>
        </p:blipFill>
        <p:spPr bwMode="auto">
          <a:xfrm>
            <a:off x="6156175" y="2767535"/>
            <a:ext cx="2082949" cy="194734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group numbers on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Catering information</a:t>
            </a:r>
          </a:p>
          <a:p>
            <a:pPr marL="360000" indent="-360000">
              <a:spcBef>
                <a:spcPts val="600"/>
              </a:spcBef>
              <a:spcAft>
                <a:spcPts val="1200"/>
              </a:spcAft>
            </a:pPr>
            <a:r>
              <a:rPr lang="en-US" sz="2200" dirty="0" smtClean="0">
                <a:latin typeface="Helvetica" pitchFamily="34" charset="0"/>
              </a:rPr>
              <a:t>Supply lists</a:t>
            </a:r>
          </a:p>
          <a:p>
            <a:pPr marL="360000" indent="-360000">
              <a:spcBef>
                <a:spcPts val="600"/>
              </a:spcBef>
              <a:spcAft>
                <a:spcPts val="1200"/>
              </a:spcAft>
            </a:pPr>
            <a:r>
              <a:rPr lang="en-US" sz="2200" dirty="0" smtClean="0">
                <a:latin typeface="Helvetica" pitchFamily="34" charset="0"/>
              </a:rPr>
              <a:t>Checklists</a:t>
            </a:r>
          </a:p>
          <a:p>
            <a:pPr marL="360000" indent="-360000">
              <a:spcBef>
                <a:spcPts val="600"/>
              </a:spcBef>
              <a:spcAft>
                <a:spcPts val="1200"/>
              </a:spcAft>
            </a:pPr>
            <a:r>
              <a:rPr lang="en-US" sz="2200" dirty="0" smtClean="0">
                <a:latin typeface="Helvetica" pitchFamily="34" charset="0"/>
              </a:rPr>
              <a:t>Fault reports</a:t>
            </a:r>
          </a:p>
          <a:p>
            <a:pPr marL="360000" indent="-360000">
              <a:spcBef>
                <a:spcPts val="600"/>
              </a:spcBef>
              <a:spcAft>
                <a:spcPts val="1200"/>
              </a:spcAft>
            </a:pPr>
            <a:r>
              <a:rPr lang="en-US" sz="2200" dirty="0" smtClean="0">
                <a:latin typeface="Helvetica" pitchFamily="34" charset="0"/>
              </a:rPr>
              <a:t>Weather reports</a:t>
            </a:r>
          </a:p>
          <a:p>
            <a:pPr marL="360000" indent="-360000">
              <a:spcBef>
                <a:spcPts val="600"/>
              </a:spcBef>
              <a:spcAft>
                <a:spcPts val="1200"/>
              </a:spcAft>
            </a:pPr>
            <a:r>
              <a:rPr lang="en-US" sz="2200" dirty="0" smtClean="0">
                <a:latin typeface="Helvetica" pitchFamily="34" charset="0"/>
              </a:rPr>
              <a:t>Road reports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12290" name="Picture 2" descr="C:\Documents and Settings\Godaishu\Desktop\PHOTOS\2014\Shutterstock 25-a-day\shutterstock_172395437.jpg"/>
          <p:cNvPicPr>
            <a:picLocks noChangeAspect="1" noChangeArrowheads="1"/>
          </p:cNvPicPr>
          <p:nvPr/>
        </p:nvPicPr>
        <p:blipFill>
          <a:blip r:embed="rId3" cstate="print"/>
          <a:srcRect/>
          <a:stretch>
            <a:fillRect/>
          </a:stretch>
        </p:blipFill>
        <p:spPr bwMode="auto">
          <a:xfrm>
            <a:off x="5580112" y="2564904"/>
            <a:ext cx="2563689" cy="1710461"/>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supplies that can be obtained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552728" cy="4824536"/>
          </a:xfrm>
        </p:spPr>
        <p:txBody>
          <a:bodyPr>
            <a:normAutofit lnSpcReduction="10000"/>
          </a:bodyPr>
          <a:lstStyle/>
          <a:p>
            <a:pPr marL="0" indent="0">
              <a:spcBef>
                <a:spcPts val="600"/>
              </a:spcBef>
              <a:spcAft>
                <a:spcPts val="1200"/>
              </a:spcAft>
              <a:buNone/>
            </a:pPr>
            <a:r>
              <a:rPr lang="en-US" sz="2200" dirty="0" smtClean="0">
                <a:latin typeface="Helvetica" pitchFamily="34" charset="0"/>
              </a:rPr>
              <a:t>Tour operators may use third party providers because:</a:t>
            </a:r>
          </a:p>
          <a:p>
            <a:pPr marL="360000" indent="-360000">
              <a:spcBef>
                <a:spcPts val="600"/>
              </a:spcBef>
              <a:spcAft>
                <a:spcPts val="1200"/>
              </a:spcAft>
            </a:pPr>
            <a:r>
              <a:rPr lang="en-US" sz="2200" dirty="0" smtClean="0">
                <a:latin typeface="Helvetica" pitchFamily="34" charset="0"/>
              </a:rPr>
              <a:t>This may be the most effective and efficient option</a:t>
            </a:r>
          </a:p>
          <a:p>
            <a:pPr marL="360000" indent="-360000">
              <a:spcBef>
                <a:spcPts val="600"/>
              </a:spcBef>
              <a:spcAft>
                <a:spcPts val="1200"/>
              </a:spcAft>
            </a:pPr>
            <a:r>
              <a:rPr lang="en-US" sz="2200" dirty="0" smtClean="0">
                <a:latin typeface="Helvetica" pitchFamily="34" charset="0"/>
              </a:rPr>
              <a:t>Resources from them may be less expensive</a:t>
            </a:r>
          </a:p>
          <a:p>
            <a:pPr marL="360000" indent="-360000">
              <a:spcBef>
                <a:spcPts val="600"/>
              </a:spcBef>
              <a:spcAft>
                <a:spcPts val="1200"/>
              </a:spcAft>
            </a:pPr>
            <a:r>
              <a:rPr lang="en-US" sz="2200" dirty="0" smtClean="0">
                <a:latin typeface="Helvetica" pitchFamily="34" charset="0"/>
              </a:rPr>
              <a:t>They may add ‘local flavour’</a:t>
            </a:r>
          </a:p>
          <a:p>
            <a:pPr marL="360000" indent="-360000">
              <a:spcBef>
                <a:spcPts val="600"/>
              </a:spcBef>
              <a:spcAft>
                <a:spcPts val="1200"/>
              </a:spcAft>
            </a:pPr>
            <a:r>
              <a:rPr lang="en-US" sz="2200" dirty="0" smtClean="0">
                <a:latin typeface="Helvetica" pitchFamily="34" charset="0"/>
              </a:rPr>
              <a:t>It may add ‘luxury’ and ‘indulgence’ </a:t>
            </a:r>
          </a:p>
          <a:p>
            <a:pPr marL="360000" indent="-360000">
              <a:spcBef>
                <a:spcPts val="600"/>
              </a:spcBef>
              <a:spcAft>
                <a:spcPts val="1200"/>
              </a:spcAft>
            </a:pPr>
            <a:r>
              <a:rPr lang="en-US" sz="2200" dirty="0" smtClean="0">
                <a:latin typeface="Helvetica" pitchFamily="34" charset="0"/>
              </a:rPr>
              <a:t>They are the only option at a certain location</a:t>
            </a:r>
          </a:p>
          <a:p>
            <a:pPr marL="360000" indent="-360000">
              <a:spcBef>
                <a:spcPts val="600"/>
              </a:spcBef>
              <a:spcAft>
                <a:spcPts val="1200"/>
              </a:spcAft>
            </a:pPr>
            <a:r>
              <a:rPr lang="en-US" sz="2200" dirty="0" smtClean="0">
                <a:latin typeface="Helvetica" pitchFamily="34" charset="0"/>
              </a:rPr>
              <a:t>Their use may be part of a deal to help create jobs and/or support the local economy </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13314" name="Picture 2" descr="C:\Documents and Settings\Godaishu\Desktop\PHOTOS\2014\Shutterstock 25-a-day\shutterstock_180793907.jpg"/>
          <p:cNvPicPr>
            <a:picLocks noChangeAspect="1" noChangeArrowheads="1"/>
          </p:cNvPicPr>
          <p:nvPr/>
        </p:nvPicPr>
        <p:blipFill>
          <a:blip r:embed="rId3" cstate="print"/>
          <a:srcRect/>
          <a:stretch>
            <a:fillRect/>
          </a:stretch>
        </p:blipFill>
        <p:spPr bwMode="auto">
          <a:xfrm>
            <a:off x="6948264" y="3212976"/>
            <a:ext cx="1936726" cy="1526181"/>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supplies that can be obtained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120680" cy="4824536"/>
          </a:xfrm>
        </p:spPr>
        <p:txBody>
          <a:bodyPr>
            <a:normAutofit lnSpcReduction="10000"/>
          </a:bodyPr>
          <a:lstStyle/>
          <a:p>
            <a:pPr marL="0" indent="0">
              <a:spcBef>
                <a:spcPts val="600"/>
              </a:spcBef>
              <a:spcAft>
                <a:spcPts val="1200"/>
              </a:spcAft>
              <a:buNone/>
            </a:pPr>
            <a:r>
              <a:rPr lang="en-US" sz="2200" dirty="0" smtClean="0">
                <a:latin typeface="Helvetica" pitchFamily="34" charset="0"/>
              </a:rPr>
              <a:t>Some operators may undertake a cost-benefit analysis in relation to the use of third party providers.</a:t>
            </a:r>
          </a:p>
          <a:p>
            <a:pPr marL="0" indent="0">
              <a:spcBef>
                <a:spcPts val="600"/>
              </a:spcBef>
              <a:spcAft>
                <a:spcPts val="1200"/>
              </a:spcAft>
              <a:buNone/>
            </a:pPr>
            <a:r>
              <a:rPr lang="en-US" sz="2200" dirty="0" smtClean="0">
                <a:latin typeface="Helvetica" pitchFamily="34" charset="0"/>
              </a:rPr>
              <a:t>This analysis:</a:t>
            </a:r>
          </a:p>
          <a:p>
            <a:pPr marL="360000" indent="-360000">
              <a:spcBef>
                <a:spcPts val="600"/>
              </a:spcBef>
              <a:spcAft>
                <a:spcPts val="1200"/>
              </a:spcAft>
            </a:pPr>
            <a:r>
              <a:rPr lang="en-AU" sz="2100" dirty="0" smtClean="0">
                <a:latin typeface="Helvetica" pitchFamily="34" charset="0"/>
              </a:rPr>
              <a:t>Identifies items (products and services) available at different points along the tour</a:t>
            </a:r>
          </a:p>
          <a:p>
            <a:pPr marL="360000" indent="-360000">
              <a:spcBef>
                <a:spcPts val="600"/>
              </a:spcBef>
              <a:spcAft>
                <a:spcPts val="1200"/>
              </a:spcAft>
            </a:pPr>
            <a:r>
              <a:rPr lang="en-AU" sz="2200" dirty="0" smtClean="0">
                <a:latin typeface="Helvetica" pitchFamily="34" charset="0"/>
              </a:rPr>
              <a:t>Assesses their price and quality</a:t>
            </a:r>
          </a:p>
          <a:p>
            <a:pPr marL="360000" indent="-360000">
              <a:spcBef>
                <a:spcPts val="600"/>
              </a:spcBef>
              <a:spcAft>
                <a:spcPts val="1200"/>
              </a:spcAft>
            </a:pPr>
            <a:r>
              <a:rPr lang="en-AU" sz="2200" dirty="0" smtClean="0">
                <a:latin typeface="Helvetica" pitchFamily="34" charset="0"/>
              </a:rPr>
              <a:t>Evaluates suitability and integration of items into the tour</a:t>
            </a:r>
          </a:p>
          <a:p>
            <a:pPr marL="360000" indent="-360000">
              <a:spcBef>
                <a:spcPts val="600"/>
              </a:spcBef>
              <a:spcAft>
                <a:spcPts val="1200"/>
              </a:spcAft>
            </a:pPr>
            <a:r>
              <a:rPr lang="en-AU" sz="2200" dirty="0" smtClean="0">
                <a:latin typeface="Helvetica" pitchFamily="34" charset="0"/>
              </a:rPr>
              <a:t>Determines the decision to take supplies, or buy them </a:t>
            </a:r>
            <a:r>
              <a:rPr lang="en-AU" sz="2200" i="1" dirty="0" smtClean="0">
                <a:latin typeface="Helvetica" pitchFamily="34" charset="0"/>
              </a:rPr>
              <a:t>en route</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14338" name="Picture 2" descr="C:\Documents and Settings\Godaishu\Desktop\PHOTOS\2014\Shutterstock 25-a-day\shutterstock_78852082.jpg"/>
          <p:cNvPicPr>
            <a:picLocks noChangeAspect="1" noChangeArrowheads="1"/>
          </p:cNvPicPr>
          <p:nvPr/>
        </p:nvPicPr>
        <p:blipFill>
          <a:blip r:embed="rId3" cstate="print"/>
          <a:srcRect/>
          <a:stretch>
            <a:fillRect/>
          </a:stretch>
        </p:blipFill>
        <p:spPr bwMode="auto">
          <a:xfrm>
            <a:off x="6228184" y="2492896"/>
            <a:ext cx="1938094" cy="1860368"/>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supplies that can be obtained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identify possible third party providers in an area:</a:t>
            </a:r>
          </a:p>
          <a:p>
            <a:pPr marL="360000" indent="-360000">
              <a:spcBef>
                <a:spcPts val="600"/>
              </a:spcBef>
              <a:spcAft>
                <a:spcPts val="1200"/>
              </a:spcAft>
            </a:pPr>
            <a:r>
              <a:rPr lang="en-US" sz="2200" dirty="0" smtClean="0">
                <a:latin typeface="Helvetica" pitchFamily="34" charset="0"/>
              </a:rPr>
              <a:t>Speak to tour staff</a:t>
            </a:r>
          </a:p>
          <a:p>
            <a:pPr marL="360000" indent="-360000">
              <a:spcBef>
                <a:spcPts val="600"/>
              </a:spcBef>
              <a:spcAft>
                <a:spcPts val="1200"/>
              </a:spcAft>
            </a:pPr>
            <a:r>
              <a:rPr lang="en-AU" sz="2200" dirty="0" smtClean="0">
                <a:latin typeface="Helvetica" pitchFamily="34" charset="0"/>
              </a:rPr>
              <a:t>Read the details of any arrangements entered into with local communities</a:t>
            </a:r>
          </a:p>
          <a:p>
            <a:pPr marL="360000" indent="-360000">
              <a:spcBef>
                <a:spcPts val="600"/>
              </a:spcBef>
              <a:spcAft>
                <a:spcPts val="1200"/>
              </a:spcAft>
            </a:pPr>
            <a:r>
              <a:rPr lang="en-US" sz="2200" dirty="0" smtClean="0">
                <a:latin typeface="Helvetica" pitchFamily="34" charset="0"/>
              </a:rPr>
              <a:t>Conduct internet searches</a:t>
            </a:r>
          </a:p>
          <a:p>
            <a:pPr marL="360000" indent="-360000">
              <a:spcBef>
                <a:spcPts val="600"/>
              </a:spcBef>
              <a:spcAft>
                <a:spcPts val="1200"/>
              </a:spcAft>
            </a:pPr>
            <a:r>
              <a:rPr lang="en-US" sz="2200" dirty="0" smtClean="0">
                <a:latin typeface="Helvetica" pitchFamily="34" charset="0"/>
              </a:rPr>
              <a:t>Use region-specific telephone books</a:t>
            </a:r>
          </a:p>
          <a:p>
            <a:pPr marL="360000" indent="-360000">
              <a:spcBef>
                <a:spcPts val="600"/>
              </a:spcBef>
              <a:spcAft>
                <a:spcPts val="1200"/>
              </a:spcAft>
            </a:pPr>
            <a:r>
              <a:rPr lang="en-US" sz="2200" dirty="0" smtClean="0">
                <a:latin typeface="Helvetica" pitchFamily="34" charset="0"/>
              </a:rPr>
              <a:t>Talk to competitors</a:t>
            </a:r>
          </a:p>
          <a:p>
            <a:pPr marL="360000" indent="-360000">
              <a:spcBef>
                <a:spcPts val="600"/>
              </a:spcBef>
              <a:spcAft>
                <a:spcPts val="1200"/>
              </a:spcAft>
            </a:pPr>
            <a:r>
              <a:rPr lang="en-US" sz="2200" dirty="0" smtClean="0">
                <a:latin typeface="Helvetica" pitchFamily="34" charset="0"/>
              </a:rPr>
              <a:t>Visit/go to the area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15362" name="Picture 2" descr="C:\Documents and Settings\Godaishu\Desktop\PHOTOS\2014\Shutterstock 25-a-day\shutterstock_76772998.jpg"/>
          <p:cNvPicPr>
            <a:picLocks noChangeAspect="1" noChangeArrowheads="1"/>
          </p:cNvPicPr>
          <p:nvPr/>
        </p:nvPicPr>
        <p:blipFill>
          <a:blip r:embed="rId3" cstate="print"/>
          <a:srcRect/>
          <a:stretch>
            <a:fillRect/>
          </a:stretch>
        </p:blipFill>
        <p:spPr bwMode="auto">
          <a:xfrm>
            <a:off x="6084168" y="3645024"/>
            <a:ext cx="2092673" cy="1569505"/>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supplies that can be obtained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556792"/>
            <a:ext cx="7643866" cy="4525963"/>
          </a:xfrm>
        </p:spPr>
        <p:txBody>
          <a:bodyPr>
            <a:normAutofit/>
          </a:bodyPr>
          <a:lstStyle/>
          <a:p>
            <a:pPr marL="0" indent="0">
              <a:spcBef>
                <a:spcPts val="600"/>
              </a:spcBef>
              <a:spcAft>
                <a:spcPts val="1200"/>
              </a:spcAft>
              <a:buNone/>
            </a:pPr>
            <a:r>
              <a:rPr lang="en-US" sz="2200" dirty="0" smtClean="0">
                <a:latin typeface="Helvetica" pitchFamily="34" charset="0"/>
              </a:rPr>
              <a:t>Pre-tour arrangements for third party providers may include:</a:t>
            </a:r>
          </a:p>
          <a:p>
            <a:pPr marL="360000" indent="-360000">
              <a:spcBef>
                <a:spcPts val="600"/>
              </a:spcBef>
              <a:spcAft>
                <a:spcPts val="1200"/>
              </a:spcAft>
            </a:pPr>
            <a:r>
              <a:rPr lang="en-US" sz="2200" dirty="0" smtClean="0">
                <a:latin typeface="Helvetica" pitchFamily="34" charset="0"/>
              </a:rPr>
              <a:t>Comparing price and quality</a:t>
            </a:r>
          </a:p>
          <a:p>
            <a:pPr marL="360000" indent="-360000">
              <a:spcBef>
                <a:spcPts val="600"/>
              </a:spcBef>
              <a:spcAft>
                <a:spcPts val="1200"/>
              </a:spcAft>
            </a:pPr>
            <a:r>
              <a:rPr lang="en-US" sz="2200" dirty="0" smtClean="0">
                <a:latin typeface="Helvetica" pitchFamily="34" charset="0"/>
              </a:rPr>
              <a:t>Negotiating deals</a:t>
            </a:r>
          </a:p>
          <a:p>
            <a:pPr marL="360000" indent="-360000">
              <a:spcBef>
                <a:spcPts val="600"/>
              </a:spcBef>
              <a:spcAft>
                <a:spcPts val="1200"/>
              </a:spcAft>
            </a:pPr>
            <a:r>
              <a:rPr lang="en-US" sz="2200" dirty="0" smtClean="0">
                <a:latin typeface="Helvetica" pitchFamily="34" charset="0"/>
              </a:rPr>
              <a:t>Developing supporting documentation</a:t>
            </a:r>
          </a:p>
          <a:p>
            <a:pPr marL="360000" indent="-360000">
              <a:spcBef>
                <a:spcPts val="600"/>
              </a:spcBef>
              <a:spcAft>
                <a:spcPts val="1200"/>
              </a:spcAft>
            </a:pPr>
            <a:r>
              <a:rPr lang="en-US" sz="2200" dirty="0" smtClean="0">
                <a:latin typeface="Helvetica" pitchFamily="34" charset="0"/>
              </a:rPr>
              <a:t>Organising credit</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16386" name="Picture 2" descr="C:\Documents and Settings\Godaishu\Desktop\PHOTOS\2014\Shutterstock 25-a-day\shutterstock_128160200.jpg"/>
          <p:cNvPicPr>
            <a:picLocks noChangeAspect="1" noChangeArrowheads="1"/>
          </p:cNvPicPr>
          <p:nvPr/>
        </p:nvPicPr>
        <p:blipFill>
          <a:blip r:embed="rId3" cstate="print"/>
          <a:srcRect/>
          <a:stretch>
            <a:fillRect/>
          </a:stretch>
        </p:blipFill>
        <p:spPr bwMode="auto">
          <a:xfrm>
            <a:off x="6516216" y="2852936"/>
            <a:ext cx="1754295" cy="1633687"/>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supplies that can be obtained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624736" cy="4525963"/>
          </a:xfrm>
        </p:spPr>
        <p:txBody>
          <a:bodyPr>
            <a:normAutofit/>
          </a:bodyPr>
          <a:lstStyle/>
          <a:p>
            <a:pPr marL="360000" indent="-360000">
              <a:spcBef>
                <a:spcPts val="600"/>
              </a:spcBef>
              <a:spcAft>
                <a:spcPts val="1200"/>
              </a:spcAft>
            </a:pPr>
            <a:r>
              <a:rPr lang="en-US" sz="2200" dirty="0" smtClean="0">
                <a:latin typeface="Helvetica" pitchFamily="34" charset="0"/>
              </a:rPr>
              <a:t>Pre-paying for items</a:t>
            </a:r>
          </a:p>
          <a:p>
            <a:pPr marL="360000" indent="-360000">
              <a:spcBef>
                <a:spcPts val="600"/>
              </a:spcBef>
              <a:spcAft>
                <a:spcPts val="1200"/>
              </a:spcAft>
            </a:pPr>
            <a:r>
              <a:rPr lang="en-US" sz="2200" dirty="0" smtClean="0">
                <a:latin typeface="Helvetica" pitchFamily="34" charset="0"/>
              </a:rPr>
              <a:t>Obtaining vouchers/other documents in advance</a:t>
            </a:r>
          </a:p>
          <a:p>
            <a:pPr marL="360000" indent="-360000">
              <a:spcBef>
                <a:spcPts val="600"/>
              </a:spcBef>
              <a:spcAft>
                <a:spcPts val="1200"/>
              </a:spcAft>
            </a:pPr>
            <a:r>
              <a:rPr lang="en-US" sz="2200" dirty="0" smtClean="0">
                <a:latin typeface="Helvetica" pitchFamily="34" charset="0"/>
              </a:rPr>
              <a:t>Organising logistics</a:t>
            </a:r>
          </a:p>
          <a:p>
            <a:pPr marL="360000" indent="-360000">
              <a:spcBef>
                <a:spcPts val="600"/>
              </a:spcBef>
              <a:spcAft>
                <a:spcPts val="1200"/>
              </a:spcAft>
            </a:pPr>
            <a:r>
              <a:rPr lang="en-US" sz="2200" dirty="0" smtClean="0">
                <a:latin typeface="Helvetica" pitchFamily="34" charset="0"/>
              </a:rPr>
              <a:t>Notifying external providers prior to tour group departure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17410" name="Picture 2" descr="C:\Documents and Settings\Godaishu\Desktop\PHOTOS\2014\Shutterstock 25-a-day\shutterstock_135425525.jpg"/>
          <p:cNvPicPr>
            <a:picLocks noChangeAspect="1" noChangeArrowheads="1"/>
          </p:cNvPicPr>
          <p:nvPr/>
        </p:nvPicPr>
        <p:blipFill>
          <a:blip r:embed="rId3" cstate="print"/>
          <a:srcRect/>
          <a:stretch>
            <a:fillRect/>
          </a:stretch>
        </p:blipFill>
        <p:spPr bwMode="auto">
          <a:xfrm>
            <a:off x="3563887" y="4077072"/>
            <a:ext cx="2034853" cy="18780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special needs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‘Special needs’ customers – those who:</a:t>
            </a:r>
          </a:p>
          <a:p>
            <a:pPr marL="360000" indent="-360000">
              <a:spcBef>
                <a:spcPts val="600"/>
              </a:spcBef>
              <a:spcAft>
                <a:spcPts val="1200"/>
              </a:spcAft>
            </a:pPr>
            <a:r>
              <a:rPr lang="en-US" sz="2200" dirty="0" smtClean="0">
                <a:latin typeface="Helvetica" pitchFamily="34" charset="0"/>
              </a:rPr>
              <a:t>Are disabled</a:t>
            </a:r>
          </a:p>
          <a:p>
            <a:pPr marL="360000" indent="-360000">
              <a:spcBef>
                <a:spcPts val="600"/>
              </a:spcBef>
              <a:spcAft>
                <a:spcPts val="1200"/>
              </a:spcAft>
            </a:pPr>
            <a:r>
              <a:rPr lang="en-US" sz="2200" dirty="0" smtClean="0">
                <a:latin typeface="Helvetica" pitchFamily="34" charset="0"/>
              </a:rPr>
              <a:t>Have language problems</a:t>
            </a:r>
          </a:p>
          <a:p>
            <a:pPr marL="360000" indent="-360000">
              <a:spcBef>
                <a:spcPts val="600"/>
              </a:spcBef>
              <a:spcAft>
                <a:spcPts val="1200"/>
              </a:spcAft>
            </a:pPr>
            <a:r>
              <a:rPr lang="en-US" sz="2200" dirty="0" smtClean="0">
                <a:latin typeface="Helvetica" pitchFamily="34" charset="0"/>
              </a:rPr>
              <a:t>Require special assistance for any purpose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18434" name="Picture 2" descr="C:\Documents and Settings\Godaishu\Local Settings\Temporary Internet Files\Content.IE5\C7HQEPZD\220px-Wheelchair_symbol.svg[1].png"/>
          <p:cNvPicPr>
            <a:picLocks noChangeAspect="1" noChangeArrowheads="1"/>
          </p:cNvPicPr>
          <p:nvPr/>
        </p:nvPicPr>
        <p:blipFill>
          <a:blip r:embed="rId3" cstate="print"/>
          <a:srcRect/>
          <a:stretch>
            <a:fillRect/>
          </a:stretch>
        </p:blipFill>
        <p:spPr bwMode="auto">
          <a:xfrm>
            <a:off x="6876256" y="2492896"/>
            <a:ext cx="1663452" cy="1897848"/>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special needs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Operators will always strive to meet special needs – but there are limits on:</a:t>
            </a:r>
          </a:p>
          <a:p>
            <a:pPr marL="360000" indent="-360000">
              <a:spcBef>
                <a:spcPts val="600"/>
              </a:spcBef>
              <a:spcAft>
                <a:spcPts val="1200"/>
              </a:spcAft>
            </a:pPr>
            <a:r>
              <a:rPr lang="en-US" sz="2200" dirty="0" smtClean="0">
                <a:latin typeface="Helvetica" pitchFamily="34" charset="0"/>
              </a:rPr>
              <a:t>What can be done</a:t>
            </a:r>
          </a:p>
          <a:p>
            <a:pPr marL="360000" indent="-360000">
              <a:spcBef>
                <a:spcPts val="600"/>
              </a:spcBef>
              <a:spcAft>
                <a:spcPts val="1200"/>
              </a:spcAft>
            </a:pPr>
            <a:r>
              <a:rPr lang="en-US" sz="2200" dirty="0" smtClean="0">
                <a:latin typeface="Helvetica" pitchFamily="34" charset="0"/>
              </a:rPr>
              <a:t>Staff who can be provided</a:t>
            </a:r>
          </a:p>
          <a:p>
            <a:pPr marL="360000" indent="-360000">
              <a:spcBef>
                <a:spcPts val="600"/>
              </a:spcBef>
              <a:spcAft>
                <a:spcPts val="1200"/>
              </a:spcAft>
            </a:pPr>
            <a:r>
              <a:rPr lang="en-US" sz="2200" dirty="0" smtClean="0">
                <a:latin typeface="Helvetica" pitchFamily="34" charset="0"/>
              </a:rPr>
              <a:t>Resources which can be supplied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19459" name="Picture 3" descr="C:\Documents and Settings\Godaishu\Desktop\PHOTOS\2014\Shutterstock 25-a-day\shutterstock_124742776.jpg"/>
          <p:cNvPicPr>
            <a:picLocks noChangeAspect="1" noChangeArrowheads="1"/>
          </p:cNvPicPr>
          <p:nvPr/>
        </p:nvPicPr>
        <p:blipFill>
          <a:blip r:embed="rId3" cstate="print"/>
          <a:srcRect r="23163"/>
          <a:stretch>
            <a:fillRect/>
          </a:stretch>
        </p:blipFill>
        <p:spPr bwMode="auto">
          <a:xfrm>
            <a:off x="6228184" y="2276872"/>
            <a:ext cx="1656184" cy="2155453"/>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special needs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192688" cy="4525963"/>
          </a:xfrm>
        </p:spPr>
        <p:txBody>
          <a:bodyPr>
            <a:normAutofit/>
          </a:bodyPr>
          <a:lstStyle/>
          <a:p>
            <a:pPr marL="0" indent="0">
              <a:spcBef>
                <a:spcPts val="600"/>
              </a:spcBef>
              <a:spcAft>
                <a:spcPts val="1200"/>
              </a:spcAft>
              <a:buNone/>
            </a:pPr>
            <a:r>
              <a:rPr lang="en-US" sz="2200" dirty="0" smtClean="0">
                <a:latin typeface="Helvetica" pitchFamily="34" charset="0"/>
              </a:rPr>
              <a:t>SOPs to address ‘special needs’:</a:t>
            </a:r>
          </a:p>
          <a:p>
            <a:pPr marL="360000" indent="-360000">
              <a:spcBef>
                <a:spcPts val="600"/>
              </a:spcBef>
              <a:spcAft>
                <a:spcPts val="1200"/>
              </a:spcAft>
            </a:pPr>
            <a:r>
              <a:rPr lang="en-US" sz="2200" dirty="0" smtClean="0">
                <a:latin typeface="Helvetica" pitchFamily="34" charset="0"/>
              </a:rPr>
              <a:t>Check ‘Special request’ forms for the tour</a:t>
            </a:r>
          </a:p>
          <a:p>
            <a:pPr marL="360000" indent="-360000">
              <a:spcBef>
                <a:spcPts val="600"/>
              </a:spcBef>
              <a:spcAft>
                <a:spcPts val="1200"/>
              </a:spcAft>
            </a:pPr>
            <a:r>
              <a:rPr lang="en-US" sz="2200" dirty="0" smtClean="0">
                <a:latin typeface="Helvetica" pitchFamily="34" charset="0"/>
              </a:rPr>
              <a:t>Read contracts for ‘custom’ and ‘private’ tours</a:t>
            </a:r>
          </a:p>
          <a:p>
            <a:pPr marL="360000" indent="-360000">
              <a:spcBef>
                <a:spcPts val="600"/>
              </a:spcBef>
              <a:spcAft>
                <a:spcPts val="1200"/>
              </a:spcAft>
            </a:pPr>
            <a:r>
              <a:rPr lang="en-US" sz="2200" dirty="0" smtClean="0">
                <a:latin typeface="Helvetica" pitchFamily="34" charset="0"/>
              </a:rPr>
              <a:t>Adjust standard provisioning as appropriate to identified need</a:t>
            </a:r>
          </a:p>
          <a:p>
            <a:pPr marL="360000" indent="-360000">
              <a:spcBef>
                <a:spcPts val="600"/>
              </a:spcBef>
              <a:spcAft>
                <a:spcPts val="1200"/>
              </a:spcAft>
            </a:pPr>
            <a:r>
              <a:rPr lang="en-US" sz="2200" dirty="0" smtClean="0">
                <a:latin typeface="Helvetica" pitchFamily="34" charset="0"/>
              </a:rPr>
              <a:t>Update/complete required internal documents to reflect changes made</a:t>
            </a:r>
          </a:p>
          <a:p>
            <a:pPr marL="360000" indent="-360000">
              <a:spcBef>
                <a:spcPts val="600"/>
              </a:spcBef>
              <a:spcAft>
                <a:spcPts val="1200"/>
              </a:spcAft>
            </a:pPr>
            <a:r>
              <a:rPr lang="en-US" sz="2200" dirty="0" smtClean="0">
                <a:latin typeface="Helvetica" pitchFamily="34" charset="0"/>
              </a:rPr>
              <a:t>Communicate identified ‘special needs’ to tour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descr="C:\Documents and Settings\Godaishu\Desktop\PHOTOS\2014\Shutterstock 25-a-day\shutterstock_148416917.jpg"/>
          <p:cNvPicPr/>
          <p:nvPr/>
        </p:nvPicPr>
        <p:blipFill>
          <a:blip r:embed="rId3" cstate="print"/>
          <a:srcRect l="11003" r="10463"/>
          <a:stretch>
            <a:fillRect/>
          </a:stretch>
        </p:blipFill>
        <p:spPr bwMode="auto">
          <a:xfrm>
            <a:off x="6660232" y="3501008"/>
            <a:ext cx="1665734" cy="1552669"/>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budget for equipment and supplied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Budgets for tours are formulated on:</a:t>
            </a:r>
          </a:p>
          <a:p>
            <a:pPr marL="360000" indent="-360000">
              <a:spcBef>
                <a:spcPts val="600"/>
              </a:spcBef>
              <a:spcAft>
                <a:spcPts val="1200"/>
              </a:spcAft>
            </a:pPr>
            <a:r>
              <a:rPr lang="en-US" sz="2200" dirty="0" smtClean="0">
                <a:latin typeface="Helvetica" pitchFamily="34" charset="0"/>
              </a:rPr>
              <a:t>Experience</a:t>
            </a:r>
          </a:p>
          <a:p>
            <a:pPr marL="360000" indent="-360000">
              <a:spcBef>
                <a:spcPts val="600"/>
              </a:spcBef>
              <a:spcAft>
                <a:spcPts val="1200"/>
              </a:spcAft>
            </a:pPr>
            <a:r>
              <a:rPr lang="en-US" sz="2200" dirty="0" smtClean="0">
                <a:latin typeface="Helvetica" pitchFamily="34" charset="0"/>
              </a:rPr>
              <a:t>Prices charged for the trip/tour</a:t>
            </a:r>
          </a:p>
          <a:p>
            <a:pPr marL="360000" indent="-360000">
              <a:spcBef>
                <a:spcPts val="600"/>
              </a:spcBef>
              <a:spcAft>
                <a:spcPts val="1200"/>
              </a:spcAft>
            </a:pPr>
            <a:r>
              <a:rPr lang="en-US" sz="2200" dirty="0" smtClean="0">
                <a:latin typeface="Helvetica" pitchFamily="34" charset="0"/>
              </a:rPr>
              <a:t>Promises made</a:t>
            </a:r>
          </a:p>
          <a:p>
            <a:pPr marL="360000" indent="-360000">
              <a:spcBef>
                <a:spcPts val="600"/>
              </a:spcBef>
              <a:spcAft>
                <a:spcPts val="1200"/>
              </a:spcAft>
            </a:pPr>
            <a:r>
              <a:rPr lang="en-US" sz="2200" dirty="0" smtClean="0">
                <a:latin typeface="Helvetica" pitchFamily="34" charset="0"/>
              </a:rPr>
              <a:t>Legal obligations</a:t>
            </a:r>
          </a:p>
          <a:p>
            <a:pPr marL="360000" indent="-360000">
              <a:spcBef>
                <a:spcPts val="600"/>
              </a:spcBef>
              <a:spcAft>
                <a:spcPts val="1200"/>
              </a:spcAft>
            </a:pPr>
            <a:r>
              <a:rPr lang="en-US" sz="2200" dirty="0" smtClean="0">
                <a:latin typeface="Helvetica" pitchFamily="34" charset="0"/>
              </a:rPr>
              <a:t>Need to give value-for-money</a:t>
            </a:r>
          </a:p>
          <a:p>
            <a:pPr marL="360000" indent="-360000">
              <a:spcBef>
                <a:spcPts val="600"/>
              </a:spcBef>
              <a:spcAft>
                <a:spcPts val="1200"/>
              </a:spcAft>
            </a:pPr>
            <a:r>
              <a:rPr lang="en-US" sz="2200" dirty="0" smtClean="0">
                <a:latin typeface="Helvetica" pitchFamily="34" charset="0"/>
              </a:rPr>
              <a:t>What the opposition is doing</a:t>
            </a:r>
          </a:p>
          <a:p>
            <a:pPr marL="360000" indent="-360000">
              <a:spcBef>
                <a:spcPts val="600"/>
              </a:spcBef>
              <a:spcAft>
                <a:spcPts val="1200"/>
              </a:spcAft>
            </a:pPr>
            <a:r>
              <a:rPr lang="en-US" sz="2200" dirty="0" smtClean="0">
                <a:latin typeface="Helvetica" pitchFamily="34" charset="0"/>
              </a:rPr>
              <a:t>Need to make a profit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20482" name="Picture 2" descr="C:\Documents and Settings\Godaishu\Desktop\PHOTOS\2014\Shutterstock 25-a-day\shutterstock_130834736.jpg"/>
          <p:cNvPicPr>
            <a:picLocks noChangeAspect="1" noChangeArrowheads="1"/>
          </p:cNvPicPr>
          <p:nvPr/>
        </p:nvPicPr>
        <p:blipFill>
          <a:blip r:embed="rId3" cstate="print"/>
          <a:srcRect/>
          <a:stretch>
            <a:fillRect/>
          </a:stretch>
        </p:blipFill>
        <p:spPr bwMode="auto">
          <a:xfrm>
            <a:off x="6012160" y="3140968"/>
            <a:ext cx="2132484" cy="1422767"/>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budget for equipment and supplied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To identify budget for custom and private tours:</a:t>
            </a:r>
          </a:p>
          <a:p>
            <a:pPr marL="360000" indent="-360000">
              <a:spcBef>
                <a:spcPts val="600"/>
              </a:spcBef>
              <a:spcAft>
                <a:spcPts val="1200"/>
              </a:spcAft>
            </a:pPr>
            <a:r>
              <a:rPr lang="en-US" sz="2200" dirty="0" smtClean="0">
                <a:latin typeface="Helvetica" pitchFamily="34" charset="0"/>
              </a:rPr>
              <a:t>Read the client file</a:t>
            </a:r>
          </a:p>
          <a:p>
            <a:pPr marL="360000" indent="-360000">
              <a:spcBef>
                <a:spcPts val="600"/>
              </a:spcBef>
              <a:spcAft>
                <a:spcPts val="1200"/>
              </a:spcAft>
            </a:pPr>
            <a:r>
              <a:rPr lang="en-US" sz="2200" dirty="0" smtClean="0">
                <a:latin typeface="Helvetica" pitchFamily="34" charset="0"/>
              </a:rPr>
              <a:t>Speak with sales staff/consultants/whoever negotiated the deal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21506" name="Picture 2" descr="C:\Documents and Settings\Godaishu\Desktop\PHOTOS\2014\Shutterstock 25-a-day\shutterstock_181388396.jpg"/>
          <p:cNvPicPr>
            <a:picLocks noChangeAspect="1" noChangeArrowheads="1"/>
          </p:cNvPicPr>
          <p:nvPr/>
        </p:nvPicPr>
        <p:blipFill>
          <a:blip r:embed="rId3" cstate="print"/>
          <a:srcRect/>
          <a:stretch>
            <a:fillRect/>
          </a:stretch>
        </p:blipFill>
        <p:spPr bwMode="auto">
          <a:xfrm>
            <a:off x="3419872" y="3652695"/>
            <a:ext cx="2759968" cy="1844291"/>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budget for equipment and supplied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For normal/standard tours the budget is automatically set by management and factored into the resource sheets for each trip tour- these sheets may be known as:</a:t>
            </a:r>
          </a:p>
          <a:p>
            <a:pPr marL="360000" indent="-360000">
              <a:spcBef>
                <a:spcPts val="600"/>
              </a:spcBef>
              <a:spcAft>
                <a:spcPts val="1200"/>
              </a:spcAft>
            </a:pPr>
            <a:r>
              <a:rPr lang="en-US" sz="2200" dirty="0" smtClean="0">
                <a:latin typeface="Helvetica" pitchFamily="34" charset="0"/>
              </a:rPr>
              <a:t>Loading sheets</a:t>
            </a:r>
          </a:p>
          <a:p>
            <a:pPr marL="360000" indent="-360000">
              <a:spcBef>
                <a:spcPts val="600"/>
              </a:spcBef>
              <a:spcAft>
                <a:spcPts val="1200"/>
              </a:spcAft>
            </a:pPr>
            <a:r>
              <a:rPr lang="en-US" sz="2200" dirty="0" smtClean="0">
                <a:latin typeface="Helvetica" pitchFamily="34" charset="0"/>
              </a:rPr>
              <a:t>Stocking sheets</a:t>
            </a:r>
          </a:p>
          <a:p>
            <a:pPr marL="360000" indent="-360000">
              <a:spcBef>
                <a:spcPts val="600"/>
              </a:spcBef>
              <a:spcAft>
                <a:spcPts val="1200"/>
              </a:spcAft>
            </a:pPr>
            <a:r>
              <a:rPr lang="en-US" sz="2200" dirty="0" smtClean="0">
                <a:latin typeface="Helvetica" pitchFamily="34" charset="0"/>
              </a:rPr>
              <a:t>Tour sheets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23554" name="Picture 2" descr="C:\Documents and Settings\Godaishu\Desktop\PHOTOS\2014\Shutterstock 25-a-day\shutterstock_177803282.jpg"/>
          <p:cNvPicPr>
            <a:picLocks noChangeAspect="1" noChangeArrowheads="1"/>
          </p:cNvPicPr>
          <p:nvPr/>
        </p:nvPicPr>
        <p:blipFill>
          <a:blip r:embed="rId3" cstate="print"/>
          <a:srcRect/>
          <a:stretch>
            <a:fillRect/>
          </a:stretch>
        </p:blipFill>
        <p:spPr bwMode="auto">
          <a:xfrm>
            <a:off x="5796136" y="2852936"/>
            <a:ext cx="2400434" cy="160154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budget for equipment and supplied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120680" cy="4525963"/>
          </a:xfrm>
        </p:spPr>
        <p:txBody>
          <a:bodyPr>
            <a:normAutofit/>
          </a:bodyPr>
          <a:lstStyle/>
          <a:p>
            <a:pPr marL="0" indent="0">
              <a:spcBef>
                <a:spcPts val="600"/>
              </a:spcBef>
              <a:spcAft>
                <a:spcPts val="1200"/>
              </a:spcAft>
              <a:buNone/>
            </a:pPr>
            <a:r>
              <a:rPr lang="en-US" sz="2200" dirty="0" smtClean="0">
                <a:latin typeface="Helvetica" pitchFamily="34" charset="0"/>
              </a:rPr>
              <a:t>The resource sheets:</a:t>
            </a:r>
          </a:p>
          <a:p>
            <a:pPr marL="360000" indent="-360000">
              <a:spcBef>
                <a:spcPts val="600"/>
              </a:spcBef>
              <a:spcAft>
                <a:spcPts val="1200"/>
              </a:spcAft>
            </a:pPr>
            <a:r>
              <a:rPr lang="en-US" sz="2200" dirty="0" smtClean="0">
                <a:latin typeface="Helvetica" pitchFamily="34" charset="0"/>
              </a:rPr>
              <a:t>Will be provided by administration on a tour-by-tour, or ‘as needed’ basis</a:t>
            </a:r>
          </a:p>
          <a:p>
            <a:pPr marL="360000" indent="-360000">
              <a:spcBef>
                <a:spcPts val="600"/>
              </a:spcBef>
              <a:spcAft>
                <a:spcPts val="1200"/>
              </a:spcAft>
            </a:pPr>
            <a:r>
              <a:rPr lang="en-US" sz="2200" dirty="0" smtClean="0">
                <a:latin typeface="Helvetica" pitchFamily="34" charset="0"/>
              </a:rPr>
              <a:t>Are monitored on an ongoing by administration/management and updated as required</a:t>
            </a:r>
          </a:p>
          <a:p>
            <a:pPr marL="360000" indent="-360000">
              <a:spcBef>
                <a:spcPts val="600"/>
              </a:spcBef>
              <a:spcAft>
                <a:spcPts val="1200"/>
              </a:spcAft>
            </a:pPr>
            <a:r>
              <a:rPr lang="en-US" sz="2200" dirty="0" smtClean="0">
                <a:latin typeface="Helvetica" pitchFamily="34" charset="0"/>
              </a:rPr>
              <a:t>Dictate what is to be provided for each trip/tour – they MUST be complied with: they are not ‘guidelines’ or ‘suggestions’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22530" name="Picture 2" descr="C:\Documents and Settings\Godaishu\Desktop\PHOTOS\2014\Shutterstock 25-a-day\Best Tour_129392636.jpg"/>
          <p:cNvPicPr>
            <a:picLocks noChangeAspect="1" noChangeArrowheads="1"/>
          </p:cNvPicPr>
          <p:nvPr/>
        </p:nvPicPr>
        <p:blipFill>
          <a:blip r:embed="rId3" cstate="print"/>
          <a:srcRect/>
          <a:stretch>
            <a:fillRect/>
          </a:stretch>
        </p:blipFill>
        <p:spPr bwMode="auto">
          <a:xfrm>
            <a:off x="6790580" y="2924944"/>
            <a:ext cx="1662999" cy="1554731"/>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budget for equipment and supplied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If additional resources are required for a trip/tour:</a:t>
            </a:r>
          </a:p>
          <a:p>
            <a:pPr marL="360000" indent="-360000">
              <a:spcBef>
                <a:spcPts val="600"/>
              </a:spcBef>
              <a:spcAft>
                <a:spcPts val="1200"/>
              </a:spcAft>
            </a:pPr>
            <a:r>
              <a:rPr lang="en-US" sz="2200" dirty="0" smtClean="0">
                <a:latin typeface="Helvetica" pitchFamily="34" charset="0"/>
              </a:rPr>
              <a:t>Identify and quantify </a:t>
            </a:r>
            <a:r>
              <a:rPr lang="en-US" sz="2200" i="1" dirty="0" smtClean="0">
                <a:latin typeface="Helvetica" pitchFamily="34" charset="0"/>
              </a:rPr>
              <a:t>what </a:t>
            </a:r>
            <a:r>
              <a:rPr lang="en-US" sz="2200" dirty="0" smtClean="0">
                <a:latin typeface="Helvetica" pitchFamily="34" charset="0"/>
              </a:rPr>
              <a:t>is needed</a:t>
            </a:r>
          </a:p>
          <a:p>
            <a:pPr marL="360000" indent="-360000">
              <a:spcBef>
                <a:spcPts val="600"/>
              </a:spcBef>
              <a:spcAft>
                <a:spcPts val="1200"/>
              </a:spcAft>
            </a:pPr>
            <a:r>
              <a:rPr lang="en-US" sz="2200" dirty="0" smtClean="0">
                <a:latin typeface="Helvetica" pitchFamily="34" charset="0"/>
              </a:rPr>
              <a:t>Explain/justify </a:t>
            </a:r>
            <a:r>
              <a:rPr lang="en-US" sz="2200" i="1" dirty="0" smtClean="0">
                <a:latin typeface="Helvetica" pitchFamily="34" charset="0"/>
              </a:rPr>
              <a:t>why </a:t>
            </a:r>
            <a:r>
              <a:rPr lang="en-US" sz="2200" dirty="0" smtClean="0">
                <a:latin typeface="Helvetica" pitchFamily="34" charset="0"/>
              </a:rPr>
              <a:t>it is needed</a:t>
            </a:r>
          </a:p>
          <a:p>
            <a:pPr marL="360000" indent="-360000">
              <a:spcBef>
                <a:spcPts val="600"/>
              </a:spcBef>
              <a:spcAft>
                <a:spcPts val="1200"/>
              </a:spcAft>
            </a:pPr>
            <a:r>
              <a:rPr lang="en-US" sz="2200" dirty="0" smtClean="0">
                <a:latin typeface="Helvetica" pitchFamily="34" charset="0"/>
              </a:rPr>
              <a:t>Make formal request for 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descr="C:\Documents and Settings\Godaishu\Desktop\PHOTOS\2014\Shutterstock 25-a-day\shutterstock_174863018.jpg"/>
          <p:cNvPicPr/>
          <p:nvPr/>
        </p:nvPicPr>
        <p:blipFill>
          <a:blip r:embed="rId3" cstate="print"/>
          <a:srcRect/>
          <a:stretch>
            <a:fillRect/>
          </a:stretch>
        </p:blipFill>
        <p:spPr bwMode="auto">
          <a:xfrm>
            <a:off x="6156176" y="2204864"/>
            <a:ext cx="2030468" cy="1340069"/>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budget for equipment and supplied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264696" cy="4525963"/>
          </a:xfrm>
        </p:spPr>
        <p:txBody>
          <a:bodyPr>
            <a:normAutofit/>
          </a:bodyPr>
          <a:lstStyle/>
          <a:p>
            <a:pPr marL="0" indent="0">
              <a:spcBef>
                <a:spcPts val="600"/>
              </a:spcBef>
              <a:spcAft>
                <a:spcPts val="1200"/>
              </a:spcAft>
              <a:buNone/>
            </a:pPr>
            <a:r>
              <a:rPr lang="en-US" sz="2200" dirty="0" smtClean="0">
                <a:latin typeface="Helvetica" pitchFamily="34" charset="0"/>
              </a:rPr>
              <a:t>Always use common sense in this regard:</a:t>
            </a:r>
          </a:p>
          <a:p>
            <a:pPr marL="360000" indent="-360000">
              <a:spcBef>
                <a:spcPts val="600"/>
              </a:spcBef>
              <a:spcAft>
                <a:spcPts val="1200"/>
              </a:spcAft>
            </a:pPr>
            <a:r>
              <a:rPr lang="en-US" sz="2200" dirty="0" smtClean="0">
                <a:latin typeface="Helvetica" pitchFamily="34" charset="0"/>
              </a:rPr>
              <a:t>Make a substitute when a required item is unavailable</a:t>
            </a:r>
          </a:p>
          <a:p>
            <a:pPr marL="360000" indent="-360000">
              <a:spcBef>
                <a:spcPts val="600"/>
              </a:spcBef>
              <a:spcAft>
                <a:spcPts val="1200"/>
              </a:spcAft>
            </a:pPr>
            <a:r>
              <a:rPr lang="en-US" sz="2200" dirty="0" smtClean="0">
                <a:latin typeface="Helvetica" pitchFamily="34" charset="0"/>
              </a:rPr>
              <a:t>Update records to reflect what occurs</a:t>
            </a:r>
          </a:p>
          <a:p>
            <a:pPr marL="360000" indent="-360000">
              <a:spcBef>
                <a:spcPts val="600"/>
              </a:spcBef>
              <a:spcAft>
                <a:spcPts val="1200"/>
              </a:spcAft>
            </a:pPr>
            <a:r>
              <a:rPr lang="en-US" sz="2200" dirty="0" smtClean="0">
                <a:latin typeface="Helvetica" pitchFamily="34" charset="0"/>
              </a:rPr>
              <a:t>Notify management of out-of-stock items</a:t>
            </a:r>
          </a:p>
          <a:p>
            <a:pPr marL="360000" indent="-360000">
              <a:spcBef>
                <a:spcPts val="600"/>
              </a:spcBef>
              <a:spcAft>
                <a:spcPts val="1200"/>
              </a:spcAft>
            </a:pPr>
            <a:r>
              <a:rPr lang="en-US" sz="2200" dirty="0" smtClean="0">
                <a:latin typeface="Helvetica" pitchFamily="34" charset="0"/>
              </a:rPr>
              <a:t>Advise tour staff of changes and/or items which could not be supplied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24578" name="Picture 2" descr="C:\Documents and Settings\Godaishu\Desktop\PHOTOS\2014\Shutterstock 25-a-day\shutterstock_153548027.jpg"/>
          <p:cNvPicPr>
            <a:picLocks noChangeAspect="1" noChangeArrowheads="1"/>
          </p:cNvPicPr>
          <p:nvPr/>
        </p:nvPicPr>
        <p:blipFill>
          <a:blip r:embed="rId3" cstate="print"/>
          <a:srcRect/>
          <a:stretch>
            <a:fillRect/>
          </a:stretch>
        </p:blipFill>
        <p:spPr bwMode="auto">
          <a:xfrm>
            <a:off x="6732240" y="2996952"/>
            <a:ext cx="1980977" cy="1321683"/>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budget for equipment and supplied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Where extra resources are required there is a need to:</a:t>
            </a:r>
          </a:p>
          <a:p>
            <a:pPr marL="360000" indent="-360000">
              <a:spcBef>
                <a:spcPts val="600"/>
              </a:spcBef>
              <a:spcAft>
                <a:spcPts val="1200"/>
              </a:spcAft>
            </a:pPr>
            <a:r>
              <a:rPr lang="en-US" sz="2200" dirty="0" smtClean="0">
                <a:latin typeface="Helvetica" pitchFamily="34" charset="0"/>
              </a:rPr>
              <a:t>Obtain authority to make purchases</a:t>
            </a:r>
          </a:p>
          <a:p>
            <a:pPr marL="360000" indent="-360000">
              <a:spcBef>
                <a:spcPts val="600"/>
              </a:spcBef>
              <a:spcAft>
                <a:spcPts val="1200"/>
              </a:spcAft>
            </a:pPr>
            <a:r>
              <a:rPr lang="en-US" sz="2200" dirty="0" smtClean="0">
                <a:latin typeface="Helvetica" pitchFamily="34" charset="0"/>
              </a:rPr>
              <a:t>Follow all internal SOPs</a:t>
            </a:r>
          </a:p>
          <a:p>
            <a:pPr marL="360000" indent="-360000">
              <a:spcBef>
                <a:spcPts val="600"/>
              </a:spcBef>
              <a:spcAft>
                <a:spcPts val="1200"/>
              </a:spcAft>
            </a:pPr>
            <a:r>
              <a:rPr lang="en-US" sz="2200" dirty="0" smtClean="0">
                <a:latin typeface="Helvetica" pitchFamily="34" charset="0"/>
              </a:rPr>
              <a:t>Notify administrations of all costs incurred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25602" name="Picture 2" descr="C:\Documents and Settings\Godaishu\Desktop\PHOTOS\2014\Shutterstock 25-a-day\shutterstock_188496518.jpg"/>
          <p:cNvPicPr>
            <a:picLocks noChangeAspect="1" noChangeArrowheads="1"/>
          </p:cNvPicPr>
          <p:nvPr/>
        </p:nvPicPr>
        <p:blipFill>
          <a:blip r:embed="rId3" cstate="print"/>
          <a:srcRect/>
          <a:stretch>
            <a:fillRect/>
          </a:stretch>
        </p:blipFill>
        <p:spPr bwMode="auto">
          <a:xfrm>
            <a:off x="3362682" y="4077072"/>
            <a:ext cx="2520280" cy="16815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budget for equipment and supplied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Resources required may include:</a:t>
            </a:r>
          </a:p>
          <a:p>
            <a:pPr marL="360000" indent="-360000">
              <a:spcBef>
                <a:spcPts val="600"/>
              </a:spcBef>
              <a:spcAft>
                <a:spcPts val="1200"/>
              </a:spcAft>
            </a:pPr>
            <a:r>
              <a:rPr lang="en-US" sz="2200" dirty="0" smtClean="0">
                <a:latin typeface="Helvetica" pitchFamily="34" charset="0"/>
              </a:rPr>
              <a:t>Camping gear</a:t>
            </a:r>
          </a:p>
          <a:p>
            <a:pPr marL="360000" indent="-360000">
              <a:spcBef>
                <a:spcPts val="600"/>
              </a:spcBef>
              <a:spcAft>
                <a:spcPts val="1200"/>
              </a:spcAft>
            </a:pPr>
            <a:r>
              <a:rPr lang="en-US" sz="2200" dirty="0" smtClean="0">
                <a:latin typeface="Helvetica" pitchFamily="34" charset="0"/>
              </a:rPr>
              <a:t>Catering gear</a:t>
            </a:r>
          </a:p>
          <a:p>
            <a:pPr marL="360000" indent="-360000">
              <a:spcBef>
                <a:spcPts val="600"/>
              </a:spcBef>
              <a:spcAft>
                <a:spcPts val="1200"/>
              </a:spcAft>
            </a:pPr>
            <a:r>
              <a:rPr lang="en-US" sz="2200" dirty="0" smtClean="0">
                <a:latin typeface="Helvetica" pitchFamily="34" charset="0"/>
              </a:rPr>
              <a:t>Maintenance equipment</a:t>
            </a:r>
          </a:p>
          <a:p>
            <a:pPr marL="360000" indent="-360000">
              <a:spcBef>
                <a:spcPts val="600"/>
              </a:spcBef>
              <a:spcAft>
                <a:spcPts val="1200"/>
              </a:spcAft>
            </a:pPr>
            <a:r>
              <a:rPr lang="en-US" sz="2200" dirty="0" smtClean="0">
                <a:latin typeface="Helvetica" pitchFamily="34" charset="0"/>
              </a:rPr>
              <a:t>What other resources?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descr="C:\Documents and Settings\Godaishu\Local Settings\Temporary Internet Files\Content.IE5\YISE4YB4\outdoor-gear[1].jpg"/>
          <p:cNvPicPr/>
          <p:nvPr/>
        </p:nvPicPr>
        <p:blipFill>
          <a:blip r:embed="rId3" cstate="print"/>
          <a:srcRect/>
          <a:stretch>
            <a:fillRect/>
          </a:stretch>
        </p:blipFill>
        <p:spPr bwMode="auto">
          <a:xfrm>
            <a:off x="6444208" y="1268760"/>
            <a:ext cx="1462909" cy="1434662"/>
          </a:xfrm>
          <a:prstGeom prst="rect">
            <a:avLst/>
          </a:prstGeom>
          <a:noFill/>
          <a:ln w="9525">
            <a:noFill/>
            <a:miter lim="800000"/>
            <a:headEnd/>
            <a:tailEnd/>
          </a:ln>
        </p:spPr>
      </p:pic>
      <p:pic>
        <p:nvPicPr>
          <p:cNvPr id="6" name="Picture 5" descr="C:\Documents and Settings\Godaishu\Local Settings\Temporary Internet Files\Content.IE5\QE61NRUL\Walkie Talkie[1].jpg"/>
          <p:cNvPicPr/>
          <p:nvPr/>
        </p:nvPicPr>
        <p:blipFill>
          <a:blip r:embed="rId4" cstate="print"/>
          <a:srcRect/>
          <a:stretch>
            <a:fillRect/>
          </a:stretch>
        </p:blipFill>
        <p:spPr bwMode="auto">
          <a:xfrm>
            <a:off x="4788024" y="2276872"/>
            <a:ext cx="1273723" cy="1277007"/>
          </a:xfrm>
          <a:prstGeom prst="rect">
            <a:avLst/>
          </a:prstGeom>
          <a:noFill/>
          <a:ln w="9525">
            <a:noFill/>
            <a:miter lim="800000"/>
            <a:headEnd/>
            <a:tailEnd/>
          </a:ln>
        </p:spPr>
      </p:pic>
      <p:pic>
        <p:nvPicPr>
          <p:cNvPr id="7" name="Picture 6" descr="C:\Documents and Settings\Godaishu\Local Settings\Temporary Internet Files\Content.IE5\KLU3SPUN\17-water_bottle[1].jpg"/>
          <p:cNvPicPr/>
          <p:nvPr/>
        </p:nvPicPr>
        <p:blipFill>
          <a:blip r:embed="rId5" cstate="print"/>
          <a:srcRect l="17358" r="28538"/>
          <a:stretch>
            <a:fillRect/>
          </a:stretch>
        </p:blipFill>
        <p:spPr bwMode="auto">
          <a:xfrm>
            <a:off x="6228184" y="2852936"/>
            <a:ext cx="633577" cy="1182414"/>
          </a:xfrm>
          <a:prstGeom prst="rect">
            <a:avLst/>
          </a:prstGeom>
          <a:noFill/>
          <a:ln w="9525">
            <a:noFill/>
            <a:miter lim="800000"/>
            <a:headEnd/>
            <a:tailEnd/>
          </a:ln>
        </p:spPr>
      </p:pic>
      <p:pic>
        <p:nvPicPr>
          <p:cNvPr id="8" name="Picture 7" descr="C:\Documents and Settings\Godaishu\Local Settings\Temporary Internet Files\Content.IE5\KLU3SPUN\traveler cheque[1].jpg"/>
          <p:cNvPicPr/>
          <p:nvPr/>
        </p:nvPicPr>
        <p:blipFill>
          <a:blip r:embed="rId6" cstate="print"/>
          <a:srcRect/>
          <a:stretch>
            <a:fillRect/>
          </a:stretch>
        </p:blipFill>
        <p:spPr bwMode="auto">
          <a:xfrm>
            <a:off x="4860032" y="4437112"/>
            <a:ext cx="2109295" cy="867104"/>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final requirements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Determining final requirements revolves around:</a:t>
            </a:r>
          </a:p>
          <a:p>
            <a:pPr marL="360000" indent="-360000">
              <a:spcBef>
                <a:spcPts val="600"/>
              </a:spcBef>
              <a:spcAft>
                <a:spcPts val="1200"/>
              </a:spcAft>
            </a:pPr>
            <a:r>
              <a:rPr lang="en-US" sz="2200" dirty="0" smtClean="0">
                <a:latin typeface="Helvetica" pitchFamily="34" charset="0"/>
              </a:rPr>
              <a:t>Double-checking what has already been done</a:t>
            </a:r>
          </a:p>
          <a:p>
            <a:pPr marL="360000" indent="-360000">
              <a:spcBef>
                <a:spcPts val="600"/>
              </a:spcBef>
              <a:spcAft>
                <a:spcPts val="1200"/>
              </a:spcAft>
            </a:pPr>
            <a:r>
              <a:rPr lang="en-US" sz="2200" dirty="0" smtClean="0">
                <a:latin typeface="Helvetica" pitchFamily="34" charset="0"/>
              </a:rPr>
              <a:t>Communicating with others</a:t>
            </a:r>
          </a:p>
          <a:p>
            <a:pPr marL="360000" indent="-360000">
              <a:spcBef>
                <a:spcPts val="600"/>
              </a:spcBef>
              <a:spcAft>
                <a:spcPts val="1200"/>
              </a:spcAft>
            </a:pPr>
            <a:r>
              <a:rPr lang="en-US" sz="2200" dirty="0" smtClean="0">
                <a:latin typeface="Helvetica" pitchFamily="34" charset="0"/>
              </a:rPr>
              <a:t>Seeking out last-minute changes</a:t>
            </a:r>
          </a:p>
          <a:p>
            <a:pPr marL="360000" indent="-360000">
              <a:spcBef>
                <a:spcPts val="600"/>
              </a:spcBef>
              <a:spcAft>
                <a:spcPts val="1200"/>
              </a:spcAft>
            </a:pPr>
            <a:r>
              <a:rPr lang="en-US" sz="2200" dirty="0" smtClean="0">
                <a:latin typeface="Helvetica" pitchFamily="34" charset="0"/>
              </a:rPr>
              <a:t>Obtaining relevant approvals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descr="C:\Documents and Settings\Godaishu\Desktop\PHOTOS\2014\Shutterstock 25-a-day\shutterstock_123667309.jpg"/>
          <p:cNvPicPr/>
          <p:nvPr/>
        </p:nvPicPr>
        <p:blipFill>
          <a:blip r:embed="rId3" cstate="print"/>
          <a:srcRect/>
          <a:stretch>
            <a:fillRect/>
          </a:stretch>
        </p:blipFill>
        <p:spPr bwMode="auto">
          <a:xfrm>
            <a:off x="5940152" y="2924944"/>
            <a:ext cx="1888578" cy="1560786"/>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final requirements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048672" cy="4525963"/>
          </a:xfrm>
        </p:spPr>
        <p:txBody>
          <a:bodyPr>
            <a:normAutofit/>
          </a:bodyPr>
          <a:lstStyle/>
          <a:p>
            <a:pPr marL="0" indent="0">
              <a:spcBef>
                <a:spcPts val="600"/>
              </a:spcBef>
              <a:spcAft>
                <a:spcPts val="1200"/>
              </a:spcAft>
              <a:buNone/>
            </a:pPr>
            <a:r>
              <a:rPr lang="en-US" sz="2200" dirty="0" smtClean="0">
                <a:latin typeface="Helvetica" pitchFamily="34" charset="0"/>
              </a:rPr>
              <a:t>Activities required:</a:t>
            </a:r>
          </a:p>
          <a:p>
            <a:pPr marL="360000" indent="-360000">
              <a:spcBef>
                <a:spcPts val="600"/>
              </a:spcBef>
              <a:spcAft>
                <a:spcPts val="1200"/>
              </a:spcAft>
            </a:pPr>
            <a:r>
              <a:rPr lang="en-US" sz="2200" dirty="0" smtClean="0">
                <a:latin typeface="Helvetica" pitchFamily="34" charset="0"/>
              </a:rPr>
              <a:t>Confirming numbers/customers/passengers</a:t>
            </a:r>
          </a:p>
          <a:p>
            <a:pPr marL="360000" indent="-360000">
              <a:spcBef>
                <a:spcPts val="600"/>
              </a:spcBef>
              <a:spcAft>
                <a:spcPts val="1200"/>
              </a:spcAft>
            </a:pPr>
            <a:r>
              <a:rPr lang="en-US" sz="2200" dirty="0" smtClean="0">
                <a:latin typeface="Helvetica" pitchFamily="34" charset="0"/>
              </a:rPr>
              <a:t>Checking work already done</a:t>
            </a:r>
          </a:p>
          <a:p>
            <a:pPr marL="360000" indent="-360000">
              <a:spcBef>
                <a:spcPts val="600"/>
              </a:spcBef>
              <a:spcAft>
                <a:spcPts val="1200"/>
              </a:spcAft>
            </a:pPr>
            <a:r>
              <a:rPr lang="en-US" sz="2200" dirty="0" smtClean="0">
                <a:latin typeface="Helvetica" pitchFamily="34" charset="0"/>
              </a:rPr>
              <a:t>Talking to tour staff</a:t>
            </a:r>
          </a:p>
          <a:p>
            <a:pPr marL="360000" indent="-360000">
              <a:spcBef>
                <a:spcPts val="600"/>
              </a:spcBef>
              <a:spcAft>
                <a:spcPts val="1200"/>
              </a:spcAft>
            </a:pPr>
            <a:r>
              <a:rPr lang="en-US" sz="2200" dirty="0" smtClean="0">
                <a:latin typeface="Helvetica" pitchFamily="34" charset="0"/>
              </a:rPr>
              <a:t>Staying alert to the ever-present potential for last-minute changes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26626" name="Picture 2" descr="C:\Documents and Settings\Godaishu\Desktop\PHOTOS\2014\Shutterstock 25-a-day\Assessment.jpg"/>
          <p:cNvPicPr>
            <a:picLocks noChangeAspect="1" noChangeArrowheads="1"/>
          </p:cNvPicPr>
          <p:nvPr/>
        </p:nvPicPr>
        <p:blipFill>
          <a:blip r:embed="rId3" cstate="print"/>
          <a:srcRect/>
          <a:stretch>
            <a:fillRect/>
          </a:stretch>
        </p:blipFill>
        <p:spPr bwMode="auto">
          <a:xfrm>
            <a:off x="6660232" y="1988840"/>
            <a:ext cx="1581427" cy="1693441"/>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final requirements for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Addressing short-falls in resources for trips/tours may require/involve:</a:t>
            </a:r>
          </a:p>
          <a:p>
            <a:pPr marL="360000" indent="-360000">
              <a:spcBef>
                <a:spcPts val="600"/>
              </a:spcBef>
              <a:spcAft>
                <a:spcPts val="1200"/>
              </a:spcAft>
            </a:pPr>
            <a:r>
              <a:rPr lang="en-US" sz="2200" dirty="0" smtClean="0">
                <a:latin typeface="Helvetica" pitchFamily="34" charset="0"/>
              </a:rPr>
              <a:t>Amendments to itinerary</a:t>
            </a:r>
          </a:p>
          <a:p>
            <a:pPr marL="360000" indent="-360000">
              <a:spcBef>
                <a:spcPts val="600"/>
              </a:spcBef>
              <a:spcAft>
                <a:spcPts val="1200"/>
              </a:spcAft>
            </a:pPr>
            <a:r>
              <a:rPr lang="en-US" sz="2200" dirty="0" smtClean="0">
                <a:latin typeface="Helvetica" pitchFamily="34" charset="0"/>
              </a:rPr>
              <a:t>Substitutions to normal resources</a:t>
            </a:r>
          </a:p>
          <a:p>
            <a:pPr marL="360000" indent="-360000">
              <a:spcBef>
                <a:spcPts val="600"/>
              </a:spcBef>
              <a:spcAft>
                <a:spcPts val="1200"/>
              </a:spcAft>
            </a:pPr>
            <a:r>
              <a:rPr lang="en-US" sz="2200" dirty="0" smtClean="0">
                <a:latin typeface="Helvetica" pitchFamily="34" charset="0"/>
              </a:rPr>
              <a:t>Allocation of extra resources</a:t>
            </a:r>
          </a:p>
          <a:p>
            <a:pPr marL="360000" indent="-360000">
              <a:spcBef>
                <a:spcPts val="600"/>
              </a:spcBef>
              <a:spcAft>
                <a:spcPts val="1200"/>
              </a:spcAft>
            </a:pPr>
            <a:r>
              <a:rPr lang="en-US" sz="2200" dirty="0" smtClean="0">
                <a:latin typeface="Helvetica" pitchFamily="34" charset="0"/>
              </a:rPr>
              <a:t>Making ‘emergency’ purchases</a:t>
            </a:r>
          </a:p>
          <a:p>
            <a:pPr marL="360000" indent="-360000">
              <a:spcBef>
                <a:spcPts val="600"/>
              </a:spcBef>
              <a:spcAft>
                <a:spcPts val="1200"/>
              </a:spcAft>
            </a:pPr>
            <a:r>
              <a:rPr lang="en-US" sz="2200" dirty="0" smtClean="0">
                <a:latin typeface="Helvetica" pitchFamily="34" charset="0"/>
              </a:rPr>
              <a:t>Making arrangements to acquire items </a:t>
            </a:r>
            <a:r>
              <a:rPr lang="en-US" sz="2200" i="1" dirty="0" smtClean="0">
                <a:latin typeface="Helvetica" pitchFamily="34" charset="0"/>
              </a:rPr>
              <a:t>en route</a:t>
            </a:r>
          </a:p>
          <a:p>
            <a:pPr marL="360000" indent="-360000">
              <a:spcBef>
                <a:spcPts val="600"/>
              </a:spcBef>
              <a:spcAft>
                <a:spcPts val="1200"/>
              </a:spcAft>
            </a:pPr>
            <a:r>
              <a:rPr lang="en-US" sz="2200" dirty="0" smtClean="0">
                <a:latin typeface="Helvetica" pitchFamily="34" charset="0"/>
              </a:rPr>
              <a:t>Organising for items to be forwarded to group while they are on tour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27650" name="Picture 2" descr="C:\Documents and Settings\Godaishu\Desktop\PHOTOS\2014\Shutterstock 25-a-day\shutterstock_191031131.jpg"/>
          <p:cNvPicPr>
            <a:picLocks noChangeAspect="1" noChangeArrowheads="1"/>
          </p:cNvPicPr>
          <p:nvPr/>
        </p:nvPicPr>
        <p:blipFill>
          <a:blip r:embed="rId3" cstate="print"/>
          <a:srcRect/>
          <a:stretch>
            <a:fillRect/>
          </a:stretch>
        </p:blipFill>
        <p:spPr bwMode="auto">
          <a:xfrm>
            <a:off x="5940152" y="2492896"/>
            <a:ext cx="2291482" cy="1528849"/>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480720" cy="4525963"/>
          </a:xfrm>
        </p:spPr>
        <p:txBody>
          <a:bodyPr>
            <a:normAutofit/>
          </a:bodyPr>
          <a:lstStyle/>
          <a:p>
            <a:pPr marL="0" indent="0">
              <a:spcBef>
                <a:spcPts val="600"/>
              </a:spcBef>
              <a:spcAft>
                <a:spcPts val="1200"/>
              </a:spcAft>
              <a:buNone/>
            </a:pPr>
            <a:r>
              <a:rPr lang="en-US" sz="2200" dirty="0" smtClean="0">
                <a:latin typeface="Helvetica" pitchFamily="34" charset="0"/>
              </a:rPr>
              <a:t>When identifying tour requirements:</a:t>
            </a:r>
          </a:p>
          <a:p>
            <a:r>
              <a:rPr lang="en-AU" sz="2200" dirty="0" smtClean="0">
                <a:latin typeface="Helvetica" pitchFamily="34" charset="0"/>
              </a:rPr>
              <a:t>Read and analyse tour itineraries</a:t>
            </a:r>
          </a:p>
          <a:p>
            <a:endParaRPr lang="en-AU" sz="2200" dirty="0" smtClean="0">
              <a:latin typeface="Helvetica" pitchFamily="34" charset="0"/>
            </a:endParaRPr>
          </a:p>
          <a:p>
            <a:r>
              <a:rPr lang="en-AU" sz="2200" dirty="0" smtClean="0">
                <a:latin typeface="Helvetica" pitchFamily="34" charset="0"/>
              </a:rPr>
              <a:t>Determine organisational SOPs in relation to the process</a:t>
            </a:r>
          </a:p>
          <a:p>
            <a:endParaRPr lang="en-AU" sz="2200" dirty="0" smtClean="0">
              <a:latin typeface="Helvetica" pitchFamily="34" charset="0"/>
            </a:endParaRPr>
          </a:p>
          <a:p>
            <a:r>
              <a:rPr lang="en-AU" sz="2200" dirty="0" smtClean="0">
                <a:latin typeface="Helvetica" pitchFamily="34" charset="0"/>
              </a:rPr>
              <a:t>Obtain existing examples of previous actions for similar trips/tours</a:t>
            </a:r>
          </a:p>
          <a:p>
            <a:endParaRPr lang="en-AU" sz="2200" dirty="0" smtClean="0">
              <a:latin typeface="Helvetica" pitchFamily="34" charset="0"/>
            </a:endParaRPr>
          </a:p>
          <a:p>
            <a:r>
              <a:rPr lang="en-AU" sz="2200" dirty="0" smtClean="0">
                <a:latin typeface="Helvetica" pitchFamily="34" charset="0"/>
              </a:rPr>
              <a:t>Identify tour group numbers and profiles</a:t>
            </a:r>
          </a:p>
          <a:p>
            <a:pPr>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28674" name="Picture 2" descr="C:\Documents and Settings\Godaishu\Local Settings\Temporary Internet Files\Content.IE5\KKO48ZB1\summary[1].jpg"/>
          <p:cNvPicPr>
            <a:picLocks noChangeAspect="1" noChangeArrowheads="1"/>
          </p:cNvPicPr>
          <p:nvPr/>
        </p:nvPicPr>
        <p:blipFill>
          <a:blip r:embed="rId3" cstate="print"/>
          <a:srcRect/>
          <a:stretch>
            <a:fillRect/>
          </a:stretch>
        </p:blipFill>
        <p:spPr bwMode="auto">
          <a:xfrm>
            <a:off x="5796136" y="980728"/>
            <a:ext cx="1918613" cy="1575863"/>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dirty="0" smtClean="0">
                <a:latin typeface="Helvetica" pitchFamily="34" charset="0"/>
              </a:rPr>
              <a:t>Name supplies which exist in the inventory and those to be obtained on tour</a:t>
            </a:r>
          </a:p>
          <a:p>
            <a:endParaRPr lang="en-AU" sz="2200" dirty="0" smtClean="0">
              <a:latin typeface="Helvetica" pitchFamily="34" charset="0"/>
            </a:endParaRPr>
          </a:p>
          <a:p>
            <a:r>
              <a:rPr lang="en-AU" sz="2200" dirty="0" smtClean="0">
                <a:latin typeface="Helvetica" pitchFamily="34" charset="0"/>
              </a:rPr>
              <a:t>Recognise special requests and special needs for every trip/tour</a:t>
            </a:r>
          </a:p>
          <a:p>
            <a:endParaRPr lang="en-AU" sz="2200" dirty="0" smtClean="0">
              <a:latin typeface="Helvetica" pitchFamily="34" charset="0"/>
            </a:endParaRPr>
          </a:p>
          <a:p>
            <a:r>
              <a:rPr lang="en-AU" sz="2200" dirty="0" smtClean="0">
                <a:latin typeface="Helvetica" pitchFamily="34" charset="0"/>
              </a:rPr>
              <a:t>Make sure of the budget for each trip/tour</a:t>
            </a:r>
          </a:p>
          <a:p>
            <a:endParaRPr lang="en-AU" sz="2200" dirty="0" smtClean="0">
              <a:latin typeface="Helvetica" pitchFamily="34" charset="0"/>
            </a:endParaRPr>
          </a:p>
          <a:p>
            <a:r>
              <a:rPr lang="en-AU" sz="2200" dirty="0" smtClean="0">
                <a:latin typeface="Helvetica" pitchFamily="34" charset="0"/>
              </a:rPr>
              <a:t>Treat every tour on its merits and needs</a:t>
            </a:r>
          </a:p>
          <a:p>
            <a:pPr lvl="0">
              <a:buNone/>
            </a:pPr>
            <a:r>
              <a:rPr lang="en-US" sz="2200" dirty="0" smtClean="0">
                <a:latin typeface="Helvetica" pitchFamily="34" charset="0"/>
              </a:rPr>
              <a:t>(Continued)</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2" descr="C:\Documents and Settings\Godaishu\Local Settings\Temporary Internet Files\Content.IE5\KKO48ZB1\summary[1].jpg"/>
          <p:cNvPicPr>
            <a:picLocks noChangeAspect="1" noChangeArrowheads="1"/>
          </p:cNvPicPr>
          <p:nvPr/>
        </p:nvPicPr>
        <p:blipFill>
          <a:blip r:embed="rId3" cstate="print"/>
          <a:srcRect/>
          <a:stretch>
            <a:fillRect/>
          </a:stretch>
        </p:blipFill>
        <p:spPr bwMode="auto">
          <a:xfrm>
            <a:off x="6444208" y="3429000"/>
            <a:ext cx="1918613" cy="1575863"/>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dirty="0" smtClean="0">
                <a:latin typeface="Helvetica" pitchFamily="34" charset="0"/>
              </a:rPr>
              <a:t>Address rather than ignore issues</a:t>
            </a:r>
          </a:p>
          <a:p>
            <a:endParaRPr lang="en-AU" sz="2200" dirty="0" smtClean="0">
              <a:latin typeface="Helvetica" pitchFamily="34" charset="0"/>
            </a:endParaRPr>
          </a:p>
          <a:p>
            <a:r>
              <a:rPr lang="en-AU" sz="2200" dirty="0" smtClean="0">
                <a:latin typeface="Helvetica" pitchFamily="34" charset="0"/>
              </a:rPr>
              <a:t>Record action taken</a:t>
            </a:r>
          </a:p>
          <a:p>
            <a:endParaRPr lang="en-AU" sz="2200" dirty="0" smtClean="0">
              <a:latin typeface="Helvetica" pitchFamily="34" charset="0"/>
            </a:endParaRPr>
          </a:p>
          <a:p>
            <a:r>
              <a:rPr lang="en-AU" sz="2200" dirty="0" smtClean="0">
                <a:latin typeface="Helvetica" pitchFamily="34" charset="0"/>
              </a:rPr>
              <a:t>Understand the need to meet customer expectations</a:t>
            </a:r>
          </a:p>
          <a:p>
            <a:endParaRPr lang="en-AU" sz="2200" dirty="0" smtClean="0">
              <a:latin typeface="Helvetica" pitchFamily="34" charset="0"/>
            </a:endParaRPr>
          </a:p>
          <a:p>
            <a:r>
              <a:rPr lang="en-AU" sz="2200" dirty="0" smtClean="0">
                <a:latin typeface="Helvetica" pitchFamily="34" charset="0"/>
              </a:rPr>
              <a:t>Realise the importance of proper resourcing of trips/tours to the ongoing viability of the operator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2" descr="C:\Documents and Settings\Godaishu\Local Settings\Temporary Internet Files\Content.IE5\KKO48ZB1\summary[1].jpg"/>
          <p:cNvPicPr>
            <a:picLocks noChangeAspect="1" noChangeArrowheads="1"/>
          </p:cNvPicPr>
          <p:nvPr/>
        </p:nvPicPr>
        <p:blipFill>
          <a:blip r:embed="rId3" cstate="print"/>
          <a:srcRect/>
          <a:stretch>
            <a:fillRect/>
          </a:stretch>
        </p:blipFill>
        <p:spPr bwMode="auto">
          <a:xfrm>
            <a:off x="5796136" y="980728"/>
            <a:ext cx="1918613" cy="1575863"/>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 Prepare identified tour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28596" y="1556792"/>
            <a:ext cx="8001056" cy="4525963"/>
          </a:xfrm>
        </p:spPr>
        <p:txBody>
          <a:bodyPr>
            <a:noAutofit/>
          </a:bodyPr>
          <a:lstStyle/>
          <a:p>
            <a:pPr marL="0" indent="0">
              <a:spcBef>
                <a:spcPts val="600"/>
              </a:spcBef>
              <a:spcAft>
                <a:spcPts val="1000"/>
              </a:spcAft>
              <a:buNone/>
            </a:pPr>
            <a:r>
              <a:rPr lang="en-US" sz="2200" dirty="0" smtClean="0"/>
              <a:t>Performance Criteria for this Element are:</a:t>
            </a:r>
          </a:p>
          <a:p>
            <a:pPr marL="360000" indent="-360000">
              <a:spcBef>
                <a:spcPts val="600"/>
              </a:spcBef>
              <a:spcAft>
                <a:spcPts val="1000"/>
              </a:spcAft>
            </a:pPr>
            <a:r>
              <a:rPr lang="en-AU" sz="2200" dirty="0" smtClean="0"/>
              <a:t>Obtain identified equipment and supplies</a:t>
            </a:r>
          </a:p>
          <a:p>
            <a:pPr marL="360000" indent="-360000">
              <a:spcBef>
                <a:spcPts val="600"/>
              </a:spcBef>
              <a:spcAft>
                <a:spcPts val="1000"/>
              </a:spcAft>
            </a:pPr>
            <a:r>
              <a:rPr lang="en-AU" sz="2200" dirty="0" smtClean="0"/>
              <a:t>Check condition of equipment and supplies</a:t>
            </a:r>
          </a:p>
          <a:p>
            <a:pPr marL="360000" indent="-360000">
              <a:spcBef>
                <a:spcPts val="600"/>
              </a:spcBef>
              <a:spcAft>
                <a:spcPts val="1000"/>
              </a:spcAft>
            </a:pPr>
            <a:r>
              <a:rPr lang="en-AU" sz="2200" dirty="0" smtClean="0"/>
              <a:t>Confirm quantity of equipment and supplies</a:t>
            </a:r>
          </a:p>
          <a:p>
            <a:pPr marL="360000" indent="-360000">
              <a:spcBef>
                <a:spcPts val="600"/>
              </a:spcBef>
              <a:spcAft>
                <a:spcPts val="1000"/>
              </a:spcAft>
            </a:pPr>
            <a:r>
              <a:rPr lang="en-AU" sz="2200" dirty="0" smtClean="0"/>
              <a:t>Ensure compliance with host enterprise protocols for equipment and supplies</a:t>
            </a:r>
          </a:p>
          <a:p>
            <a:pPr marL="360000" indent="-360000">
              <a:spcBef>
                <a:spcPts val="600"/>
              </a:spcBef>
              <a:spcAft>
                <a:spcPts val="1000"/>
              </a:spcAft>
            </a:pPr>
            <a:r>
              <a:rPr lang="en-AU" sz="2200" dirty="0" smtClean="0"/>
              <a:t>Acquire additional equipment and supplies, where needed</a:t>
            </a:r>
          </a:p>
          <a:p>
            <a:pPr marL="360000" indent="-360000">
              <a:spcBef>
                <a:spcPts val="600"/>
              </a:spcBef>
              <a:spcAft>
                <a:spcPts val="1000"/>
              </a:spcAft>
            </a:pPr>
            <a:r>
              <a:rPr lang="en-AU" sz="2200" dirty="0" smtClean="0"/>
              <a:t>Verify identified equipment and supplies with tour staff</a:t>
            </a:r>
          </a:p>
          <a:p>
            <a:pPr marL="360000" indent="-360000">
              <a:spcBef>
                <a:spcPts val="600"/>
              </a:spcBef>
              <a:spcAft>
                <a:spcPts val="1000"/>
              </a:spcAft>
            </a:pPr>
            <a:r>
              <a:rPr lang="en-AU" sz="2200" dirty="0" smtClean="0"/>
              <a:t>Develop checklist of all equipment and supplies for use when loading and while on tour</a:t>
            </a:r>
            <a:endParaRPr lang="en-US" sz="2200" dirty="0" smtClean="0"/>
          </a:p>
          <a:p>
            <a:pPr marL="360000" indent="-360000">
              <a:spcBef>
                <a:spcPts val="600"/>
              </a:spcBef>
              <a:spcAft>
                <a:spcPts val="10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2" descr="C:\Users\danielc\AppData\Local\Microsoft\Windows\Temporary Internet Files\Content.IE5\B95PH30U\MC900432658[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6256" y="1484784"/>
            <a:ext cx="1714500" cy="1714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 identified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59" y="1556792"/>
            <a:ext cx="5040869" cy="4525963"/>
          </a:xfrm>
        </p:spPr>
        <p:txBody>
          <a:bodyPr>
            <a:normAutofit/>
          </a:bodyPr>
          <a:lstStyle/>
          <a:p>
            <a:pPr marL="0" indent="0">
              <a:spcBef>
                <a:spcPts val="600"/>
              </a:spcBef>
              <a:spcAft>
                <a:spcPts val="1200"/>
              </a:spcAft>
              <a:buNone/>
            </a:pPr>
            <a:r>
              <a:rPr lang="en-US" sz="2200" dirty="0" smtClean="0">
                <a:latin typeface="Helvetica" pitchFamily="34" charset="0"/>
              </a:rPr>
              <a:t>Key actions at this stage:</a:t>
            </a:r>
          </a:p>
          <a:p>
            <a:pPr marL="360000" indent="-360000">
              <a:spcBef>
                <a:spcPts val="600"/>
              </a:spcBef>
              <a:spcAft>
                <a:spcPts val="1200"/>
              </a:spcAft>
            </a:pPr>
            <a:r>
              <a:rPr lang="en-AU" sz="2200" dirty="0" smtClean="0">
                <a:latin typeface="Helvetica" pitchFamily="34" charset="0"/>
              </a:rPr>
              <a:t>Physically acquire required resources</a:t>
            </a:r>
          </a:p>
          <a:p>
            <a:pPr marL="360000" indent="-360000">
              <a:spcBef>
                <a:spcPts val="600"/>
              </a:spcBef>
              <a:spcAft>
                <a:spcPts val="1200"/>
              </a:spcAft>
            </a:pPr>
            <a:r>
              <a:rPr lang="en-AU" sz="2200" dirty="0" smtClean="0">
                <a:latin typeface="Helvetica" pitchFamily="34" charset="0"/>
              </a:rPr>
              <a:t>Determine if additional items need to be ordered/purchased</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1026" name="Picture 2" descr="I:\Overseas Projects\PHOTOS\2014\Shutterstock 25-a-day\shutterstock_846883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135" y="2060848"/>
            <a:ext cx="2469041" cy="15354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 identified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To achieve the objectives of this stage of the process there can be a need to:</a:t>
            </a:r>
          </a:p>
          <a:p>
            <a:pPr marL="360000" indent="-360000">
              <a:spcBef>
                <a:spcPts val="600"/>
              </a:spcBef>
              <a:spcAft>
                <a:spcPts val="1200"/>
              </a:spcAft>
            </a:pPr>
            <a:r>
              <a:rPr lang="en-US" sz="2200" dirty="0" smtClean="0">
                <a:latin typeface="Helvetica" pitchFamily="34" charset="0"/>
              </a:rPr>
              <a:t>Retrieve items from storage</a:t>
            </a:r>
          </a:p>
          <a:p>
            <a:pPr marL="360000" indent="-360000">
              <a:spcBef>
                <a:spcPts val="600"/>
              </a:spcBef>
              <a:spcAft>
                <a:spcPts val="1200"/>
              </a:spcAft>
            </a:pPr>
            <a:r>
              <a:rPr lang="en-US" sz="2200" dirty="0" smtClean="0">
                <a:latin typeface="Helvetica" pitchFamily="34" charset="0"/>
              </a:rPr>
              <a:t>Rotate stock</a:t>
            </a:r>
          </a:p>
          <a:p>
            <a:pPr marL="360000" indent="-360000">
              <a:spcBef>
                <a:spcPts val="600"/>
              </a:spcBef>
              <a:spcAft>
                <a:spcPts val="1200"/>
              </a:spcAft>
            </a:pPr>
            <a:r>
              <a:rPr lang="en-US" sz="2200" dirty="0" smtClean="0">
                <a:latin typeface="Helvetica" pitchFamily="34" charset="0"/>
              </a:rPr>
              <a:t>Record movement of stock</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grpSp>
        <p:nvGrpSpPr>
          <p:cNvPr id="6" name="Group 5"/>
          <p:cNvGrpSpPr/>
          <p:nvPr/>
        </p:nvGrpSpPr>
        <p:grpSpPr>
          <a:xfrm>
            <a:off x="5868144" y="2678908"/>
            <a:ext cx="2094063" cy="2508481"/>
            <a:chOff x="2987824" y="3140968"/>
            <a:chExt cx="2670127" cy="3198549"/>
          </a:xfrm>
        </p:grpSpPr>
        <p:pic>
          <p:nvPicPr>
            <p:cNvPr id="7" name="Picture 6" descr="C:\Documents and Settings\Godaishu\Local Settings\Temporary Internet Files\Content.IE5\GAKB7L6W\inventory control[1].jpg"/>
            <p:cNvPicPr/>
            <p:nvPr/>
          </p:nvPicPr>
          <p:blipFill>
            <a:blip r:embed="rId3" cstate="print"/>
            <a:srcRect/>
            <a:stretch>
              <a:fillRect/>
            </a:stretch>
          </p:blipFill>
          <p:spPr bwMode="auto">
            <a:xfrm>
              <a:off x="2987824" y="3717032"/>
              <a:ext cx="2645152" cy="2622485"/>
            </a:xfrm>
            <a:prstGeom prst="rect">
              <a:avLst/>
            </a:prstGeom>
            <a:noFill/>
            <a:ln w="9525">
              <a:noFill/>
              <a:miter lim="800000"/>
              <a:headEnd/>
              <a:tailEnd/>
            </a:ln>
          </p:spPr>
        </p:pic>
        <p:pic>
          <p:nvPicPr>
            <p:cNvPr id="8" name="Picture 2" descr="C:\Documents and Settings\Godaishu\Local Settings\Temporary Internet Files\Content.IE5\C7HQEPZD\question mark[1].png"/>
            <p:cNvPicPr>
              <a:picLocks noChangeAspect="1" noChangeArrowheads="1"/>
            </p:cNvPicPr>
            <p:nvPr/>
          </p:nvPicPr>
          <p:blipFill>
            <a:blip r:embed="rId4" cstate="print"/>
            <a:srcRect/>
            <a:stretch>
              <a:fillRect/>
            </a:stretch>
          </p:blipFill>
          <p:spPr bwMode="auto">
            <a:xfrm>
              <a:off x="3851920" y="3140968"/>
              <a:ext cx="1806031" cy="1926433"/>
            </a:xfrm>
            <a:prstGeom prst="rect">
              <a:avLst/>
            </a:prstGeom>
            <a:noFill/>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 identified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Move items between tour groups/vehicles</a:t>
            </a:r>
          </a:p>
          <a:p>
            <a:pPr marL="360000" indent="-360000">
              <a:spcBef>
                <a:spcPts val="600"/>
              </a:spcBef>
              <a:spcAft>
                <a:spcPts val="1200"/>
              </a:spcAft>
            </a:pPr>
            <a:r>
              <a:rPr lang="en-US" sz="2200" dirty="0" smtClean="0">
                <a:latin typeface="Helvetica" pitchFamily="34" charset="0"/>
              </a:rPr>
              <a:t>Transport items</a:t>
            </a:r>
          </a:p>
          <a:p>
            <a:pPr marL="360000" indent="-360000">
              <a:spcBef>
                <a:spcPts val="600"/>
              </a:spcBef>
              <a:spcAft>
                <a:spcPts val="1200"/>
              </a:spcAft>
            </a:pPr>
            <a:r>
              <a:rPr lang="en-US" sz="2200" dirty="0" smtClean="0">
                <a:latin typeface="Helvetica" pitchFamily="34" charset="0"/>
              </a:rPr>
              <a:t>Order/purchase new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descr="I:\Overseas Projects\PHOTOS\Theme Park 2010\Trolley.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1484784"/>
            <a:ext cx="1547156" cy="234164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condition of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Checking = inspecting which can entail:</a:t>
            </a:r>
          </a:p>
          <a:p>
            <a:pPr marL="360000" indent="-360000">
              <a:spcBef>
                <a:spcPts val="600"/>
              </a:spcBef>
              <a:spcAft>
                <a:spcPts val="1200"/>
              </a:spcAft>
            </a:pPr>
            <a:r>
              <a:rPr lang="en-US" sz="2200" dirty="0" smtClean="0">
                <a:latin typeface="Helvetica" pitchFamily="34" charset="0"/>
              </a:rPr>
              <a:t>Visually looking at each item</a:t>
            </a:r>
          </a:p>
          <a:p>
            <a:pPr marL="360000" indent="-360000">
              <a:spcBef>
                <a:spcPts val="600"/>
              </a:spcBef>
              <a:spcAft>
                <a:spcPts val="1200"/>
              </a:spcAft>
            </a:pPr>
            <a:r>
              <a:rPr lang="en-US" sz="2200" dirty="0" smtClean="0">
                <a:latin typeface="Helvetica" pitchFamily="34" charset="0"/>
              </a:rPr>
              <a:t>Spot cleaning</a:t>
            </a:r>
          </a:p>
          <a:p>
            <a:pPr marL="360000" indent="-360000">
              <a:spcBef>
                <a:spcPts val="600"/>
              </a:spcBef>
              <a:spcAft>
                <a:spcPts val="1200"/>
              </a:spcAft>
            </a:pPr>
            <a:r>
              <a:rPr lang="en-US" sz="2200" dirty="0" smtClean="0">
                <a:latin typeface="Helvetica" pitchFamily="34" charset="0"/>
              </a:rPr>
              <a:t>Doing basic repairs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descr="I:\Overseas Projects\PHOTOS\2012\Culinary 2011\Image Receive and Store Kitchen Supplies\PhotosToGoUnlimited-812518.jpg"/>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6228184" y="2060848"/>
            <a:ext cx="1567934" cy="240911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condition of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Checking F&amp;B dates</a:t>
            </a:r>
          </a:p>
          <a:p>
            <a:pPr marL="360000" indent="-360000">
              <a:spcBef>
                <a:spcPts val="600"/>
              </a:spcBef>
              <a:spcAft>
                <a:spcPts val="1200"/>
              </a:spcAft>
            </a:pPr>
            <a:r>
              <a:rPr lang="en-US" sz="2200" dirty="0" smtClean="0">
                <a:latin typeface="Helvetica" pitchFamily="34" charset="0"/>
              </a:rPr>
              <a:t>Verifying wrapping and packaging of F&amp;B</a:t>
            </a:r>
          </a:p>
          <a:p>
            <a:pPr marL="360000" indent="-360000">
              <a:spcBef>
                <a:spcPts val="600"/>
              </a:spcBef>
              <a:spcAft>
                <a:spcPts val="1200"/>
              </a:spcAft>
            </a:pPr>
            <a:r>
              <a:rPr lang="en-US" sz="2200" dirty="0" smtClean="0">
                <a:latin typeface="Helvetica" pitchFamily="34" charset="0"/>
              </a:rPr>
              <a:t>Ensuring items meet safety standards</a:t>
            </a:r>
          </a:p>
          <a:p>
            <a:pPr marL="360000" indent="-360000">
              <a:spcBef>
                <a:spcPts val="600"/>
              </a:spcBef>
              <a:spcAft>
                <a:spcPts val="1200"/>
              </a:spcAft>
            </a:pPr>
            <a:r>
              <a:rPr lang="en-AU" sz="2200" dirty="0" smtClean="0">
                <a:latin typeface="Helvetica" pitchFamily="34" charset="0"/>
              </a:rPr>
              <a:t>Rejecting suspect, defective, unsafe or otherwise inappropriate items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3848" y="4221088"/>
            <a:ext cx="2486050" cy="1657367"/>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Confirm quantity of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904656" cy="4525963"/>
          </a:xfrm>
        </p:spPr>
        <p:txBody>
          <a:bodyPr>
            <a:normAutofit/>
          </a:bodyPr>
          <a:lstStyle/>
          <a:p>
            <a:pPr marL="0" indent="0">
              <a:spcBef>
                <a:spcPts val="600"/>
              </a:spcBef>
              <a:spcAft>
                <a:spcPts val="1200"/>
              </a:spcAft>
              <a:buNone/>
            </a:pPr>
            <a:r>
              <a:rPr lang="en-US" sz="2200" dirty="0" smtClean="0">
                <a:latin typeface="Helvetica" pitchFamily="34" charset="0"/>
              </a:rPr>
              <a:t>To ensure supplied resources match identified need:</a:t>
            </a:r>
          </a:p>
          <a:p>
            <a:pPr marL="360000" indent="-360000">
              <a:spcBef>
                <a:spcPts val="600"/>
              </a:spcBef>
              <a:spcAft>
                <a:spcPts val="1200"/>
              </a:spcAft>
            </a:pPr>
            <a:r>
              <a:rPr lang="en-US" sz="2200" dirty="0" smtClean="0">
                <a:latin typeface="Helvetica" pitchFamily="34" charset="0"/>
              </a:rPr>
              <a:t>Count each item</a:t>
            </a:r>
          </a:p>
          <a:p>
            <a:pPr marL="360000" indent="-360000">
              <a:spcBef>
                <a:spcPts val="600"/>
              </a:spcBef>
              <a:spcAft>
                <a:spcPts val="1200"/>
              </a:spcAft>
            </a:pPr>
            <a:r>
              <a:rPr lang="en-US" sz="2200" dirty="0" smtClean="0">
                <a:latin typeface="Helvetica" pitchFamily="34" charset="0"/>
              </a:rPr>
              <a:t>Weigh or otherwise measure supplies</a:t>
            </a:r>
          </a:p>
          <a:p>
            <a:pPr marL="360000" indent="-360000">
              <a:spcBef>
                <a:spcPts val="600"/>
              </a:spcBef>
              <a:spcAft>
                <a:spcPts val="1200"/>
              </a:spcAft>
            </a:pPr>
            <a:r>
              <a:rPr lang="en-US" sz="2200" dirty="0" smtClean="0">
                <a:latin typeface="Helvetica" pitchFamily="34" charset="0"/>
              </a:rPr>
              <a:t>Match items to known tour group numbers</a:t>
            </a:r>
          </a:p>
          <a:p>
            <a:pPr marL="360000" indent="-360000">
              <a:spcBef>
                <a:spcPts val="600"/>
              </a:spcBef>
              <a:spcAft>
                <a:spcPts val="1200"/>
              </a:spcAft>
            </a:pPr>
            <a:r>
              <a:rPr lang="en-US" sz="2200" dirty="0" smtClean="0">
                <a:latin typeface="Helvetica" pitchFamily="34" charset="0"/>
              </a:rPr>
              <a:t>Open closed/sealed containers and check/confirm what is inside</a:t>
            </a:r>
          </a:p>
          <a:p>
            <a:pPr marL="360000" indent="-360000">
              <a:spcBef>
                <a:spcPts val="600"/>
              </a:spcBef>
              <a:spcAft>
                <a:spcPts val="1200"/>
              </a:spcAft>
            </a:pPr>
            <a:r>
              <a:rPr lang="en-US" sz="2200" dirty="0" smtClean="0">
                <a:latin typeface="Helvetica" pitchFamily="34" charset="0"/>
              </a:rPr>
              <a:t>Segregate (and protect) ‘these’ items from others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descr="C:\Documents and Settings\Godaishu\Local Settings\Temporary Internet Files\Content.IE5\GAKB7L6W\inventory control[1].jpg"/>
          <p:cNvPicPr/>
          <p:nvPr/>
        </p:nvPicPr>
        <p:blipFill>
          <a:blip r:embed="rId3" cstate="print"/>
          <a:srcRect/>
          <a:stretch>
            <a:fillRect/>
          </a:stretch>
        </p:blipFill>
        <p:spPr bwMode="auto">
          <a:xfrm>
            <a:off x="6632368" y="2564904"/>
            <a:ext cx="1667296" cy="1656184"/>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Confirm quantity of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 part of these process there can be a need to complete:</a:t>
            </a:r>
          </a:p>
          <a:p>
            <a:pPr marL="360000" indent="-360000">
              <a:spcBef>
                <a:spcPts val="600"/>
              </a:spcBef>
              <a:spcAft>
                <a:spcPts val="1200"/>
              </a:spcAft>
            </a:pPr>
            <a:r>
              <a:rPr lang="en-US" sz="2200" dirty="0" smtClean="0">
                <a:latin typeface="Helvetica" pitchFamily="34" charset="0"/>
              </a:rPr>
              <a:t>Requisition sheets</a:t>
            </a:r>
          </a:p>
          <a:p>
            <a:pPr marL="360000" indent="-360000">
              <a:spcBef>
                <a:spcPts val="600"/>
              </a:spcBef>
              <a:spcAft>
                <a:spcPts val="1200"/>
              </a:spcAft>
            </a:pPr>
            <a:r>
              <a:rPr lang="en-US" sz="2200" dirty="0" smtClean="0">
                <a:latin typeface="Helvetica" pitchFamily="34" charset="0"/>
              </a:rPr>
              <a:t>Transfer sheets</a:t>
            </a:r>
          </a:p>
          <a:p>
            <a:pPr marL="360000" indent="-360000">
              <a:spcBef>
                <a:spcPts val="600"/>
              </a:spcBef>
              <a:spcAft>
                <a:spcPts val="1200"/>
              </a:spcAft>
            </a:pPr>
            <a:r>
              <a:rPr lang="en-US" sz="2200" dirty="0" smtClean="0">
                <a:latin typeface="Helvetica" pitchFamily="34" charset="0"/>
              </a:rPr>
              <a:t>Bin cards</a:t>
            </a:r>
          </a:p>
          <a:p>
            <a:pPr marL="360000" indent="-360000">
              <a:spcBef>
                <a:spcPts val="600"/>
              </a:spcBef>
              <a:spcAft>
                <a:spcPts val="1200"/>
              </a:spcAft>
            </a:pPr>
            <a:r>
              <a:rPr lang="en-US" sz="2200" dirty="0" smtClean="0">
                <a:latin typeface="Helvetica" pitchFamily="34" charset="0"/>
              </a:rPr>
              <a:t>Database records/files</a:t>
            </a:r>
          </a:p>
          <a:p>
            <a:pPr marL="360000" indent="-360000">
              <a:spcBef>
                <a:spcPts val="600"/>
              </a:spcBef>
              <a:spcAft>
                <a:spcPts val="1200"/>
              </a:spcAft>
            </a:pPr>
            <a:r>
              <a:rPr lang="en-US" sz="2200" dirty="0" smtClean="0">
                <a:latin typeface="Helvetica" pitchFamily="34" charset="0"/>
              </a:rPr>
              <a:t>Checklists</a:t>
            </a:r>
          </a:p>
          <a:p>
            <a:pPr marL="360000" indent="-360000">
              <a:spcBef>
                <a:spcPts val="600"/>
              </a:spcBef>
              <a:spcAft>
                <a:spcPts val="1200"/>
              </a:spcAft>
            </a:pPr>
            <a:r>
              <a:rPr lang="en-US" sz="2200" dirty="0" smtClean="0">
                <a:latin typeface="Helvetica" pitchFamily="34" charset="0"/>
              </a:rPr>
              <a:t>Receipts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stock requisition form.png"/>
          <p:cNvPicPr/>
          <p:nvPr/>
        </p:nvPicPr>
        <p:blipFill rotWithShape="1">
          <a:blip r:embed="rId3" cstate="print"/>
          <a:srcRect l="5141" t="8394" r="4436" b="16074"/>
          <a:stretch/>
        </p:blipFill>
        <p:spPr bwMode="auto">
          <a:xfrm>
            <a:off x="4860032" y="2204864"/>
            <a:ext cx="3197176" cy="3453795"/>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579126" cy="1143000"/>
          </a:xfrm>
        </p:spPr>
        <p:txBody>
          <a:bodyPr>
            <a:normAutofit fontScale="90000"/>
          </a:bodyPr>
          <a:lstStyle/>
          <a:p>
            <a:r>
              <a:rPr lang="en-AU" sz="3400" b="1" dirty="0" smtClean="0">
                <a:solidFill>
                  <a:srgbClr val="FF6600"/>
                </a:solidFill>
                <a:latin typeface="Helvetica" pitchFamily="34" charset="0"/>
              </a:rPr>
              <a:t>Ensure compliance</a:t>
            </a:r>
            <a:r>
              <a:rPr lang="en-AU" sz="3600" dirty="0" smtClean="0"/>
              <a:t> </a:t>
            </a:r>
            <a:r>
              <a:rPr lang="en-AU" sz="3400" b="1" dirty="0" smtClean="0">
                <a:solidFill>
                  <a:srgbClr val="FF6600"/>
                </a:solidFill>
                <a:latin typeface="Helvetica" pitchFamily="34" charset="0"/>
              </a:rPr>
              <a:t>with host enterprise protocols for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904656" cy="4525963"/>
          </a:xfrm>
        </p:spPr>
        <p:txBody>
          <a:bodyPr>
            <a:normAutofit/>
          </a:bodyPr>
          <a:lstStyle/>
          <a:p>
            <a:pPr marL="0" indent="0">
              <a:spcBef>
                <a:spcPts val="600"/>
              </a:spcBef>
              <a:spcAft>
                <a:spcPts val="1200"/>
              </a:spcAft>
              <a:buNone/>
            </a:pPr>
            <a:r>
              <a:rPr lang="en-US" sz="2200" dirty="0" smtClean="0">
                <a:latin typeface="Helvetica" pitchFamily="34" charset="0"/>
              </a:rPr>
              <a:t>It is important to understand:</a:t>
            </a:r>
          </a:p>
          <a:p>
            <a:pPr marL="360000" indent="-360000">
              <a:spcBef>
                <a:spcPts val="600"/>
              </a:spcBef>
              <a:spcAft>
                <a:spcPts val="1200"/>
              </a:spcAft>
            </a:pPr>
            <a:r>
              <a:rPr lang="en-AU" sz="2200" dirty="0" smtClean="0">
                <a:latin typeface="Helvetica" pitchFamily="34" charset="0"/>
              </a:rPr>
              <a:t>All internal SOPs relating to the identifying, issuing and obtaining of equipment and supplies for trips/tours </a:t>
            </a:r>
            <a:r>
              <a:rPr lang="en-AU" sz="2200" b="1" dirty="0" smtClean="0">
                <a:latin typeface="Helvetica" pitchFamily="34" charset="0"/>
              </a:rPr>
              <a:t>must be complied with</a:t>
            </a:r>
            <a:endParaRPr lang="en-US" sz="2200" b="1" dirty="0" smtClean="0">
              <a:latin typeface="Helvetica" pitchFamily="34" charset="0"/>
            </a:endParaRPr>
          </a:p>
          <a:p>
            <a:pPr marL="360000" indent="-360000">
              <a:spcBef>
                <a:spcPts val="600"/>
              </a:spcBef>
              <a:spcAft>
                <a:spcPts val="1200"/>
              </a:spcAft>
            </a:pPr>
            <a:r>
              <a:rPr lang="en-US" sz="2200" dirty="0" smtClean="0">
                <a:latin typeface="Helvetica" pitchFamily="34" charset="0"/>
              </a:rPr>
              <a:t>Compliance with </a:t>
            </a:r>
            <a:r>
              <a:rPr lang="en-AU" sz="2200" dirty="0" smtClean="0">
                <a:latin typeface="Helvetica" pitchFamily="34" charset="0"/>
              </a:rPr>
              <a:t>policies and protocols is not optional</a:t>
            </a:r>
          </a:p>
          <a:p>
            <a:pPr marL="360000" indent="-360000">
              <a:spcBef>
                <a:spcPts val="600"/>
              </a:spcBef>
              <a:spcAft>
                <a:spcPts val="1200"/>
              </a:spcAft>
            </a:pPr>
            <a:r>
              <a:rPr lang="en-AU" sz="2200" dirty="0" smtClean="0">
                <a:latin typeface="Helvetica" pitchFamily="34" charset="0"/>
              </a:rPr>
              <a:t>Problems must be reported</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3074" name="Picture 2" descr="I:\Overseas Projects\PHOTOS\2014\Shutterstock 25-a-day\shutterstock_10582551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0232" y="2852936"/>
            <a:ext cx="1638311" cy="17359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579126" cy="1143000"/>
          </a:xfrm>
        </p:spPr>
        <p:txBody>
          <a:bodyPr>
            <a:normAutofit fontScale="90000"/>
          </a:bodyPr>
          <a:lstStyle/>
          <a:p>
            <a:r>
              <a:rPr lang="en-AU" sz="3400" b="1" dirty="0" smtClean="0">
                <a:solidFill>
                  <a:srgbClr val="FF6600"/>
                </a:solidFill>
                <a:latin typeface="Helvetica" pitchFamily="34" charset="0"/>
              </a:rPr>
              <a:t>Ensure compliance</a:t>
            </a:r>
            <a:r>
              <a:rPr lang="en-AU" sz="3600" dirty="0" smtClean="0"/>
              <a:t> </a:t>
            </a:r>
            <a:r>
              <a:rPr lang="en-AU" sz="3400" b="1" dirty="0" smtClean="0">
                <a:solidFill>
                  <a:srgbClr val="FF6600"/>
                </a:solidFill>
                <a:latin typeface="Helvetica" pitchFamily="34" charset="0"/>
              </a:rPr>
              <a:t>with host enterprise protocols for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048672" cy="4525963"/>
          </a:xfrm>
        </p:spPr>
        <p:txBody>
          <a:bodyPr>
            <a:normAutofit/>
          </a:bodyPr>
          <a:lstStyle/>
          <a:p>
            <a:pPr marL="0" indent="0">
              <a:spcBef>
                <a:spcPts val="600"/>
              </a:spcBef>
              <a:spcAft>
                <a:spcPts val="1200"/>
              </a:spcAft>
              <a:buNone/>
            </a:pPr>
            <a:r>
              <a:rPr lang="en-US" sz="2200" dirty="0" smtClean="0">
                <a:latin typeface="Helvetica" pitchFamily="34" charset="0"/>
              </a:rPr>
              <a:t>Reasons to comply with internal SOPs – to ensure:</a:t>
            </a:r>
          </a:p>
          <a:p>
            <a:pPr marL="360000" indent="-360000">
              <a:spcBef>
                <a:spcPts val="600"/>
              </a:spcBef>
              <a:spcAft>
                <a:spcPts val="1200"/>
              </a:spcAft>
            </a:pPr>
            <a:r>
              <a:rPr lang="en-AU" sz="2200" dirty="0" smtClean="0">
                <a:latin typeface="Helvetica" pitchFamily="34" charset="0"/>
              </a:rPr>
              <a:t>Every trip/tour is provisioned with all the resources required</a:t>
            </a:r>
          </a:p>
          <a:p>
            <a:pPr marL="360000" indent="-360000">
              <a:spcBef>
                <a:spcPts val="600"/>
              </a:spcBef>
              <a:spcAft>
                <a:spcPts val="1200"/>
              </a:spcAft>
            </a:pPr>
            <a:r>
              <a:rPr lang="en-AU" sz="2200" dirty="0" smtClean="0">
                <a:latin typeface="Helvetica" pitchFamily="34" charset="0"/>
              </a:rPr>
              <a:t>Each trip/tour operates an a profitable basis</a:t>
            </a:r>
          </a:p>
          <a:p>
            <a:pPr marL="360000" indent="-360000">
              <a:spcBef>
                <a:spcPts val="600"/>
              </a:spcBef>
              <a:spcAft>
                <a:spcPts val="1200"/>
              </a:spcAft>
            </a:pPr>
            <a:r>
              <a:rPr lang="en-AU" sz="2200" dirty="0" smtClean="0">
                <a:latin typeface="Helvetica" pitchFamily="34" charset="0"/>
              </a:rPr>
              <a:t>Trips/tours comply with legislated obligations</a:t>
            </a:r>
          </a:p>
          <a:p>
            <a:pPr marL="360000" indent="-360000">
              <a:spcBef>
                <a:spcPts val="600"/>
              </a:spcBef>
              <a:spcAft>
                <a:spcPts val="1200"/>
              </a:spcAft>
            </a:pPr>
            <a:r>
              <a:rPr lang="en-AU" sz="2200" dirty="0" smtClean="0">
                <a:latin typeface="Helvetica" pitchFamily="34" charset="0"/>
              </a:rPr>
              <a:t>The products and services supplied satisfy customers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4098" name="Picture 2" descr="I:\Overseas Projects\PHOTOS\2014\Shutterstock 25-a-day\shutterstock_12357948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1907" y="2564904"/>
            <a:ext cx="1603611" cy="15743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579126" cy="1143000"/>
          </a:xfrm>
        </p:spPr>
        <p:txBody>
          <a:bodyPr>
            <a:normAutofit fontScale="90000"/>
          </a:bodyPr>
          <a:lstStyle/>
          <a:p>
            <a:r>
              <a:rPr lang="en-AU" sz="3400" b="1" dirty="0" smtClean="0">
                <a:solidFill>
                  <a:srgbClr val="FF6600"/>
                </a:solidFill>
                <a:latin typeface="Helvetica" pitchFamily="34" charset="0"/>
              </a:rPr>
              <a:t>Ensure compliance</a:t>
            </a:r>
            <a:r>
              <a:rPr lang="en-AU" sz="3600" dirty="0" smtClean="0"/>
              <a:t> </a:t>
            </a:r>
            <a:r>
              <a:rPr lang="en-AU" sz="3400" b="1" dirty="0" smtClean="0">
                <a:solidFill>
                  <a:srgbClr val="FF6600"/>
                </a:solidFill>
                <a:latin typeface="Helvetica" pitchFamily="34" charset="0"/>
              </a:rPr>
              <a:t>with host enterprise protocols for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256584" cy="4525963"/>
          </a:xfrm>
        </p:spPr>
        <p:txBody>
          <a:bodyPr>
            <a:normAutofit/>
          </a:bodyPr>
          <a:lstStyle/>
          <a:p>
            <a:pPr marL="0" indent="0">
              <a:spcBef>
                <a:spcPts val="600"/>
              </a:spcBef>
              <a:spcAft>
                <a:spcPts val="1200"/>
              </a:spcAft>
              <a:buNone/>
            </a:pPr>
            <a:r>
              <a:rPr lang="en-US" sz="2200" dirty="0" smtClean="0">
                <a:latin typeface="Helvetica" pitchFamily="34" charset="0"/>
              </a:rPr>
              <a:t>Practical action – can/will focus on:</a:t>
            </a:r>
          </a:p>
          <a:p>
            <a:pPr marL="360000" indent="-360000">
              <a:spcBef>
                <a:spcPts val="600"/>
              </a:spcBef>
              <a:spcAft>
                <a:spcPts val="1200"/>
              </a:spcAft>
            </a:pPr>
            <a:r>
              <a:rPr lang="en-US" sz="2200" dirty="0" smtClean="0">
                <a:latin typeface="Helvetica" pitchFamily="34" charset="0"/>
              </a:rPr>
              <a:t>Using pre-determined ratios: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Figure/ratio set by administration to calculate the number of items to supply based on tour group numbers and a range of other factors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Must be followed where they exist</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122" name="Picture 2" descr="I:\Overseas Projects\PHOTOS\2014\Shutterstock 25-a-day\shutterstock_3146895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7155" y="2708920"/>
            <a:ext cx="2639813" cy="17653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579126" cy="1143000"/>
          </a:xfrm>
        </p:spPr>
        <p:txBody>
          <a:bodyPr>
            <a:normAutofit fontScale="90000"/>
          </a:bodyPr>
          <a:lstStyle/>
          <a:p>
            <a:r>
              <a:rPr lang="en-AU" sz="3400" b="1" dirty="0" smtClean="0">
                <a:solidFill>
                  <a:srgbClr val="FF6600"/>
                </a:solidFill>
                <a:latin typeface="Helvetica" pitchFamily="34" charset="0"/>
              </a:rPr>
              <a:t>Ensure compliance</a:t>
            </a:r>
            <a:r>
              <a:rPr lang="en-AU" sz="3600" dirty="0" smtClean="0"/>
              <a:t> </a:t>
            </a:r>
            <a:r>
              <a:rPr lang="en-AU" sz="3400" b="1" dirty="0" smtClean="0">
                <a:solidFill>
                  <a:srgbClr val="FF6600"/>
                </a:solidFill>
                <a:latin typeface="Helvetica" pitchFamily="34" charset="0"/>
              </a:rPr>
              <a:t>with host enterprise protocols for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624736" cy="4525963"/>
          </a:xfrm>
        </p:spPr>
        <p:txBody>
          <a:bodyPr>
            <a:normAutofit/>
          </a:bodyPr>
          <a:lstStyle/>
          <a:p>
            <a:pPr marL="360000" indent="-360000">
              <a:spcBef>
                <a:spcPts val="600"/>
              </a:spcBef>
              <a:spcAft>
                <a:spcPts val="1200"/>
              </a:spcAft>
            </a:pPr>
            <a:r>
              <a:rPr lang="en-US" sz="2200" dirty="0" smtClean="0">
                <a:latin typeface="Helvetica" pitchFamily="34" charset="0"/>
              </a:rPr>
              <a:t>Using checklists: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More later on this</a:t>
            </a:r>
          </a:p>
          <a:p>
            <a:pPr marL="360000" indent="-360000">
              <a:spcBef>
                <a:spcPts val="600"/>
              </a:spcBef>
              <a:spcAft>
                <a:spcPts val="1200"/>
              </a:spcAft>
            </a:pPr>
            <a:r>
              <a:rPr lang="en-US" sz="2200" dirty="0" smtClean="0">
                <a:latin typeface="Helvetica" pitchFamily="34" charset="0"/>
              </a:rPr>
              <a:t>Using receipts – to prove money and other items were given to tour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6146" name="Picture 2" descr="C:\Users\danielc\AppData\Local\Microsoft\Windows\Temporary Internet Files\Content.IE5\B95PH30U\portafolios-con-checklist[1].jpg"/>
          <p:cNvPicPr>
            <a:picLocks noChangeAspect="1" noChangeArrowheads="1"/>
          </p:cNvPicPr>
          <p:nvPr/>
        </p:nvPicPr>
        <p:blipFill rotWithShape="1">
          <a:blip r:embed="rId3">
            <a:duotone>
              <a:schemeClr val="accent6">
                <a:shade val="45000"/>
                <a:satMod val="135000"/>
              </a:schemeClr>
              <a:prstClr val="white"/>
            </a:duotone>
            <a:extLst>
              <a:ext uri="{28A0092B-C50C-407E-A947-70E740481C1C}">
                <a14:useLocalDpi xmlns:a14="http://schemas.microsoft.com/office/drawing/2010/main" val="0"/>
              </a:ext>
            </a:extLst>
          </a:blip>
          <a:srcRect t="8731" b="13717"/>
          <a:stretch/>
        </p:blipFill>
        <p:spPr bwMode="auto">
          <a:xfrm>
            <a:off x="4716016" y="3429000"/>
            <a:ext cx="1996783" cy="23064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579126" cy="1143000"/>
          </a:xfrm>
        </p:spPr>
        <p:txBody>
          <a:bodyPr>
            <a:normAutofit fontScale="90000"/>
          </a:bodyPr>
          <a:lstStyle/>
          <a:p>
            <a:r>
              <a:rPr lang="en-AU" sz="3400" b="1" dirty="0" smtClean="0">
                <a:solidFill>
                  <a:srgbClr val="FF6600"/>
                </a:solidFill>
                <a:latin typeface="Helvetica" pitchFamily="34" charset="0"/>
              </a:rPr>
              <a:t>Ensure compliance</a:t>
            </a:r>
            <a:r>
              <a:rPr lang="en-AU" sz="3600" dirty="0" smtClean="0"/>
              <a:t> </a:t>
            </a:r>
            <a:r>
              <a:rPr lang="en-AU" sz="3400" b="1" dirty="0" smtClean="0">
                <a:solidFill>
                  <a:srgbClr val="FF6600"/>
                </a:solidFill>
                <a:latin typeface="Helvetica" pitchFamily="34" charset="0"/>
              </a:rPr>
              <a:t>with host enterprise protocols for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Some items MUST be supplied for trips regardless of all other factors – these usually relate to:</a:t>
            </a:r>
          </a:p>
          <a:p>
            <a:pPr marL="360000" indent="-360000">
              <a:spcBef>
                <a:spcPts val="600"/>
              </a:spcBef>
              <a:spcAft>
                <a:spcPts val="1200"/>
              </a:spcAft>
            </a:pPr>
            <a:r>
              <a:rPr lang="en-US" sz="2200" dirty="0" smtClean="0">
                <a:latin typeface="Helvetica" pitchFamily="34" charset="0"/>
              </a:rPr>
              <a:t>Safety</a:t>
            </a:r>
          </a:p>
          <a:p>
            <a:pPr marL="360000" indent="-360000">
              <a:spcBef>
                <a:spcPts val="600"/>
              </a:spcBef>
              <a:spcAft>
                <a:spcPts val="1200"/>
              </a:spcAft>
            </a:pPr>
            <a:r>
              <a:rPr lang="en-US" sz="2200" dirty="0" smtClean="0">
                <a:latin typeface="Helvetica" pitchFamily="34" charset="0"/>
              </a:rPr>
              <a:t>Communication</a:t>
            </a:r>
          </a:p>
          <a:p>
            <a:pPr marL="360000" indent="-360000">
              <a:spcBef>
                <a:spcPts val="600"/>
              </a:spcBef>
              <a:spcAft>
                <a:spcPts val="1200"/>
              </a:spcAft>
            </a:pPr>
            <a:r>
              <a:rPr lang="en-US" sz="2200" dirty="0" smtClean="0">
                <a:latin typeface="Helvetica" pitchFamily="34" charset="0"/>
              </a:rPr>
              <a:t>Security</a:t>
            </a:r>
          </a:p>
          <a:p>
            <a:pPr marL="360000" indent="-360000">
              <a:spcBef>
                <a:spcPts val="600"/>
              </a:spcBef>
              <a:spcAft>
                <a:spcPts val="1200"/>
              </a:spcAft>
            </a:pPr>
            <a:r>
              <a:rPr lang="en-US" sz="2200" dirty="0" smtClean="0">
                <a:latin typeface="Helvetica" pitchFamily="34" charset="0"/>
              </a:rPr>
              <a:t>Cooking </a:t>
            </a:r>
          </a:p>
          <a:p>
            <a:pPr marL="360000" indent="-360000">
              <a:spcBef>
                <a:spcPts val="600"/>
              </a:spcBef>
              <a:spcAft>
                <a:spcPts val="1200"/>
              </a:spcAft>
            </a:pPr>
            <a:r>
              <a:rPr lang="en-US" sz="2200" dirty="0" smtClean="0">
                <a:latin typeface="Helvetica" pitchFamily="34" charset="0"/>
              </a:rPr>
              <a:t>Transport</a:t>
            </a:r>
          </a:p>
          <a:p>
            <a:pPr marL="360000" indent="-360000">
              <a:spcBef>
                <a:spcPts val="600"/>
              </a:spcBef>
              <a:spcAft>
                <a:spcPts val="1200"/>
              </a:spcAft>
            </a:pPr>
            <a:r>
              <a:rPr lang="en-US" sz="2200" dirty="0" smtClean="0">
                <a:latin typeface="Helvetica" pitchFamily="34" charset="0"/>
              </a:rPr>
              <a:t>Accommodation needs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descr="C:\Documents and Settings\Godaishu\Local Settings\Temporary Internet Files\Content.IE5\KKO48ZB1\BADGER%20B20-V[1].jpg"/>
          <p:cNvPicPr/>
          <p:nvPr/>
        </p:nvPicPr>
        <p:blipFill>
          <a:blip r:embed="rId3" cstate="print"/>
          <a:srcRect l="22907" r="27060"/>
          <a:stretch>
            <a:fillRect/>
          </a:stretch>
        </p:blipFill>
        <p:spPr bwMode="auto">
          <a:xfrm>
            <a:off x="7164288" y="2116772"/>
            <a:ext cx="802005" cy="1518285"/>
          </a:xfrm>
          <a:prstGeom prst="rect">
            <a:avLst/>
          </a:prstGeom>
          <a:noFill/>
          <a:ln w="9525">
            <a:noFill/>
            <a:miter lim="800000"/>
            <a:headEnd/>
            <a:tailEnd/>
          </a:ln>
        </p:spPr>
      </p:pic>
      <p:pic>
        <p:nvPicPr>
          <p:cNvPr id="6" name="Picture 5" descr="C:\Documents and Settings\Godaishu\Local Settings\Temporary Internet Files\Content.IE5\GAKB7L6W\freshpsdsdownload1[1].jpg"/>
          <p:cNvPicPr/>
          <p:nvPr/>
        </p:nvPicPr>
        <p:blipFill>
          <a:blip r:embed="rId4" cstate="print"/>
          <a:srcRect/>
          <a:stretch>
            <a:fillRect/>
          </a:stretch>
        </p:blipFill>
        <p:spPr bwMode="auto">
          <a:xfrm>
            <a:off x="4859793" y="2710428"/>
            <a:ext cx="2061845" cy="1150620"/>
          </a:xfrm>
          <a:prstGeom prst="rect">
            <a:avLst/>
          </a:prstGeom>
          <a:noFill/>
          <a:ln w="9525">
            <a:noFill/>
            <a:miter lim="800000"/>
            <a:headEnd/>
            <a:tailEnd/>
          </a:ln>
        </p:spPr>
      </p:pic>
      <p:pic>
        <p:nvPicPr>
          <p:cNvPr id="7" name="Picture 6" descr="C:\Documents and Settings\Godaishu\Local Settings\Temporary Internet Files\Content.IE5\968DM95Y\Walkie Talkie[1].jpg"/>
          <p:cNvPicPr/>
          <p:nvPr/>
        </p:nvPicPr>
        <p:blipFill>
          <a:blip r:embed="rId5" cstate="print"/>
          <a:srcRect/>
          <a:stretch>
            <a:fillRect/>
          </a:stretch>
        </p:blipFill>
        <p:spPr bwMode="auto">
          <a:xfrm>
            <a:off x="6604621" y="3727062"/>
            <a:ext cx="1399540" cy="1402715"/>
          </a:xfrm>
          <a:prstGeom prst="rect">
            <a:avLst/>
          </a:prstGeom>
          <a:noFill/>
          <a:ln w="9525">
            <a:noFill/>
            <a:miter lim="800000"/>
            <a:headEnd/>
            <a:tailEnd/>
          </a:ln>
        </p:spPr>
      </p:pic>
      <p:pic>
        <p:nvPicPr>
          <p:cNvPr id="8" name="Picture 7" descr="C:\Documents and Settings\Godaishu\Local Settings\Temporary Internet Files\Content.IE5\PRDEQSHX\sundome[1].jpg"/>
          <p:cNvPicPr/>
          <p:nvPr/>
        </p:nvPicPr>
        <p:blipFill>
          <a:blip r:embed="rId6" cstate="print"/>
          <a:srcRect/>
          <a:stretch>
            <a:fillRect/>
          </a:stretch>
        </p:blipFill>
        <p:spPr bwMode="auto">
          <a:xfrm>
            <a:off x="4855528" y="3995032"/>
            <a:ext cx="1746250" cy="1134745"/>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additional equipment and supplies where needed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832648" cy="4525963"/>
          </a:xfrm>
        </p:spPr>
        <p:txBody>
          <a:bodyPr>
            <a:normAutofit/>
          </a:bodyPr>
          <a:lstStyle/>
          <a:p>
            <a:pPr marL="0" indent="0">
              <a:spcBef>
                <a:spcPts val="600"/>
              </a:spcBef>
              <a:spcAft>
                <a:spcPts val="1200"/>
              </a:spcAft>
              <a:buNone/>
            </a:pPr>
            <a:r>
              <a:rPr lang="en-US" sz="2200" dirty="0" smtClean="0">
                <a:latin typeface="Helvetica" pitchFamily="34" charset="0"/>
              </a:rPr>
              <a:t>Options for obtaining extra resources in the short-term:</a:t>
            </a:r>
          </a:p>
          <a:p>
            <a:pPr marL="360000" indent="-360000">
              <a:spcBef>
                <a:spcPts val="600"/>
              </a:spcBef>
              <a:spcAft>
                <a:spcPts val="1200"/>
              </a:spcAft>
            </a:pPr>
            <a:r>
              <a:rPr lang="en-US" sz="2200" dirty="0" smtClean="0">
                <a:latin typeface="Helvetica" pitchFamily="34" charset="0"/>
              </a:rPr>
              <a:t>Re-locating items from one place to another </a:t>
            </a:r>
          </a:p>
          <a:p>
            <a:pPr marL="360000" indent="-360000">
              <a:spcBef>
                <a:spcPts val="600"/>
              </a:spcBef>
              <a:spcAft>
                <a:spcPts val="1200"/>
              </a:spcAft>
            </a:pPr>
            <a:r>
              <a:rPr lang="en-US" sz="2200" dirty="0" smtClean="0">
                <a:latin typeface="Helvetica" pitchFamily="34" charset="0"/>
              </a:rPr>
              <a:t>Asking competitors (with whom there is a mutual arrangement) for help</a:t>
            </a:r>
          </a:p>
          <a:p>
            <a:pPr marL="360000" indent="-360000">
              <a:spcBef>
                <a:spcPts val="600"/>
              </a:spcBef>
              <a:spcAft>
                <a:spcPts val="1200"/>
              </a:spcAft>
            </a:pPr>
            <a:r>
              <a:rPr lang="en-US" sz="2200" dirty="0" smtClean="0">
                <a:latin typeface="Helvetica" pitchFamily="34" charset="0"/>
              </a:rPr>
              <a:t>Requesting ‘emergency’ provision from suppliers</a:t>
            </a:r>
          </a:p>
          <a:p>
            <a:pPr marL="360000" indent="-360000">
              <a:spcBef>
                <a:spcPts val="600"/>
              </a:spcBef>
              <a:spcAft>
                <a:spcPts val="1200"/>
              </a:spcAft>
            </a:pPr>
            <a:r>
              <a:rPr lang="en-US" sz="2200" dirty="0" smtClean="0">
                <a:latin typeface="Helvetica" pitchFamily="34" charset="0"/>
              </a:rPr>
              <a:t>Contacting destinations and trying to organise a solution through them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7170" name="Picture 2" descr="I:\Overseas Projects\PHOTOS\2014\Shutterstock 25-a-day\shutterstock_7677299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4208" y="2852936"/>
            <a:ext cx="1966690" cy="14750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additional equipment and supplies where needed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Long-term options for obtaining extra resources:</a:t>
            </a:r>
          </a:p>
          <a:p>
            <a:pPr marL="360000" indent="-360000">
              <a:spcBef>
                <a:spcPts val="600"/>
              </a:spcBef>
              <a:spcAft>
                <a:spcPts val="1200"/>
              </a:spcAft>
            </a:pPr>
            <a:r>
              <a:rPr lang="en-US" sz="2200" dirty="0" smtClean="0">
                <a:latin typeface="Helvetica" pitchFamily="34" charset="0"/>
              </a:rPr>
              <a:t>Buying or leasing items</a:t>
            </a:r>
          </a:p>
          <a:p>
            <a:pPr marL="360000" indent="-360000">
              <a:spcBef>
                <a:spcPts val="600"/>
              </a:spcBef>
              <a:spcAft>
                <a:spcPts val="1200"/>
              </a:spcAft>
            </a:pPr>
            <a:r>
              <a:rPr lang="en-US" sz="2200" dirty="0" smtClean="0">
                <a:latin typeface="Helvetica" pitchFamily="34" charset="0"/>
              </a:rPr>
              <a:t>Servicing damaged items to get them back into service</a:t>
            </a:r>
          </a:p>
          <a:p>
            <a:pPr marL="360000" indent="-360000">
              <a:spcBef>
                <a:spcPts val="600"/>
              </a:spcBef>
              <a:spcAft>
                <a:spcPts val="1200"/>
              </a:spcAft>
            </a:pPr>
            <a:r>
              <a:rPr lang="en-US" sz="2200" dirty="0" smtClean="0">
                <a:latin typeface="Helvetica" pitchFamily="34" charset="0"/>
              </a:rPr>
              <a:t>Amending tours to reflect resources which are available</a:t>
            </a:r>
          </a:p>
          <a:p>
            <a:pPr marL="360000" indent="-360000">
              <a:spcBef>
                <a:spcPts val="600"/>
              </a:spcBef>
              <a:spcAft>
                <a:spcPts val="1200"/>
              </a:spcAft>
            </a:pPr>
            <a:r>
              <a:rPr lang="en-US" sz="2200" dirty="0" smtClean="0">
                <a:latin typeface="Helvetica" pitchFamily="34" charset="0"/>
              </a:rPr>
              <a:t>Developing new/revised tours (and/or selling prices of tickets) to reflect the situation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descr="C:\Documents and Settings\Godaishu\Desktop\PHOTOS\2014\Shutterstock 25-a-day\Happy Smile_171862868.jpg"/>
          <p:cNvPicPr/>
          <p:nvPr/>
        </p:nvPicPr>
        <p:blipFill>
          <a:blip r:embed="rId3" cstate="print"/>
          <a:srcRect/>
          <a:stretch>
            <a:fillRect/>
          </a:stretch>
        </p:blipFill>
        <p:spPr bwMode="auto">
          <a:xfrm>
            <a:off x="3491880" y="4883461"/>
            <a:ext cx="2535604" cy="1687592"/>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It is important to note:</a:t>
            </a:r>
          </a:p>
          <a:p>
            <a:pPr marL="360000" indent="-360000">
              <a:spcBef>
                <a:spcPts val="600"/>
              </a:spcBef>
              <a:spcAft>
                <a:spcPts val="1200"/>
              </a:spcAft>
            </a:pPr>
            <a:r>
              <a:rPr lang="en-US" sz="2200" dirty="0" smtClean="0">
                <a:latin typeface="Helvetica" pitchFamily="34" charset="0"/>
              </a:rPr>
              <a:t>Every workplace has its own SOPs in this regard</a:t>
            </a:r>
          </a:p>
          <a:p>
            <a:pPr marL="360000" indent="-360000">
              <a:spcBef>
                <a:spcPts val="600"/>
              </a:spcBef>
              <a:spcAft>
                <a:spcPts val="1200"/>
              </a:spcAft>
            </a:pPr>
            <a:r>
              <a:rPr lang="en-US" sz="2200" dirty="0" smtClean="0">
                <a:latin typeface="Helvetica" pitchFamily="34" charset="0"/>
              </a:rPr>
              <a:t>All organisation-specific protocols are MANDATORY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8194" name="Picture 2" descr="I:\Overseas Projects\PHOTOS\2014\Shutterstock 25-a-day\shutterstock_9431402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5856" y="3717032"/>
            <a:ext cx="2089522" cy="19328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For larger trips/tours a final planning session is held:</a:t>
            </a:r>
          </a:p>
          <a:p>
            <a:pPr marL="360000" indent="-360000">
              <a:spcBef>
                <a:spcPts val="600"/>
              </a:spcBef>
              <a:spcAft>
                <a:spcPts val="1200"/>
              </a:spcAft>
            </a:pPr>
            <a:r>
              <a:rPr lang="en-US" sz="2200" dirty="0" smtClean="0">
                <a:latin typeface="Helvetica" pitchFamily="34" charset="0"/>
              </a:rPr>
              <a:t>2 – 3 days before tour departure</a:t>
            </a:r>
          </a:p>
          <a:p>
            <a:pPr marL="360000" indent="-360000">
              <a:spcBef>
                <a:spcPts val="600"/>
              </a:spcBef>
              <a:spcAft>
                <a:spcPts val="1200"/>
              </a:spcAft>
            </a:pPr>
            <a:r>
              <a:rPr lang="en-US" sz="2200" dirty="0" smtClean="0">
                <a:latin typeface="Helvetica" pitchFamily="34" charset="0"/>
              </a:rPr>
              <a:t>With all tour staff to conduct detailed review of itinerary</a:t>
            </a:r>
          </a:p>
          <a:p>
            <a:pPr marL="360000" indent="-360000">
              <a:spcBef>
                <a:spcPts val="600"/>
              </a:spcBef>
              <a:spcAft>
                <a:spcPts val="1200"/>
              </a:spcAft>
            </a:pPr>
            <a:r>
              <a:rPr lang="en-US" sz="2200" dirty="0" smtClean="0">
                <a:latin typeface="Helvetica" pitchFamily="34" charset="0"/>
              </a:rPr>
              <a:t>Confirm resources provided will meet identified need</a:t>
            </a:r>
          </a:p>
          <a:p>
            <a:pPr marL="360000" indent="-360000">
              <a:spcBef>
                <a:spcPts val="600"/>
              </a:spcBef>
              <a:spcAft>
                <a:spcPts val="1200"/>
              </a:spcAft>
            </a:pPr>
            <a:r>
              <a:rPr lang="en-US" sz="2200" dirty="0" smtClean="0">
                <a:latin typeface="Helvetica" pitchFamily="34" charset="0"/>
              </a:rPr>
              <a:t>Determine if/where extra resources are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descr="C:\Documents and Settings\Godaishu\Desktop\PHOTOS\2014\Shutterstock 25-a-day\shutterstock_174875954.jpg"/>
          <p:cNvPicPr/>
          <p:nvPr/>
        </p:nvPicPr>
        <p:blipFill>
          <a:blip r:embed="rId3" cstate="print"/>
          <a:srcRect/>
          <a:stretch>
            <a:fillRect/>
          </a:stretch>
        </p:blipFill>
        <p:spPr bwMode="auto">
          <a:xfrm>
            <a:off x="3262601" y="4581128"/>
            <a:ext cx="2235200" cy="1481455"/>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352256" cy="4525963"/>
          </a:xfrm>
        </p:spPr>
        <p:txBody>
          <a:bodyPr>
            <a:normAutofit/>
          </a:bodyPr>
          <a:lstStyle/>
          <a:p>
            <a:pPr marL="0" indent="0">
              <a:spcBef>
                <a:spcPts val="600"/>
              </a:spcBef>
              <a:spcAft>
                <a:spcPts val="1200"/>
              </a:spcAft>
              <a:buNone/>
            </a:pPr>
            <a:r>
              <a:rPr lang="en-US" sz="2200" dirty="0" smtClean="0">
                <a:latin typeface="Helvetica" pitchFamily="34" charset="0"/>
              </a:rPr>
              <a:t>For custom or private tours:</a:t>
            </a:r>
          </a:p>
          <a:p>
            <a:pPr marL="360000" indent="-360000">
              <a:spcBef>
                <a:spcPts val="600"/>
              </a:spcBef>
              <a:spcAft>
                <a:spcPts val="1200"/>
              </a:spcAft>
            </a:pPr>
            <a:r>
              <a:rPr lang="en-US" sz="2200" dirty="0" smtClean="0">
                <a:latin typeface="Helvetica" pitchFamily="34" charset="0"/>
              </a:rPr>
              <a:t>Host/tour group representative may be invited to join the review process</a:t>
            </a:r>
          </a:p>
          <a:p>
            <a:pPr marL="720000" indent="-360000">
              <a:spcBef>
                <a:spcPts val="600"/>
              </a:spcBef>
              <a:spcAft>
                <a:spcPts val="1200"/>
              </a:spcAft>
              <a:buClr>
                <a:schemeClr val="accent1">
                  <a:lumMod val="75000"/>
                </a:schemeClr>
              </a:buClr>
              <a:buSzPct val="100000"/>
              <a:buNone/>
            </a:pPr>
            <a:r>
              <a:rPr lang="en-US" sz="2200" dirty="0" smtClean="0">
                <a:latin typeface="Helvetica" pitchFamily="34" charset="0"/>
              </a:rPr>
              <a:t>or</a:t>
            </a:r>
          </a:p>
          <a:p>
            <a:pPr marL="360000" indent="-360000">
              <a:spcBef>
                <a:spcPts val="600"/>
              </a:spcBef>
              <a:spcAft>
                <a:spcPts val="1200"/>
              </a:spcAft>
            </a:pPr>
            <a:r>
              <a:rPr lang="en-US" sz="2200" dirty="0" smtClean="0">
                <a:latin typeface="Helvetica" pitchFamily="34" charset="0"/>
              </a:rPr>
              <a:t>Tour group may be ‘contacted’ for their final input regarding last-minute requirements and confirmation of arrangement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6" name="Picture 5" descr="C:\Documents and Settings\Godaishu\Desktop\PHOTOS\2014\Shutterstock 25-a-day\shutterstock_153008246.jpg"/>
          <p:cNvPicPr/>
          <p:nvPr/>
        </p:nvPicPr>
        <p:blipFill>
          <a:blip r:embed="rId3" cstate="print"/>
          <a:srcRect/>
          <a:stretch>
            <a:fillRect/>
          </a:stretch>
        </p:blipFill>
        <p:spPr bwMode="auto">
          <a:xfrm>
            <a:off x="6372200" y="2743200"/>
            <a:ext cx="2061845" cy="1371600"/>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760640" cy="4525963"/>
          </a:xfrm>
        </p:spPr>
        <p:txBody>
          <a:bodyPr>
            <a:normAutofit/>
          </a:bodyPr>
          <a:lstStyle/>
          <a:p>
            <a:pPr marL="0" indent="0">
              <a:spcBef>
                <a:spcPts val="600"/>
              </a:spcBef>
              <a:spcAft>
                <a:spcPts val="1200"/>
              </a:spcAft>
              <a:buNone/>
            </a:pPr>
            <a:r>
              <a:rPr lang="en-US" sz="2200" dirty="0" smtClean="0">
                <a:latin typeface="Helvetica" pitchFamily="34" charset="0"/>
              </a:rPr>
              <a:t>A paper-based check may be made:</a:t>
            </a:r>
          </a:p>
          <a:p>
            <a:pPr marL="360000" indent="-360000">
              <a:spcBef>
                <a:spcPts val="600"/>
              </a:spcBef>
              <a:spcAft>
                <a:spcPts val="1200"/>
              </a:spcAft>
            </a:pPr>
            <a:r>
              <a:rPr lang="en-US" sz="2200" dirty="0" smtClean="0">
                <a:latin typeface="Helvetica" pitchFamily="34" charset="0"/>
              </a:rPr>
              <a:t>Involving all tour staff</a:t>
            </a:r>
          </a:p>
          <a:p>
            <a:pPr marL="360000" indent="-360000">
              <a:spcBef>
                <a:spcPts val="600"/>
              </a:spcBef>
              <a:spcAft>
                <a:spcPts val="1200"/>
              </a:spcAft>
            </a:pPr>
            <a:r>
              <a:rPr lang="en-US" sz="2200" dirty="0" smtClean="0">
                <a:latin typeface="Helvetica" pitchFamily="34" charset="0"/>
              </a:rPr>
              <a:t>Distributing relevant trip/tour documentation</a:t>
            </a:r>
          </a:p>
          <a:p>
            <a:pPr marL="360000" indent="-360000">
              <a:spcBef>
                <a:spcPts val="600"/>
              </a:spcBef>
              <a:spcAft>
                <a:spcPts val="1200"/>
              </a:spcAft>
            </a:pPr>
            <a:r>
              <a:rPr lang="en-US" sz="2200" dirty="0" smtClean="0">
                <a:latin typeface="Helvetica" pitchFamily="34" charset="0"/>
              </a:rPr>
              <a:t>Handing out copies of Loading sheets</a:t>
            </a:r>
          </a:p>
          <a:p>
            <a:pPr marL="360000" indent="-360000">
              <a:spcBef>
                <a:spcPts val="600"/>
              </a:spcBef>
              <a:spcAft>
                <a:spcPts val="1200"/>
              </a:spcAft>
            </a:pPr>
            <a:r>
              <a:rPr lang="en-US" sz="2200" dirty="0" smtClean="0">
                <a:latin typeface="Helvetica" pitchFamily="34" charset="0"/>
              </a:rPr>
              <a:t>Discussing/evaluating Loading sheets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2" descr="I:\Overseas Projects\PHOTOS\2014\Shutterstock 25-a-day\shutterstock_5518443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2492896"/>
            <a:ext cx="2543944" cy="16972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616624" cy="4525963"/>
          </a:xfrm>
        </p:spPr>
        <p:txBody>
          <a:bodyPr>
            <a:normAutofit/>
          </a:bodyPr>
          <a:lstStyle/>
          <a:p>
            <a:pPr marL="360000" indent="-360000">
              <a:spcBef>
                <a:spcPts val="600"/>
              </a:spcBef>
              <a:spcAft>
                <a:spcPts val="1200"/>
              </a:spcAft>
            </a:pPr>
            <a:r>
              <a:rPr lang="en-US" sz="2200" dirty="0" smtClean="0">
                <a:latin typeface="Helvetica" pitchFamily="34" charset="0"/>
              </a:rPr>
              <a:t>Reviewing the Operations Package/Manual for the trip/tour</a:t>
            </a:r>
          </a:p>
          <a:p>
            <a:pPr marL="360000" indent="-360000">
              <a:spcBef>
                <a:spcPts val="600"/>
              </a:spcBef>
              <a:spcAft>
                <a:spcPts val="1200"/>
              </a:spcAft>
            </a:pPr>
            <a:r>
              <a:rPr lang="en-US" sz="2200" dirty="0" smtClean="0">
                <a:latin typeface="Helvetica" pitchFamily="34" charset="0"/>
              </a:rPr>
              <a:t>Determining course of action where extra resources are required</a:t>
            </a:r>
          </a:p>
          <a:p>
            <a:pPr marL="360000" indent="-360000">
              <a:spcBef>
                <a:spcPts val="600"/>
              </a:spcBef>
              <a:spcAft>
                <a:spcPts val="1200"/>
              </a:spcAft>
            </a:pPr>
            <a:r>
              <a:rPr lang="en-US" sz="2200" dirty="0" smtClean="0">
                <a:latin typeface="Helvetica" pitchFamily="34" charset="0"/>
              </a:rPr>
              <a:t>Signing-off Loading sheets by tour staff as being acceptable for the trip/tour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10243" name="Picture 3" descr="I:\Overseas Projects\PHOTOS\2014\Shutterstock 25-a-day\shutterstock_9405385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6052" y="1844824"/>
            <a:ext cx="1726597" cy="23679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552728" cy="4525963"/>
          </a:xfrm>
        </p:spPr>
        <p:txBody>
          <a:bodyPr>
            <a:normAutofit/>
          </a:bodyPr>
          <a:lstStyle/>
          <a:p>
            <a:pPr marL="0" indent="0">
              <a:spcBef>
                <a:spcPts val="600"/>
              </a:spcBef>
              <a:spcAft>
                <a:spcPts val="1200"/>
              </a:spcAft>
              <a:buNone/>
            </a:pPr>
            <a:r>
              <a:rPr lang="en-US" sz="2200" dirty="0" smtClean="0">
                <a:latin typeface="Helvetica" pitchFamily="34" charset="0"/>
              </a:rPr>
              <a:t>A physical check can be made:</a:t>
            </a:r>
          </a:p>
          <a:p>
            <a:pPr marL="360000" indent="-360000">
              <a:spcBef>
                <a:spcPts val="600"/>
              </a:spcBef>
              <a:spcAft>
                <a:spcPts val="1200"/>
              </a:spcAft>
            </a:pPr>
            <a:r>
              <a:rPr lang="en-US" sz="2200" dirty="0" smtClean="0">
                <a:latin typeface="Helvetica" pitchFamily="34" charset="0"/>
              </a:rPr>
              <a:t>With or after the paper-based check</a:t>
            </a:r>
          </a:p>
          <a:p>
            <a:pPr marL="360000" indent="-360000">
              <a:spcBef>
                <a:spcPts val="600"/>
              </a:spcBef>
              <a:spcAft>
                <a:spcPts val="1200"/>
              </a:spcAft>
            </a:pPr>
            <a:r>
              <a:rPr lang="en-US" sz="2200" dirty="0" smtClean="0">
                <a:latin typeface="Helvetica" pitchFamily="34" charset="0"/>
              </a:rPr>
              <a:t>Usually at the staging area</a:t>
            </a:r>
          </a:p>
          <a:p>
            <a:pPr marL="360000" indent="-360000">
              <a:spcBef>
                <a:spcPts val="600"/>
              </a:spcBef>
              <a:spcAft>
                <a:spcPts val="1200"/>
              </a:spcAft>
            </a:pPr>
            <a:r>
              <a:rPr lang="en-US" sz="2200" dirty="0" smtClean="0">
                <a:latin typeface="Helvetica" pitchFamily="34" charset="0"/>
              </a:rPr>
              <a:t>By counting and inspecting resources</a:t>
            </a:r>
          </a:p>
          <a:p>
            <a:pPr marL="360000" indent="-360000">
              <a:spcBef>
                <a:spcPts val="600"/>
              </a:spcBef>
              <a:spcAft>
                <a:spcPts val="1200"/>
              </a:spcAft>
            </a:pPr>
            <a:r>
              <a:rPr lang="en-US" sz="2200" dirty="0" smtClean="0">
                <a:latin typeface="Helvetica" pitchFamily="34" charset="0"/>
              </a:rPr>
              <a:t>Determining action if more/different resources are identified as being necessary</a:t>
            </a:r>
          </a:p>
          <a:p>
            <a:pPr marL="360000" indent="-360000">
              <a:spcBef>
                <a:spcPts val="600"/>
              </a:spcBef>
              <a:spcAft>
                <a:spcPts val="1200"/>
              </a:spcAft>
            </a:pPr>
            <a:r>
              <a:rPr lang="en-US" sz="2200" dirty="0" smtClean="0">
                <a:latin typeface="Helvetica" pitchFamily="34" charset="0"/>
              </a:rPr>
              <a:t>Signing-off the Loading sheet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descr="C:\Documents and Settings\Godaishu\Desktop\PHOTOS\2014\Shutterstock 25-a-day\shutterstock_189561038.jpg"/>
          <p:cNvPicPr/>
          <p:nvPr/>
        </p:nvPicPr>
        <p:blipFill>
          <a:blip r:embed="rId3" cstate="print"/>
          <a:srcRect/>
          <a:stretch>
            <a:fillRect/>
          </a:stretch>
        </p:blipFill>
        <p:spPr bwMode="auto">
          <a:xfrm>
            <a:off x="6300192" y="1988840"/>
            <a:ext cx="2223036" cy="1471871"/>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120680" cy="4525963"/>
          </a:xfrm>
        </p:spPr>
        <p:txBody>
          <a:bodyPr>
            <a:normAutofit/>
          </a:bodyPr>
          <a:lstStyle/>
          <a:p>
            <a:pPr marL="0" indent="0">
              <a:spcBef>
                <a:spcPts val="600"/>
              </a:spcBef>
              <a:spcAft>
                <a:spcPts val="1200"/>
              </a:spcAft>
              <a:buNone/>
            </a:pPr>
            <a:r>
              <a:rPr lang="en-US" sz="2200" dirty="0" smtClean="0">
                <a:latin typeface="Helvetica" pitchFamily="34" charset="0"/>
              </a:rPr>
              <a:t>Verification can involve making tour staff familiar with use of resources – this may involve:</a:t>
            </a:r>
          </a:p>
          <a:p>
            <a:pPr marL="360000" indent="-360000">
              <a:spcBef>
                <a:spcPts val="600"/>
              </a:spcBef>
              <a:spcAft>
                <a:spcPts val="1200"/>
              </a:spcAft>
            </a:pPr>
            <a:r>
              <a:rPr lang="en-US" sz="2200" dirty="0" smtClean="0">
                <a:latin typeface="Helvetica" pitchFamily="34" charset="0"/>
              </a:rPr>
              <a:t>Distributing and reading User/Operator manuals for equipment</a:t>
            </a:r>
          </a:p>
          <a:p>
            <a:pPr marL="360000" indent="-360000">
              <a:spcBef>
                <a:spcPts val="600"/>
              </a:spcBef>
              <a:spcAft>
                <a:spcPts val="1200"/>
              </a:spcAft>
            </a:pPr>
            <a:r>
              <a:rPr lang="en-US" sz="2200" dirty="0" smtClean="0">
                <a:latin typeface="Helvetica" pitchFamily="34" charset="0"/>
              </a:rPr>
              <a:t>Demonstrations of how to use items</a:t>
            </a:r>
          </a:p>
          <a:p>
            <a:pPr marL="360000" indent="-360000">
              <a:spcBef>
                <a:spcPts val="600"/>
              </a:spcBef>
              <a:spcAft>
                <a:spcPts val="1200"/>
              </a:spcAft>
            </a:pPr>
            <a:r>
              <a:rPr lang="en-US" sz="2200" dirty="0" smtClean="0">
                <a:latin typeface="Helvetica" pitchFamily="34" charset="0"/>
              </a:rPr>
              <a:t>Practice sessions for staff to gain competency with use of resources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11266" name="Picture 2" descr="I:\Overseas Projects\PHOTOS\2014\Shutterstock 25-a-day\shutterstock_11811349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4921" y="2780928"/>
            <a:ext cx="1928927" cy="14718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There can be a need to inspect tour vehicles – which may involve:</a:t>
            </a:r>
          </a:p>
          <a:p>
            <a:pPr marL="360000" indent="-360000">
              <a:spcBef>
                <a:spcPts val="600"/>
              </a:spcBef>
              <a:spcAft>
                <a:spcPts val="1200"/>
              </a:spcAft>
            </a:pPr>
            <a:r>
              <a:rPr lang="en-US" sz="2200" dirty="0" smtClean="0">
                <a:latin typeface="Helvetica" pitchFamily="34" charset="0"/>
              </a:rPr>
              <a:t>Check required service/maintenance has been done</a:t>
            </a:r>
          </a:p>
          <a:p>
            <a:pPr marL="360000" indent="-360000">
              <a:spcBef>
                <a:spcPts val="600"/>
              </a:spcBef>
              <a:spcAft>
                <a:spcPts val="1200"/>
              </a:spcAft>
            </a:pPr>
            <a:r>
              <a:rPr lang="en-US" sz="2200" dirty="0" smtClean="0">
                <a:latin typeface="Helvetica" pitchFamily="34" charset="0"/>
              </a:rPr>
              <a:t>Test operation of vehicle systems</a:t>
            </a:r>
          </a:p>
          <a:p>
            <a:pPr marL="360000" indent="-360000">
              <a:spcBef>
                <a:spcPts val="600"/>
              </a:spcBef>
              <a:spcAft>
                <a:spcPts val="1200"/>
              </a:spcAft>
            </a:pPr>
            <a:r>
              <a:rPr lang="en-US" sz="2200" dirty="0" smtClean="0">
                <a:latin typeface="Helvetica" pitchFamily="34" charset="0"/>
              </a:rPr>
              <a:t>Verify registration and roadworthiness</a:t>
            </a:r>
          </a:p>
          <a:p>
            <a:pPr marL="360000" indent="-360000">
              <a:spcBef>
                <a:spcPts val="600"/>
              </a:spcBef>
              <a:spcAft>
                <a:spcPts val="1200"/>
              </a:spcAft>
            </a:pPr>
            <a:r>
              <a:rPr lang="en-US" sz="2200" dirty="0" smtClean="0">
                <a:latin typeface="Helvetica" pitchFamily="34" charset="0"/>
              </a:rPr>
              <a:t>Ensure vehicle is clean and stocked</a:t>
            </a:r>
          </a:p>
          <a:p>
            <a:pPr marL="360000" indent="-360000">
              <a:spcBef>
                <a:spcPts val="600"/>
              </a:spcBef>
              <a:spcAft>
                <a:spcPts val="1200"/>
              </a:spcAft>
            </a:pPr>
            <a:r>
              <a:rPr lang="en-US" sz="2200" dirty="0" smtClean="0">
                <a:latin typeface="Helvetica" pitchFamily="34" charset="0"/>
              </a:rPr>
              <a:t>Test drive/shake-down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12290" name="Picture 2" descr="I:\Overseas Projects\PHOTOS\2014\Shutterstock 25-a-day\shutterstock_123754822.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22700"/>
          <a:stretch/>
        </p:blipFill>
        <p:spPr bwMode="auto">
          <a:xfrm>
            <a:off x="6444208" y="3312290"/>
            <a:ext cx="1826335" cy="1576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Contingency plans – are:</a:t>
            </a:r>
          </a:p>
          <a:p>
            <a:pPr marL="360000" indent="-360000">
              <a:spcBef>
                <a:spcPts val="600"/>
              </a:spcBef>
              <a:spcAft>
                <a:spcPts val="1200"/>
              </a:spcAft>
            </a:pPr>
            <a:r>
              <a:rPr lang="en-US" sz="2200" dirty="0" smtClean="0">
                <a:latin typeface="Helvetica" pitchFamily="34" charset="0"/>
              </a:rPr>
              <a:t>Prepared in advance for predictable events which might materialise but which DO NOT constitute and emergency situation</a:t>
            </a:r>
          </a:p>
          <a:p>
            <a:pPr marL="360000" indent="-360000">
              <a:spcBef>
                <a:spcPts val="600"/>
              </a:spcBef>
              <a:spcAft>
                <a:spcPts val="1200"/>
              </a:spcAft>
            </a:pPr>
            <a:r>
              <a:rPr lang="en-US" sz="2200" dirty="0" smtClean="0">
                <a:latin typeface="Helvetica" pitchFamily="34" charset="0"/>
              </a:rPr>
              <a:t>Often referred to as ‘Plan B’</a:t>
            </a:r>
          </a:p>
          <a:p>
            <a:pPr marL="360000" indent="-360000">
              <a:spcBef>
                <a:spcPts val="600"/>
              </a:spcBef>
              <a:spcAft>
                <a:spcPts val="1200"/>
              </a:spcAft>
            </a:pPr>
            <a:r>
              <a:rPr lang="en-US" sz="2200" dirty="0" smtClean="0">
                <a:latin typeface="Helvetica" pitchFamily="34" charset="0"/>
              </a:rPr>
              <a:t>Contained in the Operations Package/Manual</a:t>
            </a:r>
          </a:p>
          <a:p>
            <a:pPr marL="360000" indent="-360000">
              <a:spcBef>
                <a:spcPts val="600"/>
              </a:spcBef>
              <a:spcAft>
                <a:spcPts val="1200"/>
              </a:spcAft>
            </a:pPr>
            <a:r>
              <a:rPr lang="en-US" sz="2200" dirty="0" smtClean="0">
                <a:latin typeface="Helvetica" pitchFamily="34" charset="0"/>
              </a:rPr>
              <a:t>Often available through electronic means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13314" name="Picture 2" descr="I:\Overseas Projects\PHOTOS\2014\Shutterstock 25-a-day\shutterstock_15557366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3068960"/>
            <a:ext cx="1786620" cy="22582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480720" cy="4525963"/>
          </a:xfrm>
        </p:spPr>
        <p:txBody>
          <a:bodyPr>
            <a:normAutofit/>
          </a:bodyPr>
          <a:lstStyle/>
          <a:p>
            <a:pPr marL="0" indent="0">
              <a:spcBef>
                <a:spcPts val="600"/>
              </a:spcBef>
              <a:spcAft>
                <a:spcPts val="1200"/>
              </a:spcAft>
              <a:buNone/>
            </a:pPr>
            <a:r>
              <a:rPr lang="en-US" sz="2200" dirty="0" smtClean="0">
                <a:latin typeface="Helvetica" pitchFamily="34" charset="0"/>
              </a:rPr>
              <a:t>Contingency plans may be prepared for:</a:t>
            </a:r>
          </a:p>
          <a:p>
            <a:pPr marL="360000" indent="-360000">
              <a:spcBef>
                <a:spcPts val="600"/>
              </a:spcBef>
              <a:spcAft>
                <a:spcPts val="1200"/>
              </a:spcAft>
            </a:pPr>
            <a:r>
              <a:rPr lang="en-US" sz="2200" dirty="0" smtClean="0">
                <a:latin typeface="Helvetica" pitchFamily="34" charset="0"/>
              </a:rPr>
              <a:t>Bad weather preventing implementation of a scheduled activity</a:t>
            </a:r>
          </a:p>
          <a:p>
            <a:pPr marL="360000" indent="-360000">
              <a:spcBef>
                <a:spcPts val="600"/>
              </a:spcBef>
              <a:spcAft>
                <a:spcPts val="1200"/>
              </a:spcAft>
            </a:pPr>
            <a:r>
              <a:rPr lang="en-US" sz="2200" dirty="0" smtClean="0">
                <a:latin typeface="Helvetica" pitchFamily="34" charset="0"/>
              </a:rPr>
              <a:t>Unexpected closure of an attraction</a:t>
            </a:r>
          </a:p>
          <a:p>
            <a:pPr marL="360000" indent="-360000">
              <a:spcBef>
                <a:spcPts val="600"/>
              </a:spcBef>
              <a:spcAft>
                <a:spcPts val="1200"/>
              </a:spcAft>
            </a:pPr>
            <a:r>
              <a:rPr lang="en-US" sz="2200" dirty="0" smtClean="0">
                <a:latin typeface="Helvetica" pitchFamily="34" charset="0"/>
              </a:rPr>
              <a:t>Unavailability of reserved accommodation</a:t>
            </a:r>
          </a:p>
          <a:p>
            <a:pPr marL="360000" indent="-360000">
              <a:spcBef>
                <a:spcPts val="600"/>
              </a:spcBef>
              <a:spcAft>
                <a:spcPts val="1200"/>
              </a:spcAft>
            </a:pPr>
            <a:r>
              <a:rPr lang="en-US" sz="2200" dirty="0" smtClean="0">
                <a:latin typeface="Helvetica" pitchFamily="34" charset="0"/>
              </a:rPr>
              <a:t>Closure of a road to a destination</a:t>
            </a:r>
          </a:p>
          <a:p>
            <a:pPr marL="360000" indent="-360000">
              <a:spcBef>
                <a:spcPts val="600"/>
              </a:spcBef>
              <a:spcAft>
                <a:spcPts val="1200"/>
              </a:spcAft>
            </a:pPr>
            <a:r>
              <a:rPr lang="en-US" sz="2200" dirty="0" smtClean="0">
                <a:latin typeface="Helvetica" pitchFamily="34" charset="0"/>
              </a:rPr>
              <a:t>Situations where permits/permissions have been revoked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14339" name="Picture 3" descr="I:\Overseas Projects\PHOTOS\2014\Shutterstock 25-a-day\shutterstock_17852468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6564" y="2878963"/>
            <a:ext cx="2562468" cy="15201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identified equipment and supplies with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Verification should include confirming contingency plans which involves:</a:t>
            </a:r>
          </a:p>
          <a:p>
            <a:pPr marL="360000" indent="-360000">
              <a:spcBef>
                <a:spcPts val="600"/>
              </a:spcBef>
              <a:spcAft>
                <a:spcPts val="1200"/>
              </a:spcAft>
            </a:pPr>
            <a:r>
              <a:rPr lang="en-US" sz="2200" dirty="0" smtClean="0">
                <a:latin typeface="Helvetica" pitchFamily="34" charset="0"/>
              </a:rPr>
              <a:t>Reviewing existing plans</a:t>
            </a:r>
          </a:p>
          <a:p>
            <a:pPr marL="360000" indent="-360000">
              <a:spcBef>
                <a:spcPts val="600"/>
              </a:spcBef>
              <a:spcAft>
                <a:spcPts val="1200"/>
              </a:spcAft>
            </a:pPr>
            <a:r>
              <a:rPr lang="en-US" sz="2200" dirty="0" smtClean="0">
                <a:latin typeface="Helvetica" pitchFamily="34" charset="0"/>
              </a:rPr>
              <a:t>Modifying plans where needed</a:t>
            </a:r>
          </a:p>
          <a:p>
            <a:pPr marL="360000" indent="-360000">
              <a:spcBef>
                <a:spcPts val="600"/>
              </a:spcBef>
              <a:spcAft>
                <a:spcPts val="1200"/>
              </a:spcAft>
            </a:pPr>
            <a:r>
              <a:rPr lang="en-US" sz="2200" dirty="0" smtClean="0">
                <a:latin typeface="Helvetica" pitchFamily="34" charset="0"/>
              </a:rPr>
              <a:t>Revising the plans and: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Sharing them with tour staff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Including them in the Operations Manual/Package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descr="C:\Documents and Settings\Godaishu\Desktop\PHOTOS\2014\Shutterstock 25-a-day\shutterstock_199541387.jpg"/>
          <p:cNvPicPr/>
          <p:nvPr/>
        </p:nvPicPr>
        <p:blipFill>
          <a:blip r:embed="rId3" cstate="print"/>
          <a:srcRect/>
          <a:stretch>
            <a:fillRect/>
          </a:stretch>
        </p:blipFill>
        <p:spPr bwMode="auto">
          <a:xfrm>
            <a:off x="5940152" y="2703830"/>
            <a:ext cx="2172335" cy="1450340"/>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Develop checklist of all resources for use when loading and while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Checklists:</a:t>
            </a:r>
          </a:p>
          <a:p>
            <a:pPr marL="360000" indent="-360000">
              <a:spcBef>
                <a:spcPts val="600"/>
              </a:spcBef>
              <a:spcAft>
                <a:spcPts val="1200"/>
              </a:spcAft>
            </a:pPr>
            <a:r>
              <a:rPr lang="en-US" sz="2200" dirty="0" smtClean="0">
                <a:latin typeface="Helvetica" pitchFamily="34" charset="0"/>
              </a:rPr>
              <a:t>Are developed by individual operators</a:t>
            </a:r>
          </a:p>
          <a:p>
            <a:pPr marL="360000" indent="-360000">
              <a:spcBef>
                <a:spcPts val="600"/>
              </a:spcBef>
              <a:spcAft>
                <a:spcPts val="1200"/>
              </a:spcAft>
            </a:pPr>
            <a:r>
              <a:rPr lang="en-US" sz="2200" dirty="0" smtClean="0">
                <a:latin typeface="Helvetica" pitchFamily="34" charset="0"/>
              </a:rPr>
              <a:t>Are prepared on a tour-by-tour basis</a:t>
            </a:r>
          </a:p>
          <a:p>
            <a:pPr marL="360000" indent="-360000">
              <a:spcBef>
                <a:spcPts val="600"/>
              </a:spcBef>
              <a:spcAft>
                <a:spcPts val="1200"/>
              </a:spcAft>
            </a:pPr>
            <a:r>
              <a:rPr lang="en-US" sz="2200" dirty="0" smtClean="0">
                <a:latin typeface="Helvetica" pitchFamily="34" charset="0"/>
              </a:rPr>
              <a:t>Vary to reflect differing needs</a:t>
            </a:r>
          </a:p>
          <a:p>
            <a:pPr marL="360000" indent="-360000">
              <a:spcBef>
                <a:spcPts val="600"/>
              </a:spcBef>
              <a:spcAft>
                <a:spcPts val="1200"/>
              </a:spcAft>
            </a:pPr>
            <a:r>
              <a:rPr lang="en-US" sz="2200" dirty="0" smtClean="0">
                <a:latin typeface="Helvetica" pitchFamily="34" charset="0"/>
              </a:rPr>
              <a:t>Often vary depending on the season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descr="C:\Documents and Settings\Godaishu\Desktop\PHOTOS\2014\Shutterstock 25-a-day\shutterstock_155911139.jpg"/>
          <p:cNvPicPr/>
          <p:nvPr/>
        </p:nvPicPr>
        <p:blipFill>
          <a:blip r:embed="rId3" cstate="print"/>
          <a:srcRect/>
          <a:stretch>
            <a:fillRect/>
          </a:stretch>
        </p:blipFill>
        <p:spPr bwMode="auto">
          <a:xfrm>
            <a:off x="6372200" y="2420888"/>
            <a:ext cx="1821180" cy="1781175"/>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Develop checklist of all resources for use when loading and while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192688" cy="4752528"/>
          </a:xfrm>
        </p:spPr>
        <p:txBody>
          <a:bodyPr>
            <a:noAutofit/>
          </a:bodyPr>
          <a:lstStyle/>
          <a:p>
            <a:pPr marL="0" indent="0">
              <a:spcBef>
                <a:spcPts val="600"/>
              </a:spcBef>
              <a:spcAft>
                <a:spcPts val="1200"/>
              </a:spcAft>
              <a:buNone/>
            </a:pPr>
            <a:r>
              <a:rPr lang="en-US" sz="2200" dirty="0" smtClean="0">
                <a:latin typeface="Helvetica" pitchFamily="34" charset="0"/>
              </a:rPr>
              <a:t>Checklists may be used to:</a:t>
            </a:r>
          </a:p>
          <a:p>
            <a:pPr marL="360000" indent="-360000">
              <a:spcBef>
                <a:spcPts val="600"/>
              </a:spcBef>
              <a:spcAft>
                <a:spcPts val="1200"/>
              </a:spcAft>
            </a:pPr>
            <a:r>
              <a:rPr lang="en-US" sz="2200" dirty="0" smtClean="0">
                <a:latin typeface="Helvetica" pitchFamily="34" charset="0"/>
              </a:rPr>
              <a:t>Make sure all resources are provided</a:t>
            </a:r>
          </a:p>
          <a:p>
            <a:pPr marL="360000" indent="-360000">
              <a:spcBef>
                <a:spcPts val="600"/>
              </a:spcBef>
              <a:spcAft>
                <a:spcPts val="1200"/>
              </a:spcAft>
            </a:pPr>
            <a:r>
              <a:rPr lang="en-US" sz="2200" dirty="0" smtClean="0">
                <a:latin typeface="Helvetica" pitchFamily="34" charset="0"/>
              </a:rPr>
              <a:t>Ensure only required quantities are supplied</a:t>
            </a:r>
          </a:p>
          <a:p>
            <a:pPr marL="360000" indent="-360000">
              <a:spcBef>
                <a:spcPts val="600"/>
              </a:spcBef>
              <a:spcAft>
                <a:spcPts val="1200"/>
              </a:spcAft>
            </a:pPr>
            <a:r>
              <a:rPr lang="en-US" sz="2200" dirty="0" smtClean="0">
                <a:latin typeface="Helvetica" pitchFamily="34" charset="0"/>
              </a:rPr>
              <a:t>Prove items have been loaded</a:t>
            </a:r>
          </a:p>
          <a:p>
            <a:pPr marL="360000" indent="-360000">
              <a:spcBef>
                <a:spcPts val="600"/>
              </a:spcBef>
              <a:spcAft>
                <a:spcPts val="1200"/>
              </a:spcAft>
            </a:pPr>
            <a:r>
              <a:rPr lang="en-US" sz="2200" dirty="0" smtClean="0">
                <a:latin typeface="Helvetica" pitchFamily="34" charset="0"/>
              </a:rPr>
              <a:t>Verify condition of items</a:t>
            </a:r>
          </a:p>
          <a:p>
            <a:pPr marL="360000" indent="-360000">
              <a:spcBef>
                <a:spcPts val="600"/>
              </a:spcBef>
              <a:spcAft>
                <a:spcPts val="1200"/>
              </a:spcAft>
            </a:pPr>
            <a:r>
              <a:rPr lang="en-US" sz="2200" dirty="0" smtClean="0">
                <a:latin typeface="Helvetica" pitchFamily="34" charset="0"/>
              </a:rPr>
              <a:t>Provide basis for checking off items when tour returns</a:t>
            </a:r>
          </a:p>
          <a:p>
            <a:pPr marL="360000" indent="-360000">
              <a:spcBef>
                <a:spcPts val="600"/>
              </a:spcBef>
              <a:spcAft>
                <a:spcPts val="1200"/>
              </a:spcAft>
            </a:pPr>
            <a:r>
              <a:rPr lang="en-US" sz="2200" dirty="0" smtClean="0">
                <a:latin typeface="Helvetica" pitchFamily="34" charset="0"/>
              </a:rPr>
              <a:t>Calculate ‘stock used’ a trip/tour</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descr="C:\Documents and Settings\Godaishu\Desktop\PHOTOS\2014\Shutterstock 25-a-day\shutterstock_166756904.jpg"/>
          <p:cNvPicPr/>
          <p:nvPr/>
        </p:nvPicPr>
        <p:blipFill>
          <a:blip r:embed="rId3" cstate="print"/>
          <a:srcRect/>
          <a:stretch>
            <a:fillRect/>
          </a:stretch>
        </p:blipFill>
        <p:spPr bwMode="auto">
          <a:xfrm>
            <a:off x="6948264" y="2735580"/>
            <a:ext cx="1360170" cy="1386840"/>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Develop checklist of all resources for use when loading and while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976664" cy="4525963"/>
          </a:xfrm>
        </p:spPr>
        <p:txBody>
          <a:bodyPr>
            <a:normAutofit/>
          </a:bodyPr>
          <a:lstStyle/>
          <a:p>
            <a:pPr marL="360000" indent="-360000">
              <a:spcBef>
                <a:spcPts val="600"/>
              </a:spcBef>
              <a:spcAft>
                <a:spcPts val="1200"/>
              </a:spcAft>
            </a:pPr>
            <a:r>
              <a:rPr lang="en-US" sz="2200" dirty="0" smtClean="0">
                <a:latin typeface="Helvetica" pitchFamily="34" charset="0"/>
              </a:rPr>
              <a:t>Guide inspections of vehicles</a:t>
            </a:r>
          </a:p>
          <a:p>
            <a:pPr marL="360000" indent="-360000">
              <a:spcBef>
                <a:spcPts val="600"/>
              </a:spcBef>
              <a:spcAft>
                <a:spcPts val="1200"/>
              </a:spcAft>
            </a:pPr>
            <a:r>
              <a:rPr lang="en-US" sz="2200" dirty="0" smtClean="0">
                <a:latin typeface="Helvetica" pitchFamily="34" charset="0"/>
              </a:rPr>
              <a:t>Check F&amp;B supplied – in terms of type, food safety and quantities</a:t>
            </a:r>
          </a:p>
          <a:p>
            <a:pPr marL="360000" indent="-360000">
              <a:spcBef>
                <a:spcPts val="600"/>
              </a:spcBef>
              <a:spcAft>
                <a:spcPts val="1200"/>
              </a:spcAft>
            </a:pPr>
            <a:r>
              <a:rPr lang="en-US" sz="2200" dirty="0" smtClean="0">
                <a:latin typeface="Helvetica" pitchFamily="34" charset="0"/>
              </a:rPr>
              <a:t>Describe tasks to be undertaken before a trip/tour departs</a:t>
            </a:r>
          </a:p>
          <a:p>
            <a:pPr marL="360000" indent="-360000" algn="ctr">
              <a:spcBef>
                <a:spcPts val="600"/>
              </a:spcBef>
              <a:spcAft>
                <a:spcPts val="1200"/>
              </a:spcAft>
              <a:buNone/>
            </a:pPr>
            <a:r>
              <a:rPr lang="en-US" sz="2200" dirty="0" smtClean="0">
                <a:latin typeface="Helvetica" pitchFamily="34" charset="0"/>
              </a:rPr>
              <a:t>Some Checklists indicate a need to use/refer to </a:t>
            </a:r>
            <a:r>
              <a:rPr lang="en-US" sz="2200" b="1" dirty="0" smtClean="0">
                <a:latin typeface="Helvetica" pitchFamily="34" charset="0"/>
              </a:rPr>
              <a:t>another </a:t>
            </a:r>
            <a:r>
              <a:rPr lang="en-US" sz="2200" dirty="0" smtClean="0">
                <a:latin typeface="Helvetica" pitchFamily="34" charset="0"/>
              </a:rPr>
              <a:t>Checklist.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15362" name="Picture 2" descr="I:\Overseas Projects\PHOTOS\2014\Shutterstock 25-a-day\shutterstock_11012749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0232" y="2060848"/>
            <a:ext cx="1601202" cy="23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Develop checklist of all resources for use when loading and while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Checklists are used/need to be signed by:</a:t>
            </a:r>
          </a:p>
          <a:p>
            <a:pPr marL="360000" indent="-360000">
              <a:spcBef>
                <a:spcPts val="600"/>
              </a:spcBef>
              <a:spcAft>
                <a:spcPts val="1200"/>
              </a:spcAft>
            </a:pPr>
            <a:r>
              <a:rPr lang="en-US" sz="2200" dirty="0" smtClean="0">
                <a:latin typeface="Helvetica" pitchFamily="34" charset="0"/>
              </a:rPr>
              <a:t>Person </a:t>
            </a:r>
            <a:r>
              <a:rPr lang="en-US" sz="2200" b="1" dirty="0" smtClean="0">
                <a:latin typeface="Helvetica" pitchFamily="34" charset="0"/>
              </a:rPr>
              <a:t>issuing </a:t>
            </a:r>
            <a:r>
              <a:rPr lang="en-US" sz="2200" dirty="0" smtClean="0">
                <a:latin typeface="Helvetica" pitchFamily="34" charset="0"/>
              </a:rPr>
              <a:t>resources for a trip/tour</a:t>
            </a:r>
          </a:p>
          <a:p>
            <a:pPr marL="360000" indent="-360000">
              <a:spcBef>
                <a:spcPts val="600"/>
              </a:spcBef>
              <a:spcAft>
                <a:spcPts val="1200"/>
              </a:spcAft>
            </a:pPr>
            <a:r>
              <a:rPr lang="en-US" sz="2200" dirty="0" smtClean="0">
                <a:latin typeface="Helvetica" pitchFamily="34" charset="0"/>
              </a:rPr>
              <a:t>Person </a:t>
            </a:r>
            <a:r>
              <a:rPr lang="en-US" sz="2200" b="1" dirty="0" smtClean="0">
                <a:latin typeface="Helvetica" pitchFamily="34" charset="0"/>
              </a:rPr>
              <a:t>taking delivery/accepting </a:t>
            </a:r>
            <a:r>
              <a:rPr lang="en-US" sz="2200" dirty="0" smtClean="0">
                <a:latin typeface="Helvetica" pitchFamily="34" charset="0"/>
              </a:rPr>
              <a:t>resources for a trip/tour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16386" name="Picture 2" descr="I:\Overseas Projects\PHOTOS\2014\Shutterstock 25-a-day\shutterstock_155911139.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4869" t="5451" r="13479" b="5524"/>
          <a:stretch/>
        </p:blipFill>
        <p:spPr bwMode="auto">
          <a:xfrm>
            <a:off x="3684896" y="3739487"/>
            <a:ext cx="1624083" cy="19516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Develop checklist of all resources for use when loading and while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Note:</a:t>
            </a:r>
          </a:p>
          <a:p>
            <a:pPr marL="360000" indent="-360000">
              <a:spcBef>
                <a:spcPts val="600"/>
              </a:spcBef>
              <a:spcAft>
                <a:spcPts val="1200"/>
              </a:spcAft>
            </a:pPr>
            <a:r>
              <a:rPr lang="en-US" sz="2200" dirty="0" smtClean="0">
                <a:latin typeface="Helvetica" pitchFamily="34" charset="0"/>
              </a:rPr>
              <a:t>Signatures from </a:t>
            </a:r>
            <a:r>
              <a:rPr lang="en-US" sz="2200" i="1" dirty="0" smtClean="0">
                <a:latin typeface="Helvetica" pitchFamily="34" charset="0"/>
              </a:rPr>
              <a:t>both </a:t>
            </a:r>
            <a:r>
              <a:rPr lang="en-US" sz="2200" dirty="0" smtClean="0">
                <a:latin typeface="Helvetica" pitchFamily="34" charset="0"/>
              </a:rPr>
              <a:t>people confirm resources ‘as listed’ were in fact supplied</a:t>
            </a:r>
          </a:p>
          <a:p>
            <a:pPr marL="360000" indent="-360000">
              <a:spcBef>
                <a:spcPts val="600"/>
              </a:spcBef>
              <a:spcAft>
                <a:spcPts val="1200"/>
              </a:spcAft>
            </a:pPr>
            <a:r>
              <a:rPr lang="en-US" sz="2200" dirty="0" smtClean="0">
                <a:latin typeface="Helvetica" pitchFamily="34" charset="0"/>
              </a:rPr>
              <a:t>Signed copy is forwarded to management or administration and filed for future processing and/or reference purposes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17410" name="Picture 2" descr="I:\Overseas Projects\PHOTOS\2014\Shutterstock 25-a-day\shutterstock_295331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4293096"/>
            <a:ext cx="2211957" cy="18110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preparing identified tour requirements:</a:t>
            </a:r>
          </a:p>
          <a:p>
            <a:pPr lvl="0"/>
            <a:r>
              <a:rPr lang="en-AU" sz="2200" dirty="0" smtClean="0">
                <a:latin typeface="Helvetica" pitchFamily="34" charset="0"/>
              </a:rPr>
              <a:t>Match resources to identified requirements</a:t>
            </a:r>
          </a:p>
          <a:p>
            <a:pPr lvl="0"/>
            <a:endParaRPr lang="en-AU" sz="2200" dirty="0" smtClean="0">
              <a:latin typeface="Helvetica" pitchFamily="34" charset="0"/>
            </a:endParaRPr>
          </a:p>
          <a:p>
            <a:pPr lvl="0"/>
            <a:r>
              <a:rPr lang="en-AU" sz="2200" dirty="0" smtClean="0">
                <a:latin typeface="Helvetica" pitchFamily="34" charset="0"/>
              </a:rPr>
              <a:t>Adhere to budget limitations</a:t>
            </a:r>
          </a:p>
          <a:p>
            <a:pPr lvl="0"/>
            <a:endParaRPr lang="en-AU" sz="2200" dirty="0" smtClean="0">
              <a:latin typeface="Helvetica" pitchFamily="34" charset="0"/>
            </a:endParaRPr>
          </a:p>
          <a:p>
            <a:pPr lvl="0"/>
            <a:r>
              <a:rPr lang="en-AU" sz="2200" dirty="0" smtClean="0">
                <a:latin typeface="Helvetica" pitchFamily="34" charset="0"/>
              </a:rPr>
              <a:t>Comply with legally-imposed obligations</a:t>
            </a:r>
          </a:p>
          <a:p>
            <a:pPr lvl="0"/>
            <a:endParaRPr lang="en-AU" sz="2200" dirty="0" smtClean="0">
              <a:latin typeface="Helvetica" pitchFamily="34" charset="0"/>
            </a:endParaRPr>
          </a:p>
          <a:p>
            <a:pPr lvl="0"/>
            <a:r>
              <a:rPr lang="en-AU" sz="2200" dirty="0" smtClean="0">
                <a:latin typeface="Helvetica" pitchFamily="34" charset="0"/>
              </a:rPr>
              <a:t>Follow internal operational protocols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2" descr="C:\Users\danielc\Downloads\Summar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2852936"/>
            <a:ext cx="1839477" cy="12646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976664" cy="4525963"/>
          </a:xfrm>
        </p:spPr>
        <p:txBody>
          <a:bodyPr>
            <a:normAutofit/>
          </a:bodyPr>
          <a:lstStyle/>
          <a:p>
            <a:pPr lvl="0"/>
            <a:r>
              <a:rPr lang="en-AU" sz="2200" dirty="0" smtClean="0">
                <a:latin typeface="Helvetica" pitchFamily="34" charset="0"/>
              </a:rPr>
              <a:t>Use nominated documents to record action taken and goods/services supplied</a:t>
            </a:r>
          </a:p>
          <a:p>
            <a:pPr lvl="0"/>
            <a:endParaRPr lang="en-AU" sz="2200" dirty="0" smtClean="0">
              <a:latin typeface="Helvetica" pitchFamily="34" charset="0"/>
            </a:endParaRPr>
          </a:p>
          <a:p>
            <a:pPr lvl="0"/>
            <a:r>
              <a:rPr lang="en-AU" sz="2200" dirty="0" smtClean="0">
                <a:latin typeface="Helvetica" pitchFamily="34" charset="0"/>
              </a:rPr>
              <a:t>Rotate stock</a:t>
            </a:r>
          </a:p>
          <a:p>
            <a:pPr lvl="0"/>
            <a:endParaRPr lang="en-AU" sz="2200" dirty="0" smtClean="0">
              <a:latin typeface="Helvetica" pitchFamily="34" charset="0"/>
            </a:endParaRPr>
          </a:p>
          <a:p>
            <a:pPr lvl="0"/>
            <a:r>
              <a:rPr lang="en-AU" sz="2200" dirty="0" smtClean="0">
                <a:latin typeface="Helvetica" pitchFamily="34" charset="0"/>
              </a:rPr>
              <a:t>Check condition of equipment and supplies provided for trips/tours</a:t>
            </a:r>
          </a:p>
          <a:p>
            <a:pPr lvl="0"/>
            <a:endParaRPr lang="en-AU" sz="2200" dirty="0" smtClean="0">
              <a:latin typeface="Helvetica" pitchFamily="34" charset="0"/>
            </a:endParaRPr>
          </a:p>
          <a:p>
            <a:pPr lvl="0"/>
            <a:r>
              <a:rPr lang="en-AU" sz="2200" dirty="0" smtClean="0">
                <a:latin typeface="Helvetica" pitchFamily="34" charset="0"/>
              </a:rPr>
              <a:t>Verify quantities supplied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2" descr="C:\Users\danielc\Downloads\what have you learne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4248" y="3429000"/>
            <a:ext cx="1524000" cy="14049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904656" cy="4525963"/>
          </a:xfrm>
        </p:spPr>
        <p:txBody>
          <a:bodyPr>
            <a:normAutofit/>
          </a:bodyPr>
          <a:lstStyle/>
          <a:p>
            <a:pPr lvl="0"/>
            <a:r>
              <a:rPr lang="en-AU" sz="2200" dirty="0" smtClean="0">
                <a:latin typeface="Helvetica" pitchFamily="34" charset="0"/>
              </a:rPr>
              <a:t>Acquire additional equipment and supplies as required by each trip/tour and within prescribed parameters</a:t>
            </a:r>
          </a:p>
          <a:p>
            <a:pPr lvl="0"/>
            <a:endParaRPr lang="en-AU" sz="2200" dirty="0" smtClean="0">
              <a:latin typeface="Helvetica" pitchFamily="34" charset="0"/>
            </a:endParaRPr>
          </a:p>
          <a:p>
            <a:pPr lvl="0"/>
            <a:r>
              <a:rPr lang="en-AU" sz="2200" dirty="0" smtClean="0">
                <a:latin typeface="Helvetica" pitchFamily="34" charset="0"/>
              </a:rPr>
              <a:t>Involve tour staff with decisions</a:t>
            </a:r>
          </a:p>
          <a:p>
            <a:pPr lvl="0"/>
            <a:endParaRPr lang="en-AU" sz="2200" dirty="0" smtClean="0">
              <a:latin typeface="Helvetica" pitchFamily="34" charset="0"/>
            </a:endParaRPr>
          </a:p>
          <a:p>
            <a:pPr lvl="0"/>
            <a:r>
              <a:rPr lang="en-AU" sz="2200" dirty="0" smtClean="0">
                <a:latin typeface="Helvetica" pitchFamily="34" charset="0"/>
              </a:rPr>
              <a:t>Use checklists and loading sheets as the basis for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2" descr="C:\Users\danielc\Downloads\Summar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6854" y="2348880"/>
            <a:ext cx="1839477" cy="12646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3 – Load identified tour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768752"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AU" sz="2200" dirty="0" smtClean="0">
                <a:latin typeface="Helvetica" pitchFamily="34" charset="0"/>
              </a:rPr>
              <a:t>Prepare loading sheet for each vehicle or form of transport to be used</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Stow equipment and supplies</a:t>
            </a:r>
          </a:p>
          <a:p>
            <a:pPr marL="360000" indent="-360000">
              <a:spcBef>
                <a:spcPts val="600"/>
              </a:spcBef>
              <a:spcAft>
                <a:spcPts val="1200"/>
              </a:spcAft>
            </a:pPr>
            <a:r>
              <a:rPr lang="en-AU" sz="2200" dirty="0" smtClean="0">
                <a:latin typeface="Helvetica" pitchFamily="34" charset="0"/>
              </a:rPr>
              <a:t>Use checklist/s to ensure all equipment and supplies are loaded</a:t>
            </a:r>
          </a:p>
          <a:p>
            <a:pPr marL="360000" indent="-360000">
              <a:spcBef>
                <a:spcPts val="600"/>
              </a:spcBef>
              <a:spcAft>
                <a:spcPts val="1200"/>
              </a:spcAft>
            </a:pPr>
            <a:r>
              <a:rPr lang="en-AU" sz="2200" dirty="0" smtClean="0">
                <a:latin typeface="Helvetica" pitchFamily="34" charset="0"/>
              </a:rPr>
              <a:t>Conduct final check of all vehicles, equipment and supplies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2" descr="C:\Users\danielc\AppData\Local\Microsoft\Windows\Temporary Internet Files\Content.IE5\A6X2UMIZ\MC900432658[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8304" y="2708920"/>
            <a:ext cx="1714500" cy="1714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Prepare loading sheet for each vehicle or form of transport to be used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4968552" cy="5112568"/>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In relation to Loading sheets – they:</a:t>
            </a:r>
          </a:p>
          <a:p>
            <a:pPr marL="360000" indent="-360000">
              <a:spcBef>
                <a:spcPts val="600"/>
              </a:spcBef>
              <a:spcAft>
                <a:spcPts val="1200"/>
              </a:spcAft>
            </a:pPr>
            <a:r>
              <a:rPr lang="en-US" sz="2200" dirty="0" smtClean="0">
                <a:latin typeface="Helvetica" pitchFamily="34" charset="0"/>
              </a:rPr>
              <a:t>Are prepared by each operator for each trip/tour</a:t>
            </a:r>
          </a:p>
          <a:p>
            <a:pPr marL="360000" indent="-360000">
              <a:spcBef>
                <a:spcPts val="600"/>
              </a:spcBef>
              <a:spcAft>
                <a:spcPts val="1200"/>
              </a:spcAft>
            </a:pPr>
            <a:r>
              <a:rPr lang="en-US" sz="2200" dirty="0" smtClean="0">
                <a:latin typeface="Helvetica" pitchFamily="34" charset="0"/>
              </a:rPr>
              <a:t>List items to be loaded by type and quantity</a:t>
            </a:r>
          </a:p>
          <a:p>
            <a:pPr marL="360000" indent="-360000">
              <a:spcBef>
                <a:spcPts val="600"/>
              </a:spcBef>
              <a:spcAft>
                <a:spcPts val="1200"/>
              </a:spcAft>
            </a:pPr>
            <a:r>
              <a:rPr lang="en-US" sz="2200" dirty="0" smtClean="0">
                <a:latin typeface="Helvetica" pitchFamily="34" charset="0"/>
              </a:rPr>
              <a:t>Guide the loading process into vehicles/onto animals</a:t>
            </a:r>
          </a:p>
          <a:p>
            <a:pPr marL="360000" indent="-360000">
              <a:spcBef>
                <a:spcPts val="600"/>
              </a:spcBef>
              <a:spcAft>
                <a:spcPts val="1200"/>
              </a:spcAft>
            </a:pPr>
            <a:r>
              <a:rPr lang="en-US" sz="2200" dirty="0" smtClean="0">
                <a:latin typeface="Helvetica" pitchFamily="34" charset="0"/>
              </a:rPr>
              <a:t>Are usually more than one page long</a:t>
            </a:r>
          </a:p>
          <a:p>
            <a:pPr marL="360000" indent="-360000">
              <a:spcBef>
                <a:spcPts val="600"/>
              </a:spcBef>
              <a:spcAft>
                <a:spcPts val="1200"/>
              </a:spcAft>
            </a:pPr>
            <a:r>
              <a:rPr lang="en-US" sz="2200" dirty="0" smtClean="0">
                <a:latin typeface="Helvetica" pitchFamily="34" charset="0"/>
              </a:rPr>
              <a:t>Provide a hard copy record of items loaded</a:t>
            </a:r>
          </a:p>
          <a:p>
            <a:pPr marL="360000" indent="-360000">
              <a:spcBef>
                <a:spcPts val="600"/>
              </a:spcBef>
              <a:spcAft>
                <a:spcPts val="1200"/>
              </a:spcAft>
            </a:pPr>
            <a:r>
              <a:rPr lang="en-US" sz="2200" dirty="0" smtClean="0">
                <a:latin typeface="Helvetica" pitchFamily="34" charset="0"/>
              </a:rPr>
              <a:t>Ensure resources are provided to discharge obligations and meet expectations and promises made</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1843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8144" y="1556792"/>
            <a:ext cx="3155302"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Prepare loading sheet for each vehicle or form of transport to be used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Loading sheets may be prepared for:</a:t>
            </a:r>
          </a:p>
          <a:p>
            <a:pPr marL="360000" indent="-360000">
              <a:spcBef>
                <a:spcPts val="600"/>
              </a:spcBef>
              <a:spcAft>
                <a:spcPts val="1200"/>
              </a:spcAft>
            </a:pPr>
            <a:r>
              <a:rPr lang="en-US" sz="2200" dirty="0" smtClean="0">
                <a:latin typeface="Helvetica" pitchFamily="34" charset="0"/>
              </a:rPr>
              <a:t>Various company vehicles</a:t>
            </a:r>
          </a:p>
          <a:p>
            <a:pPr marL="360000" indent="-360000">
              <a:spcBef>
                <a:spcPts val="600"/>
              </a:spcBef>
              <a:spcAft>
                <a:spcPts val="1200"/>
              </a:spcAft>
            </a:pPr>
            <a:r>
              <a:rPr lang="en-US" sz="2200" dirty="0" smtClean="0">
                <a:latin typeface="Helvetica" pitchFamily="34" charset="0"/>
              </a:rPr>
              <a:t>Third party vehicles</a:t>
            </a:r>
          </a:p>
          <a:p>
            <a:pPr marL="360000" indent="-360000">
              <a:spcBef>
                <a:spcPts val="600"/>
              </a:spcBef>
              <a:spcAft>
                <a:spcPts val="1200"/>
              </a:spcAft>
            </a:pPr>
            <a:r>
              <a:rPr lang="en-US" sz="2200" dirty="0" smtClean="0">
                <a:latin typeface="Helvetica" pitchFamily="34" charset="0"/>
              </a:rPr>
              <a:t>Animals</a:t>
            </a:r>
          </a:p>
          <a:p>
            <a:pPr marL="360000" indent="-360000">
              <a:spcBef>
                <a:spcPts val="600"/>
              </a:spcBef>
              <a:spcAft>
                <a:spcPts val="1200"/>
              </a:spcAft>
            </a:pPr>
            <a:r>
              <a:rPr lang="en-US" sz="2200" dirty="0" smtClean="0">
                <a:latin typeface="Helvetica" pitchFamily="34" charset="0"/>
              </a:rPr>
              <a:t>Support vehicles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descr="C:\Documents and Settings\Godaishu\Desktop\PHOTOS\2014\Shutterstock 25-a-day\shutterstock_174324584.jpg"/>
          <p:cNvPicPr/>
          <p:nvPr/>
        </p:nvPicPr>
        <p:blipFill>
          <a:blip r:embed="rId3" cstate="print"/>
          <a:srcRect/>
          <a:stretch>
            <a:fillRect/>
          </a:stretch>
        </p:blipFill>
        <p:spPr bwMode="auto">
          <a:xfrm>
            <a:off x="5868144" y="2664387"/>
            <a:ext cx="2219325" cy="1481455"/>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Prepare loading sheet for each vehicle or form of transport to be used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832648" cy="4525963"/>
          </a:xfrm>
        </p:spPr>
        <p:txBody>
          <a:bodyPr>
            <a:normAutofit/>
          </a:bodyPr>
          <a:lstStyle/>
          <a:p>
            <a:pPr marL="0" indent="0">
              <a:spcBef>
                <a:spcPts val="600"/>
              </a:spcBef>
              <a:spcAft>
                <a:spcPts val="1200"/>
              </a:spcAft>
              <a:buNone/>
            </a:pPr>
            <a:r>
              <a:rPr lang="en-US" sz="2200" dirty="0" smtClean="0">
                <a:latin typeface="Helvetica" pitchFamily="34" charset="0"/>
              </a:rPr>
              <a:t>Activities in using Loading sheets:</a:t>
            </a:r>
          </a:p>
          <a:p>
            <a:pPr marL="360000" indent="-360000">
              <a:spcBef>
                <a:spcPts val="600"/>
              </a:spcBef>
              <a:spcAft>
                <a:spcPts val="1200"/>
              </a:spcAft>
            </a:pPr>
            <a:r>
              <a:rPr lang="en-US" sz="2200" dirty="0" smtClean="0">
                <a:latin typeface="Helvetica" pitchFamily="34" charset="0"/>
              </a:rPr>
              <a:t>Printing off blank copies: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Some items are pre-printed</a:t>
            </a:r>
          </a:p>
          <a:p>
            <a:pPr marL="360000" indent="-360000">
              <a:spcBef>
                <a:spcPts val="600"/>
              </a:spcBef>
              <a:spcAft>
                <a:spcPts val="1200"/>
              </a:spcAft>
            </a:pPr>
            <a:r>
              <a:rPr lang="en-US" sz="2200" dirty="0" smtClean="0">
                <a:latin typeface="Helvetica" pitchFamily="34" charset="0"/>
              </a:rPr>
              <a:t>Filling in numbers for resources provided</a:t>
            </a:r>
          </a:p>
          <a:p>
            <a:pPr marL="360000" indent="-360000">
              <a:spcBef>
                <a:spcPts val="600"/>
              </a:spcBef>
              <a:spcAft>
                <a:spcPts val="1200"/>
              </a:spcAft>
            </a:pPr>
            <a:r>
              <a:rPr lang="en-US" sz="2200" dirty="0" smtClean="0">
                <a:latin typeface="Helvetica" pitchFamily="34" charset="0"/>
              </a:rPr>
              <a:t>Identifying position/location of items</a:t>
            </a:r>
          </a:p>
          <a:p>
            <a:pPr marL="360000" indent="-360000">
              <a:spcBef>
                <a:spcPts val="600"/>
              </a:spcBef>
              <a:spcAft>
                <a:spcPts val="1200"/>
              </a:spcAft>
            </a:pPr>
            <a:r>
              <a:rPr lang="en-US" sz="2200" dirty="0" smtClean="0">
                <a:latin typeface="Helvetica" pitchFamily="34" charset="0"/>
              </a:rPr>
              <a:t>Making sure weight is equally distributed and/or appropriately shared between vehicles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19458" name="Picture 2" descr="I:\Overseas Projects\PHOTOS\2014\Shutterstock 25-a-day\shutterstock_10423885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4248" y="3501008"/>
            <a:ext cx="2017603" cy="13461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Stow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408712" cy="4525963"/>
          </a:xfrm>
        </p:spPr>
        <p:txBody>
          <a:bodyPr>
            <a:noAutofit/>
          </a:bodyPr>
          <a:lstStyle/>
          <a:p>
            <a:pPr marL="0" indent="0">
              <a:spcBef>
                <a:spcPts val="600"/>
              </a:spcBef>
              <a:spcAft>
                <a:spcPts val="1200"/>
              </a:spcAft>
              <a:buNone/>
            </a:pPr>
            <a:r>
              <a:rPr lang="en-US" sz="2200" dirty="0" smtClean="0">
                <a:latin typeface="Helvetica" pitchFamily="34" charset="0"/>
              </a:rPr>
              <a:t>‘Stowing’ = loading.</a:t>
            </a:r>
          </a:p>
          <a:p>
            <a:pPr marL="0" indent="0">
              <a:spcBef>
                <a:spcPts val="600"/>
              </a:spcBef>
              <a:spcAft>
                <a:spcPts val="1200"/>
              </a:spcAft>
              <a:buNone/>
            </a:pPr>
            <a:r>
              <a:rPr lang="en-US" sz="2200" dirty="0" smtClean="0">
                <a:latin typeface="Helvetica" pitchFamily="34" charset="0"/>
              </a:rPr>
              <a:t>Important considerations:</a:t>
            </a:r>
          </a:p>
          <a:p>
            <a:pPr marL="360000" indent="-360000">
              <a:spcBef>
                <a:spcPts val="600"/>
              </a:spcBef>
              <a:spcAft>
                <a:spcPts val="1200"/>
              </a:spcAft>
            </a:pPr>
            <a:r>
              <a:rPr lang="en-US" sz="2200" dirty="0" smtClean="0">
                <a:latin typeface="Helvetica" pitchFamily="34" charset="0"/>
              </a:rPr>
              <a:t>Loading sheets MUST form the basis of actual loading</a:t>
            </a:r>
          </a:p>
          <a:p>
            <a:pPr marL="360000" indent="-360000">
              <a:spcBef>
                <a:spcPts val="600"/>
              </a:spcBef>
              <a:spcAft>
                <a:spcPts val="1200"/>
              </a:spcAft>
            </a:pPr>
            <a:r>
              <a:rPr lang="en-US" sz="2200" dirty="0" smtClean="0">
                <a:latin typeface="Helvetica" pitchFamily="34" charset="0"/>
              </a:rPr>
              <a:t>Any variations MUST be recorded on the sheets</a:t>
            </a:r>
          </a:p>
          <a:p>
            <a:pPr marL="360000" indent="-360000">
              <a:spcBef>
                <a:spcPts val="600"/>
              </a:spcBef>
              <a:spcAft>
                <a:spcPts val="1200"/>
              </a:spcAft>
            </a:pPr>
            <a:r>
              <a:rPr lang="en-US" sz="2200" dirty="0" smtClean="0">
                <a:latin typeface="Helvetica" pitchFamily="34" charset="0"/>
              </a:rPr>
              <a:t>Safe manual handling techniques must be used</a:t>
            </a:r>
          </a:p>
          <a:p>
            <a:pPr marL="360000" indent="-360000">
              <a:spcBef>
                <a:spcPts val="600"/>
              </a:spcBef>
              <a:spcAft>
                <a:spcPts val="1200"/>
              </a:spcAft>
            </a:pPr>
            <a:r>
              <a:rPr lang="en-US" sz="2200" dirty="0" smtClean="0">
                <a:latin typeface="Helvetica" pitchFamily="34" charset="0"/>
              </a:rPr>
              <a:t>Weight restrictions to vehicles MUST be observed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descr="C:\Documents and Settings\Godaishu\Desktop\PHOTOS\2014\Shutterstock 25-a-day\shutterstock_104718050.jpg"/>
          <p:cNvPicPr/>
          <p:nvPr/>
        </p:nvPicPr>
        <p:blipFill>
          <a:blip r:embed="rId3" cstate="print"/>
          <a:srcRect/>
          <a:stretch>
            <a:fillRect/>
          </a:stretch>
        </p:blipFill>
        <p:spPr bwMode="auto">
          <a:xfrm>
            <a:off x="7145549" y="3496238"/>
            <a:ext cx="1983105" cy="1323975"/>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Stow equipment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408712" cy="4525963"/>
          </a:xfrm>
        </p:spPr>
        <p:txBody>
          <a:bodyPr>
            <a:normAutofit/>
          </a:bodyPr>
          <a:lstStyle/>
          <a:p>
            <a:pPr marL="360000" indent="-360000">
              <a:spcBef>
                <a:spcPts val="600"/>
              </a:spcBef>
              <a:spcAft>
                <a:spcPts val="1200"/>
              </a:spcAft>
            </a:pPr>
            <a:r>
              <a:rPr lang="en-US" sz="2200" dirty="0" smtClean="0">
                <a:latin typeface="Helvetica" pitchFamily="34" charset="0"/>
              </a:rPr>
              <a:t>Accommodate trip/tour-specific requirements in relation to (for example) terrain and itinerary</a:t>
            </a:r>
          </a:p>
          <a:p>
            <a:pPr marL="360000" indent="-360000">
              <a:spcBef>
                <a:spcPts val="600"/>
              </a:spcBef>
              <a:spcAft>
                <a:spcPts val="1200"/>
              </a:spcAft>
            </a:pPr>
            <a:r>
              <a:rPr lang="en-US" sz="2200" dirty="0" smtClean="0">
                <a:latin typeface="Helvetica" pitchFamily="34" charset="0"/>
              </a:rPr>
              <a:t>Making sure items needed first are loaded last</a:t>
            </a:r>
          </a:p>
          <a:p>
            <a:pPr marL="360000" indent="-360000">
              <a:spcBef>
                <a:spcPts val="600"/>
              </a:spcBef>
              <a:spcAft>
                <a:spcPts val="1200"/>
              </a:spcAft>
            </a:pPr>
            <a:r>
              <a:rPr lang="en-US" sz="2200" dirty="0" smtClean="0">
                <a:latin typeface="Helvetica" pitchFamily="34" charset="0"/>
              </a:rPr>
              <a:t>Ensuring easy access to emergency items</a:t>
            </a:r>
          </a:p>
          <a:p>
            <a:pPr marL="360000" indent="-360000">
              <a:spcBef>
                <a:spcPts val="600"/>
              </a:spcBef>
              <a:spcAft>
                <a:spcPts val="1200"/>
              </a:spcAft>
            </a:pPr>
            <a:r>
              <a:rPr lang="en-US" sz="2200" dirty="0" smtClean="0">
                <a:latin typeface="Helvetica" pitchFamily="34" charset="0"/>
              </a:rPr>
              <a:t>Following protocols regarding storage of hazardous items</a:t>
            </a:r>
          </a:p>
          <a:p>
            <a:pPr marL="360000" indent="-360000">
              <a:spcBef>
                <a:spcPts val="600"/>
              </a:spcBef>
              <a:spcAft>
                <a:spcPts val="1200"/>
              </a:spcAft>
            </a:pPr>
            <a:r>
              <a:rPr lang="en-US" sz="2200" dirty="0" smtClean="0">
                <a:latin typeface="Helvetica" pitchFamily="34" charset="0"/>
              </a:rPr>
              <a:t>Securing items from movement</a:t>
            </a:r>
          </a:p>
          <a:p>
            <a:pPr marL="360000" indent="-360000">
              <a:spcBef>
                <a:spcPts val="600"/>
              </a:spcBef>
              <a:spcAft>
                <a:spcPts val="1200"/>
              </a:spcAft>
            </a:pPr>
            <a:r>
              <a:rPr lang="en-US" sz="2200" dirty="0" smtClean="0">
                <a:latin typeface="Helvetica" pitchFamily="34" charset="0"/>
              </a:rPr>
              <a:t>Protecting items from theft/</a:t>
            </a:r>
            <a:r>
              <a:rPr lang="en-US" sz="2200" dirty="0" err="1" smtClean="0">
                <a:latin typeface="Helvetica" pitchFamily="34" charset="0"/>
              </a:rPr>
              <a:t>unauthorised</a:t>
            </a:r>
            <a:r>
              <a:rPr lang="en-US" sz="2200" dirty="0" smtClean="0">
                <a:latin typeface="Helvetica" pitchFamily="34" charset="0"/>
              </a:rPr>
              <a:t> use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20485" name="Picture 5" descr="C:\Users\danielc\AppData\Local\Microsoft\Windows\Temporary Internet Files\Content.IE5\HILT0NIY\large-Warning-166.6-13844[1].gif"/>
          <p:cNvPicPr>
            <a:picLocks noChangeAspect="1" noChangeArrowheads="1"/>
          </p:cNvPicPr>
          <p:nvPr/>
        </p:nvPicPr>
        <p:blipFill>
          <a:blip r:embed="rId3" cstate="print">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7164288" y="2636912"/>
            <a:ext cx="1620160" cy="14311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checklist/s to ensure all equipment and supplies are loaded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048672" cy="4525963"/>
          </a:xfrm>
        </p:spPr>
        <p:txBody>
          <a:bodyPr>
            <a:normAutofit/>
          </a:bodyPr>
          <a:lstStyle/>
          <a:p>
            <a:pPr marL="0" indent="0">
              <a:spcBef>
                <a:spcPts val="600"/>
              </a:spcBef>
              <a:spcAft>
                <a:spcPts val="1200"/>
              </a:spcAft>
              <a:buNone/>
            </a:pPr>
            <a:r>
              <a:rPr lang="en-US" sz="2200" dirty="0" smtClean="0">
                <a:latin typeface="Helvetica" pitchFamily="34" charset="0"/>
              </a:rPr>
              <a:t>‘Loading sheets’ are the checklists used to ensure equipment and supplies are loaded – checking involves:</a:t>
            </a:r>
          </a:p>
          <a:p>
            <a:pPr marL="360000" indent="-360000">
              <a:spcBef>
                <a:spcPts val="600"/>
              </a:spcBef>
              <a:spcAft>
                <a:spcPts val="1200"/>
              </a:spcAft>
            </a:pPr>
            <a:r>
              <a:rPr lang="en-US" sz="2200" dirty="0" smtClean="0">
                <a:latin typeface="Helvetica" pitchFamily="34" charset="0"/>
              </a:rPr>
              <a:t>Meeting with tour staff to conduct the check</a:t>
            </a:r>
          </a:p>
          <a:p>
            <a:pPr marL="360000" indent="-360000">
              <a:spcBef>
                <a:spcPts val="600"/>
              </a:spcBef>
              <a:spcAft>
                <a:spcPts val="1200"/>
              </a:spcAft>
            </a:pPr>
            <a:r>
              <a:rPr lang="en-US" sz="2200" dirty="0" smtClean="0">
                <a:latin typeface="Helvetica" pitchFamily="34" charset="0"/>
              </a:rPr>
              <a:t>Photocopying completed Loading sheets and giving copy to tour staff</a:t>
            </a:r>
          </a:p>
          <a:p>
            <a:pPr marL="360000" indent="-360000">
              <a:spcBef>
                <a:spcPts val="600"/>
              </a:spcBef>
              <a:spcAft>
                <a:spcPts val="1200"/>
              </a:spcAft>
            </a:pPr>
            <a:r>
              <a:rPr lang="en-US" sz="2200" dirty="0" smtClean="0">
                <a:latin typeface="Helvetica" pitchFamily="34" charset="0"/>
              </a:rPr>
              <a:t>Handling last-minute requirements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96936" y="2420888"/>
            <a:ext cx="2099855" cy="2875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checklist/s to ensure all equipment and supplies are loaded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Verifying/inspecting items</a:t>
            </a:r>
          </a:p>
          <a:p>
            <a:pPr marL="360000" indent="-360000">
              <a:spcBef>
                <a:spcPts val="600"/>
              </a:spcBef>
              <a:spcAft>
                <a:spcPts val="1200"/>
              </a:spcAft>
            </a:pPr>
            <a:r>
              <a:rPr lang="en-US" sz="2200" dirty="0" smtClean="0">
                <a:latin typeface="Helvetica" pitchFamily="34" charset="0"/>
              </a:rPr>
              <a:t>Adjusting Loading sheets as/if required – to reflect changes</a:t>
            </a:r>
          </a:p>
          <a:p>
            <a:pPr marL="360000" indent="-360000">
              <a:spcBef>
                <a:spcPts val="600"/>
              </a:spcBef>
              <a:spcAft>
                <a:spcPts val="1200"/>
              </a:spcAft>
            </a:pPr>
            <a:r>
              <a:rPr lang="en-US" sz="2200" dirty="0" smtClean="0">
                <a:latin typeface="Helvetica" pitchFamily="34" charset="0"/>
              </a:rPr>
              <a:t>Signing-off and dating the sheets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21506" name="Picture 2" descr="I:\Overseas Projects\PHOTOS\2014\Shutterstock 25-a-day\shutterstock_16572865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5856" y="3789040"/>
            <a:ext cx="3048000" cy="2033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checklist/s to ensure all equipment and supplies are loaded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904656" cy="4525963"/>
          </a:xfrm>
        </p:spPr>
        <p:txBody>
          <a:bodyPr>
            <a:normAutofit/>
          </a:bodyPr>
          <a:lstStyle/>
          <a:p>
            <a:pPr marL="0" indent="0">
              <a:spcBef>
                <a:spcPts val="600"/>
              </a:spcBef>
              <a:spcAft>
                <a:spcPts val="1200"/>
              </a:spcAft>
              <a:buNone/>
            </a:pPr>
            <a:r>
              <a:rPr lang="en-US" sz="2200" dirty="0" smtClean="0">
                <a:latin typeface="Helvetica" pitchFamily="34" charset="0"/>
              </a:rPr>
              <a:t>In some cases:</a:t>
            </a:r>
          </a:p>
          <a:p>
            <a:pPr marL="360000" indent="-360000">
              <a:spcBef>
                <a:spcPts val="600"/>
              </a:spcBef>
              <a:spcAft>
                <a:spcPts val="1200"/>
              </a:spcAft>
            </a:pPr>
            <a:r>
              <a:rPr lang="en-US" sz="2200" dirty="0" smtClean="0">
                <a:latin typeface="Helvetica" pitchFamily="34" charset="0"/>
              </a:rPr>
              <a:t>Loading/stowing occurs at the same time ‘checks’ are made</a:t>
            </a:r>
          </a:p>
          <a:p>
            <a:pPr marL="360000" indent="-360000">
              <a:spcBef>
                <a:spcPts val="600"/>
              </a:spcBef>
              <a:spcAft>
                <a:spcPts val="1200"/>
              </a:spcAft>
            </a:pPr>
            <a:r>
              <a:rPr lang="en-US" sz="2200" dirty="0" smtClean="0">
                <a:latin typeface="Helvetica" pitchFamily="34" charset="0"/>
              </a:rPr>
              <a:t>Tour staff may assist in the loading process</a:t>
            </a:r>
          </a:p>
          <a:p>
            <a:pPr marL="360000" indent="-360000">
              <a:spcBef>
                <a:spcPts val="600"/>
              </a:spcBef>
              <a:spcAft>
                <a:spcPts val="1200"/>
              </a:spcAft>
            </a:pPr>
            <a:r>
              <a:rPr lang="en-US" sz="2200" dirty="0" smtClean="0">
                <a:latin typeface="Helvetica" pitchFamily="34" charset="0"/>
              </a:rPr>
              <a:t>Tour staff may determine where and how items are stowed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descr="C:\Documents and Settings\Godaishu\Desktop\PHOTOS\2014\Shutterstock 25-a-day\shutterstock_104718050.jpg"/>
          <p:cNvPicPr/>
          <p:nvPr/>
        </p:nvPicPr>
        <p:blipFill>
          <a:blip r:embed="rId3" cstate="print"/>
          <a:srcRect/>
          <a:stretch>
            <a:fillRect/>
          </a:stretch>
        </p:blipFill>
        <p:spPr bwMode="auto">
          <a:xfrm>
            <a:off x="6804248" y="2492896"/>
            <a:ext cx="1983105" cy="1323975"/>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final check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Final checks:</a:t>
            </a:r>
          </a:p>
          <a:p>
            <a:pPr marL="360000" indent="-360000">
              <a:spcBef>
                <a:spcPts val="600"/>
              </a:spcBef>
              <a:spcAft>
                <a:spcPts val="1200"/>
              </a:spcAft>
            </a:pPr>
            <a:r>
              <a:rPr lang="en-US" sz="2200" dirty="0" smtClean="0">
                <a:latin typeface="Helvetica" pitchFamily="34" charset="0"/>
              </a:rPr>
              <a:t>Precede tour departure by ‘some time’</a:t>
            </a:r>
          </a:p>
          <a:p>
            <a:pPr marL="360000" indent="-360000">
              <a:spcBef>
                <a:spcPts val="600"/>
              </a:spcBef>
              <a:spcAft>
                <a:spcPts val="1200"/>
              </a:spcAft>
            </a:pPr>
            <a:r>
              <a:rPr lang="en-US" sz="2200" dirty="0" smtClean="0">
                <a:latin typeface="Helvetica" pitchFamily="34" charset="0"/>
              </a:rPr>
              <a:t>Tour complexity and duration are prime determinants of how far in advance the checks are made</a:t>
            </a:r>
          </a:p>
          <a:p>
            <a:pPr marL="360000" indent="-360000">
              <a:spcBef>
                <a:spcPts val="600"/>
              </a:spcBef>
              <a:spcAft>
                <a:spcPts val="1200"/>
              </a:spcAft>
            </a:pPr>
            <a:r>
              <a:rPr lang="en-US" sz="2200" dirty="0" smtClean="0">
                <a:latin typeface="Helvetica" pitchFamily="34" charset="0"/>
              </a:rPr>
              <a:t>Aim to give a realistic opportunity to make necessary alterations/undertake required repairs</a:t>
            </a:r>
          </a:p>
          <a:p>
            <a:pPr marL="360000" indent="-360000">
              <a:spcBef>
                <a:spcPts val="600"/>
              </a:spcBef>
              <a:spcAft>
                <a:spcPts val="1200"/>
              </a:spcAft>
            </a:pPr>
            <a:r>
              <a:rPr lang="en-US" sz="2200" dirty="0" smtClean="0">
                <a:latin typeface="Helvetica" pitchFamily="34" charset="0"/>
              </a:rPr>
              <a:t>Regular/short trips tend to have checks done ‘on the day’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descr="C:\Documents and Settings\Godaishu\Desktop\PHOTOS\2014\Shutterstock 25-a-day\Assessment.jpg"/>
          <p:cNvPicPr/>
          <p:nvPr/>
        </p:nvPicPr>
        <p:blipFill>
          <a:blip r:embed="rId3" cstate="print"/>
          <a:srcRect/>
          <a:stretch>
            <a:fillRect/>
          </a:stretch>
        </p:blipFill>
        <p:spPr bwMode="auto">
          <a:xfrm>
            <a:off x="6372200" y="1124744"/>
            <a:ext cx="1348105" cy="1434465"/>
          </a:xfrm>
          <a:prstGeom prst="rect">
            <a:avLst/>
          </a:prstGeom>
          <a:noFill/>
          <a:ln w="9525">
            <a:noFill/>
            <a:miter lim="800000"/>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final check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556792"/>
            <a:ext cx="6592246"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Practices in making final checks:</a:t>
            </a:r>
          </a:p>
          <a:p>
            <a:pPr marL="360000" indent="-360000">
              <a:spcBef>
                <a:spcPts val="600"/>
              </a:spcBef>
              <a:spcAft>
                <a:spcPts val="1200"/>
              </a:spcAft>
            </a:pPr>
            <a:r>
              <a:rPr lang="en-US" sz="2200" dirty="0" smtClean="0">
                <a:latin typeface="Helvetica" pitchFamily="34" charset="0"/>
              </a:rPr>
              <a:t>Providing tour staff with their own copy of Loading sheets</a:t>
            </a:r>
          </a:p>
          <a:p>
            <a:pPr marL="360000" indent="-360000">
              <a:spcBef>
                <a:spcPts val="600"/>
              </a:spcBef>
              <a:spcAft>
                <a:spcPts val="1200"/>
              </a:spcAft>
            </a:pPr>
            <a:r>
              <a:rPr lang="en-US" sz="2200" dirty="0" smtClean="0">
                <a:latin typeface="Helvetica" pitchFamily="34" charset="0"/>
              </a:rPr>
              <a:t>Doing a walk around of vehicle</a:t>
            </a:r>
          </a:p>
          <a:p>
            <a:pPr marL="360000" indent="-360000">
              <a:spcBef>
                <a:spcPts val="600"/>
              </a:spcBef>
              <a:spcAft>
                <a:spcPts val="1200"/>
              </a:spcAft>
            </a:pPr>
            <a:r>
              <a:rPr lang="en-US" sz="2200" dirty="0" smtClean="0">
                <a:latin typeface="Helvetica" pitchFamily="34" charset="0"/>
              </a:rPr>
              <a:t>Opening compartments in vehicles</a:t>
            </a:r>
          </a:p>
          <a:p>
            <a:pPr marL="360000" indent="-360000">
              <a:spcBef>
                <a:spcPts val="600"/>
              </a:spcBef>
              <a:spcAft>
                <a:spcPts val="1200"/>
              </a:spcAft>
            </a:pPr>
            <a:r>
              <a:rPr lang="en-US" sz="2200" dirty="0" smtClean="0">
                <a:latin typeface="Helvetica" pitchFamily="34" charset="0"/>
              </a:rPr>
              <a:t>Advising of any special storage techniques or locations used</a:t>
            </a:r>
          </a:p>
          <a:p>
            <a:pPr marL="360000" indent="-360000">
              <a:spcBef>
                <a:spcPts val="600"/>
              </a:spcBef>
              <a:spcAft>
                <a:spcPts val="1200"/>
              </a:spcAft>
            </a:pPr>
            <a:r>
              <a:rPr lang="en-US" sz="2200" dirty="0" smtClean="0">
                <a:latin typeface="Helvetica" pitchFamily="34" charset="0"/>
              </a:rPr>
              <a:t>Demonstrating stowing techniques as/if required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22530" name="Picture 2" descr="I:\Overseas Projects\PHOTOS\2014\Shutterstock 25-a-day\shutterstock_16839173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0232" y="1556792"/>
            <a:ext cx="1421284" cy="21302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final check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832648" cy="4525963"/>
          </a:xfrm>
        </p:spPr>
        <p:txBody>
          <a:bodyPr>
            <a:normAutofit/>
          </a:bodyPr>
          <a:lstStyle/>
          <a:p>
            <a:pPr marL="360000" indent="-360000">
              <a:spcBef>
                <a:spcPts val="600"/>
              </a:spcBef>
              <a:spcAft>
                <a:spcPts val="1200"/>
              </a:spcAft>
            </a:pPr>
            <a:r>
              <a:rPr lang="en-US" sz="2200" dirty="0" smtClean="0">
                <a:latin typeface="Helvetica" pitchFamily="34" charset="0"/>
              </a:rPr>
              <a:t>Doing a vehicle ‘shake down’ run</a:t>
            </a:r>
          </a:p>
          <a:p>
            <a:pPr marL="360000" indent="-360000">
              <a:spcBef>
                <a:spcPts val="600"/>
              </a:spcBef>
              <a:spcAft>
                <a:spcPts val="1200"/>
              </a:spcAft>
            </a:pPr>
            <a:r>
              <a:rPr lang="en-US" sz="2200" dirty="0" smtClean="0">
                <a:latin typeface="Helvetica" pitchFamily="34" charset="0"/>
              </a:rPr>
              <a:t>Visually inspecting load and vehicle for signs of trouble</a:t>
            </a:r>
          </a:p>
          <a:p>
            <a:pPr marL="360000" indent="-360000">
              <a:spcBef>
                <a:spcPts val="600"/>
              </a:spcBef>
              <a:spcAft>
                <a:spcPts val="1200"/>
              </a:spcAft>
            </a:pPr>
            <a:r>
              <a:rPr lang="en-US" sz="2200" dirty="0" smtClean="0">
                <a:latin typeface="Helvetica" pitchFamily="34" charset="0"/>
              </a:rPr>
              <a:t>Double-checking Loading sheets … again!</a:t>
            </a:r>
          </a:p>
          <a:p>
            <a:pPr marL="360000" indent="-360000">
              <a:spcBef>
                <a:spcPts val="600"/>
              </a:spcBef>
              <a:spcAft>
                <a:spcPts val="1200"/>
              </a:spcAft>
            </a:pPr>
            <a:r>
              <a:rPr lang="en-US" sz="2200" dirty="0" smtClean="0">
                <a:latin typeface="Helvetica" pitchFamily="34" charset="0"/>
              </a:rPr>
              <a:t>Verifying comfort and safety of tour group passengers in vehicles where supplies have been stowed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23554" name="Picture 2" descr="I:\Overseas Projects\PHOTOS\2014\Shutterstock 25-a-day\shutterstock_17024087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6256" y="2636912"/>
            <a:ext cx="1473518" cy="18418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final check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final check:</a:t>
            </a:r>
          </a:p>
          <a:p>
            <a:pPr marL="360000" indent="-360000">
              <a:spcBef>
                <a:spcPts val="600"/>
              </a:spcBef>
              <a:spcAft>
                <a:spcPts val="1200"/>
              </a:spcAft>
            </a:pPr>
            <a:r>
              <a:rPr lang="en-US" sz="2200" dirty="0" smtClean="0">
                <a:latin typeface="Helvetica" pitchFamily="34" charset="0"/>
              </a:rPr>
              <a:t>May involve a member/representative of private tour group</a:t>
            </a:r>
          </a:p>
          <a:p>
            <a:pPr marL="360000" indent="-360000">
              <a:spcBef>
                <a:spcPts val="600"/>
              </a:spcBef>
              <a:spcAft>
                <a:spcPts val="1200"/>
              </a:spcAft>
            </a:pPr>
            <a:r>
              <a:rPr lang="en-US" sz="2200" dirty="0" smtClean="0">
                <a:latin typeface="Helvetica" pitchFamily="34" charset="0"/>
              </a:rPr>
              <a:t>May feature loading of foodstuffs – these are commonly among the last items loaded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24579" name="Picture 3" descr="I:\Overseas Projects\PHOTOS\2014\Shutterstock 25-a-day\shutterstock_188933945.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0060" t="12854" r="12776"/>
          <a:stretch/>
        </p:blipFill>
        <p:spPr bwMode="auto">
          <a:xfrm>
            <a:off x="3671248" y="4121624"/>
            <a:ext cx="2047164" cy="17666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976664" cy="4525963"/>
          </a:xfrm>
        </p:spPr>
        <p:txBody>
          <a:bodyPr>
            <a:normAutofit/>
          </a:bodyPr>
          <a:lstStyle/>
          <a:p>
            <a:pPr marL="0" indent="0">
              <a:spcBef>
                <a:spcPts val="600"/>
              </a:spcBef>
              <a:spcAft>
                <a:spcPts val="1200"/>
              </a:spcAft>
              <a:buNone/>
            </a:pPr>
            <a:r>
              <a:rPr lang="en-US" sz="2200" dirty="0" smtClean="0">
                <a:latin typeface="Helvetica" pitchFamily="34" charset="0"/>
              </a:rPr>
              <a:t>When loading identified tour requirements:</a:t>
            </a:r>
          </a:p>
          <a:p>
            <a:r>
              <a:rPr lang="en-AU" sz="2200" dirty="0" smtClean="0">
                <a:latin typeface="Helvetica" pitchFamily="34" charset="0"/>
              </a:rPr>
              <a:t>Talk to other employees to learn from them</a:t>
            </a:r>
          </a:p>
          <a:p>
            <a:endParaRPr lang="en-AU" sz="2200" dirty="0" smtClean="0">
              <a:latin typeface="Helvetica" pitchFamily="34" charset="0"/>
            </a:endParaRPr>
          </a:p>
          <a:p>
            <a:r>
              <a:rPr lang="en-AU" sz="2200" dirty="0" smtClean="0">
                <a:latin typeface="Helvetica" pitchFamily="34" charset="0"/>
              </a:rPr>
              <a:t>Follow organisational SOPs</a:t>
            </a:r>
          </a:p>
          <a:p>
            <a:endParaRPr lang="en-AU" sz="2200" dirty="0" smtClean="0">
              <a:latin typeface="Helvetica" pitchFamily="34" charset="0"/>
            </a:endParaRPr>
          </a:p>
          <a:p>
            <a:r>
              <a:rPr lang="en-AU" sz="2200" dirty="0" smtClean="0">
                <a:latin typeface="Helvetica" pitchFamily="34" charset="0"/>
              </a:rPr>
              <a:t>Prepare and use loading sheets – one per vehicle</a:t>
            </a:r>
          </a:p>
          <a:p>
            <a:endParaRPr lang="en-AU" sz="2200" dirty="0" smtClean="0">
              <a:latin typeface="Helvetica" pitchFamily="34" charset="0"/>
            </a:endParaRPr>
          </a:p>
          <a:p>
            <a:r>
              <a:rPr lang="en-AU" sz="2200" dirty="0" smtClean="0">
                <a:latin typeface="Helvetica" pitchFamily="34" charset="0"/>
              </a:rPr>
              <a:t>Adhere to vehicle limitations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2" descr="C:\Users\danielc\Downloads\what have you learne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0232" y="2902440"/>
            <a:ext cx="1740024" cy="1604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624736" cy="4525963"/>
          </a:xfrm>
        </p:spPr>
        <p:txBody>
          <a:bodyPr>
            <a:normAutofit/>
          </a:bodyPr>
          <a:lstStyle/>
          <a:p>
            <a:r>
              <a:rPr lang="en-AU" sz="2200" dirty="0" smtClean="0">
                <a:latin typeface="Helvetica" pitchFamily="34" charset="0"/>
              </a:rPr>
              <a:t>Observe relevant safety and security requirements</a:t>
            </a:r>
          </a:p>
          <a:p>
            <a:endParaRPr lang="en-AU" sz="2200" dirty="0" smtClean="0">
              <a:latin typeface="Helvetica" pitchFamily="34" charset="0"/>
            </a:endParaRPr>
          </a:p>
          <a:p>
            <a:r>
              <a:rPr lang="en-AU" sz="2200" dirty="0" smtClean="0">
                <a:latin typeface="Helvetica" pitchFamily="34" charset="0"/>
              </a:rPr>
              <a:t>Record locations in which items have been stowed</a:t>
            </a:r>
          </a:p>
          <a:p>
            <a:endParaRPr lang="en-AU" sz="2200" dirty="0" smtClean="0">
              <a:latin typeface="Helvetica" pitchFamily="34" charset="0"/>
            </a:endParaRPr>
          </a:p>
          <a:p>
            <a:r>
              <a:rPr lang="en-AU" sz="2200" dirty="0" smtClean="0">
                <a:latin typeface="Helvetica" pitchFamily="34" charset="0"/>
              </a:rPr>
              <a:t>Be prepared to re-pack/re-load if required</a:t>
            </a:r>
          </a:p>
          <a:p>
            <a:endParaRPr lang="en-AU" sz="2200" dirty="0" smtClean="0">
              <a:latin typeface="Helvetica" pitchFamily="34" charset="0"/>
            </a:endParaRPr>
          </a:p>
          <a:p>
            <a:r>
              <a:rPr lang="en-AU" sz="2200" dirty="0" smtClean="0">
                <a:latin typeface="Helvetica" pitchFamily="34" charset="0"/>
              </a:rPr>
              <a:t>Factor in requirements of the itinerary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2" descr="C:\Users\danielc\Downloads\Summar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6216" y="2596408"/>
            <a:ext cx="1839477" cy="12646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dirty="0" smtClean="0">
                <a:latin typeface="Helvetica" pitchFamily="34" charset="0"/>
              </a:rPr>
              <a:t>Involve input from tour staff</a:t>
            </a:r>
          </a:p>
          <a:p>
            <a:endParaRPr lang="en-AU" sz="2200" dirty="0" smtClean="0">
              <a:latin typeface="Helvetica" pitchFamily="34" charset="0"/>
            </a:endParaRPr>
          </a:p>
          <a:p>
            <a:r>
              <a:rPr lang="en-AU" sz="2200" dirty="0" smtClean="0">
                <a:latin typeface="Helvetica" pitchFamily="34" charset="0"/>
              </a:rPr>
              <a:t>Conduct vehicle shake-downs</a:t>
            </a:r>
          </a:p>
          <a:p>
            <a:endParaRPr lang="en-AU" sz="2200" dirty="0" smtClean="0">
              <a:latin typeface="Helvetica" pitchFamily="34" charset="0"/>
            </a:endParaRPr>
          </a:p>
          <a:p>
            <a:r>
              <a:rPr lang="en-AU" sz="2200" dirty="0" smtClean="0">
                <a:latin typeface="Helvetica" pitchFamily="34" charset="0"/>
              </a:rPr>
              <a:t>Verify safety and compliance of vehicle</a:t>
            </a:r>
          </a:p>
          <a:p>
            <a:endParaRPr lang="en-AU" sz="2200" dirty="0" smtClean="0">
              <a:latin typeface="Helvetica" pitchFamily="34" charset="0"/>
            </a:endParaRPr>
          </a:p>
          <a:p>
            <a:r>
              <a:rPr lang="en-AU" sz="2200" dirty="0" smtClean="0">
                <a:latin typeface="Helvetica" pitchFamily="34" charset="0"/>
              </a:rPr>
              <a:t>Inspect vehicle after testing and/or loading</a:t>
            </a:r>
          </a:p>
          <a:p>
            <a:pPr>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2" descr="C:\Users\danielc\Downloads\what have you learne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6216" y="2420888"/>
            <a:ext cx="1740024" cy="1604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4 – Complete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59" y="1556792"/>
            <a:ext cx="6377379"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AU" sz="2200" dirty="0" smtClean="0">
                <a:latin typeface="Helvetica" pitchFamily="34" charset="0"/>
              </a:rPr>
              <a:t>Finalise checklists and supply sheets</a:t>
            </a:r>
          </a:p>
          <a:p>
            <a:pPr marL="360000" indent="-360000">
              <a:spcBef>
                <a:spcPts val="600"/>
              </a:spcBef>
              <a:spcAft>
                <a:spcPts val="1200"/>
              </a:spcAft>
            </a:pPr>
            <a:r>
              <a:rPr lang="en-AU" sz="2200" dirty="0" smtClean="0">
                <a:latin typeface="Helvetica" pitchFamily="34" charset="0"/>
              </a:rPr>
              <a:t>Provide tour-related documents to guides and tour leaders</a:t>
            </a:r>
          </a:p>
          <a:p>
            <a:pPr marL="360000" indent="-360000">
              <a:spcBef>
                <a:spcPts val="600"/>
              </a:spcBef>
              <a:spcAft>
                <a:spcPts val="1200"/>
              </a:spcAft>
            </a:pPr>
            <a:r>
              <a:rPr lang="en-AU" sz="2200" dirty="0" smtClean="0">
                <a:latin typeface="Helvetica" pitchFamily="34" charset="0"/>
              </a:rPr>
              <a:t>Forward documentation to external suppliers</a:t>
            </a:r>
          </a:p>
          <a:p>
            <a:pPr marL="360000" indent="-360000">
              <a:spcBef>
                <a:spcPts val="600"/>
              </a:spcBef>
              <a:spcAft>
                <a:spcPts val="1200"/>
              </a:spcAft>
            </a:pPr>
            <a:r>
              <a:rPr lang="en-AU" sz="2200" dirty="0" smtClean="0">
                <a:latin typeface="Helvetica" pitchFamily="34" charset="0"/>
              </a:rPr>
              <a:t>Finalise documentation for tour members</a:t>
            </a:r>
          </a:p>
          <a:p>
            <a:pPr marL="360000" indent="-360000">
              <a:spcBef>
                <a:spcPts val="600"/>
              </a:spcBef>
              <a:spcAft>
                <a:spcPts val="1200"/>
              </a:spcAft>
            </a:pPr>
            <a:r>
              <a:rPr lang="en-AU" sz="2200" dirty="0" smtClean="0">
                <a:latin typeface="Helvetica" pitchFamily="34" charset="0"/>
              </a:rPr>
              <a:t>Update internal inventory and stock control records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2" descr="C:\Users\danielc\AppData\Local\Microsoft\Windows\Temporary Internet Files\Content.IE5\A6X2UMIZ\MC900432658[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88939" y="2713761"/>
            <a:ext cx="1426468" cy="14264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Finalise checklists and supply sheets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Hard copy checklists/documents which may need to be completed can include:</a:t>
            </a:r>
          </a:p>
          <a:p>
            <a:pPr marL="360000" indent="-360000">
              <a:spcBef>
                <a:spcPts val="600"/>
              </a:spcBef>
              <a:spcAft>
                <a:spcPts val="1200"/>
              </a:spcAft>
            </a:pPr>
            <a:r>
              <a:rPr lang="en-US" sz="2200" dirty="0" smtClean="0">
                <a:latin typeface="Helvetica" pitchFamily="34" charset="0"/>
              </a:rPr>
              <a:t>Loading sheets</a:t>
            </a:r>
          </a:p>
          <a:p>
            <a:pPr marL="360000" indent="-360000">
              <a:spcBef>
                <a:spcPts val="600"/>
              </a:spcBef>
              <a:spcAft>
                <a:spcPts val="1200"/>
              </a:spcAft>
            </a:pPr>
            <a:r>
              <a:rPr lang="en-US" sz="2200" dirty="0" smtClean="0">
                <a:latin typeface="Helvetica" pitchFamily="34" charset="0"/>
              </a:rPr>
              <a:t>Requisitions</a:t>
            </a:r>
          </a:p>
          <a:p>
            <a:pPr marL="360000" indent="-360000">
              <a:spcBef>
                <a:spcPts val="600"/>
              </a:spcBef>
              <a:spcAft>
                <a:spcPts val="1200"/>
              </a:spcAft>
            </a:pPr>
            <a:r>
              <a:rPr lang="en-US" sz="2200" dirty="0" smtClean="0">
                <a:latin typeface="Helvetica" pitchFamily="34" charset="0"/>
              </a:rPr>
              <a:t>Stock transfer sheets</a:t>
            </a:r>
          </a:p>
          <a:p>
            <a:pPr marL="360000" indent="-360000">
              <a:spcBef>
                <a:spcPts val="600"/>
              </a:spcBef>
              <a:spcAft>
                <a:spcPts val="1200"/>
              </a:spcAft>
            </a:pPr>
            <a:r>
              <a:rPr lang="en-US" sz="2200" dirty="0" smtClean="0">
                <a:latin typeface="Helvetica" pitchFamily="34" charset="0"/>
              </a:rPr>
              <a:t>Passenger lists/manifests</a:t>
            </a:r>
          </a:p>
          <a:p>
            <a:pPr marL="360000" indent="-360000">
              <a:spcBef>
                <a:spcPts val="600"/>
              </a:spcBef>
              <a:spcAft>
                <a:spcPts val="1200"/>
              </a:spcAft>
            </a:pPr>
            <a:r>
              <a:rPr lang="en-US" sz="2200" dirty="0" smtClean="0">
                <a:latin typeface="Helvetica" pitchFamily="34" charset="0"/>
              </a:rPr>
              <a:t>Supply lists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descr="C:\Documents and Settings\Godaishu\Desktop\PHOTOS\2014\Shutterstock 25-a-day\shutterstock_91170884.jpg"/>
          <p:cNvPicPr/>
          <p:nvPr/>
        </p:nvPicPr>
        <p:blipFill>
          <a:blip r:embed="rId3" cstate="print"/>
          <a:srcRect/>
          <a:stretch>
            <a:fillRect/>
          </a:stretch>
        </p:blipFill>
        <p:spPr bwMode="auto">
          <a:xfrm>
            <a:off x="6012160" y="2641750"/>
            <a:ext cx="1903730" cy="1623695"/>
          </a:xfrm>
          <a:prstGeom prst="rect">
            <a:avLst/>
          </a:prstGeom>
          <a:noFill/>
          <a:ln w="9525">
            <a:noFill/>
            <a:miter lim="800000"/>
            <a:headEnd/>
            <a:tailEnd/>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Finalise checklists and supply sheets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Inspection checklists</a:t>
            </a:r>
          </a:p>
          <a:p>
            <a:pPr marL="360000" indent="-360000">
              <a:spcBef>
                <a:spcPts val="600"/>
              </a:spcBef>
              <a:spcAft>
                <a:spcPts val="1200"/>
              </a:spcAft>
            </a:pPr>
            <a:r>
              <a:rPr lang="en-US" sz="2200" dirty="0" smtClean="0">
                <a:latin typeface="Helvetica" pitchFamily="34" charset="0"/>
              </a:rPr>
              <a:t>Internal advice sheets</a:t>
            </a:r>
          </a:p>
          <a:p>
            <a:pPr marL="360000" indent="-360000">
              <a:spcBef>
                <a:spcPts val="600"/>
              </a:spcBef>
              <a:spcAft>
                <a:spcPts val="1200"/>
              </a:spcAft>
            </a:pPr>
            <a:r>
              <a:rPr lang="en-US" sz="2200" dirty="0" smtClean="0">
                <a:latin typeface="Helvetica" pitchFamily="34" charset="0"/>
              </a:rPr>
              <a:t>Catering advice sheets</a:t>
            </a:r>
          </a:p>
          <a:p>
            <a:pPr marL="360000" indent="-360000">
              <a:spcBef>
                <a:spcPts val="600"/>
              </a:spcBef>
              <a:spcAft>
                <a:spcPts val="1200"/>
              </a:spcAft>
            </a:pPr>
            <a:r>
              <a:rPr lang="en-US" sz="2200" dirty="0" smtClean="0">
                <a:latin typeface="Helvetica" pitchFamily="34" charset="0"/>
              </a:rPr>
              <a:t>One-off notifications from management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descr="C:\Documents and Settings\Godaishu\Desktop\PHOTOS\2014\Shutterstock 25-a-day\Assessment.jpg"/>
          <p:cNvPicPr/>
          <p:nvPr/>
        </p:nvPicPr>
        <p:blipFill>
          <a:blip r:embed="rId3" cstate="print"/>
          <a:srcRect/>
          <a:stretch>
            <a:fillRect/>
          </a:stretch>
        </p:blipFill>
        <p:spPr bwMode="auto">
          <a:xfrm>
            <a:off x="6012160" y="1386832"/>
            <a:ext cx="1440160" cy="1532417"/>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Finalise checklists and supply sheets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May also be a need to work with ‘soft’ copies to:</a:t>
            </a:r>
          </a:p>
          <a:p>
            <a:pPr marL="360000" indent="-360000">
              <a:spcBef>
                <a:spcPts val="600"/>
              </a:spcBef>
              <a:spcAft>
                <a:spcPts val="1200"/>
              </a:spcAft>
            </a:pPr>
            <a:r>
              <a:rPr lang="en-US" sz="2200" dirty="0" smtClean="0">
                <a:latin typeface="Helvetica" pitchFamily="34" charset="0"/>
              </a:rPr>
              <a:t>Update databases</a:t>
            </a:r>
          </a:p>
          <a:p>
            <a:pPr marL="360000" indent="-360000">
              <a:spcBef>
                <a:spcPts val="600"/>
              </a:spcBef>
              <a:spcAft>
                <a:spcPts val="1200"/>
              </a:spcAft>
            </a:pPr>
            <a:r>
              <a:rPr lang="en-US" sz="2200" dirty="0" smtClean="0">
                <a:latin typeface="Helvetica" pitchFamily="34" charset="0"/>
              </a:rPr>
              <a:t>Complete required fields</a:t>
            </a:r>
          </a:p>
          <a:p>
            <a:pPr marL="360000" indent="-360000">
              <a:spcBef>
                <a:spcPts val="600"/>
              </a:spcBef>
              <a:spcAft>
                <a:spcPts val="1200"/>
              </a:spcAft>
            </a:pPr>
            <a:r>
              <a:rPr lang="en-US" sz="2200" dirty="0" smtClean="0">
                <a:latin typeface="Helvetica" pitchFamily="34" charset="0"/>
              </a:rPr>
              <a:t>Perform nominated data entry procedures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25602" name="Picture 2" descr="I:\Overseas Projects\PHOTOS\2014\Shutterstock 25-a-day\shutterstock_5867965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3888" y="4149080"/>
            <a:ext cx="2381449" cy="15888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Finalise checklists and supply sheets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Every operator will have their own protocols for completing documents – meaning:</a:t>
            </a:r>
          </a:p>
          <a:p>
            <a:pPr marL="360000" indent="-360000">
              <a:spcBef>
                <a:spcPts val="600"/>
              </a:spcBef>
              <a:spcAft>
                <a:spcPts val="1200"/>
              </a:spcAft>
            </a:pPr>
            <a:r>
              <a:rPr lang="en-US" sz="2200" dirty="0" smtClean="0">
                <a:latin typeface="Helvetica" pitchFamily="34" charset="0"/>
              </a:rPr>
              <a:t>In some cases the requirements for completion of paperwork may be integrated into other/earlier tasks and checks</a:t>
            </a:r>
          </a:p>
          <a:p>
            <a:pPr marL="360000" indent="-360000">
              <a:spcBef>
                <a:spcPts val="600"/>
              </a:spcBef>
              <a:spcAft>
                <a:spcPts val="1200"/>
              </a:spcAft>
            </a:pPr>
            <a:r>
              <a:rPr lang="en-US" sz="2200" dirty="0" smtClean="0">
                <a:latin typeface="Helvetica" pitchFamily="34" charset="0"/>
              </a:rPr>
              <a:t>In other cases the documents will need to be competed as a separate activity after all other work has been </a:t>
            </a:r>
            <a:r>
              <a:rPr lang="en-US" sz="2200" dirty="0" err="1" smtClean="0">
                <a:latin typeface="Helvetica" pitchFamily="34" charset="0"/>
              </a:rPr>
              <a:t>finalised</a:t>
            </a: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26626" name="Picture 2" descr="I:\Overseas Projects\PHOTOS\2014\Shutterstock 25-a-day\shutterstock_8115002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4843444"/>
            <a:ext cx="2559100" cy="18113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Finalise checklists and supply sheets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Possible tasks at this stage may include:</a:t>
            </a:r>
          </a:p>
          <a:p>
            <a:pPr marL="360000" indent="-360000">
              <a:spcBef>
                <a:spcPts val="600"/>
              </a:spcBef>
              <a:spcAft>
                <a:spcPts val="1200"/>
              </a:spcAft>
            </a:pPr>
            <a:r>
              <a:rPr lang="en-US" sz="2200" dirty="0" smtClean="0">
                <a:latin typeface="Helvetica" pitchFamily="34" charset="0"/>
              </a:rPr>
              <a:t>Obtaining signatures</a:t>
            </a:r>
          </a:p>
          <a:p>
            <a:pPr marL="360000" indent="-360000">
              <a:spcBef>
                <a:spcPts val="600"/>
              </a:spcBef>
              <a:spcAft>
                <a:spcPts val="1200"/>
              </a:spcAft>
            </a:pPr>
            <a:r>
              <a:rPr lang="en-US" sz="2200" dirty="0" smtClean="0">
                <a:latin typeface="Helvetica" pitchFamily="34" charset="0"/>
              </a:rPr>
              <a:t>Photocopying Loading sheets</a:t>
            </a:r>
          </a:p>
          <a:p>
            <a:pPr marL="360000" indent="-360000">
              <a:spcBef>
                <a:spcPts val="600"/>
              </a:spcBef>
              <a:spcAft>
                <a:spcPts val="1200"/>
              </a:spcAft>
            </a:pPr>
            <a:r>
              <a:rPr lang="en-US" sz="2200" dirty="0" smtClean="0">
                <a:latin typeface="Helvetica" pitchFamily="34" charset="0"/>
              </a:rPr>
              <a:t>Adding required information</a:t>
            </a:r>
          </a:p>
          <a:p>
            <a:pPr marL="360000" indent="-360000">
              <a:spcBef>
                <a:spcPts val="600"/>
              </a:spcBef>
              <a:spcAft>
                <a:spcPts val="1200"/>
              </a:spcAft>
            </a:pPr>
            <a:r>
              <a:rPr lang="en-US" sz="2200" dirty="0" smtClean="0">
                <a:latin typeface="Helvetica" pitchFamily="34" charset="0"/>
              </a:rPr>
              <a:t>Inserting ‘missing’ facts and figures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6" name="Picture 5" descr="C:\Documents and Settings\Godaishu\Desktop\PHOTOS\2014\Shutterstock 25-a-day\shutterstock_155767691.jpg"/>
          <p:cNvPicPr/>
          <p:nvPr/>
        </p:nvPicPr>
        <p:blipFill>
          <a:blip r:embed="rId3" cstate="print"/>
          <a:srcRect/>
          <a:stretch>
            <a:fillRect/>
          </a:stretch>
        </p:blipFill>
        <p:spPr bwMode="auto">
          <a:xfrm>
            <a:off x="5868144" y="2683460"/>
            <a:ext cx="2313940" cy="1544955"/>
          </a:xfrm>
          <a:prstGeom prst="rect">
            <a:avLst/>
          </a:prstGeom>
          <a:noFill/>
          <a:ln w="9525">
            <a:noFill/>
            <a:miter lim="800000"/>
            <a:headEnd/>
            <a:tailEn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Finalise checklists and supply sheets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Entering cost prices</a:t>
            </a:r>
          </a:p>
          <a:p>
            <a:pPr marL="360000" indent="-360000">
              <a:spcBef>
                <a:spcPts val="600"/>
              </a:spcBef>
              <a:spcAft>
                <a:spcPts val="1200"/>
              </a:spcAft>
            </a:pPr>
            <a:r>
              <a:rPr lang="en-US" sz="2200" dirty="0" smtClean="0">
                <a:latin typeface="Helvetica" pitchFamily="34" charset="0"/>
              </a:rPr>
              <a:t>Performing basic arithmetic calculations</a:t>
            </a:r>
          </a:p>
          <a:p>
            <a:pPr marL="360000" indent="-360000">
              <a:spcBef>
                <a:spcPts val="600"/>
              </a:spcBef>
              <a:spcAft>
                <a:spcPts val="1200"/>
              </a:spcAft>
            </a:pPr>
            <a:r>
              <a:rPr lang="en-US" sz="2200" dirty="0" smtClean="0">
                <a:latin typeface="Helvetica" pitchFamily="34" charset="0"/>
              </a:rPr>
              <a:t>Forwarding completing documents</a:t>
            </a:r>
          </a:p>
          <a:p>
            <a:pPr marL="360000" indent="-360000">
              <a:spcBef>
                <a:spcPts val="600"/>
              </a:spcBef>
              <a:spcAft>
                <a:spcPts val="1200"/>
              </a:spcAft>
            </a:pPr>
            <a:r>
              <a:rPr lang="en-US" sz="2200" dirty="0" smtClean="0">
                <a:latin typeface="Helvetica" pitchFamily="34" charset="0"/>
              </a:rPr>
              <a:t>Filing for future reference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27650" name="Picture 2" descr="I:\Overseas Projects\PHOTOS\2014\Shutterstock 25-a-day\shutterstock_206416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4128" y="3412901"/>
            <a:ext cx="2379503" cy="15875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tour-related documents to guides and tour leaders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Documents may include:</a:t>
            </a:r>
          </a:p>
          <a:p>
            <a:pPr marL="360000" indent="-360000">
              <a:spcBef>
                <a:spcPts val="600"/>
              </a:spcBef>
              <a:spcAft>
                <a:spcPts val="1200"/>
              </a:spcAft>
            </a:pPr>
            <a:r>
              <a:rPr lang="en-US" sz="2200" dirty="0" smtClean="0">
                <a:latin typeface="Helvetica" pitchFamily="34" charset="0"/>
              </a:rPr>
              <a:t>Loading sheets</a:t>
            </a:r>
          </a:p>
          <a:p>
            <a:pPr marL="360000" indent="-360000">
              <a:spcBef>
                <a:spcPts val="600"/>
              </a:spcBef>
              <a:spcAft>
                <a:spcPts val="1200"/>
              </a:spcAft>
            </a:pPr>
            <a:r>
              <a:rPr lang="en-US" sz="2200" dirty="0" smtClean="0">
                <a:latin typeface="Helvetica" pitchFamily="34" charset="0"/>
              </a:rPr>
              <a:t>Manufacturer’s instructions</a:t>
            </a:r>
          </a:p>
          <a:p>
            <a:pPr marL="360000" indent="-360000">
              <a:spcBef>
                <a:spcPts val="600"/>
              </a:spcBef>
              <a:spcAft>
                <a:spcPts val="1200"/>
              </a:spcAft>
            </a:pPr>
            <a:r>
              <a:rPr lang="en-US" sz="2200" dirty="0" smtClean="0">
                <a:latin typeface="Helvetica" pitchFamily="34" charset="0"/>
              </a:rPr>
              <a:t>Repair manuals</a:t>
            </a:r>
          </a:p>
          <a:p>
            <a:pPr marL="360000" indent="-360000">
              <a:spcBef>
                <a:spcPts val="600"/>
              </a:spcBef>
              <a:spcAft>
                <a:spcPts val="1200"/>
              </a:spcAft>
            </a:pPr>
            <a:r>
              <a:rPr lang="en-US" sz="2200" dirty="0" smtClean="0">
                <a:latin typeface="Helvetica" pitchFamily="34" charset="0"/>
              </a:rPr>
              <a:t>Warranties and guarantees</a:t>
            </a:r>
          </a:p>
          <a:p>
            <a:pPr marL="360000" indent="-360000">
              <a:spcBef>
                <a:spcPts val="600"/>
              </a:spcBef>
              <a:spcAft>
                <a:spcPts val="1200"/>
              </a:spcAft>
            </a:pPr>
            <a:r>
              <a:rPr lang="en-US" sz="2200" dirty="0" smtClean="0">
                <a:latin typeface="Helvetica" pitchFamily="34" charset="0"/>
              </a:rPr>
              <a:t>Copies of SOPs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28674" name="Picture 2" descr="I:\Overseas Projects\PHOTOS\2014\Shutterstock 25-a-day\shutterstock_10080407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3641" y="2564904"/>
            <a:ext cx="2454226" cy="16412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tour-related documents to guides and tour leaders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336704" cy="4525963"/>
          </a:xfrm>
        </p:spPr>
        <p:txBody>
          <a:bodyPr>
            <a:normAutofit/>
          </a:bodyPr>
          <a:lstStyle/>
          <a:p>
            <a:pPr marL="360000" indent="-360000">
              <a:spcBef>
                <a:spcPts val="600"/>
              </a:spcBef>
              <a:spcAft>
                <a:spcPts val="1200"/>
              </a:spcAft>
            </a:pPr>
            <a:r>
              <a:rPr lang="en-US" sz="2200" dirty="0" smtClean="0">
                <a:latin typeface="Helvetica" pitchFamily="34" charset="0"/>
              </a:rPr>
              <a:t>Standard response plans</a:t>
            </a:r>
          </a:p>
          <a:p>
            <a:pPr marL="360000" indent="-360000">
              <a:spcBef>
                <a:spcPts val="600"/>
              </a:spcBef>
              <a:spcAft>
                <a:spcPts val="1200"/>
              </a:spcAft>
            </a:pPr>
            <a:r>
              <a:rPr lang="en-US" sz="2200" dirty="0" smtClean="0">
                <a:latin typeface="Helvetica" pitchFamily="34" charset="0"/>
              </a:rPr>
              <a:t>Contingency plans</a:t>
            </a:r>
          </a:p>
          <a:p>
            <a:pPr marL="360000" indent="-360000">
              <a:spcBef>
                <a:spcPts val="600"/>
              </a:spcBef>
              <a:spcAft>
                <a:spcPts val="1200"/>
              </a:spcAft>
            </a:pPr>
            <a:r>
              <a:rPr lang="en-US" sz="2200" dirty="0" smtClean="0">
                <a:latin typeface="Helvetica" pitchFamily="34" charset="0"/>
              </a:rPr>
              <a:t>EMPs</a:t>
            </a:r>
          </a:p>
          <a:p>
            <a:pPr marL="360000" indent="-360000">
              <a:spcBef>
                <a:spcPts val="600"/>
              </a:spcBef>
              <a:spcAft>
                <a:spcPts val="1200"/>
              </a:spcAft>
            </a:pPr>
            <a:r>
              <a:rPr lang="en-US" sz="2200" dirty="0" smtClean="0">
                <a:latin typeface="Helvetica" pitchFamily="34" charset="0"/>
              </a:rPr>
              <a:t>Itineraries – passenger and operational</a:t>
            </a:r>
          </a:p>
          <a:p>
            <a:pPr marL="360000" indent="-360000">
              <a:spcBef>
                <a:spcPts val="600"/>
              </a:spcBef>
              <a:spcAft>
                <a:spcPts val="1200"/>
              </a:spcAft>
            </a:pPr>
            <a:r>
              <a:rPr lang="en-US" sz="2200" dirty="0" smtClean="0">
                <a:latin typeface="Helvetica" pitchFamily="34" charset="0"/>
              </a:rPr>
              <a:t>Maps</a:t>
            </a:r>
          </a:p>
          <a:p>
            <a:pPr marL="360000" indent="-360000">
              <a:spcBef>
                <a:spcPts val="600"/>
              </a:spcBef>
              <a:spcAft>
                <a:spcPts val="1200"/>
              </a:spcAft>
            </a:pPr>
            <a:r>
              <a:rPr lang="en-US" sz="2200" dirty="0" smtClean="0">
                <a:latin typeface="Helvetica" pitchFamily="34" charset="0"/>
              </a:rPr>
              <a:t>Passenger lists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29698" name="Picture 2" descr="I:\Overseas Projects\PHOTOS\2014\Shutterstock 25-a-day\shutterstock_1042784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4168" y="2780928"/>
            <a:ext cx="2292251" cy="15293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tour-related documents to guides and tour leaders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Rooming lists</a:t>
            </a:r>
          </a:p>
          <a:p>
            <a:pPr marL="360000" indent="-360000">
              <a:spcBef>
                <a:spcPts val="600"/>
              </a:spcBef>
              <a:spcAft>
                <a:spcPts val="1200"/>
              </a:spcAft>
            </a:pPr>
            <a:r>
              <a:rPr lang="en-US" sz="2200" dirty="0" smtClean="0">
                <a:latin typeface="Helvetica" pitchFamily="34" charset="0"/>
              </a:rPr>
              <a:t>Passenger profiles</a:t>
            </a:r>
          </a:p>
          <a:p>
            <a:pPr marL="360000" indent="-360000">
              <a:spcBef>
                <a:spcPts val="600"/>
              </a:spcBef>
              <a:spcAft>
                <a:spcPts val="1200"/>
              </a:spcAft>
            </a:pPr>
            <a:r>
              <a:rPr lang="en-US" sz="2200" dirty="0" smtClean="0">
                <a:latin typeface="Helvetica" pitchFamily="34" charset="0"/>
              </a:rPr>
              <a:t>Details of special requests</a:t>
            </a:r>
          </a:p>
          <a:p>
            <a:pPr marL="360000" indent="-360000">
              <a:spcBef>
                <a:spcPts val="600"/>
              </a:spcBef>
              <a:spcAft>
                <a:spcPts val="1200"/>
              </a:spcAft>
            </a:pPr>
            <a:r>
              <a:rPr lang="en-US" sz="2200" dirty="0" smtClean="0">
                <a:latin typeface="Helvetica" pitchFamily="34" charset="0"/>
              </a:rPr>
              <a:t>Handout material for tour group members</a:t>
            </a:r>
          </a:p>
          <a:p>
            <a:pPr marL="360000" indent="-360000">
              <a:spcBef>
                <a:spcPts val="600"/>
              </a:spcBef>
              <a:spcAft>
                <a:spcPts val="1200"/>
              </a:spcAft>
            </a:pPr>
            <a:r>
              <a:rPr lang="en-US" sz="2200" dirty="0" smtClean="0">
                <a:latin typeface="Helvetica" pitchFamily="34" charset="0"/>
              </a:rPr>
              <a:t>Tour brief</a:t>
            </a:r>
          </a:p>
          <a:p>
            <a:pPr marL="360000" indent="-360000">
              <a:spcBef>
                <a:spcPts val="600"/>
              </a:spcBef>
              <a:spcAft>
                <a:spcPts val="1200"/>
              </a:spcAft>
            </a:pPr>
            <a:r>
              <a:rPr lang="en-US" sz="2200" dirty="0" smtClean="0">
                <a:latin typeface="Helvetica" pitchFamily="34" charset="0"/>
              </a:rPr>
              <a:t>Catering-related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30722" name="Picture 2" descr="I:\Overseas Projects\PHOTOS\2014\Shutterstock 25-a-day\shutterstock_11560977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0230" y="2780928"/>
            <a:ext cx="2247231" cy="16854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tour-related documents to guides and tour leaders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616624" cy="4525963"/>
          </a:xfrm>
        </p:spPr>
        <p:txBody>
          <a:bodyPr>
            <a:normAutofit/>
          </a:bodyPr>
          <a:lstStyle/>
          <a:p>
            <a:pPr marL="0" indent="0">
              <a:spcBef>
                <a:spcPts val="600"/>
              </a:spcBef>
              <a:spcAft>
                <a:spcPts val="1200"/>
              </a:spcAft>
              <a:buNone/>
            </a:pPr>
            <a:r>
              <a:rPr lang="en-US" sz="2200" dirty="0" smtClean="0">
                <a:latin typeface="Helvetica" pitchFamily="34" charset="0"/>
              </a:rPr>
              <a:t>Practical provision of documents may involve:</a:t>
            </a:r>
          </a:p>
          <a:p>
            <a:pPr marL="360000" indent="-360000">
              <a:spcBef>
                <a:spcPts val="600"/>
              </a:spcBef>
              <a:spcAft>
                <a:spcPts val="1200"/>
              </a:spcAft>
            </a:pPr>
            <a:r>
              <a:rPr lang="en-US" sz="2200" dirty="0" smtClean="0">
                <a:latin typeface="Helvetica" pitchFamily="34" charset="0"/>
              </a:rPr>
              <a:t>Electronic communication</a:t>
            </a:r>
          </a:p>
          <a:p>
            <a:pPr marL="360000" indent="-360000">
              <a:spcBef>
                <a:spcPts val="600"/>
              </a:spcBef>
              <a:spcAft>
                <a:spcPts val="1200"/>
              </a:spcAft>
            </a:pPr>
            <a:r>
              <a:rPr lang="en-US" sz="2200" dirty="0" smtClean="0">
                <a:latin typeface="Helvetica" pitchFamily="34" charset="0"/>
              </a:rPr>
              <a:t>Face-to-face pre-departure briefing</a:t>
            </a:r>
          </a:p>
          <a:p>
            <a:pPr marL="360000" indent="-360000">
              <a:spcBef>
                <a:spcPts val="600"/>
              </a:spcBef>
              <a:spcAft>
                <a:spcPts val="1200"/>
              </a:spcAft>
            </a:pPr>
            <a:r>
              <a:rPr lang="en-US" sz="2200" dirty="0" smtClean="0">
                <a:latin typeface="Helvetica" pitchFamily="34" charset="0"/>
              </a:rPr>
              <a:t>Physical distribution of hard copy materials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31746" name="Picture 2" descr="I:\Overseas Projects\PHOTOS\2014\Shutterstock 25-a-day\shutterstock_11411361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6786" y="2420888"/>
            <a:ext cx="2374410" cy="1584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Forward documentation to external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It is important to understand:</a:t>
            </a:r>
          </a:p>
          <a:p>
            <a:pPr marL="360000" indent="-360000">
              <a:spcBef>
                <a:spcPts val="600"/>
              </a:spcBef>
              <a:spcAft>
                <a:spcPts val="1200"/>
              </a:spcAft>
            </a:pPr>
            <a:r>
              <a:rPr lang="en-US" sz="2200" dirty="0" smtClean="0">
                <a:latin typeface="Helvetica" pitchFamily="34" charset="0"/>
              </a:rPr>
              <a:t>All agreed arrangements must be honoured</a:t>
            </a:r>
          </a:p>
          <a:p>
            <a:pPr marL="360000" indent="-360000">
              <a:spcBef>
                <a:spcPts val="600"/>
              </a:spcBef>
              <a:spcAft>
                <a:spcPts val="1200"/>
              </a:spcAft>
            </a:pPr>
            <a:r>
              <a:rPr lang="en-US" sz="2200" dirty="0" smtClean="0">
                <a:latin typeface="Helvetica" pitchFamily="34" charset="0"/>
              </a:rPr>
              <a:t>There is often/always also a need to make ‘immediate contact’ and place orders verbally/over the phone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descr="C:\Documents and Settings\Godaishu\Desktop\PHOTOS\2014\Shutterstock 25-a-day\shutterstock_196601204.jpg"/>
          <p:cNvPicPr/>
          <p:nvPr/>
        </p:nvPicPr>
        <p:blipFill>
          <a:blip r:embed="rId3" cstate="print"/>
          <a:srcRect/>
          <a:stretch>
            <a:fillRect/>
          </a:stretch>
        </p:blipFill>
        <p:spPr bwMode="auto">
          <a:xfrm>
            <a:off x="3635896" y="3636501"/>
            <a:ext cx="1525905" cy="2033270"/>
          </a:xfrm>
          <a:prstGeom prst="rect">
            <a:avLst/>
          </a:prstGeom>
          <a:noFill/>
          <a:ln w="9525">
            <a:noFill/>
            <a:miter lim="800000"/>
            <a:headEnd/>
            <a:tailEnd/>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Forward documentation to external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There can be a need to:</a:t>
            </a:r>
          </a:p>
          <a:p>
            <a:pPr marL="360000" indent="-360000">
              <a:spcBef>
                <a:spcPts val="600"/>
              </a:spcBef>
              <a:spcAft>
                <a:spcPts val="1200"/>
              </a:spcAft>
            </a:pPr>
            <a:r>
              <a:rPr lang="en-US" sz="2200" dirty="0" smtClean="0">
                <a:latin typeface="Helvetica" pitchFamily="34" charset="0"/>
              </a:rPr>
              <a:t>Confirm agreed arrangements</a:t>
            </a:r>
          </a:p>
          <a:p>
            <a:pPr marL="360000" indent="-360000">
              <a:spcBef>
                <a:spcPts val="600"/>
              </a:spcBef>
              <a:spcAft>
                <a:spcPts val="1200"/>
              </a:spcAft>
            </a:pPr>
            <a:r>
              <a:rPr lang="en-US" sz="2200" dirty="0" smtClean="0">
                <a:latin typeface="Helvetica" pitchFamily="34" charset="0"/>
              </a:rPr>
              <a:t>Ensure Purchase Orders are raised </a:t>
            </a:r>
          </a:p>
          <a:p>
            <a:pPr marL="360000" indent="-360000">
              <a:spcBef>
                <a:spcPts val="600"/>
              </a:spcBef>
              <a:spcAft>
                <a:spcPts val="1200"/>
              </a:spcAft>
            </a:pPr>
            <a:r>
              <a:rPr lang="en-US" sz="2200" dirty="0" smtClean="0">
                <a:latin typeface="Helvetica" pitchFamily="34" charset="0"/>
              </a:rPr>
              <a:t>Forward Purchase Orders </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C:\Documents and Settings\Godaishu\Desktop\PHOTOS\2014\Shutterstock 25-a-day\shutterstock_155573669.jpg"/>
          <p:cNvPicPr/>
          <p:nvPr/>
        </p:nvPicPr>
        <p:blipFill>
          <a:blip r:embed="rId3" cstate="print"/>
          <a:srcRect/>
          <a:stretch>
            <a:fillRect/>
          </a:stretch>
        </p:blipFill>
        <p:spPr bwMode="auto">
          <a:xfrm>
            <a:off x="6444208" y="2060848"/>
            <a:ext cx="1407795" cy="1765300"/>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Forward documentation to external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Complete online Purchase Orders</a:t>
            </a:r>
          </a:p>
          <a:p>
            <a:pPr marL="360000" indent="-360000">
              <a:spcBef>
                <a:spcPts val="600"/>
              </a:spcBef>
              <a:spcAft>
                <a:spcPts val="1200"/>
              </a:spcAft>
            </a:pPr>
            <a:r>
              <a:rPr lang="en-US" sz="2200" dirty="0" smtClean="0">
                <a:latin typeface="Helvetica" pitchFamily="34" charset="0"/>
              </a:rPr>
              <a:t>Provide additional information as necessary</a:t>
            </a:r>
          </a:p>
          <a:p>
            <a:pPr marL="360000" indent="-360000">
              <a:spcBef>
                <a:spcPts val="600"/>
              </a:spcBef>
              <a:spcAft>
                <a:spcPts val="1200"/>
              </a:spcAft>
            </a:pPr>
            <a:r>
              <a:rPr lang="en-US" sz="2200" dirty="0" smtClean="0">
                <a:latin typeface="Helvetica" pitchFamily="34" charset="0"/>
              </a:rPr>
              <a:t>Ensure required authorisations and permits have been finalised</a:t>
            </a:r>
          </a:p>
          <a:p>
            <a:pPr marL="360000" indent="-360000">
              <a:spcBef>
                <a:spcPts val="600"/>
              </a:spcBef>
              <a:spcAft>
                <a:spcPts val="1200"/>
              </a:spcAft>
            </a:pPr>
            <a:r>
              <a:rPr lang="en-US" sz="2200" dirty="0" smtClean="0">
                <a:latin typeface="Helvetica" pitchFamily="34" charset="0"/>
              </a:rPr>
              <a:t>Submit touring/travel plans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C:\Documents and Settings\Godaishu\Desktop\PHOTOS\2014\Shutterstock 25-a-day\shutterstock_118113499.jpg"/>
          <p:cNvPicPr/>
          <p:nvPr/>
        </p:nvPicPr>
        <p:blipFill>
          <a:blip r:embed="rId3" cstate="print"/>
          <a:srcRect/>
          <a:stretch>
            <a:fillRect/>
          </a:stretch>
        </p:blipFill>
        <p:spPr bwMode="auto">
          <a:xfrm>
            <a:off x="6084168" y="3412655"/>
            <a:ext cx="2077720" cy="1576070"/>
          </a:xfrm>
          <a:prstGeom prst="rect">
            <a:avLst/>
          </a:prstGeom>
          <a:noFill/>
          <a:ln w="9525">
            <a:noFill/>
            <a:miter lim="800000"/>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Finalise documentation for tour members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Depending on the trip/tour there can be a need to complete/provide:</a:t>
            </a:r>
          </a:p>
          <a:p>
            <a:pPr marL="360000" indent="-360000">
              <a:spcBef>
                <a:spcPts val="600"/>
              </a:spcBef>
              <a:spcAft>
                <a:spcPts val="1200"/>
              </a:spcAft>
            </a:pPr>
            <a:r>
              <a:rPr lang="en-US" sz="2200" dirty="0" smtClean="0">
                <a:latin typeface="Helvetica" pitchFamily="34" charset="0"/>
              </a:rPr>
              <a:t>A variety of permits</a:t>
            </a:r>
          </a:p>
          <a:p>
            <a:pPr marL="360000" indent="-360000">
              <a:spcBef>
                <a:spcPts val="600"/>
              </a:spcBef>
              <a:spcAft>
                <a:spcPts val="1200"/>
              </a:spcAft>
            </a:pPr>
            <a:r>
              <a:rPr lang="en-US" sz="2200" dirty="0" smtClean="0">
                <a:latin typeface="Helvetica" pitchFamily="34" charset="0"/>
              </a:rPr>
              <a:t>A range of vouchers/coupons</a:t>
            </a:r>
          </a:p>
          <a:p>
            <a:pPr marL="360000" indent="-360000">
              <a:spcBef>
                <a:spcPts val="600"/>
              </a:spcBef>
              <a:spcAft>
                <a:spcPts val="1200"/>
              </a:spcAft>
            </a:pPr>
            <a:r>
              <a:rPr lang="en-US" sz="2200" dirty="0" smtClean="0">
                <a:latin typeface="Helvetica" pitchFamily="34" charset="0"/>
              </a:rPr>
              <a:t>Name tags and bag tags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32770" name="Picture 2" descr="C:\Users\danielc\AppData\Local\Microsoft\Windows\Temporary Internet Files\Content.IE5\EOZ2Q0SV\Hello_my_name_is_by_Kubah[1].png"/>
          <p:cNvPicPr>
            <a:picLocks noChangeAspect="1" noChangeArrowheads="1"/>
          </p:cNvPicPr>
          <p:nvPr/>
        </p:nvPicPr>
        <p:blipFill>
          <a:blip r:embed="rId3">
            <a:biLevel thresh="75000"/>
            <a:extLst>
              <a:ext uri="{28A0092B-C50C-407E-A947-70E740481C1C}">
                <a14:useLocalDpi xmlns:a14="http://schemas.microsoft.com/office/drawing/2010/main" val="0"/>
              </a:ext>
            </a:extLst>
          </a:blip>
          <a:srcRect/>
          <a:stretch>
            <a:fillRect/>
          </a:stretch>
        </p:blipFill>
        <p:spPr bwMode="auto">
          <a:xfrm>
            <a:off x="5423990" y="2636912"/>
            <a:ext cx="3010272" cy="18632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Finalise documentation for tour members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Standard tour-related information as appropriate to/required by individual trips and tours</a:t>
            </a:r>
          </a:p>
          <a:p>
            <a:pPr marL="360000" indent="-360000">
              <a:spcBef>
                <a:spcPts val="600"/>
              </a:spcBef>
              <a:spcAft>
                <a:spcPts val="1200"/>
              </a:spcAft>
            </a:pPr>
            <a:r>
              <a:rPr lang="en-US" sz="2200" dirty="0" smtClean="0">
                <a:latin typeface="Helvetica" pitchFamily="34" charset="0"/>
              </a:rPr>
              <a:t>Merchandise supplied by the operator to promote the organisation and/or align with promises made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grpSp>
        <p:nvGrpSpPr>
          <p:cNvPr id="6" name="Group 5"/>
          <p:cNvGrpSpPr/>
          <p:nvPr/>
        </p:nvGrpSpPr>
        <p:grpSpPr>
          <a:xfrm>
            <a:off x="2915816" y="3573016"/>
            <a:ext cx="2808312" cy="2499398"/>
            <a:chOff x="2915816" y="3573016"/>
            <a:chExt cx="2808312" cy="2499398"/>
          </a:xfrm>
        </p:grpSpPr>
        <p:pic>
          <p:nvPicPr>
            <p:cNvPr id="33796" name="Picture 4" descr="C:\Users\danielc\AppData\Local\Microsoft\Windows\Temporary Internet Files\Content.IE5\EOZ2Q0SV\t_shirt_template_by_joelercio-d3l7529[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3573016"/>
              <a:ext cx="2808312" cy="24993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563888" y="4365104"/>
              <a:ext cx="1512168" cy="369332"/>
            </a:xfrm>
            <a:prstGeom prst="rect">
              <a:avLst/>
            </a:prstGeom>
            <a:noFill/>
          </p:spPr>
          <p:txBody>
            <a:bodyPr wrap="square" rtlCol="0">
              <a:spAutoFit/>
            </a:bodyPr>
            <a:lstStyle/>
            <a:p>
              <a:r>
                <a:rPr lang="en-AU" b="1" dirty="0" smtClean="0">
                  <a:solidFill>
                    <a:schemeClr val="accent1"/>
                  </a:solidFill>
                </a:rPr>
                <a:t>Tour T-shirt</a:t>
              </a:r>
              <a:endParaRPr lang="en-AU" b="1" dirty="0">
                <a:solidFill>
                  <a:schemeClr val="accent1"/>
                </a:solidFill>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Finalise documentation for tour members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143964" cy="4824536"/>
          </a:xfrm>
        </p:spPr>
        <p:txBody>
          <a:bodyPr>
            <a:normAutofit/>
          </a:bodyPr>
          <a:lstStyle/>
          <a:p>
            <a:pPr marL="0" indent="0">
              <a:spcBef>
                <a:spcPts val="600"/>
              </a:spcBef>
              <a:spcAft>
                <a:spcPts val="1200"/>
              </a:spcAft>
              <a:buNone/>
            </a:pPr>
            <a:r>
              <a:rPr lang="en-US" sz="2200" dirty="0" smtClean="0">
                <a:latin typeface="Helvetica" pitchFamily="34" charset="0"/>
              </a:rPr>
              <a:t>Distribution of finalised tour member documents may occur in several ways:</a:t>
            </a:r>
          </a:p>
          <a:p>
            <a:pPr marL="360000" indent="-360000">
              <a:spcBef>
                <a:spcPts val="600"/>
              </a:spcBef>
              <a:spcAft>
                <a:spcPts val="1200"/>
              </a:spcAft>
            </a:pPr>
            <a:r>
              <a:rPr lang="en-US" sz="2200" dirty="0" smtClean="0">
                <a:latin typeface="Helvetica" pitchFamily="34" charset="0"/>
              </a:rPr>
              <a:t>Loading onto tour vehicles</a:t>
            </a:r>
          </a:p>
          <a:p>
            <a:pPr marL="360000" indent="-360000">
              <a:spcBef>
                <a:spcPts val="600"/>
              </a:spcBef>
              <a:spcAft>
                <a:spcPts val="1200"/>
              </a:spcAft>
            </a:pPr>
            <a:r>
              <a:rPr lang="en-US" sz="2200" dirty="0" smtClean="0">
                <a:latin typeface="Helvetica" pitchFamily="34" charset="0"/>
              </a:rPr>
              <a:t>Placing items into packs and putting in designated locations for tour staff to collect</a:t>
            </a:r>
          </a:p>
          <a:p>
            <a:pPr marL="360000" indent="-360000">
              <a:spcBef>
                <a:spcPts val="600"/>
              </a:spcBef>
              <a:spcAft>
                <a:spcPts val="1200"/>
              </a:spcAft>
            </a:pPr>
            <a:r>
              <a:rPr lang="en-US" sz="2200" dirty="0" smtClean="0">
                <a:latin typeface="Helvetica" pitchFamily="34" charset="0"/>
              </a:rPr>
              <a:t>Handing items personally to tour staff</a:t>
            </a:r>
          </a:p>
          <a:p>
            <a:pPr marL="360000" indent="-360000">
              <a:spcBef>
                <a:spcPts val="600"/>
              </a:spcBef>
              <a:spcAft>
                <a:spcPts val="1200"/>
              </a:spcAft>
            </a:pPr>
            <a:r>
              <a:rPr lang="en-US" sz="2200" dirty="0" smtClean="0">
                <a:latin typeface="Helvetica" pitchFamily="34" charset="0"/>
              </a:rPr>
              <a:t>Distributing items direct/face-to-face to tour members</a:t>
            </a:r>
          </a:p>
          <a:p>
            <a:pPr marL="360000" indent="-360000">
              <a:spcBef>
                <a:spcPts val="600"/>
              </a:spcBef>
              <a:spcAft>
                <a:spcPts val="1200"/>
              </a:spcAft>
            </a:pPr>
            <a:r>
              <a:rPr lang="en-US" sz="2200" dirty="0" smtClean="0">
                <a:latin typeface="Helvetica" pitchFamily="34" charset="0"/>
              </a:rPr>
              <a:t>Forwarding items to tour members prior to departure date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34818" name="Picture 2" descr="I:\Overseas Projects\PHOTOS\2014\Shutterstock 25-a-day\shutterstock_10155898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2852936"/>
            <a:ext cx="1971973" cy="13095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Update internal inventory and stock control records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112568" cy="4525963"/>
          </a:xfrm>
        </p:spPr>
        <p:txBody>
          <a:bodyPr>
            <a:normAutofit/>
          </a:bodyPr>
          <a:lstStyle/>
          <a:p>
            <a:pPr marL="0" indent="0">
              <a:spcBef>
                <a:spcPts val="600"/>
              </a:spcBef>
              <a:spcAft>
                <a:spcPts val="1200"/>
              </a:spcAft>
              <a:buNone/>
            </a:pPr>
            <a:r>
              <a:rPr lang="en-US" sz="2200" dirty="0" smtClean="0">
                <a:latin typeface="Helvetica" pitchFamily="34" charset="0"/>
              </a:rPr>
              <a:t>Reasons/need to update internal records:</a:t>
            </a:r>
          </a:p>
          <a:p>
            <a:pPr marL="360000" indent="-360000">
              <a:spcBef>
                <a:spcPts val="600"/>
              </a:spcBef>
              <a:spcAft>
                <a:spcPts val="1200"/>
              </a:spcAft>
            </a:pPr>
            <a:r>
              <a:rPr lang="en-US" sz="2200" dirty="0" smtClean="0">
                <a:latin typeface="Helvetica" pitchFamily="34" charset="0"/>
              </a:rPr>
              <a:t>Manage size/value of inventory</a:t>
            </a:r>
          </a:p>
          <a:p>
            <a:pPr marL="360000" indent="-360000">
              <a:spcBef>
                <a:spcPts val="600"/>
              </a:spcBef>
              <a:spcAft>
                <a:spcPts val="1200"/>
              </a:spcAft>
            </a:pPr>
            <a:r>
              <a:rPr lang="en-US" sz="2200" dirty="0" smtClean="0">
                <a:latin typeface="Helvetica" pitchFamily="34" charset="0"/>
              </a:rPr>
              <a:t>Ensure organisation does not run out of stock</a:t>
            </a:r>
          </a:p>
          <a:p>
            <a:pPr marL="360000" indent="-360000">
              <a:spcBef>
                <a:spcPts val="600"/>
              </a:spcBef>
              <a:spcAft>
                <a:spcPts val="1200"/>
              </a:spcAft>
            </a:pPr>
            <a:r>
              <a:rPr lang="en-US" sz="2200" dirty="0" smtClean="0">
                <a:latin typeface="Helvetica" pitchFamily="34" charset="0"/>
              </a:rPr>
              <a:t>Facilitate stock management and control</a:t>
            </a:r>
          </a:p>
          <a:p>
            <a:pPr marL="360000" indent="-360000">
              <a:spcBef>
                <a:spcPts val="600"/>
              </a:spcBef>
              <a:spcAft>
                <a:spcPts val="1200"/>
              </a:spcAft>
            </a:pPr>
            <a:r>
              <a:rPr lang="en-US" sz="2200" dirty="0" smtClean="0">
                <a:latin typeface="Helvetica" pitchFamily="34" charset="0"/>
              </a:rPr>
              <a:t>Assist stock rotation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35842" name="Picture 2" descr="I:\Overseas Projects\PHOTOS\2014\Shutterstock 25-a-day\shutterstock_10829623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4168" y="2719105"/>
            <a:ext cx="2223220" cy="1483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Update internal inventory and stock control records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Records to be updated may be ‘hard’ or ‘soft.</a:t>
            </a:r>
          </a:p>
          <a:p>
            <a:pPr marL="0" indent="0">
              <a:spcBef>
                <a:spcPts val="600"/>
              </a:spcBef>
              <a:spcAft>
                <a:spcPts val="1200"/>
              </a:spcAft>
              <a:buNone/>
            </a:pPr>
            <a:r>
              <a:rPr lang="en-US" sz="2200" dirty="0" smtClean="0">
                <a:latin typeface="Helvetica" pitchFamily="34" charset="0"/>
              </a:rPr>
              <a:t>Examples might include:</a:t>
            </a:r>
          </a:p>
          <a:p>
            <a:pPr marL="360000" indent="-360000">
              <a:spcBef>
                <a:spcPts val="600"/>
              </a:spcBef>
              <a:spcAft>
                <a:spcPts val="1200"/>
              </a:spcAft>
            </a:pPr>
            <a:r>
              <a:rPr lang="en-US" sz="2200" dirty="0" smtClean="0">
                <a:latin typeface="Helvetica" pitchFamily="34" charset="0"/>
              </a:rPr>
              <a:t>Requisitions</a:t>
            </a:r>
          </a:p>
          <a:p>
            <a:pPr marL="360000" indent="-360000">
              <a:spcBef>
                <a:spcPts val="600"/>
              </a:spcBef>
              <a:spcAft>
                <a:spcPts val="1200"/>
              </a:spcAft>
            </a:pPr>
            <a:r>
              <a:rPr lang="en-US" sz="2200" dirty="0" smtClean="0">
                <a:latin typeface="Helvetica" pitchFamily="34" charset="0"/>
              </a:rPr>
              <a:t>Stock take sheets</a:t>
            </a:r>
          </a:p>
          <a:p>
            <a:pPr marL="360000" indent="-360000">
              <a:spcBef>
                <a:spcPts val="600"/>
              </a:spcBef>
              <a:spcAft>
                <a:spcPts val="1200"/>
              </a:spcAft>
            </a:pPr>
            <a:r>
              <a:rPr lang="en-US" sz="2200" dirty="0" smtClean="0">
                <a:latin typeface="Helvetica" pitchFamily="34" charset="0"/>
              </a:rPr>
              <a:t>Bin cards</a:t>
            </a:r>
          </a:p>
          <a:p>
            <a:pPr marL="360000" indent="-360000">
              <a:spcBef>
                <a:spcPts val="600"/>
              </a:spcBef>
              <a:spcAft>
                <a:spcPts val="1200"/>
              </a:spcAft>
            </a:pPr>
            <a:r>
              <a:rPr lang="en-US" sz="2200" dirty="0" smtClean="0">
                <a:latin typeface="Helvetica" pitchFamily="34" charset="0"/>
              </a:rPr>
              <a:t>Purchase Orders</a:t>
            </a:r>
          </a:p>
          <a:p>
            <a:pPr marL="360000" indent="-360000">
              <a:spcBef>
                <a:spcPts val="600"/>
              </a:spcBef>
              <a:spcAft>
                <a:spcPts val="1200"/>
              </a:spcAft>
            </a:pPr>
            <a:r>
              <a:rPr lang="en-US" sz="2200" dirty="0" smtClean="0">
                <a:latin typeface="Helvetica" pitchFamily="34" charset="0"/>
              </a:rPr>
              <a:t>Receipts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36866" name="Picture 2" descr="I:\Overseas Projects\PHOTOS\2014\Shutterstock 25-a-day\shutterstock_10080407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0361" y="2742063"/>
            <a:ext cx="2268935" cy="15173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Update internal inventory and stock control records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Supplier documents: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Delivery dockets and invoices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Statements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Credit notes</a:t>
            </a:r>
          </a:p>
          <a:p>
            <a:pPr marL="360000" indent="-360000">
              <a:spcBef>
                <a:spcPts val="600"/>
              </a:spcBef>
              <a:spcAft>
                <a:spcPts val="1200"/>
              </a:spcAft>
            </a:pPr>
            <a:r>
              <a:rPr lang="en-US" sz="2200" dirty="0" smtClean="0">
                <a:latin typeface="Helvetica" pitchFamily="34" charset="0"/>
              </a:rPr>
              <a:t>Damaged goods sheets</a:t>
            </a:r>
          </a:p>
          <a:p>
            <a:pPr marL="360000" indent="-360000">
              <a:spcBef>
                <a:spcPts val="600"/>
              </a:spcBef>
              <a:spcAft>
                <a:spcPts val="1200"/>
              </a:spcAft>
            </a:pPr>
            <a:r>
              <a:rPr lang="en-US" sz="2200" dirty="0" smtClean="0">
                <a:latin typeface="Helvetica" pitchFamily="34" charset="0"/>
              </a:rPr>
              <a:t>Returned goods sheets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37890" name="Picture 2" descr="I:\Overseas Projects\PHOTOS\2014\Shutterstock 25-a-day\shutterstock_3146895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0112" y="2852936"/>
            <a:ext cx="2592958" cy="17340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Update internal inventory and stock control records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Activities involved in updating records:</a:t>
            </a:r>
          </a:p>
          <a:p>
            <a:pPr marL="360000" indent="-360000">
              <a:spcBef>
                <a:spcPts val="600"/>
              </a:spcBef>
              <a:spcAft>
                <a:spcPts val="1200"/>
              </a:spcAft>
            </a:pPr>
            <a:r>
              <a:rPr lang="en-US" sz="2200" dirty="0" smtClean="0">
                <a:latin typeface="Helvetica" pitchFamily="34" charset="0"/>
              </a:rPr>
              <a:t>Conduct stock takes</a:t>
            </a:r>
          </a:p>
          <a:p>
            <a:pPr marL="360000" indent="-360000">
              <a:spcBef>
                <a:spcPts val="600"/>
              </a:spcBef>
              <a:spcAft>
                <a:spcPts val="1200"/>
              </a:spcAft>
            </a:pPr>
            <a:r>
              <a:rPr lang="en-US" sz="2200" dirty="0" smtClean="0">
                <a:latin typeface="Helvetica" pitchFamily="34" charset="0"/>
              </a:rPr>
              <a:t>Add final/missing detail(s)</a:t>
            </a:r>
          </a:p>
          <a:p>
            <a:pPr marL="360000" indent="-360000">
              <a:spcBef>
                <a:spcPts val="600"/>
              </a:spcBef>
              <a:spcAft>
                <a:spcPts val="1200"/>
              </a:spcAft>
            </a:pPr>
            <a:r>
              <a:rPr lang="en-US" sz="2200" dirty="0" smtClean="0">
                <a:latin typeface="Helvetica" pitchFamily="34" charset="0"/>
              </a:rPr>
              <a:t>Perform nominated calculations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38914" name="Picture 2" descr="I:\Overseas Projects\PHOTOS\2014\Shutterstock 25-a-day\shutterstock_11494270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53888" y="2060848"/>
            <a:ext cx="2416002" cy="16119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Update internal inventory and stock control records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480720" cy="4525963"/>
          </a:xfrm>
        </p:spPr>
        <p:txBody>
          <a:bodyPr>
            <a:normAutofit/>
          </a:bodyPr>
          <a:lstStyle/>
          <a:p>
            <a:pPr marL="360000" indent="-360000">
              <a:spcBef>
                <a:spcPts val="600"/>
              </a:spcBef>
              <a:spcAft>
                <a:spcPts val="1200"/>
              </a:spcAft>
            </a:pPr>
            <a:r>
              <a:rPr lang="en-US" sz="2200" dirty="0" smtClean="0">
                <a:latin typeface="Helvetica" pitchFamily="34" charset="0"/>
              </a:rPr>
              <a:t>Follow-up as required with whoever needs to be followed-up with</a:t>
            </a:r>
          </a:p>
          <a:p>
            <a:pPr marL="360000" indent="-360000">
              <a:spcBef>
                <a:spcPts val="600"/>
              </a:spcBef>
              <a:spcAft>
                <a:spcPts val="1200"/>
              </a:spcAft>
            </a:pPr>
            <a:r>
              <a:rPr lang="en-US" sz="2200" dirty="0" smtClean="0">
                <a:latin typeface="Helvetica" pitchFamily="34" charset="0"/>
              </a:rPr>
              <a:t>Count stock returned</a:t>
            </a:r>
          </a:p>
          <a:p>
            <a:pPr marL="360000" indent="-360000">
              <a:spcBef>
                <a:spcPts val="600"/>
              </a:spcBef>
              <a:spcAft>
                <a:spcPts val="1200"/>
              </a:spcAft>
            </a:pPr>
            <a:r>
              <a:rPr lang="en-US" sz="2200" dirty="0" smtClean="0">
                <a:latin typeface="Helvetica" pitchFamily="34" charset="0"/>
              </a:rPr>
              <a:t>Forward documents to management/administration</a:t>
            </a:r>
          </a:p>
          <a:p>
            <a:pPr marL="360000" indent="-360000">
              <a:spcBef>
                <a:spcPts val="600"/>
              </a:spcBef>
              <a:spcAft>
                <a:spcPts val="1200"/>
              </a:spcAft>
            </a:pPr>
            <a:r>
              <a:rPr lang="en-US" sz="2200" dirty="0" smtClean="0">
                <a:latin typeface="Helvetica" pitchFamily="34" charset="0"/>
              </a:rPr>
              <a:t>File documents </a:t>
            </a:r>
          </a:p>
          <a:p>
            <a:pPr marL="360000" indent="-360000">
              <a:spcBef>
                <a:spcPts val="600"/>
              </a:spcBef>
              <a:spcAft>
                <a:spcPts val="1200"/>
              </a:spcAft>
            </a:pPr>
            <a:r>
              <a:rPr lang="en-US" sz="2200" dirty="0" smtClean="0">
                <a:latin typeface="Helvetica" pitchFamily="34" charset="0"/>
              </a:rPr>
              <a:t>Pass on ‘lessons learned’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 name="Picture 4" descr="C:\Documents and Settings\Godaishu\Desktop\PHOTOS\2014\Shutterstock 25-a-day\shutterstock_161774252.jpg"/>
          <p:cNvPicPr/>
          <p:nvPr/>
        </p:nvPicPr>
        <p:blipFill>
          <a:blip r:embed="rId3" cstate="print"/>
          <a:srcRect/>
          <a:stretch>
            <a:fillRect/>
          </a:stretch>
        </p:blipFill>
        <p:spPr bwMode="auto">
          <a:xfrm>
            <a:off x="6444208" y="2564904"/>
            <a:ext cx="1633220" cy="2395855"/>
          </a:xfrm>
          <a:prstGeom prst="rect">
            <a:avLst/>
          </a:prstGeom>
          <a:noFill/>
          <a:ln w="9525">
            <a:noFill/>
            <a:miter lim="800000"/>
            <a:headEnd/>
            <a:tailEnd/>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688632" cy="4525963"/>
          </a:xfrm>
        </p:spPr>
        <p:txBody>
          <a:bodyPr>
            <a:noAutofit/>
          </a:bodyPr>
          <a:lstStyle/>
          <a:p>
            <a:pPr marL="0" indent="0">
              <a:spcBef>
                <a:spcPts val="600"/>
              </a:spcBef>
              <a:spcAft>
                <a:spcPts val="1200"/>
              </a:spcAft>
              <a:buNone/>
            </a:pPr>
            <a:r>
              <a:rPr lang="en-US" sz="2100" dirty="0" smtClean="0">
                <a:latin typeface="Helvetica" pitchFamily="34" charset="0"/>
              </a:rPr>
              <a:t>When completing documentation:</a:t>
            </a:r>
          </a:p>
          <a:p>
            <a:pPr lvl="0"/>
            <a:r>
              <a:rPr lang="en-AU" sz="2100" dirty="0" smtClean="0">
                <a:latin typeface="Helvetica" pitchFamily="34" charset="0"/>
              </a:rPr>
              <a:t>Finalise checklists and supply sheets</a:t>
            </a:r>
          </a:p>
          <a:p>
            <a:endParaRPr lang="en-AU" sz="2100" dirty="0" smtClean="0">
              <a:latin typeface="Helvetica" pitchFamily="34" charset="0"/>
            </a:endParaRPr>
          </a:p>
          <a:p>
            <a:r>
              <a:rPr lang="en-AU" sz="2100" dirty="0" smtClean="0">
                <a:latin typeface="Helvetica" pitchFamily="34" charset="0"/>
              </a:rPr>
              <a:t>Give tour-related documents and items to tour staff</a:t>
            </a:r>
          </a:p>
          <a:p>
            <a:endParaRPr lang="en-AU" sz="2100" dirty="0" smtClean="0">
              <a:latin typeface="Helvetica" pitchFamily="34" charset="0"/>
            </a:endParaRPr>
          </a:p>
          <a:p>
            <a:r>
              <a:rPr lang="en-AU" sz="2100" dirty="0" smtClean="0">
                <a:latin typeface="Helvetica" pitchFamily="34" charset="0"/>
              </a:rPr>
              <a:t>Organise tour documents and merchandise for tour staff</a:t>
            </a:r>
          </a:p>
          <a:p>
            <a:endParaRPr lang="en-AU" sz="2100" dirty="0" smtClean="0">
              <a:latin typeface="Helvetica" pitchFamily="34" charset="0"/>
            </a:endParaRPr>
          </a:p>
          <a:p>
            <a:r>
              <a:rPr lang="en-AU" sz="2100" dirty="0" smtClean="0">
                <a:latin typeface="Helvetica" pitchFamily="34" charset="0"/>
              </a:rPr>
              <a:t>Ensure accuracy and completeness of information provided</a:t>
            </a:r>
          </a:p>
          <a:p>
            <a:pPr lvl="0">
              <a:buNone/>
            </a:pPr>
            <a:endParaRPr lang="en-US" sz="2100" dirty="0" smtClean="0">
              <a:latin typeface="Helvetica" pitchFamily="34" charset="0"/>
            </a:endParaRPr>
          </a:p>
          <a:p>
            <a:pPr lvl="0">
              <a:buNone/>
            </a:pPr>
            <a:r>
              <a:rPr lang="en-US" sz="2100" dirty="0" smtClean="0">
                <a:latin typeface="Helvetica" pitchFamily="34" charset="0"/>
              </a:rPr>
              <a:t>(Continued)</a:t>
            </a:r>
            <a:endParaRPr lang="en-AU" sz="2100" dirty="0" smtClean="0">
              <a:latin typeface="Helvetica" pitchFamily="34" charset="0"/>
            </a:endParaRP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5" name="Picture 2" descr="C:\Users\danielc\Downloads\Summar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0745" y="2996952"/>
            <a:ext cx="2127509" cy="14626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120680" cy="4525963"/>
          </a:xfrm>
        </p:spPr>
        <p:txBody>
          <a:bodyPr>
            <a:normAutofit lnSpcReduction="10000"/>
          </a:bodyPr>
          <a:lstStyle/>
          <a:p>
            <a:r>
              <a:rPr lang="en-AU" sz="2200" dirty="0" smtClean="0">
                <a:latin typeface="Helvetica" pitchFamily="34" charset="0"/>
              </a:rPr>
              <a:t>Count stock on hand and stock returned from trips/tours</a:t>
            </a:r>
          </a:p>
          <a:p>
            <a:endParaRPr lang="en-AU" sz="2200" dirty="0" smtClean="0">
              <a:latin typeface="Helvetica" pitchFamily="34" charset="0"/>
            </a:endParaRPr>
          </a:p>
          <a:p>
            <a:r>
              <a:rPr lang="en-AU" sz="2200" dirty="0" smtClean="0">
                <a:latin typeface="Helvetica" pitchFamily="34" charset="0"/>
              </a:rPr>
              <a:t>Follow-up stock returned to suppliers for credit</a:t>
            </a:r>
          </a:p>
          <a:p>
            <a:endParaRPr lang="en-AU" sz="2200" dirty="0" smtClean="0">
              <a:latin typeface="Helvetica" pitchFamily="34" charset="0"/>
            </a:endParaRPr>
          </a:p>
          <a:p>
            <a:r>
              <a:rPr lang="en-AU" sz="2200" dirty="0" smtClean="0">
                <a:latin typeface="Helvetica" pitchFamily="34" charset="0"/>
              </a:rPr>
              <a:t>Forward documents to administration for processing</a:t>
            </a:r>
          </a:p>
          <a:p>
            <a:endParaRPr lang="en-AU" sz="2200" dirty="0" smtClean="0">
              <a:latin typeface="Helvetica" pitchFamily="34" charset="0"/>
            </a:endParaRPr>
          </a:p>
          <a:p>
            <a:r>
              <a:rPr lang="en-AU" sz="2200" dirty="0" smtClean="0">
                <a:latin typeface="Helvetica" pitchFamily="34" charset="0"/>
              </a:rPr>
              <a:t>Forward documents to management for their information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5" name="Picture 2" descr="C:\Users\danielc\Downloads\what have you learne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2780928"/>
            <a:ext cx="1793725" cy="16535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976664" cy="4525963"/>
          </a:xfrm>
        </p:spPr>
        <p:txBody>
          <a:bodyPr>
            <a:normAutofit/>
          </a:bodyPr>
          <a:lstStyle/>
          <a:p>
            <a:r>
              <a:rPr lang="en-AU" sz="2200" dirty="0" smtClean="0">
                <a:latin typeface="Helvetica" pitchFamily="34" charset="0"/>
              </a:rPr>
              <a:t>Provide missing information on sheets/forms as necessary</a:t>
            </a:r>
          </a:p>
          <a:p>
            <a:endParaRPr lang="en-AU" sz="2200" dirty="0" smtClean="0">
              <a:latin typeface="Helvetica" pitchFamily="34" charset="0"/>
            </a:endParaRPr>
          </a:p>
          <a:p>
            <a:r>
              <a:rPr lang="en-AU" sz="2200" dirty="0" smtClean="0">
                <a:latin typeface="Helvetica" pitchFamily="34" charset="0"/>
              </a:rPr>
              <a:t>Learn lessons for future reference</a:t>
            </a:r>
          </a:p>
          <a:p>
            <a:endParaRPr lang="en-AU" sz="2200" dirty="0" smtClean="0">
              <a:latin typeface="Helvetica" pitchFamily="34" charset="0"/>
            </a:endParaRPr>
          </a:p>
          <a:p>
            <a:r>
              <a:rPr lang="en-AU" sz="2200" dirty="0" smtClean="0">
                <a:latin typeface="Helvetica" pitchFamily="34" charset="0"/>
              </a:rPr>
              <a:t>Communicate lessons learned to others within </a:t>
            </a:r>
            <a:r>
              <a:rPr lang="en-AU" sz="2200" smtClean="0">
                <a:latin typeface="Helvetica" pitchFamily="34" charset="0"/>
              </a:rPr>
              <a:t>the organisation</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2" descr="C:\Users\danielc\Downloads\Summar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1746" y="2060848"/>
            <a:ext cx="1839477" cy="12646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1115</TotalTime>
  <Words>18262</Words>
  <Application>Microsoft Office PowerPoint</Application>
  <PresentationFormat>On-screen Show (4:3)</PresentationFormat>
  <Paragraphs>2085</Paragraphs>
  <Slides>116</Slides>
  <Notes>116</Notes>
  <HiddenSlides>0</HiddenSlides>
  <MMClips>0</MMClips>
  <ScaleCrop>false</ScaleCrop>
  <HeadingPairs>
    <vt:vector size="4" baseType="variant">
      <vt:variant>
        <vt:lpstr>Theme</vt:lpstr>
      </vt:variant>
      <vt:variant>
        <vt:i4>1</vt:i4>
      </vt:variant>
      <vt:variant>
        <vt:lpstr>Slide Titles</vt:lpstr>
      </vt:variant>
      <vt:variant>
        <vt:i4>116</vt:i4>
      </vt:variant>
    </vt:vector>
  </HeadingPairs>
  <TitlesOfParts>
    <vt:vector size="117" baseType="lpstr">
      <vt:lpstr>PPT_Tour_operation_templates_130214</vt:lpstr>
      <vt:lpstr>CONDUCT PRE-DEPARTURE CHECKS</vt:lpstr>
      <vt:lpstr>Conduct pre-departure checks</vt:lpstr>
      <vt:lpstr>Assessment</vt:lpstr>
      <vt:lpstr>Element 1 – Identify tour requirements</vt:lpstr>
      <vt:lpstr>Identify itinerary for tour</vt:lpstr>
      <vt:lpstr>Identify itinerary for tour</vt:lpstr>
      <vt:lpstr>Identify itinerary for tour</vt:lpstr>
      <vt:lpstr>Identify itinerary for tour</vt:lpstr>
      <vt:lpstr>Identify itinerary for tour</vt:lpstr>
      <vt:lpstr>Identify itinerary for tour</vt:lpstr>
      <vt:lpstr>Identify itinerary for tour</vt:lpstr>
      <vt:lpstr>Identify itinerary for tour</vt:lpstr>
      <vt:lpstr>Identify itinerary for tour</vt:lpstr>
      <vt:lpstr>Identify group numbers on the tour</vt:lpstr>
      <vt:lpstr>Identify group numbers on the tour</vt:lpstr>
      <vt:lpstr>Identify group numbers on the tour</vt:lpstr>
      <vt:lpstr>Identify group numbers on the tour</vt:lpstr>
      <vt:lpstr>Identify group numbers on the tour</vt:lpstr>
      <vt:lpstr>Identify group numbers on the tour</vt:lpstr>
      <vt:lpstr>Identify supplies that can be obtained on tour</vt:lpstr>
      <vt:lpstr>Identify supplies that can be obtained on tour</vt:lpstr>
      <vt:lpstr>Identify supplies that can be obtained on tour</vt:lpstr>
      <vt:lpstr>Identify supplies that can be obtained on tour</vt:lpstr>
      <vt:lpstr>Identify supplies that can be obtained on tour</vt:lpstr>
      <vt:lpstr>Identify special needs for the tour</vt:lpstr>
      <vt:lpstr>Identify special needs for the tour</vt:lpstr>
      <vt:lpstr>Identify special needs for the tour</vt:lpstr>
      <vt:lpstr>Identify budget for equipment and supplied for the tour</vt:lpstr>
      <vt:lpstr>Identify budget for equipment and supplied for the tour</vt:lpstr>
      <vt:lpstr>Identify budget for equipment and supplied for the tour</vt:lpstr>
      <vt:lpstr>Identify budget for equipment and supplied for the tour</vt:lpstr>
      <vt:lpstr>Identify budget for equipment and supplied for the tour</vt:lpstr>
      <vt:lpstr>Identify budget for equipment and supplied for the tour</vt:lpstr>
      <vt:lpstr>Identify budget for equipment and supplied for the tour</vt:lpstr>
      <vt:lpstr>Identify budget for equipment and supplied for the tour</vt:lpstr>
      <vt:lpstr>Determine final requirements for the tour</vt:lpstr>
      <vt:lpstr>Determine final requirements for the tour</vt:lpstr>
      <vt:lpstr>Determine final requirements for the tour</vt:lpstr>
      <vt:lpstr>Summary – Element 1</vt:lpstr>
      <vt:lpstr>Summary – Element 1</vt:lpstr>
      <vt:lpstr>Summary – Element 1</vt:lpstr>
      <vt:lpstr>Element 2 – Prepare identified tour requirements</vt:lpstr>
      <vt:lpstr>Obtain identified equipment and supplies</vt:lpstr>
      <vt:lpstr>Obtain identified equipment and supplies</vt:lpstr>
      <vt:lpstr>Obtain identified equipment and supplies</vt:lpstr>
      <vt:lpstr>Check condition of equipment and supplies</vt:lpstr>
      <vt:lpstr>Check condition of equipment and supplies</vt:lpstr>
      <vt:lpstr>Confirm quantity of equipment and supplies</vt:lpstr>
      <vt:lpstr>Confirm quantity of equipment and supplies</vt:lpstr>
      <vt:lpstr>Ensure compliance with host enterprise protocols for equipment and supplies</vt:lpstr>
      <vt:lpstr>Ensure compliance with host enterprise protocols for equipment and supplies</vt:lpstr>
      <vt:lpstr>Ensure compliance with host enterprise protocols for equipment and supplies</vt:lpstr>
      <vt:lpstr>Ensure compliance with host enterprise protocols for equipment and supplies</vt:lpstr>
      <vt:lpstr>Ensure compliance with host enterprise protocols for equipment and supplies</vt:lpstr>
      <vt:lpstr>Acquire additional equipment and supplies where needed</vt:lpstr>
      <vt:lpstr>Acquire additional equipment and supplies where needed</vt:lpstr>
      <vt:lpstr>Verify identified equipment and supplies with tour staff</vt:lpstr>
      <vt:lpstr>Verify identified equipment and supplies with tour staff</vt:lpstr>
      <vt:lpstr>Verify identified equipment and supplies with tour staff</vt:lpstr>
      <vt:lpstr>Verify identified equipment and supplies with tour staff</vt:lpstr>
      <vt:lpstr>Verify identified equipment and supplies with tour staff</vt:lpstr>
      <vt:lpstr>Verify identified equipment and supplies with tour staff</vt:lpstr>
      <vt:lpstr>Verify identified equipment and supplies with tour staff</vt:lpstr>
      <vt:lpstr>Verify identified equipment and supplies with tour staff</vt:lpstr>
      <vt:lpstr>Verify identified equipment and supplies with tour staff</vt:lpstr>
      <vt:lpstr>Verify identified equipment and supplies with tour staff</vt:lpstr>
      <vt:lpstr>Verify identified equipment and supplies with tour staff</vt:lpstr>
      <vt:lpstr>Develop checklist of all resources for use when loading and while on tour</vt:lpstr>
      <vt:lpstr>Develop checklist of all resources for use when loading and while on tour</vt:lpstr>
      <vt:lpstr>Develop checklist of all resources for use when loading and while on tour</vt:lpstr>
      <vt:lpstr>Develop checklist of all resources for use when loading and while on tour</vt:lpstr>
      <vt:lpstr>Develop checklist of all resources for use when loading and while on tour</vt:lpstr>
      <vt:lpstr>Summary – Element 2</vt:lpstr>
      <vt:lpstr>Summary – Element 2</vt:lpstr>
      <vt:lpstr>Summary – Element 2</vt:lpstr>
      <vt:lpstr>Element 3 – Load identified tour requirements</vt:lpstr>
      <vt:lpstr>Prepare loading sheet for each vehicle or form of transport to be used</vt:lpstr>
      <vt:lpstr>Prepare loading sheet for each vehicle or form of transport to be used</vt:lpstr>
      <vt:lpstr>Prepare loading sheet for each vehicle or form of transport to be used</vt:lpstr>
      <vt:lpstr>Stow equipment and supplies</vt:lpstr>
      <vt:lpstr>Stow equipment and supplies</vt:lpstr>
      <vt:lpstr>Use checklist/s to ensure all equipment and supplies are loaded</vt:lpstr>
      <vt:lpstr>Use checklist/s to ensure all equipment and supplies are loaded</vt:lpstr>
      <vt:lpstr>Use checklist/s to ensure all equipment and supplies are loaded</vt:lpstr>
      <vt:lpstr>Conduct final check</vt:lpstr>
      <vt:lpstr>Conduct final check</vt:lpstr>
      <vt:lpstr>Conduct final check</vt:lpstr>
      <vt:lpstr>Conduct final check</vt:lpstr>
      <vt:lpstr>Summary – Element 3</vt:lpstr>
      <vt:lpstr>Summary – Element 3</vt:lpstr>
      <vt:lpstr>Summary – Element 3</vt:lpstr>
      <vt:lpstr>Element 4 – Complete documentation</vt:lpstr>
      <vt:lpstr>Finalise checklists and supply sheets</vt:lpstr>
      <vt:lpstr>Finalise checklists and supply sheets</vt:lpstr>
      <vt:lpstr>Finalise checklists and supply sheets</vt:lpstr>
      <vt:lpstr>Finalise checklists and supply sheets</vt:lpstr>
      <vt:lpstr>Finalise checklists and supply sheets</vt:lpstr>
      <vt:lpstr>Finalise checklists and supply sheets</vt:lpstr>
      <vt:lpstr>Provide tour-related documents to guides and tour leaders</vt:lpstr>
      <vt:lpstr>Provide tour-related documents to guides and tour leaders</vt:lpstr>
      <vt:lpstr>Provide tour-related documents to guides and tour leaders</vt:lpstr>
      <vt:lpstr>Provide tour-related documents to guides and tour leaders</vt:lpstr>
      <vt:lpstr>Forward documentation to external suppliers</vt:lpstr>
      <vt:lpstr>Forward documentation to external suppliers</vt:lpstr>
      <vt:lpstr>Forward documentation to external suppliers</vt:lpstr>
      <vt:lpstr>Finalise documentation for tour members</vt:lpstr>
      <vt:lpstr>Finalise documentation for tour members</vt:lpstr>
      <vt:lpstr>Finalise documentation for tour members</vt:lpstr>
      <vt:lpstr>Update internal inventory and stock control records</vt:lpstr>
      <vt:lpstr>Update internal inventory and stock control records</vt:lpstr>
      <vt:lpstr>Update internal inventory and stock control records</vt:lpstr>
      <vt:lpstr>Update internal inventory and stock control records</vt:lpstr>
      <vt:lpstr>Update internal inventory and stock control records</vt:lpstr>
      <vt:lpstr>Summary – Element 4</vt:lpstr>
      <vt:lpstr>Summary – Element 4</vt:lpstr>
      <vt:lpstr>Summary – Element 4</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Daniel James Chee</dc:creator>
  <cp:lastModifiedBy>Daniel James Chee</cp:lastModifiedBy>
  <cp:revision>140</cp:revision>
  <dcterms:created xsi:type="dcterms:W3CDTF">2014-03-24T22:06:22Z</dcterms:created>
  <dcterms:modified xsi:type="dcterms:W3CDTF">2015-04-27T05:46:07Z</dcterms:modified>
</cp:coreProperties>
</file>