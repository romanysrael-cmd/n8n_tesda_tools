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8"/>
  </p:notesMasterIdLst>
  <p:handoutMasterIdLst>
    <p:handoutMasterId r:id="rId219"/>
  </p:handoutMasterIdLst>
  <p:sldIdLst>
    <p:sldId id="256" r:id="rId2"/>
    <p:sldId id="257" r:id="rId3"/>
    <p:sldId id="258" r:id="rId4"/>
    <p:sldId id="259" r:id="rId5"/>
    <p:sldId id="260" r:id="rId6"/>
    <p:sldId id="327" r:id="rId7"/>
    <p:sldId id="328" r:id="rId8"/>
    <p:sldId id="516" r:id="rId9"/>
    <p:sldId id="518" r:id="rId10"/>
    <p:sldId id="521" r:id="rId11"/>
    <p:sldId id="522" r:id="rId12"/>
    <p:sldId id="515" r:id="rId13"/>
    <p:sldId id="523" r:id="rId14"/>
    <p:sldId id="329" r:id="rId15"/>
    <p:sldId id="525" r:id="rId16"/>
    <p:sldId id="330" r:id="rId17"/>
    <p:sldId id="331" r:id="rId18"/>
    <p:sldId id="340" r:id="rId19"/>
    <p:sldId id="526" r:id="rId20"/>
    <p:sldId id="341" r:id="rId21"/>
    <p:sldId id="342" r:id="rId22"/>
    <p:sldId id="343" r:id="rId23"/>
    <p:sldId id="527" r:id="rId24"/>
    <p:sldId id="528" r:id="rId25"/>
    <p:sldId id="335" r:id="rId26"/>
    <p:sldId id="339" r:id="rId27"/>
    <p:sldId id="351" r:id="rId28"/>
    <p:sldId id="352" r:id="rId29"/>
    <p:sldId id="353" r:id="rId30"/>
    <p:sldId id="354" r:id="rId31"/>
    <p:sldId id="443" r:id="rId32"/>
    <p:sldId id="445" r:id="rId33"/>
    <p:sldId id="446" r:id="rId34"/>
    <p:sldId id="447" r:id="rId35"/>
    <p:sldId id="448" r:id="rId36"/>
    <p:sldId id="449" r:id="rId37"/>
    <p:sldId id="350" r:id="rId38"/>
    <p:sldId id="529" r:id="rId39"/>
    <p:sldId id="530" r:id="rId40"/>
    <p:sldId id="531" r:id="rId41"/>
    <p:sldId id="532" r:id="rId42"/>
    <p:sldId id="533" r:id="rId43"/>
    <p:sldId id="262" r:id="rId44"/>
    <p:sldId id="263" r:id="rId45"/>
    <p:sldId id="365" r:id="rId46"/>
    <p:sldId id="366" r:id="rId47"/>
    <p:sldId id="367" r:id="rId48"/>
    <p:sldId id="368" r:id="rId49"/>
    <p:sldId id="369" r:id="rId50"/>
    <p:sldId id="370" r:id="rId51"/>
    <p:sldId id="543" r:id="rId52"/>
    <p:sldId id="548" r:id="rId53"/>
    <p:sldId id="549" r:id="rId54"/>
    <p:sldId id="557" r:id="rId55"/>
    <p:sldId id="535" r:id="rId56"/>
    <p:sldId id="547" r:id="rId57"/>
    <p:sldId id="536" r:id="rId58"/>
    <p:sldId id="537" r:id="rId59"/>
    <p:sldId id="538" r:id="rId60"/>
    <p:sldId id="539" r:id="rId61"/>
    <p:sldId id="541" r:id="rId62"/>
    <p:sldId id="374" r:id="rId63"/>
    <p:sldId id="559" r:id="rId64"/>
    <p:sldId id="558" r:id="rId65"/>
    <p:sldId id="375" r:id="rId66"/>
    <p:sldId id="355" r:id="rId67"/>
    <p:sldId id="356" r:id="rId68"/>
    <p:sldId id="357" r:id="rId69"/>
    <p:sldId id="560" r:id="rId70"/>
    <p:sldId id="376" r:id="rId71"/>
    <p:sldId id="561" r:id="rId72"/>
    <p:sldId id="377" r:id="rId73"/>
    <p:sldId id="378" r:id="rId74"/>
    <p:sldId id="562" r:id="rId75"/>
    <p:sldId id="358" r:id="rId76"/>
    <p:sldId id="363" r:id="rId77"/>
    <p:sldId id="565" r:id="rId78"/>
    <p:sldId id="364" r:id="rId79"/>
    <p:sldId id="379" r:id="rId80"/>
    <p:sldId id="380" r:id="rId81"/>
    <p:sldId id="381" r:id="rId82"/>
    <p:sldId id="566" r:id="rId83"/>
    <p:sldId id="567" r:id="rId84"/>
    <p:sldId id="568" r:id="rId85"/>
    <p:sldId id="569" r:id="rId86"/>
    <p:sldId id="264" r:id="rId87"/>
    <p:sldId id="265" r:id="rId88"/>
    <p:sldId id="383" r:id="rId89"/>
    <p:sldId id="384" r:id="rId90"/>
    <p:sldId id="385" r:id="rId91"/>
    <p:sldId id="386" r:id="rId92"/>
    <p:sldId id="388" r:id="rId93"/>
    <p:sldId id="570" r:id="rId94"/>
    <p:sldId id="571" r:id="rId95"/>
    <p:sldId id="572" r:id="rId96"/>
    <p:sldId id="573" r:id="rId97"/>
    <p:sldId id="577" r:id="rId98"/>
    <p:sldId id="587" r:id="rId99"/>
    <p:sldId id="588" r:id="rId100"/>
    <p:sldId id="590" r:id="rId101"/>
    <p:sldId id="593" r:id="rId102"/>
    <p:sldId id="592" r:id="rId103"/>
    <p:sldId id="594" r:id="rId104"/>
    <p:sldId id="595" r:id="rId105"/>
    <p:sldId id="266" r:id="rId106"/>
    <p:sldId id="267" r:id="rId107"/>
    <p:sldId id="268" r:id="rId108"/>
    <p:sldId id="392" r:id="rId109"/>
    <p:sldId id="394" r:id="rId110"/>
    <p:sldId id="395" r:id="rId111"/>
    <p:sldId id="396" r:id="rId112"/>
    <p:sldId id="411" r:id="rId113"/>
    <p:sldId id="412" r:id="rId114"/>
    <p:sldId id="397" r:id="rId115"/>
    <p:sldId id="398" r:id="rId116"/>
    <p:sldId id="406" r:id="rId117"/>
    <p:sldId id="407" r:id="rId118"/>
    <p:sldId id="416" r:id="rId119"/>
    <p:sldId id="596" r:id="rId120"/>
    <p:sldId id="597" r:id="rId121"/>
    <p:sldId id="404" r:id="rId122"/>
    <p:sldId id="598" r:id="rId123"/>
    <p:sldId id="405" r:id="rId124"/>
    <p:sldId id="599" r:id="rId125"/>
    <p:sldId id="600" r:id="rId126"/>
    <p:sldId id="402" r:id="rId127"/>
    <p:sldId id="403" r:id="rId128"/>
    <p:sldId id="399" r:id="rId129"/>
    <p:sldId id="401" r:id="rId130"/>
    <p:sldId id="408" r:id="rId131"/>
    <p:sldId id="602" r:id="rId132"/>
    <p:sldId id="409" r:id="rId133"/>
    <p:sldId id="410" r:id="rId134"/>
    <p:sldId id="603" r:id="rId135"/>
    <p:sldId id="269" r:id="rId136"/>
    <p:sldId id="270" r:id="rId137"/>
    <p:sldId id="611" r:id="rId138"/>
    <p:sldId id="614" r:id="rId139"/>
    <p:sldId id="421" r:id="rId140"/>
    <p:sldId id="422" r:id="rId141"/>
    <p:sldId id="423" r:id="rId142"/>
    <p:sldId id="425" r:id="rId143"/>
    <p:sldId id="424" r:id="rId144"/>
    <p:sldId id="615" r:id="rId145"/>
    <p:sldId id="616" r:id="rId146"/>
    <p:sldId id="426" r:id="rId147"/>
    <p:sldId id="427" r:id="rId148"/>
    <p:sldId id="428" r:id="rId149"/>
    <p:sldId id="429" r:id="rId150"/>
    <p:sldId id="271" r:id="rId151"/>
    <p:sldId id="272" r:id="rId152"/>
    <p:sldId id="418" r:id="rId153"/>
    <p:sldId id="419" r:id="rId154"/>
    <p:sldId id="617" r:id="rId155"/>
    <p:sldId id="618" r:id="rId156"/>
    <p:sldId id="620" r:id="rId157"/>
    <p:sldId id="621" r:id="rId158"/>
    <p:sldId id="622" r:id="rId159"/>
    <p:sldId id="623" r:id="rId160"/>
    <p:sldId id="625" r:id="rId161"/>
    <p:sldId id="624" r:id="rId162"/>
    <p:sldId id="626" r:id="rId163"/>
    <p:sldId id="627" r:id="rId164"/>
    <p:sldId id="628" r:id="rId165"/>
    <p:sldId id="630" r:id="rId166"/>
    <p:sldId id="273" r:id="rId167"/>
    <p:sldId id="274" r:id="rId168"/>
    <p:sldId id="456" r:id="rId169"/>
    <p:sldId id="457" r:id="rId170"/>
    <p:sldId id="631" r:id="rId171"/>
    <p:sldId id="632" r:id="rId172"/>
    <p:sldId id="458" r:id="rId173"/>
    <p:sldId id="459" r:id="rId174"/>
    <p:sldId id="460" r:id="rId175"/>
    <p:sldId id="461" r:id="rId176"/>
    <p:sldId id="462" r:id="rId177"/>
    <p:sldId id="463" r:id="rId178"/>
    <p:sldId id="464" r:id="rId179"/>
    <p:sldId id="275" r:id="rId180"/>
    <p:sldId id="276" r:id="rId181"/>
    <p:sldId id="633" r:id="rId182"/>
    <p:sldId id="635" r:id="rId183"/>
    <p:sldId id="636" r:id="rId184"/>
    <p:sldId id="431" r:id="rId185"/>
    <p:sldId id="277" r:id="rId186"/>
    <p:sldId id="278" r:id="rId187"/>
    <p:sldId id="279" r:id="rId188"/>
    <p:sldId id="487" r:id="rId189"/>
    <p:sldId id="489" r:id="rId190"/>
    <p:sldId id="637" r:id="rId191"/>
    <p:sldId id="639" r:id="rId192"/>
    <p:sldId id="638" r:id="rId193"/>
    <p:sldId id="640" r:id="rId194"/>
    <p:sldId id="641" r:id="rId195"/>
    <p:sldId id="436" r:id="rId196"/>
    <p:sldId id="437" r:id="rId197"/>
    <p:sldId id="438" r:id="rId198"/>
    <p:sldId id="439" r:id="rId199"/>
    <p:sldId id="440" r:id="rId200"/>
    <p:sldId id="441" r:id="rId201"/>
    <p:sldId id="432" r:id="rId202"/>
    <p:sldId id="506" r:id="rId203"/>
    <p:sldId id="507" r:id="rId204"/>
    <p:sldId id="508" r:id="rId205"/>
    <p:sldId id="494" r:id="rId206"/>
    <p:sldId id="495" r:id="rId207"/>
    <p:sldId id="496" r:id="rId208"/>
    <p:sldId id="497" r:id="rId209"/>
    <p:sldId id="509" r:id="rId210"/>
    <p:sldId id="510" r:id="rId211"/>
    <p:sldId id="511" r:id="rId212"/>
    <p:sldId id="512" r:id="rId213"/>
    <p:sldId id="513" r:id="rId214"/>
    <p:sldId id="514" r:id="rId215"/>
    <p:sldId id="325" r:id="rId216"/>
    <p:sldId id="326" r:id="rId21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911" autoAdjust="0"/>
    <p:restoredTop sz="75838" autoAdjust="0"/>
  </p:normalViewPr>
  <p:slideViewPr>
    <p:cSldViewPr>
      <p:cViewPr varScale="1">
        <p:scale>
          <a:sx n="70" d="100"/>
          <a:sy n="70" d="100"/>
        </p:scale>
        <p:origin x="198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222"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handoutMaster" Target="handoutMasters/handoutMaster1.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viewProps" Target="view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4/6/2015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80784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4/6/2015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2035217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443285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this Unit comprises nine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030511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884961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activities are conducted when preparing the food and beverage outlet for service?</a:t>
            </a:r>
          </a:p>
          <a:p>
            <a:pPr>
              <a:buFont typeface="Arial" pitchFamily="34" charset="0"/>
              <a:buChar char="•"/>
            </a:pPr>
            <a:r>
              <a:rPr lang="en-AU" sz="1200" kern="1200" baseline="0" dirty="0" smtClean="0">
                <a:solidFill>
                  <a:schemeClr val="tx1"/>
                </a:solidFill>
                <a:latin typeface="+mn-lt"/>
                <a:ea typeface="+mn-ea"/>
                <a:cs typeface="+mn-cs"/>
              </a:rPr>
              <a:t>Who would perform these functions?</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878107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725538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627619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the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different types of eateries that exist ranging from fast food to formal dining and drinking</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Identify what preparation needs to take place that is different?</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42322874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latin typeface="+mn-lt"/>
                <a:ea typeface="+mn-ea"/>
                <a:cs typeface="+mn-cs"/>
              </a:rPr>
              <a:t>Discussion about how</a:t>
            </a:r>
            <a:r>
              <a:rPr lang="en-US" sz="1200" b="1" kern="1200" baseline="0" dirty="0" smtClean="0">
                <a:solidFill>
                  <a:schemeClr val="tx1"/>
                </a:solidFill>
                <a:latin typeface="+mn-lt"/>
                <a:ea typeface="+mn-ea"/>
                <a:cs typeface="+mn-cs"/>
              </a:rPr>
              <a:t> to identify individual job roles and responsibilities</a:t>
            </a:r>
          </a:p>
          <a:p>
            <a:pPr>
              <a:buFont typeface="Arial" pitchFamily="34" charset="0"/>
              <a:buNone/>
            </a:pPr>
            <a:endParaRPr lang="en-US"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1356203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b="1" kern="1200" dirty="0" smtClean="0">
                <a:solidFill>
                  <a:schemeClr val="tx1"/>
                </a:solidFill>
                <a:latin typeface="+mn-lt"/>
                <a:ea typeface="+mn-ea"/>
                <a:cs typeface="+mn-cs"/>
              </a:rPr>
              <a:t>Discussion about understanding</a:t>
            </a:r>
            <a:r>
              <a:rPr lang="en-US" sz="1200" b="1" kern="1200" baseline="0" dirty="0" smtClean="0">
                <a:solidFill>
                  <a:schemeClr val="tx1"/>
                </a:solidFill>
                <a:latin typeface="+mn-lt"/>
                <a:ea typeface="+mn-ea"/>
                <a:cs typeface="+mn-cs"/>
              </a:rPr>
              <a:t> upcoming sessions</a:t>
            </a:r>
          </a:p>
          <a:p>
            <a:pPr>
              <a:buFont typeface="Arial" pitchFamily="34" charset="0"/>
              <a:buNone/>
            </a:pPr>
            <a:endParaRPr lang="en-US" sz="1200" b="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mn-lt"/>
                <a:ea typeface="+mn-ea"/>
                <a:cs typeface="+mn-cs"/>
              </a:rPr>
              <a:t>Ask the questions in the slide.</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2510279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think about the impact these reservation details will have on an upcoming session.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582868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can impact ‘walk in’ trade?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F &amp; B outlets have higher levels of walk in trade than others?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393955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provides this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information may chefs provide to help understand an upcoming session?</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316967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 in the slide.</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679580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6024767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7259354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examples of what needs to take place under each preparation step</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4004662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needs to be checked in each of these areas?</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738989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questions in the slide.</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669642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the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furniture is needed in a restaurant?</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a:t>
            </a:r>
            <a:r>
              <a:rPr lang="en-AU" sz="1200" baseline="0" dirty="0" smtClean="0">
                <a:latin typeface="Helvetica" pitchFamily="34" charset="0"/>
              </a:rPr>
              <a:t> determines their style and layout?</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272201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the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does a manager need to consider when thinking about a floor</a:t>
            </a:r>
            <a:r>
              <a:rPr lang="en-AU" sz="1200" baseline="0" dirty="0" smtClean="0">
                <a:latin typeface="Helvetica" pitchFamily="34" charset="0"/>
              </a:rPr>
              <a:t> plan?</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665951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following question/s:</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does a manager need to consider when thinking about a floor</a:t>
            </a:r>
            <a:r>
              <a:rPr lang="en-AU" sz="1200" baseline="0" dirty="0" smtClean="0">
                <a:latin typeface="Helvetica" pitchFamily="34" charset="0"/>
              </a:rPr>
              <a:t> plan?</a:t>
            </a:r>
            <a:endParaRPr lang="en-AU" sz="1200" dirty="0" smtClean="0">
              <a:latin typeface="Helvetica" pitchFamily="34" charset="0"/>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5735092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how these points affect the floor plan and how tables will be set out.</a:t>
            </a: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4353804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590851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about factors influencing allocation of tables to servers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Types of customers.</a:t>
            </a:r>
            <a:r>
              <a:rPr lang="en-AU" sz="1200" baseline="0" dirty="0" smtClean="0"/>
              <a:t> S</a:t>
            </a:r>
            <a:r>
              <a:rPr lang="en-AU" sz="1200" dirty="0" smtClean="0"/>
              <a:t>ome customers will be more difficult to service including parties or those with many special requests. Also VIPs</a:t>
            </a:r>
            <a:r>
              <a:rPr lang="en-AU" sz="1200" baseline="0" dirty="0" smtClean="0"/>
              <a:t> </a:t>
            </a:r>
            <a:r>
              <a:rPr lang="en-AU" sz="1200" dirty="0" smtClean="0"/>
              <a:t>may require more attentive service</a:t>
            </a:r>
          </a:p>
          <a:p>
            <a:pPr lvl="0">
              <a:buFont typeface="Arial" pitchFamily="34" charset="0"/>
              <a:buChar char="•"/>
            </a:pPr>
            <a:r>
              <a:rPr lang="en-AU" sz="1200" dirty="0" smtClean="0"/>
              <a:t>Amount of people per table.</a:t>
            </a:r>
            <a:r>
              <a:rPr lang="en-AU" sz="1200" baseline="0" dirty="0" smtClean="0"/>
              <a:t> I</a:t>
            </a:r>
            <a:r>
              <a:rPr lang="en-AU" sz="1200" dirty="0" smtClean="0"/>
              <a:t>t is easier to service two tables of 10 customers than 10 tables of 2 customers. Hence staff may be given a maximum of 5 tables</a:t>
            </a:r>
          </a:p>
          <a:p>
            <a:pPr lvl="0">
              <a:buFont typeface="Arial" pitchFamily="34" charset="0"/>
              <a:buChar char="•"/>
            </a:pPr>
            <a:r>
              <a:rPr lang="en-AU" sz="1200" dirty="0" smtClean="0"/>
              <a:t>Type of service.</a:t>
            </a:r>
            <a:r>
              <a:rPr lang="en-AU" sz="1200" baseline="0" dirty="0" smtClean="0"/>
              <a:t> I</a:t>
            </a:r>
            <a:r>
              <a:rPr lang="en-AU" sz="1200" dirty="0" smtClean="0"/>
              <a:t>f customers are eating from a buffet or from a set menu, the amount of tasks to be performed by waiters will be reduced, therefore more customers may be allocated </a:t>
            </a:r>
          </a:p>
          <a:p>
            <a:pPr lvl="0">
              <a:buFont typeface="Arial" pitchFamily="34" charset="0"/>
              <a:buChar char="•"/>
            </a:pPr>
            <a:r>
              <a:rPr lang="en-AU" sz="1200" dirty="0" smtClean="0"/>
              <a:t>Level of service.</a:t>
            </a:r>
            <a:r>
              <a:rPr lang="en-AU" sz="1200" baseline="0" dirty="0" smtClean="0"/>
              <a:t> W</a:t>
            </a:r>
            <a:r>
              <a:rPr lang="en-AU" sz="1200" dirty="0" smtClean="0"/>
              <a:t>here staff are required to provide gueridon service, involving preparing or cooking dishes at the table, the amount of customers they will be able to professionally service will reduce dramatically</a:t>
            </a:r>
          </a:p>
          <a:p>
            <a:pPr lvl="0">
              <a:buFont typeface="Arial" pitchFamily="34" charset="0"/>
              <a:buChar char="•"/>
            </a:pPr>
            <a:r>
              <a:rPr lang="en-AU" sz="1200" dirty="0" smtClean="0"/>
              <a:t>Experience of staff.</a:t>
            </a:r>
            <a:r>
              <a:rPr lang="en-AU" sz="1200" baseline="0" dirty="0" smtClean="0"/>
              <a:t> N</a:t>
            </a:r>
            <a:r>
              <a:rPr lang="en-AU" sz="1200" dirty="0" smtClean="0"/>
              <a:t>aturally new staff will not be able to deal with larger numbers of customers. In addition where experienced staff are training new staff, their expected level of productivity with be reduced</a:t>
            </a:r>
          </a:p>
          <a:p>
            <a:pPr lvl="0">
              <a:buFont typeface="Arial" pitchFamily="34" charset="0"/>
              <a:buChar char="•"/>
            </a:pPr>
            <a:r>
              <a:rPr lang="en-AU" sz="1200" dirty="0" smtClean="0"/>
              <a:t>Location of tables.</a:t>
            </a:r>
            <a:r>
              <a:rPr lang="en-AU" sz="1200" baseline="0" dirty="0" smtClean="0"/>
              <a:t> W</a:t>
            </a:r>
            <a:r>
              <a:rPr lang="en-AU" sz="1200" dirty="0" smtClean="0"/>
              <a:t>here tables are located a great distance from food outlets, kitchens or work stations, more time will be required to travel between these locations.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39425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answer the following questions: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create ambiance and comfort taking into consideration each of these points?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for patrons?</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2555916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a:t>
            </a:r>
          </a:p>
          <a:p>
            <a:pPr marL="228600" marR="0" lvl="0" indent="-22860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Think of other ways to create comfort and ambiance.</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52789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and identify all equipment and </a:t>
            </a:r>
            <a:r>
              <a:rPr lang="en-AU" sz="1200" dirty="0" smtClean="0">
                <a:latin typeface="Helvetica" pitchFamily="34" charset="0"/>
              </a:rPr>
              <a:t>auxiliary items that</a:t>
            </a:r>
            <a:r>
              <a:rPr lang="en-AU" sz="1200" baseline="0" dirty="0" smtClean="0">
                <a:latin typeface="Helvetica" pitchFamily="34" charset="0"/>
              </a:rPr>
              <a:t> need to be prepared.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7629696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setting up a coffee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832654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setting up a coffee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5778337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steps associated with organising other equipment.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242245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detail and explain what is a ‘float’.</a:t>
            </a:r>
            <a:endParaRPr lang="en-US" sz="1200" b="0" kern="1200" dirty="0" smtClean="0">
              <a:solidFill>
                <a:schemeClr val="tx1"/>
              </a:solidFill>
              <a:latin typeface="Helvetica" pitchFamily="34" charset="0"/>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kern="1200" dirty="0" smtClean="0">
              <a:solidFill>
                <a:schemeClr val="tx1"/>
              </a:solidFill>
              <a:latin typeface="Helvetica" pitchFamily="34" charset="0"/>
              <a:ea typeface="+mn-ea"/>
              <a:cs typeface="+mn-cs"/>
            </a:endParaRPr>
          </a:p>
          <a:p>
            <a:r>
              <a:rPr lang="en-US" sz="1200" b="1" kern="1200" dirty="0" smtClean="0">
                <a:solidFill>
                  <a:schemeClr val="tx1"/>
                </a:solidFill>
                <a:latin typeface="Helvetica" pitchFamily="34" charset="0"/>
                <a:ea typeface="+mn-ea"/>
                <a:cs typeface="+mn-cs"/>
              </a:rPr>
              <a:t>Activity: Discussion</a:t>
            </a:r>
          </a:p>
          <a:p>
            <a:endParaRPr lang="en-US" sz="1200" kern="1200" dirty="0" smtClean="0">
              <a:solidFill>
                <a:schemeClr val="tx1"/>
              </a:solidFill>
              <a:latin typeface="Helvetica" pitchFamily="34" charset="0"/>
              <a:ea typeface="+mn-ea"/>
              <a:cs typeface="+mn-cs"/>
            </a:endParaRPr>
          </a:p>
          <a:p>
            <a:pPr>
              <a:buFont typeface="Arial" pitchFamily="34" charset="0"/>
              <a:buChar char="•"/>
            </a:pPr>
            <a:r>
              <a:rPr lang="en-US" sz="1200" b="0" dirty="0" smtClean="0">
                <a:solidFill>
                  <a:schemeClr val="accent1">
                    <a:lumMod val="75000"/>
                  </a:schemeClr>
                </a:solidFill>
              </a:rPr>
              <a:t>Explain the steps associated with collecting a cash</a:t>
            </a:r>
            <a:r>
              <a:rPr lang="en-US" sz="1200" b="0" baseline="0" dirty="0" smtClean="0">
                <a:solidFill>
                  <a:schemeClr val="accent1">
                    <a:lumMod val="75000"/>
                  </a:schemeClr>
                </a:solidFill>
              </a:rPr>
              <a:t> float.</a:t>
            </a:r>
            <a:endParaRPr lang="en-US" sz="1200" b="0" dirty="0" smtClean="0">
              <a:solidFill>
                <a:schemeClr val="accent1">
                  <a:lumMod val="75000"/>
                </a:schemeClr>
              </a:solidFill>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148249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the</a:t>
            </a:r>
            <a:r>
              <a:rPr lang="en-US" b="1" baseline="0" dirty="0" smtClean="0"/>
              <a:t> purpose of a cash register.</a:t>
            </a:r>
            <a:endParaRPr lang="en-US" b="1" dirty="0" smtClean="0"/>
          </a:p>
          <a:p>
            <a:endParaRPr lang="en-AU" dirty="0" smtClean="0"/>
          </a:p>
          <a:p>
            <a:r>
              <a:rPr lang="en-US" sz="1200" kern="1200" dirty="0" smtClean="0">
                <a:solidFill>
                  <a:schemeClr val="tx1"/>
                </a:solidFill>
                <a:latin typeface="Helvetica" pitchFamily="34" charset="0"/>
                <a:ea typeface="+mn-ea"/>
                <a:cs typeface="+mn-cs"/>
              </a:rPr>
              <a:t>A cash register is a machine that is used to accurately record transactions (both charges and methods of payments), issue accounts and receipts and to store cash and non-cash payments.</a:t>
            </a:r>
          </a:p>
          <a:p>
            <a:endParaRPr lang="en-US" sz="1200" kern="1200" dirty="0" smtClean="0">
              <a:solidFill>
                <a:schemeClr val="tx1"/>
              </a:solidFill>
              <a:latin typeface="Helvetica" pitchFamily="34" charset="0"/>
              <a:ea typeface="+mn-ea"/>
              <a:cs typeface="+mn-cs"/>
            </a:endParaRPr>
          </a:p>
          <a:p>
            <a:r>
              <a:rPr lang="en-US" sz="1200" b="1" kern="1200" dirty="0" smtClean="0">
                <a:solidFill>
                  <a:schemeClr val="tx1"/>
                </a:solidFill>
                <a:latin typeface="Helvetica" pitchFamily="34" charset="0"/>
                <a:ea typeface="+mn-ea"/>
                <a:cs typeface="+mn-cs"/>
              </a:rPr>
              <a:t>Activity:</a:t>
            </a:r>
            <a:r>
              <a:rPr lang="en-US" sz="1200" b="1" kern="1200" baseline="0" dirty="0" smtClean="0">
                <a:solidFill>
                  <a:schemeClr val="tx1"/>
                </a:solidFill>
                <a:latin typeface="Helvetica" pitchFamily="34" charset="0"/>
                <a:ea typeface="+mn-ea"/>
                <a:cs typeface="+mn-cs"/>
              </a:rPr>
              <a:t> Demonstration</a:t>
            </a:r>
          </a:p>
          <a:p>
            <a:endParaRPr lang="en-US" sz="1200" kern="1200" baseline="0" dirty="0" smtClean="0">
              <a:solidFill>
                <a:schemeClr val="tx1"/>
              </a:solidFill>
              <a:latin typeface="Helvetica" pitchFamily="34" charset="0"/>
              <a:ea typeface="+mn-ea"/>
              <a:cs typeface="+mn-cs"/>
            </a:endParaRPr>
          </a:p>
          <a:p>
            <a:r>
              <a:rPr lang="en-US" sz="1200" kern="1200" baseline="0" dirty="0" smtClean="0">
                <a:solidFill>
                  <a:schemeClr val="tx1"/>
                </a:solidFill>
                <a:latin typeface="Helvetica" pitchFamily="34" charset="0"/>
                <a:ea typeface="+mn-ea"/>
                <a:cs typeface="+mn-cs"/>
              </a:rPr>
              <a:t>Trainer to demonstrate the functions of a cash register.</a:t>
            </a:r>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54143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register area.</a:t>
            </a:r>
            <a:endParaRPr lang="en-US" b="1" dirty="0" smtClean="0"/>
          </a:p>
          <a:p>
            <a:endParaRPr lang="en-AU" dirty="0" smtClean="0"/>
          </a:p>
          <a:p>
            <a:r>
              <a:rPr lang="en-US" sz="1200" kern="1200" dirty="0" smtClean="0">
                <a:solidFill>
                  <a:schemeClr val="tx1"/>
                </a:solidFill>
                <a:latin typeface="Helvetica" pitchFamily="34" charset="0"/>
                <a:ea typeface="+mn-ea"/>
                <a:cs typeface="+mn-cs"/>
              </a:rPr>
              <a:t>Discuss points.</a:t>
            </a:r>
          </a:p>
          <a:p>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091584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register area.</a:t>
            </a:r>
            <a:endParaRPr lang="en-US" b="1" dirty="0" smtClean="0"/>
          </a:p>
          <a:p>
            <a:endParaRPr lang="en-AU" dirty="0" smtClean="0"/>
          </a:p>
          <a:p>
            <a:r>
              <a:rPr lang="en-US" sz="1200" kern="1200" dirty="0" smtClean="0">
                <a:solidFill>
                  <a:schemeClr val="tx1"/>
                </a:solidFill>
                <a:latin typeface="Helvetica" pitchFamily="34" charset="0"/>
                <a:ea typeface="+mn-ea"/>
                <a:cs typeface="+mn-cs"/>
              </a:rPr>
              <a:t>Discuss points.</a:t>
            </a:r>
          </a:p>
          <a:p>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42424248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explains </a:t>
            </a:r>
            <a:r>
              <a:rPr lang="en-US" b="1" baseline="0" dirty="0" smtClean="0"/>
              <a:t> the tasks to be performed when preparing a workstation.</a:t>
            </a:r>
            <a:endParaRPr lang="en-US" b="1" dirty="0" smtClean="0"/>
          </a:p>
          <a:p>
            <a:endParaRPr lang="en-AU" dirty="0" smtClean="0"/>
          </a:p>
          <a:p>
            <a:r>
              <a:rPr lang="en-US" sz="1200" kern="1200" dirty="0" smtClean="0">
                <a:solidFill>
                  <a:schemeClr val="tx1"/>
                </a:solidFill>
                <a:latin typeface="Helvetica" pitchFamily="34" charset="0"/>
                <a:ea typeface="+mn-ea"/>
                <a:cs typeface="+mn-cs"/>
              </a:rPr>
              <a:t>Besides the cash register there are other machines that must be checked before the start of the shift. These include:</a:t>
            </a:r>
          </a:p>
          <a:p>
            <a:endParaRPr lang="en-US" sz="1200" kern="1200" dirty="0" smtClean="0">
              <a:solidFill>
                <a:schemeClr val="tx1"/>
              </a:solidFill>
              <a:latin typeface="Helvetica" pitchFamily="34" charset="0"/>
              <a:ea typeface="+mn-ea"/>
              <a:cs typeface="+mn-cs"/>
            </a:endParaRPr>
          </a:p>
          <a:p>
            <a:pPr lvl="0">
              <a:buFont typeface="Arial" pitchFamily="34" charset="0"/>
              <a:buChar char="•"/>
            </a:pPr>
            <a:r>
              <a:rPr lang="en-US" sz="1200" kern="1200" dirty="0" smtClean="0">
                <a:solidFill>
                  <a:schemeClr val="tx1"/>
                </a:solidFill>
                <a:latin typeface="Helvetica" pitchFamily="34" charset="0"/>
                <a:ea typeface="+mn-ea"/>
                <a:cs typeface="+mn-cs"/>
              </a:rPr>
              <a:t>ETFPOS machines</a:t>
            </a:r>
          </a:p>
          <a:p>
            <a:pPr lvl="0">
              <a:buFont typeface="Arial" pitchFamily="34" charset="0"/>
              <a:buChar char="•"/>
            </a:pPr>
            <a:r>
              <a:rPr lang="en-US" sz="1200" kern="1200" dirty="0" smtClean="0">
                <a:solidFill>
                  <a:schemeClr val="tx1"/>
                </a:solidFill>
                <a:latin typeface="Helvetica" pitchFamily="34" charset="0"/>
                <a:ea typeface="+mn-ea"/>
                <a:cs typeface="+mn-cs"/>
              </a:rPr>
              <a:t>Manual credit card machines.</a:t>
            </a:r>
          </a:p>
          <a:p>
            <a:pPr lvl="0">
              <a:buFont typeface="Arial" pitchFamily="34" charset="0"/>
              <a:buChar char="•"/>
            </a:pPr>
            <a:endParaRPr lang="en-US" sz="1200" kern="1200" dirty="0" smtClean="0">
              <a:solidFill>
                <a:schemeClr val="tx1"/>
              </a:solidFill>
              <a:latin typeface="Helvetica" pitchFamily="34" charset="0"/>
              <a:ea typeface="+mn-ea"/>
              <a:cs typeface="+mn-cs"/>
            </a:endParaRPr>
          </a:p>
          <a:p>
            <a:r>
              <a:rPr lang="en-US" sz="1200" b="1" kern="1200" dirty="0" smtClean="0">
                <a:solidFill>
                  <a:schemeClr val="tx1"/>
                </a:solidFill>
                <a:latin typeface="Helvetica" pitchFamily="34" charset="0"/>
                <a:ea typeface="+mn-ea"/>
                <a:cs typeface="+mn-cs"/>
              </a:rPr>
              <a:t>Activity:</a:t>
            </a:r>
            <a:r>
              <a:rPr lang="en-US" sz="1200" b="1" kern="1200" baseline="0" dirty="0" smtClean="0">
                <a:solidFill>
                  <a:schemeClr val="tx1"/>
                </a:solidFill>
                <a:latin typeface="Helvetica" pitchFamily="34" charset="0"/>
                <a:ea typeface="+mn-ea"/>
                <a:cs typeface="+mn-cs"/>
              </a:rPr>
              <a:t> Demonstration</a:t>
            </a:r>
          </a:p>
          <a:p>
            <a:endParaRPr lang="en-US" sz="1200" kern="1200" baseline="0" dirty="0" smtClean="0">
              <a:solidFill>
                <a:schemeClr val="tx1"/>
              </a:solidFill>
              <a:latin typeface="Helvetica" pitchFamily="34" charset="0"/>
              <a:ea typeface="+mn-ea"/>
              <a:cs typeface="+mn-cs"/>
            </a:endParaRPr>
          </a:p>
          <a:p>
            <a:r>
              <a:rPr lang="en-US" sz="1200" kern="1200" baseline="0" dirty="0" smtClean="0">
                <a:solidFill>
                  <a:schemeClr val="tx1"/>
                </a:solidFill>
                <a:latin typeface="Helvetica" pitchFamily="34" charset="0"/>
                <a:ea typeface="+mn-ea"/>
                <a:cs typeface="+mn-cs"/>
              </a:rPr>
              <a:t>Trainer to demonstrate the functions of an EFTPOS and manual credit card machines.</a:t>
            </a:r>
            <a:endParaRPr lang="en-US" sz="1200" kern="1200" dirty="0" smtClean="0">
              <a:solidFill>
                <a:schemeClr val="tx1"/>
              </a:solidFill>
              <a:latin typeface="Helvetica" pitchFamily="34" charset="0"/>
              <a:ea typeface="+mn-ea"/>
              <a:cs typeface="+mn-cs"/>
            </a:endParaRPr>
          </a:p>
          <a:p>
            <a:pPr lvl="0">
              <a:buFont typeface="Arial" pitchFamily="34" charset="0"/>
              <a:buChar char="•"/>
            </a:pPr>
            <a:endParaRPr lang="en-US" sz="1200" kern="1200" dirty="0" smtClean="0">
              <a:solidFill>
                <a:schemeClr val="tx1"/>
              </a:solidFill>
              <a:latin typeface="Helvetica" pitchFamily="34" charset="0"/>
              <a:ea typeface="+mn-ea"/>
              <a:cs typeface="+mn-cs"/>
            </a:endParaRPr>
          </a:p>
          <a:p>
            <a:pPr lvl="0">
              <a:buFont typeface="Arial" pitchFamily="34" charset="0"/>
              <a:buChar char="•"/>
            </a:pPr>
            <a:endParaRPr lang="en-US" sz="1200" kern="1200" dirty="0" smtClean="0">
              <a:solidFill>
                <a:schemeClr val="tx1"/>
              </a:solidFill>
              <a:latin typeface="Helvetica" pitchFamily="34" charset="0"/>
              <a:ea typeface="+mn-ea"/>
              <a:cs typeface="+mn-cs"/>
            </a:endParaRPr>
          </a:p>
          <a:p>
            <a:pPr lvl="0">
              <a:buFont typeface="Arial" pitchFamily="34" charset="0"/>
              <a:buNone/>
            </a:pPr>
            <a:endParaRPr lang="en-US" sz="1200" kern="1200" dirty="0" smtClean="0">
              <a:solidFill>
                <a:schemeClr val="tx1"/>
              </a:solidFill>
              <a:latin typeface="Helvetica" pitchFamily="34" charset="0"/>
              <a:ea typeface="+mn-ea"/>
              <a:cs typeface="+mn-cs"/>
            </a:endParaRPr>
          </a:p>
          <a:p>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8873431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smtClean="0"/>
              <a:t>Trainer explains </a:t>
            </a:r>
            <a:r>
              <a:rPr lang="en-US" b="0" baseline="0" dirty="0" smtClean="0"/>
              <a:t>the tasks to be performed when preparing a workstation.</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6792374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Get audience to think about food and beverage items displayed in an outlet.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905417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questions in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8444515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importance of following up reservations.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9551171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importance of following up reservations.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5957086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Is there any other information to follow 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9871288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other activities need to take 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7003704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activities are associated with setting tables?</a:t>
            </a:r>
          </a:p>
          <a:p>
            <a:pPr>
              <a:buFont typeface="Arial" pitchFamily="34" charset="0"/>
              <a:buChar char="•"/>
            </a:pPr>
            <a:r>
              <a:rPr lang="en-AU" sz="1200" kern="1200" baseline="0" dirty="0" smtClean="0">
                <a:solidFill>
                  <a:schemeClr val="tx1"/>
                </a:solidFill>
                <a:latin typeface="+mn-lt"/>
                <a:ea typeface="+mn-ea"/>
                <a:cs typeface="+mn-cs"/>
              </a:rPr>
              <a:t>What else needs to be set up?</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2901114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28768312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settings: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cutlery is needed for these settings?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crockery is needed for these settings?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8747074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2580169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a:t>
            </a:r>
            <a:r>
              <a:rPr lang="en-AU" sz="1200" b="0" i="1" kern="1200" baseline="0" dirty="0" smtClean="0">
                <a:solidFill>
                  <a:schemeClr val="tx1"/>
                </a:solidFill>
                <a:latin typeface="+mn-lt"/>
                <a:ea typeface="+mn-ea"/>
                <a:cs typeface="+mn-cs"/>
              </a:rPr>
              <a:t>a la carte </a:t>
            </a:r>
            <a:r>
              <a:rPr lang="en-AU" sz="1200" b="0" kern="1200" baseline="0" dirty="0" smtClean="0">
                <a:solidFill>
                  <a:schemeClr val="tx1"/>
                </a:solidFill>
                <a:latin typeface="+mn-lt"/>
                <a:ea typeface="+mn-ea"/>
                <a:cs typeface="+mn-cs"/>
              </a:rPr>
              <a:t>cover?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food and beverage establishments use this type of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7801150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centre pieces?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t>These include salt and pepper shakers, table numbers, vases or tent cards.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setting this type of cover, explaining the reasoning behind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4659455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a </a:t>
            </a:r>
            <a:r>
              <a:rPr lang="en-AU" sz="1200" b="0" i="1" kern="1200" baseline="0" dirty="0" smtClean="0">
                <a:solidFill>
                  <a:schemeClr val="tx1"/>
                </a:solidFill>
                <a:latin typeface="+mn-lt"/>
                <a:ea typeface="+mn-ea"/>
                <a:cs typeface="+mn-cs"/>
              </a:rPr>
              <a:t>t</a:t>
            </a:r>
            <a:r>
              <a:rPr lang="en-AU" sz="1200" b="0" i="1" dirty="0" smtClean="0"/>
              <a:t>able d’hôte</a:t>
            </a:r>
            <a:r>
              <a:rPr lang="en-AU" sz="1200" b="0" dirty="0" smtClean="0"/>
              <a:t> </a:t>
            </a:r>
            <a:r>
              <a:rPr lang="en-AU" sz="1200" b="0" kern="1200" baseline="0" dirty="0" smtClean="0">
                <a:solidFill>
                  <a:schemeClr val="tx1"/>
                </a:solidFill>
                <a:latin typeface="+mn-lt"/>
                <a:ea typeface="+mn-ea"/>
                <a:cs typeface="+mn-cs"/>
              </a:rPr>
              <a:t>cover?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food and beverage establishments use this type of cover?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2817940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variations exist to this setting?</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setting this type of cover, explaining the reasoning behind it.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0892292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1649070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these different types of house specials.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41058637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this slide.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7306639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to discuss the different menu items and how they would best be served for each of these meal periods.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may show examples of menus relating to these meal periods.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9485935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48373629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3356786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4334480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44898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30206878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1127671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005806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8066041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points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is important?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4717908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napkin materials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i="0" kern="1200" baseline="0" dirty="0" smtClean="0">
                <a:solidFill>
                  <a:schemeClr val="tx1"/>
                </a:solidFill>
                <a:latin typeface="+mn-lt"/>
                <a:ea typeface="+mn-ea"/>
                <a:cs typeface="+mn-cs"/>
              </a:rPr>
              <a:t>In wh</a:t>
            </a:r>
            <a:r>
              <a:rPr lang="en-AU" sz="1200" b="0" kern="1200" baseline="0" dirty="0" smtClean="0">
                <a:solidFill>
                  <a:schemeClr val="tx1"/>
                </a:solidFill>
                <a:latin typeface="+mn-lt"/>
                <a:ea typeface="+mn-ea"/>
                <a:cs typeface="+mn-cs"/>
              </a:rPr>
              <a:t>at forms are napkins commonly found (packaged and disposable etc.)?</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595865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folds?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may demonstrate a number of common napkin folds.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76296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cutlery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cutlery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8391691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crockery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crockery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0330335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glasses used in a food and beverage outlet.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How can you ensure glassware is clean?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6437392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points important when preparing salt and pepper shakers?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8833163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items are included in clothing a table?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clothing a table.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31609945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The trainer may demonstrate dressing and boxing a table.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2992540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reasoning behind these tips.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942065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reasoning behind these tips.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32842551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else can you use?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the purpose of these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5752304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different types of items that need to be prepared for these points.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15481298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56878224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you remove these items, where do you place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When would they be needed again?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7581450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you remove these items, where do you place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When would they be needed again?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5106680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latin typeface="Helvetica" pitchFamily="34" charset="0"/>
              </a:rPr>
              <a:t>What would you check and why?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90601022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Crumbs on chairs left from the previous session.</a:t>
            </a:r>
            <a:r>
              <a:rPr lang="en-AU" sz="1200" kern="1200" baseline="0" dirty="0" smtClean="0">
                <a:solidFill>
                  <a:schemeClr val="tx1"/>
                </a:solidFill>
                <a:latin typeface="+mn-lt"/>
                <a:ea typeface="+mn-ea"/>
                <a:cs typeface="+mn-cs"/>
              </a:rPr>
              <a:t> C</a:t>
            </a:r>
            <a:r>
              <a:rPr lang="en-AU" sz="1200" kern="1200" dirty="0" smtClean="0">
                <a:solidFill>
                  <a:schemeClr val="tx1"/>
                </a:solidFill>
                <a:latin typeface="+mn-lt"/>
                <a:ea typeface="+mn-ea"/>
                <a:cs typeface="+mn-cs"/>
              </a:rPr>
              <a:t>leaners will clean the floor of the room but rarely be required to clean chairs</a:t>
            </a:r>
          </a:p>
          <a:p>
            <a:pPr lvl="0">
              <a:buFont typeface="Arial" pitchFamily="34" charset="0"/>
              <a:buChar char="•"/>
            </a:pPr>
            <a:r>
              <a:rPr lang="en-AU" sz="1200" kern="1200" dirty="0" smtClean="0">
                <a:solidFill>
                  <a:schemeClr val="tx1"/>
                </a:solidFill>
                <a:latin typeface="+mn-lt"/>
                <a:ea typeface="+mn-ea"/>
                <a:cs typeface="+mn-cs"/>
              </a:rPr>
              <a:t>Lop-sided, creased, dirty or otherwise unsuitable tablecloth</a:t>
            </a:r>
          </a:p>
          <a:p>
            <a:pPr lvl="0">
              <a:buFont typeface="Arial" pitchFamily="34" charset="0"/>
              <a:buChar char="•"/>
            </a:pPr>
            <a:r>
              <a:rPr lang="en-AU" sz="1200" kern="1200" dirty="0" smtClean="0">
                <a:solidFill>
                  <a:schemeClr val="tx1"/>
                </a:solidFill>
                <a:latin typeface="+mn-lt"/>
                <a:ea typeface="+mn-ea"/>
                <a:cs typeface="+mn-cs"/>
              </a:rPr>
              <a:t>Missing items from the cover or table – crockery, cutlery, centre pieces, glassware, napkins, tent cards</a:t>
            </a:r>
          </a:p>
          <a:p>
            <a:pPr lvl="0">
              <a:buFont typeface="Arial" pitchFamily="34" charset="0"/>
              <a:buChar char="•"/>
            </a:pPr>
            <a:r>
              <a:rPr lang="en-AU" sz="1200" kern="1200" dirty="0" smtClean="0">
                <a:solidFill>
                  <a:schemeClr val="tx1"/>
                </a:solidFill>
                <a:latin typeface="+mn-lt"/>
                <a:ea typeface="+mn-ea"/>
                <a:cs typeface="+mn-cs"/>
              </a:rPr>
              <a:t>Missing, damaged or unstable tables and chairs </a:t>
            </a:r>
          </a:p>
          <a:p>
            <a:pPr lvl="0">
              <a:buFont typeface="Arial" pitchFamily="34" charset="0"/>
              <a:buChar char="•"/>
            </a:pPr>
            <a:r>
              <a:rPr lang="en-AU" sz="1200" kern="1200" dirty="0" smtClean="0">
                <a:solidFill>
                  <a:schemeClr val="tx1"/>
                </a:solidFill>
                <a:latin typeface="+mn-lt"/>
                <a:ea typeface="+mn-ea"/>
                <a:cs typeface="+mn-cs"/>
              </a:rPr>
              <a:t>Incorrect covers set on a table.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covers must reflect the number of guests for each table as indicated on the floor plan. Where tables exist that do not have bookings, most venues will prepare tables to suit the size of walk-in numbers/parties that can be reasonably expected. This means they may set up a number of tables for two, some tables for four people and some for (perhaps) six or eight people</a:t>
            </a:r>
          </a:p>
          <a:p>
            <a:pPr lvl="0">
              <a:buFont typeface="Arial" pitchFamily="34" charset="0"/>
              <a:buChar char="•"/>
            </a:pPr>
            <a:r>
              <a:rPr lang="en-AU" sz="1200" kern="1200" dirty="0" smtClean="0">
                <a:solidFill>
                  <a:schemeClr val="tx1"/>
                </a:solidFill>
                <a:latin typeface="+mn-lt"/>
                <a:ea typeface="+mn-ea"/>
                <a:cs typeface="+mn-cs"/>
              </a:rPr>
              <a:t>That the actual table positions reflect the set floor plan</a:t>
            </a:r>
          </a:p>
          <a:p>
            <a:pPr lvl="0">
              <a:buFont typeface="Arial" pitchFamily="34" charset="0"/>
              <a:buChar char="•"/>
            </a:pPr>
            <a:r>
              <a:rPr lang="en-AU" sz="1200" kern="1200" dirty="0" smtClean="0">
                <a:solidFill>
                  <a:schemeClr val="tx1"/>
                </a:solidFill>
                <a:latin typeface="+mn-lt"/>
                <a:ea typeface="+mn-ea"/>
                <a:cs typeface="+mn-cs"/>
              </a:rPr>
              <a:t>Rubbish on the floor, in pot plants etc</a:t>
            </a:r>
          </a:p>
          <a:p>
            <a:pPr lvl="0">
              <a:buFont typeface="Arial" pitchFamily="34" charset="0"/>
              <a:buChar char="•"/>
            </a:pPr>
            <a:r>
              <a:rPr lang="en-AU" sz="1200" kern="1200" dirty="0" smtClean="0">
                <a:solidFill>
                  <a:schemeClr val="tx1"/>
                </a:solidFill>
                <a:latin typeface="+mn-lt"/>
                <a:ea typeface="+mn-ea"/>
                <a:cs typeface="+mn-cs"/>
              </a:rPr>
              <a:t>Flies or insects – alive or dead, with special attention being paid to window ledges.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4064627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information should you verify?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provides this information?</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420254916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this important to check again?</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428033448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89333222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problems common?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should they be reported to?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can you do whilst the problem is being fixed?</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4029975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are these problems common?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should they be reported to?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can you do whilst the problem is being fixed?</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0875212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How do you greet customers?</a:t>
            </a:r>
          </a:p>
          <a:p>
            <a:pPr>
              <a:buFont typeface="Arial" pitchFamily="34" charset="0"/>
              <a:buChar char="•"/>
            </a:pPr>
            <a:r>
              <a:rPr lang="en-AU" sz="1200" kern="1200" baseline="0" dirty="0" smtClean="0">
                <a:solidFill>
                  <a:schemeClr val="tx1"/>
                </a:solidFill>
                <a:latin typeface="+mn-lt"/>
                <a:ea typeface="+mn-ea"/>
                <a:cs typeface="+mn-cs"/>
              </a:rPr>
              <a:t>What do you ask?</a:t>
            </a:r>
          </a:p>
          <a:p>
            <a:pPr>
              <a:buFont typeface="Arial" pitchFamily="34" charset="0"/>
              <a:buChar char="•"/>
            </a:pPr>
            <a:r>
              <a:rPr lang="en-AU" sz="1200" kern="1200" baseline="0" dirty="0" smtClean="0">
                <a:solidFill>
                  <a:schemeClr val="tx1"/>
                </a:solidFill>
                <a:latin typeface="+mn-lt"/>
                <a:ea typeface="+mn-ea"/>
                <a:cs typeface="+mn-cs"/>
              </a:rPr>
              <a:t>Why is it important to acknowledge customers upon arrival in a prompt manner?</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2219992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65940970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good welcome?</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240012480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Where are reservations normally kept?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happens if a customer says they have a reservation but it cannot be found in your records?</a:t>
            </a:r>
            <a:endParaRPr lang="en-AU"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40139579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Suggested topics include:</a:t>
            </a:r>
          </a:p>
          <a:p>
            <a:pPr lvl="0"/>
            <a:r>
              <a:rPr lang="en-AU" sz="1200" kern="1200" dirty="0" smtClean="0">
                <a:solidFill>
                  <a:schemeClr val="tx1"/>
                </a:solidFill>
                <a:latin typeface="+mn-lt"/>
                <a:ea typeface="+mn-ea"/>
                <a:cs typeface="+mn-cs"/>
              </a:rPr>
              <a:t>The weather – a genuine comment: “Isn’t it cold today?” – can be a great ice-breaker and help strike up a conversation</a:t>
            </a:r>
          </a:p>
          <a:p>
            <a:pPr lvl="0"/>
            <a:r>
              <a:rPr lang="en-AU" sz="1200" kern="1200" dirty="0" smtClean="0">
                <a:solidFill>
                  <a:schemeClr val="tx1"/>
                </a:solidFill>
                <a:latin typeface="+mn-lt"/>
                <a:ea typeface="+mn-ea"/>
                <a:cs typeface="+mn-cs"/>
              </a:rPr>
              <a:t>Sporting events – “Did you watch the game today?”</a:t>
            </a:r>
          </a:p>
          <a:p>
            <a:pPr lvl="0"/>
            <a:r>
              <a:rPr lang="en-AU" sz="1200" kern="1200" dirty="0" smtClean="0">
                <a:solidFill>
                  <a:schemeClr val="tx1"/>
                </a:solidFill>
                <a:latin typeface="+mn-lt"/>
                <a:ea typeface="+mn-ea"/>
                <a:cs typeface="+mn-cs"/>
              </a:rPr>
              <a:t>Special events – “Happy Festival Day”</a:t>
            </a:r>
          </a:p>
          <a:p>
            <a:pPr lvl="0"/>
            <a:r>
              <a:rPr lang="en-AU" sz="1200" kern="1200" dirty="0" smtClean="0">
                <a:solidFill>
                  <a:schemeClr val="tx1"/>
                </a:solidFill>
                <a:latin typeface="+mn-lt"/>
                <a:ea typeface="+mn-ea"/>
                <a:cs typeface="+mn-cs"/>
              </a:rPr>
              <a:t>The season – “Isn’t it getting dark early these days?”</a:t>
            </a:r>
          </a:p>
          <a:p>
            <a:pPr lvl="0"/>
            <a:r>
              <a:rPr lang="en-AU" sz="1200" kern="1200" dirty="0" smtClean="0">
                <a:solidFill>
                  <a:schemeClr val="tx1"/>
                </a:solidFill>
                <a:latin typeface="+mn-lt"/>
                <a:ea typeface="+mn-ea"/>
                <a:cs typeface="+mn-cs"/>
              </a:rPr>
              <a:t>A special in-house event – “Welcome to our Grand Winery Tour Dinner, it will be a night to remember!”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18490267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In a given restaurant setting, how would you accommodate these special needs?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9367625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Demonstrate how to undertake escorting activities.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5321715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offer these pre-meal services?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22505602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points.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0764391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points.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49995535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When is the best time</a:t>
            </a:r>
            <a:r>
              <a:rPr lang="en-US" baseline="0" dirty="0" smtClean="0"/>
              <a:t> to give advice?</a:t>
            </a:r>
          </a:p>
          <a:p>
            <a:pPr>
              <a:buFont typeface="Arial" pitchFamily="34" charset="0"/>
              <a:buChar char="•"/>
            </a:pPr>
            <a:r>
              <a:rPr lang="en-US" baseline="0" dirty="0" smtClean="0"/>
              <a:t>What signs do you look for when deciding whether to give advice or not?</a:t>
            </a: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420961112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Questions</a:t>
            </a:r>
          </a:p>
          <a:p>
            <a:pPr>
              <a:buFont typeface="Arial" pitchFamily="34" charset="0"/>
              <a:buNone/>
            </a:pPr>
            <a:endParaRPr lang="en-US" dirty="0" smtClean="0"/>
          </a:p>
          <a:p>
            <a:pPr>
              <a:buFont typeface="Arial" pitchFamily="34" charset="0"/>
              <a:buChar char="•"/>
            </a:pPr>
            <a:r>
              <a:rPr lang="en-US" dirty="0" smtClean="0"/>
              <a:t>Ask the question in</a:t>
            </a:r>
            <a:r>
              <a:rPr lang="en-US" baseline="0" dirty="0" smtClean="0"/>
              <a:t> the slide</a:t>
            </a:r>
          </a:p>
          <a:p>
            <a:pPr>
              <a:buFont typeface="Arial" pitchFamily="34" charset="0"/>
              <a:buChar char="•"/>
            </a:pPr>
            <a:r>
              <a:rPr lang="en-US" baseline="0" dirty="0" smtClean="0"/>
              <a:t>Compile a list of suitable questions.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86488164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interpretation do customers require about menu</a:t>
            </a:r>
            <a:r>
              <a:rPr lang="en-AU" baseline="0" dirty="0" smtClean="0"/>
              <a:t>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08945609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Review of menu</a:t>
            </a:r>
          </a:p>
          <a:p>
            <a:endParaRPr lang="en-AU" dirty="0" smtClean="0"/>
          </a:p>
          <a:p>
            <a:pPr>
              <a:buFont typeface="Arial" pitchFamily="34" charset="0"/>
              <a:buChar char="•"/>
            </a:pPr>
            <a:r>
              <a:rPr lang="en-AU" baseline="0" dirty="0" smtClean="0"/>
              <a:t>Trainer to hand out a range of different menus to the audience and get them to think of themselves as if they were the customer</a:t>
            </a:r>
          </a:p>
          <a:p>
            <a:pPr>
              <a:buFont typeface="Arial" pitchFamily="34" charset="0"/>
              <a:buChar char="•"/>
            </a:pPr>
            <a:r>
              <a:rPr lang="en-AU" baseline="0" dirty="0" smtClean="0"/>
              <a:t>Get them to identify menu items that require further interpretation based on the points in this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81600762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other assistance is commonly required?</a:t>
            </a: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413283758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Participants to practice giving information based on a menu chosen by the trainer.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65062005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Participants to practice giving recommendations based on a menu chosen by the trainer.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63158847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what pieces of information are helpful to customers.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92291714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cues that the customer is ready to order?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49664742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steps associated with taking an order?</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75591414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63380418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4222245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dirty="0" smtClean="0"/>
              <a:t>Discuss the</a:t>
            </a:r>
            <a:r>
              <a:rPr lang="en-AU" sz="1200" baseline="0" dirty="0" smtClean="0"/>
              <a:t> advantages and disadvantages of using these methods and when they would best be used:</a:t>
            </a:r>
            <a:endParaRPr lang="en-AU" sz="1200" dirty="0" smtClean="0"/>
          </a:p>
          <a:p>
            <a:pPr lvl="0">
              <a:buFont typeface="Arial" pitchFamily="34" charset="0"/>
              <a:buChar char="•"/>
            </a:pPr>
            <a:r>
              <a:rPr lang="en-AU" sz="1200" dirty="0" smtClean="0"/>
              <a:t>Remember orders,</a:t>
            </a:r>
            <a:r>
              <a:rPr lang="en-AU" sz="1200" baseline="0" dirty="0" smtClean="0"/>
              <a:t> r</a:t>
            </a:r>
            <a:r>
              <a:rPr lang="en-AU" sz="1200" dirty="0" smtClean="0"/>
              <a:t>elying solely on their memory, as is the case at most bars and in some restaurants </a:t>
            </a:r>
          </a:p>
          <a:p>
            <a:pPr lvl="0">
              <a:buFont typeface="Arial" pitchFamily="34" charset="0"/>
              <a:buChar char="•"/>
            </a:pPr>
            <a:r>
              <a:rPr lang="en-AU" sz="1200" dirty="0" smtClean="0"/>
              <a:t>Record orders on paper-based order forms, such as waiter’s dockets and order pads</a:t>
            </a:r>
          </a:p>
          <a:p>
            <a:pPr lvl="0">
              <a:buFont typeface="Arial" pitchFamily="34" charset="0"/>
              <a:buChar char="•"/>
            </a:pPr>
            <a:r>
              <a:rPr lang="en-AU" sz="1200" dirty="0" smtClean="0"/>
              <a:t>Record orders using electronic means such as small hand-held computers (PDAs – Personal Digital Assistants) which also send the orders to the kitchen or bar and interface with point-of-sale registers to facilitate account tracking, processing and payment.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233201746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r>
              <a:rPr lang="en-AU" sz="1200" dirty="0" smtClean="0"/>
              <a:t>Demonstrate the</a:t>
            </a:r>
            <a:r>
              <a:rPr lang="en-AU" sz="1200" baseline="0" dirty="0" smtClean="0"/>
              <a:t> steps associated with taking an order.</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58730400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lvl="0"/>
            <a:r>
              <a:rPr lang="en-AU" sz="1200" dirty="0" smtClean="0"/>
              <a:t>Demonstrate the</a:t>
            </a:r>
            <a:r>
              <a:rPr lang="en-AU" sz="1200" baseline="0" dirty="0" smtClean="0"/>
              <a:t> steps associated with taking an order.</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27731194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the different degrees of doneness:</a:t>
            </a:r>
          </a:p>
          <a:p>
            <a:pPr lvl="0">
              <a:buFont typeface="Arial" pitchFamily="34" charset="0"/>
              <a:buChar char="•"/>
            </a:pPr>
            <a:r>
              <a:rPr lang="en-AU" sz="1200" kern="1200" dirty="0" smtClean="0">
                <a:solidFill>
                  <a:schemeClr val="tx1"/>
                </a:solidFill>
                <a:latin typeface="+mn-lt"/>
                <a:ea typeface="+mn-ea"/>
                <a:cs typeface="+mn-cs"/>
              </a:rPr>
              <a:t>Blue - steak is seared on both sides then served</a:t>
            </a:r>
          </a:p>
          <a:p>
            <a:pPr lvl="0">
              <a:buFont typeface="Arial" pitchFamily="34" charset="0"/>
              <a:buChar char="•"/>
            </a:pPr>
            <a:r>
              <a:rPr lang="en-AU" sz="1200" kern="1200" dirty="0" smtClean="0">
                <a:solidFill>
                  <a:schemeClr val="tx1"/>
                </a:solidFill>
                <a:latin typeface="+mn-lt"/>
                <a:ea typeface="+mn-ea"/>
                <a:cs typeface="+mn-cs"/>
              </a:rPr>
              <a:t>Rare - steak is served when browned on both sides, and meat still contains blood</a:t>
            </a:r>
          </a:p>
          <a:p>
            <a:pPr lvl="0">
              <a:buFont typeface="Arial" pitchFamily="34" charset="0"/>
              <a:buChar char="•"/>
            </a:pPr>
            <a:r>
              <a:rPr lang="en-AU" sz="1200" kern="1200" dirty="0" smtClean="0">
                <a:solidFill>
                  <a:schemeClr val="tx1"/>
                </a:solidFill>
                <a:latin typeface="+mn-lt"/>
                <a:ea typeface="+mn-ea"/>
                <a:cs typeface="+mn-cs"/>
              </a:rPr>
              <a:t>Medium rare - steak has less blood than a rare steak, though blood is still just present</a:t>
            </a:r>
          </a:p>
          <a:p>
            <a:pPr lvl="0">
              <a:buFont typeface="Arial" pitchFamily="34" charset="0"/>
              <a:buChar char="•"/>
            </a:pPr>
            <a:r>
              <a:rPr lang="en-AU" sz="1200" kern="1200" dirty="0" smtClean="0">
                <a:solidFill>
                  <a:schemeClr val="tx1"/>
                </a:solidFill>
                <a:latin typeface="+mn-lt"/>
                <a:ea typeface="+mn-ea"/>
                <a:cs typeface="+mn-cs"/>
              </a:rPr>
              <a:t>Medium to well-done - steak is cooked all the way through, no sign of blood</a:t>
            </a:r>
          </a:p>
          <a:p>
            <a:pPr lvl="0">
              <a:buFont typeface="Arial" pitchFamily="34" charset="0"/>
              <a:buChar char="•"/>
            </a:pPr>
            <a:r>
              <a:rPr lang="en-AU" sz="1200" kern="1200" dirty="0" smtClean="0">
                <a:solidFill>
                  <a:schemeClr val="tx1"/>
                </a:solidFill>
                <a:latin typeface="+mn-lt"/>
                <a:ea typeface="+mn-ea"/>
                <a:cs typeface="+mn-cs"/>
              </a:rPr>
              <a:t>Well-done: steak is cooked very well – a little burnt on the outside and definitely no sign of blood.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126616140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the differences between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generic brands – e.g. coke?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common generic drinks – whisky, gin?</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94645829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a ‘house/pour’ brand?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decides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have them?</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224042964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the importance</a:t>
            </a:r>
            <a:r>
              <a:rPr lang="en-AU" sz="1200" b="0" kern="1200" baseline="0" dirty="0" smtClean="0">
                <a:solidFill>
                  <a:schemeClr val="tx1"/>
                </a:solidFill>
                <a:latin typeface="+mn-lt"/>
                <a:ea typeface="+mn-ea"/>
                <a:cs typeface="+mn-cs"/>
              </a:rPr>
              <a:t> of o</a:t>
            </a:r>
            <a:r>
              <a:rPr lang="en-AU" sz="1200" b="0" kern="1200" dirty="0" smtClean="0">
                <a:solidFill>
                  <a:schemeClr val="tx1"/>
                </a:solidFill>
                <a:latin typeface="+mn-lt"/>
                <a:ea typeface="+mn-ea"/>
                <a:cs typeface="+mn-cs"/>
              </a:rPr>
              <a:t>perating ordering systems.</a:t>
            </a:r>
          </a:p>
          <a:p>
            <a:endParaRPr lang="en-AU" sz="1200" b="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All transactions should be undertaken within establishment guidelines relating to:</a:t>
            </a:r>
          </a:p>
          <a:p>
            <a:pPr lvl="0">
              <a:buFont typeface="Arial" pitchFamily="34" charset="0"/>
              <a:buChar char="•"/>
            </a:pPr>
            <a:r>
              <a:rPr lang="en-AU" sz="1200" kern="1200" dirty="0" smtClean="0">
                <a:solidFill>
                  <a:schemeClr val="tx1"/>
                </a:solidFill>
                <a:latin typeface="+mn-lt"/>
                <a:ea typeface="+mn-ea"/>
                <a:cs typeface="+mn-cs"/>
              </a:rPr>
              <a:t>Honesty and integrity.</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address not charging for items that were not delivered or not charging person X for something that person Y received</a:t>
            </a:r>
          </a:p>
          <a:p>
            <a:pPr lvl="0">
              <a:buFont typeface="Arial" pitchFamily="34" charset="0"/>
              <a:buChar char="•"/>
            </a:pPr>
            <a:r>
              <a:rPr lang="en-AU" sz="1200" kern="1200" dirty="0" smtClean="0">
                <a:solidFill>
                  <a:schemeClr val="tx1"/>
                </a:solidFill>
                <a:latin typeface="+mn-lt"/>
                <a:ea typeface="+mn-ea"/>
                <a:cs typeface="+mn-cs"/>
              </a:rPr>
              <a:t>Accuracy – checking all entries, extensions, additions and other calculations to make sure that the customer isn’t over-charged and that the venue captures all the revenue to which it is legitimately entitled</a:t>
            </a:r>
          </a:p>
          <a:p>
            <a:pPr lvl="0">
              <a:buFont typeface="Arial" pitchFamily="34" charset="0"/>
              <a:buChar char="•"/>
            </a:pPr>
            <a:r>
              <a:rPr lang="en-AU" sz="1200" kern="1200" dirty="0" smtClean="0">
                <a:solidFill>
                  <a:schemeClr val="tx1"/>
                </a:solidFill>
                <a:latin typeface="+mn-lt"/>
                <a:ea typeface="+mn-ea"/>
                <a:cs typeface="+mn-cs"/>
              </a:rPr>
              <a:t>Speed – ensuring that accounts are compiled and presented in a timely manner consistent with honesty and accuracy. Never sacrifice accuracy for speed</a:t>
            </a:r>
          </a:p>
          <a:p>
            <a:pPr lvl="0">
              <a:buFont typeface="Arial" pitchFamily="34" charset="0"/>
              <a:buChar char="•"/>
            </a:pPr>
            <a:r>
              <a:rPr lang="en-AU" sz="1200" kern="1200" dirty="0" smtClean="0">
                <a:solidFill>
                  <a:schemeClr val="tx1"/>
                </a:solidFill>
                <a:latin typeface="+mn-lt"/>
                <a:ea typeface="+mn-ea"/>
                <a:cs typeface="+mn-cs"/>
              </a:rPr>
              <a:t>Explanation and description of charges – fully detailing the nature of all charges so that no confusion or suspicion about charges exists</a:t>
            </a:r>
          </a:p>
          <a:p>
            <a:pPr lvl="0">
              <a:buFont typeface="Arial" pitchFamily="34" charset="0"/>
              <a:buChar char="•"/>
            </a:pPr>
            <a:r>
              <a:rPr lang="en-AU" sz="1200" kern="1200" dirty="0" smtClean="0">
                <a:solidFill>
                  <a:schemeClr val="tx1"/>
                </a:solidFill>
                <a:latin typeface="+mn-lt"/>
                <a:ea typeface="+mn-ea"/>
                <a:cs typeface="+mn-cs"/>
              </a:rPr>
              <a:t>Customer service – treating customers with the courtesy they merit in relation to the taking of the order, processing of the order and presentation of the account for payment.</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388631798"/>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Demonstration and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describe the benefits and methods of using each method of taking orders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participants should practice taking orders using each type of ordering system.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530618033"/>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businesses are very good at doing this?</a:t>
            </a:r>
          </a:p>
          <a:p>
            <a:pPr>
              <a:buFont typeface="Arial" pitchFamily="34" charset="0"/>
              <a:buChar char="•"/>
            </a:pPr>
            <a:r>
              <a:rPr lang="en-AU" sz="1200" b="0" kern="1200" dirty="0" smtClean="0">
                <a:solidFill>
                  <a:schemeClr val="tx1"/>
                </a:solidFill>
                <a:latin typeface="+mn-lt"/>
                <a:ea typeface="+mn-ea"/>
                <a:cs typeface="+mn-cs"/>
              </a:rPr>
              <a:t>What are specific items that you can sell as additional items?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3698079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What businesses are very good at doing this?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45971122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provide a brief introduction to wine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Provide explanation why certain wines do with certain types of food.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6022984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these food and wine combinations</a:t>
            </a:r>
          </a:p>
          <a:p>
            <a:endParaRPr lang="en-AU" dirty="0" smtClean="0"/>
          </a:p>
          <a:p>
            <a:pPr>
              <a:buFont typeface="Arial" pitchFamily="34" charset="0"/>
              <a:buChar char="•"/>
            </a:pPr>
            <a:r>
              <a:rPr lang="en-AU" dirty="0" smtClean="0"/>
              <a:t>Why</a:t>
            </a:r>
            <a:r>
              <a:rPr lang="en-AU" baseline="0" dirty="0" smtClean="0"/>
              <a:t> are these combinations regarded as appropriate?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51224066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these food and wine combinations</a:t>
            </a:r>
          </a:p>
          <a:p>
            <a:endParaRPr lang="en-AU" dirty="0" smtClean="0"/>
          </a:p>
          <a:p>
            <a:pPr>
              <a:buFont typeface="Arial" pitchFamily="34" charset="0"/>
              <a:buChar char="•"/>
            </a:pPr>
            <a:r>
              <a:rPr lang="en-AU" dirty="0" smtClean="0"/>
              <a:t>Why</a:t>
            </a:r>
            <a:r>
              <a:rPr lang="en-AU" baseline="0" dirty="0" smtClean="0"/>
              <a:t> are these combinations regarded as appropriate?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409027042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question in the slide.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0268740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points.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8857095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points.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414754523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points. </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211390980"/>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the importance of</a:t>
            </a:r>
            <a:r>
              <a:rPr lang="en-AU" sz="1200" b="0" kern="1200" baseline="0" dirty="0" smtClean="0">
                <a:solidFill>
                  <a:schemeClr val="tx1"/>
                </a:solidFill>
                <a:latin typeface="+mn-lt"/>
                <a:ea typeface="+mn-ea"/>
                <a:cs typeface="+mn-cs"/>
              </a:rPr>
              <a:t> handling dietary considerations.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356495298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types of special dietary needs:</a:t>
            </a:r>
          </a:p>
          <a:p>
            <a:pPr lvl="0">
              <a:buFont typeface="Arial" pitchFamily="34" charset="0"/>
              <a:buChar char="•"/>
            </a:pPr>
            <a:r>
              <a:rPr lang="en-AU" sz="1200" kern="1200" dirty="0" smtClean="0">
                <a:solidFill>
                  <a:schemeClr val="tx1"/>
                </a:solidFill>
                <a:latin typeface="+mn-lt"/>
                <a:ea typeface="+mn-ea"/>
                <a:cs typeface="+mn-cs"/>
              </a:rPr>
              <a:t>Vegetarian requests.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probably the most common dietary-related request.</a:t>
            </a:r>
          </a:p>
          <a:p>
            <a:pPr lvl="0">
              <a:buFont typeface="Arial" pitchFamily="34" charset="0"/>
              <a:buChar char="•"/>
            </a:pPr>
            <a:r>
              <a:rPr lang="en-AU" sz="1200" kern="1200" dirty="0" smtClean="0">
                <a:solidFill>
                  <a:schemeClr val="tx1"/>
                </a:solidFill>
                <a:latin typeface="+mn-lt"/>
                <a:ea typeface="+mn-ea"/>
                <a:cs typeface="+mn-cs"/>
              </a:rPr>
              <a:t>Lacto-ova vegetarians/Ova-lacto vegetarians.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are the majority of ‘vegetarians’. They eat dairy products and eggs but not meat of any kind, including red and white meat, poultry or fish</a:t>
            </a:r>
          </a:p>
          <a:p>
            <a:pPr lvl="0">
              <a:buFont typeface="Arial" pitchFamily="34" charset="0"/>
              <a:buChar char="•"/>
            </a:pPr>
            <a:r>
              <a:rPr lang="en-AU" sz="1200" kern="1200" dirty="0" smtClean="0">
                <a:solidFill>
                  <a:schemeClr val="tx1"/>
                </a:solidFill>
                <a:latin typeface="+mn-lt"/>
                <a:ea typeface="+mn-ea"/>
                <a:cs typeface="+mn-cs"/>
              </a:rPr>
              <a:t>Lacto-vegetarians.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hey don’t eat meat, poultry or fish. They don’t eat eggs but they eat dairy products</a:t>
            </a:r>
          </a:p>
          <a:p>
            <a:pPr lvl="0">
              <a:buFont typeface="Arial" pitchFamily="34" charset="0"/>
              <a:buChar char="•"/>
            </a:pPr>
            <a:r>
              <a:rPr lang="en-AU" sz="1200" kern="1200" dirty="0" smtClean="0">
                <a:solidFill>
                  <a:schemeClr val="tx1"/>
                </a:solidFill>
                <a:latin typeface="+mn-lt"/>
                <a:ea typeface="+mn-ea"/>
                <a:cs typeface="+mn-cs"/>
              </a:rPr>
              <a:t>Pescatarians – people who don’t eat meat, poultry or animal flesh but do eat fish</a:t>
            </a:r>
          </a:p>
          <a:p>
            <a:pPr lvl="0">
              <a:buFont typeface="Arial" pitchFamily="34" charset="0"/>
              <a:buChar char="•"/>
            </a:pPr>
            <a:r>
              <a:rPr lang="en-AU" sz="1200" kern="1200" dirty="0" smtClean="0">
                <a:solidFill>
                  <a:schemeClr val="tx1"/>
                </a:solidFill>
                <a:latin typeface="+mn-lt"/>
                <a:ea typeface="+mn-ea"/>
                <a:cs typeface="+mn-cs"/>
              </a:rPr>
              <a:t>Vegan.</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definition is open to various definitions so it is best to check exactly what. The diner means when they say they are a ‘vegan’. Generally a vegan can be seen as anyone who doesn’t eat meat, poultry, fish, eggs or dairy products and doesn’t eat foods derived from animals such as gelatine. The person may also stipulate that they are served only raw/unprocessed foods, or foods that have not reached a tempera­ture of above 46ºC (because they believe foods above this temperature have had some of their dietary goodness removed or be harmful to the human body).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51064756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types of special dietary needs:</a:t>
            </a:r>
          </a:p>
          <a:p>
            <a:pPr lvl="0">
              <a:buFont typeface="Arial" pitchFamily="34" charset="0"/>
              <a:buChar char="•"/>
            </a:pPr>
            <a:r>
              <a:rPr lang="en-AU" sz="1200" kern="1200" dirty="0" smtClean="0">
                <a:solidFill>
                  <a:schemeClr val="tx1"/>
                </a:solidFill>
                <a:latin typeface="+mn-lt"/>
                <a:ea typeface="+mn-ea"/>
                <a:cs typeface="+mn-cs"/>
              </a:rPr>
              <a:t>Requests for low-salt meals</a:t>
            </a:r>
          </a:p>
          <a:p>
            <a:pPr lvl="0">
              <a:buFont typeface="Arial" pitchFamily="34" charset="0"/>
              <a:buChar char="•"/>
            </a:pPr>
            <a:r>
              <a:rPr lang="en-AU" sz="1200" kern="1200" dirty="0" smtClean="0">
                <a:solidFill>
                  <a:schemeClr val="tx1"/>
                </a:solidFill>
                <a:latin typeface="+mn-lt"/>
                <a:ea typeface="+mn-ea"/>
                <a:cs typeface="+mn-cs"/>
              </a:rPr>
              <a:t>Requests for low-sugar or no sugar meals for diabetics</a:t>
            </a:r>
          </a:p>
          <a:p>
            <a:pPr lvl="0">
              <a:buFont typeface="Arial" pitchFamily="34" charset="0"/>
              <a:buChar char="•"/>
            </a:pPr>
            <a:r>
              <a:rPr lang="en-AU" sz="1200" kern="1200" dirty="0" smtClean="0">
                <a:solidFill>
                  <a:schemeClr val="tx1"/>
                </a:solidFill>
                <a:latin typeface="+mn-lt"/>
                <a:ea typeface="+mn-ea"/>
                <a:cs typeface="+mn-cs"/>
              </a:rPr>
              <a:t>Requests for lactose-reduced milk for those who are lactose intolerant</a:t>
            </a:r>
          </a:p>
          <a:p>
            <a:pPr lvl="0">
              <a:buFont typeface="Arial" pitchFamily="34" charset="0"/>
              <a:buChar char="•"/>
            </a:pPr>
            <a:r>
              <a:rPr lang="en-AU" sz="1200" kern="1200" dirty="0" smtClean="0">
                <a:solidFill>
                  <a:schemeClr val="tx1"/>
                </a:solidFill>
                <a:latin typeface="+mn-lt"/>
                <a:ea typeface="+mn-ea"/>
                <a:cs typeface="+mn-cs"/>
              </a:rPr>
              <a:t>Requests for gluten-free food from patrons who have celiac disease </a:t>
            </a:r>
          </a:p>
          <a:p>
            <a:pPr>
              <a:buFont typeface="Arial" pitchFamily="34" charset="0"/>
              <a:buChar char="•"/>
            </a:pPr>
            <a:r>
              <a:rPr lang="en-AU" sz="1200" kern="1200" dirty="0" smtClean="0">
                <a:solidFill>
                  <a:schemeClr val="tx1"/>
                </a:solidFill>
                <a:latin typeface="+mn-lt"/>
                <a:ea typeface="+mn-ea"/>
                <a:cs typeface="+mn-cs"/>
              </a:rPr>
              <a:t>Requests for a macrobiotic diet for those who are especially health-focussed they will request unprocessed vegan foods, no oil and no sugar.</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13952545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examples of where information needs to be personally discussed with a chef or bartender?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85650791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Discuss information that may need to be relayed.</a:t>
            </a:r>
          </a:p>
          <a:p>
            <a:r>
              <a:rPr lang="en-AU" sz="1200" kern="1200" dirty="0" smtClean="0">
                <a:solidFill>
                  <a:schemeClr val="tx1"/>
                </a:solidFill>
                <a:latin typeface="+mn-lt"/>
                <a:ea typeface="+mn-ea"/>
                <a:cs typeface="+mn-cs"/>
              </a:rPr>
              <a:t>Information that may need to be relayed involves:</a:t>
            </a:r>
          </a:p>
          <a:p>
            <a:pPr lvl="0">
              <a:buFont typeface="Arial" pitchFamily="34" charset="0"/>
              <a:buChar char="•"/>
            </a:pPr>
            <a:r>
              <a:rPr lang="en-AU" sz="1200" kern="1200" dirty="0" smtClean="0">
                <a:solidFill>
                  <a:schemeClr val="tx1"/>
                </a:solidFill>
                <a:latin typeface="+mn-lt"/>
                <a:ea typeface="+mn-ea"/>
                <a:cs typeface="+mn-cs"/>
              </a:rPr>
              <a:t>Timing issues – informing the kitchen/bar of those who are in a hurry, or those who want to stretch their meal out over several hours</a:t>
            </a:r>
          </a:p>
          <a:p>
            <a:pPr lvl="0">
              <a:buFont typeface="Arial" pitchFamily="34" charset="0"/>
              <a:buChar char="•"/>
            </a:pPr>
            <a:r>
              <a:rPr lang="en-AU" sz="1200" kern="1200" dirty="0" smtClean="0">
                <a:solidFill>
                  <a:schemeClr val="tx1"/>
                </a:solidFill>
                <a:latin typeface="+mn-lt"/>
                <a:ea typeface="+mn-ea"/>
                <a:cs typeface="+mn-cs"/>
              </a:rPr>
              <a:t>Coordination of service – telling the bar about the food that a table has ordered so that wines selected to accompany certain dishes can be presented, opened and served before the food has been served. It is very annoying and disappointing for a guest to choose a special wine to accompany their fish main course only to find that wine is served when they are half-way through that dish</a:t>
            </a:r>
          </a:p>
          <a:p>
            <a:pPr lvl="0">
              <a:buFont typeface="Arial" pitchFamily="34" charset="0"/>
              <a:buChar char="•"/>
            </a:pPr>
            <a:r>
              <a:rPr lang="en-AU" sz="1200" kern="1200" dirty="0" smtClean="0">
                <a:solidFill>
                  <a:schemeClr val="tx1"/>
                </a:solidFill>
                <a:latin typeface="+mn-lt"/>
                <a:ea typeface="+mn-ea"/>
                <a:cs typeface="+mn-cs"/>
              </a:rPr>
              <a:t>Cultural issues – notifying the kitchen/bar of cultural food and drink needs. Sometimes patrons expect you to know what these needs, but in other instances individuals will advise you of what they want</a:t>
            </a:r>
          </a:p>
          <a:p>
            <a:pPr lvl="0">
              <a:buFont typeface="Arial" pitchFamily="34" charset="0"/>
              <a:buChar char="•"/>
            </a:pPr>
            <a:r>
              <a:rPr lang="en-AU" sz="1200" kern="1200" dirty="0" smtClean="0">
                <a:solidFill>
                  <a:schemeClr val="tx1"/>
                </a:solidFill>
                <a:latin typeface="+mn-lt"/>
                <a:ea typeface="+mn-ea"/>
                <a:cs typeface="+mn-cs"/>
              </a:rPr>
              <a:t>Dietary requirements </a:t>
            </a:r>
          </a:p>
          <a:p>
            <a:pPr lvl="0">
              <a:buFont typeface="Arial" pitchFamily="34" charset="0"/>
              <a:buChar char="•"/>
            </a:pPr>
            <a:r>
              <a:rPr lang="en-AU" sz="1200" kern="1200" dirty="0" smtClean="0">
                <a:solidFill>
                  <a:schemeClr val="tx1"/>
                </a:solidFill>
                <a:latin typeface="+mn-lt"/>
                <a:ea typeface="+mn-ea"/>
                <a:cs typeface="+mn-cs"/>
              </a:rPr>
              <a:t>Special requests in relation to serve size, extra this, no that or a special way of cooking that is not listed on the menu</a:t>
            </a:r>
          </a:p>
          <a:p>
            <a:pPr lvl="0">
              <a:buFont typeface="Arial" pitchFamily="34" charset="0"/>
              <a:buChar char="•"/>
            </a:pPr>
            <a:r>
              <a:rPr lang="en-AU" sz="1200" kern="1200" dirty="0" smtClean="0">
                <a:solidFill>
                  <a:schemeClr val="tx1"/>
                </a:solidFill>
                <a:latin typeface="+mn-lt"/>
                <a:ea typeface="+mn-ea"/>
                <a:cs typeface="+mn-cs"/>
              </a:rPr>
              <a:t>How steaks are to be cooked</a:t>
            </a:r>
          </a:p>
          <a:p>
            <a:pPr lvl="0">
              <a:buFont typeface="Arial" pitchFamily="34" charset="0"/>
              <a:buChar char="•"/>
            </a:pPr>
            <a:r>
              <a:rPr lang="en-AU" sz="1200" kern="1200" dirty="0" smtClean="0">
                <a:solidFill>
                  <a:schemeClr val="tx1"/>
                </a:solidFill>
                <a:latin typeface="+mn-lt"/>
                <a:ea typeface="+mn-ea"/>
                <a:cs typeface="+mn-cs"/>
              </a:rPr>
              <a:t>Entrees required as main courses or vice versa</a:t>
            </a:r>
          </a:p>
          <a:p>
            <a:pPr lvl="0">
              <a:buFont typeface="Arial" pitchFamily="34" charset="0"/>
              <a:buChar char="•"/>
            </a:pPr>
            <a:r>
              <a:rPr lang="en-AU" sz="1200" kern="1200" dirty="0" smtClean="0">
                <a:solidFill>
                  <a:schemeClr val="tx1"/>
                </a:solidFill>
                <a:latin typeface="+mn-lt"/>
                <a:ea typeface="+mn-ea"/>
                <a:cs typeface="+mn-cs"/>
              </a:rPr>
              <a:t>Explanation of tables and their orders.</a:t>
            </a:r>
            <a:r>
              <a:rPr lang="en-AU" sz="1200" kern="1200" baseline="0" dirty="0" smtClean="0">
                <a:solidFill>
                  <a:schemeClr val="tx1"/>
                </a:solidFill>
                <a:latin typeface="+mn-lt"/>
                <a:ea typeface="+mn-ea"/>
                <a:cs typeface="+mn-cs"/>
              </a:rPr>
              <a:t> F</a:t>
            </a:r>
            <a:r>
              <a:rPr lang="en-AU" sz="1200" kern="1200" dirty="0" smtClean="0">
                <a:solidFill>
                  <a:schemeClr val="tx1"/>
                </a:solidFill>
                <a:latin typeface="+mn-lt"/>
                <a:ea typeface="+mn-ea"/>
                <a:cs typeface="+mn-cs"/>
              </a:rPr>
              <a:t>or example a table of six people where four are having entrees,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three are having soup and two are not having soup or entrees, what is required and when.</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12673350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the normal process for adjusting settings?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92483015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glasses are normally set at the table?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remove glasses?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30755669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each of these items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use them?</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161775682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steps for adjusting covers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may demonstrate explaining steps.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71005145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392958873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common food items that are served?</a:t>
            </a:r>
          </a:p>
          <a:p>
            <a:pPr>
              <a:buFont typeface="Arial" pitchFamily="34" charset="0"/>
              <a:buChar char="•"/>
            </a:pPr>
            <a:r>
              <a:rPr lang="en-AU" sz="1200" kern="1200" baseline="0" dirty="0" smtClean="0">
                <a:solidFill>
                  <a:schemeClr val="tx1"/>
                </a:solidFill>
                <a:latin typeface="+mn-lt"/>
                <a:ea typeface="+mn-ea"/>
                <a:cs typeface="+mn-cs"/>
              </a:rPr>
              <a:t>What are the steps associated with serving and clearing food?</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15980996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7179821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1738173697"/>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other suitable substitutes?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40156894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what to look for when collecting food.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60160337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how to carry and place food at the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1825830879"/>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that this check takes place?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Besides asking customers if they are happy, what else should waiters be looking for?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94313809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some specific items you can recommend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would you do this?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50322626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else can you identify when a customer may want something?</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93146562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266664606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would make you happy as a customer?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happens to charges?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56805351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Answer the questions in this 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1871066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530704964"/>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242521873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The trainer should demonstrate how to clear a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45930390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r>
              <a:rPr lang="en-AU" sz="1200" kern="1200" baseline="0" dirty="0" smtClean="0">
                <a:solidFill>
                  <a:schemeClr val="tx1"/>
                </a:solidFill>
                <a:latin typeface="+mn-lt"/>
                <a:ea typeface="+mn-ea"/>
                <a:cs typeface="+mn-cs"/>
              </a:rPr>
              <a:t>What are common drinks that are served?</a:t>
            </a:r>
          </a:p>
          <a:p>
            <a:r>
              <a:rPr lang="en-AU" sz="1200" kern="1200" baseline="0" dirty="0" smtClean="0">
                <a:solidFill>
                  <a:schemeClr val="tx1"/>
                </a:solidFill>
                <a:latin typeface="+mn-lt"/>
                <a:ea typeface="+mn-ea"/>
                <a:cs typeface="+mn-cs"/>
              </a:rPr>
              <a:t>What are tips for serving drinks to customers?</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178180067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52763210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what to look for when collecting beverages.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404646143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should demonstrate how to load and carry trays and to deliver drinks to the table.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304602816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questions in the 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3647056363"/>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Label – legible and intact</a:t>
            </a:r>
          </a:p>
          <a:p>
            <a:pPr lvl="0">
              <a:buFont typeface="Arial" pitchFamily="34" charset="0"/>
              <a:buChar char="•"/>
            </a:pPr>
            <a:r>
              <a:rPr lang="en-AU" sz="1200" dirty="0" smtClean="0"/>
              <a:t>Top near the cork/seal – intact and entire </a:t>
            </a:r>
          </a:p>
          <a:p>
            <a:pPr lvl="0">
              <a:buFont typeface="Arial" pitchFamily="34" charset="0"/>
              <a:buChar char="•"/>
            </a:pPr>
            <a:r>
              <a:rPr lang="en-AU" sz="1200" dirty="0" smtClean="0"/>
              <a:t>Bottle top – clean and not leaking</a:t>
            </a:r>
          </a:p>
          <a:p>
            <a:pPr lvl="0">
              <a:buFont typeface="Arial" pitchFamily="34" charset="0"/>
              <a:buChar char="•"/>
            </a:pPr>
            <a:r>
              <a:rPr lang="en-AU" sz="1200" dirty="0" smtClean="0"/>
              <a:t>Nothing floating in solution – as best as can be identified</a:t>
            </a:r>
          </a:p>
          <a:p>
            <a:pPr lvl="0">
              <a:buFont typeface="Arial" pitchFamily="34" charset="0"/>
              <a:buChar char="•"/>
            </a:pPr>
            <a:r>
              <a:rPr lang="en-AU" sz="1200" dirty="0" smtClean="0"/>
              <a:t>Overall condition of the glass – not cracked, not leaking.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981368637"/>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Why is it important to check the selection</a:t>
            </a:r>
            <a:r>
              <a:rPr lang="en-AU" sz="1200" baseline="0" dirty="0" smtClean="0"/>
              <a:t> with the customer?</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410468225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Show</a:t>
            </a:r>
            <a:r>
              <a:rPr lang="en-AU" sz="1200" baseline="0" dirty="0" smtClean="0"/>
              <a:t> each item and discuss it’ importance and use.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1660481370"/>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a:t>
            </a:r>
            <a:r>
              <a:rPr lang="en-AU" sz="1200" baseline="0" dirty="0" smtClean="0"/>
              <a:t> and demonstrate the steps for opening these different types of wine.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275200408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specialist coffees do you know?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liqueur is in them?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192034525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Explain the process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Explain the steps associated with these different procedure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If possible demonstrate to audience.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u="non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291260394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Questions and Review beverage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the difference between these types of beverages?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are they served to the customer?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1112417596"/>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Maintenance of the service of beverages as they are intended to be.</a:t>
            </a:r>
            <a:r>
              <a:rPr lang="en-AU" sz="1200" baseline="0" dirty="0" smtClean="0"/>
              <a:t> C</a:t>
            </a:r>
            <a:r>
              <a:rPr lang="en-AU" sz="1200" dirty="0" smtClean="0"/>
              <a:t>ustomers get cold drinks that are cold and hot drinks that are hot</a:t>
            </a:r>
          </a:p>
          <a:p>
            <a:pPr>
              <a:buFont typeface="Arial" pitchFamily="34" charset="0"/>
              <a:buChar char="•"/>
            </a:pPr>
            <a:r>
              <a:rPr lang="en-AU" sz="1200" dirty="0" smtClean="0"/>
              <a:t>Delivery of high levels of customer service.</a:t>
            </a:r>
            <a:r>
              <a:rPr lang="en-AU" sz="1200" baseline="0" dirty="0" smtClean="0"/>
              <a:t> W</a:t>
            </a:r>
            <a:r>
              <a:rPr lang="en-AU" sz="1200" dirty="0" smtClean="0"/>
              <a:t>here the drinks are part of a takeaway service, a prime requirement for these takeaway customers is speed of service as well as taste, value for</a:t>
            </a:r>
            <a:r>
              <a:rPr lang="en-AU" sz="1200" baseline="0" dirty="0" smtClean="0"/>
              <a:t> </a:t>
            </a:r>
            <a:r>
              <a:rPr lang="en-AU" sz="1200" dirty="0" smtClean="0"/>
              <a:t>money</a:t>
            </a:r>
            <a:r>
              <a:rPr lang="en-AU" sz="1200" baseline="0" dirty="0" smtClean="0"/>
              <a:t> </a:t>
            </a:r>
            <a:r>
              <a:rPr lang="en-AU" sz="1200" dirty="0" smtClean="0"/>
              <a:t>etc.</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3574433320"/>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these</a:t>
            </a:r>
            <a:r>
              <a:rPr lang="en-AU" sz="1200" baseline="0" dirty="0" smtClean="0"/>
              <a:t> points.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2964026557"/>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these</a:t>
            </a:r>
            <a:r>
              <a:rPr lang="en-AU" sz="1200" baseline="0" dirty="0" smtClean="0"/>
              <a:t> points.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32396321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questions in this slide.</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67771389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steps associated with presenting and settling the customer account?</a:t>
            </a:r>
          </a:p>
          <a:p>
            <a:pPr>
              <a:buFont typeface="Arial" pitchFamily="34" charset="0"/>
              <a:buChar char="•"/>
            </a:pPr>
            <a:r>
              <a:rPr lang="en-AU" sz="1200" kern="1200" baseline="0" dirty="0" smtClean="0">
                <a:solidFill>
                  <a:schemeClr val="tx1"/>
                </a:solidFill>
                <a:latin typeface="+mn-lt"/>
                <a:ea typeface="+mn-ea"/>
                <a:cs typeface="+mn-cs"/>
              </a:rPr>
              <a:t>How can customers settle an account?</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914872616"/>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817812062"/>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explain</a:t>
            </a:r>
            <a:r>
              <a:rPr lang="en-US" b="0" baseline="0" dirty="0" smtClean="0"/>
              <a:t> processes and guidelines to accurately process accounts.</a:t>
            </a:r>
          </a:p>
          <a:p>
            <a:pPr marL="228600" indent="-228600"/>
            <a:endParaRPr lang="en-US" b="1" baseline="0" dirty="0" smtClean="0"/>
          </a:p>
          <a:p>
            <a:r>
              <a:rPr lang="en-US" sz="1200" kern="1200" dirty="0" smtClean="0">
                <a:solidFill>
                  <a:schemeClr val="tx1"/>
                </a:solidFill>
                <a:latin typeface="Helvetica" pitchFamily="34" charset="0"/>
                <a:ea typeface="+mn-ea"/>
                <a:cs typeface="+mn-cs"/>
              </a:rPr>
              <a:t>Trainee,</a:t>
            </a:r>
            <a:r>
              <a:rPr lang="en-US" sz="1200" kern="1200" baseline="0" dirty="0" smtClean="0">
                <a:solidFill>
                  <a:schemeClr val="tx1"/>
                </a:solidFill>
                <a:latin typeface="Helvetica" pitchFamily="34" charset="0"/>
                <a:ea typeface="+mn-ea"/>
                <a:cs typeface="+mn-cs"/>
              </a:rPr>
              <a:t> where applicable, to practice.</a:t>
            </a:r>
            <a:endParaRPr lang="en-US" sz="1200" kern="1200" dirty="0" smtClean="0">
              <a:solidFill>
                <a:schemeClr val="tx1"/>
              </a:solidFill>
              <a:latin typeface="Helvetica" pitchFamily="34" charset="0"/>
              <a:ea typeface="+mn-ea"/>
              <a:cs typeface="+mn-cs"/>
            </a:endParaRPr>
          </a:p>
          <a:p>
            <a:pPr lvl="0">
              <a:buFont typeface="Arial" pitchFamily="34" charset="0"/>
              <a:buNone/>
            </a:pPr>
            <a:endParaRPr lang="en-US" sz="1200" kern="1200" dirty="0" smtClean="0">
              <a:solidFill>
                <a:schemeClr val="tx1"/>
              </a:solidFill>
              <a:latin typeface="Helvetica" pitchFamily="34" charset="0"/>
              <a:ea typeface="+mn-ea"/>
              <a:cs typeface="+mn-cs"/>
            </a:endParaRPr>
          </a:p>
          <a:p>
            <a:endParaRPr lang="en-AU" b="1" dirty="0" smtClean="0"/>
          </a:p>
          <a:p>
            <a:pPr lvl="0">
              <a:buFont typeface="Arial" pitchFamily="34" charset="0"/>
              <a:buNone/>
            </a:pPr>
            <a:endParaRPr lang="en-US" sz="1200" kern="1200" dirty="0" smtClean="0">
              <a:solidFill>
                <a:schemeClr val="tx1"/>
              </a:solidFill>
              <a:latin typeface="Helvetica" pitchFamily="34" charset="0"/>
              <a:ea typeface="+mn-ea"/>
              <a:cs typeface="+mn-cs"/>
            </a:endParaRPr>
          </a:p>
          <a:p>
            <a:endParaRPr lang="en-AU"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3849882105"/>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r>
              <a:rPr lang="en-US" b="1" dirty="0" smtClean="0"/>
              <a:t>Activity:</a:t>
            </a:r>
            <a:r>
              <a:rPr lang="en-US" b="1" baseline="0" dirty="0" smtClean="0"/>
              <a:t> Demonstration and explanation</a:t>
            </a:r>
          </a:p>
          <a:p>
            <a:pPr marL="228600" indent="-228600"/>
            <a:endParaRPr lang="en-US" b="1" dirty="0" smtClean="0"/>
          </a:p>
          <a:p>
            <a:pPr marL="228600" indent="-228600"/>
            <a:r>
              <a:rPr lang="en-US" b="0" dirty="0" smtClean="0"/>
              <a:t>Trainer to explain</a:t>
            </a:r>
            <a:r>
              <a:rPr lang="en-US" b="0" baseline="0" dirty="0" smtClean="0"/>
              <a:t> the role of account folders when presenting accounts.</a:t>
            </a:r>
          </a:p>
          <a:p>
            <a:pPr marL="228600" indent="-228600"/>
            <a:endParaRPr lang="en-US" b="1" baseline="0" dirty="0" smtClean="0"/>
          </a:p>
          <a:p>
            <a:r>
              <a:rPr lang="en-US" sz="1200" kern="1200" dirty="0" smtClean="0">
                <a:solidFill>
                  <a:schemeClr val="tx1"/>
                </a:solidFill>
                <a:latin typeface="Helvetica" pitchFamily="34" charset="0"/>
                <a:ea typeface="+mn-ea"/>
                <a:cs typeface="+mn-cs"/>
              </a:rPr>
              <a:t>Trainee,</a:t>
            </a:r>
            <a:r>
              <a:rPr lang="en-US" sz="1200" kern="1200" baseline="0" dirty="0" smtClean="0">
                <a:solidFill>
                  <a:schemeClr val="tx1"/>
                </a:solidFill>
                <a:latin typeface="Helvetica" pitchFamily="34" charset="0"/>
                <a:ea typeface="+mn-ea"/>
                <a:cs typeface="+mn-cs"/>
              </a:rPr>
              <a:t> where applicable, to practice.</a:t>
            </a:r>
            <a:endParaRPr lang="en-US" sz="1200" kern="1200" dirty="0" smtClean="0">
              <a:solidFill>
                <a:schemeClr val="tx1"/>
              </a:solidFill>
              <a:latin typeface="Helvetica" pitchFamily="34" charset="0"/>
              <a:ea typeface="+mn-ea"/>
              <a:cs typeface="+mn-cs"/>
            </a:endParaRPr>
          </a:p>
          <a:p>
            <a:pPr marL="228600" indent="-228600"/>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2007873790"/>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these security measures.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329226619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these security measures.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379692959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ways in which an account can be paid for:</a:t>
            </a:r>
          </a:p>
          <a:p>
            <a:endParaRPr lang="en-US" b="1" dirty="0" smtClean="0"/>
          </a:p>
          <a:p>
            <a:pPr>
              <a:buFontTx/>
              <a:buChar char="•"/>
            </a:pPr>
            <a:r>
              <a:rPr lang="en-US" dirty="0" smtClean="0"/>
              <a:t>Cash</a:t>
            </a:r>
          </a:p>
          <a:p>
            <a:pPr>
              <a:buFontTx/>
              <a:buChar char="•"/>
            </a:pPr>
            <a:r>
              <a:rPr lang="en-US" dirty="0" smtClean="0"/>
              <a:t>Credit card – manual and electronic</a:t>
            </a:r>
          </a:p>
          <a:p>
            <a:pPr>
              <a:buFontTx/>
              <a:buChar char="•"/>
            </a:pPr>
            <a:r>
              <a:rPr lang="en-US" dirty="0" smtClean="0"/>
              <a:t>Using EFTPOS. Explain EFTPOS</a:t>
            </a:r>
            <a:r>
              <a:rPr lang="en-US" baseline="0" dirty="0" smtClean="0"/>
              <a:t> is ‘Electronic Funds Transfer at Point of Sale’</a:t>
            </a:r>
            <a:endParaRPr lang="en-US" dirty="0" smtClean="0"/>
          </a:p>
          <a:p>
            <a:pPr>
              <a:buFontTx/>
              <a:buChar char="•"/>
            </a:pPr>
            <a:r>
              <a:rPr lang="en-US" dirty="0" smtClean="0"/>
              <a:t>House</a:t>
            </a:r>
            <a:r>
              <a:rPr lang="en-US" baseline="0" dirty="0" smtClean="0"/>
              <a:t>/VIP account</a:t>
            </a:r>
            <a:endParaRPr lang="en-US" dirty="0" smtClean="0"/>
          </a:p>
          <a:p>
            <a:pPr>
              <a:buFontTx/>
              <a:buChar char="•"/>
            </a:pPr>
            <a:r>
              <a:rPr lang="en-US" dirty="0" smtClean="0"/>
              <a:t>Presentation of voucher</a:t>
            </a:r>
          </a:p>
          <a:p>
            <a:pPr>
              <a:buFontTx/>
              <a:buChar char="•"/>
            </a:pPr>
            <a:r>
              <a:rPr lang="en-US" dirty="0" smtClean="0"/>
              <a:t>Payment by check – personal and traveler’s check.</a:t>
            </a:r>
          </a:p>
          <a:p>
            <a:pPr>
              <a:buFontTx/>
              <a:buChar char="•"/>
            </a:pPr>
            <a:endParaRPr lang="en-US" dirty="0" smtClean="0"/>
          </a:p>
          <a:p>
            <a:pPr>
              <a:buFontTx/>
              <a:buNone/>
            </a:pPr>
            <a:r>
              <a:rPr lang="en-US" b="1" dirty="0" smtClean="0"/>
              <a:t>Activity –</a:t>
            </a:r>
            <a:r>
              <a:rPr lang="en-US" b="1" baseline="0" dirty="0" smtClean="0"/>
              <a:t> demonstration and practice (relates to next slides)</a:t>
            </a:r>
          </a:p>
          <a:p>
            <a:pPr>
              <a:buFontTx/>
              <a:buNone/>
            </a:pPr>
            <a:endParaRPr lang="en-US" dirty="0" smtClean="0"/>
          </a:p>
          <a:p>
            <a:r>
              <a:rPr lang="en-US" b="0" dirty="0" smtClean="0"/>
              <a:t>Trainer notes these options may vary between properties.</a:t>
            </a:r>
          </a:p>
          <a:p>
            <a:r>
              <a:rPr lang="en-US" b="0" dirty="0" smtClean="0"/>
              <a:t>Trainer demonstrates processing of payment in the simulated restaurant using the above options.</a:t>
            </a:r>
          </a:p>
          <a:p>
            <a:r>
              <a:rPr lang="en-US" b="0" dirty="0" smtClean="0"/>
              <a:t>Trainees practice each processing payments using each listed option</a:t>
            </a:r>
            <a:r>
              <a:rPr lang="en-AU" b="0" dirty="0" smtClean="0"/>
              <a:t>.</a:t>
            </a: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128305532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procedure</a:t>
            </a:r>
            <a:r>
              <a:rPr lang="en-US" b="1" baseline="0" dirty="0" smtClean="0"/>
              <a:t> for accepting cash payments.</a:t>
            </a:r>
            <a:endParaRPr lang="en-US" b="1" dirty="0" smtClean="0"/>
          </a:p>
          <a:p>
            <a:endParaRPr lang="en-US" b="1" dirty="0" smtClean="0"/>
          </a:p>
          <a:p>
            <a:r>
              <a:rPr lang="en-US" sz="1200" kern="1200" dirty="0" smtClean="0">
                <a:solidFill>
                  <a:schemeClr val="tx1"/>
                </a:solidFill>
                <a:latin typeface="Helvetica" pitchFamily="34" charset="0"/>
                <a:ea typeface="+mn-ea"/>
                <a:cs typeface="+mn-cs"/>
              </a:rPr>
              <a:t>Discuss</a:t>
            </a:r>
            <a:r>
              <a:rPr lang="en-US" sz="1200" kern="1200" baseline="0" dirty="0" smtClean="0">
                <a:solidFill>
                  <a:schemeClr val="tx1"/>
                </a:solidFill>
                <a:latin typeface="Helvetica" pitchFamily="34" charset="0"/>
                <a:ea typeface="+mn-ea"/>
                <a:cs typeface="+mn-cs"/>
              </a:rPr>
              <a:t>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328504132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the procedure</a:t>
            </a:r>
            <a:r>
              <a:rPr lang="en-US" b="1" baseline="0" dirty="0" smtClean="0"/>
              <a:t> for accepting payments made by credit card or EFTPOS.</a:t>
            </a:r>
            <a:endParaRPr lang="en-US" b="1" dirty="0" smtClean="0"/>
          </a:p>
          <a:p>
            <a:endParaRPr lang="en-US" b="1" dirty="0" smtClean="0"/>
          </a:p>
          <a:p>
            <a:r>
              <a:rPr lang="en-US" sz="1200" kern="1200" dirty="0" smtClean="0">
                <a:solidFill>
                  <a:schemeClr val="tx1"/>
                </a:solidFill>
                <a:latin typeface="Helvetica" pitchFamily="34" charset="0"/>
                <a:ea typeface="+mn-ea"/>
                <a:cs typeface="+mn-cs"/>
              </a:rPr>
              <a:t>Discuss</a:t>
            </a:r>
            <a:r>
              <a:rPr lang="en-US" sz="1200" kern="1200" baseline="0" dirty="0" smtClean="0">
                <a:solidFill>
                  <a:schemeClr val="tx1"/>
                </a:solidFill>
                <a:latin typeface="Helvetica" pitchFamily="34" charset="0"/>
                <a:ea typeface="+mn-ea"/>
                <a:cs typeface="+mn-cs"/>
              </a:rPr>
              <a:t>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2953042807"/>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when customers</a:t>
            </a:r>
            <a:r>
              <a:rPr lang="en-US" b="1" baseline="0" dirty="0" smtClean="0"/>
              <a:t> may charge a house, room or VIP account.</a:t>
            </a:r>
            <a:endParaRPr lang="en-US" b="1" dirty="0" smtClean="0"/>
          </a:p>
          <a:p>
            <a:endParaRPr lang="en-US" b="1" dirty="0" smtClean="0"/>
          </a:p>
          <a:p>
            <a:r>
              <a:rPr lang="en-US" sz="1200" kern="1200" dirty="0" smtClean="0">
                <a:solidFill>
                  <a:schemeClr val="tx1"/>
                </a:solidFill>
                <a:latin typeface="Helvetica" pitchFamily="34" charset="0"/>
                <a:ea typeface="+mn-ea"/>
                <a:cs typeface="+mn-cs"/>
              </a:rPr>
              <a:t>Discuss points</a:t>
            </a:r>
            <a:r>
              <a:rPr lang="en-US" sz="1200" kern="1200" baseline="0" dirty="0" smtClean="0">
                <a:solidFill>
                  <a:schemeClr val="tx1"/>
                </a:solidFill>
                <a:latin typeface="Helvetica" pitchFamily="34" charset="0"/>
                <a:ea typeface="+mn-ea"/>
                <a:cs typeface="+mn-cs"/>
              </a:rPr>
              <a:t> and explain the processes used for handling house accounts.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280800282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when customers</a:t>
            </a:r>
            <a:r>
              <a:rPr lang="en-US" b="1" baseline="0" dirty="0" smtClean="0"/>
              <a:t> present vouchers as a form of account settlement.</a:t>
            </a:r>
            <a:endParaRPr lang="en-US" b="1" dirty="0" smtClean="0"/>
          </a:p>
          <a:p>
            <a:endParaRPr lang="en-US" b="1" dirty="0" smtClean="0"/>
          </a:p>
          <a:p>
            <a:r>
              <a:rPr lang="en-US" sz="1200" kern="1200" dirty="0" smtClean="0">
                <a:solidFill>
                  <a:schemeClr val="tx1"/>
                </a:solidFill>
                <a:latin typeface="Helvetica" pitchFamily="34" charset="0"/>
                <a:ea typeface="+mn-ea"/>
                <a:cs typeface="+mn-cs"/>
              </a:rPr>
              <a:t>Discuss points</a:t>
            </a:r>
            <a:r>
              <a:rPr lang="en-US" sz="1200" kern="1200" baseline="0" dirty="0" smtClean="0">
                <a:solidFill>
                  <a:schemeClr val="tx1"/>
                </a:solidFill>
                <a:latin typeface="Helvetica" pitchFamily="34" charset="0"/>
                <a:ea typeface="+mn-ea"/>
                <a:cs typeface="+mn-cs"/>
              </a:rPr>
              <a:t> and explain the processes used for handling vouchers.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2909249138"/>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how tips are handle</a:t>
            </a:r>
            <a:r>
              <a:rPr lang="en-US" b="1" baseline="0" dirty="0" smtClean="0"/>
              <a:t>d and distributed in an outlet.</a:t>
            </a:r>
            <a:endParaRPr lang="en-US"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1041579123"/>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identifies how and demonstrates how to issue change and present receipts.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208795810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activities take place to assist the customer as they leave the establishment after their meal?</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107457833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158912894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Discussion</a:t>
            </a:r>
          </a:p>
          <a:p>
            <a:endParaRPr lang="en-US" b="1" dirty="0" smtClean="0"/>
          </a:p>
          <a:p>
            <a:r>
              <a:rPr lang="en-US" b="0" dirty="0" smtClean="0"/>
              <a:t>Discuss</a:t>
            </a:r>
            <a:r>
              <a:rPr lang="en-US" b="0" baseline="0" dirty="0" smtClean="0"/>
              <a:t> the importance of these points.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3041463858"/>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Discussion</a:t>
            </a:r>
          </a:p>
          <a:p>
            <a:endParaRPr lang="en-US" b="1" dirty="0" smtClean="0"/>
          </a:p>
          <a:p>
            <a:r>
              <a:rPr lang="en-US" b="0" dirty="0" smtClean="0"/>
              <a:t>Discuss</a:t>
            </a:r>
            <a:r>
              <a:rPr lang="en-US" b="0" baseline="0" dirty="0" smtClean="0"/>
              <a:t> the importance of these points.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1664560430"/>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Discussion</a:t>
            </a:r>
          </a:p>
          <a:p>
            <a:endParaRPr lang="en-US" b="1" dirty="0" smtClean="0"/>
          </a:p>
          <a:p>
            <a:r>
              <a:rPr lang="en-US" b="0" dirty="0" smtClean="0"/>
              <a:t>Discuss</a:t>
            </a:r>
            <a:r>
              <a:rPr lang="en-US" b="0" baseline="0" dirty="0" smtClean="0"/>
              <a:t> the importance of these points.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338799257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points in this slide including their importance.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164139559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activities are associated with the closing down of the outlet at the end of service?</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305477373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425670565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extLst>
      <p:ext uri="{BB962C8B-B14F-4D97-AF65-F5344CB8AC3E}">
        <p14:creationId xmlns:p14="http://schemas.microsoft.com/office/powerpoint/2010/main" val="3074861719"/>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Trainer to discuss the activities associated under each point</a:t>
            </a: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extLst>
      <p:ext uri="{BB962C8B-B14F-4D97-AF65-F5344CB8AC3E}">
        <p14:creationId xmlns:p14="http://schemas.microsoft.com/office/powerpoint/2010/main" val="3478474933"/>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Trainer to discuss the types of equipment to be cleaned in each of these areas</a:t>
            </a: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extLst>
      <p:ext uri="{BB962C8B-B14F-4D97-AF65-F5344CB8AC3E}">
        <p14:creationId xmlns:p14="http://schemas.microsoft.com/office/powerpoint/2010/main" val="382970577"/>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Discuss</a:t>
            </a:r>
            <a:r>
              <a:rPr lang="en-AU" sz="1200" b="1" kern="1200" baseline="0" dirty="0" smtClean="0">
                <a:solidFill>
                  <a:schemeClr val="tx1"/>
                </a:solidFill>
                <a:latin typeface="+mn-lt"/>
                <a:ea typeface="+mn-ea"/>
                <a:cs typeface="+mn-cs"/>
              </a:rPr>
              <a:t> these steps when handling used linen items</a:t>
            </a:r>
          </a:p>
          <a:p>
            <a:endParaRPr lang="en-AU" sz="105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Regardless of whether linen is owned or hired by the hotel it must be:</a:t>
            </a:r>
          </a:p>
          <a:p>
            <a:pPr lvl="0" fontAlgn="ctr">
              <a:buFont typeface="Arial" pitchFamily="34" charset="0"/>
              <a:buChar char="•"/>
            </a:pPr>
            <a:r>
              <a:rPr lang="en-US" sz="1200" kern="1200" dirty="0" smtClean="0">
                <a:solidFill>
                  <a:schemeClr val="tx1"/>
                </a:solidFill>
                <a:latin typeface="+mn-lt"/>
                <a:ea typeface="+mn-ea"/>
                <a:cs typeface="+mn-cs"/>
              </a:rPr>
              <a:t>Collected.</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hey are normally collected and placed in one location, central to all tables</a:t>
            </a:r>
            <a:endParaRPr lang="en-AU" sz="1200" kern="1200" dirty="0" smtClean="0">
              <a:solidFill>
                <a:schemeClr val="tx1"/>
              </a:solidFill>
              <a:latin typeface="+mn-lt"/>
              <a:ea typeface="+mn-ea"/>
              <a:cs typeface="+mn-cs"/>
            </a:endParaRPr>
          </a:p>
          <a:p>
            <a:pPr lvl="0" fontAlgn="ctr">
              <a:buFont typeface="Arial" pitchFamily="34" charset="0"/>
              <a:buChar char="•"/>
            </a:pPr>
            <a:r>
              <a:rPr lang="en-US" sz="1200" kern="1200" dirty="0" smtClean="0">
                <a:solidFill>
                  <a:schemeClr val="tx1"/>
                </a:solidFill>
                <a:latin typeface="+mn-lt"/>
                <a:ea typeface="+mn-ea"/>
                <a:cs typeface="+mn-cs"/>
              </a:rPr>
              <a:t>Sorted into different types of linen including:</a:t>
            </a:r>
            <a:endParaRPr lang="en-AU" sz="1200" kern="1200" dirty="0" smtClean="0">
              <a:solidFill>
                <a:schemeClr val="tx1"/>
              </a:solidFill>
              <a:latin typeface="+mn-lt"/>
              <a:ea typeface="+mn-ea"/>
              <a:cs typeface="+mn-cs"/>
            </a:endParaRPr>
          </a:p>
          <a:p>
            <a:pPr lvl="1" fontAlgn="ctr">
              <a:buFont typeface="Arial" pitchFamily="34" charset="0"/>
              <a:buChar char="•"/>
            </a:pPr>
            <a:r>
              <a:rPr lang="en-US" sz="1200" kern="1200" dirty="0" smtClean="0">
                <a:solidFill>
                  <a:schemeClr val="tx1"/>
                </a:solidFill>
                <a:latin typeface="+mn-lt"/>
                <a:ea typeface="+mn-ea"/>
                <a:cs typeface="+mn-cs"/>
              </a:rPr>
              <a:t>Napkins</a:t>
            </a:r>
            <a:endParaRPr lang="en-AU" sz="1200" kern="1200" dirty="0" smtClean="0">
              <a:solidFill>
                <a:schemeClr val="tx1"/>
              </a:solidFill>
              <a:latin typeface="+mn-lt"/>
              <a:ea typeface="+mn-ea"/>
              <a:cs typeface="+mn-cs"/>
            </a:endParaRPr>
          </a:p>
          <a:p>
            <a:pPr lvl="1" fontAlgn="ctr">
              <a:buFont typeface="Arial" pitchFamily="34" charset="0"/>
              <a:buChar char="•"/>
            </a:pPr>
            <a:r>
              <a:rPr lang="en-US" sz="1200" kern="1200" dirty="0" smtClean="0">
                <a:solidFill>
                  <a:schemeClr val="tx1"/>
                </a:solidFill>
                <a:latin typeface="+mn-lt"/>
                <a:ea typeface="+mn-ea"/>
                <a:cs typeface="+mn-cs"/>
              </a:rPr>
              <a:t>Table linen</a:t>
            </a:r>
            <a:endParaRPr lang="en-AU" sz="1200" kern="1200" dirty="0" smtClean="0">
              <a:solidFill>
                <a:schemeClr val="tx1"/>
              </a:solidFill>
              <a:latin typeface="+mn-lt"/>
              <a:ea typeface="+mn-ea"/>
              <a:cs typeface="+mn-cs"/>
            </a:endParaRPr>
          </a:p>
          <a:p>
            <a:pPr lvl="1" fontAlgn="ctr">
              <a:buFont typeface="Arial" pitchFamily="34" charset="0"/>
              <a:buChar char="•"/>
            </a:pPr>
            <a:r>
              <a:rPr lang="en-US" sz="1200" kern="1200" dirty="0" smtClean="0">
                <a:solidFill>
                  <a:schemeClr val="tx1"/>
                </a:solidFill>
                <a:latin typeface="+mn-lt"/>
                <a:ea typeface="+mn-ea"/>
                <a:cs typeface="+mn-cs"/>
              </a:rPr>
              <a:t>Service cloths</a:t>
            </a:r>
            <a:endParaRPr lang="en-AU" sz="1200" kern="1200" dirty="0" smtClean="0">
              <a:solidFill>
                <a:schemeClr val="tx1"/>
              </a:solidFill>
              <a:latin typeface="+mn-lt"/>
              <a:ea typeface="+mn-ea"/>
              <a:cs typeface="+mn-cs"/>
            </a:endParaRPr>
          </a:p>
          <a:p>
            <a:pPr lvl="1" fontAlgn="ctr">
              <a:buFont typeface="Arial" pitchFamily="34" charset="0"/>
              <a:buChar char="•"/>
            </a:pPr>
            <a:r>
              <a:rPr lang="en-US" sz="1200" kern="1200" dirty="0" smtClean="0">
                <a:solidFill>
                  <a:schemeClr val="tx1"/>
                </a:solidFill>
                <a:latin typeface="+mn-lt"/>
                <a:ea typeface="+mn-ea"/>
                <a:cs typeface="+mn-cs"/>
              </a:rPr>
              <a:t>Cleaning cloths</a:t>
            </a:r>
            <a:endParaRPr lang="en-AU" sz="1200" kern="1200" dirty="0" smtClean="0">
              <a:solidFill>
                <a:schemeClr val="tx1"/>
              </a:solidFill>
              <a:latin typeface="+mn-lt"/>
              <a:ea typeface="+mn-ea"/>
              <a:cs typeface="+mn-cs"/>
            </a:endParaRPr>
          </a:p>
          <a:p>
            <a:pPr lvl="0" fontAlgn="ctr">
              <a:buFont typeface="Arial" pitchFamily="34" charset="0"/>
              <a:buChar char="•"/>
            </a:pPr>
            <a:r>
              <a:rPr lang="en-US" sz="1200" kern="1200" dirty="0" smtClean="0">
                <a:solidFill>
                  <a:schemeClr val="tx1"/>
                </a:solidFill>
                <a:latin typeface="+mn-lt"/>
                <a:ea typeface="+mn-ea"/>
                <a:cs typeface="+mn-cs"/>
              </a:rPr>
              <a:t>Checked.</a:t>
            </a:r>
            <a:r>
              <a:rPr lang="en-US" sz="1200" kern="1200" baseline="0" dirty="0" smtClean="0">
                <a:solidFill>
                  <a:schemeClr val="tx1"/>
                </a:solidFill>
                <a:latin typeface="+mn-lt"/>
                <a:ea typeface="+mn-ea"/>
                <a:cs typeface="+mn-cs"/>
              </a:rPr>
              <a:t> A</a:t>
            </a:r>
            <a:r>
              <a:rPr lang="en-US" sz="1200" kern="1200" dirty="0" smtClean="0">
                <a:solidFill>
                  <a:schemeClr val="tx1"/>
                </a:solidFill>
                <a:latin typeface="+mn-lt"/>
                <a:ea typeface="+mn-ea"/>
                <a:cs typeface="+mn-cs"/>
              </a:rPr>
              <a:t>s part of the sorting process any linen deemed to be damaged or requiring special cleaning will be identified</a:t>
            </a:r>
            <a:endParaRPr lang="en-AU" sz="1200" kern="1200" dirty="0" smtClean="0">
              <a:solidFill>
                <a:schemeClr val="tx1"/>
              </a:solidFill>
              <a:latin typeface="+mn-lt"/>
              <a:ea typeface="+mn-ea"/>
              <a:cs typeface="+mn-cs"/>
            </a:endParaRPr>
          </a:p>
          <a:p>
            <a:pPr lvl="0" fontAlgn="ctr">
              <a:buFont typeface="Arial" pitchFamily="34" charset="0"/>
              <a:buChar char="•"/>
            </a:pPr>
            <a:r>
              <a:rPr lang="en-US" sz="1200" kern="1200" dirty="0" smtClean="0">
                <a:solidFill>
                  <a:schemeClr val="tx1"/>
                </a:solidFill>
                <a:latin typeface="+mn-lt"/>
                <a:ea typeface="+mn-ea"/>
                <a:cs typeface="+mn-cs"/>
              </a:rPr>
              <a:t>Counted.</a:t>
            </a:r>
            <a:r>
              <a:rPr lang="en-US" sz="1200" kern="1200" baseline="0" dirty="0" smtClean="0">
                <a:solidFill>
                  <a:schemeClr val="tx1"/>
                </a:solidFill>
                <a:latin typeface="+mn-lt"/>
                <a:ea typeface="+mn-ea"/>
                <a:cs typeface="+mn-cs"/>
              </a:rPr>
              <a:t> O</a:t>
            </a:r>
            <a:r>
              <a:rPr lang="en-US" sz="1200" kern="1200" dirty="0" smtClean="0">
                <a:solidFill>
                  <a:schemeClr val="tx1"/>
                </a:solidFill>
                <a:latin typeface="+mn-lt"/>
                <a:ea typeface="+mn-ea"/>
                <a:cs typeface="+mn-cs"/>
              </a:rPr>
              <a:t>nce items have been separated by category, they must be counted to ensure that they are all there. It is quite common for some linen to be thrown away or used by staff for general cleaning</a:t>
            </a:r>
            <a:endParaRPr lang="en-AU" sz="1200" kern="1200" dirty="0" smtClean="0">
              <a:solidFill>
                <a:schemeClr val="tx1"/>
              </a:solidFill>
              <a:latin typeface="+mn-lt"/>
              <a:ea typeface="+mn-ea"/>
              <a:cs typeface="+mn-cs"/>
            </a:endParaRPr>
          </a:p>
          <a:p>
            <a:pPr lvl="0" fontAlgn="ctr">
              <a:buFont typeface="Arial" pitchFamily="34" charset="0"/>
              <a:buChar char="•"/>
            </a:pPr>
            <a:r>
              <a:rPr lang="en-US" sz="1200" kern="1200" dirty="0" smtClean="0">
                <a:solidFill>
                  <a:schemeClr val="tx1"/>
                </a:solidFill>
                <a:latin typeface="+mn-lt"/>
                <a:ea typeface="+mn-ea"/>
                <a:cs typeface="+mn-cs"/>
              </a:rPr>
              <a:t>Separated.</a:t>
            </a:r>
            <a:r>
              <a:rPr lang="en-US" sz="1200" kern="1200" baseline="0" dirty="0" smtClean="0">
                <a:solidFill>
                  <a:schemeClr val="tx1"/>
                </a:solidFill>
                <a:latin typeface="+mn-lt"/>
                <a:ea typeface="+mn-ea"/>
                <a:cs typeface="+mn-cs"/>
              </a:rPr>
              <a:t> L</a:t>
            </a:r>
            <a:r>
              <a:rPr lang="en-US" sz="1200" kern="1200" dirty="0" smtClean="0">
                <a:solidFill>
                  <a:schemeClr val="tx1"/>
                </a:solidFill>
                <a:latin typeface="+mn-lt"/>
                <a:ea typeface="+mn-ea"/>
                <a:cs typeface="+mn-cs"/>
              </a:rPr>
              <a:t>inen that is owned by the hotel must be separated from that which has been hired for the occasion</a:t>
            </a:r>
            <a:endParaRPr lang="en-AU" sz="1200" kern="1200" dirty="0" smtClean="0">
              <a:solidFill>
                <a:schemeClr val="tx1"/>
              </a:solidFill>
              <a:latin typeface="+mn-lt"/>
              <a:ea typeface="+mn-ea"/>
              <a:cs typeface="+mn-cs"/>
            </a:endParaRPr>
          </a:p>
          <a:p>
            <a:pPr lvl="0" fontAlgn="ctr">
              <a:buFont typeface="Arial" pitchFamily="34" charset="0"/>
              <a:buChar char="•"/>
            </a:pPr>
            <a:r>
              <a:rPr lang="en-US" sz="1200" kern="1200" dirty="0" smtClean="0">
                <a:solidFill>
                  <a:schemeClr val="tx1"/>
                </a:solidFill>
                <a:latin typeface="+mn-lt"/>
                <a:ea typeface="+mn-ea"/>
                <a:cs typeface="+mn-cs"/>
              </a:rPr>
              <a:t>Forwarded to the appropriate location – whether an internal laundry or a secure waiting area for external companies to collect.</a:t>
            </a:r>
            <a:endParaRPr lang="en-AU" sz="1200" kern="1200" dirty="0" smtClean="0">
              <a:solidFill>
                <a:schemeClr val="tx1"/>
              </a:solidFill>
              <a:latin typeface="+mn-lt"/>
              <a:ea typeface="+mn-ea"/>
              <a:cs typeface="+mn-cs"/>
            </a:endParaRPr>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extLst>
      <p:ext uri="{BB962C8B-B14F-4D97-AF65-F5344CB8AC3E}">
        <p14:creationId xmlns:p14="http://schemas.microsoft.com/office/powerpoint/2010/main" val="34983688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Trainer to discuss the equipment to be stored</a:t>
            </a:r>
          </a:p>
          <a:p>
            <a:pPr marL="0" marR="0" lvl="0" indent="0" algn="l" defTabSz="914400" rtl="0" eaLnBrk="1" fontAlgn="base" latinLnBrk="0" hangingPunct="1">
              <a:lnSpc>
                <a:spcPct val="100000"/>
              </a:lnSpc>
              <a:spcBef>
                <a:spcPct val="30000"/>
              </a:spcBef>
              <a:spcAft>
                <a:spcPct val="0"/>
              </a:spcAft>
              <a:buClrTx/>
              <a:buSzTx/>
              <a:buFont typeface="Arial" pitchFamily="34" charset="0"/>
              <a:buChar char="•"/>
              <a:tabLst/>
              <a:defRPr/>
            </a:pPr>
            <a:r>
              <a:rPr lang="en-US" sz="1200" kern="1200" baseline="0" dirty="0" smtClean="0">
                <a:solidFill>
                  <a:schemeClr val="tx1"/>
                </a:solidFill>
                <a:latin typeface="Helvetica" pitchFamily="34" charset="0"/>
                <a:ea typeface="+mn-ea"/>
                <a:cs typeface="+mn-cs"/>
              </a:rPr>
              <a:t>Review relevant SOPs.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extLst>
      <p:ext uri="{BB962C8B-B14F-4D97-AF65-F5344CB8AC3E}">
        <p14:creationId xmlns:p14="http://schemas.microsoft.com/office/powerpoint/2010/main" val="4232790756"/>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Questions and review of SOPs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How often should these items be replenished?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extLst>
      <p:ext uri="{BB962C8B-B14F-4D97-AF65-F5344CB8AC3E}">
        <p14:creationId xmlns:p14="http://schemas.microsoft.com/office/powerpoint/2010/main" val="3030830425"/>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Describe the steps associated with completing a requisition form.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extLst>
      <p:ext uri="{BB962C8B-B14F-4D97-AF65-F5344CB8AC3E}">
        <p14:creationId xmlns:p14="http://schemas.microsoft.com/office/powerpoint/2010/main" val="1453555779"/>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Discuss the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extLst>
      <p:ext uri="{BB962C8B-B14F-4D97-AF65-F5344CB8AC3E}">
        <p14:creationId xmlns:p14="http://schemas.microsoft.com/office/powerpoint/2010/main" val="3059595366"/>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other policies and procedures that may apply to left over food?</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extLst>
      <p:ext uri="{BB962C8B-B14F-4D97-AF65-F5344CB8AC3E}">
        <p14:creationId xmlns:p14="http://schemas.microsoft.com/office/powerpoint/2010/main" val="3427917486"/>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Discuss the policies and procedures that may apply to left over food:</a:t>
            </a:r>
          </a:p>
          <a:p>
            <a:pPr lvl="0">
              <a:buFont typeface="Arial" pitchFamily="34" charset="0"/>
              <a:buChar char="•"/>
            </a:pPr>
            <a:r>
              <a:rPr lang="en-AU" sz="1200" dirty="0" smtClean="0"/>
              <a:t>Throwing out all leftover food.</a:t>
            </a:r>
            <a:r>
              <a:rPr lang="en-AU" sz="1200" baseline="0" dirty="0" smtClean="0"/>
              <a:t> S</a:t>
            </a:r>
            <a:r>
              <a:rPr lang="en-AU" sz="1200" dirty="0" smtClean="0"/>
              <a:t>ome properties have a standing rule that requires all leftover food to be disposed of</a:t>
            </a:r>
          </a:p>
          <a:p>
            <a:pPr lvl="0">
              <a:buFont typeface="Arial" pitchFamily="34" charset="0"/>
              <a:buChar char="•"/>
            </a:pPr>
            <a:r>
              <a:rPr lang="en-AU" sz="1200" dirty="0" smtClean="0"/>
              <a:t>Allowing staff to eat items that are left over.</a:t>
            </a:r>
            <a:r>
              <a:rPr lang="en-AU" sz="1200" baseline="0" dirty="0" smtClean="0"/>
              <a:t> S</a:t>
            </a:r>
            <a:r>
              <a:rPr lang="en-AU" sz="1200" dirty="0" smtClean="0"/>
              <a:t>ome properties may allow staff to tale left over food home with them but this should not be expected. Check with your supervisor first</a:t>
            </a:r>
          </a:p>
          <a:p>
            <a:pPr lvl="0">
              <a:buFont typeface="Arial" pitchFamily="34" charset="0"/>
              <a:buChar char="•"/>
            </a:pPr>
            <a:r>
              <a:rPr lang="en-AU" sz="1200" dirty="0" smtClean="0"/>
              <a:t>Requiring high cost items to be stored for later use but allowing low-cost items to be thrown out. This may mean that meat dishes are caved while vegetables are discarded</a:t>
            </a:r>
          </a:p>
          <a:p>
            <a:pPr lvl="0">
              <a:buFont typeface="Arial" pitchFamily="34" charset="0"/>
              <a:buChar char="•"/>
            </a:pPr>
            <a:r>
              <a:rPr lang="en-AU" sz="1200" dirty="0" smtClean="0"/>
              <a:t>Separating disposables from food waste.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extLst>
      <p:ext uri="{BB962C8B-B14F-4D97-AF65-F5344CB8AC3E}">
        <p14:creationId xmlns:p14="http://schemas.microsoft.com/office/powerpoint/2010/main" val="2900469345"/>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unused items.</a:t>
            </a:r>
            <a:endParaRPr lang="en-US" b="0" dirty="0" smtClean="0"/>
          </a:p>
          <a:p>
            <a:endParaRPr lang="en-US" sz="1200" kern="1200" dirty="0" smtClean="0">
              <a:solidFill>
                <a:schemeClr val="tx1"/>
              </a:solidFill>
              <a:latin typeface="Helvetica" pitchFamily="34" charset="0"/>
              <a:ea typeface="+mn-ea"/>
              <a:cs typeface="+mn-cs"/>
            </a:endParaRPr>
          </a:p>
          <a:p>
            <a:r>
              <a:rPr lang="en-US" sz="1200" kern="1200" dirty="0" smtClean="0">
                <a:solidFill>
                  <a:schemeClr val="tx1"/>
                </a:solidFill>
                <a:latin typeface="Helvetica" pitchFamily="34" charset="0"/>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extLst>
      <p:ext uri="{BB962C8B-B14F-4D97-AF65-F5344CB8AC3E}">
        <p14:creationId xmlns:p14="http://schemas.microsoft.com/office/powerpoint/2010/main" val="716054397"/>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disposables.</a:t>
            </a:r>
            <a:endParaRPr lang="en-US" b="0" dirty="0" smtClean="0"/>
          </a:p>
          <a:p>
            <a:endParaRPr lang="en-US" sz="1200" kern="1200" dirty="0" smtClean="0">
              <a:solidFill>
                <a:schemeClr val="tx1"/>
              </a:solidFill>
              <a:latin typeface="Helvetica" pitchFamily="34" charset="0"/>
              <a:ea typeface="+mn-ea"/>
              <a:cs typeface="+mn-cs"/>
            </a:endParaRPr>
          </a:p>
          <a:p>
            <a:r>
              <a:rPr lang="en-US" sz="1200" b="1" kern="1200" dirty="0" smtClean="0">
                <a:solidFill>
                  <a:schemeClr val="tx1"/>
                </a:solidFill>
                <a:latin typeface="Helvetica" pitchFamily="34" charset="0"/>
                <a:ea typeface="+mn-ea"/>
                <a:cs typeface="+mn-cs"/>
              </a:rPr>
              <a:t>Activity:</a:t>
            </a:r>
            <a:r>
              <a:rPr lang="en-US" sz="1200" b="1" kern="1200" baseline="0" dirty="0" smtClean="0">
                <a:solidFill>
                  <a:schemeClr val="tx1"/>
                </a:solidFill>
                <a:latin typeface="Helvetica" pitchFamily="34" charset="0"/>
                <a:ea typeface="+mn-ea"/>
                <a:cs typeface="+mn-cs"/>
              </a:rPr>
              <a:t> Discussion</a:t>
            </a:r>
          </a:p>
          <a:p>
            <a:endParaRPr lang="en-US" sz="1200" kern="1200" baseline="0" dirty="0" smtClean="0">
              <a:solidFill>
                <a:schemeClr val="tx1"/>
              </a:solidFill>
              <a:latin typeface="Helvetica" pitchFamily="34" charset="0"/>
              <a:ea typeface="+mn-ea"/>
              <a:cs typeface="+mn-cs"/>
            </a:endParaRPr>
          </a:p>
          <a:p>
            <a:r>
              <a:rPr lang="en-US" sz="1200" kern="1200" baseline="0" dirty="0" smtClean="0">
                <a:solidFill>
                  <a:schemeClr val="tx1"/>
                </a:solidFill>
                <a:latin typeface="Helvetica" pitchFamily="34" charset="0"/>
                <a:ea typeface="+mn-ea"/>
                <a:cs typeface="+mn-cs"/>
              </a:rPr>
              <a:t>a) How do you safely dispose of the following items:</a:t>
            </a:r>
            <a:endParaRPr lang="en-US" sz="1200" kern="1200" dirty="0" smtClean="0">
              <a:solidFill>
                <a:schemeClr val="tx1"/>
              </a:solidFill>
              <a:latin typeface="Helvetica" pitchFamily="34" charset="0"/>
              <a:ea typeface="+mn-ea"/>
              <a:cs typeface="+mn-cs"/>
            </a:endParaRPr>
          </a:p>
          <a:p>
            <a:pPr lvl="0">
              <a:buFont typeface="Arial" pitchFamily="34" charset="0"/>
              <a:buChar char="•"/>
            </a:pPr>
            <a:r>
              <a:rPr lang="en-US" sz="1200" kern="1200" dirty="0" smtClean="0">
                <a:solidFill>
                  <a:schemeClr val="tx1"/>
                </a:solidFill>
                <a:latin typeface="Helvetica" pitchFamily="34" charset="0"/>
                <a:ea typeface="+mn-ea"/>
                <a:cs typeface="+mn-cs"/>
              </a:rPr>
              <a:t>General waste</a:t>
            </a:r>
          </a:p>
          <a:p>
            <a:pPr lvl="0">
              <a:buFont typeface="Arial" pitchFamily="34" charset="0"/>
              <a:buChar char="•"/>
            </a:pPr>
            <a:r>
              <a:rPr lang="en-US" sz="1200" kern="1200" dirty="0" smtClean="0">
                <a:solidFill>
                  <a:schemeClr val="tx1"/>
                </a:solidFill>
                <a:latin typeface="Helvetica" pitchFamily="34" charset="0"/>
                <a:ea typeface="+mn-ea"/>
                <a:cs typeface="+mn-cs"/>
              </a:rPr>
              <a:t>Vegetable or organic matter</a:t>
            </a:r>
          </a:p>
          <a:p>
            <a:pPr lvl="0">
              <a:buFont typeface="Arial" pitchFamily="34" charset="0"/>
              <a:buChar char="•"/>
            </a:pPr>
            <a:r>
              <a:rPr lang="en-US" sz="1200" kern="1200" dirty="0" smtClean="0">
                <a:solidFill>
                  <a:schemeClr val="tx1"/>
                </a:solidFill>
                <a:latin typeface="Helvetica" pitchFamily="34" charset="0"/>
                <a:ea typeface="+mn-ea"/>
                <a:cs typeface="+mn-cs"/>
              </a:rPr>
              <a:t>Recyclables including paper, cardboard, glass and cartons</a:t>
            </a:r>
          </a:p>
          <a:p>
            <a:pPr lvl="0">
              <a:buFont typeface="Arial" pitchFamily="34" charset="0"/>
              <a:buChar char="•"/>
            </a:pPr>
            <a:r>
              <a:rPr lang="en-US" sz="1200" kern="1200" dirty="0" smtClean="0">
                <a:solidFill>
                  <a:schemeClr val="tx1"/>
                </a:solidFill>
                <a:latin typeface="Helvetica" pitchFamily="34" charset="0"/>
                <a:ea typeface="+mn-ea"/>
                <a:cs typeface="+mn-cs"/>
              </a:rPr>
              <a:t>Broken glass. </a:t>
            </a:r>
          </a:p>
          <a:p>
            <a:pPr lvl="0">
              <a:buFont typeface="Arial" pitchFamily="34" charset="0"/>
              <a:buChar char="•"/>
            </a:pPr>
            <a:r>
              <a:rPr lang="en-US" sz="1200" kern="1200" dirty="0" smtClean="0">
                <a:solidFill>
                  <a:schemeClr val="tx1"/>
                </a:solidFill>
                <a:latin typeface="Helvetica" pitchFamily="34" charset="0"/>
                <a:ea typeface="+mn-ea"/>
                <a:cs typeface="+mn-cs"/>
              </a:rPr>
              <a:t>Oils and hot liquids.</a:t>
            </a:r>
          </a:p>
          <a:p>
            <a:endParaRPr lang="en-US" sz="1200" kern="1200" dirty="0" smtClean="0">
              <a:solidFill>
                <a:schemeClr val="tx1"/>
              </a:solidFill>
              <a:latin typeface="Helvetica" pitchFamily="34" charset="0"/>
              <a:ea typeface="+mn-ea"/>
              <a:cs typeface="+mn-cs"/>
            </a:endParaRPr>
          </a:p>
          <a:p>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extLst>
      <p:ext uri="{BB962C8B-B14F-4D97-AF65-F5344CB8AC3E}">
        <p14:creationId xmlns:p14="http://schemas.microsoft.com/office/powerpoint/2010/main" val="70009243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0" dirty="0" smtClean="0"/>
              <a:t>Trainer to explain the importance of correct disposal</a:t>
            </a:r>
            <a:r>
              <a:rPr lang="en-US" b="0" baseline="0" dirty="0" smtClean="0"/>
              <a:t> of recyclables.</a:t>
            </a:r>
            <a:endParaRPr lang="en-US" b="0" dirty="0" smtClean="0"/>
          </a:p>
          <a:p>
            <a:endParaRPr lang="en-US" sz="1200" kern="1200" dirty="0" smtClean="0">
              <a:solidFill>
                <a:schemeClr val="tx1"/>
              </a:solidFill>
              <a:latin typeface="Helvetica" pitchFamily="34" charset="0"/>
              <a:ea typeface="+mn-ea"/>
              <a:cs typeface="+mn-cs"/>
            </a:endParaRPr>
          </a:p>
          <a:p>
            <a:r>
              <a:rPr lang="en-US" sz="1200" b="1" kern="1200" dirty="0" smtClean="0">
                <a:solidFill>
                  <a:schemeClr val="tx1"/>
                </a:solidFill>
                <a:latin typeface="Helvetica" pitchFamily="34" charset="0"/>
                <a:ea typeface="+mn-ea"/>
                <a:cs typeface="+mn-cs"/>
              </a:rPr>
              <a:t>Activity:</a:t>
            </a:r>
            <a:r>
              <a:rPr lang="en-US" sz="1200" b="1" kern="1200" baseline="0" dirty="0" smtClean="0">
                <a:solidFill>
                  <a:schemeClr val="tx1"/>
                </a:solidFill>
                <a:latin typeface="Helvetica" pitchFamily="34" charset="0"/>
                <a:ea typeface="+mn-ea"/>
                <a:cs typeface="+mn-cs"/>
              </a:rPr>
              <a:t> Discussion</a:t>
            </a:r>
          </a:p>
          <a:p>
            <a:endParaRPr lang="en-US" sz="1200" kern="1200" baseline="0" dirty="0" smtClean="0">
              <a:solidFill>
                <a:schemeClr val="tx1"/>
              </a:solidFill>
              <a:latin typeface="Helvetica" pitchFamily="34" charset="0"/>
              <a:ea typeface="+mn-ea"/>
              <a:cs typeface="+mn-cs"/>
            </a:endParaRPr>
          </a:p>
          <a:p>
            <a:r>
              <a:rPr lang="en-US" sz="1200" kern="1200" baseline="0" dirty="0" smtClean="0">
                <a:solidFill>
                  <a:schemeClr val="tx1"/>
                </a:solidFill>
                <a:latin typeface="Helvetica" pitchFamily="34" charset="0"/>
                <a:ea typeface="+mn-ea"/>
                <a:cs typeface="+mn-cs"/>
              </a:rPr>
              <a:t>How do you safely dispose of the following items?:</a:t>
            </a:r>
            <a:endParaRPr lang="en-US" sz="1200" kern="1200" dirty="0" smtClean="0">
              <a:solidFill>
                <a:schemeClr val="tx1"/>
              </a:solidFill>
              <a:latin typeface="Helvetica" pitchFamily="34" charset="0"/>
              <a:ea typeface="+mn-ea"/>
              <a:cs typeface="+mn-cs"/>
            </a:endParaRPr>
          </a:p>
          <a:p>
            <a:pPr marL="342900" indent="-342900">
              <a:spcBef>
                <a:spcPct val="20000"/>
              </a:spcBef>
              <a:buClr>
                <a:schemeClr val="accent1"/>
              </a:buClr>
              <a:buSzPct val="80000"/>
              <a:buFont typeface="Arial" pitchFamily="34" charset="0"/>
              <a:buChar char="•"/>
              <a:defRPr/>
            </a:pPr>
            <a:r>
              <a:rPr lang="en-US" sz="1200" dirty="0" smtClean="0"/>
              <a:t>Paper</a:t>
            </a:r>
          </a:p>
          <a:p>
            <a:pPr marL="342900" indent="-342900">
              <a:spcBef>
                <a:spcPct val="20000"/>
              </a:spcBef>
              <a:buClr>
                <a:schemeClr val="accent1"/>
              </a:buClr>
              <a:buSzPct val="80000"/>
              <a:buFont typeface="Arial" pitchFamily="34" charset="0"/>
              <a:buChar char="•"/>
              <a:defRPr/>
            </a:pPr>
            <a:r>
              <a:rPr lang="en-US" sz="1200" dirty="0" smtClean="0"/>
              <a:t>Cardboard</a:t>
            </a:r>
          </a:p>
          <a:p>
            <a:pPr marL="342900" indent="-342900">
              <a:spcBef>
                <a:spcPct val="20000"/>
              </a:spcBef>
              <a:buClr>
                <a:schemeClr val="accent1"/>
              </a:buClr>
              <a:buSzPct val="80000"/>
              <a:buFont typeface="Arial" pitchFamily="34" charset="0"/>
              <a:buChar char="•"/>
              <a:defRPr/>
            </a:pPr>
            <a:r>
              <a:rPr lang="en-US" sz="1200" dirty="0" smtClean="0"/>
              <a:t>Glass</a:t>
            </a:r>
          </a:p>
          <a:p>
            <a:pPr marL="342900" indent="-342900">
              <a:spcBef>
                <a:spcPct val="20000"/>
              </a:spcBef>
              <a:buClr>
                <a:schemeClr val="accent1"/>
              </a:buClr>
              <a:buSzPct val="80000"/>
              <a:buFont typeface="Arial" pitchFamily="34" charset="0"/>
              <a:buChar char="•"/>
              <a:defRPr/>
            </a:pPr>
            <a:r>
              <a:rPr lang="en-US" sz="1200" dirty="0" smtClean="0"/>
              <a:t>Plastic</a:t>
            </a:r>
          </a:p>
          <a:p>
            <a:pPr marL="342900" indent="-342900">
              <a:spcBef>
                <a:spcPct val="20000"/>
              </a:spcBef>
              <a:buClr>
                <a:schemeClr val="accent1"/>
              </a:buClr>
              <a:buSzPct val="80000"/>
              <a:buFont typeface="Arial" pitchFamily="34" charset="0"/>
              <a:buChar char="•"/>
              <a:defRPr/>
            </a:pPr>
            <a:r>
              <a:rPr lang="en-US" sz="1200" dirty="0" smtClean="0"/>
              <a:t>Cans.</a:t>
            </a:r>
          </a:p>
          <a:p>
            <a:endParaRPr lang="en-US" sz="1200" kern="1200" dirty="0" smtClean="0">
              <a:solidFill>
                <a:schemeClr val="tx1"/>
              </a:solidFill>
              <a:latin typeface="Helvetica" pitchFamily="34" charset="0"/>
              <a:ea typeface="+mn-ea"/>
              <a:cs typeface="+mn-cs"/>
            </a:endParaRPr>
          </a:p>
          <a:p>
            <a:endParaRPr lang="en-US" sz="1200" kern="1200" dirty="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extLst>
      <p:ext uri="{BB962C8B-B14F-4D97-AF65-F5344CB8AC3E}">
        <p14:creationId xmlns:p14="http://schemas.microsoft.com/office/powerpoint/2010/main" val="3449142407"/>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types of cleaning chemicals are used in a food and beverage outlet?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extLst>
      <p:ext uri="{BB962C8B-B14F-4D97-AF65-F5344CB8AC3E}">
        <p14:creationId xmlns:p14="http://schemas.microsoft.com/office/powerpoint/2010/main" val="1434838699"/>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existing policies and procedures support these steps?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extLst>
      <p:ext uri="{BB962C8B-B14F-4D97-AF65-F5344CB8AC3E}">
        <p14:creationId xmlns:p14="http://schemas.microsoft.com/office/powerpoint/2010/main" val="2192101067"/>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cleaning of glasses.</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extLst>
      <p:ext uri="{BB962C8B-B14F-4D97-AF65-F5344CB8AC3E}">
        <p14:creationId xmlns:p14="http://schemas.microsoft.com/office/powerpoint/2010/main" val="3821110658"/>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the importance of each step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demonstrate cleaning of crockery and cutlery.</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extLst>
      <p:ext uri="{BB962C8B-B14F-4D97-AF65-F5344CB8AC3E}">
        <p14:creationId xmlns:p14="http://schemas.microsoft.com/office/powerpoint/2010/main" val="2828834625"/>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areas to be cleared and cleaned.</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r>
              <a:rPr lang="en-AU" sz="1200" kern="1200" dirty="0" smtClean="0">
                <a:solidFill>
                  <a:schemeClr val="tx1"/>
                </a:solidFill>
                <a:latin typeface="+mn-lt"/>
                <a:ea typeface="+mn-ea"/>
                <a:cs typeface="+mn-cs"/>
              </a:rPr>
              <a:t>Some of those areas may include:</a:t>
            </a:r>
          </a:p>
          <a:p>
            <a:pPr lvl="0">
              <a:buFont typeface="Arial" pitchFamily="34" charset="0"/>
              <a:buChar char="•"/>
            </a:pPr>
            <a:r>
              <a:rPr lang="en-AU" sz="1200" kern="1200" dirty="0" smtClean="0">
                <a:solidFill>
                  <a:schemeClr val="tx1"/>
                </a:solidFill>
                <a:latin typeface="+mn-lt"/>
                <a:ea typeface="+mn-ea"/>
                <a:cs typeface="+mn-cs"/>
              </a:rPr>
              <a:t>Stripping tables,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including removal of all table items, and the tablecloth. Part of this process may include checking the seats of chairs to ensure they are clean and tidying the area immediately around each table. In some cases you may be required to put the chairs on the tables to facilitate a full clean of the floor by cleaners</a:t>
            </a:r>
          </a:p>
          <a:p>
            <a:pPr lvl="0">
              <a:buFont typeface="Arial" pitchFamily="34" charset="0"/>
              <a:buChar char="•"/>
            </a:pPr>
            <a:r>
              <a:rPr lang="en-AU" sz="1200" kern="1200" dirty="0" smtClean="0">
                <a:solidFill>
                  <a:schemeClr val="tx1"/>
                </a:solidFill>
                <a:latin typeface="+mn-lt"/>
                <a:ea typeface="+mn-ea"/>
                <a:cs typeface="+mn-cs"/>
              </a:rPr>
              <a:t>Around the coffee machine where coffee grounds and spillage are common, and there is normally a need to do a general ‘clean and tidy’. Where required, replacements and top-up of items such as coffee, sugar, crockery etc. should occur</a:t>
            </a:r>
          </a:p>
          <a:p>
            <a:pPr lvl="0">
              <a:buFont typeface="Arial" pitchFamily="34" charset="0"/>
              <a:buChar char="•"/>
            </a:pPr>
            <a:r>
              <a:rPr lang="en-AU" sz="1200" kern="1200" dirty="0" smtClean="0">
                <a:solidFill>
                  <a:schemeClr val="tx1"/>
                </a:solidFill>
                <a:latin typeface="+mn-lt"/>
                <a:ea typeface="+mn-ea"/>
                <a:cs typeface="+mn-cs"/>
              </a:rPr>
              <a:t>The waiter’s stations to clean and replenish supplies</a:t>
            </a:r>
          </a:p>
          <a:p>
            <a:pPr lvl="0">
              <a:buFont typeface="Arial" pitchFamily="34" charset="0"/>
              <a:buChar char="•"/>
            </a:pPr>
            <a:r>
              <a:rPr lang="en-AU" sz="1200" kern="1200" dirty="0" smtClean="0">
                <a:solidFill>
                  <a:schemeClr val="tx1"/>
                </a:solidFill>
                <a:latin typeface="+mn-lt"/>
                <a:ea typeface="+mn-ea"/>
                <a:cs typeface="+mn-cs"/>
              </a:rPr>
              <a:t>Laundry areas.</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n cases where service staff are responsible for laundering of the dining room/bar linen they may have basic cleaning and tidying responsibilities including checking levels of chemicals and linen supplies</a:t>
            </a:r>
          </a:p>
          <a:p>
            <a:pPr lvl="0">
              <a:buFont typeface="Arial" pitchFamily="34" charset="0"/>
              <a:buChar char="•"/>
            </a:pPr>
            <a:r>
              <a:rPr lang="en-AU" sz="1200" kern="1200" dirty="0" smtClean="0">
                <a:solidFill>
                  <a:schemeClr val="tx1"/>
                </a:solidFill>
                <a:latin typeface="+mn-lt"/>
                <a:ea typeface="+mn-ea"/>
                <a:cs typeface="+mn-cs"/>
              </a:rPr>
              <a:t>Kitchen food service area.</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tasks here should be restricted to service-related activities such as re-filling condiments, tidying, replacing used items back into this area.</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extLst>
      <p:ext uri="{BB962C8B-B14F-4D97-AF65-F5344CB8AC3E}">
        <p14:creationId xmlns:p14="http://schemas.microsoft.com/office/powerpoint/2010/main" val="773760928"/>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SOP relating to clearing and cleaning restrooms.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extLst>
      <p:ext uri="{BB962C8B-B14F-4D97-AF65-F5344CB8AC3E}">
        <p14:creationId xmlns:p14="http://schemas.microsoft.com/office/powerpoint/2010/main" val="67284706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SOP relating to clearing and cleaning furniture.</a:t>
            </a:r>
            <a:endParaRPr lang="en-US" sz="14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extLst>
      <p:ext uri="{BB962C8B-B14F-4D97-AF65-F5344CB8AC3E}">
        <p14:creationId xmlns:p14="http://schemas.microsoft.com/office/powerpoint/2010/main" val="281540782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SOP relating to clearing and cleaning other items.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lvl="0">
              <a:buFont typeface="Arial" pitchFamily="34" charset="0"/>
              <a:buChar char="•"/>
            </a:pPr>
            <a:r>
              <a:rPr lang="en-AU" sz="3200" dirty="0" smtClean="0"/>
              <a:t>Fixtures and fittings.</a:t>
            </a:r>
            <a:r>
              <a:rPr lang="en-AU" sz="3200" baseline="0" dirty="0" smtClean="0"/>
              <a:t> A</a:t>
            </a:r>
            <a:r>
              <a:rPr lang="en-AU" sz="3200" dirty="0" smtClean="0"/>
              <a:t> check on these should be made which may include:</a:t>
            </a:r>
          </a:p>
          <a:p>
            <a:pPr lvl="1">
              <a:buFont typeface="Arial" pitchFamily="34" charset="0"/>
              <a:buChar char="•"/>
            </a:pPr>
            <a:r>
              <a:rPr lang="en-AU" sz="2800" dirty="0" smtClean="0"/>
              <a:t>Checking for damage</a:t>
            </a:r>
          </a:p>
          <a:p>
            <a:pPr lvl="1">
              <a:buFont typeface="Arial" pitchFamily="34" charset="0"/>
              <a:buChar char="•"/>
            </a:pPr>
            <a:r>
              <a:rPr lang="en-AU" sz="2800" dirty="0" smtClean="0"/>
              <a:t>Watering plants as required</a:t>
            </a:r>
          </a:p>
          <a:p>
            <a:pPr lvl="1">
              <a:buFont typeface="Arial" pitchFamily="34" charset="0"/>
              <a:buChar char="•"/>
            </a:pPr>
            <a:r>
              <a:rPr lang="en-AU" sz="2800" dirty="0" smtClean="0"/>
              <a:t>Clearing papers or rubbish and used glasses etc</a:t>
            </a:r>
          </a:p>
          <a:p>
            <a:pPr lvl="0">
              <a:buFont typeface="Arial" pitchFamily="34" charset="0"/>
              <a:buChar char="•"/>
            </a:pPr>
            <a:r>
              <a:rPr lang="en-AU" sz="3200" dirty="0" smtClean="0"/>
              <a:t>Windows and doors – spot cleaning as required and checking to ensure they are closed and locked</a:t>
            </a:r>
          </a:p>
          <a:p>
            <a:pPr lvl="0">
              <a:buFont typeface="Arial" pitchFamily="34" charset="0"/>
              <a:buChar char="•"/>
            </a:pPr>
            <a:r>
              <a:rPr lang="en-AU" sz="3200" dirty="0" smtClean="0"/>
              <a:t>All floor areas – picking up loose rubbish and checking to identify areas that require special attention</a:t>
            </a:r>
          </a:p>
          <a:p>
            <a:pPr lvl="0">
              <a:buFont typeface="Arial" pitchFamily="34" charset="0"/>
              <a:buChar char="•"/>
            </a:pPr>
            <a:r>
              <a:rPr lang="en-AU" sz="3200" dirty="0" smtClean="0"/>
              <a:t>Displays – including restocking display items and securing items</a:t>
            </a:r>
          </a:p>
          <a:p>
            <a:pPr lvl="0">
              <a:buFont typeface="Arial" pitchFamily="34" charset="0"/>
              <a:buChar char="•"/>
            </a:pPr>
            <a:r>
              <a:rPr lang="en-AU" sz="3200" dirty="0" smtClean="0"/>
              <a:t>Guest waiting area and reception – spot cleaning and tidying</a:t>
            </a:r>
          </a:p>
          <a:p>
            <a:pPr lvl="0">
              <a:buFont typeface="Arial" pitchFamily="34" charset="0"/>
              <a:buChar char="•"/>
            </a:pPr>
            <a:r>
              <a:rPr lang="en-AU" sz="3200" dirty="0" smtClean="0"/>
              <a:t>Garbage area – removing garbage from internal rubbish bins and replacing bin liners.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4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extLst>
      <p:ext uri="{BB962C8B-B14F-4D97-AF65-F5344CB8AC3E}">
        <p14:creationId xmlns:p14="http://schemas.microsoft.com/office/powerpoint/2010/main" val="511917554"/>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SOP relating to cleaning and storing cleaning equipment.</a:t>
            </a:r>
            <a:endParaRPr lang="en-US" sz="14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extLst>
      <p:ext uri="{BB962C8B-B14F-4D97-AF65-F5344CB8AC3E}">
        <p14:creationId xmlns:p14="http://schemas.microsoft.com/office/powerpoint/2010/main" val="594753332"/>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 and questions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lvl="0">
              <a:buFont typeface="Arial" pitchFamily="34" charset="0"/>
              <a:buChar char="•"/>
            </a:pPr>
            <a:r>
              <a:rPr lang="en-AU" sz="1200" kern="1200" dirty="0" smtClean="0">
                <a:solidFill>
                  <a:schemeClr val="tx1"/>
                </a:solidFill>
                <a:latin typeface="+mn-lt"/>
                <a:ea typeface="+mn-ea"/>
                <a:cs typeface="+mn-cs"/>
              </a:rPr>
              <a:t>What is the purpose of an evaluation session?</a:t>
            </a:r>
          </a:p>
          <a:p>
            <a:pPr lvl="0">
              <a:buFont typeface="Arial" pitchFamily="34" charset="0"/>
              <a:buChar char="•"/>
            </a:pPr>
            <a:r>
              <a:rPr lang="en-AU" sz="1200" kern="1200" dirty="0" smtClean="0">
                <a:solidFill>
                  <a:schemeClr val="tx1"/>
                </a:solidFill>
                <a:latin typeface="+mn-lt"/>
                <a:ea typeface="+mn-ea"/>
                <a:cs typeface="+mn-cs"/>
              </a:rPr>
              <a:t>Who</a:t>
            </a:r>
            <a:r>
              <a:rPr lang="en-AU" sz="1200" kern="1200" baseline="0" dirty="0" smtClean="0">
                <a:solidFill>
                  <a:schemeClr val="tx1"/>
                </a:solidFill>
                <a:latin typeface="+mn-lt"/>
                <a:ea typeface="+mn-ea"/>
                <a:cs typeface="+mn-cs"/>
              </a:rPr>
              <a:t> is involved?</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When is</a:t>
            </a:r>
            <a:r>
              <a:rPr lang="en-AU" sz="1200" kern="1200" baseline="0" dirty="0" smtClean="0">
                <a:solidFill>
                  <a:schemeClr val="tx1"/>
                </a:solidFill>
                <a:latin typeface="+mn-lt"/>
                <a:ea typeface="+mn-ea"/>
                <a:cs typeface="+mn-cs"/>
              </a:rPr>
              <a:t> it conducted?</a:t>
            </a:r>
          </a:p>
          <a:p>
            <a:pPr lvl="0">
              <a:buFont typeface="Arial" pitchFamily="34" charset="0"/>
              <a:buChar char="•"/>
            </a:pPr>
            <a:r>
              <a:rPr lang="en-AU" sz="1200" kern="1200" baseline="0" dirty="0" smtClean="0">
                <a:solidFill>
                  <a:schemeClr val="tx1"/>
                </a:solidFill>
                <a:latin typeface="+mn-lt"/>
                <a:ea typeface="+mn-ea"/>
                <a:cs typeface="+mn-cs"/>
              </a:rPr>
              <a:t>What should be discussed?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extLst>
      <p:ext uri="{BB962C8B-B14F-4D97-AF65-F5344CB8AC3E}">
        <p14:creationId xmlns:p14="http://schemas.microsoft.com/office/powerpoint/2010/main" val="3573565916"/>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 and questions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lvl="0">
              <a:buFont typeface="Arial" pitchFamily="34" charset="0"/>
              <a:buChar char="•"/>
            </a:pPr>
            <a:r>
              <a:rPr lang="en-AU" sz="1200" kern="1200" dirty="0" smtClean="0">
                <a:solidFill>
                  <a:schemeClr val="tx1"/>
                </a:solidFill>
                <a:latin typeface="+mn-lt"/>
                <a:ea typeface="+mn-ea"/>
                <a:cs typeface="+mn-cs"/>
              </a:rPr>
              <a:t>What is the purpose of an evaluation session?</a:t>
            </a:r>
          </a:p>
          <a:p>
            <a:pPr lvl="0">
              <a:buFont typeface="Arial" pitchFamily="34" charset="0"/>
              <a:buChar char="•"/>
            </a:pPr>
            <a:r>
              <a:rPr lang="en-AU" sz="1200" kern="1200" dirty="0" smtClean="0">
                <a:solidFill>
                  <a:schemeClr val="tx1"/>
                </a:solidFill>
                <a:latin typeface="+mn-lt"/>
                <a:ea typeface="+mn-ea"/>
                <a:cs typeface="+mn-cs"/>
              </a:rPr>
              <a:t>Who</a:t>
            </a:r>
            <a:r>
              <a:rPr lang="en-AU" sz="1200" kern="1200" baseline="0" dirty="0" smtClean="0">
                <a:solidFill>
                  <a:schemeClr val="tx1"/>
                </a:solidFill>
                <a:latin typeface="+mn-lt"/>
                <a:ea typeface="+mn-ea"/>
                <a:cs typeface="+mn-cs"/>
              </a:rPr>
              <a:t> is involved?</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When is</a:t>
            </a:r>
            <a:r>
              <a:rPr lang="en-AU" sz="1200" kern="1200" baseline="0" dirty="0" smtClean="0">
                <a:solidFill>
                  <a:schemeClr val="tx1"/>
                </a:solidFill>
                <a:latin typeface="+mn-lt"/>
                <a:ea typeface="+mn-ea"/>
                <a:cs typeface="+mn-cs"/>
              </a:rPr>
              <a:t> it conducted?</a:t>
            </a:r>
          </a:p>
          <a:p>
            <a:pPr lvl="0">
              <a:buFont typeface="Arial" pitchFamily="34" charset="0"/>
              <a:buChar char="•"/>
            </a:pPr>
            <a:r>
              <a:rPr lang="en-AU" sz="1200" kern="1200" baseline="0" dirty="0" smtClean="0">
                <a:solidFill>
                  <a:schemeClr val="tx1"/>
                </a:solidFill>
                <a:latin typeface="+mn-lt"/>
                <a:ea typeface="+mn-ea"/>
                <a:cs typeface="+mn-cs"/>
              </a:rPr>
              <a:t>What should be discussed?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extLst>
      <p:ext uri="{BB962C8B-B14F-4D97-AF65-F5344CB8AC3E}">
        <p14:creationId xmlns:p14="http://schemas.microsoft.com/office/powerpoint/2010/main" val="128753949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kern="1200" baseline="0" dirty="0" smtClean="0">
                <a:solidFill>
                  <a:schemeClr val="tx1"/>
                </a:solidFill>
                <a:latin typeface="Helvetica" pitchFamily="34" charset="0"/>
                <a:ea typeface="+mn-ea"/>
                <a:cs typeface="+mn-cs"/>
              </a:rPr>
              <a:t>Activity: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baseline="0" dirty="0" smtClean="0">
                <a:solidFill>
                  <a:schemeClr val="tx1"/>
                </a:solidFill>
                <a:latin typeface="Helvetica" pitchFamily="34" charset="0"/>
                <a:ea typeface="+mn-ea"/>
                <a:cs typeface="+mn-cs"/>
              </a:rPr>
              <a:t>Trainer to discuss importance of a review session/debrief session.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extLst>
      <p:ext uri="{BB962C8B-B14F-4D97-AF65-F5344CB8AC3E}">
        <p14:creationId xmlns:p14="http://schemas.microsoft.com/office/powerpoint/2010/main" val="3978517106"/>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Trainer asks the audience regarding the concept</a:t>
            </a:r>
            <a:r>
              <a:rPr lang="en-US" b="1" baseline="0" dirty="0" smtClean="0"/>
              <a:t> of a ‘handover’.</a:t>
            </a:r>
            <a:endParaRPr lang="en-US" b="1" dirty="0" smtClean="0"/>
          </a:p>
          <a:p>
            <a:endParaRPr lang="en-US" dirty="0" smtClean="0"/>
          </a:p>
          <a:p>
            <a:r>
              <a:rPr lang="en-US" dirty="0" smtClean="0"/>
              <a:t>The</a:t>
            </a:r>
            <a:r>
              <a:rPr lang="en-US" baseline="0" dirty="0" smtClean="0"/>
              <a:t> trainer should ask the audience for generic feedback to help stimulate discussion.</a:t>
            </a:r>
          </a:p>
          <a:p>
            <a:endParaRPr lang="en-US" baseline="0" dirty="0" smtClean="0"/>
          </a:p>
          <a:p>
            <a:r>
              <a:rPr lang="en-US" baseline="0" dirty="0" smtClean="0"/>
              <a:t>Write answers down.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extLst>
      <p:ext uri="{BB962C8B-B14F-4D97-AF65-F5344CB8AC3E}">
        <p14:creationId xmlns:p14="http://schemas.microsoft.com/office/powerpoint/2010/main" val="512149939"/>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the purpose of a handover.</a:t>
            </a:r>
            <a:endParaRPr lang="en-AU" sz="1200" b="1" dirty="0" smtClean="0">
              <a:solidFill>
                <a:schemeClr val="accent1">
                  <a:lumMod val="75000"/>
                </a:schemeClr>
              </a:solidFill>
            </a:endParaRPr>
          </a:p>
          <a:p>
            <a:endParaRPr lang="en-US" sz="1200" kern="1200" dirty="0" smtClean="0">
              <a:solidFill>
                <a:schemeClr val="tx1"/>
              </a:solidFill>
              <a:latin typeface="Helvetic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Activity:</a:t>
            </a:r>
            <a:r>
              <a:rPr lang="en-US" b="1" baseline="0" dirty="0" smtClean="0"/>
              <a:t> Discussion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1" baseline="0" dirty="0" smtClean="0"/>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What is the purpose of a handover?</a:t>
            </a:r>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Who participates in a handover?</a:t>
            </a:r>
          </a:p>
          <a:p>
            <a:pPr marL="228600" marR="0" lvl="0" indent="-228600" algn="l" defTabSz="914400" rtl="0" eaLnBrk="1" fontAlgn="base" latinLnBrk="0" hangingPunct="1">
              <a:lnSpc>
                <a:spcPct val="100000"/>
              </a:lnSpc>
              <a:spcBef>
                <a:spcPct val="30000"/>
              </a:spcBef>
              <a:spcAft>
                <a:spcPct val="0"/>
              </a:spcAft>
              <a:buClrTx/>
              <a:buSzTx/>
              <a:buFontTx/>
              <a:buAutoNum type="alphaLcParenR"/>
              <a:tabLst/>
              <a:defRPr/>
            </a:pPr>
            <a:r>
              <a:rPr lang="en-US" b="0" baseline="0" dirty="0" smtClean="0"/>
              <a:t>What information is communicated in a handover?</a:t>
            </a:r>
            <a:endParaRPr lang="en-US" b="0" dirty="0" smtClean="0"/>
          </a:p>
          <a:p>
            <a:endParaRPr lang="en-US" sz="1200" kern="120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extLst>
      <p:ext uri="{BB962C8B-B14F-4D97-AF65-F5344CB8AC3E}">
        <p14:creationId xmlns:p14="http://schemas.microsoft.com/office/powerpoint/2010/main" val="3429236690"/>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smtClean="0"/>
              <a:t>Trainer to</a:t>
            </a:r>
            <a:r>
              <a:rPr lang="en-US" b="1" baseline="0" dirty="0" smtClean="0"/>
              <a:t> explain the importance of sharing information at a handover.</a:t>
            </a:r>
            <a:endParaRPr lang="en-AU" sz="1200" b="1" dirty="0" smtClean="0">
              <a:solidFill>
                <a:schemeClr val="accent1">
                  <a:lumMod val="75000"/>
                </a:schemeClr>
              </a:solidFill>
            </a:endParaRPr>
          </a:p>
          <a:p>
            <a:endParaRPr lang="en-US" sz="1200" kern="1200" dirty="0" smtClean="0">
              <a:solidFill>
                <a:schemeClr val="tx1"/>
              </a:solidFill>
              <a:latin typeface="Helvetica" pitchFamily="34" charset="0"/>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extLst>
      <p:ext uri="{BB962C8B-B14F-4D97-AF65-F5344CB8AC3E}">
        <p14:creationId xmlns:p14="http://schemas.microsoft.com/office/powerpoint/2010/main" val="1615692544"/>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give audience time to undertake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spcBef>
                <a:spcPts val="600"/>
              </a:spcBef>
              <a:spcAft>
                <a:spcPts val="1200"/>
              </a:spcAft>
            </a:pP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u="non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extLst>
      <p:ext uri="{BB962C8B-B14F-4D97-AF65-F5344CB8AC3E}">
        <p14:creationId xmlns:p14="http://schemas.microsoft.com/office/powerpoint/2010/main" val="2359938940"/>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This</a:t>
            </a:r>
            <a:r>
              <a:rPr lang="en-AU" sz="1200" b="1"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audience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extLst>
      <p:ext uri="{BB962C8B-B14F-4D97-AF65-F5344CB8AC3E}">
        <p14:creationId xmlns:p14="http://schemas.microsoft.com/office/powerpoint/2010/main" val="2830011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4/6/2015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4/6/2015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4/6/2015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4/6/2015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4/6/2015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4/6/2015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8686800" cy="609600"/>
          </a:xfrm>
        </p:spPr>
        <p:txBody>
          <a:bodyPr/>
          <a:lstStyle/>
          <a:p>
            <a:r>
              <a:rPr lang="en-US" smtClean="0"/>
              <a:t>Click to edit Master title style</a:t>
            </a:r>
            <a:endParaRPr lang="en-AU"/>
          </a:p>
        </p:txBody>
      </p:sp>
      <p:sp>
        <p:nvSpPr>
          <p:cNvPr id="3" name="Table Placeholder 2"/>
          <p:cNvSpPr>
            <a:spLocks noGrp="1"/>
          </p:cNvSpPr>
          <p:nvPr>
            <p:ph type="tbl" idx="1"/>
          </p:nvPr>
        </p:nvSpPr>
        <p:spPr>
          <a:xfrm>
            <a:off x="304800" y="1524000"/>
            <a:ext cx="5943600" cy="4114800"/>
          </a:xfrm>
        </p:spPr>
        <p:txBody>
          <a:bodyPr/>
          <a:lstStyle/>
          <a:p>
            <a:pPr lvl="0"/>
            <a:endParaRPr lang="en-AU" noProof="0" dirty="0"/>
          </a:p>
        </p:txBody>
      </p:sp>
      <p:sp>
        <p:nvSpPr>
          <p:cNvPr id="4" name="Rectangle 5"/>
          <p:cNvSpPr>
            <a:spLocks noGrp="1" noChangeArrowheads="1"/>
          </p:cNvSpPr>
          <p:nvPr>
            <p:ph type="ftr" sz="quarter" idx="10"/>
          </p:nvPr>
        </p:nvSpPr>
        <p:spPr>
          <a:ln/>
        </p:spPr>
        <p:txBody>
          <a:bodyPr/>
          <a:lstStyle>
            <a:lvl1pPr>
              <a:defRPr/>
            </a:lvl1pPr>
          </a:lstStyle>
          <a:p>
            <a:pPr>
              <a:defRPr/>
            </a:pPr>
            <a:endParaRPr lang="en-US" altLang="zh-CN" dirty="0"/>
          </a:p>
        </p:txBody>
      </p:sp>
      <p:sp>
        <p:nvSpPr>
          <p:cNvPr id="5" name="Rectangle 6"/>
          <p:cNvSpPr>
            <a:spLocks noGrp="1" noChangeArrowheads="1"/>
          </p:cNvSpPr>
          <p:nvPr>
            <p:ph type="sldNum" sz="quarter" idx="11"/>
          </p:nvPr>
        </p:nvSpPr>
        <p:spPr>
          <a:ln/>
        </p:spPr>
        <p:txBody>
          <a:bodyPr/>
          <a:lstStyle>
            <a:lvl1pPr>
              <a:defRPr/>
            </a:lvl1pPr>
          </a:lstStyle>
          <a:p>
            <a:pPr>
              <a:defRPr/>
            </a:pPr>
            <a:fld id="{019AB55E-DF92-4688-B071-34BC6F7DF65C}" type="slidenum">
              <a:rPr lang="en-US" altLang="zh-CN"/>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vl1pPr>
          </a:lstStyle>
          <a:p>
            <a:pPr>
              <a:defRPr/>
            </a:pPr>
            <a:fld id="{B7DBF53E-53DF-4132-9FE5-1789E5151548}" type="slidenum">
              <a:rPr lang="en-US" altLang="zh-CN"/>
              <a:pPr>
                <a:defRPr/>
              </a:pPr>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4/6/2015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3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61.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82.jpeg"/></Relationships>
</file>

<file path=ppt/slides/_rels/slide7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88.jpeg"/></Relationships>
</file>

<file path=ppt/slides/_rels/slide82.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0.tiff"/><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5.xml"/><Relationship Id="rId1" Type="http://schemas.openxmlformats.org/officeDocument/2006/relationships/slideLayout" Target="../slideLayouts/slideLayout2.xml"/><Relationship Id="rId4" Type="http://schemas.openxmlformats.org/officeDocument/2006/relationships/image" Target="../media/image154.jpeg"/></Relationships>
</file>

<file path=ppt/slides/_rels/slide156.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184.xml"/><Relationship Id="rId1" Type="http://schemas.openxmlformats.org/officeDocument/2006/relationships/slideLayout" Target="../slideLayouts/slideLayout2.xml"/><Relationship Id="rId4" Type="http://schemas.openxmlformats.org/officeDocument/2006/relationships/image" Target="../media/image93.jpeg"/></Relationships>
</file>

<file path=ppt/slides/_rels/slide185.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89.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90.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91.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92.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94.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97.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98.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201.jpe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202.jpe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204.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205.jpe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206.jpe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208.jpeg"/><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209.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210.jpeg"/><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11.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0166" y="642918"/>
            <a:ext cx="6887586" cy="936104"/>
          </a:xfrm>
        </p:spPr>
        <p:txBody>
          <a:bodyPr>
            <a:normAutofit fontScale="90000"/>
          </a:bodyPr>
          <a:lstStyle/>
          <a:p>
            <a:r>
              <a:rPr lang="en-AU" sz="4000" dirty="0" smtClean="0">
                <a:ln w="5000" cmpd="sng">
                  <a:noFill/>
                  <a:prstDash val="solid"/>
                </a:ln>
                <a:solidFill>
                  <a:srgbClr val="FF6600"/>
                </a:solidFill>
                <a:latin typeface="Helvetica" pitchFamily="34" charset="0"/>
              </a:rPr>
              <a:t>PROVIDE FOOD AND BEVERAGE SERVICES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US" b="1" dirty="0" smtClean="0">
                <a:latin typeface="Helvetica" pitchFamily="34" charset="0"/>
              </a:rPr>
              <a:t>D1.HBS.CL5.12</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5" name="Picture 2" descr="C:\Documents and Settings\danielc\Desktop\Provide F&amp;B services images\213546_credit_payment_3.jpg"/>
          <p:cNvPicPr>
            <a:picLocks noChangeAspect="1" noChangeArrowheads="1"/>
          </p:cNvPicPr>
          <p:nvPr/>
        </p:nvPicPr>
        <p:blipFill>
          <a:blip r:embed="rId3" cstate="print">
            <a:lum contrast="20000"/>
          </a:blip>
          <a:srcRect/>
          <a:stretch>
            <a:fillRect/>
          </a:stretch>
        </p:blipFill>
        <p:spPr bwMode="auto">
          <a:xfrm>
            <a:off x="4714876" y="2357430"/>
            <a:ext cx="1714512" cy="22860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danielc\Desktop\Provide F&amp;B services images\851612_dining.jpg"/>
          <p:cNvPicPr>
            <a:picLocks noChangeAspect="1" noChangeArrowheads="1"/>
          </p:cNvPicPr>
          <p:nvPr/>
        </p:nvPicPr>
        <p:blipFill>
          <a:blip r:embed="rId4" cstate="print"/>
          <a:srcRect/>
          <a:stretch>
            <a:fillRect/>
          </a:stretch>
        </p:blipFill>
        <p:spPr bwMode="auto">
          <a:xfrm>
            <a:off x="5572132" y="3786190"/>
            <a:ext cx="2214558" cy="16535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Provide F&amp;B services images\606407_wine_pour.jpg"/>
          <p:cNvPicPr>
            <a:picLocks noChangeAspect="1" noChangeArrowheads="1"/>
          </p:cNvPicPr>
          <p:nvPr/>
        </p:nvPicPr>
        <p:blipFill>
          <a:blip r:embed="rId5" cstate="print">
            <a:lum contrast="10000"/>
          </a:blip>
          <a:srcRect/>
          <a:stretch>
            <a:fillRect/>
          </a:stretch>
        </p:blipFill>
        <p:spPr bwMode="auto">
          <a:xfrm>
            <a:off x="3071802" y="2143116"/>
            <a:ext cx="1630677" cy="22859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9" name="Picture 5" descr="C:\Documents and Settings\danielc\Desktop\Provide F&amp;B services images\343868_vip.jpg"/>
          <p:cNvPicPr>
            <a:picLocks noChangeAspect="1" noChangeArrowheads="1"/>
          </p:cNvPicPr>
          <p:nvPr/>
        </p:nvPicPr>
        <p:blipFill>
          <a:blip r:embed="rId6" cstate="print"/>
          <a:srcRect/>
          <a:stretch>
            <a:fillRect/>
          </a:stretch>
        </p:blipFill>
        <p:spPr bwMode="auto">
          <a:xfrm>
            <a:off x="1214414" y="3929066"/>
            <a:ext cx="2214558" cy="16430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30" name="Picture 6" descr="C:\Documents and Settings\danielc\Desktop\Provide F&amp;B services images\1110996_expensive_menu.jpg"/>
          <p:cNvPicPr>
            <a:picLocks noChangeAspect="1" noChangeArrowheads="1"/>
          </p:cNvPicPr>
          <p:nvPr/>
        </p:nvPicPr>
        <p:blipFill>
          <a:blip r:embed="rId7" cstate="print">
            <a:lum contrast="20000"/>
          </a:blip>
          <a:srcRect/>
          <a:stretch>
            <a:fillRect/>
          </a:stretch>
        </p:blipFill>
        <p:spPr bwMode="auto">
          <a:xfrm>
            <a:off x="3286116" y="4429132"/>
            <a:ext cx="2428872" cy="16192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descr="Bar.jpg"/>
          <p:cNvPicPr>
            <a:picLocks noChangeAspect="1"/>
          </p:cNvPicPr>
          <p:nvPr/>
        </p:nvPicPr>
        <p:blipFill>
          <a:blip r:embed="rId8" cstate="print"/>
          <a:stretch>
            <a:fillRect/>
          </a:stretch>
        </p:blipFill>
        <p:spPr>
          <a:xfrm>
            <a:off x="640114" y="2357430"/>
            <a:ext cx="2381454" cy="1567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85860"/>
            <a:ext cx="7467600" cy="5301208"/>
          </a:xfrm>
        </p:spPr>
        <p:txBody>
          <a:bodyPr>
            <a:normAutofit lnSpcReduction="10000"/>
          </a:bodyPr>
          <a:lstStyle/>
          <a:p>
            <a:pPr marL="0" indent="0">
              <a:spcBef>
                <a:spcPts val="600"/>
              </a:spcBef>
              <a:spcAft>
                <a:spcPts val="1200"/>
              </a:spcAft>
              <a:buNone/>
            </a:pPr>
            <a:r>
              <a:rPr lang="en-US" sz="2200" dirty="0" smtClean="0">
                <a:latin typeface="Helvetica" pitchFamily="34" charset="0"/>
              </a:rPr>
              <a:t>This unit comprises nine Elements:</a:t>
            </a:r>
          </a:p>
          <a:p>
            <a:pPr>
              <a:spcBef>
                <a:spcPts val="600"/>
              </a:spcBef>
              <a:spcAft>
                <a:spcPts val="1200"/>
              </a:spcAft>
            </a:pPr>
            <a:r>
              <a:rPr lang="en-AU" sz="2200" dirty="0" smtClean="0">
                <a:latin typeface="Helvetica" pitchFamily="34" charset="0"/>
              </a:rPr>
              <a:t>Prepare food and beverage environment for service</a:t>
            </a:r>
          </a:p>
          <a:p>
            <a:pPr>
              <a:spcBef>
                <a:spcPts val="600"/>
              </a:spcBef>
              <a:spcAft>
                <a:spcPts val="1200"/>
              </a:spcAft>
            </a:pPr>
            <a:r>
              <a:rPr lang="en-AU" sz="2200" dirty="0" smtClean="0">
                <a:latin typeface="Helvetica" pitchFamily="34" charset="0"/>
              </a:rPr>
              <a:t>Set tables</a:t>
            </a:r>
          </a:p>
          <a:p>
            <a:pPr>
              <a:spcBef>
                <a:spcPts val="600"/>
              </a:spcBef>
              <a:spcAft>
                <a:spcPts val="1200"/>
              </a:spcAft>
            </a:pPr>
            <a:r>
              <a:rPr lang="en-AU" sz="2200" dirty="0" smtClean="0">
                <a:latin typeface="Helvetica" pitchFamily="34" charset="0"/>
              </a:rPr>
              <a:t>Meet and greet guests</a:t>
            </a:r>
          </a:p>
          <a:p>
            <a:pPr>
              <a:spcBef>
                <a:spcPts val="600"/>
              </a:spcBef>
              <a:spcAft>
                <a:spcPts val="1200"/>
              </a:spcAft>
            </a:pPr>
            <a:r>
              <a:rPr lang="en-AU" sz="2200" dirty="0" smtClean="0">
                <a:latin typeface="Helvetica" pitchFamily="34" charset="0"/>
              </a:rPr>
              <a:t>Take food and beverage orders</a:t>
            </a:r>
          </a:p>
          <a:p>
            <a:pPr>
              <a:spcBef>
                <a:spcPts val="600"/>
              </a:spcBef>
              <a:spcAft>
                <a:spcPts val="1200"/>
              </a:spcAft>
            </a:pPr>
            <a:r>
              <a:rPr lang="en-AU" sz="2200" dirty="0" smtClean="0">
                <a:latin typeface="Helvetica" pitchFamily="34" charset="0"/>
              </a:rPr>
              <a:t>Serve food</a:t>
            </a:r>
          </a:p>
          <a:p>
            <a:pPr>
              <a:spcBef>
                <a:spcPts val="600"/>
              </a:spcBef>
              <a:spcAft>
                <a:spcPts val="1200"/>
              </a:spcAft>
            </a:pPr>
            <a:r>
              <a:rPr lang="en-AU" sz="2200" dirty="0" smtClean="0"/>
              <a:t>Serve drinks</a:t>
            </a:r>
          </a:p>
          <a:p>
            <a:pPr>
              <a:spcBef>
                <a:spcPts val="600"/>
              </a:spcBef>
              <a:spcAft>
                <a:spcPts val="1200"/>
              </a:spcAft>
            </a:pPr>
            <a:r>
              <a:rPr lang="en-AU" sz="2200" dirty="0" smtClean="0"/>
              <a:t>Present account to guest</a:t>
            </a:r>
          </a:p>
          <a:p>
            <a:pPr>
              <a:spcBef>
                <a:spcPts val="600"/>
              </a:spcBef>
              <a:spcAft>
                <a:spcPts val="1200"/>
              </a:spcAft>
            </a:pPr>
            <a:r>
              <a:rPr lang="en-AU" sz="2200" dirty="0" smtClean="0"/>
              <a:t>Provide departure services</a:t>
            </a:r>
          </a:p>
          <a:p>
            <a:pPr>
              <a:spcBef>
                <a:spcPts val="600"/>
              </a:spcBef>
              <a:spcAft>
                <a:spcPts val="1200"/>
              </a:spcAft>
            </a:pPr>
            <a:r>
              <a:rPr lang="en-AU" sz="2200" dirty="0" smtClean="0"/>
              <a:t>Conduct shut down activities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lum contrast="30000"/>
          </a:blip>
          <a:srcRect/>
          <a:stretch>
            <a:fillRect/>
          </a:stretch>
        </p:blipFill>
        <p:spPr bwMode="auto">
          <a:xfrm>
            <a:off x="6257696" y="2786058"/>
            <a:ext cx="1643074" cy="1643074"/>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86446" y="2214554"/>
            <a:ext cx="2274568" cy="1514213"/>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28736"/>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latin typeface="Helvetica" pitchFamily="34" charset="0"/>
              </a:rPr>
              <a:t>Prepare food and beverage environment for service</a:t>
            </a: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122" name="Picture 2" descr="C:\Documents and Settings\danielc\Desktop\Provide F&amp;B services images\652360_dining_outdoor.jpg"/>
          <p:cNvPicPr>
            <a:picLocks noChangeAspect="1" noChangeArrowheads="1"/>
          </p:cNvPicPr>
          <p:nvPr/>
        </p:nvPicPr>
        <p:blipFill>
          <a:blip r:embed="rId3" cstate="print"/>
          <a:srcRect/>
          <a:stretch>
            <a:fillRect/>
          </a:stretch>
        </p:blipFill>
        <p:spPr bwMode="auto">
          <a:xfrm>
            <a:off x="2500298" y="3571876"/>
            <a:ext cx="3571900" cy="2527704"/>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Prepare food and beverage environment for service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Check requirements for the upcoming service session </a:t>
            </a:r>
          </a:p>
          <a:p>
            <a:pPr>
              <a:spcBef>
                <a:spcPts val="600"/>
              </a:spcBef>
              <a:spcAft>
                <a:spcPts val="1200"/>
              </a:spcAft>
            </a:pPr>
            <a:r>
              <a:rPr lang="en-AU" sz="2200" dirty="0" smtClean="0">
                <a:latin typeface="Helvetica" pitchFamily="34" charset="0"/>
              </a:rPr>
              <a:t>Check cleanliness of the facility and conduct spot and makeup cleaning</a:t>
            </a:r>
            <a:r>
              <a:rPr lang="en-AU" sz="2200" b="1" dirty="0" smtClean="0">
                <a:latin typeface="Helvetica" pitchFamily="34" charset="0"/>
              </a:rPr>
              <a:t> </a:t>
            </a:r>
            <a:r>
              <a:rPr lang="en-AU" sz="2200" dirty="0" smtClean="0">
                <a:latin typeface="Helvetica" pitchFamily="34" charset="0"/>
              </a:rPr>
              <a:t>as required</a:t>
            </a:r>
          </a:p>
          <a:p>
            <a:pPr>
              <a:spcBef>
                <a:spcPts val="600"/>
              </a:spcBef>
              <a:spcAft>
                <a:spcPts val="1200"/>
              </a:spcAft>
            </a:pPr>
            <a:r>
              <a:rPr lang="en-AU" sz="2200" dirty="0" smtClean="0">
                <a:latin typeface="Helvetica" pitchFamily="34" charset="0"/>
              </a:rPr>
              <a:t>Set up dining area for trading session </a:t>
            </a:r>
          </a:p>
          <a:p>
            <a:pPr>
              <a:spcBef>
                <a:spcPts val="600"/>
              </a:spcBef>
              <a:spcAft>
                <a:spcPts val="1200"/>
              </a:spcAft>
            </a:pPr>
            <a:r>
              <a:rPr lang="en-AU" sz="2200" dirty="0" smtClean="0">
                <a:latin typeface="Helvetica" pitchFamily="34" charset="0"/>
              </a:rPr>
              <a:t>Process incoming reservations to the establishment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858148" y="2071678"/>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786314" y="307181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786446" y="3571876"/>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72396" y="4143380"/>
            <a:ext cx="399154" cy="527046"/>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Preparing a food and beverage outlet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preparation of a restaurant is vital for the efficient and successful running of any meal shift. </a:t>
            </a:r>
          </a:p>
          <a:p>
            <a:pPr marL="0">
              <a:spcBef>
                <a:spcPts val="600"/>
              </a:spcBef>
              <a:spcAft>
                <a:spcPts val="1200"/>
              </a:spcAft>
              <a:buNone/>
            </a:pPr>
            <a:r>
              <a:rPr lang="en-AU" sz="2200" dirty="0" smtClean="0">
                <a:latin typeface="Helvetica" pitchFamily="34" charset="0"/>
              </a:rPr>
              <a:t>Things need to be:</a:t>
            </a:r>
          </a:p>
          <a:p>
            <a:pPr marL="0">
              <a:spcBef>
                <a:spcPts val="600"/>
              </a:spcBef>
              <a:spcAft>
                <a:spcPts val="1200"/>
              </a:spcAft>
            </a:pPr>
            <a:r>
              <a:rPr lang="en-AU" sz="2200" dirty="0" smtClean="0">
                <a:latin typeface="Helvetica" pitchFamily="34" charset="0"/>
              </a:rPr>
              <a:t>Checked</a:t>
            </a:r>
          </a:p>
          <a:p>
            <a:pPr marL="0">
              <a:spcBef>
                <a:spcPts val="600"/>
              </a:spcBef>
              <a:spcAft>
                <a:spcPts val="1200"/>
              </a:spcAft>
            </a:pPr>
            <a:r>
              <a:rPr lang="en-AU" sz="2200" dirty="0" smtClean="0">
                <a:latin typeface="Helvetica" pitchFamily="34" charset="0"/>
              </a:rPr>
              <a:t>Stocked</a:t>
            </a:r>
          </a:p>
          <a:p>
            <a:pPr marL="0">
              <a:spcBef>
                <a:spcPts val="600"/>
              </a:spcBef>
              <a:spcAft>
                <a:spcPts val="1200"/>
              </a:spcAft>
            </a:pPr>
            <a:r>
              <a:rPr lang="en-AU" sz="2200" dirty="0" smtClean="0">
                <a:latin typeface="Helvetica" pitchFamily="34" charset="0"/>
              </a:rPr>
              <a:t>Cleaned</a:t>
            </a:r>
          </a:p>
          <a:p>
            <a:pPr marL="0">
              <a:spcBef>
                <a:spcPts val="600"/>
              </a:spcBef>
              <a:spcAft>
                <a:spcPts val="1200"/>
              </a:spcAft>
            </a:pPr>
            <a:r>
              <a:rPr lang="en-AU" sz="2200" dirty="0" smtClean="0">
                <a:latin typeface="Helvetica" pitchFamily="34" charset="0"/>
              </a:rPr>
              <a:t>Positioned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7" name="Picture 6" descr="IMG_2128.jpg"/>
          <p:cNvPicPr>
            <a:picLocks noChangeAspect="1"/>
          </p:cNvPicPr>
          <p:nvPr/>
        </p:nvPicPr>
        <p:blipFill>
          <a:blip r:embed="rId3" cstate="print"/>
          <a:stretch>
            <a:fillRect/>
          </a:stretch>
        </p:blipFill>
        <p:spPr>
          <a:xfrm>
            <a:off x="6286512" y="2714620"/>
            <a:ext cx="1585487" cy="211398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outlets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industry boasts a wide variety of food and beverage outlets.</a:t>
            </a:r>
          </a:p>
          <a:p>
            <a:pPr marL="406800">
              <a:spcBef>
                <a:spcPts val="600"/>
              </a:spcBef>
              <a:spcAft>
                <a:spcPts val="1200"/>
              </a:spcAft>
            </a:pPr>
            <a:r>
              <a:rPr lang="en-AU" sz="2200" dirty="0" smtClean="0">
                <a:latin typeface="Helvetica" pitchFamily="34" charset="0"/>
              </a:rPr>
              <a:t>What types of food and beverage outlets exist?</a:t>
            </a:r>
          </a:p>
          <a:p>
            <a:pPr marL="406800">
              <a:spcBef>
                <a:spcPts val="600"/>
              </a:spcBef>
              <a:spcAft>
                <a:spcPts val="1200"/>
              </a:spcAft>
            </a:pPr>
            <a:r>
              <a:rPr lang="en-AU" sz="2200" dirty="0" smtClean="0">
                <a:latin typeface="Helvetica" pitchFamily="34" charset="0"/>
              </a:rPr>
              <a:t>What specific preparation activities need to be performed that are different from the norm?</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5785881123_b834558b6e_m.jpg"/>
          <p:cNvPicPr>
            <a:picLocks noChangeAspect="1"/>
          </p:cNvPicPr>
          <p:nvPr/>
        </p:nvPicPr>
        <p:blipFill>
          <a:blip r:embed="rId3" cstate="print"/>
          <a:stretch>
            <a:fillRect/>
          </a:stretch>
        </p:blipFill>
        <p:spPr>
          <a:xfrm>
            <a:off x="2928926" y="4143380"/>
            <a:ext cx="2893239" cy="192882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individual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Understanding your role</a:t>
            </a:r>
          </a:p>
          <a:p>
            <a:pPr marL="0">
              <a:spcBef>
                <a:spcPts val="600"/>
              </a:spcBef>
              <a:spcAft>
                <a:spcPts val="1200"/>
              </a:spcAft>
              <a:buNone/>
            </a:pPr>
            <a:r>
              <a:rPr lang="en-AU" sz="2200" dirty="0" smtClean="0">
                <a:latin typeface="Helvetica" pitchFamily="34" charset="0"/>
              </a:rPr>
              <a:t>The basis of doing any job properly is knowing what is required of you, regardless of industry or position.</a:t>
            </a:r>
          </a:p>
          <a:p>
            <a:pPr>
              <a:spcBef>
                <a:spcPts val="600"/>
              </a:spcBef>
              <a:spcAft>
                <a:spcPts val="1200"/>
              </a:spcAft>
              <a:buNone/>
            </a:pPr>
            <a:r>
              <a:rPr lang="en-AU" sz="2200" dirty="0" smtClean="0">
                <a:latin typeface="Helvetica" pitchFamily="34" charset="0"/>
              </a:rPr>
              <a:t>How can you find out what you are expected to do:</a:t>
            </a:r>
          </a:p>
          <a:p>
            <a:pPr>
              <a:spcBef>
                <a:spcPts val="600"/>
              </a:spcBef>
              <a:spcAft>
                <a:spcPts val="1200"/>
              </a:spcAft>
            </a:pPr>
            <a:r>
              <a:rPr lang="en-AU" sz="2200" dirty="0" smtClean="0">
                <a:latin typeface="Helvetica" pitchFamily="34" charset="0"/>
              </a:rPr>
              <a:t>In your role?</a:t>
            </a:r>
          </a:p>
          <a:p>
            <a:pPr>
              <a:spcBef>
                <a:spcPts val="600"/>
              </a:spcBef>
              <a:spcAft>
                <a:spcPts val="1200"/>
              </a:spcAft>
            </a:pPr>
            <a:r>
              <a:rPr lang="en-AU" sz="2200" dirty="0" smtClean="0">
                <a:latin typeface="Helvetica" pitchFamily="34" charset="0"/>
              </a:rPr>
              <a:t>For an upcoming shift?</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 name="Picture 5" descr="1.jpg"/>
          <p:cNvPicPr/>
          <p:nvPr/>
        </p:nvPicPr>
        <p:blipFill>
          <a:blip r:embed="rId3" cstate="print"/>
          <a:stretch>
            <a:fillRect/>
          </a:stretch>
        </p:blipFill>
        <p:spPr>
          <a:xfrm>
            <a:off x="4572000" y="3571876"/>
            <a:ext cx="2492649" cy="1643074"/>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Understand upcoming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a:spcBef>
                <a:spcPts val="600"/>
              </a:spcBef>
              <a:spcAft>
                <a:spcPts val="1200"/>
              </a:spcAft>
              <a:buNone/>
            </a:pPr>
            <a:r>
              <a:rPr lang="en-AU" sz="2200" b="1" dirty="0" smtClean="0">
                <a:latin typeface="Helvetica" pitchFamily="34" charset="0"/>
              </a:rPr>
              <a:t>Understanding the upcoming service session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Before we start to prepare for a session we must understand what is likely to take place in the upcoming session.</a:t>
            </a:r>
          </a:p>
          <a:p>
            <a:pPr>
              <a:spcBef>
                <a:spcPts val="600"/>
              </a:spcBef>
              <a:spcAft>
                <a:spcPts val="1200"/>
              </a:spcAft>
            </a:pPr>
            <a:r>
              <a:rPr lang="en-AU" sz="2200" dirty="0" smtClean="0">
                <a:latin typeface="Helvetica" pitchFamily="34" charset="0"/>
              </a:rPr>
              <a:t>How can find out what impacts an upcoming </a:t>
            </a:r>
            <a:br>
              <a:rPr lang="en-AU" sz="2200" dirty="0" smtClean="0">
                <a:latin typeface="Helvetica" pitchFamily="34" charset="0"/>
              </a:rPr>
            </a:br>
            <a:r>
              <a:rPr lang="en-AU" sz="2200" dirty="0" smtClean="0">
                <a:latin typeface="Helvetica" pitchFamily="34" charset="0"/>
              </a:rPr>
              <a:t>session?</a:t>
            </a:r>
          </a:p>
          <a:p>
            <a:pPr>
              <a:spcBef>
                <a:spcPts val="600"/>
              </a:spcBef>
              <a:spcAft>
                <a:spcPts val="1200"/>
              </a:spcAft>
            </a:pPr>
            <a:r>
              <a:rPr lang="en-AU" sz="2200" dirty="0" smtClean="0">
                <a:latin typeface="Helvetica" pitchFamily="34" charset="0"/>
              </a:rPr>
              <a:t>What are common impacts?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20.jpg"/>
          <p:cNvPicPr/>
          <p:nvPr/>
        </p:nvPicPr>
        <p:blipFill>
          <a:blip r:embed="rId3" cstate="print"/>
          <a:stretch>
            <a:fillRect/>
          </a:stretch>
        </p:blipFill>
        <p:spPr>
          <a:xfrm>
            <a:off x="7000892" y="3143248"/>
            <a:ext cx="1470658" cy="221457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Understand upcoming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Reservations</a:t>
            </a:r>
          </a:p>
          <a:p>
            <a:pPr lvl="0">
              <a:spcBef>
                <a:spcPts val="600"/>
              </a:spcBef>
              <a:spcAft>
                <a:spcPts val="1200"/>
              </a:spcAft>
            </a:pPr>
            <a:r>
              <a:rPr lang="en-AU" sz="2200" dirty="0" smtClean="0">
                <a:latin typeface="Helvetica" pitchFamily="34" charset="0"/>
              </a:rPr>
              <a:t>Number of guests</a:t>
            </a:r>
          </a:p>
          <a:p>
            <a:pPr lvl="0">
              <a:spcBef>
                <a:spcPts val="600"/>
              </a:spcBef>
              <a:spcAft>
                <a:spcPts val="1200"/>
              </a:spcAft>
            </a:pPr>
            <a:r>
              <a:rPr lang="en-AU" sz="2200" dirty="0" smtClean="0">
                <a:latin typeface="Helvetica" pitchFamily="34" charset="0"/>
              </a:rPr>
              <a:t>Size of bookings</a:t>
            </a:r>
          </a:p>
          <a:p>
            <a:pPr lvl="0">
              <a:spcBef>
                <a:spcPts val="600"/>
              </a:spcBef>
              <a:spcAft>
                <a:spcPts val="1200"/>
              </a:spcAft>
            </a:pPr>
            <a:r>
              <a:rPr lang="en-AU" sz="2200" dirty="0" smtClean="0">
                <a:latin typeface="Helvetica" pitchFamily="34" charset="0"/>
              </a:rPr>
              <a:t>Customer’s arrival time</a:t>
            </a:r>
          </a:p>
          <a:p>
            <a:pPr lvl="0">
              <a:spcBef>
                <a:spcPts val="600"/>
              </a:spcBef>
              <a:spcAft>
                <a:spcPts val="1200"/>
              </a:spcAft>
            </a:pPr>
            <a:r>
              <a:rPr lang="en-AU" sz="2200" dirty="0" smtClean="0">
                <a:latin typeface="Helvetica" pitchFamily="34" charset="0"/>
              </a:rPr>
              <a:t>Special requests</a:t>
            </a:r>
          </a:p>
          <a:p>
            <a:pPr lvl="0">
              <a:spcBef>
                <a:spcPts val="600"/>
              </a:spcBef>
              <a:spcAft>
                <a:spcPts val="1200"/>
              </a:spcAft>
            </a:pPr>
            <a:r>
              <a:rPr lang="en-AU" sz="2200" dirty="0" smtClean="0">
                <a:latin typeface="Helvetica" pitchFamily="34" charset="0"/>
              </a:rPr>
              <a:t>Needs of guests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werribee045_RT8.jpg"/>
          <p:cNvPicPr/>
          <p:nvPr/>
        </p:nvPicPr>
        <p:blipFill>
          <a:blip r:embed="rId3" cstate="print">
            <a:lum contrast="20000"/>
          </a:blip>
          <a:stretch>
            <a:fillRect/>
          </a:stretch>
        </p:blipFill>
        <p:spPr>
          <a:xfrm>
            <a:off x="5038960" y="2571744"/>
            <a:ext cx="2621800" cy="1857388"/>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Understand upcoming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18538"/>
            <a:ext cx="7467600" cy="4896544"/>
          </a:xfrm>
        </p:spPr>
        <p:txBody>
          <a:bodyPr>
            <a:normAutofit lnSpcReduction="10000"/>
          </a:bodyPr>
          <a:lstStyle/>
          <a:p>
            <a:pPr>
              <a:lnSpc>
                <a:spcPct val="110000"/>
              </a:lnSpc>
              <a:spcBef>
                <a:spcPts val="600"/>
              </a:spcBef>
              <a:spcAft>
                <a:spcPts val="600"/>
              </a:spcAft>
              <a:buNone/>
            </a:pPr>
            <a:r>
              <a:rPr lang="en-AU" sz="2200" b="1" dirty="0" smtClean="0">
                <a:latin typeface="Helvetica" pitchFamily="34" charset="0"/>
              </a:rPr>
              <a:t>Considering anticipated trade</a:t>
            </a:r>
            <a:endParaRPr lang="en-AU" sz="2200" dirty="0" smtClean="0">
              <a:latin typeface="Helvetica" pitchFamily="34" charset="0"/>
            </a:endParaRPr>
          </a:p>
          <a:p>
            <a:pPr marL="0">
              <a:lnSpc>
                <a:spcPct val="110000"/>
              </a:lnSpc>
              <a:spcBef>
                <a:spcPts val="600"/>
              </a:spcBef>
              <a:spcAft>
                <a:spcPts val="600"/>
              </a:spcAft>
              <a:buNone/>
            </a:pPr>
            <a:r>
              <a:rPr lang="en-AU" sz="2200" dirty="0" smtClean="0">
                <a:latin typeface="Helvetica" pitchFamily="34" charset="0"/>
              </a:rPr>
              <a:t>When checking reservations, it is also important to take into consideration the anticipated level of ‘walk in’ customers. </a:t>
            </a:r>
          </a:p>
          <a:p>
            <a:pPr>
              <a:lnSpc>
                <a:spcPct val="110000"/>
              </a:lnSpc>
              <a:spcBef>
                <a:spcPts val="600"/>
              </a:spcBef>
              <a:spcAft>
                <a:spcPts val="600"/>
              </a:spcAft>
              <a:buNone/>
            </a:pPr>
            <a:r>
              <a:rPr lang="en-AU" sz="2200" dirty="0" smtClean="0">
                <a:latin typeface="Helvetica" pitchFamily="34" charset="0"/>
              </a:rPr>
              <a:t>The level of ‘walk in’ trade may be influenced by:</a:t>
            </a:r>
          </a:p>
          <a:p>
            <a:pPr lvl="0">
              <a:lnSpc>
                <a:spcPct val="110000"/>
              </a:lnSpc>
              <a:spcBef>
                <a:spcPts val="600"/>
              </a:spcBef>
              <a:spcAft>
                <a:spcPts val="600"/>
              </a:spcAft>
            </a:pPr>
            <a:r>
              <a:rPr lang="en-AU" sz="2200" dirty="0" smtClean="0">
                <a:latin typeface="Helvetica" pitchFamily="34" charset="0"/>
              </a:rPr>
              <a:t>Historical information</a:t>
            </a:r>
          </a:p>
          <a:p>
            <a:pPr lvl="0">
              <a:lnSpc>
                <a:spcPct val="110000"/>
              </a:lnSpc>
              <a:spcBef>
                <a:spcPts val="600"/>
              </a:spcBef>
              <a:spcAft>
                <a:spcPts val="600"/>
              </a:spcAft>
            </a:pPr>
            <a:r>
              <a:rPr lang="en-AU" sz="2200" dirty="0" smtClean="0">
                <a:latin typeface="Helvetica" pitchFamily="34" charset="0"/>
              </a:rPr>
              <a:t>Events or local attractions</a:t>
            </a:r>
          </a:p>
          <a:p>
            <a:pPr lvl="0">
              <a:lnSpc>
                <a:spcPct val="110000"/>
              </a:lnSpc>
              <a:spcBef>
                <a:spcPts val="600"/>
              </a:spcBef>
              <a:spcAft>
                <a:spcPts val="600"/>
              </a:spcAft>
            </a:pPr>
            <a:r>
              <a:rPr lang="en-AU" sz="2200" dirty="0" smtClean="0">
                <a:latin typeface="Helvetica" pitchFamily="34" charset="0"/>
              </a:rPr>
              <a:t>Weather</a:t>
            </a:r>
          </a:p>
          <a:p>
            <a:pPr lvl="0">
              <a:lnSpc>
                <a:spcPct val="110000"/>
              </a:lnSpc>
              <a:spcBef>
                <a:spcPts val="600"/>
              </a:spcBef>
              <a:spcAft>
                <a:spcPts val="600"/>
              </a:spcAft>
            </a:pPr>
            <a:r>
              <a:rPr lang="en-AU" sz="2200" dirty="0" smtClean="0">
                <a:latin typeface="Helvetica" pitchFamily="34" charset="0"/>
              </a:rPr>
              <a:t>Hotel occupancy</a:t>
            </a:r>
          </a:p>
          <a:p>
            <a:pPr lvl="0">
              <a:lnSpc>
                <a:spcPct val="110000"/>
              </a:lnSpc>
              <a:spcBef>
                <a:spcPts val="600"/>
              </a:spcBef>
              <a:spcAft>
                <a:spcPts val="600"/>
              </a:spcAft>
            </a:pPr>
            <a:r>
              <a:rPr lang="en-AU" sz="2200" dirty="0" smtClean="0">
                <a:latin typeface="Helvetica" pitchFamily="34" charset="0"/>
              </a:rPr>
              <a:t>Promotions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146" name="Picture 2" descr="C:\Documents and Settings\danielc\Local Settings\Temporary Internet Files\Content.IE5\V9A2RTT8\MC900089948[1].wmf"/>
          <p:cNvPicPr>
            <a:picLocks noChangeAspect="1" noChangeArrowheads="1"/>
          </p:cNvPicPr>
          <p:nvPr/>
        </p:nvPicPr>
        <p:blipFill>
          <a:blip r:embed="rId3" cstate="print"/>
          <a:srcRect/>
          <a:stretch>
            <a:fillRect/>
          </a:stretch>
        </p:blipFill>
        <p:spPr bwMode="auto">
          <a:xfrm>
            <a:off x="6357950" y="3429000"/>
            <a:ext cx="1979896" cy="164307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Understand upcoming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858180" cy="5301208"/>
          </a:xfrm>
        </p:spPr>
        <p:txBody>
          <a:bodyPr>
            <a:normAutofit/>
          </a:bodyPr>
          <a:lstStyle/>
          <a:p>
            <a:pPr>
              <a:spcBef>
                <a:spcPts val="600"/>
              </a:spcBef>
              <a:spcAft>
                <a:spcPts val="1200"/>
              </a:spcAft>
              <a:buNone/>
            </a:pPr>
            <a:r>
              <a:rPr lang="en-US" altLang="zh-CN" sz="2100" b="1" dirty="0" smtClean="0">
                <a:latin typeface="Helvetica" pitchFamily="34" charset="0"/>
                <a:ea typeface="宋体" pitchFamily="2" charset="-122"/>
              </a:rPr>
              <a:t>Checking menu for the session</a:t>
            </a:r>
            <a:endParaRPr lang="en-US" altLang="zh-CN" sz="2100" dirty="0" smtClean="0">
              <a:latin typeface="Helvetica" pitchFamily="34" charset="0"/>
              <a:ea typeface="宋体" pitchFamily="2" charset="-122"/>
            </a:endParaRPr>
          </a:p>
          <a:p>
            <a:pPr lvl="0">
              <a:spcBef>
                <a:spcPts val="600"/>
              </a:spcBef>
              <a:spcAft>
                <a:spcPts val="1200"/>
              </a:spcAft>
            </a:pPr>
            <a:r>
              <a:rPr lang="en-AU" sz="2100" dirty="0" smtClean="0">
                <a:latin typeface="Helvetica" pitchFamily="34" charset="0"/>
              </a:rPr>
              <a:t>Fish of the day</a:t>
            </a:r>
          </a:p>
          <a:p>
            <a:pPr lvl="0">
              <a:spcBef>
                <a:spcPts val="600"/>
              </a:spcBef>
              <a:spcAft>
                <a:spcPts val="1200"/>
              </a:spcAft>
            </a:pPr>
            <a:r>
              <a:rPr lang="en-AU" sz="2100" dirty="0" smtClean="0">
                <a:latin typeface="Helvetica" pitchFamily="34" charset="0"/>
              </a:rPr>
              <a:t>Soup of the day</a:t>
            </a:r>
          </a:p>
          <a:p>
            <a:pPr lvl="0">
              <a:spcBef>
                <a:spcPts val="600"/>
              </a:spcBef>
              <a:spcAft>
                <a:spcPts val="1200"/>
              </a:spcAft>
            </a:pPr>
            <a:r>
              <a:rPr lang="en-AU" sz="2100" dirty="0" smtClean="0">
                <a:latin typeface="Helvetica" pitchFamily="34" charset="0"/>
              </a:rPr>
              <a:t>Specials of the day</a:t>
            </a:r>
          </a:p>
          <a:p>
            <a:pPr lvl="0">
              <a:spcBef>
                <a:spcPts val="600"/>
              </a:spcBef>
              <a:spcAft>
                <a:spcPts val="1200"/>
              </a:spcAft>
            </a:pPr>
            <a:r>
              <a:rPr lang="en-AU" sz="2100" dirty="0" smtClean="0">
                <a:latin typeface="Helvetica" pitchFamily="34" charset="0"/>
              </a:rPr>
              <a:t>Vegetables of the day</a:t>
            </a:r>
          </a:p>
          <a:p>
            <a:pPr lvl="0">
              <a:spcBef>
                <a:spcPts val="600"/>
              </a:spcBef>
              <a:spcAft>
                <a:spcPts val="1200"/>
              </a:spcAft>
            </a:pPr>
            <a:r>
              <a:rPr lang="en-AU" sz="2100" dirty="0" smtClean="0">
                <a:latin typeface="Helvetica" pitchFamily="34" charset="0"/>
              </a:rPr>
              <a:t>Dessert of the day</a:t>
            </a:r>
          </a:p>
          <a:p>
            <a:pPr lvl="0">
              <a:spcBef>
                <a:spcPts val="600"/>
              </a:spcBef>
              <a:spcAft>
                <a:spcPts val="1200"/>
              </a:spcAft>
            </a:pPr>
            <a:r>
              <a:rPr lang="en-AU" sz="2100" dirty="0" smtClean="0">
                <a:latin typeface="Helvetica" pitchFamily="34" charset="0"/>
              </a:rPr>
              <a:t>Specific constraints on this individual  upcoming session</a:t>
            </a:r>
          </a:p>
          <a:p>
            <a:pPr lvl="0">
              <a:spcBef>
                <a:spcPts val="600"/>
              </a:spcBef>
              <a:spcAft>
                <a:spcPts val="1200"/>
              </a:spcAft>
            </a:pPr>
            <a:r>
              <a:rPr lang="en-AU" sz="2100" dirty="0" smtClean="0"/>
              <a:t>Out of stock items</a:t>
            </a: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MP900431830.JPG"/>
          <p:cNvPicPr/>
          <p:nvPr/>
        </p:nvPicPr>
        <p:blipFill>
          <a:blip r:embed="rId3" cstate="print"/>
          <a:stretch>
            <a:fillRect/>
          </a:stretch>
        </p:blipFill>
        <p:spPr>
          <a:xfrm>
            <a:off x="5940152" y="2492896"/>
            <a:ext cx="2324347" cy="185738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Understand upcoming session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301208"/>
          </a:xfrm>
        </p:spPr>
        <p:txBody>
          <a:bodyPr>
            <a:normAutofit/>
          </a:bodyPr>
          <a:lstStyle/>
          <a:p>
            <a:pPr>
              <a:spcBef>
                <a:spcPts val="600"/>
              </a:spcBef>
              <a:spcAft>
                <a:spcPts val="1200"/>
              </a:spcAft>
              <a:buNone/>
            </a:pPr>
            <a:r>
              <a:rPr lang="en-AU" sz="2200" b="1" dirty="0" smtClean="0">
                <a:latin typeface="Helvetica" pitchFamily="34" charset="0"/>
              </a:rPr>
              <a:t>Checking internal requirements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Besides the above mentioned impacts on an upcoming session, there are usually a number of internal requirements that need to be considered.</a:t>
            </a:r>
          </a:p>
          <a:p>
            <a:pPr>
              <a:spcBef>
                <a:spcPts val="600"/>
              </a:spcBef>
              <a:spcAft>
                <a:spcPts val="1200"/>
              </a:spcAft>
            </a:pPr>
            <a:r>
              <a:rPr lang="en-AU" sz="2200" dirty="0" smtClean="0">
                <a:latin typeface="Helvetica" pitchFamily="34" charset="0"/>
              </a:rPr>
              <a:t>What are some possible internal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7170" name="Picture 2" descr="C:\Documents and Settings\danielc\Desktop\Provide F&amp;B services images\1009934_question_con_2.jpg"/>
          <p:cNvPicPr>
            <a:picLocks noChangeAspect="1" noChangeArrowheads="1"/>
          </p:cNvPicPr>
          <p:nvPr/>
        </p:nvPicPr>
        <p:blipFill>
          <a:blip r:embed="rId3" cstate="print"/>
          <a:srcRect/>
          <a:stretch>
            <a:fillRect/>
          </a:stretch>
        </p:blipFill>
        <p:spPr bwMode="auto">
          <a:xfrm>
            <a:off x="3428992" y="3929066"/>
            <a:ext cx="1819256" cy="1819256"/>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Check cleanliness of facility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Before the session starts it is imperative that the facility is clean.</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What areas do you check?</a:t>
            </a:r>
          </a:p>
          <a:p>
            <a:pPr>
              <a:spcBef>
                <a:spcPts val="600"/>
              </a:spcBef>
              <a:spcAft>
                <a:spcPts val="1200"/>
              </a:spcAft>
            </a:pPr>
            <a:r>
              <a:rPr lang="en-AU" sz="2200" dirty="0" smtClean="0">
                <a:latin typeface="Helvetica" pitchFamily="34" charset="0"/>
              </a:rPr>
              <a:t>What do you need to check?</a:t>
            </a:r>
          </a:p>
          <a:p>
            <a:pPr>
              <a:spcBef>
                <a:spcPts val="600"/>
              </a:spcBef>
              <a:spcAft>
                <a:spcPts val="1200"/>
              </a:spcAft>
            </a:pPr>
            <a:r>
              <a:rPr lang="en-AU" sz="2200" dirty="0" smtClean="0">
                <a:latin typeface="Helvetica" pitchFamily="34" charset="0"/>
              </a:rPr>
              <a:t>What cleaning activities may you need to conduct?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8195" name="Picture 3" descr="C:\Documents and Settings\danielc\Local Settings\Temporary Internet Files\Content.IE5\SIQ5KRQ3\MC900215847[1].wmf"/>
          <p:cNvPicPr>
            <a:picLocks noChangeAspect="1" noChangeArrowheads="1"/>
          </p:cNvPicPr>
          <p:nvPr/>
        </p:nvPicPr>
        <p:blipFill>
          <a:blip r:embed="rId3" cstate="print"/>
          <a:srcRect/>
          <a:stretch>
            <a:fillRect/>
          </a:stretch>
        </p:blipFill>
        <p:spPr bwMode="auto">
          <a:xfrm>
            <a:off x="6072198" y="2428868"/>
            <a:ext cx="1919335" cy="1608499"/>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Checking and cleaning restaurant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dirty="0" smtClean="0">
                <a:latin typeface="Helvetica" pitchFamily="34" charset="0"/>
              </a:rPr>
              <a:t>Areas to check for cleanliness may include:</a:t>
            </a:r>
          </a:p>
          <a:p>
            <a:pPr lvl="0">
              <a:spcBef>
                <a:spcPts val="600"/>
              </a:spcBef>
              <a:spcAft>
                <a:spcPts val="1200"/>
              </a:spcAft>
            </a:pPr>
            <a:r>
              <a:rPr lang="en-AU" sz="2200" dirty="0" smtClean="0">
                <a:latin typeface="Helvetica" pitchFamily="34" charset="0"/>
              </a:rPr>
              <a:t>Furniture – tables and chairs</a:t>
            </a:r>
          </a:p>
          <a:p>
            <a:pPr lvl="0">
              <a:spcBef>
                <a:spcPts val="600"/>
              </a:spcBef>
              <a:spcAft>
                <a:spcPts val="1200"/>
              </a:spcAft>
            </a:pPr>
            <a:r>
              <a:rPr lang="en-AU" sz="2200" dirty="0" smtClean="0">
                <a:latin typeface="Helvetica" pitchFamily="34" charset="0"/>
              </a:rPr>
              <a:t>Wall hangings – pictures or displays </a:t>
            </a:r>
          </a:p>
          <a:p>
            <a:pPr lvl="0">
              <a:spcBef>
                <a:spcPts val="600"/>
              </a:spcBef>
              <a:spcAft>
                <a:spcPts val="1200"/>
              </a:spcAft>
            </a:pPr>
            <a:r>
              <a:rPr lang="en-AU" sz="2200" dirty="0" smtClean="0">
                <a:latin typeface="Helvetica" pitchFamily="34" charset="0"/>
              </a:rPr>
              <a:t>Fixtures – light fittings and door knobs</a:t>
            </a:r>
          </a:p>
          <a:p>
            <a:pPr lvl="0">
              <a:spcBef>
                <a:spcPts val="600"/>
              </a:spcBef>
              <a:spcAft>
                <a:spcPts val="1200"/>
              </a:spcAft>
            </a:pPr>
            <a:r>
              <a:rPr lang="en-AU" sz="2200" dirty="0" smtClean="0">
                <a:latin typeface="Helvetica" pitchFamily="34" charset="0"/>
              </a:rPr>
              <a:t>Plants – indoor plants and pots</a:t>
            </a:r>
          </a:p>
          <a:p>
            <a:pPr lvl="0">
              <a:spcBef>
                <a:spcPts val="600"/>
              </a:spcBef>
              <a:spcAft>
                <a:spcPts val="1200"/>
              </a:spcAft>
            </a:pPr>
            <a:r>
              <a:rPr lang="en-AU" sz="2200" dirty="0" smtClean="0"/>
              <a:t>Operating equipment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restaurant.jpg"/>
          <p:cNvPicPr/>
          <p:nvPr/>
        </p:nvPicPr>
        <p:blipFill>
          <a:blip r:embed="rId3" cstate="print"/>
          <a:stretch>
            <a:fillRect/>
          </a:stretch>
        </p:blipFill>
        <p:spPr>
          <a:xfrm>
            <a:off x="6215074" y="2285992"/>
            <a:ext cx="2363988" cy="1643074"/>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Checking and cleaning restaurant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dirty="0" smtClean="0">
                <a:latin typeface="Helvetica" pitchFamily="34" charset="0"/>
              </a:rPr>
              <a:t>Areas to check for cleanliness may include:</a:t>
            </a:r>
          </a:p>
          <a:p>
            <a:pPr lvl="0">
              <a:spcBef>
                <a:spcPts val="600"/>
              </a:spcBef>
              <a:spcAft>
                <a:spcPts val="1200"/>
              </a:spcAft>
            </a:pPr>
            <a:r>
              <a:rPr lang="en-AU" sz="2200" dirty="0" smtClean="0">
                <a:latin typeface="Helvetica" pitchFamily="34" charset="0"/>
              </a:rPr>
              <a:t>Glass – windows, panels and doors </a:t>
            </a:r>
          </a:p>
          <a:p>
            <a:pPr lvl="0">
              <a:spcBef>
                <a:spcPts val="600"/>
              </a:spcBef>
              <a:spcAft>
                <a:spcPts val="1200"/>
              </a:spcAft>
            </a:pPr>
            <a:r>
              <a:rPr lang="en-AU" sz="2200" dirty="0" smtClean="0">
                <a:latin typeface="Helvetica" pitchFamily="34" charset="0"/>
              </a:rPr>
              <a:t>Floor – carpet and tiled areas</a:t>
            </a:r>
          </a:p>
          <a:p>
            <a:pPr lvl="0">
              <a:spcBef>
                <a:spcPts val="600"/>
              </a:spcBef>
              <a:spcAft>
                <a:spcPts val="1200"/>
              </a:spcAft>
            </a:pPr>
            <a:r>
              <a:rPr lang="en-AU" sz="2200" dirty="0" smtClean="0">
                <a:latin typeface="Helvetica" pitchFamily="34" charset="0"/>
              </a:rPr>
              <a:t>Work stations – waiter’s sideboard</a:t>
            </a:r>
          </a:p>
          <a:p>
            <a:pPr lvl="0">
              <a:spcBef>
                <a:spcPts val="600"/>
              </a:spcBef>
              <a:spcAft>
                <a:spcPts val="1200"/>
              </a:spcAft>
            </a:pPr>
            <a:r>
              <a:rPr lang="en-AU" sz="2200" dirty="0" smtClean="0">
                <a:latin typeface="Helvetica" pitchFamily="34" charset="0"/>
              </a:rPr>
              <a:t>Menu stands and Hostess stand</a:t>
            </a:r>
          </a:p>
          <a:p>
            <a:pPr>
              <a:spcBef>
                <a:spcPts val="600"/>
              </a:spcBef>
              <a:spcAft>
                <a:spcPts val="1200"/>
              </a:spcAft>
            </a:pPr>
            <a:r>
              <a:rPr lang="en-AU" sz="2200" dirty="0" smtClean="0">
                <a:latin typeface="Helvetica" pitchFamily="34" charset="0"/>
              </a:rPr>
              <a:t>Toilets – rest areas</a:t>
            </a:r>
          </a:p>
          <a:p>
            <a:pPr>
              <a:spcBef>
                <a:spcPts val="600"/>
              </a:spcBef>
              <a:spcAft>
                <a:spcPts val="1200"/>
              </a:spcAft>
            </a:pPr>
            <a:r>
              <a:rPr lang="en-AU" sz="2200" dirty="0" smtClean="0">
                <a:latin typeface="Helvetica" pitchFamily="34" charset="0"/>
              </a:rPr>
              <a:t>Buffet line</a:t>
            </a:r>
          </a:p>
          <a:p>
            <a:pPr>
              <a:spcBef>
                <a:spcPts val="600"/>
              </a:spcBef>
              <a:spcAft>
                <a:spcPts val="1200"/>
              </a:spcAft>
            </a:pPr>
            <a:r>
              <a:rPr lang="en-AU" sz="2200" dirty="0" smtClean="0"/>
              <a:t>Bar</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IMG_1963.jpg"/>
          <p:cNvPicPr>
            <a:picLocks noChangeAspect="1"/>
          </p:cNvPicPr>
          <p:nvPr/>
        </p:nvPicPr>
        <p:blipFill>
          <a:blip r:embed="rId3" cstate="print">
            <a:lum contrast="20000"/>
          </a:blip>
          <a:stretch>
            <a:fillRect/>
          </a:stretch>
        </p:blipFill>
        <p:spPr>
          <a:xfrm>
            <a:off x="6286512" y="2428868"/>
            <a:ext cx="2279144" cy="170935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Checking and cleaning customer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Other areas to check</a:t>
            </a:r>
          </a:p>
          <a:p>
            <a:pPr>
              <a:spcBef>
                <a:spcPts val="600"/>
              </a:spcBef>
              <a:spcAft>
                <a:spcPts val="1200"/>
              </a:spcAft>
            </a:pPr>
            <a:r>
              <a:rPr lang="en-US" altLang="zh-CN" sz="2200" dirty="0" smtClean="0">
                <a:latin typeface="Helvetica" pitchFamily="34" charset="0"/>
                <a:ea typeface="宋体" pitchFamily="2" charset="-122"/>
              </a:rPr>
              <a:t>Waiting area/foyer</a:t>
            </a:r>
          </a:p>
          <a:p>
            <a:pPr>
              <a:spcBef>
                <a:spcPts val="600"/>
              </a:spcBef>
              <a:spcAft>
                <a:spcPts val="1200"/>
              </a:spcAft>
            </a:pPr>
            <a:r>
              <a:rPr lang="en-US" altLang="zh-CN" sz="2200" dirty="0" smtClean="0">
                <a:latin typeface="Helvetica" pitchFamily="34" charset="0"/>
                <a:ea typeface="宋体" pitchFamily="2" charset="-122"/>
              </a:rPr>
              <a:t>Restrooms</a:t>
            </a:r>
          </a:p>
          <a:p>
            <a:pPr>
              <a:spcBef>
                <a:spcPts val="600"/>
              </a:spcBef>
              <a:spcAft>
                <a:spcPts val="1200"/>
              </a:spcAft>
            </a:pPr>
            <a:r>
              <a:rPr lang="en-US" altLang="zh-CN" sz="2200" dirty="0" smtClean="0">
                <a:latin typeface="Helvetica" pitchFamily="34" charset="0"/>
                <a:ea typeface="宋体" pitchFamily="2" charset="-122"/>
              </a:rPr>
              <a:t>Smoking areas</a:t>
            </a:r>
          </a:p>
          <a:p>
            <a:pPr>
              <a:spcBef>
                <a:spcPts val="600"/>
              </a:spcBef>
              <a:spcAft>
                <a:spcPts val="1200"/>
              </a:spcAft>
            </a:pPr>
            <a:r>
              <a:rPr lang="en-AU" sz="2200" dirty="0" smtClean="0">
                <a:latin typeface="Helvetica" pitchFamily="34" charset="0"/>
              </a:rPr>
              <a:t>External areas</a:t>
            </a:r>
          </a:p>
          <a:p>
            <a:pPr>
              <a:spcBef>
                <a:spcPts val="600"/>
              </a:spcBef>
              <a:spcAft>
                <a:spcPts val="1200"/>
              </a:spcAft>
              <a:buNone/>
            </a:pPr>
            <a:endParaRPr lang="en-US" altLang="zh-CN" sz="2200" b="1" dirty="0" smtClean="0">
              <a:latin typeface="Helvetica" pitchFamily="34" charset="0"/>
              <a:ea typeface="宋体" pitchFamily="2" charset="-122"/>
            </a:endParaRPr>
          </a:p>
          <a:p>
            <a:pPr>
              <a:spcBef>
                <a:spcPts val="600"/>
              </a:spcBef>
              <a:spcAft>
                <a:spcPts val="1200"/>
              </a:spcAft>
              <a:buNone/>
            </a:pPr>
            <a:endParaRPr lang="en-US" altLang="zh-CN" sz="2200" b="1" dirty="0" smtClean="0">
              <a:latin typeface="Helvetica" pitchFamily="34" charset="0"/>
              <a:ea typeface="宋体" pitchFamily="2" charset="-122"/>
            </a:endParaRP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7" name="Picture 6" descr="IMG_2349.jpg"/>
          <p:cNvPicPr/>
          <p:nvPr/>
        </p:nvPicPr>
        <p:blipFill>
          <a:blip r:embed="rId3" cstate="print">
            <a:lum bright="20000" contrast="30000"/>
          </a:blip>
          <a:stretch>
            <a:fillRect/>
          </a:stretch>
        </p:blipFill>
        <p:spPr>
          <a:xfrm>
            <a:off x="5357818" y="2500306"/>
            <a:ext cx="1988169" cy="149426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Setting up the dining area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After the facility is clean it is now time to ‘set up’ the dining area.</a:t>
            </a:r>
          </a:p>
          <a:p>
            <a:pPr>
              <a:spcBef>
                <a:spcPts val="600"/>
              </a:spcBef>
              <a:spcAft>
                <a:spcPts val="1200"/>
              </a:spcAft>
            </a:pPr>
            <a:r>
              <a:rPr lang="en-AU" sz="2200" dirty="0" smtClean="0">
                <a:latin typeface="Helvetica" pitchFamily="34" charset="0"/>
              </a:rPr>
              <a:t>What needs to be set up?</a:t>
            </a:r>
          </a:p>
          <a:p>
            <a:pPr>
              <a:spcBef>
                <a:spcPts val="600"/>
              </a:spcBef>
              <a:spcAft>
                <a:spcPts val="1200"/>
              </a:spcAft>
            </a:pPr>
            <a:r>
              <a:rPr lang="en-AU" sz="2200" dirty="0" smtClean="0">
                <a:latin typeface="Helvetica" pitchFamily="34" charset="0"/>
              </a:rPr>
              <a:t>Who performs it?</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MP900411791.JPG"/>
          <p:cNvPicPr>
            <a:picLocks noChangeAspect="1"/>
          </p:cNvPicPr>
          <p:nvPr/>
        </p:nvPicPr>
        <p:blipFill>
          <a:blip r:embed="rId3" cstate="print">
            <a:lum contrast="20000"/>
          </a:blip>
          <a:stretch>
            <a:fillRect/>
          </a:stretch>
        </p:blipFill>
        <p:spPr>
          <a:xfrm>
            <a:off x="6286512" y="2428868"/>
            <a:ext cx="1639044" cy="245736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up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A major task in preparing a food and beverage service area for service is to set up the furniture in the room</a:t>
            </a:r>
          </a:p>
          <a:p>
            <a:pPr>
              <a:spcBef>
                <a:spcPts val="600"/>
              </a:spcBef>
              <a:spcAft>
                <a:spcPts val="1200"/>
              </a:spcAft>
            </a:pPr>
            <a:r>
              <a:rPr lang="en-AU" sz="2200" dirty="0" smtClean="0">
                <a:latin typeface="Helvetica" pitchFamily="34" charset="0"/>
              </a:rPr>
              <a:t>‘Furniture’ primarily refers to tables and chairs</a:t>
            </a:r>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MP900309026.JPG"/>
          <p:cNvPicPr/>
          <p:nvPr/>
        </p:nvPicPr>
        <p:blipFill>
          <a:blip r:embed="rId3" cstate="print"/>
          <a:stretch>
            <a:fillRect/>
          </a:stretch>
        </p:blipFill>
        <p:spPr>
          <a:xfrm>
            <a:off x="2928926" y="3429000"/>
            <a:ext cx="3009617" cy="2121768"/>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up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Floor plan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floor plan is a map of how the tables are to be positioned in a dining area/restaurant.</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7" name="Picture 6" descr="Floor_Plan"/>
          <p:cNvPicPr/>
          <p:nvPr/>
        </p:nvPicPr>
        <p:blipFill>
          <a:blip r:embed="rId3" cstate="print">
            <a:lum contrast="30000"/>
          </a:blip>
          <a:srcRect/>
          <a:stretch>
            <a:fillRect/>
          </a:stretch>
        </p:blipFill>
        <p:spPr bwMode="auto">
          <a:xfrm>
            <a:off x="2071670" y="3071810"/>
            <a:ext cx="4540617" cy="25003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up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4525963"/>
          </a:xfrm>
        </p:spPr>
        <p:txBody>
          <a:bodyPr>
            <a:normAutofit/>
          </a:bodyPr>
          <a:lstStyle/>
          <a:p>
            <a:pPr>
              <a:spcBef>
                <a:spcPts val="600"/>
              </a:spcBef>
              <a:spcAft>
                <a:spcPts val="1200"/>
              </a:spcAft>
              <a:buNone/>
            </a:pPr>
            <a:r>
              <a:rPr lang="en-AU" sz="2200" b="1" dirty="0" smtClean="0">
                <a:latin typeface="Helvetica" pitchFamily="34" charset="0"/>
              </a:rPr>
              <a:t>Floor plan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A floor plan sets out: </a:t>
            </a:r>
          </a:p>
          <a:p>
            <a:pPr lvl="0">
              <a:spcBef>
                <a:spcPts val="600"/>
              </a:spcBef>
              <a:spcAft>
                <a:spcPts val="1200"/>
              </a:spcAft>
            </a:pPr>
            <a:r>
              <a:rPr lang="en-AU" sz="2200" dirty="0" smtClean="0">
                <a:latin typeface="Helvetica" pitchFamily="34" charset="0"/>
              </a:rPr>
              <a:t>Where the tables will be physically </a:t>
            </a:r>
            <a:br>
              <a:rPr lang="en-AU" sz="2200" dirty="0" smtClean="0">
                <a:latin typeface="Helvetica" pitchFamily="34" charset="0"/>
              </a:rPr>
            </a:br>
            <a:r>
              <a:rPr lang="en-AU" sz="2200" dirty="0" smtClean="0">
                <a:latin typeface="Helvetica" pitchFamily="34" charset="0"/>
              </a:rPr>
              <a:t>positioned </a:t>
            </a:r>
          </a:p>
          <a:p>
            <a:pPr lvl="0">
              <a:spcBef>
                <a:spcPts val="600"/>
              </a:spcBef>
              <a:spcAft>
                <a:spcPts val="1200"/>
              </a:spcAft>
            </a:pPr>
            <a:r>
              <a:rPr lang="en-AU" sz="2200" dirty="0" smtClean="0">
                <a:latin typeface="Helvetica" pitchFamily="34" charset="0"/>
              </a:rPr>
              <a:t>The number of covers on each table </a:t>
            </a:r>
          </a:p>
          <a:p>
            <a:pPr lvl="0">
              <a:spcBef>
                <a:spcPts val="600"/>
              </a:spcBef>
              <a:spcAft>
                <a:spcPts val="1200"/>
              </a:spcAft>
            </a:pPr>
            <a:r>
              <a:rPr lang="en-AU" sz="2200" dirty="0" smtClean="0">
                <a:latin typeface="Helvetica" pitchFamily="34" charset="0"/>
              </a:rPr>
              <a:t>The table numbers</a:t>
            </a:r>
          </a:p>
          <a:p>
            <a:pPr lvl="0">
              <a:spcBef>
                <a:spcPts val="600"/>
              </a:spcBef>
              <a:spcAft>
                <a:spcPts val="1200"/>
              </a:spcAft>
            </a:pPr>
            <a:r>
              <a:rPr lang="en-AU" sz="2200" dirty="0" smtClean="0">
                <a:latin typeface="Helvetica" pitchFamily="34" charset="0"/>
              </a:rPr>
              <a:t>Which waiters will serve which tables</a:t>
            </a: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7" descr="f&amp;b%20restaurant1"/>
          <p:cNvPicPr>
            <a:picLocks noChangeAspect="1" noChangeArrowheads="1"/>
          </p:cNvPicPr>
          <p:nvPr/>
        </p:nvPicPr>
        <p:blipFill>
          <a:blip r:embed="rId3" cstate="print">
            <a:lum contrast="20000"/>
          </a:blip>
          <a:srcRect/>
          <a:stretch>
            <a:fillRect/>
          </a:stretch>
        </p:blipFill>
        <p:spPr bwMode="auto">
          <a:xfrm>
            <a:off x="5929322" y="2928934"/>
            <a:ext cx="2500330" cy="1720156"/>
          </a:xfrm>
          <a:prstGeom prst="rect">
            <a:avLst/>
          </a:prstGeom>
          <a:noFill/>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up furniture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Floor plan considerations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Reservations</a:t>
            </a:r>
          </a:p>
          <a:p>
            <a:pPr>
              <a:spcBef>
                <a:spcPts val="600"/>
              </a:spcBef>
              <a:spcAft>
                <a:spcPts val="1200"/>
              </a:spcAft>
            </a:pPr>
            <a:r>
              <a:rPr lang="en-AU" sz="2200" dirty="0" smtClean="0">
                <a:latin typeface="Helvetica" pitchFamily="34" charset="0"/>
              </a:rPr>
              <a:t>Shape and design of the room</a:t>
            </a:r>
          </a:p>
          <a:p>
            <a:pPr>
              <a:spcBef>
                <a:spcPts val="600"/>
              </a:spcBef>
              <a:spcAft>
                <a:spcPts val="1200"/>
              </a:spcAft>
            </a:pPr>
            <a:r>
              <a:rPr lang="en-AU" sz="2200" dirty="0" smtClean="0">
                <a:latin typeface="Helvetica" pitchFamily="34" charset="0"/>
              </a:rPr>
              <a:t>Immovable objects </a:t>
            </a:r>
          </a:p>
          <a:p>
            <a:pPr>
              <a:spcBef>
                <a:spcPts val="600"/>
              </a:spcBef>
              <a:spcAft>
                <a:spcPts val="1200"/>
              </a:spcAft>
            </a:pPr>
            <a:r>
              <a:rPr lang="en-AU" sz="2200" dirty="0" smtClean="0">
                <a:latin typeface="Helvetica" pitchFamily="34" charset="0"/>
              </a:rPr>
              <a:t>Style of furniture</a:t>
            </a:r>
          </a:p>
          <a:p>
            <a:pPr>
              <a:spcBef>
                <a:spcPts val="600"/>
              </a:spcBef>
              <a:spcAft>
                <a:spcPts val="1200"/>
              </a:spcAft>
            </a:pPr>
            <a:r>
              <a:rPr lang="en-AU" sz="2200" dirty="0" smtClean="0">
                <a:latin typeface="Helvetica" pitchFamily="34" charset="0"/>
              </a:rPr>
              <a:t>Exits and doors </a:t>
            </a:r>
          </a:p>
          <a:p>
            <a:pPr>
              <a:spcBef>
                <a:spcPts val="600"/>
              </a:spcBef>
              <a:spcAft>
                <a:spcPts val="1200"/>
              </a:spcAft>
            </a:pPr>
            <a:r>
              <a:rPr lang="en-AU" sz="2200" dirty="0" smtClean="0">
                <a:latin typeface="Helvetica" pitchFamily="34" charset="0"/>
              </a:rPr>
              <a:t>Customer and service personnel access</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MP910218707[1].JPG"/>
          <p:cNvPicPr>
            <a:picLocks noChangeAspect="1"/>
          </p:cNvPicPr>
          <p:nvPr/>
        </p:nvPicPr>
        <p:blipFill>
          <a:blip r:embed="rId3" cstate="print">
            <a:lum bright="20000"/>
          </a:blip>
          <a:stretch>
            <a:fillRect/>
          </a:stretch>
        </p:blipFill>
        <p:spPr>
          <a:xfrm>
            <a:off x="6143636" y="2643182"/>
            <a:ext cx="1863896" cy="196298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Allocating sections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Allocating waiting stations to staff</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Once the tables have been set up, it is quite common for the manager to assign sections and tables to specific staff members. </a:t>
            </a:r>
          </a:p>
          <a:p>
            <a:pPr>
              <a:spcBef>
                <a:spcPts val="600"/>
              </a:spcBef>
              <a:spcAft>
                <a:spcPts val="1200"/>
              </a:spcAft>
            </a:pPr>
            <a:r>
              <a:rPr lang="en-AU" sz="2200" dirty="0" smtClean="0">
                <a:latin typeface="Helvetica" pitchFamily="34" charset="0"/>
              </a:rPr>
              <a:t>What ways can this be determined?</a:t>
            </a:r>
          </a:p>
          <a:p>
            <a:pPr>
              <a:spcBef>
                <a:spcPts val="600"/>
              </a:spcBef>
              <a:spcAft>
                <a:spcPts val="1200"/>
              </a:spcAft>
            </a:pPr>
            <a:r>
              <a:rPr lang="en-AU" sz="2200" dirty="0" smtClean="0">
                <a:latin typeface="Helvetica" pitchFamily="34" charset="0"/>
              </a:rPr>
              <a:t>What are common ‘staff to customer’ ratios?</a:t>
            </a:r>
          </a:p>
          <a:p>
            <a:pPr>
              <a:spcBef>
                <a:spcPts val="600"/>
              </a:spcBef>
              <a:spcAft>
                <a:spcPts val="1200"/>
              </a:spcAft>
            </a:pPr>
            <a:r>
              <a:rPr lang="en-AU" sz="2200" dirty="0" smtClean="0">
                <a:latin typeface="Helvetica" pitchFamily="34" charset="0"/>
              </a:rPr>
              <a:t>What else needs to be considered?</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9218" name="Picture 2" descr="C:\Documents and Settings\danielc\Local Settings\Temporary Internet Files\Content.IE5\V9A2RTT8\MC900347043[1].wmf"/>
          <p:cNvPicPr>
            <a:picLocks noChangeAspect="1" noChangeArrowheads="1"/>
          </p:cNvPicPr>
          <p:nvPr/>
        </p:nvPicPr>
        <p:blipFill>
          <a:blip r:embed="rId3" cstate="print"/>
          <a:srcRect/>
          <a:stretch>
            <a:fillRect/>
          </a:stretch>
        </p:blipFill>
        <p:spPr bwMode="auto">
          <a:xfrm>
            <a:off x="6786578" y="3071810"/>
            <a:ext cx="1933310" cy="2071702"/>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Allocating sections to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Considerations</a:t>
            </a:r>
          </a:p>
          <a:p>
            <a:pPr lvl="0">
              <a:spcBef>
                <a:spcPts val="600"/>
              </a:spcBef>
              <a:spcAft>
                <a:spcPts val="1200"/>
              </a:spcAft>
            </a:pPr>
            <a:r>
              <a:rPr lang="en-AU" sz="2200" dirty="0" smtClean="0">
                <a:latin typeface="Helvetica" pitchFamily="34" charset="0"/>
              </a:rPr>
              <a:t>Types of customers</a:t>
            </a:r>
          </a:p>
          <a:p>
            <a:pPr lvl="0">
              <a:spcBef>
                <a:spcPts val="600"/>
              </a:spcBef>
              <a:spcAft>
                <a:spcPts val="1200"/>
              </a:spcAft>
            </a:pPr>
            <a:r>
              <a:rPr lang="en-AU" sz="2200" dirty="0" smtClean="0">
                <a:latin typeface="Helvetica" pitchFamily="34" charset="0"/>
              </a:rPr>
              <a:t>Amount of people per table</a:t>
            </a:r>
          </a:p>
          <a:p>
            <a:pPr lvl="0">
              <a:spcBef>
                <a:spcPts val="600"/>
              </a:spcBef>
              <a:spcAft>
                <a:spcPts val="1200"/>
              </a:spcAft>
            </a:pPr>
            <a:r>
              <a:rPr lang="en-AU" sz="2200" dirty="0" smtClean="0">
                <a:latin typeface="Helvetica" pitchFamily="34" charset="0"/>
              </a:rPr>
              <a:t>Type of service</a:t>
            </a:r>
          </a:p>
          <a:p>
            <a:pPr lvl="0">
              <a:spcBef>
                <a:spcPts val="600"/>
              </a:spcBef>
              <a:spcAft>
                <a:spcPts val="1200"/>
              </a:spcAft>
            </a:pPr>
            <a:r>
              <a:rPr lang="en-AU" sz="2200" dirty="0" smtClean="0">
                <a:latin typeface="Helvetica" pitchFamily="34" charset="0"/>
              </a:rPr>
              <a:t>Level of service</a:t>
            </a:r>
          </a:p>
          <a:p>
            <a:pPr lvl="0">
              <a:spcBef>
                <a:spcPts val="600"/>
              </a:spcBef>
              <a:spcAft>
                <a:spcPts val="1200"/>
              </a:spcAft>
            </a:pPr>
            <a:r>
              <a:rPr lang="en-AU" sz="2200" dirty="0" smtClean="0">
                <a:latin typeface="Helvetica" pitchFamily="34" charset="0"/>
              </a:rPr>
              <a:t>Experience of staff</a:t>
            </a:r>
          </a:p>
          <a:p>
            <a:pPr lvl="0">
              <a:spcBef>
                <a:spcPts val="600"/>
              </a:spcBef>
              <a:spcAft>
                <a:spcPts val="1200"/>
              </a:spcAft>
            </a:pPr>
            <a:r>
              <a:rPr lang="en-AU" sz="2200" dirty="0" smtClean="0">
                <a:latin typeface="Helvetica" pitchFamily="34" charset="0"/>
              </a:rPr>
              <a:t>Location of tables</a:t>
            </a:r>
          </a:p>
          <a:p>
            <a:pPr>
              <a:spcBef>
                <a:spcPts val="600"/>
              </a:spcBef>
              <a:spcAft>
                <a:spcPts val="1200"/>
              </a:spcAft>
              <a:buNone/>
            </a:pPr>
            <a:endParaRPr lang="en-AU" sz="2200" dirty="0" smtClean="0">
              <a:latin typeface="Helvetica" pitchFamily="34" charset="0"/>
            </a:endParaRP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6" name="Picture 5" descr="gueridon showmanship V1.jpg"/>
          <p:cNvPicPr>
            <a:picLocks noChangeAspect="1"/>
          </p:cNvPicPr>
          <p:nvPr/>
        </p:nvPicPr>
        <p:blipFill>
          <a:blip r:embed="rId3" cstate="print">
            <a:grayscl/>
            <a:lum bright="10000"/>
          </a:blip>
          <a:stretch>
            <a:fillRect/>
          </a:stretch>
        </p:blipFill>
        <p:spPr>
          <a:xfrm>
            <a:off x="5357818" y="2786058"/>
            <a:ext cx="2799673" cy="186790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comfort and ambiance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ambience and comfort level of a restaurant must be taken into consideration when preparing for service. </a:t>
            </a:r>
          </a:p>
          <a:p>
            <a:pPr>
              <a:spcBef>
                <a:spcPts val="600"/>
              </a:spcBef>
              <a:spcAft>
                <a:spcPts val="1200"/>
              </a:spcAft>
              <a:buNone/>
            </a:pPr>
            <a:r>
              <a:rPr lang="en-AU" sz="2200" dirty="0" smtClean="0">
                <a:latin typeface="Helvetica" pitchFamily="34" charset="0"/>
              </a:rPr>
              <a:t>This normally takes into consideration:</a:t>
            </a:r>
          </a:p>
          <a:p>
            <a:pPr>
              <a:spcBef>
                <a:spcPts val="600"/>
              </a:spcBef>
              <a:spcAft>
                <a:spcPts val="1200"/>
              </a:spcAft>
            </a:pPr>
            <a:r>
              <a:rPr lang="en-AU" sz="2200" dirty="0" smtClean="0">
                <a:latin typeface="Helvetica" pitchFamily="34" charset="0"/>
              </a:rPr>
              <a:t>Temperature</a:t>
            </a:r>
          </a:p>
          <a:p>
            <a:pPr>
              <a:spcBef>
                <a:spcPts val="600"/>
              </a:spcBef>
              <a:spcAft>
                <a:spcPts val="1200"/>
              </a:spcAft>
            </a:pPr>
            <a:r>
              <a:rPr lang="en-AU" sz="2200" dirty="0" smtClean="0">
                <a:latin typeface="Helvetica" pitchFamily="34" charset="0"/>
              </a:rPr>
              <a:t>Noise </a:t>
            </a:r>
          </a:p>
          <a:p>
            <a:pPr>
              <a:spcBef>
                <a:spcPts val="600"/>
              </a:spcBef>
              <a:spcAft>
                <a:spcPts val="1200"/>
              </a:spcAft>
            </a:pPr>
            <a:r>
              <a:rPr lang="en-AU" sz="2200" dirty="0" smtClean="0">
                <a:latin typeface="Helvetica" pitchFamily="34" charset="0"/>
              </a:rPr>
              <a:t>Lighting</a:t>
            </a:r>
          </a:p>
          <a:p>
            <a:pPr>
              <a:buNone/>
            </a:pPr>
            <a:endParaRPr lang="en-AU" sz="2400" dirty="0" smtClean="0"/>
          </a:p>
          <a:p>
            <a:pPr>
              <a:buNone/>
            </a:pPr>
            <a:endParaRPr lang="en-AU" sz="2400" dirty="0" smtClean="0"/>
          </a:p>
          <a:p>
            <a:pPr>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Mood-Candle-Tube"/>
          <p:cNvPicPr>
            <a:picLocks noChangeAspect="1" noChangeArrowheads="1"/>
          </p:cNvPicPr>
          <p:nvPr/>
        </p:nvPicPr>
        <p:blipFill>
          <a:blip r:embed="rId3" cstate="print"/>
          <a:srcRect/>
          <a:stretch>
            <a:fillRect/>
          </a:stretch>
        </p:blipFill>
        <p:spPr bwMode="auto">
          <a:xfrm>
            <a:off x="5429256" y="3143248"/>
            <a:ext cx="2421815" cy="1720925"/>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comfort and ambiance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Other considerations</a:t>
            </a:r>
          </a:p>
          <a:p>
            <a:pPr lvl="0">
              <a:spcBef>
                <a:spcPts val="600"/>
              </a:spcBef>
              <a:spcAft>
                <a:spcPts val="1200"/>
              </a:spcAft>
            </a:pPr>
            <a:r>
              <a:rPr lang="en-AU" sz="2200" dirty="0" smtClean="0">
                <a:latin typeface="Helvetica" pitchFamily="34" charset="0"/>
              </a:rPr>
              <a:t>Table decorations</a:t>
            </a:r>
          </a:p>
          <a:p>
            <a:pPr lvl="0">
              <a:spcBef>
                <a:spcPts val="600"/>
              </a:spcBef>
              <a:spcAft>
                <a:spcPts val="1200"/>
              </a:spcAft>
            </a:pPr>
            <a:r>
              <a:rPr lang="en-AU" sz="2200" dirty="0" smtClean="0">
                <a:latin typeface="Helvetica" pitchFamily="34" charset="0"/>
              </a:rPr>
              <a:t>Floor displays</a:t>
            </a:r>
          </a:p>
          <a:p>
            <a:pPr lvl="0">
              <a:spcBef>
                <a:spcPts val="600"/>
              </a:spcBef>
              <a:spcAft>
                <a:spcPts val="1200"/>
              </a:spcAft>
            </a:pPr>
            <a:r>
              <a:rPr lang="en-AU" sz="2200" dirty="0" smtClean="0">
                <a:latin typeface="Helvetica" pitchFamily="34" charset="0"/>
              </a:rPr>
              <a:t>Smells</a:t>
            </a:r>
          </a:p>
          <a:p>
            <a:pPr lvl="0">
              <a:spcBef>
                <a:spcPts val="600"/>
              </a:spcBef>
              <a:spcAft>
                <a:spcPts val="1200"/>
              </a:spcAft>
            </a:pPr>
            <a:r>
              <a:rPr lang="en-AU" sz="2200" dirty="0" smtClean="0">
                <a:latin typeface="Helvetica" pitchFamily="34" charset="0"/>
              </a:rPr>
              <a:t>What other ways can you create comfort and ambiance?</a:t>
            </a: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10242" name="Picture 2" descr="C:\Documents and Settings\danielc\Desktop\Provide F&amp;B services images\782246_ambience_ii.jpg"/>
          <p:cNvPicPr>
            <a:picLocks noChangeAspect="1" noChangeArrowheads="1"/>
          </p:cNvPicPr>
          <p:nvPr/>
        </p:nvPicPr>
        <p:blipFill>
          <a:blip r:embed="rId3" cstate="print">
            <a:lum bright="20000" contrast="20000"/>
          </a:blip>
          <a:srcRect/>
          <a:stretch>
            <a:fillRect/>
          </a:stretch>
        </p:blipFill>
        <p:spPr bwMode="auto">
          <a:xfrm>
            <a:off x="5072066" y="1928802"/>
            <a:ext cx="2357434" cy="1760217"/>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Once the restaurant area is ready for service, it is now time to prepare the equipment.</a:t>
            </a:r>
          </a:p>
          <a:p>
            <a:pPr>
              <a:spcBef>
                <a:spcPts val="600"/>
              </a:spcBef>
              <a:spcAft>
                <a:spcPts val="1200"/>
              </a:spcAft>
            </a:pPr>
            <a:r>
              <a:rPr lang="en-AU" sz="2200" dirty="0" smtClean="0">
                <a:latin typeface="Helvetica" pitchFamily="34" charset="0"/>
              </a:rPr>
              <a:t>What equipment items need to be prepared?</a:t>
            </a:r>
          </a:p>
          <a:p>
            <a:pPr>
              <a:spcBef>
                <a:spcPts val="600"/>
              </a:spcBef>
              <a:spcAft>
                <a:spcPts val="1200"/>
              </a:spcAft>
            </a:pPr>
            <a:r>
              <a:rPr lang="en-AU" sz="2200" dirty="0" smtClean="0">
                <a:latin typeface="Helvetica" pitchFamily="34" charset="0"/>
              </a:rPr>
              <a:t>What auxiliary items that accompany equipment need to be set up?</a:t>
            </a:r>
            <a:endParaRPr lang="en-AU" sz="2400" dirty="0" smtClean="0">
              <a:latin typeface="Helvetica" pitchFamily="34" charset="0"/>
            </a:endParaRP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Micros_699X600.jpg"/>
          <p:cNvPicPr>
            <a:picLocks noChangeAspect="1"/>
          </p:cNvPicPr>
          <p:nvPr/>
        </p:nvPicPr>
        <p:blipFill>
          <a:blip r:embed="rId3" cstate="print">
            <a:lum contrast="20000"/>
          </a:blip>
          <a:stretch>
            <a:fillRect/>
          </a:stretch>
        </p:blipFill>
        <p:spPr>
          <a:xfrm>
            <a:off x="3571868" y="3643314"/>
            <a:ext cx="2413533" cy="207170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60274"/>
            <a:ext cx="7467600" cy="5040560"/>
          </a:xfrm>
        </p:spPr>
        <p:txBody>
          <a:bodyPr>
            <a:normAutofit lnSpcReduction="10000"/>
          </a:bodyPr>
          <a:lstStyle/>
          <a:p>
            <a:pPr>
              <a:lnSpc>
                <a:spcPct val="110000"/>
              </a:lnSpc>
              <a:spcBef>
                <a:spcPts val="600"/>
              </a:spcBef>
              <a:spcAft>
                <a:spcPts val="600"/>
              </a:spcAft>
              <a:buNone/>
            </a:pPr>
            <a:r>
              <a:rPr lang="en-US" altLang="zh-CN" sz="2100" b="1" dirty="0" smtClean="0">
                <a:latin typeface="Helvetica" pitchFamily="34" charset="0"/>
                <a:ea typeface="宋体" pitchFamily="2" charset="-122"/>
              </a:rPr>
              <a:t>Coffee Area</a:t>
            </a:r>
          </a:p>
          <a:p>
            <a:pPr>
              <a:spcBef>
                <a:spcPts val="600"/>
              </a:spcBef>
              <a:spcAft>
                <a:spcPts val="600"/>
              </a:spcAft>
            </a:pPr>
            <a:r>
              <a:rPr lang="en-US" altLang="zh-CN" sz="2100" dirty="0" smtClean="0">
                <a:latin typeface="Helvetica" pitchFamily="34" charset="0"/>
                <a:ea typeface="宋体" pitchFamily="2" charset="-122"/>
              </a:rPr>
              <a:t>Coffee machine</a:t>
            </a:r>
          </a:p>
          <a:p>
            <a:pPr>
              <a:spcBef>
                <a:spcPts val="600"/>
              </a:spcBef>
              <a:spcAft>
                <a:spcPts val="600"/>
              </a:spcAft>
            </a:pPr>
            <a:r>
              <a:rPr lang="en-US" altLang="zh-CN" sz="2100" dirty="0" smtClean="0">
                <a:latin typeface="Helvetica" pitchFamily="34" charset="0"/>
                <a:ea typeface="宋体" pitchFamily="2" charset="-122"/>
              </a:rPr>
              <a:t>Cups</a:t>
            </a:r>
          </a:p>
          <a:p>
            <a:pPr>
              <a:spcBef>
                <a:spcPts val="600"/>
              </a:spcBef>
              <a:spcAft>
                <a:spcPts val="600"/>
              </a:spcAft>
            </a:pPr>
            <a:r>
              <a:rPr lang="en-US" altLang="zh-CN" sz="2100" dirty="0" smtClean="0">
                <a:latin typeface="Helvetica" pitchFamily="34" charset="0"/>
                <a:ea typeface="宋体" pitchFamily="2" charset="-122"/>
              </a:rPr>
              <a:t>Saucers</a:t>
            </a:r>
          </a:p>
          <a:p>
            <a:pPr>
              <a:spcBef>
                <a:spcPts val="600"/>
              </a:spcBef>
              <a:spcAft>
                <a:spcPts val="600"/>
              </a:spcAft>
            </a:pPr>
            <a:r>
              <a:rPr lang="en-US" altLang="zh-CN" sz="2100" dirty="0" smtClean="0">
                <a:latin typeface="Helvetica" pitchFamily="34" charset="0"/>
                <a:ea typeface="宋体" pitchFamily="2" charset="-122"/>
              </a:rPr>
              <a:t>Teaspoons</a:t>
            </a:r>
          </a:p>
          <a:p>
            <a:pPr>
              <a:spcBef>
                <a:spcPts val="600"/>
              </a:spcBef>
              <a:spcAft>
                <a:spcPts val="600"/>
              </a:spcAft>
            </a:pPr>
            <a:r>
              <a:rPr lang="en-US" altLang="zh-CN" sz="2100" dirty="0" smtClean="0">
                <a:latin typeface="Helvetica" pitchFamily="34" charset="0"/>
                <a:ea typeface="宋体" pitchFamily="2" charset="-122"/>
              </a:rPr>
              <a:t>Sugar</a:t>
            </a:r>
          </a:p>
          <a:p>
            <a:pPr>
              <a:spcBef>
                <a:spcPts val="600"/>
              </a:spcBef>
              <a:spcAft>
                <a:spcPts val="600"/>
              </a:spcAft>
            </a:pPr>
            <a:r>
              <a:rPr lang="en-US" altLang="zh-CN" sz="2100" dirty="0" smtClean="0">
                <a:latin typeface="Helvetica" pitchFamily="34" charset="0"/>
                <a:ea typeface="宋体" pitchFamily="2" charset="-122"/>
              </a:rPr>
              <a:t>Milk jugs</a:t>
            </a:r>
          </a:p>
          <a:p>
            <a:pPr>
              <a:spcBef>
                <a:spcPts val="600"/>
              </a:spcBef>
              <a:spcAft>
                <a:spcPts val="600"/>
              </a:spcAft>
            </a:pPr>
            <a:r>
              <a:rPr lang="en-US" altLang="zh-CN" sz="2100" dirty="0" smtClean="0">
                <a:latin typeface="Helvetica" pitchFamily="34" charset="0"/>
                <a:ea typeface="宋体" pitchFamily="2" charset="-122"/>
              </a:rPr>
              <a:t>Types of milk</a:t>
            </a:r>
          </a:p>
          <a:p>
            <a:pPr>
              <a:spcBef>
                <a:spcPts val="600"/>
              </a:spcBef>
              <a:spcAft>
                <a:spcPts val="600"/>
              </a:spcAft>
            </a:pPr>
            <a:r>
              <a:rPr lang="en-US" altLang="zh-CN" sz="2100" dirty="0" smtClean="0">
                <a:latin typeface="Helvetica" pitchFamily="34" charset="0"/>
                <a:ea typeface="宋体" pitchFamily="2" charset="-122"/>
              </a:rPr>
              <a:t>Types of coffee</a:t>
            </a:r>
          </a:p>
          <a:p>
            <a:pPr>
              <a:spcBef>
                <a:spcPts val="600"/>
              </a:spcBef>
              <a:spcAft>
                <a:spcPts val="600"/>
              </a:spcAft>
            </a:pPr>
            <a:r>
              <a:rPr lang="en-US" altLang="zh-CN" sz="2100" dirty="0" smtClean="0">
                <a:latin typeface="Helvetica" pitchFamily="34" charset="0"/>
                <a:ea typeface="宋体" pitchFamily="2" charset="-122"/>
              </a:rPr>
              <a:t>Accompaniments (biscuits)</a:t>
            </a:r>
          </a:p>
          <a:p>
            <a:pPr>
              <a:spcBef>
                <a:spcPts val="600"/>
              </a:spcBef>
              <a:spcAft>
                <a:spcPts val="600"/>
              </a:spcAft>
            </a:pPr>
            <a:r>
              <a:rPr lang="en-US" altLang="zh-CN" sz="2100" dirty="0" smtClean="0">
                <a:latin typeface="Helvetica" pitchFamily="34" charset="0"/>
                <a:ea typeface="宋体" pitchFamily="2" charset="-122"/>
              </a:rPr>
              <a:t>Napkins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coffee%20machine"/>
          <p:cNvPicPr>
            <a:picLocks noChangeAspect="1" noChangeArrowheads="1"/>
          </p:cNvPicPr>
          <p:nvPr/>
        </p:nvPicPr>
        <p:blipFill>
          <a:blip r:embed="rId3" cstate="print"/>
          <a:srcRect/>
          <a:stretch>
            <a:fillRect/>
          </a:stretch>
        </p:blipFill>
        <p:spPr bwMode="auto">
          <a:xfrm>
            <a:off x="5857884" y="2143116"/>
            <a:ext cx="2104256" cy="2804914"/>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Tea Area</a:t>
            </a:r>
          </a:p>
          <a:p>
            <a:pPr>
              <a:spcBef>
                <a:spcPts val="600"/>
              </a:spcBef>
              <a:spcAft>
                <a:spcPts val="600"/>
              </a:spcAft>
            </a:pPr>
            <a:r>
              <a:rPr lang="en-US" altLang="zh-CN" sz="2200" dirty="0" smtClean="0">
                <a:latin typeface="Helvetica" pitchFamily="34" charset="0"/>
                <a:ea typeface="宋体" pitchFamily="2" charset="-122"/>
              </a:rPr>
              <a:t>Cups</a:t>
            </a:r>
          </a:p>
          <a:p>
            <a:pPr>
              <a:spcBef>
                <a:spcPts val="600"/>
              </a:spcBef>
              <a:spcAft>
                <a:spcPts val="600"/>
              </a:spcAft>
            </a:pPr>
            <a:r>
              <a:rPr lang="en-US" altLang="zh-CN" sz="2200" dirty="0" smtClean="0">
                <a:latin typeface="Helvetica" pitchFamily="34" charset="0"/>
                <a:ea typeface="宋体" pitchFamily="2" charset="-122"/>
              </a:rPr>
              <a:t>Saucers</a:t>
            </a:r>
          </a:p>
          <a:p>
            <a:pPr>
              <a:spcBef>
                <a:spcPts val="600"/>
              </a:spcBef>
              <a:spcAft>
                <a:spcPts val="600"/>
              </a:spcAft>
            </a:pPr>
            <a:r>
              <a:rPr lang="en-US" altLang="zh-CN" sz="2200" dirty="0" smtClean="0">
                <a:latin typeface="Helvetica" pitchFamily="34" charset="0"/>
                <a:ea typeface="宋体" pitchFamily="2" charset="-122"/>
              </a:rPr>
              <a:t>Teaspoons</a:t>
            </a:r>
          </a:p>
          <a:p>
            <a:pPr>
              <a:spcBef>
                <a:spcPts val="600"/>
              </a:spcBef>
              <a:spcAft>
                <a:spcPts val="600"/>
              </a:spcAft>
            </a:pPr>
            <a:r>
              <a:rPr lang="en-US" altLang="zh-CN" sz="2200" dirty="0" smtClean="0">
                <a:latin typeface="Helvetica" pitchFamily="34" charset="0"/>
                <a:ea typeface="宋体" pitchFamily="2" charset="-122"/>
              </a:rPr>
              <a:t>Sugar</a:t>
            </a:r>
          </a:p>
          <a:p>
            <a:pPr>
              <a:spcBef>
                <a:spcPts val="600"/>
              </a:spcBef>
              <a:spcAft>
                <a:spcPts val="600"/>
              </a:spcAft>
            </a:pPr>
            <a:r>
              <a:rPr lang="en-US" altLang="zh-CN" sz="2200" dirty="0" smtClean="0">
                <a:latin typeface="Helvetica" pitchFamily="34" charset="0"/>
                <a:ea typeface="宋体" pitchFamily="2" charset="-122"/>
              </a:rPr>
              <a:t>Milk jugs</a:t>
            </a:r>
          </a:p>
          <a:p>
            <a:pPr>
              <a:spcBef>
                <a:spcPts val="600"/>
              </a:spcBef>
              <a:spcAft>
                <a:spcPts val="600"/>
              </a:spcAft>
            </a:pPr>
            <a:r>
              <a:rPr lang="en-US" altLang="zh-CN" sz="2200" dirty="0" smtClean="0">
                <a:latin typeface="Helvetica" pitchFamily="34" charset="0"/>
                <a:ea typeface="宋体" pitchFamily="2" charset="-122"/>
              </a:rPr>
              <a:t>Types of tea</a:t>
            </a:r>
          </a:p>
          <a:p>
            <a:pPr>
              <a:spcBef>
                <a:spcPts val="600"/>
              </a:spcBef>
              <a:spcAft>
                <a:spcPts val="600"/>
              </a:spcAft>
            </a:pPr>
            <a:r>
              <a:rPr lang="en-US" altLang="zh-CN" sz="2200" dirty="0" smtClean="0">
                <a:latin typeface="Helvetica" pitchFamily="34" charset="0"/>
                <a:ea typeface="宋体" pitchFamily="2" charset="-122"/>
              </a:rPr>
              <a:t>Lemon</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7" name="Picture 6" descr="MP900443999[1].JPG"/>
          <p:cNvPicPr/>
          <p:nvPr/>
        </p:nvPicPr>
        <p:blipFill>
          <a:blip r:embed="rId3" cstate="print"/>
          <a:stretch>
            <a:fillRect/>
          </a:stretch>
        </p:blipFill>
        <p:spPr>
          <a:xfrm>
            <a:off x="4857752" y="2428868"/>
            <a:ext cx="2306989" cy="192882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equipment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Service Equipment </a:t>
            </a:r>
          </a:p>
          <a:p>
            <a:pPr>
              <a:spcBef>
                <a:spcPts val="600"/>
              </a:spcBef>
              <a:spcAft>
                <a:spcPts val="600"/>
              </a:spcAft>
            </a:pPr>
            <a:r>
              <a:rPr lang="en-US" altLang="zh-CN" sz="2200" dirty="0" smtClean="0">
                <a:latin typeface="Helvetica" pitchFamily="34" charset="0"/>
                <a:ea typeface="宋体" pitchFamily="2" charset="-122"/>
              </a:rPr>
              <a:t>Bain-maries</a:t>
            </a:r>
          </a:p>
          <a:p>
            <a:pPr>
              <a:spcBef>
                <a:spcPts val="600"/>
              </a:spcBef>
              <a:spcAft>
                <a:spcPts val="600"/>
              </a:spcAft>
            </a:pPr>
            <a:r>
              <a:rPr lang="en-US" altLang="zh-CN" sz="2200" dirty="0" smtClean="0">
                <a:latin typeface="Helvetica" pitchFamily="34" charset="0"/>
                <a:ea typeface="宋体" pitchFamily="2" charset="-122"/>
              </a:rPr>
              <a:t>Toasters</a:t>
            </a:r>
          </a:p>
          <a:p>
            <a:pPr>
              <a:spcBef>
                <a:spcPts val="600"/>
              </a:spcBef>
              <a:spcAft>
                <a:spcPts val="600"/>
              </a:spcAft>
            </a:pPr>
            <a:r>
              <a:rPr lang="en-US" altLang="zh-CN" sz="2200" dirty="0" smtClean="0">
                <a:latin typeface="Helvetica" pitchFamily="34" charset="0"/>
                <a:ea typeface="宋体" pitchFamily="2" charset="-122"/>
              </a:rPr>
              <a:t>What other service equipment is used?</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descr="http://metaefficient.zippykidcdn.com/wp-content/uploads/kitchenaid-kmtt200-toaster.jpg"/>
          <p:cNvPicPr/>
          <p:nvPr/>
        </p:nvPicPr>
        <p:blipFill>
          <a:blip r:embed="rId3" cstate="print"/>
          <a:srcRect/>
          <a:stretch>
            <a:fillRect/>
          </a:stretch>
        </p:blipFill>
        <p:spPr bwMode="auto">
          <a:xfrm>
            <a:off x="5715008" y="1000108"/>
            <a:ext cx="1843594" cy="20274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46654" cy="5301208"/>
          </a:xfrm>
        </p:spPr>
        <p:txBody>
          <a:bodyPr>
            <a:noAutofit/>
          </a:bodyPr>
          <a:lstStyle/>
          <a:p>
            <a:pPr>
              <a:spcBef>
                <a:spcPts val="600"/>
              </a:spcBef>
              <a:spcAft>
                <a:spcPts val="1200"/>
              </a:spcAft>
              <a:buNone/>
            </a:pPr>
            <a:r>
              <a:rPr lang="en-US" sz="2200" b="1" dirty="0" smtClean="0">
                <a:latin typeface="Helvetica" pitchFamily="34" charset="0"/>
              </a:rPr>
              <a:t>Receive cash float</a:t>
            </a:r>
          </a:p>
          <a:p>
            <a:pPr>
              <a:spcBef>
                <a:spcPts val="600"/>
              </a:spcBef>
              <a:spcAft>
                <a:spcPts val="1200"/>
              </a:spcAft>
            </a:pPr>
            <a:r>
              <a:rPr lang="en-US" sz="2200" dirty="0" smtClean="0">
                <a:latin typeface="Helvetica" pitchFamily="34" charset="0"/>
              </a:rPr>
              <a:t>A cash float is the </a:t>
            </a:r>
            <a:r>
              <a:rPr lang="en-US" sz="2200" u="sng" dirty="0" smtClean="0">
                <a:latin typeface="Helvetica" pitchFamily="34" charset="0"/>
              </a:rPr>
              <a:t>amount of money </a:t>
            </a:r>
            <a:r>
              <a:rPr lang="en-US" sz="2200" dirty="0" smtClean="0">
                <a:latin typeface="Helvetica" pitchFamily="34" charset="0"/>
              </a:rPr>
              <a:t>that an establishment has deemed appropriate to </a:t>
            </a:r>
            <a:r>
              <a:rPr lang="en-US" sz="2200" u="sng" dirty="0" smtClean="0">
                <a:latin typeface="Helvetica" pitchFamily="34" charset="0"/>
              </a:rPr>
              <a:t>commence the day’s trading</a:t>
            </a:r>
            <a:r>
              <a:rPr lang="en-US" sz="2200" dirty="0" smtClean="0">
                <a:latin typeface="Helvetica" pitchFamily="34" charset="0"/>
              </a:rPr>
              <a:t> for a cash register/point-of-sale (POS) terminal</a:t>
            </a:r>
          </a:p>
          <a:p>
            <a:pPr>
              <a:spcBef>
                <a:spcPts val="600"/>
              </a:spcBef>
              <a:spcAft>
                <a:spcPts val="1200"/>
              </a:spcAft>
            </a:pPr>
            <a:r>
              <a:rPr lang="en-US" sz="2200" dirty="0" smtClean="0">
                <a:latin typeface="Helvetica" pitchFamily="34" charset="0"/>
              </a:rPr>
              <a:t>It is </a:t>
            </a:r>
            <a:r>
              <a:rPr lang="en-US" sz="2200" u="sng" dirty="0" smtClean="0">
                <a:latin typeface="Helvetica" pitchFamily="34" charset="0"/>
              </a:rPr>
              <a:t>used for giving change </a:t>
            </a:r>
            <a:r>
              <a:rPr lang="en-US" sz="2200" dirty="0" smtClean="0">
                <a:latin typeface="Helvetica" pitchFamily="34" charset="0"/>
              </a:rPr>
              <a:t>when completing transactions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11266" name="Picture 2" descr="C:\Documents and Settings\danielc\Desktop\Provide F&amp;B services images\616447_cash_box.jpg"/>
          <p:cNvPicPr>
            <a:picLocks noChangeAspect="1" noChangeArrowheads="1"/>
          </p:cNvPicPr>
          <p:nvPr/>
        </p:nvPicPr>
        <p:blipFill>
          <a:blip r:embed="rId3" cstate="print"/>
          <a:srcRect/>
          <a:stretch>
            <a:fillRect/>
          </a:stretch>
        </p:blipFill>
        <p:spPr bwMode="auto">
          <a:xfrm>
            <a:off x="3643306" y="4357694"/>
            <a:ext cx="2076358" cy="1654165"/>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US" sz="2200" b="1" dirty="0" smtClean="0">
                <a:latin typeface="Helvetica" pitchFamily="34" charset="0"/>
              </a:rPr>
              <a:t>What is a cash register?</a:t>
            </a:r>
            <a:endParaRPr lang="en-US" sz="2200" dirty="0" smtClean="0">
              <a:latin typeface="Helvetica" pitchFamily="34" charset="0"/>
            </a:endParaRPr>
          </a:p>
          <a:p>
            <a:pPr marL="0">
              <a:spcBef>
                <a:spcPts val="600"/>
              </a:spcBef>
              <a:spcAft>
                <a:spcPts val="1200"/>
              </a:spcAft>
              <a:buNone/>
            </a:pPr>
            <a:r>
              <a:rPr lang="en-US" sz="2200" dirty="0" smtClean="0">
                <a:latin typeface="Helvetica" pitchFamily="34" charset="0"/>
              </a:rPr>
              <a:t>A cash register is a machine that is used to accurately record transactions:</a:t>
            </a:r>
            <a:endParaRPr lang="en-US" sz="2200" b="1" dirty="0" smtClean="0">
              <a:latin typeface="Helvetica" pitchFamily="34" charset="0"/>
            </a:endParaRPr>
          </a:p>
          <a:p>
            <a:pPr marL="342900" indent="-342900">
              <a:spcBef>
                <a:spcPts val="600"/>
              </a:spcBef>
              <a:spcAft>
                <a:spcPts val="1200"/>
              </a:spcAft>
              <a:defRPr/>
            </a:pPr>
            <a:r>
              <a:rPr lang="en-US" sz="2200" dirty="0" smtClean="0">
                <a:latin typeface="Helvetica" pitchFamily="34" charset="0"/>
              </a:rPr>
              <a:t>Charges and methods of payments</a:t>
            </a:r>
          </a:p>
          <a:p>
            <a:pPr marL="342900" indent="-342900">
              <a:spcBef>
                <a:spcPts val="600"/>
              </a:spcBef>
              <a:spcAft>
                <a:spcPts val="1200"/>
              </a:spcAft>
              <a:defRPr/>
            </a:pPr>
            <a:r>
              <a:rPr lang="en-US" sz="2200" dirty="0" smtClean="0">
                <a:latin typeface="Helvetica" pitchFamily="34" charset="0"/>
              </a:rPr>
              <a:t>Issue accounts and receipts</a:t>
            </a:r>
          </a:p>
          <a:p>
            <a:pPr marL="342900" indent="-342900">
              <a:spcBef>
                <a:spcPts val="600"/>
              </a:spcBef>
              <a:spcAft>
                <a:spcPts val="1200"/>
              </a:spcAft>
              <a:defRPr/>
            </a:pPr>
            <a:r>
              <a:rPr lang="en-US" sz="2200" dirty="0" smtClean="0">
                <a:latin typeface="Helvetica" pitchFamily="34" charset="0"/>
              </a:rPr>
              <a:t>Store cash and non-cash payments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5" descr="How to Determine Float for Cash thumbnail"/>
          <p:cNvPicPr/>
          <p:nvPr/>
        </p:nvPicPr>
        <p:blipFill>
          <a:blip r:embed="rId3" cstate="print"/>
          <a:srcRect/>
          <a:stretch>
            <a:fillRect/>
          </a:stretch>
        </p:blipFill>
        <p:spPr bwMode="auto">
          <a:xfrm>
            <a:off x="6000760" y="2786058"/>
            <a:ext cx="1595787" cy="24005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US" sz="2200" b="1" dirty="0" smtClean="0">
                <a:latin typeface="Helvetica" pitchFamily="34" charset="0"/>
              </a:rPr>
              <a:t>Prepare register items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Ensure an adequate supply of:</a:t>
            </a:r>
          </a:p>
          <a:p>
            <a:pPr marL="342900" indent="-342900">
              <a:spcBef>
                <a:spcPts val="600"/>
              </a:spcBef>
              <a:spcAft>
                <a:spcPts val="1200"/>
              </a:spcAft>
              <a:defRPr/>
            </a:pPr>
            <a:r>
              <a:rPr lang="en-US" sz="2200" dirty="0" smtClean="0">
                <a:latin typeface="Helvetica" pitchFamily="34" charset="0"/>
              </a:rPr>
              <a:t>Cash register paper</a:t>
            </a:r>
          </a:p>
          <a:p>
            <a:pPr marL="342900" indent="-342900">
              <a:spcBef>
                <a:spcPts val="600"/>
              </a:spcBef>
              <a:spcAft>
                <a:spcPts val="1200"/>
              </a:spcAft>
              <a:defRPr/>
            </a:pPr>
            <a:r>
              <a:rPr lang="en-US" sz="2200" dirty="0" smtClean="0">
                <a:latin typeface="Helvetica" pitchFamily="34" charset="0"/>
              </a:rPr>
              <a:t>Pens</a:t>
            </a:r>
          </a:p>
          <a:p>
            <a:pPr marL="342900" indent="-342900">
              <a:spcBef>
                <a:spcPts val="600"/>
              </a:spcBef>
              <a:spcAft>
                <a:spcPts val="1200"/>
              </a:spcAft>
              <a:defRPr/>
            </a:pPr>
            <a:r>
              <a:rPr lang="en-US" sz="2200" dirty="0" smtClean="0">
                <a:latin typeface="Helvetica" pitchFamily="34" charset="0"/>
              </a:rPr>
              <a:t>Receipt paper</a:t>
            </a:r>
          </a:p>
          <a:p>
            <a:pPr marL="342900" indent="-342900">
              <a:spcBef>
                <a:spcPts val="600"/>
              </a:spcBef>
              <a:spcAft>
                <a:spcPts val="1200"/>
              </a:spcAft>
              <a:defRPr/>
            </a:pPr>
            <a:r>
              <a:rPr lang="en-US" sz="2200" dirty="0" smtClean="0">
                <a:latin typeface="Helvetica" pitchFamily="34" charset="0"/>
              </a:rPr>
              <a:t>Account folders</a:t>
            </a:r>
          </a:p>
          <a:p>
            <a:pPr marL="342900" indent="-342900">
              <a:spcBef>
                <a:spcPts val="600"/>
              </a:spcBef>
              <a:spcAft>
                <a:spcPts val="1200"/>
              </a:spcAft>
              <a:defRPr/>
            </a:pPr>
            <a:r>
              <a:rPr lang="en-US" sz="2200" dirty="0" smtClean="0">
                <a:latin typeface="Helvetica" pitchFamily="34" charset="0"/>
              </a:rPr>
              <a:t>Ink cartridge</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IMG_2007.jpg"/>
          <p:cNvPicPr>
            <a:picLocks noChangeAspect="1"/>
          </p:cNvPicPr>
          <p:nvPr/>
        </p:nvPicPr>
        <p:blipFill>
          <a:blip r:embed="rId3" cstate="print">
            <a:lum bright="10000" contrast="20000"/>
          </a:blip>
          <a:stretch>
            <a:fillRect/>
          </a:stretch>
        </p:blipFill>
        <p:spPr>
          <a:xfrm>
            <a:off x="5357818" y="2786058"/>
            <a:ext cx="2522970" cy="1892228"/>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US" sz="2200" b="1" dirty="0" smtClean="0">
                <a:latin typeface="Helvetica" pitchFamily="34" charset="0"/>
              </a:rPr>
              <a:t>Prepare register items</a:t>
            </a:r>
          </a:p>
          <a:p>
            <a:pPr marL="342900" indent="-342900">
              <a:spcBef>
                <a:spcPts val="600"/>
              </a:spcBef>
              <a:spcAft>
                <a:spcPts val="1200"/>
              </a:spcAft>
              <a:defRPr/>
            </a:pPr>
            <a:r>
              <a:rPr lang="en-US" sz="2200" dirty="0" smtClean="0">
                <a:latin typeface="Helvetica" pitchFamily="34" charset="0"/>
              </a:rPr>
              <a:t>Cash register paper</a:t>
            </a:r>
          </a:p>
          <a:p>
            <a:pPr marL="342900" indent="-342900">
              <a:spcBef>
                <a:spcPts val="600"/>
              </a:spcBef>
              <a:spcAft>
                <a:spcPts val="1200"/>
              </a:spcAft>
              <a:defRPr/>
            </a:pPr>
            <a:r>
              <a:rPr lang="en-US" sz="2200" dirty="0" smtClean="0">
                <a:latin typeface="Helvetica" pitchFamily="34" charset="0"/>
              </a:rPr>
              <a:t>Sweets or other gifts normally presented with accounts to customers</a:t>
            </a:r>
          </a:p>
          <a:p>
            <a:pPr marL="342900" indent="-342900">
              <a:spcBef>
                <a:spcPts val="600"/>
              </a:spcBef>
              <a:spcAft>
                <a:spcPts val="1200"/>
              </a:spcAft>
              <a:defRPr/>
            </a:pPr>
            <a:r>
              <a:rPr lang="en-US" sz="2200" dirty="0" smtClean="0">
                <a:latin typeface="Helvetica" pitchFamily="34" charset="0"/>
              </a:rPr>
              <a:t>Rubbish bins</a:t>
            </a:r>
          </a:p>
          <a:p>
            <a:pPr marL="342900" indent="-342900">
              <a:spcBef>
                <a:spcPts val="600"/>
              </a:spcBef>
              <a:spcAft>
                <a:spcPts val="1200"/>
              </a:spcAft>
              <a:defRPr/>
            </a:pPr>
            <a:r>
              <a:rPr lang="en-US" sz="2200" dirty="0" smtClean="0">
                <a:latin typeface="Helvetica" pitchFamily="34" charset="0"/>
              </a:rPr>
              <a:t>Spare paper</a:t>
            </a:r>
          </a:p>
          <a:p>
            <a:pPr marL="342900" indent="-342900">
              <a:spcBef>
                <a:spcPts val="600"/>
              </a:spcBef>
              <a:spcAft>
                <a:spcPts val="1200"/>
              </a:spcAft>
              <a:defRPr/>
            </a:pPr>
            <a:r>
              <a:rPr lang="en-US" sz="2200" dirty="0" smtClean="0">
                <a:latin typeface="Helvetica" pitchFamily="34" charset="0"/>
              </a:rPr>
              <a:t>Calculator</a:t>
            </a:r>
          </a:p>
          <a:p>
            <a:pPr marL="342900" indent="-342900">
              <a:spcBef>
                <a:spcPts val="600"/>
              </a:spcBef>
              <a:spcAft>
                <a:spcPts val="1200"/>
              </a:spcAft>
              <a:defRPr/>
            </a:pPr>
            <a:r>
              <a:rPr lang="en-US" sz="2200" dirty="0" smtClean="0">
                <a:latin typeface="Helvetica" pitchFamily="34" charset="0"/>
              </a:rPr>
              <a:t>Currency exchange sheet</a:t>
            </a:r>
            <a:endParaRPr lang="en-US" sz="2200" b="1" dirty="0" smtClean="0">
              <a:latin typeface="Helvetica" pitchFamily="34" charset="0"/>
            </a:endParaRP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6" name="Picture 5" descr="Calculator 1.jpg"/>
          <p:cNvPicPr>
            <a:picLocks noChangeAspect="1"/>
          </p:cNvPicPr>
          <p:nvPr/>
        </p:nvPicPr>
        <p:blipFill>
          <a:blip r:embed="rId3" cstate="print"/>
          <a:stretch>
            <a:fillRect/>
          </a:stretch>
        </p:blipFill>
        <p:spPr>
          <a:xfrm>
            <a:off x="5357818" y="3571876"/>
            <a:ext cx="2495622" cy="166458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US" sz="2200" b="1" dirty="0" smtClean="0">
                <a:latin typeface="Helvetica" pitchFamily="34" charset="0"/>
              </a:rPr>
              <a:t>Prepare register equipment</a:t>
            </a:r>
          </a:p>
          <a:p>
            <a:pPr marL="0">
              <a:spcBef>
                <a:spcPts val="600"/>
              </a:spcBef>
              <a:spcAft>
                <a:spcPts val="1200"/>
              </a:spcAft>
              <a:buNone/>
            </a:pPr>
            <a:r>
              <a:rPr lang="en-US" sz="2200" dirty="0" smtClean="0">
                <a:latin typeface="Helvetica" pitchFamily="34" charset="0"/>
              </a:rPr>
              <a:t>Besides the register there are other machines that must be checked:</a:t>
            </a:r>
          </a:p>
          <a:p>
            <a:pPr marL="342900" indent="-342900">
              <a:spcBef>
                <a:spcPts val="600"/>
              </a:spcBef>
              <a:spcAft>
                <a:spcPts val="1200"/>
              </a:spcAft>
              <a:defRPr/>
            </a:pPr>
            <a:r>
              <a:rPr lang="en-US" sz="2200" dirty="0" smtClean="0">
                <a:latin typeface="Helvetica" pitchFamily="34" charset="0"/>
              </a:rPr>
              <a:t>ETFPOS machines</a:t>
            </a:r>
          </a:p>
          <a:p>
            <a:pPr marL="342900" indent="-342900">
              <a:spcBef>
                <a:spcPts val="600"/>
              </a:spcBef>
              <a:spcAft>
                <a:spcPts val="1200"/>
              </a:spcAft>
              <a:defRPr/>
            </a:pPr>
            <a:r>
              <a:rPr lang="en-US" sz="2200" dirty="0" smtClean="0">
                <a:latin typeface="Helvetica" pitchFamily="34" charset="0"/>
              </a:rPr>
              <a:t>Manual credit card machines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7" name="Picture 6" descr="efpos machine.JPG"/>
          <p:cNvPicPr>
            <a:picLocks noChangeAspect="1"/>
          </p:cNvPicPr>
          <p:nvPr/>
        </p:nvPicPr>
        <p:blipFill>
          <a:blip r:embed="rId3" cstate="print">
            <a:lum contrast="20000"/>
          </a:blip>
          <a:srcRect r="3045"/>
          <a:stretch>
            <a:fillRect/>
          </a:stretch>
        </p:blipFill>
        <p:spPr>
          <a:xfrm>
            <a:off x="5929322" y="3071810"/>
            <a:ext cx="1928826" cy="2060848"/>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cash register station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89530" cy="4944042"/>
          </a:xfrm>
        </p:spPr>
        <p:txBody>
          <a:bodyPr>
            <a:noAutofit/>
          </a:bodyPr>
          <a:lstStyle/>
          <a:p>
            <a:pPr>
              <a:spcBef>
                <a:spcPts val="600"/>
              </a:spcBef>
              <a:spcAft>
                <a:spcPts val="1200"/>
              </a:spcAft>
              <a:buNone/>
            </a:pPr>
            <a:r>
              <a:rPr lang="en-US" sz="2200" b="1" dirty="0" smtClean="0">
                <a:latin typeface="Helvetica" pitchFamily="34" charset="0"/>
              </a:rPr>
              <a:t>Prepare associated information</a:t>
            </a:r>
          </a:p>
          <a:p>
            <a:pPr marL="0">
              <a:spcBef>
                <a:spcPts val="600"/>
              </a:spcBef>
              <a:spcAft>
                <a:spcPts val="1200"/>
              </a:spcAft>
              <a:buNone/>
            </a:pPr>
            <a:r>
              <a:rPr lang="en-AU" sz="2200" dirty="0" smtClean="0">
                <a:latin typeface="Helvetica" pitchFamily="34" charset="0"/>
              </a:rPr>
              <a:t>It is important to have a clear understanding of information that may effect cashiering duties for the day including:</a:t>
            </a:r>
          </a:p>
          <a:p>
            <a:pPr>
              <a:spcBef>
                <a:spcPts val="600"/>
              </a:spcBef>
              <a:spcAft>
                <a:spcPts val="1200"/>
              </a:spcAft>
            </a:pPr>
            <a:r>
              <a:rPr lang="en-AU" sz="2200" dirty="0" smtClean="0">
                <a:latin typeface="Helvetica" pitchFamily="34" charset="0"/>
              </a:rPr>
              <a:t>Function sheets including event items, pricing, contact names and authorisation information</a:t>
            </a:r>
          </a:p>
          <a:p>
            <a:pPr>
              <a:spcBef>
                <a:spcPts val="600"/>
              </a:spcBef>
              <a:spcAft>
                <a:spcPts val="1200"/>
              </a:spcAft>
            </a:pPr>
            <a:r>
              <a:rPr lang="en-AU" sz="2200" dirty="0" smtClean="0">
                <a:latin typeface="Helvetica" pitchFamily="34" charset="0"/>
              </a:rPr>
              <a:t>Methods of payment for VIP or  special groups </a:t>
            </a:r>
            <a:br>
              <a:rPr lang="en-AU" sz="2200" dirty="0" smtClean="0">
                <a:latin typeface="Helvetica" pitchFamily="34" charset="0"/>
              </a:rPr>
            </a:br>
            <a:r>
              <a:rPr lang="en-AU" sz="2200" dirty="0" smtClean="0">
                <a:latin typeface="Helvetica" pitchFamily="34" charset="0"/>
              </a:rPr>
              <a:t>or customers</a:t>
            </a:r>
          </a:p>
          <a:p>
            <a:pPr>
              <a:spcBef>
                <a:spcPts val="600"/>
              </a:spcBef>
              <a:spcAft>
                <a:spcPts val="1200"/>
              </a:spcAft>
            </a:pPr>
            <a:r>
              <a:rPr lang="en-AU" sz="2200" dirty="0" smtClean="0">
                <a:latin typeface="Helvetica" pitchFamily="34" charset="0"/>
              </a:rPr>
              <a:t>Prices for new menu items, specials                                       of the day or promotions</a:t>
            </a:r>
          </a:p>
          <a:p>
            <a:pPr>
              <a:spcBef>
                <a:spcPts val="600"/>
              </a:spcBef>
              <a:spcAft>
                <a:spcPts val="1200"/>
              </a:spcAft>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IMG_2396.jpg"/>
          <p:cNvPicPr>
            <a:picLocks noChangeAspect="1"/>
          </p:cNvPicPr>
          <p:nvPr/>
        </p:nvPicPr>
        <p:blipFill>
          <a:blip r:embed="rId3" cstate="print">
            <a:lum bright="10000"/>
          </a:blip>
          <a:stretch>
            <a:fillRect/>
          </a:stretch>
        </p:blipFill>
        <p:spPr>
          <a:xfrm>
            <a:off x="7072330" y="3714752"/>
            <a:ext cx="1570859" cy="209447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Display food and beverage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pPr>
            <a:r>
              <a:rPr lang="en-AU" sz="2200" dirty="0" smtClean="0">
                <a:latin typeface="Helvetica" pitchFamily="34" charset="0"/>
              </a:rPr>
              <a:t>What food and beverage items are commonly displayed?</a:t>
            </a:r>
          </a:p>
          <a:p>
            <a:pPr>
              <a:spcBef>
                <a:spcPts val="600"/>
              </a:spcBef>
              <a:spcAft>
                <a:spcPts val="1200"/>
              </a:spcAft>
            </a:pPr>
            <a:r>
              <a:rPr lang="en-AU" sz="2200" dirty="0" smtClean="0">
                <a:latin typeface="Helvetica" pitchFamily="34" charset="0"/>
              </a:rPr>
              <a:t>Where are they displayed?</a:t>
            </a:r>
          </a:p>
          <a:p>
            <a:pPr>
              <a:spcBef>
                <a:spcPts val="600"/>
              </a:spcBef>
              <a:spcAft>
                <a:spcPts val="1200"/>
              </a:spcAft>
            </a:pPr>
            <a:r>
              <a:rPr lang="en-AU" sz="2200" dirty="0" smtClean="0">
                <a:latin typeface="Helvetica" pitchFamily="34" charset="0"/>
              </a:rPr>
              <a:t>How do staff promote them?</a:t>
            </a:r>
          </a:p>
          <a:p>
            <a:pPr>
              <a:spcBef>
                <a:spcPts val="600"/>
              </a:spcBef>
              <a:spcAft>
                <a:spcPts val="1200"/>
              </a:spcAft>
            </a:pPr>
            <a:r>
              <a:rPr lang="en-AU" sz="2200" dirty="0" smtClean="0">
                <a:latin typeface="Helvetica" pitchFamily="34" charset="0"/>
              </a:rPr>
              <a:t>How do you display hot food in a hygienic manner?</a:t>
            </a:r>
          </a:p>
          <a:p>
            <a:pPr>
              <a:spcBef>
                <a:spcPts val="600"/>
              </a:spcBef>
              <a:spcAft>
                <a:spcPts val="1200"/>
              </a:spcAft>
            </a:pPr>
            <a:r>
              <a:rPr lang="en-AU" sz="2200" dirty="0" smtClean="0">
                <a:latin typeface="Helvetica" pitchFamily="34" charset="0"/>
              </a:rPr>
              <a:t>How do you display cold food in a hygienic manner?</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12291" name="Picture 3" descr="C:\Documents and Settings\danielc\Desktop\Provide F&amp;B services images\1395880_cupcakes.jpg"/>
          <p:cNvPicPr>
            <a:picLocks noChangeAspect="1" noChangeArrowheads="1"/>
          </p:cNvPicPr>
          <p:nvPr/>
        </p:nvPicPr>
        <p:blipFill>
          <a:blip r:embed="rId3" cstate="print">
            <a:lum contrast="10000"/>
          </a:blip>
          <a:srcRect/>
          <a:stretch>
            <a:fillRect/>
          </a:stretch>
        </p:blipFill>
        <p:spPr bwMode="auto">
          <a:xfrm>
            <a:off x="4286248" y="4786322"/>
            <a:ext cx="2143140" cy="1714512"/>
          </a:xfrm>
          <a:prstGeom prst="rect">
            <a:avLst/>
          </a:prstGeom>
          <a:noFill/>
        </p:spPr>
      </p:pic>
      <p:pic>
        <p:nvPicPr>
          <p:cNvPr id="8" name="Picture 2" descr="C:\Documents and Settings\danielc\Desktop\Provide F&amp;B services images\820060_delicacy_5.jpg"/>
          <p:cNvPicPr>
            <a:picLocks noChangeAspect="1" noChangeArrowheads="1"/>
          </p:cNvPicPr>
          <p:nvPr/>
        </p:nvPicPr>
        <p:blipFill>
          <a:blip r:embed="rId4" cstate="print">
            <a:lum contrast="20000"/>
          </a:blip>
          <a:srcRect/>
          <a:stretch>
            <a:fillRect/>
          </a:stretch>
        </p:blipFill>
        <p:spPr bwMode="auto">
          <a:xfrm>
            <a:off x="2428860" y="4786322"/>
            <a:ext cx="1714512" cy="1714512"/>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Process incoming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As tables have been allocated to incoming reservations, it is vital to ensure that the reservations are in fact accurate and that the people are coming.</a:t>
            </a:r>
          </a:p>
          <a:p>
            <a:pPr>
              <a:spcBef>
                <a:spcPts val="600"/>
              </a:spcBef>
              <a:spcAft>
                <a:spcPts val="1200"/>
              </a:spcAft>
            </a:pPr>
            <a:r>
              <a:rPr lang="en-AU" sz="2200" dirty="0" smtClean="0">
                <a:latin typeface="Helvetica" pitchFamily="34" charset="0"/>
              </a:rPr>
              <a:t>Why is it important to follow up reservations?</a:t>
            </a:r>
          </a:p>
          <a:p>
            <a:pPr>
              <a:spcBef>
                <a:spcPts val="600"/>
              </a:spcBef>
              <a:spcAft>
                <a:spcPts val="1200"/>
              </a:spcAft>
            </a:pPr>
            <a:r>
              <a:rPr lang="en-AU" sz="2200" dirty="0" smtClean="0">
                <a:latin typeface="Helvetica" pitchFamily="34" charset="0"/>
              </a:rPr>
              <a:t>What information needs to be confirmed?</a:t>
            </a:r>
          </a:p>
          <a:p>
            <a:pPr>
              <a:spcBef>
                <a:spcPts val="600"/>
              </a:spcBef>
              <a:spcAft>
                <a:spcPts val="1200"/>
              </a:spcAft>
            </a:pPr>
            <a:r>
              <a:rPr lang="en-AU" sz="2200" dirty="0" smtClean="0">
                <a:latin typeface="Helvetica" pitchFamily="34" charset="0"/>
              </a:rPr>
              <a:t>What resulting actions need to take place?</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6" descr="C:\Documents and Settings\danielc\Local Settings\Temporary Internet Files\Content.IE5\Y88G682L\MP900422562[1].jpg"/>
          <p:cNvPicPr/>
          <p:nvPr/>
        </p:nvPicPr>
        <p:blipFill>
          <a:blip r:embed="rId3" cstate="print"/>
          <a:srcRect/>
          <a:stretch>
            <a:fillRect/>
          </a:stretch>
        </p:blipFill>
        <p:spPr bwMode="auto">
          <a:xfrm>
            <a:off x="6929454" y="2786058"/>
            <a:ext cx="1540215" cy="15611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Process incoming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357298"/>
            <a:ext cx="7467600" cy="5040560"/>
          </a:xfrm>
        </p:spPr>
        <p:txBody>
          <a:bodyPr>
            <a:normAutofit/>
          </a:bodyPr>
          <a:lstStyle/>
          <a:p>
            <a:pPr>
              <a:spcBef>
                <a:spcPts val="600"/>
              </a:spcBef>
              <a:spcAft>
                <a:spcPts val="1200"/>
              </a:spcAft>
              <a:buNone/>
            </a:pPr>
            <a:r>
              <a:rPr lang="en-AU" sz="2200" b="1" dirty="0" smtClean="0">
                <a:latin typeface="Helvetica" pitchFamily="34" charset="0"/>
              </a:rPr>
              <a:t>Importance of following up</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Proves to the customer we value their patronage</a:t>
            </a:r>
          </a:p>
          <a:p>
            <a:pPr lvl="0">
              <a:spcBef>
                <a:spcPts val="600"/>
              </a:spcBef>
              <a:spcAft>
                <a:spcPts val="1200"/>
              </a:spcAft>
            </a:pPr>
            <a:r>
              <a:rPr lang="en-AU" sz="2200" dirty="0" smtClean="0">
                <a:latin typeface="Helvetica" pitchFamily="34" charset="0"/>
              </a:rPr>
              <a:t>Reminds the customer of reservation</a:t>
            </a:r>
          </a:p>
          <a:p>
            <a:pPr lvl="0">
              <a:spcBef>
                <a:spcPts val="600"/>
              </a:spcBef>
              <a:spcAft>
                <a:spcPts val="1200"/>
              </a:spcAft>
            </a:pPr>
            <a:r>
              <a:rPr lang="en-AU" sz="2200" dirty="0" smtClean="0">
                <a:latin typeface="Helvetica" pitchFamily="34" charset="0"/>
              </a:rPr>
              <a:t>Confirms that the reservation is still applicable</a:t>
            </a:r>
          </a:p>
          <a:p>
            <a:pPr lvl="0">
              <a:spcBef>
                <a:spcPts val="600"/>
              </a:spcBef>
              <a:spcAft>
                <a:spcPts val="1200"/>
              </a:spcAft>
            </a:pPr>
            <a:r>
              <a:rPr lang="en-AU" sz="2200" dirty="0" smtClean="0">
                <a:latin typeface="Helvetica" pitchFamily="34" charset="0"/>
              </a:rPr>
              <a:t>Ensure space is confirmed</a:t>
            </a:r>
          </a:p>
          <a:p>
            <a:pPr lvl="0">
              <a:spcBef>
                <a:spcPts val="600"/>
              </a:spcBef>
              <a:spcAft>
                <a:spcPts val="1200"/>
              </a:spcAft>
            </a:pPr>
            <a:r>
              <a:rPr lang="en-AU" sz="2200" dirty="0" smtClean="0">
                <a:latin typeface="Helvetica" pitchFamily="34" charset="0"/>
              </a:rPr>
              <a:t>Tables can be resold or released if not wanted</a:t>
            </a:r>
          </a:p>
          <a:p>
            <a:pPr>
              <a:spcBef>
                <a:spcPts val="600"/>
              </a:spcBef>
              <a:spcAft>
                <a:spcPts val="1200"/>
              </a:spcAft>
            </a:pPr>
            <a:r>
              <a:rPr lang="en-AU" sz="2200" dirty="0" smtClean="0">
                <a:latin typeface="Helvetica" pitchFamily="34" charset="0"/>
              </a:rPr>
              <a:t>Information or arrangements can be confirmed</a:t>
            </a:r>
          </a:p>
          <a:p>
            <a:pPr lvl="0"/>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7" name="Picture 6" descr="4531902594_76716ea8fc_m.jpg"/>
          <p:cNvPicPr>
            <a:picLocks noChangeAspect="1"/>
          </p:cNvPicPr>
          <p:nvPr/>
        </p:nvPicPr>
        <p:blipFill>
          <a:blip r:embed="rId3" cstate="print"/>
          <a:srcRect r="22274"/>
          <a:stretch>
            <a:fillRect/>
          </a:stretch>
        </p:blipFill>
        <p:spPr>
          <a:xfrm>
            <a:off x="6929454" y="2786058"/>
            <a:ext cx="1464312" cy="125596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Process incoming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60968" cy="5040560"/>
          </a:xfrm>
        </p:spPr>
        <p:txBody>
          <a:bodyPr>
            <a:normAutofit/>
          </a:bodyPr>
          <a:lstStyle/>
          <a:p>
            <a:pPr>
              <a:spcBef>
                <a:spcPts val="600"/>
              </a:spcBef>
              <a:spcAft>
                <a:spcPts val="1200"/>
              </a:spcAft>
              <a:buNone/>
            </a:pPr>
            <a:r>
              <a:rPr lang="en-AU" sz="2200" b="1" dirty="0" smtClean="0">
                <a:latin typeface="Helvetica" pitchFamily="34" charset="0"/>
              </a:rPr>
              <a:t>Importance of following up</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Payment methods can be collected</a:t>
            </a:r>
          </a:p>
          <a:p>
            <a:pPr lvl="0">
              <a:spcBef>
                <a:spcPts val="600"/>
              </a:spcBef>
              <a:spcAft>
                <a:spcPts val="1200"/>
              </a:spcAft>
            </a:pPr>
            <a:r>
              <a:rPr lang="en-AU" sz="2200" dirty="0" smtClean="0">
                <a:latin typeface="Helvetica" pitchFamily="34" charset="0"/>
              </a:rPr>
              <a:t>Ensures changes can be accommodated </a:t>
            </a:r>
            <a:br>
              <a:rPr lang="en-AU" sz="2200" dirty="0" smtClean="0">
                <a:latin typeface="Helvetica" pitchFamily="34" charset="0"/>
              </a:rPr>
            </a:br>
            <a:r>
              <a:rPr lang="en-AU" sz="2200" dirty="0" smtClean="0">
                <a:latin typeface="Helvetica" pitchFamily="34" charset="0"/>
              </a:rPr>
              <a:t>before the customer arrives</a:t>
            </a:r>
          </a:p>
          <a:p>
            <a:pPr lvl="0">
              <a:spcBef>
                <a:spcPts val="600"/>
              </a:spcBef>
              <a:spcAft>
                <a:spcPts val="1200"/>
              </a:spcAft>
            </a:pPr>
            <a:r>
              <a:rPr lang="en-AU" sz="2200" dirty="0" smtClean="0">
                <a:latin typeface="Helvetica" pitchFamily="34" charset="0"/>
              </a:rPr>
              <a:t>Where booking charges can be explained and processed</a:t>
            </a:r>
          </a:p>
          <a:p>
            <a:pPr lvl="0">
              <a:spcBef>
                <a:spcPts val="600"/>
              </a:spcBef>
              <a:spcAft>
                <a:spcPts val="1200"/>
              </a:spcAft>
            </a:pPr>
            <a:r>
              <a:rPr lang="en-AU" sz="2200" dirty="0" smtClean="0">
                <a:latin typeface="Helvetica" pitchFamily="34" charset="0"/>
              </a:rPr>
              <a:t>Explain parking arrangements</a:t>
            </a:r>
          </a:p>
          <a:p>
            <a:pPr lvl="0">
              <a:spcBef>
                <a:spcPts val="600"/>
              </a:spcBef>
              <a:spcAft>
                <a:spcPts val="1200"/>
              </a:spcAft>
            </a:pPr>
            <a:r>
              <a:rPr lang="en-AU" sz="2200" dirty="0" smtClean="0">
                <a:latin typeface="Helvetica" pitchFamily="34" charset="0"/>
              </a:rPr>
              <a:t>Waiting list customers can be contacted</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14338" name="Picture 2" descr="C:\Documents and Settings\danielc\Desktop\Provide F&amp;B services images\264140_thats_important.jpg"/>
          <p:cNvPicPr>
            <a:picLocks noChangeAspect="1" noChangeArrowheads="1"/>
          </p:cNvPicPr>
          <p:nvPr/>
        </p:nvPicPr>
        <p:blipFill>
          <a:blip r:embed="rId3" cstate="print"/>
          <a:srcRect/>
          <a:stretch>
            <a:fillRect/>
          </a:stretch>
        </p:blipFill>
        <p:spPr bwMode="auto">
          <a:xfrm>
            <a:off x="6215074" y="1643050"/>
            <a:ext cx="1893651" cy="1855778"/>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Process incoming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Reservation information to confirm</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Status of the reservation – confirmed or cancelled</a:t>
            </a:r>
          </a:p>
          <a:p>
            <a:pPr lvl="0">
              <a:spcBef>
                <a:spcPts val="600"/>
              </a:spcBef>
              <a:spcAft>
                <a:spcPts val="1200"/>
              </a:spcAft>
            </a:pPr>
            <a:r>
              <a:rPr lang="en-AU" sz="2200" dirty="0" smtClean="0">
                <a:latin typeface="Helvetica" pitchFamily="34" charset="0"/>
              </a:rPr>
              <a:t>Name of booking</a:t>
            </a:r>
          </a:p>
          <a:p>
            <a:pPr lvl="0">
              <a:spcBef>
                <a:spcPts val="600"/>
              </a:spcBef>
              <a:spcAft>
                <a:spcPts val="1200"/>
              </a:spcAft>
            </a:pPr>
            <a:r>
              <a:rPr lang="en-AU" sz="2200" dirty="0" smtClean="0">
                <a:latin typeface="Helvetica" pitchFamily="34" charset="0"/>
              </a:rPr>
              <a:t>Number of pax</a:t>
            </a:r>
          </a:p>
          <a:p>
            <a:pPr lvl="0">
              <a:spcBef>
                <a:spcPts val="600"/>
              </a:spcBef>
              <a:spcAft>
                <a:spcPts val="1200"/>
              </a:spcAft>
            </a:pPr>
            <a:r>
              <a:rPr lang="en-AU" sz="2200" dirty="0" smtClean="0">
                <a:latin typeface="Helvetica" pitchFamily="34" charset="0"/>
              </a:rPr>
              <a:t>Expected time of arrival</a:t>
            </a:r>
          </a:p>
          <a:p>
            <a:pPr lvl="0">
              <a:spcBef>
                <a:spcPts val="600"/>
              </a:spcBef>
              <a:spcAft>
                <a:spcPts val="1200"/>
              </a:spcAft>
            </a:pPr>
            <a:r>
              <a:rPr lang="en-AU" sz="2200" dirty="0" smtClean="0">
                <a:latin typeface="Helvetica" pitchFamily="34" charset="0"/>
              </a:rPr>
              <a:t>Any special requests</a:t>
            </a:r>
          </a:p>
          <a:p>
            <a:pPr>
              <a:spcBef>
                <a:spcPts val="600"/>
              </a:spcBef>
              <a:spcAft>
                <a:spcPts val="1200"/>
              </a:spcAft>
            </a:pPr>
            <a:r>
              <a:rPr lang="en-AU" sz="2200" dirty="0" smtClean="0">
                <a:latin typeface="Helvetica" pitchFamily="34" charset="0"/>
              </a:rPr>
              <a:t>Confirm existing requests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7" name="Picture 6" descr="MP900422389[1].JPG"/>
          <p:cNvPicPr/>
          <p:nvPr/>
        </p:nvPicPr>
        <p:blipFill>
          <a:blip r:embed="rId3" cstate="print">
            <a:lum contrast="20000"/>
          </a:blip>
          <a:stretch>
            <a:fillRect/>
          </a:stretch>
        </p:blipFill>
        <p:spPr>
          <a:xfrm>
            <a:off x="5929322" y="2928934"/>
            <a:ext cx="1378673" cy="2071702"/>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Process incoming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357298"/>
            <a:ext cx="7467600" cy="5040560"/>
          </a:xfrm>
        </p:spPr>
        <p:txBody>
          <a:bodyPr>
            <a:normAutofit/>
          </a:bodyPr>
          <a:lstStyle/>
          <a:p>
            <a:pPr>
              <a:spcBef>
                <a:spcPts val="600"/>
              </a:spcBef>
              <a:spcAft>
                <a:spcPts val="1200"/>
              </a:spcAft>
              <a:buNone/>
            </a:pPr>
            <a:r>
              <a:rPr lang="en-AU" sz="2200" b="1" dirty="0" smtClean="0">
                <a:latin typeface="Helvetica" pitchFamily="34" charset="0"/>
              </a:rPr>
              <a:t>Follow up activities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Placing reserved sign on the table</a:t>
            </a:r>
          </a:p>
          <a:p>
            <a:pPr lvl="0">
              <a:spcBef>
                <a:spcPts val="600"/>
              </a:spcBef>
              <a:spcAft>
                <a:spcPts val="1200"/>
              </a:spcAft>
            </a:pPr>
            <a:r>
              <a:rPr lang="en-AU" sz="2200" dirty="0" smtClean="0">
                <a:latin typeface="Helvetica" pitchFamily="34" charset="0"/>
              </a:rPr>
              <a:t>Informing waiters of the tables under their responsibility of reservation details and requests</a:t>
            </a:r>
          </a:p>
          <a:p>
            <a:pPr lvl="0">
              <a:spcBef>
                <a:spcPts val="600"/>
              </a:spcBef>
              <a:spcAft>
                <a:spcPts val="1200"/>
              </a:spcAft>
            </a:pPr>
            <a:r>
              <a:rPr lang="en-AU" sz="2200" dirty="0" smtClean="0">
                <a:latin typeface="Helvetica" pitchFamily="34" charset="0"/>
              </a:rPr>
              <a:t>Informing kitchen of any requests</a:t>
            </a:r>
          </a:p>
          <a:p>
            <a:pPr lvl="0">
              <a:spcBef>
                <a:spcPts val="600"/>
              </a:spcBef>
              <a:spcAft>
                <a:spcPts val="1200"/>
              </a:spcAft>
            </a:pPr>
            <a:r>
              <a:rPr lang="en-AU" sz="2200" dirty="0" smtClean="0">
                <a:latin typeface="Helvetica" pitchFamily="34" charset="0"/>
              </a:rPr>
              <a:t>Follow up on any requests</a:t>
            </a:r>
          </a:p>
          <a:p>
            <a:pPr lvl="0">
              <a:spcBef>
                <a:spcPts val="600"/>
              </a:spcBef>
              <a:spcAft>
                <a:spcPts val="1200"/>
              </a:spcAft>
            </a:pPr>
            <a:r>
              <a:rPr lang="en-AU" sz="2200" dirty="0" smtClean="0">
                <a:latin typeface="Helvetica" pitchFamily="34" charset="0"/>
              </a:rPr>
              <a:t>Phoning people on the waiting list if the previous reservation is now cancelled</a:t>
            </a:r>
          </a:p>
          <a:p>
            <a:pPr lvl="0">
              <a:spcBef>
                <a:spcPts val="600"/>
              </a:spcBef>
              <a:spcAft>
                <a:spcPts val="1200"/>
              </a:spcAft>
            </a:pPr>
            <a:r>
              <a:rPr lang="en-AU" sz="2200" dirty="0" smtClean="0">
                <a:latin typeface="Helvetica" pitchFamily="34" charset="0"/>
              </a:rPr>
              <a:t>Processing charges as applicable</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MP900422380.JPG"/>
          <p:cNvPicPr/>
          <p:nvPr/>
        </p:nvPicPr>
        <p:blipFill>
          <a:blip r:embed="rId3" cstate="print"/>
          <a:stretch>
            <a:fillRect/>
          </a:stretch>
        </p:blipFill>
        <p:spPr>
          <a:xfrm>
            <a:off x="6286512" y="3071810"/>
            <a:ext cx="2039298" cy="1357532"/>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rPr>
              <a:t>Set tables</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5" descr="MP900443800(1).JPG"/>
          <p:cNvPicPr>
            <a:picLocks noChangeAspect="1"/>
          </p:cNvPicPr>
          <p:nvPr/>
        </p:nvPicPr>
        <p:blipFill>
          <a:blip r:embed="rId3" cstate="print">
            <a:lum contrast="20000"/>
          </a:blip>
          <a:stretch>
            <a:fillRect/>
          </a:stretch>
        </p:blipFill>
        <p:spPr>
          <a:xfrm>
            <a:off x="2071670" y="3190536"/>
            <a:ext cx="4000528" cy="266230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Set tables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Match table setting to menu for the session</a:t>
            </a:r>
          </a:p>
          <a:p>
            <a:pPr>
              <a:spcBef>
                <a:spcPts val="600"/>
              </a:spcBef>
              <a:spcAft>
                <a:spcPts val="1200"/>
              </a:spcAft>
            </a:pPr>
            <a:r>
              <a:rPr lang="en-AU" sz="2200" dirty="0" smtClean="0">
                <a:latin typeface="Helvetica" pitchFamily="34" charset="0"/>
              </a:rPr>
              <a:t>Set tables and dress where appropriate</a:t>
            </a:r>
          </a:p>
          <a:p>
            <a:pPr>
              <a:spcBef>
                <a:spcPts val="600"/>
              </a:spcBef>
              <a:spcAft>
                <a:spcPts val="1200"/>
              </a:spcAft>
            </a:pPr>
            <a:r>
              <a:rPr lang="en-AU" sz="2200" dirty="0" smtClean="0">
                <a:latin typeface="Helvetica" pitchFamily="34" charset="0"/>
              </a:rPr>
              <a:t>Complete final inspection of room and table set ups</a:t>
            </a:r>
          </a:p>
          <a:p>
            <a:pPr>
              <a:spcBef>
                <a:spcPts val="600"/>
              </a:spcBef>
              <a:spcAft>
                <a:spcPts val="1200"/>
              </a:spcAft>
            </a:pPr>
            <a:r>
              <a:rPr lang="en-AU" sz="2200" dirty="0" smtClean="0">
                <a:latin typeface="Helvetica" pitchFamily="34" charset="0"/>
              </a:rPr>
              <a:t>Identify and report recurring problems with set up to the appropriate person to prevent recurrence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72198"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00958" y="321468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643702" y="4214818"/>
            <a:ext cx="399154" cy="527046"/>
          </a:xfrm>
          <a:prstGeom prst="rect">
            <a:avLst/>
          </a:prstGeom>
          <a:noFill/>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Once the room setting and equipment is set up it is now time to </a:t>
            </a:r>
            <a:r>
              <a:rPr lang="en-AU" sz="2200" u="sng" dirty="0" smtClean="0">
                <a:latin typeface="Helvetica" pitchFamily="34" charset="0"/>
              </a:rPr>
              <a:t>set the tables</a:t>
            </a:r>
            <a:r>
              <a:rPr lang="en-AU" sz="2200" dirty="0" smtClean="0">
                <a:latin typeface="Helvetica" pitchFamily="34" charset="0"/>
              </a:rPr>
              <a:t> to meet the expected trade for the meal period.</a:t>
            </a:r>
          </a:p>
          <a:p>
            <a:pPr>
              <a:spcBef>
                <a:spcPts val="600"/>
              </a:spcBef>
              <a:spcAft>
                <a:spcPts val="1200"/>
              </a:spcAft>
            </a:pPr>
            <a:r>
              <a:rPr lang="en-AU" sz="2200" dirty="0" smtClean="0">
                <a:latin typeface="Helvetica" pitchFamily="34" charset="0"/>
              </a:rPr>
              <a:t>What types of setting can you prepare?</a:t>
            </a:r>
          </a:p>
          <a:p>
            <a:pPr>
              <a:spcBef>
                <a:spcPts val="600"/>
              </a:spcBef>
              <a:spcAft>
                <a:spcPts val="1200"/>
              </a:spcAft>
            </a:pPr>
            <a:r>
              <a:rPr lang="en-AU" sz="2200" dirty="0" smtClean="0">
                <a:latin typeface="Helvetica" pitchFamily="34" charset="0"/>
              </a:rPr>
              <a:t>What cutlery and crockery is needed?</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555"/>
          <p:cNvPicPr/>
          <p:nvPr/>
        </p:nvPicPr>
        <p:blipFill>
          <a:blip r:embed="rId3" cstate="print"/>
          <a:srcRect/>
          <a:stretch>
            <a:fillRect/>
          </a:stretch>
        </p:blipFill>
        <p:spPr bwMode="auto">
          <a:xfrm>
            <a:off x="6429388" y="2714620"/>
            <a:ext cx="1910111" cy="1739590"/>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b="1" dirty="0" smtClean="0">
                <a:latin typeface="Helvetica" pitchFamily="34" charset="0"/>
              </a:rPr>
              <a:t>A cover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place setting for one guest is commonly known in the industry as a ‘cover’. </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MP900422381.JPG"/>
          <p:cNvPicPr>
            <a:picLocks noChangeAspect="1"/>
          </p:cNvPicPr>
          <p:nvPr/>
        </p:nvPicPr>
        <p:blipFill>
          <a:blip r:embed="rId3" cstate="print">
            <a:lum contrast="20000"/>
          </a:blip>
          <a:stretch>
            <a:fillRect/>
          </a:stretch>
        </p:blipFill>
        <p:spPr>
          <a:xfrm>
            <a:off x="2786050" y="3214686"/>
            <a:ext cx="3055820" cy="203641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A la carte setting</a:t>
            </a:r>
          </a:p>
          <a:p>
            <a:pPr>
              <a:spcBef>
                <a:spcPts val="600"/>
              </a:spcBef>
              <a:spcAft>
                <a:spcPts val="1200"/>
              </a:spcAft>
            </a:pPr>
            <a:r>
              <a:rPr lang="en-AU" sz="2200" dirty="0" smtClean="0">
                <a:latin typeface="Helvetica" pitchFamily="34" charset="0"/>
              </a:rPr>
              <a:t>A la carte is the term used for a menu that has individually priced dishes</a:t>
            </a:r>
          </a:p>
          <a:p>
            <a:pPr>
              <a:spcBef>
                <a:spcPts val="600"/>
              </a:spcBef>
              <a:spcAft>
                <a:spcPts val="1200"/>
              </a:spcAft>
            </a:pPr>
            <a:r>
              <a:rPr lang="en-AU" sz="2200" dirty="0" smtClean="0">
                <a:latin typeface="Helvetica" pitchFamily="34" charset="0"/>
              </a:rPr>
              <a:t>These dishes are divided into entrées, salads, mains and desserts</a:t>
            </a:r>
          </a:p>
          <a:p>
            <a:pPr>
              <a:spcBef>
                <a:spcPts val="600"/>
              </a:spcBef>
              <a:spcAft>
                <a:spcPts val="1200"/>
              </a:spcAft>
            </a:pPr>
            <a:r>
              <a:rPr lang="en-AU" sz="2200" dirty="0" smtClean="0">
                <a:latin typeface="Helvetica" pitchFamily="34" charset="0"/>
              </a:rPr>
              <a:t>A la carte means ‘from the card/menu’</a:t>
            </a:r>
          </a:p>
          <a:p>
            <a:pPr>
              <a:spcBef>
                <a:spcPts val="600"/>
              </a:spcBef>
              <a:spcAft>
                <a:spcPts val="1200"/>
              </a:spcAft>
            </a:pPr>
            <a:r>
              <a:rPr lang="en-AU" sz="2200" dirty="0" smtClean="0">
                <a:latin typeface="Helvetica" pitchFamily="34" charset="0"/>
              </a:rPr>
              <a:t>This type of setting is popular</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descr="MP900401342.JPG"/>
          <p:cNvPicPr>
            <a:picLocks noChangeAspect="1"/>
          </p:cNvPicPr>
          <p:nvPr/>
        </p:nvPicPr>
        <p:blipFill>
          <a:blip r:embed="rId3" cstate="print"/>
          <a:stretch>
            <a:fillRect/>
          </a:stretch>
        </p:blipFill>
        <p:spPr>
          <a:xfrm>
            <a:off x="6215074" y="3857628"/>
            <a:ext cx="2572773" cy="1714512"/>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040560"/>
          </a:xfrm>
        </p:spPr>
        <p:txBody>
          <a:bodyPr>
            <a:normAutofit lnSpcReduction="10000"/>
          </a:bodyPr>
          <a:lstStyle/>
          <a:p>
            <a:pPr>
              <a:spcBef>
                <a:spcPts val="600"/>
              </a:spcBef>
              <a:spcAft>
                <a:spcPts val="1200"/>
              </a:spcAft>
              <a:buNone/>
            </a:pPr>
            <a:r>
              <a:rPr lang="en-AU" sz="2200" b="1" dirty="0" smtClean="0">
                <a:latin typeface="Helvetica" pitchFamily="34" charset="0"/>
              </a:rPr>
              <a:t>A la carte setting</a:t>
            </a:r>
          </a:p>
          <a:p>
            <a:pPr>
              <a:spcBef>
                <a:spcPts val="600"/>
              </a:spcBef>
              <a:spcAft>
                <a:spcPts val="1200"/>
              </a:spcAft>
              <a:buNone/>
            </a:pPr>
            <a:r>
              <a:rPr lang="en-AU" sz="2200" dirty="0" smtClean="0">
                <a:latin typeface="Helvetica" pitchFamily="34" charset="0"/>
              </a:rPr>
              <a:t>This setting usually consists of:</a:t>
            </a:r>
          </a:p>
          <a:p>
            <a:pPr lvl="0">
              <a:spcBef>
                <a:spcPts val="600"/>
              </a:spcBef>
              <a:spcAft>
                <a:spcPts val="1200"/>
              </a:spcAft>
            </a:pPr>
            <a:r>
              <a:rPr lang="en-AU" sz="2200" dirty="0" smtClean="0">
                <a:latin typeface="Helvetica" pitchFamily="34" charset="0"/>
              </a:rPr>
              <a:t>Main course knife</a:t>
            </a:r>
          </a:p>
          <a:p>
            <a:pPr lvl="0">
              <a:spcBef>
                <a:spcPts val="600"/>
              </a:spcBef>
              <a:spcAft>
                <a:spcPts val="1200"/>
              </a:spcAft>
            </a:pPr>
            <a:r>
              <a:rPr lang="en-AU" sz="2200" dirty="0" smtClean="0">
                <a:latin typeface="Helvetica" pitchFamily="34" charset="0"/>
              </a:rPr>
              <a:t>Main course fork</a:t>
            </a:r>
          </a:p>
          <a:p>
            <a:pPr lvl="0">
              <a:spcBef>
                <a:spcPts val="600"/>
              </a:spcBef>
              <a:spcAft>
                <a:spcPts val="1200"/>
              </a:spcAft>
            </a:pPr>
            <a:r>
              <a:rPr lang="en-AU" sz="2200" dirty="0" smtClean="0">
                <a:latin typeface="Helvetica" pitchFamily="34" charset="0"/>
              </a:rPr>
              <a:t>Side plate</a:t>
            </a:r>
          </a:p>
          <a:p>
            <a:pPr lvl="0">
              <a:spcBef>
                <a:spcPts val="600"/>
              </a:spcBef>
              <a:spcAft>
                <a:spcPts val="1200"/>
              </a:spcAft>
            </a:pPr>
            <a:r>
              <a:rPr lang="en-AU" sz="2200" dirty="0" smtClean="0">
                <a:latin typeface="Helvetica" pitchFamily="34" charset="0"/>
              </a:rPr>
              <a:t>Side knife</a:t>
            </a:r>
          </a:p>
          <a:p>
            <a:pPr lvl="0">
              <a:spcBef>
                <a:spcPts val="600"/>
              </a:spcBef>
              <a:spcAft>
                <a:spcPts val="1200"/>
              </a:spcAft>
            </a:pPr>
            <a:r>
              <a:rPr lang="en-AU" sz="2200" dirty="0" smtClean="0">
                <a:latin typeface="Helvetica" pitchFamily="34" charset="0"/>
              </a:rPr>
              <a:t>Wine glass</a:t>
            </a:r>
          </a:p>
          <a:p>
            <a:pPr lvl="0">
              <a:spcBef>
                <a:spcPts val="600"/>
              </a:spcBef>
              <a:spcAft>
                <a:spcPts val="1200"/>
              </a:spcAft>
            </a:pPr>
            <a:r>
              <a:rPr lang="en-AU" sz="2200" dirty="0" smtClean="0">
                <a:latin typeface="Helvetica" pitchFamily="34" charset="0"/>
              </a:rPr>
              <a:t>Napkin</a:t>
            </a:r>
          </a:p>
          <a:p>
            <a:pPr lvl="0">
              <a:spcBef>
                <a:spcPts val="600"/>
              </a:spcBef>
              <a:spcAft>
                <a:spcPts val="1200"/>
              </a:spcAft>
            </a:pPr>
            <a:r>
              <a:rPr lang="en-AU" sz="2200" dirty="0" smtClean="0">
                <a:latin typeface="Helvetica" pitchFamily="34" charset="0"/>
              </a:rPr>
              <a:t>Centre pieces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9" name="Picture 8" descr="MP900443800(1).JPG"/>
          <p:cNvPicPr>
            <a:picLocks noChangeAspect="1"/>
          </p:cNvPicPr>
          <p:nvPr/>
        </p:nvPicPr>
        <p:blipFill>
          <a:blip r:embed="rId3" cstate="print">
            <a:lum bright="10000" contrast="20000"/>
          </a:blip>
          <a:stretch>
            <a:fillRect/>
          </a:stretch>
        </p:blipFill>
        <p:spPr>
          <a:xfrm>
            <a:off x="4499804" y="2928934"/>
            <a:ext cx="2898360" cy="192882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Table d’hôte setting</a:t>
            </a:r>
          </a:p>
          <a:p>
            <a:pPr>
              <a:spcBef>
                <a:spcPts val="600"/>
              </a:spcBef>
              <a:spcAft>
                <a:spcPts val="1200"/>
              </a:spcAft>
            </a:pPr>
            <a:r>
              <a:rPr lang="en-AU" sz="2200" dirty="0" smtClean="0">
                <a:latin typeface="Helvetica" pitchFamily="34" charset="0"/>
              </a:rPr>
              <a:t>A table d’hôte menu is a menu that has a set price for a number of courses</a:t>
            </a:r>
          </a:p>
          <a:p>
            <a:pPr>
              <a:spcBef>
                <a:spcPts val="600"/>
              </a:spcBef>
              <a:spcAft>
                <a:spcPts val="1200"/>
              </a:spcAft>
            </a:pPr>
            <a:r>
              <a:rPr lang="en-AU" sz="2200" dirty="0" smtClean="0">
                <a:latin typeface="Helvetica" pitchFamily="34" charset="0"/>
              </a:rPr>
              <a:t>‘Table d’hôte’ means ‘table of the host’</a:t>
            </a:r>
          </a:p>
          <a:p>
            <a:pPr>
              <a:spcBef>
                <a:spcPts val="600"/>
              </a:spcBef>
              <a:spcAft>
                <a:spcPts val="1200"/>
              </a:spcAft>
            </a:pPr>
            <a:r>
              <a:rPr lang="en-AU" sz="2200" dirty="0" smtClean="0">
                <a:latin typeface="Helvetica" pitchFamily="34" charset="0"/>
              </a:rPr>
              <a:t>All courses are included in the price and </a:t>
            </a:r>
            <a:br>
              <a:rPr lang="en-AU" sz="2200" dirty="0" smtClean="0">
                <a:latin typeface="Helvetica" pitchFamily="34" charset="0"/>
              </a:rPr>
            </a:br>
            <a:r>
              <a:rPr lang="en-AU" sz="2200" dirty="0" smtClean="0">
                <a:latin typeface="Helvetica" pitchFamily="34" charset="0"/>
              </a:rPr>
              <a:t>must be paid for by the guests even if </a:t>
            </a:r>
            <a:br>
              <a:rPr lang="en-AU" sz="2200" dirty="0" smtClean="0">
                <a:latin typeface="Helvetica" pitchFamily="34" charset="0"/>
              </a:rPr>
            </a:br>
            <a:r>
              <a:rPr lang="en-AU" sz="2200" dirty="0" smtClean="0">
                <a:latin typeface="Helvetica" pitchFamily="34" charset="0"/>
              </a:rPr>
              <a:t>they don’t eat every course</a:t>
            </a:r>
          </a:p>
          <a:p>
            <a:pPr>
              <a:spcBef>
                <a:spcPts val="600"/>
              </a:spcBef>
              <a:spcAft>
                <a:spcPts val="1200"/>
              </a:spcAft>
            </a:pPr>
            <a:r>
              <a:rPr lang="en-AU" sz="2200" dirty="0" smtClean="0">
                <a:latin typeface="Helvetica" pitchFamily="34" charset="0"/>
              </a:rPr>
              <a:t>This is often called a ‘set menu’</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8" name="Picture 7" descr="MP900289669.JPG"/>
          <p:cNvPicPr>
            <a:picLocks noChangeAspect="1"/>
          </p:cNvPicPr>
          <p:nvPr/>
        </p:nvPicPr>
        <p:blipFill>
          <a:blip r:embed="rId3" cstate="print"/>
          <a:stretch>
            <a:fillRect/>
          </a:stretch>
        </p:blipFill>
        <p:spPr>
          <a:xfrm>
            <a:off x="6429388" y="2857496"/>
            <a:ext cx="2565355" cy="1714512"/>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301208"/>
          </a:xfrm>
        </p:spPr>
        <p:txBody>
          <a:bodyPr>
            <a:normAutofit/>
          </a:bodyPr>
          <a:lstStyle/>
          <a:p>
            <a:pPr>
              <a:spcBef>
                <a:spcPts val="600"/>
              </a:spcBef>
              <a:spcAft>
                <a:spcPts val="1200"/>
              </a:spcAft>
              <a:buNone/>
            </a:pPr>
            <a:r>
              <a:rPr lang="en-AU" sz="2200" b="1" dirty="0" smtClean="0">
                <a:latin typeface="Helvetica" pitchFamily="34" charset="0"/>
              </a:rPr>
              <a:t>Table d’hôte setting</a:t>
            </a:r>
          </a:p>
          <a:p>
            <a:pPr>
              <a:spcBef>
                <a:spcPts val="600"/>
              </a:spcBef>
              <a:spcAft>
                <a:spcPts val="1200"/>
              </a:spcAft>
              <a:buNone/>
            </a:pPr>
            <a:r>
              <a:rPr lang="en-AU" sz="2200" dirty="0" smtClean="0">
                <a:latin typeface="Helvetica" pitchFamily="34" charset="0"/>
              </a:rPr>
              <a:t>The setting for this menu would be:</a:t>
            </a:r>
          </a:p>
          <a:p>
            <a:pPr lvl="0">
              <a:spcBef>
                <a:spcPts val="600"/>
              </a:spcBef>
              <a:spcAft>
                <a:spcPts val="1200"/>
              </a:spcAft>
            </a:pPr>
            <a:r>
              <a:rPr lang="en-AU" sz="2200" dirty="0" smtClean="0">
                <a:latin typeface="Helvetica" pitchFamily="34" charset="0"/>
              </a:rPr>
              <a:t>Main course knife and fork</a:t>
            </a:r>
          </a:p>
          <a:p>
            <a:pPr lvl="0">
              <a:spcBef>
                <a:spcPts val="600"/>
              </a:spcBef>
              <a:spcAft>
                <a:spcPts val="1200"/>
              </a:spcAft>
            </a:pPr>
            <a:r>
              <a:rPr lang="en-AU" sz="2200" dirty="0" smtClean="0">
                <a:latin typeface="Helvetica" pitchFamily="34" charset="0"/>
              </a:rPr>
              <a:t>Entrée knife and fork</a:t>
            </a:r>
          </a:p>
          <a:p>
            <a:pPr lvl="0">
              <a:spcBef>
                <a:spcPts val="600"/>
              </a:spcBef>
              <a:spcAft>
                <a:spcPts val="1200"/>
              </a:spcAft>
            </a:pPr>
            <a:r>
              <a:rPr lang="en-AU" sz="2200" dirty="0" smtClean="0">
                <a:latin typeface="Helvetica" pitchFamily="34" charset="0"/>
              </a:rPr>
              <a:t>Dessert spoon and fork</a:t>
            </a:r>
          </a:p>
          <a:p>
            <a:pPr lvl="0">
              <a:spcBef>
                <a:spcPts val="600"/>
              </a:spcBef>
              <a:spcAft>
                <a:spcPts val="1200"/>
              </a:spcAft>
            </a:pPr>
            <a:r>
              <a:rPr lang="en-AU" sz="2200" dirty="0" smtClean="0">
                <a:latin typeface="Helvetica" pitchFamily="34" charset="0"/>
              </a:rPr>
              <a:t>Side plate and knife</a:t>
            </a:r>
          </a:p>
          <a:p>
            <a:pPr lvl="0">
              <a:spcBef>
                <a:spcPts val="600"/>
              </a:spcBef>
              <a:spcAft>
                <a:spcPts val="1200"/>
              </a:spcAft>
            </a:pPr>
            <a:r>
              <a:rPr lang="en-AU" sz="2200" dirty="0" smtClean="0">
                <a:latin typeface="Helvetica" pitchFamily="34" charset="0"/>
              </a:rPr>
              <a:t>Wine glass</a:t>
            </a:r>
          </a:p>
          <a:p>
            <a:pPr lvl="0">
              <a:spcBef>
                <a:spcPts val="600"/>
              </a:spcBef>
              <a:spcAft>
                <a:spcPts val="1200"/>
              </a:spcAft>
            </a:pPr>
            <a:r>
              <a:rPr lang="en-AU" sz="2200" dirty="0" smtClean="0">
                <a:latin typeface="Helvetica" pitchFamily="34" charset="0"/>
              </a:rPr>
              <a:t>Napkin</a:t>
            </a:r>
          </a:p>
          <a:p>
            <a:pPr lvl="0">
              <a:spcBef>
                <a:spcPts val="600"/>
              </a:spcBef>
              <a:spcAft>
                <a:spcPts val="1200"/>
              </a:spcAft>
            </a:pPr>
            <a:r>
              <a:rPr lang="en-AU" sz="2200" dirty="0" smtClean="0">
                <a:latin typeface="Helvetica" pitchFamily="34" charset="0"/>
              </a:rPr>
              <a:t>Centre pieces</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din+table+setting+40107"/>
          <p:cNvPicPr/>
          <p:nvPr/>
        </p:nvPicPr>
        <p:blipFill>
          <a:blip r:embed="rId3" cstate="print"/>
          <a:srcRect/>
          <a:stretch>
            <a:fillRect/>
          </a:stretch>
        </p:blipFill>
        <p:spPr bwMode="auto">
          <a:xfrm>
            <a:off x="5214942" y="2571744"/>
            <a:ext cx="2990453" cy="2135113"/>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functions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lvl="0">
              <a:spcBef>
                <a:spcPts val="600"/>
              </a:spcBef>
              <a:spcAft>
                <a:spcPts val="1200"/>
              </a:spcAft>
              <a:buNone/>
            </a:pPr>
            <a:r>
              <a:rPr lang="en-AU" sz="2200" dirty="0" smtClean="0">
                <a:latin typeface="Helvetica" pitchFamily="34" charset="0"/>
              </a:rPr>
              <a:t>There are many types of functions, each with their own requirements.</a:t>
            </a:r>
          </a:p>
          <a:p>
            <a:pPr lvl="0">
              <a:spcBef>
                <a:spcPts val="600"/>
              </a:spcBef>
              <a:spcAft>
                <a:spcPts val="1200"/>
              </a:spcAft>
            </a:pPr>
            <a:r>
              <a:rPr lang="en-AU" sz="2200" dirty="0" smtClean="0">
                <a:latin typeface="Helvetica" pitchFamily="34" charset="0"/>
              </a:rPr>
              <a:t>What functions are commonly held in a hotel?</a:t>
            </a:r>
          </a:p>
          <a:p>
            <a:pPr lvl="0">
              <a:spcBef>
                <a:spcPts val="600"/>
              </a:spcBef>
              <a:spcAft>
                <a:spcPts val="1200"/>
              </a:spcAft>
            </a:pPr>
            <a:r>
              <a:rPr lang="en-AU" sz="2200" dirty="0" smtClean="0">
                <a:latin typeface="Helvetica" pitchFamily="34" charset="0"/>
              </a:rPr>
              <a:t>What table settings are used?</a:t>
            </a:r>
          </a:p>
          <a:p>
            <a:pPr lvl="0">
              <a:spcBef>
                <a:spcPts val="600"/>
              </a:spcBef>
              <a:spcAft>
                <a:spcPts val="1200"/>
              </a:spcAft>
            </a:pPr>
            <a:r>
              <a:rPr lang="en-AU" sz="2200" dirty="0" smtClean="0">
                <a:latin typeface="Helvetica" pitchFamily="34" charset="0"/>
              </a:rPr>
              <a:t>What else needs to be prepared?</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MP900448447.JPG"/>
          <p:cNvPicPr>
            <a:picLocks noChangeAspect="1"/>
          </p:cNvPicPr>
          <p:nvPr/>
        </p:nvPicPr>
        <p:blipFill>
          <a:blip r:embed="rId3" cstate="print"/>
          <a:stretch>
            <a:fillRect/>
          </a:stretch>
        </p:blipFill>
        <p:spPr>
          <a:xfrm>
            <a:off x="6286512" y="3143248"/>
            <a:ext cx="1882648" cy="2350274"/>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House specials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Every food and beverage establishment will have a specific focus in which most or all of its dishes are centred around. This could include specific:</a:t>
            </a:r>
          </a:p>
          <a:p>
            <a:pPr lvl="0">
              <a:spcBef>
                <a:spcPts val="600"/>
              </a:spcBef>
              <a:spcAft>
                <a:spcPts val="1200"/>
              </a:spcAft>
            </a:pPr>
            <a:r>
              <a:rPr lang="en-AU" sz="2200" dirty="0" smtClean="0">
                <a:latin typeface="Helvetica" pitchFamily="34" charset="0"/>
              </a:rPr>
              <a:t>Themes</a:t>
            </a:r>
          </a:p>
          <a:p>
            <a:pPr lvl="0">
              <a:spcBef>
                <a:spcPts val="600"/>
              </a:spcBef>
              <a:spcAft>
                <a:spcPts val="1200"/>
              </a:spcAft>
            </a:pPr>
            <a:r>
              <a:rPr lang="en-AU" sz="2200" dirty="0" smtClean="0">
                <a:latin typeface="Helvetica" pitchFamily="34" charset="0"/>
              </a:rPr>
              <a:t>Cuisines</a:t>
            </a:r>
          </a:p>
          <a:p>
            <a:pPr lvl="0">
              <a:spcBef>
                <a:spcPts val="600"/>
              </a:spcBef>
              <a:spcAft>
                <a:spcPts val="1200"/>
              </a:spcAft>
            </a:pPr>
            <a:r>
              <a:rPr lang="en-AU" sz="2200" dirty="0" smtClean="0">
                <a:latin typeface="Helvetica" pitchFamily="34" charset="0"/>
              </a:rPr>
              <a:t>Specials of the day</a:t>
            </a:r>
          </a:p>
          <a:p>
            <a:pPr lvl="0">
              <a:spcBef>
                <a:spcPts val="600"/>
              </a:spcBef>
              <a:spcAft>
                <a:spcPts val="1200"/>
              </a:spcAft>
            </a:pPr>
            <a:r>
              <a:rPr lang="en-AU" sz="2200" dirty="0" smtClean="0">
                <a:latin typeface="Helvetica" pitchFamily="34" charset="0"/>
              </a:rPr>
              <a:t>Promotions</a:t>
            </a:r>
          </a:p>
          <a:p>
            <a:pPr lvl="0">
              <a:spcBef>
                <a:spcPts val="600"/>
              </a:spcBef>
              <a:spcAft>
                <a:spcPts val="1200"/>
              </a:spcAft>
            </a:pPr>
            <a:r>
              <a:rPr lang="en-AU" sz="2200" dirty="0" smtClean="0">
                <a:latin typeface="Helvetica" pitchFamily="34" charset="0"/>
              </a:rPr>
              <a:t>Favourites or popular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7" name="Picture 6" descr="Chocolate mousse cake.JPG"/>
          <p:cNvPicPr>
            <a:picLocks noChangeAspect="1"/>
          </p:cNvPicPr>
          <p:nvPr/>
        </p:nvPicPr>
        <p:blipFill>
          <a:blip r:embed="rId3" cstate="print"/>
          <a:stretch>
            <a:fillRect/>
          </a:stretch>
        </p:blipFill>
        <p:spPr>
          <a:xfrm>
            <a:off x="5929322" y="3214686"/>
            <a:ext cx="2064099" cy="145789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Meal periods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Naturally each meal period will require different settings, appropriate to what is being served.</a:t>
            </a:r>
          </a:p>
          <a:p>
            <a:pPr>
              <a:spcBef>
                <a:spcPts val="600"/>
              </a:spcBef>
              <a:spcAft>
                <a:spcPts val="1200"/>
              </a:spcAft>
            </a:pPr>
            <a:r>
              <a:rPr lang="en-AU" sz="2200" dirty="0" smtClean="0">
                <a:latin typeface="Helvetica" pitchFamily="34" charset="0"/>
              </a:rPr>
              <a:t>What different meal periods are there?</a:t>
            </a:r>
          </a:p>
          <a:p>
            <a:pPr>
              <a:spcBef>
                <a:spcPts val="600"/>
              </a:spcBef>
              <a:spcAft>
                <a:spcPts val="1200"/>
              </a:spcAft>
            </a:pPr>
            <a:r>
              <a:rPr lang="en-AU" sz="2200" dirty="0" smtClean="0">
                <a:latin typeface="Helvetica" pitchFamily="34" charset="0"/>
              </a:rPr>
              <a:t>What types of food and beverage are provided?</a:t>
            </a:r>
          </a:p>
          <a:p>
            <a:pPr>
              <a:spcBef>
                <a:spcPts val="600"/>
              </a:spcBef>
              <a:spcAft>
                <a:spcPts val="1200"/>
              </a:spcAft>
            </a:pPr>
            <a:r>
              <a:rPr lang="en-AU" sz="2200" dirty="0" smtClean="0">
                <a:latin typeface="Helvetica" pitchFamily="34" charset="0"/>
              </a:rPr>
              <a:t>How should tables be set for these?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7" name="Picture 6" descr="l116368-2.jpg"/>
          <p:cNvPicPr>
            <a:picLocks noChangeAspect="1"/>
          </p:cNvPicPr>
          <p:nvPr/>
        </p:nvPicPr>
        <p:blipFill>
          <a:blip r:embed="rId3" cstate="print">
            <a:lum contrast="10000"/>
          </a:blip>
          <a:stretch>
            <a:fillRect/>
          </a:stretch>
        </p:blipFill>
        <p:spPr>
          <a:xfrm>
            <a:off x="6143636" y="3857628"/>
            <a:ext cx="2278008" cy="197546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Meal periods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pPr>
            <a:r>
              <a:rPr lang="en-AU" sz="2200" dirty="0" smtClean="0">
                <a:latin typeface="Helvetica" pitchFamily="34" charset="0"/>
              </a:rPr>
              <a:t>Breakfast menu </a:t>
            </a:r>
          </a:p>
          <a:p>
            <a:pPr>
              <a:spcBef>
                <a:spcPts val="600"/>
              </a:spcBef>
              <a:spcAft>
                <a:spcPts val="1200"/>
              </a:spcAft>
            </a:pPr>
            <a:r>
              <a:rPr lang="en-AU" sz="2200" dirty="0" smtClean="0">
                <a:latin typeface="Helvetica" pitchFamily="34" charset="0"/>
              </a:rPr>
              <a:t>Morning/afternoon teas</a:t>
            </a:r>
          </a:p>
          <a:p>
            <a:pPr>
              <a:spcBef>
                <a:spcPts val="600"/>
              </a:spcBef>
              <a:spcAft>
                <a:spcPts val="1200"/>
              </a:spcAft>
            </a:pPr>
            <a:r>
              <a:rPr lang="en-AU" sz="2200" dirty="0" smtClean="0">
                <a:latin typeface="Helvetica" pitchFamily="34" charset="0"/>
              </a:rPr>
              <a:t> Lunch menu</a:t>
            </a:r>
          </a:p>
          <a:p>
            <a:pPr>
              <a:spcBef>
                <a:spcPts val="600"/>
              </a:spcBef>
              <a:spcAft>
                <a:spcPts val="1200"/>
              </a:spcAft>
            </a:pPr>
            <a:r>
              <a:rPr lang="en-AU" sz="2200" dirty="0" smtClean="0">
                <a:latin typeface="Helvetica" pitchFamily="34" charset="0"/>
              </a:rPr>
              <a:t> Dinner menu</a:t>
            </a:r>
          </a:p>
          <a:p>
            <a:pPr>
              <a:spcBef>
                <a:spcPts val="600"/>
              </a:spcBef>
              <a:spcAft>
                <a:spcPts val="1200"/>
              </a:spcAft>
            </a:pPr>
            <a:r>
              <a:rPr lang="en-AU" sz="2200" dirty="0" smtClean="0">
                <a:latin typeface="Helvetica" pitchFamily="34" charset="0"/>
              </a:rPr>
              <a:t> Seminar/conference</a:t>
            </a:r>
          </a:p>
          <a:p>
            <a:pPr>
              <a:spcBef>
                <a:spcPts val="600"/>
              </a:spcBef>
              <a:spcAft>
                <a:spcPts val="1200"/>
              </a:spcAft>
            </a:pPr>
            <a:r>
              <a:rPr lang="en-AU" sz="2200" dirty="0" smtClean="0">
                <a:latin typeface="Helvetica" pitchFamily="34" charset="0"/>
              </a:rPr>
              <a:t> Wedding</a:t>
            </a:r>
          </a:p>
          <a:p>
            <a:pPr>
              <a:spcBef>
                <a:spcPts val="600"/>
              </a:spcBef>
              <a:spcAft>
                <a:spcPts val="1200"/>
              </a:spcAft>
            </a:pPr>
            <a:r>
              <a:rPr lang="en-AU" sz="2200" dirty="0" smtClean="0">
                <a:latin typeface="Helvetica" pitchFamily="34" charset="0"/>
              </a:rPr>
              <a:t> Cocktail parties </a:t>
            </a:r>
          </a:p>
          <a:p>
            <a:pPr>
              <a:spcBef>
                <a:spcPts val="600"/>
              </a:spcBef>
              <a:spcAft>
                <a:spcPts val="1200"/>
              </a:spcAft>
            </a:pPr>
            <a:r>
              <a:rPr lang="en-AU" sz="2200" dirty="0" smtClean="0">
                <a:latin typeface="Helvetica" pitchFamily="34" charset="0"/>
              </a:rPr>
              <a:t> Promotions and product launches </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7" name="Picture 6" descr="MP900430476.JPG"/>
          <p:cNvPicPr/>
          <p:nvPr/>
        </p:nvPicPr>
        <p:blipFill>
          <a:blip r:embed="rId3" cstate="print"/>
          <a:stretch>
            <a:fillRect/>
          </a:stretch>
        </p:blipFill>
        <p:spPr>
          <a:xfrm>
            <a:off x="6215074" y="2571744"/>
            <a:ext cx="1819275" cy="1666875"/>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are many styles of service that require different settings.</a:t>
            </a:r>
          </a:p>
          <a:p>
            <a:pPr>
              <a:spcBef>
                <a:spcPts val="600"/>
              </a:spcBef>
              <a:spcAft>
                <a:spcPts val="1200"/>
              </a:spcAft>
            </a:pPr>
            <a:r>
              <a:rPr lang="en-AU" sz="2200" dirty="0" smtClean="0">
                <a:latin typeface="Helvetica" pitchFamily="34" charset="0"/>
              </a:rPr>
              <a:t>What styles of service do you know?</a:t>
            </a:r>
            <a:endParaRPr lang="en-AU" sz="2200" dirty="0">
              <a:latin typeface="Helvetica" pitchFamily="34" charset="0"/>
            </a:endParaRPr>
          </a:p>
          <a:p>
            <a:pPr>
              <a:spcBef>
                <a:spcPts val="600"/>
              </a:spcBef>
              <a:spcAft>
                <a:spcPts val="1200"/>
              </a:spcAft>
            </a:pPr>
            <a:r>
              <a:rPr lang="en-AU" sz="2200" dirty="0" smtClean="0">
                <a:latin typeface="Helvetica" pitchFamily="34" charset="0"/>
              </a:rPr>
              <a:t>How are table settings influenced?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4327744633_b11563c895.jpg"/>
          <p:cNvPicPr>
            <a:picLocks noChangeAspect="1"/>
          </p:cNvPicPr>
          <p:nvPr/>
        </p:nvPicPr>
        <p:blipFill>
          <a:blip r:embed="rId3" cstate="print"/>
          <a:stretch>
            <a:fillRect/>
          </a:stretch>
        </p:blipFill>
        <p:spPr>
          <a:xfrm>
            <a:off x="5857884" y="2357430"/>
            <a:ext cx="2381250" cy="1581150"/>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Plated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Kitchen plates all the food and the waiting staff carry the plated food to the table.</a:t>
            </a:r>
          </a:p>
          <a:p>
            <a:pPr>
              <a:spcBef>
                <a:spcPts val="600"/>
              </a:spcBef>
              <a:spcAft>
                <a:spcPts val="1200"/>
              </a:spcAft>
              <a:buNone/>
            </a:pPr>
            <a:r>
              <a:rPr lang="en-AU" sz="2200" dirty="0" smtClean="0">
                <a:latin typeface="Helvetica" pitchFamily="34" charset="0"/>
              </a:rPr>
              <a:t>The benefits of plated service are:</a:t>
            </a:r>
          </a:p>
          <a:p>
            <a:pPr lvl="0">
              <a:spcBef>
                <a:spcPts val="600"/>
              </a:spcBef>
              <a:spcAft>
                <a:spcPts val="1200"/>
              </a:spcAft>
            </a:pPr>
            <a:r>
              <a:rPr lang="en-AU" sz="2200" dirty="0" smtClean="0">
                <a:latin typeface="Helvetica" pitchFamily="34" charset="0"/>
              </a:rPr>
              <a:t>Consistency of meals</a:t>
            </a:r>
          </a:p>
          <a:p>
            <a:pPr lvl="0">
              <a:spcBef>
                <a:spcPts val="600"/>
              </a:spcBef>
              <a:spcAft>
                <a:spcPts val="1200"/>
              </a:spcAft>
            </a:pPr>
            <a:r>
              <a:rPr lang="en-AU" sz="2200" dirty="0" smtClean="0">
                <a:latin typeface="Helvetica" pitchFamily="34" charset="0"/>
              </a:rPr>
              <a:t>Fast service</a:t>
            </a:r>
          </a:p>
          <a:p>
            <a:pPr lvl="0">
              <a:spcBef>
                <a:spcPts val="600"/>
              </a:spcBef>
              <a:spcAft>
                <a:spcPts val="1200"/>
              </a:spcAft>
            </a:pPr>
            <a:r>
              <a:rPr lang="en-AU" sz="2200" dirty="0" smtClean="0">
                <a:latin typeface="Helvetica" pitchFamily="34" charset="0"/>
              </a:rPr>
              <a:t>Portion control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http://farm9.staticflickr.com/8039/7980174977_54b6d71e8b.jpg"/>
          <p:cNvPicPr/>
          <p:nvPr/>
        </p:nvPicPr>
        <p:blipFill>
          <a:blip r:embed="rId3" cstate="print"/>
          <a:srcRect/>
          <a:stretch>
            <a:fillRect/>
          </a:stretch>
        </p:blipFill>
        <p:spPr bwMode="auto">
          <a:xfrm>
            <a:off x="5786446" y="3000372"/>
            <a:ext cx="2557463" cy="195738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Silver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Food items are prepared and carved or separated into individual portions and placed on platters by kitchen staff. </a:t>
            </a:r>
          </a:p>
          <a:p>
            <a:pPr marL="0">
              <a:spcBef>
                <a:spcPts val="600"/>
              </a:spcBef>
              <a:spcAft>
                <a:spcPts val="1200"/>
              </a:spcAft>
              <a:buNone/>
            </a:pPr>
            <a:r>
              <a:rPr lang="en-AU" sz="2200" dirty="0" smtClean="0">
                <a:latin typeface="Helvetica" pitchFamily="34" charset="0"/>
              </a:rPr>
              <a:t>Waiting staff use spoons and forks to serve food from service platters</a:t>
            </a:r>
          </a:p>
          <a:p>
            <a:pPr>
              <a:spcBef>
                <a:spcPts val="600"/>
              </a:spcBef>
              <a:spcAft>
                <a:spcPts val="1200"/>
              </a:spcAft>
              <a:buNone/>
            </a:pPr>
            <a:r>
              <a:rPr lang="en-AU" sz="2200" dirty="0" smtClean="0">
                <a:latin typeface="Helvetica" pitchFamily="34" charset="0"/>
              </a:rPr>
              <a:t>The benefits of silver service are:</a:t>
            </a:r>
          </a:p>
          <a:p>
            <a:pPr lvl="0">
              <a:spcBef>
                <a:spcPts val="600"/>
              </a:spcBef>
              <a:spcAft>
                <a:spcPts val="1200"/>
              </a:spcAft>
            </a:pPr>
            <a:r>
              <a:rPr lang="en-AU" sz="2200" dirty="0" smtClean="0">
                <a:latin typeface="Helvetica" pitchFamily="34" charset="0"/>
              </a:rPr>
              <a:t>Adds a dimension of ‘entertainment and                        sophistication’</a:t>
            </a:r>
          </a:p>
          <a:p>
            <a:pPr lvl="0">
              <a:spcBef>
                <a:spcPts val="600"/>
              </a:spcBef>
              <a:spcAft>
                <a:spcPts val="1200"/>
              </a:spcAft>
            </a:pPr>
            <a:r>
              <a:rPr lang="en-AU" sz="2200" dirty="0" smtClean="0">
                <a:latin typeface="Helvetica" pitchFamily="34" charset="0"/>
              </a:rPr>
              <a:t>Customers can have greater choice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3977124990_4679a18af9_m.jpg"/>
          <p:cNvPicPr>
            <a:picLocks noChangeAspect="1"/>
          </p:cNvPicPr>
          <p:nvPr/>
        </p:nvPicPr>
        <p:blipFill>
          <a:blip r:embed="rId3" cstate="print"/>
          <a:stretch>
            <a:fillRect/>
          </a:stretch>
        </p:blipFill>
        <p:spPr>
          <a:xfrm>
            <a:off x="6786578" y="3786190"/>
            <a:ext cx="1405875" cy="1973158"/>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Semi-silver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meat component of the dish is plated and served, and the vegetables are silver served</a:t>
            </a:r>
          </a:p>
          <a:p>
            <a:pPr>
              <a:spcBef>
                <a:spcPts val="600"/>
              </a:spcBef>
              <a:spcAft>
                <a:spcPts val="1200"/>
              </a:spcAft>
              <a:buNone/>
            </a:pPr>
            <a:r>
              <a:rPr lang="en-AU" sz="2200" dirty="0" smtClean="0">
                <a:latin typeface="Helvetica" pitchFamily="34" charset="0"/>
              </a:rPr>
              <a:t>The benefits of semi-silver service are:</a:t>
            </a:r>
          </a:p>
          <a:p>
            <a:pPr lvl="0">
              <a:spcBef>
                <a:spcPts val="600"/>
              </a:spcBef>
              <a:spcAft>
                <a:spcPts val="1200"/>
              </a:spcAft>
            </a:pPr>
            <a:r>
              <a:rPr lang="en-AU" sz="2200" dirty="0" smtClean="0">
                <a:latin typeface="Helvetica" pitchFamily="34" charset="0"/>
              </a:rPr>
              <a:t>It increases options for customer</a:t>
            </a:r>
          </a:p>
          <a:p>
            <a:pPr lvl="0">
              <a:spcBef>
                <a:spcPts val="600"/>
              </a:spcBef>
              <a:spcAft>
                <a:spcPts val="1200"/>
              </a:spcAft>
            </a:pPr>
            <a:r>
              <a:rPr lang="en-AU" sz="2200" dirty="0" smtClean="0">
                <a:latin typeface="Helvetica" pitchFamily="34" charset="0"/>
              </a:rPr>
              <a:t>It is a more time efficient use of silver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5" name="Picture 4" descr="http://www.yachtstewardess.biz/Silver%20Service%203.jpg"/>
          <p:cNvPicPr/>
          <p:nvPr/>
        </p:nvPicPr>
        <p:blipFill>
          <a:blip r:embed="rId3" cstate="print"/>
          <a:srcRect/>
          <a:stretch>
            <a:fillRect/>
          </a:stretch>
        </p:blipFill>
        <p:spPr bwMode="auto">
          <a:xfrm>
            <a:off x="6444208" y="2708920"/>
            <a:ext cx="2227567" cy="15001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Gueridon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Food is prepared or cooked at the table and served using full silver service techniques. </a:t>
            </a:r>
          </a:p>
          <a:p>
            <a:pPr>
              <a:spcBef>
                <a:spcPts val="600"/>
              </a:spcBef>
              <a:spcAft>
                <a:spcPts val="1200"/>
              </a:spcAft>
              <a:buNone/>
            </a:pPr>
            <a:r>
              <a:rPr lang="en-AU" sz="2200" dirty="0" smtClean="0">
                <a:latin typeface="Helvetica" pitchFamily="34" charset="0"/>
              </a:rPr>
              <a:t>The benefits of gueridon service are:</a:t>
            </a:r>
          </a:p>
          <a:p>
            <a:pPr lvl="0">
              <a:spcBef>
                <a:spcPts val="600"/>
              </a:spcBef>
              <a:spcAft>
                <a:spcPts val="1200"/>
              </a:spcAft>
            </a:pPr>
            <a:r>
              <a:rPr lang="en-AU" sz="2200" dirty="0" smtClean="0">
                <a:latin typeface="Helvetica" pitchFamily="34" charset="0"/>
              </a:rPr>
              <a:t>It is a form of entertainment</a:t>
            </a:r>
          </a:p>
          <a:p>
            <a:pPr lvl="0">
              <a:spcBef>
                <a:spcPts val="600"/>
              </a:spcBef>
              <a:spcAft>
                <a:spcPts val="1200"/>
              </a:spcAft>
            </a:pPr>
            <a:r>
              <a:rPr lang="en-AU" sz="2200" dirty="0" smtClean="0">
                <a:latin typeface="Helvetica" pitchFamily="34" charset="0"/>
              </a:rPr>
              <a:t>It is interactive</a:t>
            </a:r>
          </a:p>
          <a:p>
            <a:pPr lvl="0">
              <a:spcBef>
                <a:spcPts val="600"/>
              </a:spcBef>
              <a:spcAft>
                <a:spcPts val="1200"/>
              </a:spcAft>
            </a:pPr>
            <a:r>
              <a:rPr lang="en-AU" sz="2200" dirty="0" smtClean="0">
                <a:latin typeface="Helvetica" pitchFamily="34" charset="0"/>
              </a:rPr>
              <a:t>It allows customers to see the cooking                                process</a:t>
            </a:r>
          </a:p>
          <a:p>
            <a:pPr lvl="0">
              <a:spcBef>
                <a:spcPts val="600"/>
              </a:spcBef>
              <a:spcAft>
                <a:spcPts val="1200"/>
              </a:spcAft>
            </a:pPr>
            <a:r>
              <a:rPr lang="en-AU" sz="2200" dirty="0" smtClean="0">
                <a:latin typeface="Helvetica" pitchFamily="34" charset="0"/>
              </a:rPr>
              <a:t>Meals can be prepared to customers’                                        exact specifications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flambe.jpg"/>
          <p:cNvPicPr>
            <a:picLocks noChangeAspect="1"/>
          </p:cNvPicPr>
          <p:nvPr/>
        </p:nvPicPr>
        <p:blipFill>
          <a:blip r:embed="rId3" cstate="print"/>
          <a:stretch>
            <a:fillRect/>
          </a:stretch>
        </p:blipFill>
        <p:spPr>
          <a:xfrm>
            <a:off x="6215074" y="3143248"/>
            <a:ext cx="2128416" cy="1714161"/>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Buffet service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Food is prepared in kitchens in large quantities and then placed on a buffet or display table</a:t>
            </a:r>
          </a:p>
          <a:p>
            <a:pPr>
              <a:spcBef>
                <a:spcPts val="600"/>
              </a:spcBef>
              <a:spcAft>
                <a:spcPts val="1200"/>
              </a:spcAft>
            </a:pPr>
            <a:r>
              <a:rPr lang="en-AU" sz="2200" dirty="0" smtClean="0">
                <a:latin typeface="Helvetica" pitchFamily="34" charset="0"/>
              </a:rPr>
              <a:t>In most buffet situations guests serve themselves and select the items and quantities they desire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7" name="Picture 6" descr="http://farm5.staticflickr.com/4055/4327744633_b11563c895.jpg"/>
          <p:cNvPicPr/>
          <p:nvPr/>
        </p:nvPicPr>
        <p:blipFill>
          <a:blip r:embed="rId3" cstate="print"/>
          <a:srcRect/>
          <a:stretch>
            <a:fillRect/>
          </a:stretch>
        </p:blipFill>
        <p:spPr bwMode="auto">
          <a:xfrm>
            <a:off x="2285984" y="4143379"/>
            <a:ext cx="2371727" cy="1656667"/>
          </a:xfrm>
          <a:prstGeom prst="rect">
            <a:avLst/>
          </a:prstGeom>
          <a:noFill/>
          <a:ln w="9525">
            <a:noFill/>
            <a:miter lim="800000"/>
            <a:headEnd/>
            <a:tailEnd/>
          </a:ln>
        </p:spPr>
      </p:pic>
      <p:pic>
        <p:nvPicPr>
          <p:cNvPr id="6" name="Picture 5" descr="Dale Buffet 2010 028.jpg"/>
          <p:cNvPicPr/>
          <p:nvPr/>
        </p:nvPicPr>
        <p:blipFill>
          <a:blip r:embed="rId4" cstate="print"/>
          <a:stretch>
            <a:fillRect/>
          </a:stretch>
        </p:blipFill>
        <p:spPr>
          <a:xfrm>
            <a:off x="4714876" y="4143380"/>
            <a:ext cx="2180404" cy="1643074"/>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Cocktail service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style of service is very popular, either as a prelude to a dinner or as a stand alone function in its own right</a:t>
            </a:r>
          </a:p>
          <a:p>
            <a:pPr>
              <a:spcBef>
                <a:spcPts val="600"/>
              </a:spcBef>
              <a:spcAft>
                <a:spcPts val="1200"/>
              </a:spcAft>
            </a:pPr>
            <a:r>
              <a:rPr lang="en-AU" sz="2200" dirty="0" smtClean="0">
                <a:latin typeface="Helvetica" pitchFamily="34" charset="0"/>
              </a:rPr>
              <a:t>Waiters providing a range of finger foods and beverage to customers in a stand up function</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7" name="Picture 6" descr="MP900443974.JPG"/>
          <p:cNvPicPr>
            <a:picLocks noChangeAspect="1"/>
          </p:cNvPicPr>
          <p:nvPr/>
        </p:nvPicPr>
        <p:blipFill>
          <a:blip r:embed="rId3" cstate="print">
            <a:lum contrast="10000"/>
          </a:blip>
          <a:stretch>
            <a:fillRect/>
          </a:stretch>
        </p:blipFill>
        <p:spPr>
          <a:xfrm>
            <a:off x="4214810" y="4071942"/>
            <a:ext cx="1470729" cy="215724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and dress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One of the most important steps when setting up for service is to ensure that the tables are set up to meet the requirements of the upcoming session.</a:t>
            </a:r>
          </a:p>
          <a:p>
            <a:pPr>
              <a:spcBef>
                <a:spcPts val="600"/>
              </a:spcBef>
              <a:spcAft>
                <a:spcPts val="1200"/>
              </a:spcAft>
            </a:pPr>
            <a:r>
              <a:rPr lang="en-AU" sz="2200" dirty="0" smtClean="0">
                <a:latin typeface="Helvetica" pitchFamily="34" charset="0"/>
              </a:rPr>
              <a:t>What are the objectives when setting and dressing a table?</a:t>
            </a:r>
          </a:p>
          <a:p>
            <a:pPr>
              <a:spcBef>
                <a:spcPts val="600"/>
              </a:spcBef>
              <a:spcAft>
                <a:spcPts val="1200"/>
              </a:spcAft>
            </a:pPr>
            <a:r>
              <a:rPr lang="en-AU" sz="2200" dirty="0" smtClean="0">
                <a:latin typeface="Helvetica" pitchFamily="34" charset="0"/>
              </a:rPr>
              <a:t>What needs to be set up?</a:t>
            </a:r>
          </a:p>
          <a:p>
            <a:pPr>
              <a:spcBef>
                <a:spcPts val="600"/>
              </a:spcBef>
              <a:spcAft>
                <a:spcPts val="1200"/>
              </a:spcAft>
            </a:pPr>
            <a:r>
              <a:rPr lang="en-AU" sz="2200" dirty="0" smtClean="0">
                <a:latin typeface="Helvetica" pitchFamily="34" charset="0"/>
              </a:rPr>
              <a:t>What preparation tasks are to done?</a:t>
            </a:r>
          </a:p>
          <a:p>
            <a:pPr>
              <a:spcBef>
                <a:spcPts val="600"/>
              </a:spcBef>
              <a:spcAft>
                <a:spcPts val="1200"/>
              </a:spcAft>
            </a:pPr>
            <a:r>
              <a:rPr lang="en-AU" sz="2200" dirty="0" smtClean="0">
                <a:latin typeface="Helvetica" pitchFamily="34" charset="0"/>
              </a:rPr>
              <a:t>How do you ‘dress’ a table?</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6" name="Picture 5" descr="6005359137_bc7b759a01.jpg"/>
          <p:cNvPicPr>
            <a:picLocks noChangeAspect="1"/>
          </p:cNvPicPr>
          <p:nvPr/>
        </p:nvPicPr>
        <p:blipFill>
          <a:blip r:embed="rId3" cstate="print"/>
          <a:stretch>
            <a:fillRect/>
          </a:stretch>
        </p:blipFill>
        <p:spPr>
          <a:xfrm>
            <a:off x="6143636" y="3500438"/>
            <a:ext cx="2310039" cy="1538486"/>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Set and dress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03844" cy="5040560"/>
          </a:xfrm>
        </p:spPr>
        <p:txBody>
          <a:bodyPr>
            <a:normAutofit/>
          </a:bodyPr>
          <a:lstStyle/>
          <a:p>
            <a:pPr>
              <a:spcBef>
                <a:spcPts val="600"/>
              </a:spcBef>
              <a:spcAft>
                <a:spcPts val="1200"/>
              </a:spcAft>
              <a:buNone/>
            </a:pPr>
            <a:r>
              <a:rPr lang="en-AU" sz="2200" b="1" dirty="0" smtClean="0">
                <a:latin typeface="Helvetica" pitchFamily="34" charset="0"/>
              </a:rPr>
              <a:t>Importance of professional table settings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great deal of work and attention to detail must be applied when setting tables, as they must:</a:t>
            </a:r>
          </a:p>
          <a:p>
            <a:pPr lvl="0">
              <a:spcBef>
                <a:spcPts val="600"/>
              </a:spcBef>
              <a:spcAft>
                <a:spcPts val="1200"/>
              </a:spcAft>
            </a:pPr>
            <a:r>
              <a:rPr lang="en-AU" sz="2200" dirty="0" smtClean="0">
                <a:latin typeface="Helvetica" pitchFamily="34" charset="0"/>
              </a:rPr>
              <a:t>Have all the necessary tableware, centrepieces, napkins </a:t>
            </a:r>
            <a:br>
              <a:rPr lang="en-AU" sz="2200" dirty="0" smtClean="0">
                <a:latin typeface="Helvetica" pitchFamily="34" charset="0"/>
              </a:rPr>
            </a:br>
            <a:r>
              <a:rPr lang="en-AU" sz="2200" dirty="0" smtClean="0">
                <a:latin typeface="Helvetica" pitchFamily="34" charset="0"/>
              </a:rPr>
              <a:t>and condiments</a:t>
            </a:r>
          </a:p>
          <a:p>
            <a:pPr lvl="0">
              <a:spcBef>
                <a:spcPts val="600"/>
              </a:spcBef>
              <a:spcAft>
                <a:spcPts val="1200"/>
              </a:spcAft>
            </a:pPr>
            <a:r>
              <a:rPr lang="en-AU" sz="2200" dirty="0" smtClean="0">
                <a:latin typeface="Helvetica" pitchFamily="34" charset="0"/>
              </a:rPr>
              <a:t>Must be complete</a:t>
            </a:r>
          </a:p>
          <a:p>
            <a:pPr lvl="0">
              <a:spcBef>
                <a:spcPts val="600"/>
              </a:spcBef>
              <a:spcAft>
                <a:spcPts val="1200"/>
              </a:spcAft>
            </a:pPr>
            <a:r>
              <a:rPr lang="en-AU" sz="2200" dirty="0" smtClean="0">
                <a:latin typeface="Helvetica" pitchFamily="34" charset="0"/>
              </a:rPr>
              <a:t>Must be clean and hygienic</a:t>
            </a:r>
          </a:p>
          <a:p>
            <a:pPr lvl="0">
              <a:spcBef>
                <a:spcPts val="600"/>
              </a:spcBef>
              <a:spcAft>
                <a:spcPts val="1200"/>
              </a:spcAft>
            </a:pPr>
            <a:r>
              <a:rPr lang="en-AU" sz="2200" dirty="0" smtClean="0">
                <a:latin typeface="Helvetica" pitchFamily="34" charset="0"/>
              </a:rPr>
              <a:t>Must be uniform and consistent throughout the outlet</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7" name="Picture 6" descr="7980146500_748514931f_m.jpg"/>
          <p:cNvPicPr>
            <a:picLocks noChangeAspect="1"/>
          </p:cNvPicPr>
          <p:nvPr/>
        </p:nvPicPr>
        <p:blipFill>
          <a:blip r:embed="rId3" cstate="print"/>
          <a:stretch>
            <a:fillRect/>
          </a:stretch>
        </p:blipFill>
        <p:spPr>
          <a:xfrm>
            <a:off x="6715140" y="3571876"/>
            <a:ext cx="1886320" cy="1414740"/>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napkins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Napkins</a:t>
            </a:r>
          </a:p>
          <a:p>
            <a:pPr>
              <a:spcBef>
                <a:spcPts val="600"/>
              </a:spcBef>
              <a:spcAft>
                <a:spcPts val="1200"/>
              </a:spcAft>
              <a:buNone/>
            </a:pPr>
            <a:r>
              <a:rPr lang="en-US" altLang="zh-CN" sz="2200" dirty="0" smtClean="0">
                <a:latin typeface="Helvetica" pitchFamily="34" charset="0"/>
                <a:ea typeface="宋体" pitchFamily="2" charset="-122"/>
              </a:rPr>
              <a:t>Preparing napkins includes ensuring they are:</a:t>
            </a:r>
          </a:p>
          <a:p>
            <a:pPr>
              <a:spcBef>
                <a:spcPts val="600"/>
              </a:spcBef>
              <a:spcAft>
                <a:spcPts val="1200"/>
              </a:spcAft>
            </a:pPr>
            <a:r>
              <a:rPr lang="en-US" altLang="zh-CN" sz="2200" dirty="0" smtClean="0">
                <a:latin typeface="Helvetica" pitchFamily="34" charset="0"/>
                <a:ea typeface="宋体" pitchFamily="2" charset="-122"/>
              </a:rPr>
              <a:t>Clean</a:t>
            </a:r>
          </a:p>
          <a:p>
            <a:pPr>
              <a:spcBef>
                <a:spcPts val="600"/>
              </a:spcBef>
              <a:spcAft>
                <a:spcPts val="1200"/>
              </a:spcAft>
            </a:pPr>
            <a:r>
              <a:rPr lang="en-US" altLang="zh-CN" sz="2200" dirty="0" smtClean="0">
                <a:latin typeface="Helvetica" pitchFamily="34" charset="0"/>
                <a:ea typeface="宋体" pitchFamily="2" charset="-122"/>
              </a:rPr>
              <a:t>Have no holes</a:t>
            </a:r>
          </a:p>
          <a:p>
            <a:pPr>
              <a:spcBef>
                <a:spcPts val="600"/>
              </a:spcBef>
              <a:spcAft>
                <a:spcPts val="1200"/>
              </a:spcAft>
            </a:pPr>
            <a:r>
              <a:rPr lang="en-US" altLang="zh-CN" sz="2200" dirty="0" smtClean="0">
                <a:latin typeface="Helvetica" pitchFamily="34" charset="0"/>
                <a:ea typeface="宋体" pitchFamily="2" charset="-122"/>
              </a:rPr>
              <a:t>Are prepared and folded</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http://www.napkinfoldingguide.com/01-pyramid/napkinfolding/pyramid05.jpg"/>
          <p:cNvPicPr/>
          <p:nvPr/>
        </p:nvPicPr>
        <p:blipFill>
          <a:blip r:embed="rId3" cstate="print"/>
          <a:srcRect/>
          <a:stretch>
            <a:fillRect/>
          </a:stretch>
        </p:blipFill>
        <p:spPr bwMode="auto">
          <a:xfrm>
            <a:off x="5572132" y="2857496"/>
            <a:ext cx="2625080" cy="22673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napkins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Napkins</a:t>
            </a:r>
          </a:p>
          <a:p>
            <a:pPr>
              <a:spcBef>
                <a:spcPts val="600"/>
              </a:spcBef>
              <a:spcAft>
                <a:spcPts val="1200"/>
              </a:spcAft>
              <a:buNone/>
            </a:pPr>
            <a:r>
              <a:rPr lang="en-US" altLang="zh-CN" sz="2200" dirty="0" smtClean="0">
                <a:latin typeface="Helvetica" pitchFamily="34" charset="0"/>
                <a:ea typeface="宋体" pitchFamily="2" charset="-122"/>
              </a:rPr>
              <a:t>Types of napkin folds:</a:t>
            </a:r>
          </a:p>
          <a:p>
            <a:pPr>
              <a:spcBef>
                <a:spcPts val="600"/>
              </a:spcBef>
              <a:spcAft>
                <a:spcPts val="1200"/>
              </a:spcAft>
            </a:pPr>
            <a:r>
              <a:rPr lang="en-US" altLang="zh-CN" sz="2200" dirty="0" smtClean="0">
                <a:latin typeface="Helvetica" pitchFamily="34" charset="0"/>
                <a:ea typeface="宋体" pitchFamily="2" charset="-122"/>
              </a:rPr>
              <a:t>Cone</a:t>
            </a:r>
          </a:p>
          <a:p>
            <a:pPr>
              <a:spcBef>
                <a:spcPts val="600"/>
              </a:spcBef>
              <a:spcAft>
                <a:spcPts val="1200"/>
              </a:spcAft>
            </a:pPr>
            <a:r>
              <a:rPr lang="en-US" altLang="zh-CN" sz="2200" dirty="0" smtClean="0">
                <a:latin typeface="Helvetica" pitchFamily="34" charset="0"/>
                <a:ea typeface="宋体" pitchFamily="2" charset="-122"/>
              </a:rPr>
              <a:t>Bishops Hat</a:t>
            </a:r>
          </a:p>
          <a:p>
            <a:pPr>
              <a:spcBef>
                <a:spcPts val="600"/>
              </a:spcBef>
              <a:spcAft>
                <a:spcPts val="1200"/>
              </a:spcAft>
            </a:pPr>
            <a:r>
              <a:rPr lang="en-US" altLang="zh-CN" sz="2200" dirty="0" smtClean="0">
                <a:latin typeface="Helvetica" pitchFamily="34" charset="0"/>
                <a:ea typeface="宋体" pitchFamily="2" charset="-122"/>
              </a:rPr>
              <a:t>Fan</a:t>
            </a:r>
          </a:p>
          <a:p>
            <a:pPr>
              <a:spcBef>
                <a:spcPts val="600"/>
              </a:spcBef>
              <a:spcAft>
                <a:spcPts val="1200"/>
              </a:spcAft>
            </a:pPr>
            <a:r>
              <a:rPr lang="en-US" altLang="zh-CN" sz="2200" dirty="0" smtClean="0">
                <a:latin typeface="Helvetica" pitchFamily="34" charset="0"/>
                <a:ea typeface="宋体" pitchFamily="2" charset="-122"/>
              </a:rPr>
              <a:t>Opera House</a:t>
            </a:r>
          </a:p>
          <a:p>
            <a:pPr>
              <a:spcBef>
                <a:spcPts val="600"/>
              </a:spcBef>
              <a:spcAft>
                <a:spcPts val="1200"/>
              </a:spcAft>
            </a:pPr>
            <a:r>
              <a:rPr lang="en-US" altLang="zh-CN" sz="2200" dirty="0" smtClean="0">
                <a:latin typeface="Helvetica" pitchFamily="34" charset="0"/>
                <a:ea typeface="宋体" pitchFamily="2" charset="-122"/>
              </a:rPr>
              <a:t>Sail</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7" name="Picture 6" descr="napkin_folding_diy"/>
          <p:cNvPicPr>
            <a:picLocks noChangeAspect="1" noChangeArrowheads="1"/>
          </p:cNvPicPr>
          <p:nvPr/>
        </p:nvPicPr>
        <p:blipFill>
          <a:blip r:embed="rId3" cstate="print"/>
          <a:srcRect/>
          <a:stretch>
            <a:fillRect/>
          </a:stretch>
        </p:blipFill>
        <p:spPr bwMode="auto">
          <a:xfrm>
            <a:off x="4000496" y="2786058"/>
            <a:ext cx="4047282" cy="2357454"/>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cutlery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Cutlery</a:t>
            </a:r>
          </a:p>
          <a:p>
            <a:pPr>
              <a:spcBef>
                <a:spcPts val="600"/>
              </a:spcBef>
              <a:spcAft>
                <a:spcPts val="600"/>
              </a:spcAft>
            </a:pPr>
            <a:r>
              <a:rPr lang="en-US" altLang="zh-CN" sz="2200" dirty="0" smtClean="0">
                <a:latin typeface="Helvetica" pitchFamily="34" charset="0"/>
                <a:ea typeface="宋体" pitchFamily="2" charset="-122"/>
              </a:rPr>
              <a:t>Knives (main and entrée)</a:t>
            </a:r>
          </a:p>
          <a:p>
            <a:pPr>
              <a:spcBef>
                <a:spcPts val="600"/>
              </a:spcBef>
              <a:spcAft>
                <a:spcPts val="600"/>
              </a:spcAft>
            </a:pPr>
            <a:r>
              <a:rPr lang="en-US" altLang="zh-CN" sz="2200" dirty="0" smtClean="0">
                <a:latin typeface="Helvetica" pitchFamily="34" charset="0"/>
                <a:ea typeface="宋体" pitchFamily="2" charset="-122"/>
              </a:rPr>
              <a:t>Forks (main and entrée)</a:t>
            </a:r>
          </a:p>
          <a:p>
            <a:pPr>
              <a:spcBef>
                <a:spcPts val="600"/>
              </a:spcBef>
              <a:spcAft>
                <a:spcPts val="600"/>
              </a:spcAft>
            </a:pPr>
            <a:r>
              <a:rPr lang="en-US" altLang="zh-CN" sz="2200" dirty="0" smtClean="0">
                <a:latin typeface="Helvetica" pitchFamily="34" charset="0"/>
                <a:ea typeface="宋体" pitchFamily="2" charset="-122"/>
              </a:rPr>
              <a:t>Soup spoons</a:t>
            </a:r>
          </a:p>
          <a:p>
            <a:pPr>
              <a:spcBef>
                <a:spcPts val="600"/>
              </a:spcBef>
              <a:spcAft>
                <a:spcPts val="600"/>
              </a:spcAft>
            </a:pPr>
            <a:r>
              <a:rPr lang="en-US" altLang="zh-CN" sz="2200" dirty="0" smtClean="0">
                <a:latin typeface="Helvetica" pitchFamily="34" charset="0"/>
                <a:ea typeface="宋体" pitchFamily="2" charset="-122"/>
              </a:rPr>
              <a:t>Dessert spoons</a:t>
            </a:r>
          </a:p>
          <a:p>
            <a:pPr>
              <a:spcBef>
                <a:spcPts val="600"/>
              </a:spcBef>
              <a:spcAft>
                <a:spcPts val="600"/>
              </a:spcAft>
            </a:pPr>
            <a:r>
              <a:rPr lang="en-US" altLang="zh-CN" sz="2200" dirty="0" smtClean="0">
                <a:latin typeface="Helvetica" pitchFamily="34" charset="0"/>
                <a:ea typeface="宋体" pitchFamily="2" charset="-122"/>
              </a:rPr>
              <a:t>Hot chocolate spoons</a:t>
            </a:r>
          </a:p>
          <a:p>
            <a:pPr>
              <a:spcBef>
                <a:spcPts val="600"/>
              </a:spcBef>
              <a:spcAft>
                <a:spcPts val="600"/>
              </a:spcAft>
            </a:pPr>
            <a:r>
              <a:rPr lang="en-US" altLang="zh-CN" sz="2200" dirty="0" smtClean="0">
                <a:latin typeface="Helvetica" pitchFamily="34" charset="0"/>
                <a:ea typeface="宋体" pitchFamily="2" charset="-122"/>
              </a:rPr>
              <a:t>Teaspoons</a:t>
            </a:r>
          </a:p>
          <a:p>
            <a:pPr>
              <a:spcBef>
                <a:spcPts val="600"/>
              </a:spcBef>
              <a:spcAft>
                <a:spcPts val="600"/>
              </a:spcAft>
            </a:pPr>
            <a:r>
              <a:rPr lang="en-US" altLang="zh-CN" sz="2200" dirty="0" smtClean="0">
                <a:latin typeface="Helvetica" pitchFamily="34" charset="0"/>
                <a:ea typeface="宋体" pitchFamily="2" charset="-122"/>
              </a:rPr>
              <a:t>Seafood cutlery</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6" descr="secess_hoffm_cutlery_lg"/>
          <p:cNvPicPr>
            <a:picLocks noChangeAspect="1" noChangeArrowheads="1"/>
          </p:cNvPicPr>
          <p:nvPr/>
        </p:nvPicPr>
        <p:blipFill>
          <a:blip r:embed="rId3" cstate="print"/>
          <a:srcRect/>
          <a:stretch>
            <a:fillRect/>
          </a:stretch>
        </p:blipFill>
        <p:spPr bwMode="auto">
          <a:xfrm>
            <a:off x="5000628" y="2714620"/>
            <a:ext cx="3302062" cy="2198210"/>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crockery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Crockery</a:t>
            </a:r>
          </a:p>
          <a:p>
            <a:pPr>
              <a:spcBef>
                <a:spcPts val="600"/>
              </a:spcBef>
              <a:spcAft>
                <a:spcPts val="600"/>
              </a:spcAft>
            </a:pPr>
            <a:r>
              <a:rPr lang="en-US" altLang="zh-CN" sz="2200" dirty="0" smtClean="0">
                <a:latin typeface="Helvetica" pitchFamily="34" charset="0"/>
                <a:ea typeface="宋体" pitchFamily="2" charset="-122"/>
              </a:rPr>
              <a:t>Plates (main and entrée)</a:t>
            </a:r>
          </a:p>
          <a:p>
            <a:pPr>
              <a:spcBef>
                <a:spcPts val="600"/>
              </a:spcBef>
              <a:spcAft>
                <a:spcPts val="600"/>
              </a:spcAft>
            </a:pPr>
            <a:r>
              <a:rPr lang="en-US" altLang="zh-CN" sz="2200" dirty="0" smtClean="0">
                <a:latin typeface="Helvetica" pitchFamily="34" charset="0"/>
                <a:ea typeface="宋体" pitchFamily="2" charset="-122"/>
              </a:rPr>
              <a:t>bowls (soup, salad and dessert)</a:t>
            </a:r>
          </a:p>
          <a:p>
            <a:pPr>
              <a:spcBef>
                <a:spcPts val="600"/>
              </a:spcBef>
              <a:spcAft>
                <a:spcPts val="600"/>
              </a:spcAft>
            </a:pPr>
            <a:r>
              <a:rPr lang="en-US" altLang="zh-CN" sz="2200" dirty="0" smtClean="0">
                <a:latin typeface="Helvetica" pitchFamily="34" charset="0"/>
                <a:ea typeface="宋体" pitchFamily="2" charset="-122"/>
              </a:rPr>
              <a:t>Butter dishes</a:t>
            </a:r>
          </a:p>
          <a:p>
            <a:pPr>
              <a:spcBef>
                <a:spcPts val="600"/>
              </a:spcBef>
              <a:spcAft>
                <a:spcPts val="600"/>
              </a:spcAft>
            </a:pPr>
            <a:r>
              <a:rPr lang="en-US" altLang="zh-CN" sz="2200" dirty="0" smtClean="0">
                <a:latin typeface="Helvetica" pitchFamily="34" charset="0"/>
                <a:ea typeface="宋体" pitchFamily="2" charset="-122"/>
              </a:rPr>
              <a:t>Salt and pepper shakers</a:t>
            </a:r>
          </a:p>
          <a:p>
            <a:pPr>
              <a:spcBef>
                <a:spcPts val="600"/>
              </a:spcBef>
              <a:spcAft>
                <a:spcPts val="600"/>
              </a:spcAft>
            </a:pPr>
            <a:r>
              <a:rPr lang="en-US" altLang="zh-CN" sz="2200" dirty="0" smtClean="0">
                <a:latin typeface="Helvetica" pitchFamily="34" charset="0"/>
                <a:ea typeface="宋体" pitchFamily="2" charset="-122"/>
              </a:rPr>
              <a:t>Sugar bowls</a:t>
            </a:r>
          </a:p>
          <a:p>
            <a:pPr>
              <a:spcBef>
                <a:spcPts val="600"/>
              </a:spcBef>
              <a:spcAft>
                <a:spcPts val="600"/>
              </a:spcAft>
              <a:buNone/>
            </a:pPr>
            <a:endParaRPr lang="en-AU" sz="2400" dirty="0" smtClean="0"/>
          </a:p>
          <a:p>
            <a:pPr>
              <a:spcAft>
                <a:spcPts val="600"/>
              </a:spcAft>
            </a:pPr>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6" descr="plates"/>
          <p:cNvPicPr>
            <a:picLocks noChangeAspect="1" noChangeArrowheads="1"/>
          </p:cNvPicPr>
          <p:nvPr/>
        </p:nvPicPr>
        <p:blipFill>
          <a:blip r:embed="rId3" cstate="print"/>
          <a:srcRect/>
          <a:stretch>
            <a:fillRect/>
          </a:stretch>
        </p:blipFill>
        <p:spPr bwMode="auto">
          <a:xfrm>
            <a:off x="5286380" y="2285992"/>
            <a:ext cx="2986493" cy="1999260"/>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glassware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428736"/>
            <a:ext cx="7467600" cy="5040560"/>
          </a:xfrm>
        </p:spPr>
        <p:txBody>
          <a:bodyPr>
            <a:normAutofit/>
          </a:bodyPr>
          <a:lstStyle/>
          <a:p>
            <a:pPr>
              <a:spcBef>
                <a:spcPts val="600"/>
              </a:spcBef>
              <a:spcAft>
                <a:spcPts val="600"/>
              </a:spcAft>
              <a:buNone/>
            </a:pPr>
            <a:r>
              <a:rPr lang="en-US" altLang="zh-CN" sz="2200" b="1" dirty="0" smtClean="0">
                <a:latin typeface="Helvetica" pitchFamily="34" charset="0"/>
                <a:ea typeface="宋体" pitchFamily="2" charset="-122"/>
              </a:rPr>
              <a:t>Glassware</a:t>
            </a:r>
          </a:p>
          <a:p>
            <a:pPr lvl="0">
              <a:spcBef>
                <a:spcPts val="600"/>
              </a:spcBef>
              <a:spcAft>
                <a:spcPts val="600"/>
              </a:spcAft>
            </a:pPr>
            <a:r>
              <a:rPr lang="en-AU" sz="2200" dirty="0" smtClean="0">
                <a:latin typeface="Helvetica" pitchFamily="34" charset="0"/>
              </a:rPr>
              <a:t>Beer glasses</a:t>
            </a:r>
          </a:p>
          <a:p>
            <a:pPr lvl="0">
              <a:spcBef>
                <a:spcPts val="600"/>
              </a:spcBef>
              <a:spcAft>
                <a:spcPts val="600"/>
              </a:spcAft>
            </a:pPr>
            <a:r>
              <a:rPr lang="en-AU" sz="2200" dirty="0" smtClean="0">
                <a:latin typeface="Helvetica" pitchFamily="34" charset="0"/>
              </a:rPr>
              <a:t>Wine glasses  </a:t>
            </a:r>
          </a:p>
          <a:p>
            <a:pPr lvl="0">
              <a:spcBef>
                <a:spcPts val="600"/>
              </a:spcBef>
              <a:spcAft>
                <a:spcPts val="600"/>
              </a:spcAft>
            </a:pPr>
            <a:r>
              <a:rPr lang="en-AU" sz="2200" dirty="0" smtClean="0">
                <a:latin typeface="Helvetica" pitchFamily="34" charset="0"/>
              </a:rPr>
              <a:t>All-purpose glasses  </a:t>
            </a:r>
          </a:p>
          <a:p>
            <a:pPr lvl="0">
              <a:spcBef>
                <a:spcPts val="600"/>
              </a:spcBef>
              <a:spcAft>
                <a:spcPts val="600"/>
              </a:spcAft>
            </a:pPr>
            <a:r>
              <a:rPr lang="en-AU" sz="2200" dirty="0" smtClean="0">
                <a:latin typeface="Helvetica" pitchFamily="34" charset="0"/>
              </a:rPr>
              <a:t>Cocktail glasses</a:t>
            </a:r>
          </a:p>
          <a:p>
            <a:pPr lvl="0">
              <a:spcBef>
                <a:spcPts val="600"/>
              </a:spcBef>
              <a:spcAft>
                <a:spcPts val="600"/>
              </a:spcAft>
            </a:pPr>
            <a:r>
              <a:rPr lang="en-AU" sz="2200" dirty="0" smtClean="0">
                <a:latin typeface="Helvetica" pitchFamily="34" charset="0"/>
              </a:rPr>
              <a:t>Liqueur glasses and fortified wine                                         glasses</a:t>
            </a:r>
          </a:p>
          <a:p>
            <a:pPr lvl="0">
              <a:spcBef>
                <a:spcPts val="600"/>
              </a:spcBef>
              <a:spcAft>
                <a:spcPts val="600"/>
              </a:spcAft>
            </a:pPr>
            <a:r>
              <a:rPr lang="en-AU" sz="2200" dirty="0" smtClean="0">
                <a:latin typeface="Helvetica" pitchFamily="34" charset="0"/>
              </a:rPr>
              <a:t>Carafes  wines to table </a:t>
            </a:r>
          </a:p>
          <a:p>
            <a:pPr lvl="0">
              <a:spcBef>
                <a:spcPts val="600"/>
              </a:spcBef>
              <a:spcAft>
                <a:spcPts val="600"/>
              </a:spcAft>
            </a:pPr>
            <a:r>
              <a:rPr lang="en-AU" sz="2200" dirty="0" smtClean="0">
                <a:latin typeface="Helvetica" pitchFamily="34" charset="0"/>
              </a:rPr>
              <a:t>Jugs  drinks</a:t>
            </a:r>
          </a:p>
          <a:p>
            <a:pPr lvl="0">
              <a:spcBef>
                <a:spcPts val="600"/>
              </a:spcBef>
              <a:spcAft>
                <a:spcPts val="600"/>
              </a:spcAft>
            </a:pPr>
            <a:r>
              <a:rPr lang="en-AU" sz="2200" dirty="0" smtClean="0">
                <a:latin typeface="Helvetica" pitchFamily="34" charset="0"/>
              </a:rPr>
              <a:t>Irish coffee mugs</a:t>
            </a: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56375437"/>
          <p:cNvPicPr>
            <a:picLocks noChangeAspect="1" noChangeArrowheads="1"/>
          </p:cNvPicPr>
          <p:nvPr/>
        </p:nvPicPr>
        <p:blipFill>
          <a:blip r:embed="rId3" cstate="print"/>
          <a:srcRect/>
          <a:stretch>
            <a:fillRect/>
          </a:stretch>
        </p:blipFill>
        <p:spPr bwMode="auto">
          <a:xfrm>
            <a:off x="5357818" y="2143116"/>
            <a:ext cx="2706487" cy="1800224"/>
          </a:xfrm>
          <a:prstGeom prst="rect">
            <a:avLst/>
          </a:prstGeom>
          <a:noFill/>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shakers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Prepare salt and pepper shakers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Before each shift, salt and pepper shakers must be checked to ensure they are clean and filled appropriately. </a:t>
            </a:r>
          </a:p>
          <a:p>
            <a:pPr>
              <a:spcBef>
                <a:spcPts val="600"/>
              </a:spcBef>
              <a:spcAft>
                <a:spcPts val="1200"/>
              </a:spcAft>
            </a:pPr>
            <a:r>
              <a:rPr lang="en-AU" sz="2200" dirty="0" smtClean="0">
                <a:latin typeface="Helvetica" pitchFamily="34" charset="0"/>
              </a:rPr>
              <a:t>Blocked holes should be unblocked</a:t>
            </a:r>
          </a:p>
          <a:p>
            <a:pPr>
              <a:spcBef>
                <a:spcPts val="600"/>
              </a:spcBef>
              <a:spcAft>
                <a:spcPts val="1200"/>
              </a:spcAft>
            </a:pPr>
            <a:r>
              <a:rPr lang="en-AU" sz="2200" dirty="0" smtClean="0">
                <a:latin typeface="Helvetica" pitchFamily="34" charset="0"/>
              </a:rPr>
              <a:t>The exterior of the shakers must be clean</a:t>
            </a:r>
          </a:p>
          <a:p>
            <a:pPr>
              <a:spcBef>
                <a:spcPts val="600"/>
              </a:spcBef>
              <a:spcAft>
                <a:spcPts val="1200"/>
              </a:spcAft>
            </a:pPr>
            <a:r>
              <a:rPr lang="en-AU" sz="2200" dirty="0" smtClean="0">
                <a:latin typeface="Helvetica" pitchFamily="34" charset="0"/>
              </a:rPr>
              <a:t>Tops free from residual salt or pepper</a:t>
            </a:r>
          </a:p>
          <a:p>
            <a:pPr>
              <a:spcBef>
                <a:spcPts val="600"/>
              </a:spcBef>
              <a:spcAft>
                <a:spcPts val="1200"/>
              </a:spcAft>
            </a:pPr>
            <a:r>
              <a:rPr lang="en-AU" sz="2200" dirty="0" smtClean="0">
                <a:latin typeface="Helvetica" pitchFamily="34" charset="0"/>
              </a:rPr>
              <a:t>Tops are firmly in place</a:t>
            </a:r>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MP900400592.JPG"/>
          <p:cNvPicPr/>
          <p:nvPr/>
        </p:nvPicPr>
        <p:blipFill>
          <a:blip r:embed="rId3" cstate="print"/>
          <a:stretch>
            <a:fillRect/>
          </a:stretch>
        </p:blipFill>
        <p:spPr>
          <a:xfrm>
            <a:off x="6643702" y="3214686"/>
            <a:ext cx="1602219" cy="1913558"/>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Clothing a table</a:t>
            </a:r>
          </a:p>
          <a:p>
            <a:pPr>
              <a:spcBef>
                <a:spcPts val="600"/>
              </a:spcBef>
              <a:spcAft>
                <a:spcPts val="1200"/>
              </a:spcAft>
            </a:pPr>
            <a:r>
              <a:rPr lang="en-US" altLang="zh-CN" sz="2200" dirty="0" smtClean="0">
                <a:latin typeface="Helvetica" pitchFamily="34" charset="0"/>
                <a:ea typeface="宋体" pitchFamily="2" charset="-122"/>
              </a:rPr>
              <a:t>Clean linen</a:t>
            </a:r>
          </a:p>
          <a:p>
            <a:pPr>
              <a:spcBef>
                <a:spcPts val="600"/>
              </a:spcBef>
              <a:spcAft>
                <a:spcPts val="1200"/>
              </a:spcAft>
            </a:pPr>
            <a:r>
              <a:rPr lang="en-US" altLang="zh-CN" sz="2200" dirty="0" smtClean="0">
                <a:latin typeface="Helvetica" pitchFamily="34" charset="0"/>
                <a:ea typeface="宋体" pitchFamily="2" charset="-122"/>
              </a:rPr>
              <a:t>Never let cloth touch ground</a:t>
            </a:r>
          </a:p>
          <a:p>
            <a:pPr>
              <a:spcBef>
                <a:spcPts val="600"/>
              </a:spcBef>
              <a:spcAft>
                <a:spcPts val="1200"/>
              </a:spcAft>
            </a:pPr>
            <a:r>
              <a:rPr lang="en-US" altLang="zh-CN" sz="2200" dirty="0" smtClean="0">
                <a:latin typeface="Helvetica" pitchFamily="34" charset="0"/>
                <a:ea typeface="宋体" pitchFamily="2" charset="-122"/>
              </a:rPr>
              <a:t>Lay right side up</a:t>
            </a:r>
          </a:p>
          <a:p>
            <a:pPr>
              <a:spcBef>
                <a:spcPts val="600"/>
              </a:spcBef>
              <a:spcAft>
                <a:spcPts val="1200"/>
              </a:spcAft>
            </a:pPr>
            <a:r>
              <a:rPr lang="en-US" altLang="zh-CN" sz="2200" dirty="0" smtClean="0">
                <a:latin typeface="Helvetica" pitchFamily="34" charset="0"/>
                <a:ea typeface="宋体" pitchFamily="2" charset="-122"/>
              </a:rPr>
              <a:t>Same level of overhang on each side</a:t>
            </a:r>
          </a:p>
          <a:p>
            <a:pPr>
              <a:spcBef>
                <a:spcPts val="600"/>
              </a:spcBef>
              <a:spcAft>
                <a:spcPts val="1200"/>
              </a:spcAft>
            </a:pPr>
            <a:r>
              <a:rPr lang="en-US" altLang="zh-CN" sz="2200" dirty="0" smtClean="0">
                <a:latin typeface="Helvetica" pitchFamily="34" charset="0"/>
                <a:ea typeface="宋体" pitchFamily="2" charset="-122"/>
              </a:rPr>
              <a:t>Crease middle if using more than 1 cloth </a:t>
            </a:r>
          </a:p>
          <a:p>
            <a:pPr>
              <a:spcBef>
                <a:spcPts val="600"/>
              </a:spcBef>
              <a:spcAft>
                <a:spcPts val="1200"/>
              </a:spcAft>
            </a:pPr>
            <a:r>
              <a:rPr lang="en-US" altLang="zh-CN" sz="2200" dirty="0" smtClean="0">
                <a:latin typeface="Helvetica" pitchFamily="34" charset="0"/>
                <a:ea typeface="宋体" pitchFamily="2" charset="-122"/>
              </a:rPr>
              <a:t>Creases should not be seen at the door</a:t>
            </a:r>
          </a:p>
          <a:p>
            <a:pPr>
              <a:spcBef>
                <a:spcPts val="600"/>
              </a:spcBef>
              <a:spcAft>
                <a:spcPts val="1200"/>
              </a:spcAft>
            </a:pPr>
            <a:r>
              <a:rPr lang="en-US" altLang="zh-CN" sz="2200" dirty="0" smtClean="0">
                <a:latin typeface="Helvetica" pitchFamily="34" charset="0"/>
                <a:ea typeface="宋体" pitchFamily="2" charset="-122"/>
              </a:rPr>
              <a:t>Use clean napkins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6" name="Picture 17" descr="Quay restaurant setting with reflection- Overseas Passenger Terminal"/>
          <p:cNvPicPr>
            <a:picLocks noChangeAspect="1" noChangeArrowheads="1"/>
          </p:cNvPicPr>
          <p:nvPr/>
        </p:nvPicPr>
        <p:blipFill>
          <a:blip r:embed="rId3" cstate="print"/>
          <a:srcRect/>
          <a:stretch>
            <a:fillRect/>
          </a:stretch>
        </p:blipFill>
        <p:spPr bwMode="auto">
          <a:xfrm>
            <a:off x="5857884" y="2071678"/>
            <a:ext cx="2479408" cy="1651124"/>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Dressing a table</a:t>
            </a:r>
          </a:p>
          <a:p>
            <a:pPr marL="0">
              <a:spcBef>
                <a:spcPts val="600"/>
              </a:spcBef>
              <a:spcAft>
                <a:spcPts val="1200"/>
              </a:spcAft>
              <a:buNone/>
            </a:pPr>
            <a:r>
              <a:rPr lang="en-AU" sz="2200" dirty="0" smtClean="0">
                <a:latin typeface="Helvetica" pitchFamily="34" charset="0"/>
              </a:rPr>
              <a:t>On special occasions, or as part of standard operating procedures, tables may need to be dressed.</a:t>
            </a:r>
          </a:p>
          <a:p>
            <a:pPr marL="0">
              <a:spcBef>
                <a:spcPts val="600"/>
              </a:spcBef>
              <a:spcAft>
                <a:spcPts val="1200"/>
              </a:spcAft>
              <a:buNone/>
            </a:pPr>
            <a:r>
              <a:rPr lang="en-AU" sz="2200" dirty="0" smtClean="0">
                <a:latin typeface="Helvetica" pitchFamily="34" charset="0"/>
              </a:rPr>
              <a:t>Dressing takes place as part of the set up and enhances presentation of the table.</a:t>
            </a:r>
            <a:endParaRPr lang="en-AU" altLang="zh-CN" sz="2200" dirty="0" smtClean="0">
              <a:latin typeface="Helvetica" pitchFamily="34" charset="0"/>
              <a:ea typeface="宋体" pitchFamily="2" charset="-122"/>
            </a:endParaRPr>
          </a:p>
          <a:p>
            <a:pPr>
              <a:spcBef>
                <a:spcPts val="600"/>
              </a:spcBef>
              <a:spcAft>
                <a:spcPts val="1200"/>
              </a:spcAft>
            </a:pPr>
            <a:r>
              <a:rPr lang="en-AU" altLang="zh-CN" sz="2200" dirty="0" smtClean="0">
                <a:latin typeface="Helvetica" pitchFamily="34" charset="0"/>
                <a:ea typeface="宋体" pitchFamily="2" charset="-122"/>
              </a:rPr>
              <a:t>How do you dress a table?</a:t>
            </a:r>
          </a:p>
          <a:p>
            <a:pPr>
              <a:spcBef>
                <a:spcPts val="600"/>
              </a:spcBef>
              <a:spcAft>
                <a:spcPts val="1200"/>
              </a:spcAft>
            </a:pPr>
            <a:r>
              <a:rPr lang="en-AU" altLang="zh-CN" sz="2200" dirty="0" smtClean="0">
                <a:latin typeface="Helvetica" pitchFamily="34" charset="0"/>
                <a:ea typeface="宋体" pitchFamily="2" charset="-122"/>
              </a:rPr>
              <a:t>What does boxing a table mean?</a:t>
            </a:r>
          </a:p>
          <a:p>
            <a:pPr>
              <a:spcBef>
                <a:spcPts val="600"/>
              </a:spcBef>
              <a:spcAft>
                <a:spcPts val="1200"/>
              </a:spcAft>
            </a:pPr>
            <a:r>
              <a:rPr lang="en-AU" altLang="zh-CN" sz="2200" dirty="0" smtClean="0">
                <a:latin typeface="Helvetica" pitchFamily="34" charset="0"/>
                <a:ea typeface="宋体" pitchFamily="2" charset="-122"/>
              </a:rPr>
              <a:t>What tables are normally boxed or dressed</a:t>
            </a:r>
            <a:r>
              <a:rPr lang="en-AU" altLang="zh-CN" sz="2400" dirty="0" smtClean="0">
                <a:latin typeface="Helvetica" pitchFamily="34" charset="0"/>
                <a:ea typeface="宋体" pitchFamily="2" charset="-122"/>
              </a:rPr>
              <a:t>?</a:t>
            </a:r>
            <a:endParaRPr lang="en-US" altLang="zh-CN" sz="2200"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7" name="Picture 6" descr="2880131948_f502e682c1_m.jpg"/>
          <p:cNvPicPr/>
          <p:nvPr/>
        </p:nvPicPr>
        <p:blipFill>
          <a:blip r:embed="rId3" cstate="print"/>
          <a:stretch>
            <a:fillRect/>
          </a:stretch>
        </p:blipFill>
        <p:spPr>
          <a:xfrm>
            <a:off x="5906958" y="3571876"/>
            <a:ext cx="2047380" cy="1357322"/>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Tips for setting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Use the guest’s chair as a guide to centre the cover</a:t>
            </a:r>
          </a:p>
          <a:p>
            <a:pPr lvl="0">
              <a:spcBef>
                <a:spcPts val="600"/>
              </a:spcBef>
              <a:spcAft>
                <a:spcPts val="1200"/>
              </a:spcAft>
            </a:pPr>
            <a:r>
              <a:rPr lang="en-AU" sz="2200" dirty="0" smtClean="0">
                <a:latin typeface="Helvetica" pitchFamily="34" charset="0"/>
              </a:rPr>
              <a:t>Side plates should be placed to the left of the fork</a:t>
            </a:r>
          </a:p>
          <a:p>
            <a:pPr lvl="0">
              <a:spcBef>
                <a:spcPts val="600"/>
              </a:spcBef>
              <a:spcAft>
                <a:spcPts val="1200"/>
              </a:spcAft>
            </a:pPr>
            <a:r>
              <a:rPr lang="en-AU" sz="2200" dirty="0" smtClean="0">
                <a:latin typeface="Helvetica" pitchFamily="34" charset="0"/>
              </a:rPr>
              <a:t>Knife blades should always face left</a:t>
            </a:r>
          </a:p>
          <a:p>
            <a:pPr lvl="0">
              <a:spcBef>
                <a:spcPts val="600"/>
              </a:spcBef>
              <a:spcAft>
                <a:spcPts val="1200"/>
              </a:spcAft>
            </a:pPr>
            <a:r>
              <a:rPr lang="en-AU" sz="2200" dirty="0" smtClean="0">
                <a:latin typeface="Helvetica" pitchFamily="34" charset="0"/>
              </a:rPr>
              <a:t>Sufficient space should be left between                                       the knife and fork for the plate to                                                         be placed down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8" name="Picture 7" descr="MP900427613.JPG"/>
          <p:cNvPicPr>
            <a:picLocks noChangeAspect="1"/>
          </p:cNvPicPr>
          <p:nvPr/>
        </p:nvPicPr>
        <p:blipFill>
          <a:blip r:embed="rId3" cstate="print"/>
          <a:stretch>
            <a:fillRect/>
          </a:stretch>
        </p:blipFill>
        <p:spPr>
          <a:xfrm>
            <a:off x="6572264" y="3214686"/>
            <a:ext cx="1699122" cy="1699122"/>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Tips for setting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Entrée cutlery should always be placed on the outside of the main course cutlery</a:t>
            </a:r>
          </a:p>
          <a:p>
            <a:pPr lvl="0">
              <a:spcBef>
                <a:spcPts val="600"/>
              </a:spcBef>
              <a:spcAft>
                <a:spcPts val="1200"/>
              </a:spcAft>
            </a:pPr>
            <a:r>
              <a:rPr lang="en-AU" sz="2200" dirty="0" smtClean="0">
                <a:latin typeface="Helvetica" pitchFamily="34" charset="0"/>
              </a:rPr>
              <a:t>In à la carte dining, the dessert cutlery </a:t>
            </a:r>
            <a:br>
              <a:rPr lang="en-AU" sz="2200" dirty="0" smtClean="0">
                <a:latin typeface="Helvetica" pitchFamily="34" charset="0"/>
              </a:rPr>
            </a:br>
            <a:r>
              <a:rPr lang="en-AU" sz="2200" dirty="0" smtClean="0">
                <a:latin typeface="Helvetica" pitchFamily="34" charset="0"/>
              </a:rPr>
              <a:t>should be placed where the main course </a:t>
            </a:r>
            <a:br>
              <a:rPr lang="en-AU" sz="2200" dirty="0" smtClean="0">
                <a:latin typeface="Helvetica" pitchFamily="34" charset="0"/>
              </a:rPr>
            </a:br>
            <a:r>
              <a:rPr lang="en-AU" sz="2200" dirty="0" smtClean="0">
                <a:latin typeface="Helvetica" pitchFamily="34" charset="0"/>
              </a:rPr>
              <a:t>knife is usually positioned</a:t>
            </a:r>
          </a:p>
          <a:p>
            <a:pPr>
              <a:spcBef>
                <a:spcPts val="600"/>
              </a:spcBef>
              <a:spcAft>
                <a:spcPts val="1200"/>
              </a:spcAft>
            </a:pPr>
            <a:r>
              <a:rPr lang="en-AU" sz="2200" dirty="0" smtClean="0">
                <a:latin typeface="Helvetica" pitchFamily="34" charset="0"/>
              </a:rPr>
              <a:t>Wine glass should be placed directly                                  above the main knife</a:t>
            </a:r>
            <a:endParaRPr lang="en-US" altLang="zh-CN" sz="2200" i="1"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http://www.delish.com/cm/delish/images/WQ/Fern-table-setting-xl.jpg"/>
          <p:cNvPicPr/>
          <p:nvPr/>
        </p:nvPicPr>
        <p:blipFill>
          <a:blip r:embed="rId3" cstate="print"/>
          <a:srcRect/>
          <a:stretch>
            <a:fillRect/>
          </a:stretch>
        </p:blipFill>
        <p:spPr bwMode="auto">
          <a:xfrm>
            <a:off x="6429388" y="2857496"/>
            <a:ext cx="1994678" cy="175619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Place table accoutrements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‘Accoutrements’ are the items used to fit out the tables. </a:t>
            </a:r>
          </a:p>
          <a:p>
            <a:pPr marL="0">
              <a:spcBef>
                <a:spcPts val="600"/>
              </a:spcBef>
              <a:spcAft>
                <a:spcPts val="1200"/>
              </a:spcAft>
              <a:buNone/>
            </a:pPr>
            <a:r>
              <a:rPr lang="en-AU" sz="2200" dirty="0" smtClean="0">
                <a:latin typeface="Helvetica" pitchFamily="34" charset="0"/>
              </a:rPr>
              <a:t>In some situations you may be required to dress tables with accoutrements such as:</a:t>
            </a:r>
          </a:p>
          <a:p>
            <a:pPr lvl="0">
              <a:spcBef>
                <a:spcPts val="600"/>
              </a:spcBef>
              <a:spcAft>
                <a:spcPts val="1200"/>
              </a:spcAft>
            </a:pPr>
            <a:r>
              <a:rPr lang="en-AU" sz="2200" dirty="0" smtClean="0">
                <a:latin typeface="Helvetica" pitchFamily="34" charset="0"/>
              </a:rPr>
              <a:t>Candlesticks</a:t>
            </a:r>
          </a:p>
          <a:p>
            <a:pPr lvl="0">
              <a:spcBef>
                <a:spcPts val="600"/>
              </a:spcBef>
              <a:spcAft>
                <a:spcPts val="1200"/>
              </a:spcAft>
            </a:pPr>
            <a:r>
              <a:rPr lang="en-AU" sz="2200" dirty="0" smtClean="0">
                <a:latin typeface="Helvetica" pitchFamily="34" charset="0"/>
              </a:rPr>
              <a:t>Candelabra</a:t>
            </a:r>
          </a:p>
          <a:p>
            <a:pPr lvl="0">
              <a:spcBef>
                <a:spcPts val="600"/>
              </a:spcBef>
              <a:spcAft>
                <a:spcPts val="1200"/>
              </a:spcAft>
            </a:pPr>
            <a:r>
              <a:rPr lang="en-AU" sz="2200" dirty="0" smtClean="0">
                <a:latin typeface="Helvetica" pitchFamily="34" charset="0"/>
              </a:rPr>
              <a:t>Bud vases</a:t>
            </a:r>
          </a:p>
          <a:p>
            <a:pPr lvl="0">
              <a:spcBef>
                <a:spcPts val="600"/>
              </a:spcBef>
              <a:spcAft>
                <a:spcPts val="1200"/>
              </a:spcAft>
            </a:pPr>
            <a:r>
              <a:rPr lang="en-AU" sz="2200" dirty="0" smtClean="0">
                <a:latin typeface="Helvetica" pitchFamily="34" charset="0"/>
              </a:rPr>
              <a:t>Overlays</a:t>
            </a:r>
          </a:p>
          <a:p>
            <a:pPr lvl="0">
              <a:spcBef>
                <a:spcPts val="600"/>
              </a:spcBef>
              <a:spcAft>
                <a:spcPts val="1200"/>
              </a:spcAft>
            </a:pPr>
            <a:r>
              <a:rPr lang="en-AU" sz="2200" dirty="0" smtClean="0">
                <a:latin typeface="Helvetica" pitchFamily="34" charset="0"/>
              </a:rPr>
              <a:t>Floral arrangements</a:t>
            </a:r>
          </a:p>
          <a:p>
            <a:pPr lvl="0">
              <a:spcBef>
                <a:spcPts val="600"/>
              </a:spcBef>
              <a:spcAft>
                <a:spcPts val="1200"/>
              </a:spcAft>
            </a:pPr>
            <a:r>
              <a:rPr lang="en-AU" sz="2200" dirty="0" smtClean="0">
                <a:latin typeface="Helvetica" pitchFamily="34" charset="0"/>
              </a:rPr>
              <a:t>Placemats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289120426_10a8b4da62_m.jpg"/>
          <p:cNvPicPr>
            <a:picLocks noChangeAspect="1"/>
          </p:cNvPicPr>
          <p:nvPr/>
        </p:nvPicPr>
        <p:blipFill>
          <a:blip r:embed="rId3" cstate="print">
            <a:lum bright="10000"/>
          </a:blip>
          <a:stretch>
            <a:fillRect/>
          </a:stretch>
        </p:blipFill>
        <p:spPr>
          <a:xfrm>
            <a:off x="5314742" y="3286124"/>
            <a:ext cx="2286016" cy="1714512"/>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Prepare other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pPr>
            <a:r>
              <a:rPr lang="en-US" altLang="zh-CN" sz="2200" dirty="0" smtClean="0">
                <a:latin typeface="Helvetica" pitchFamily="34" charset="0"/>
                <a:ea typeface="宋体" pitchFamily="2" charset="-122"/>
              </a:rPr>
              <a:t>Condiments</a:t>
            </a:r>
          </a:p>
          <a:p>
            <a:pPr>
              <a:spcBef>
                <a:spcPts val="600"/>
              </a:spcBef>
              <a:spcAft>
                <a:spcPts val="1200"/>
              </a:spcAft>
            </a:pPr>
            <a:r>
              <a:rPr lang="en-AU" sz="2200" dirty="0" smtClean="0">
                <a:latin typeface="Helvetica" pitchFamily="34" charset="0"/>
              </a:rPr>
              <a:t>Butter</a:t>
            </a:r>
          </a:p>
          <a:p>
            <a:pPr>
              <a:spcBef>
                <a:spcPts val="600"/>
              </a:spcBef>
              <a:spcAft>
                <a:spcPts val="1200"/>
              </a:spcAft>
            </a:pPr>
            <a:r>
              <a:rPr lang="en-AU" altLang="zh-CN" sz="2200" dirty="0" smtClean="0">
                <a:latin typeface="Helvetica" pitchFamily="34" charset="0"/>
                <a:ea typeface="宋体" pitchFamily="2" charset="-122"/>
              </a:rPr>
              <a:t>Lemon and lime</a:t>
            </a:r>
          </a:p>
          <a:p>
            <a:pPr>
              <a:spcBef>
                <a:spcPts val="600"/>
              </a:spcBef>
              <a:spcAft>
                <a:spcPts val="1200"/>
              </a:spcAft>
            </a:pPr>
            <a:r>
              <a:rPr lang="en-AU" altLang="zh-CN" sz="2200" dirty="0" smtClean="0">
                <a:latin typeface="Helvetica" pitchFamily="34" charset="0"/>
                <a:ea typeface="宋体" pitchFamily="2" charset="-122"/>
              </a:rPr>
              <a:t>Waiters station</a:t>
            </a:r>
            <a:endParaRPr lang="en-US" altLang="zh-CN" sz="2200" dirty="0" smtClean="0">
              <a:latin typeface="Helvetica" pitchFamily="34" charset="0"/>
              <a:ea typeface="宋体" pitchFamily="2" charset="-122"/>
            </a:endParaRPr>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IMG_1976.jpg"/>
          <p:cNvPicPr/>
          <p:nvPr/>
        </p:nvPicPr>
        <p:blipFill>
          <a:blip r:embed="rId3" cstate="print"/>
          <a:stretch>
            <a:fillRect/>
          </a:stretch>
        </p:blipFill>
        <p:spPr>
          <a:xfrm>
            <a:off x="5572132" y="1142984"/>
            <a:ext cx="1643074" cy="2096429"/>
          </a:xfrm>
          <a:prstGeom prst="rect">
            <a:avLst/>
          </a:prstGeom>
        </p:spPr>
      </p:pic>
      <p:pic>
        <p:nvPicPr>
          <p:cNvPr id="9" name="Picture 8" descr="waiters_station_colc_fourwa"/>
          <p:cNvPicPr/>
          <p:nvPr/>
        </p:nvPicPr>
        <p:blipFill>
          <a:blip r:embed="rId4" cstate="print"/>
          <a:srcRect r="8173"/>
          <a:stretch>
            <a:fillRect/>
          </a:stretch>
        </p:blipFill>
        <p:spPr bwMode="auto">
          <a:xfrm>
            <a:off x="5572132" y="3357562"/>
            <a:ext cx="1639917" cy="2053914"/>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Complete final inspection of room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200" dirty="0" smtClean="0">
                <a:latin typeface="Helvetica" pitchFamily="34" charset="0"/>
              </a:rPr>
              <a:t>Now that tables are set for service and the room is clean and tidy it is now time to undertake a final inspection of the room and table set ups.</a:t>
            </a:r>
          </a:p>
          <a:p>
            <a:pPr>
              <a:spcBef>
                <a:spcPts val="600"/>
              </a:spcBef>
              <a:spcAft>
                <a:spcPts val="1200"/>
              </a:spcAft>
            </a:pPr>
            <a:r>
              <a:rPr lang="en-AU" sz="2200" dirty="0" smtClean="0">
                <a:latin typeface="Helvetica" pitchFamily="34" charset="0"/>
              </a:rPr>
              <a:t>What would you check?</a:t>
            </a:r>
          </a:p>
          <a:p>
            <a:pPr>
              <a:spcBef>
                <a:spcPts val="600"/>
              </a:spcBef>
              <a:spcAft>
                <a:spcPts val="1200"/>
              </a:spcAft>
            </a:pPr>
            <a:r>
              <a:rPr lang="en-AU" sz="2200" dirty="0" smtClean="0">
                <a:latin typeface="Helvetica" pitchFamily="34" charset="0"/>
              </a:rPr>
              <a:t>What are you looking for?</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6" name="Picture 5" descr="7980146464_12a43065a6_m.jpg"/>
          <p:cNvPicPr>
            <a:picLocks noChangeAspect="1"/>
          </p:cNvPicPr>
          <p:nvPr/>
        </p:nvPicPr>
        <p:blipFill>
          <a:blip r:embed="rId3" cstate="print">
            <a:lum bright="10000"/>
          </a:blip>
          <a:stretch>
            <a:fillRect/>
          </a:stretch>
        </p:blipFill>
        <p:spPr>
          <a:xfrm>
            <a:off x="5715008" y="2857496"/>
            <a:ext cx="2286000" cy="1514475"/>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fontScale="90000"/>
          </a:bodyPr>
          <a:lstStyle/>
          <a:p>
            <a:r>
              <a:rPr lang="en-AU" sz="3800" b="1" dirty="0" smtClean="0">
                <a:solidFill>
                  <a:srgbClr val="FF6600"/>
                </a:solidFill>
                <a:latin typeface="Helvetica" pitchFamily="34" charset="0"/>
              </a:rPr>
              <a:t>Removing, cleaning or replacing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lvl="0">
              <a:spcBef>
                <a:spcPts val="600"/>
              </a:spcBef>
              <a:spcAft>
                <a:spcPts val="1200"/>
              </a:spcAft>
            </a:pPr>
            <a:r>
              <a:rPr lang="en-AU" sz="2200" dirty="0" smtClean="0">
                <a:latin typeface="Helvetica" pitchFamily="34" charset="0"/>
              </a:rPr>
              <a:t>High chairs</a:t>
            </a:r>
          </a:p>
          <a:p>
            <a:pPr lvl="0">
              <a:spcBef>
                <a:spcPts val="600"/>
              </a:spcBef>
              <a:spcAft>
                <a:spcPts val="1200"/>
              </a:spcAft>
            </a:pPr>
            <a:r>
              <a:rPr lang="en-AU" sz="2200" dirty="0" smtClean="0">
                <a:latin typeface="Helvetica" pitchFamily="34" charset="0"/>
              </a:rPr>
              <a:t>Trestle tables</a:t>
            </a:r>
          </a:p>
          <a:p>
            <a:pPr lvl="0">
              <a:spcBef>
                <a:spcPts val="600"/>
              </a:spcBef>
              <a:spcAft>
                <a:spcPts val="1200"/>
              </a:spcAft>
            </a:pPr>
            <a:r>
              <a:rPr lang="en-AU" sz="2200" dirty="0" smtClean="0">
                <a:latin typeface="Helvetica" pitchFamily="34" charset="0"/>
              </a:rPr>
              <a:t>Bain-maries</a:t>
            </a:r>
          </a:p>
          <a:p>
            <a:pPr lvl="0">
              <a:spcBef>
                <a:spcPts val="600"/>
              </a:spcBef>
              <a:spcAft>
                <a:spcPts val="1200"/>
              </a:spcAft>
            </a:pPr>
            <a:r>
              <a:rPr lang="en-AU" sz="2200" dirty="0" smtClean="0">
                <a:latin typeface="Helvetica" pitchFamily="34" charset="0"/>
              </a:rPr>
              <a:t>Coffee urns</a:t>
            </a:r>
          </a:p>
          <a:p>
            <a:pPr lvl="0">
              <a:spcBef>
                <a:spcPts val="600"/>
              </a:spcBef>
              <a:spcAft>
                <a:spcPts val="1200"/>
              </a:spcAft>
            </a:pPr>
            <a:r>
              <a:rPr lang="en-AU" sz="2200" dirty="0" smtClean="0">
                <a:latin typeface="Helvetica" pitchFamily="34" charset="0"/>
              </a:rPr>
              <a:t>Equipment used only for the breakfast shift</a:t>
            </a:r>
          </a:p>
          <a:p>
            <a:pPr lvl="0">
              <a:spcBef>
                <a:spcPts val="600"/>
              </a:spcBef>
              <a:spcAft>
                <a:spcPts val="1200"/>
              </a:spcAft>
            </a:pPr>
            <a:r>
              <a:rPr lang="en-AU" sz="2200" dirty="0" smtClean="0">
                <a:latin typeface="Helvetica" pitchFamily="34" charset="0"/>
              </a:rPr>
              <a:t>Glassware</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5" name="Picture 4" descr="http://www.h-e-d.co.uk/images/Baby-High-Chair-Natural.jpg"/>
          <p:cNvPicPr/>
          <p:nvPr/>
        </p:nvPicPr>
        <p:blipFill>
          <a:blip r:embed="rId3" cstate="print"/>
          <a:srcRect/>
          <a:stretch>
            <a:fillRect/>
          </a:stretch>
        </p:blipFill>
        <p:spPr bwMode="auto">
          <a:xfrm>
            <a:off x="5643570" y="1428736"/>
            <a:ext cx="2140270" cy="21402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fontScale="90000"/>
          </a:bodyPr>
          <a:lstStyle/>
          <a:p>
            <a:r>
              <a:rPr lang="en-AU" sz="3800" b="1" dirty="0" smtClean="0">
                <a:solidFill>
                  <a:srgbClr val="FF6600"/>
                </a:solidFill>
                <a:latin typeface="Helvetica" pitchFamily="34" charset="0"/>
              </a:rPr>
              <a:t>Removing, cleaning or replacing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lvl="0">
              <a:spcBef>
                <a:spcPts val="600"/>
              </a:spcBef>
              <a:spcAft>
                <a:spcPts val="1200"/>
              </a:spcAft>
            </a:pPr>
            <a:r>
              <a:rPr lang="en-AU" sz="2200" dirty="0" smtClean="0">
                <a:latin typeface="Helvetica" pitchFamily="34" charset="0"/>
              </a:rPr>
              <a:t>Broken equipment or furniture</a:t>
            </a:r>
          </a:p>
          <a:p>
            <a:pPr lvl="0">
              <a:spcBef>
                <a:spcPts val="600"/>
              </a:spcBef>
              <a:spcAft>
                <a:spcPts val="1200"/>
              </a:spcAft>
            </a:pPr>
            <a:r>
              <a:rPr lang="en-AU" sz="2200" dirty="0" smtClean="0">
                <a:latin typeface="Helvetica" pitchFamily="34" charset="0"/>
              </a:rPr>
              <a:t>Used customer comment forms </a:t>
            </a:r>
          </a:p>
          <a:p>
            <a:pPr lvl="0">
              <a:spcBef>
                <a:spcPts val="600"/>
              </a:spcBef>
              <a:spcAft>
                <a:spcPts val="1200"/>
              </a:spcAft>
            </a:pPr>
            <a:r>
              <a:rPr lang="en-AU" sz="2200" dirty="0" smtClean="0">
                <a:latin typeface="Helvetica" pitchFamily="34" charset="0"/>
              </a:rPr>
              <a:t>Stock (food and beverage items)</a:t>
            </a:r>
          </a:p>
          <a:p>
            <a:pPr lvl="0">
              <a:spcBef>
                <a:spcPts val="600"/>
              </a:spcBef>
              <a:spcAft>
                <a:spcPts val="1200"/>
              </a:spcAft>
            </a:pPr>
            <a:r>
              <a:rPr lang="en-AU" sz="2200" dirty="0" smtClean="0">
                <a:latin typeface="Helvetica" pitchFamily="34" charset="0"/>
              </a:rPr>
              <a:t>Displays</a:t>
            </a:r>
          </a:p>
          <a:p>
            <a:pPr lvl="0">
              <a:spcBef>
                <a:spcPts val="600"/>
              </a:spcBef>
              <a:spcAft>
                <a:spcPts val="1200"/>
              </a:spcAft>
            </a:pPr>
            <a:r>
              <a:rPr lang="en-AU" sz="2200" dirty="0" smtClean="0">
                <a:latin typeface="Helvetica" pitchFamily="34" charset="0"/>
              </a:rPr>
              <a:t>Mobile trolleys</a:t>
            </a:r>
          </a:p>
          <a:p>
            <a:pPr>
              <a:buNone/>
            </a:pPr>
            <a:endParaRPr lang="en-AU" sz="2400" dirty="0" smtClean="0"/>
          </a:p>
          <a:p>
            <a:pPr>
              <a:spcBef>
                <a:spcPts val="600"/>
              </a:spcBef>
              <a:spcAft>
                <a:spcPts val="1200"/>
              </a:spcAft>
              <a:buNone/>
            </a:pPr>
            <a:endParaRPr lang="en-AU" sz="2400" dirty="0" smtClean="0"/>
          </a:p>
          <a:p>
            <a:endParaRPr lang="en-US" altLang="zh-CN" sz="2400" i="1"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breakfast_buffet_closeup.jpg"/>
          <p:cNvPicPr>
            <a:picLocks noChangeAspect="1"/>
          </p:cNvPicPr>
          <p:nvPr/>
        </p:nvPicPr>
        <p:blipFill>
          <a:blip r:embed="rId3" cstate="print"/>
          <a:stretch>
            <a:fillRect/>
          </a:stretch>
        </p:blipFill>
        <p:spPr>
          <a:xfrm>
            <a:off x="5857884" y="1643050"/>
            <a:ext cx="2113040" cy="2106849"/>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Checking tables prior to service </a:t>
            </a:r>
            <a:endParaRPr lang="en-US" altLang="zh-CN" sz="2200" dirty="0" smtClean="0">
              <a:latin typeface="Helvetica" pitchFamily="34" charset="0"/>
              <a:ea typeface="宋体" pitchFamily="2" charset="-122"/>
            </a:endParaRPr>
          </a:p>
          <a:p>
            <a:pPr marL="0">
              <a:spcBef>
                <a:spcPts val="600"/>
              </a:spcBef>
              <a:spcAft>
                <a:spcPts val="1200"/>
              </a:spcAft>
              <a:buNone/>
            </a:pPr>
            <a:r>
              <a:rPr lang="en-AU" sz="2200" dirty="0" smtClean="0">
                <a:latin typeface="Helvetica" pitchFamily="34" charset="0"/>
              </a:rPr>
              <a:t>Cleanliness and the condition of the tables and the table items must be checked prior to service to ensure the guests enter a proper and correctly prepared room. </a:t>
            </a:r>
          </a:p>
          <a:p>
            <a:pPr>
              <a:spcBef>
                <a:spcPts val="600"/>
              </a:spcBef>
              <a:spcAft>
                <a:spcPts val="1200"/>
              </a:spcAft>
            </a:pPr>
            <a:r>
              <a:rPr lang="en-AU" sz="2200" dirty="0" smtClean="0">
                <a:latin typeface="Helvetica" pitchFamily="34" charset="0"/>
              </a:rPr>
              <a:t>What would you check and why?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7" name="Picture 6" descr="5520711637_1717ced5ef_m.jpg"/>
          <p:cNvPicPr>
            <a:picLocks noChangeAspect="1"/>
          </p:cNvPicPr>
          <p:nvPr/>
        </p:nvPicPr>
        <p:blipFill>
          <a:blip r:embed="rId3" cstate="print"/>
          <a:stretch>
            <a:fillRect/>
          </a:stretch>
        </p:blipFill>
        <p:spPr>
          <a:xfrm>
            <a:off x="3286116" y="4143380"/>
            <a:ext cx="2507940" cy="167196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285860"/>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Checking tables prior to service </a:t>
            </a:r>
            <a:endParaRPr lang="en-US" altLang="zh-CN" sz="2200" dirty="0" smtClean="0">
              <a:latin typeface="Helvetica" pitchFamily="34" charset="0"/>
              <a:ea typeface="宋体" pitchFamily="2" charset="-122"/>
            </a:endParaRPr>
          </a:p>
          <a:p>
            <a:pPr lvl="0">
              <a:spcBef>
                <a:spcPts val="600"/>
              </a:spcBef>
              <a:spcAft>
                <a:spcPts val="1200"/>
              </a:spcAft>
            </a:pPr>
            <a:r>
              <a:rPr lang="en-AU" sz="2200" dirty="0" smtClean="0">
                <a:latin typeface="Helvetica" pitchFamily="34" charset="0"/>
              </a:rPr>
              <a:t>Crumbs on chairs  </a:t>
            </a:r>
          </a:p>
          <a:p>
            <a:pPr lvl="0">
              <a:spcBef>
                <a:spcPts val="600"/>
              </a:spcBef>
              <a:spcAft>
                <a:spcPts val="1200"/>
              </a:spcAft>
            </a:pPr>
            <a:r>
              <a:rPr lang="en-AU" sz="2200" dirty="0" smtClean="0">
                <a:latin typeface="Helvetica" pitchFamily="34" charset="0"/>
              </a:rPr>
              <a:t>Lop-sided, creased, dirty or otherwise unsuitable table cloth</a:t>
            </a:r>
          </a:p>
          <a:p>
            <a:pPr lvl="0">
              <a:spcBef>
                <a:spcPts val="600"/>
              </a:spcBef>
              <a:spcAft>
                <a:spcPts val="1200"/>
              </a:spcAft>
            </a:pPr>
            <a:r>
              <a:rPr lang="en-AU" sz="2200" dirty="0" smtClean="0">
                <a:latin typeface="Helvetica" pitchFamily="34" charset="0"/>
              </a:rPr>
              <a:t>Missing items from the cover or table  </a:t>
            </a:r>
          </a:p>
          <a:p>
            <a:pPr lvl="0">
              <a:spcBef>
                <a:spcPts val="600"/>
              </a:spcBef>
              <a:spcAft>
                <a:spcPts val="1200"/>
              </a:spcAft>
            </a:pPr>
            <a:r>
              <a:rPr lang="en-AU" sz="2200" dirty="0" smtClean="0">
                <a:latin typeface="Helvetica" pitchFamily="34" charset="0"/>
              </a:rPr>
              <a:t>Missing, damaged or unstable tables </a:t>
            </a:r>
            <a:br>
              <a:rPr lang="en-AU" sz="2200" dirty="0" smtClean="0">
                <a:latin typeface="Helvetica" pitchFamily="34" charset="0"/>
              </a:rPr>
            </a:br>
            <a:r>
              <a:rPr lang="en-AU" sz="2200" dirty="0" smtClean="0">
                <a:latin typeface="Helvetica" pitchFamily="34" charset="0"/>
              </a:rPr>
              <a:t>and chairs </a:t>
            </a:r>
          </a:p>
          <a:p>
            <a:pPr lvl="0">
              <a:spcBef>
                <a:spcPts val="600"/>
              </a:spcBef>
              <a:spcAft>
                <a:spcPts val="1200"/>
              </a:spcAft>
            </a:pPr>
            <a:r>
              <a:rPr lang="en-AU" sz="2200" dirty="0" smtClean="0">
                <a:latin typeface="Helvetica" pitchFamily="34" charset="0"/>
              </a:rPr>
              <a:t>Incorrect covers set on a table  </a:t>
            </a:r>
          </a:p>
          <a:p>
            <a:pPr lvl="0">
              <a:spcBef>
                <a:spcPts val="600"/>
              </a:spcBef>
              <a:spcAft>
                <a:spcPts val="1200"/>
              </a:spcAft>
            </a:pPr>
            <a:r>
              <a:rPr lang="en-AU" sz="2200" dirty="0" smtClean="0">
                <a:latin typeface="Helvetica" pitchFamily="34" charset="0"/>
              </a:rPr>
              <a:t>Actual table positions reflect the set floor plan</a:t>
            </a:r>
          </a:p>
          <a:p>
            <a:pPr lvl="0">
              <a:spcBef>
                <a:spcPts val="600"/>
              </a:spcBef>
              <a:spcAft>
                <a:spcPts val="1200"/>
              </a:spcAft>
            </a:pPr>
            <a:r>
              <a:rPr lang="en-AU" sz="2200" dirty="0" smtClean="0">
                <a:latin typeface="Helvetica" pitchFamily="34" charset="0"/>
              </a:rPr>
              <a:t>Rubbish </a:t>
            </a:r>
          </a:p>
          <a:p>
            <a:pPr lvl="0">
              <a:spcBef>
                <a:spcPts val="600"/>
              </a:spcBef>
              <a:spcAft>
                <a:spcPts val="1200"/>
              </a:spcAft>
            </a:pPr>
            <a:r>
              <a:rPr lang="en-AU" sz="2200" dirty="0" smtClean="0">
                <a:latin typeface="Helvetica" pitchFamily="34" charset="0"/>
              </a:rPr>
              <a:t>Flies or insects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15364" name="Picture 4" descr="C:\Documents and Settings\danielc\Desktop\Provide F&amp;B services images\851612_dining.jpg"/>
          <p:cNvPicPr>
            <a:picLocks noChangeAspect="1" noChangeArrowheads="1"/>
          </p:cNvPicPr>
          <p:nvPr/>
        </p:nvPicPr>
        <p:blipFill>
          <a:blip r:embed="rId3" cstate="print"/>
          <a:srcRect/>
          <a:stretch>
            <a:fillRect/>
          </a:stretch>
        </p:blipFill>
        <p:spPr bwMode="auto">
          <a:xfrm>
            <a:off x="6215074" y="3000372"/>
            <a:ext cx="2000254" cy="1493523"/>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Setting tables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285860"/>
            <a:ext cx="7467600" cy="53012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Verify Menu</a:t>
            </a:r>
            <a:endParaRPr lang="en-US" altLang="zh-CN" sz="2200" dirty="0" smtClean="0">
              <a:latin typeface="Helvetica" pitchFamily="34" charset="0"/>
              <a:ea typeface="宋体" pitchFamily="2" charset="-122"/>
            </a:endParaRPr>
          </a:p>
          <a:p>
            <a:pPr>
              <a:spcBef>
                <a:spcPts val="600"/>
              </a:spcBef>
              <a:spcAft>
                <a:spcPts val="1200"/>
              </a:spcAft>
              <a:buNone/>
            </a:pPr>
            <a:r>
              <a:rPr lang="en-US" altLang="zh-CN" sz="2200" u="sng" dirty="0" smtClean="0">
                <a:latin typeface="Helvetica" pitchFamily="34" charset="0"/>
                <a:ea typeface="宋体" pitchFamily="2" charset="-122"/>
              </a:rPr>
              <a:t>Types of menus</a:t>
            </a:r>
          </a:p>
          <a:p>
            <a:pPr>
              <a:spcBef>
                <a:spcPts val="600"/>
              </a:spcBef>
              <a:spcAft>
                <a:spcPts val="1200"/>
              </a:spcAft>
            </a:pPr>
            <a:r>
              <a:rPr lang="en-US" altLang="zh-CN" sz="2200" dirty="0" smtClean="0">
                <a:latin typeface="Helvetica" pitchFamily="34" charset="0"/>
                <a:ea typeface="宋体" pitchFamily="2" charset="-122"/>
              </a:rPr>
              <a:t>A la carte menu</a:t>
            </a:r>
          </a:p>
          <a:p>
            <a:pPr>
              <a:spcBef>
                <a:spcPts val="600"/>
              </a:spcBef>
              <a:spcAft>
                <a:spcPts val="1200"/>
              </a:spcAft>
            </a:pPr>
            <a:r>
              <a:rPr lang="en-US" altLang="zh-CN" sz="2200" dirty="0" smtClean="0">
                <a:latin typeface="Helvetica" pitchFamily="34" charset="0"/>
                <a:ea typeface="宋体" pitchFamily="2" charset="-122"/>
              </a:rPr>
              <a:t>Set menu</a:t>
            </a:r>
          </a:p>
          <a:p>
            <a:pPr>
              <a:spcBef>
                <a:spcPts val="600"/>
              </a:spcBef>
              <a:spcAft>
                <a:spcPts val="1200"/>
              </a:spcAft>
            </a:pPr>
            <a:r>
              <a:rPr lang="en-US" altLang="zh-CN" sz="2200" dirty="0" smtClean="0">
                <a:latin typeface="Helvetica" pitchFamily="34" charset="0"/>
                <a:ea typeface="宋体" pitchFamily="2" charset="-122"/>
              </a:rPr>
              <a:t>Beverage menu</a:t>
            </a:r>
          </a:p>
          <a:p>
            <a:pPr>
              <a:spcBef>
                <a:spcPts val="600"/>
              </a:spcBef>
              <a:spcAft>
                <a:spcPts val="1200"/>
              </a:spcAft>
            </a:pPr>
            <a:r>
              <a:rPr lang="en-US" altLang="zh-CN" sz="2200" dirty="0" smtClean="0">
                <a:latin typeface="Helvetica" pitchFamily="34" charset="0"/>
                <a:ea typeface="宋体" pitchFamily="2" charset="-122"/>
              </a:rPr>
              <a:t>What is in the beverage menu?</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5" name="Picture 8" descr="a_la_carte_menu"/>
          <p:cNvPicPr>
            <a:picLocks noChangeAspect="1" noChangeArrowheads="1"/>
          </p:cNvPicPr>
          <p:nvPr/>
        </p:nvPicPr>
        <p:blipFill>
          <a:blip r:embed="rId3" cstate="print"/>
          <a:srcRect/>
          <a:stretch>
            <a:fillRect/>
          </a:stretch>
        </p:blipFill>
        <p:spPr bwMode="auto">
          <a:xfrm>
            <a:off x="5286380" y="3214686"/>
            <a:ext cx="2714644" cy="1867675"/>
          </a:xfrm>
          <a:prstGeom prst="rect">
            <a:avLst/>
          </a:prstGeom>
          <a:noFill/>
        </p:spPr>
      </p:pic>
      <p:pic>
        <p:nvPicPr>
          <p:cNvPr id="6" name="Picture 10" descr="IndianSetMenu"/>
          <p:cNvPicPr>
            <a:picLocks noChangeAspect="1" noChangeArrowheads="1"/>
          </p:cNvPicPr>
          <p:nvPr/>
        </p:nvPicPr>
        <p:blipFill>
          <a:blip r:embed="rId4" cstate="print"/>
          <a:srcRect/>
          <a:stretch>
            <a:fillRect/>
          </a:stretch>
        </p:blipFill>
        <p:spPr bwMode="auto">
          <a:xfrm>
            <a:off x="5214942" y="1142984"/>
            <a:ext cx="2707978" cy="1875058"/>
          </a:xfrm>
          <a:prstGeom prst="rect">
            <a:avLst/>
          </a:prstGeom>
          <a:noFill/>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Final check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Final confirmations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As part of the final check a final confirmation of the following may take place:</a:t>
            </a:r>
          </a:p>
          <a:p>
            <a:pPr lvl="0">
              <a:spcBef>
                <a:spcPts val="600"/>
              </a:spcBef>
              <a:spcAft>
                <a:spcPts val="1200"/>
              </a:spcAft>
            </a:pPr>
            <a:r>
              <a:rPr lang="en-AU" sz="2200" dirty="0" smtClean="0">
                <a:latin typeface="Helvetica" pitchFamily="34" charset="0"/>
              </a:rPr>
              <a:t>Bookings</a:t>
            </a:r>
          </a:p>
          <a:p>
            <a:pPr lvl="0">
              <a:spcBef>
                <a:spcPts val="600"/>
              </a:spcBef>
              <a:spcAft>
                <a:spcPts val="1200"/>
              </a:spcAft>
            </a:pPr>
            <a:r>
              <a:rPr lang="en-AU" sz="2200" dirty="0" smtClean="0">
                <a:latin typeface="Helvetica" pitchFamily="34" charset="0"/>
              </a:rPr>
              <a:t>Special requests</a:t>
            </a:r>
          </a:p>
          <a:p>
            <a:pPr lvl="0">
              <a:spcBef>
                <a:spcPts val="600"/>
              </a:spcBef>
              <a:spcAft>
                <a:spcPts val="1200"/>
              </a:spcAft>
            </a:pPr>
            <a:r>
              <a:rPr lang="en-AU" sz="2200" dirty="0" smtClean="0">
                <a:latin typeface="Helvetica" pitchFamily="34" charset="0"/>
              </a:rPr>
              <a:t>Seating plan</a:t>
            </a:r>
          </a:p>
          <a:p>
            <a:pPr lvl="0">
              <a:spcBef>
                <a:spcPts val="600"/>
              </a:spcBef>
              <a:spcAft>
                <a:spcPts val="1200"/>
              </a:spcAft>
            </a:pPr>
            <a:r>
              <a:rPr lang="en-AU" sz="2200" dirty="0" smtClean="0">
                <a:latin typeface="Helvetica" pitchFamily="34" charset="0"/>
              </a:rPr>
              <a:t>Station allocations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16386" name="Picture 2" descr="C:\Documents and Settings\danielc\Local Settings\Temporary Internet Files\Content.IE5\3DV3UKH9\MC900034419[1].wmf"/>
          <p:cNvPicPr>
            <a:picLocks noChangeAspect="1" noChangeArrowheads="1"/>
          </p:cNvPicPr>
          <p:nvPr/>
        </p:nvPicPr>
        <p:blipFill>
          <a:blip r:embed="rId3" cstate="print"/>
          <a:srcRect/>
          <a:stretch>
            <a:fillRect/>
          </a:stretch>
        </p:blipFill>
        <p:spPr bwMode="auto">
          <a:xfrm>
            <a:off x="4786314" y="3435986"/>
            <a:ext cx="2862785" cy="1266903"/>
          </a:xfrm>
          <a:prstGeom prst="rect">
            <a:avLst/>
          </a:prstGeom>
          <a:noFill/>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Reporting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285860"/>
            <a:ext cx="7467600" cy="5301208"/>
          </a:xfrm>
        </p:spPr>
        <p:txBody>
          <a:bodyPr>
            <a:normAutofit/>
          </a:bodyPr>
          <a:lstStyle/>
          <a:p>
            <a:pPr marL="0">
              <a:spcBef>
                <a:spcPts val="600"/>
              </a:spcBef>
              <a:spcAft>
                <a:spcPts val="1200"/>
              </a:spcAft>
              <a:buNone/>
            </a:pPr>
            <a:r>
              <a:rPr lang="en-AU" sz="2200" dirty="0" smtClean="0">
                <a:latin typeface="Helvetica" pitchFamily="34" charset="0"/>
              </a:rPr>
              <a:t>Once a final check of the restaurant has been completed, any problems that have been identified can be discussed with the appropriate person, for their prompt action.</a:t>
            </a:r>
          </a:p>
          <a:p>
            <a:pPr marL="0">
              <a:spcBef>
                <a:spcPts val="600"/>
              </a:spcBef>
              <a:spcAft>
                <a:spcPts val="1200"/>
              </a:spcAft>
              <a:buNone/>
            </a:pPr>
            <a:r>
              <a:rPr lang="en-AU" sz="2200" dirty="0" smtClean="0">
                <a:latin typeface="Helvetica" pitchFamily="34" charset="0"/>
              </a:rPr>
              <a:t>There may be times when service staff identify a problem they cannot rectify, or come across a recurring problem in the room.</a:t>
            </a:r>
          </a:p>
          <a:p>
            <a:pPr>
              <a:spcBef>
                <a:spcPts val="600"/>
              </a:spcBef>
              <a:spcAft>
                <a:spcPts val="1200"/>
              </a:spcAft>
            </a:pPr>
            <a:r>
              <a:rPr lang="en-AU" sz="2200" dirty="0" smtClean="0">
                <a:latin typeface="Helvetica" pitchFamily="34" charset="0"/>
              </a:rPr>
              <a:t>What are common problems?</a:t>
            </a:r>
          </a:p>
          <a:p>
            <a:pPr>
              <a:spcBef>
                <a:spcPts val="600"/>
              </a:spcBef>
              <a:spcAft>
                <a:spcPts val="1200"/>
              </a:spcAft>
            </a:pPr>
            <a:r>
              <a:rPr lang="en-AU" sz="2200" dirty="0" smtClean="0">
                <a:latin typeface="Helvetica" pitchFamily="34" charset="0"/>
              </a:rPr>
              <a:t>Who should they be reported to?</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00302919.jpg"/>
          <p:cNvPicPr/>
          <p:nvPr/>
        </p:nvPicPr>
        <p:blipFill>
          <a:blip r:embed="rId3" cstate="print"/>
          <a:stretch>
            <a:fillRect/>
          </a:stretch>
        </p:blipFill>
        <p:spPr>
          <a:xfrm>
            <a:off x="6429388" y="3500438"/>
            <a:ext cx="1319375" cy="171451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Reporting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357298"/>
            <a:ext cx="7467600" cy="5301208"/>
          </a:xfrm>
        </p:spPr>
        <p:txBody>
          <a:bodyPr>
            <a:normAutofit/>
          </a:bodyPr>
          <a:lstStyle/>
          <a:p>
            <a:pPr marL="0">
              <a:spcBef>
                <a:spcPts val="600"/>
              </a:spcBef>
              <a:spcAft>
                <a:spcPts val="1200"/>
              </a:spcAft>
              <a:buNone/>
            </a:pPr>
            <a:r>
              <a:rPr lang="en-AU" sz="2200" b="1" dirty="0" smtClean="0">
                <a:latin typeface="Helvetica" pitchFamily="34" charset="0"/>
              </a:rPr>
              <a:t>Common recurring problems</a:t>
            </a:r>
          </a:p>
          <a:p>
            <a:pPr lvl="0">
              <a:spcBef>
                <a:spcPts val="600"/>
              </a:spcBef>
              <a:spcAft>
                <a:spcPts val="1200"/>
              </a:spcAft>
            </a:pPr>
            <a:r>
              <a:rPr lang="en-AU" sz="2200" dirty="0" smtClean="0">
                <a:latin typeface="Helvetica" pitchFamily="34" charset="0"/>
              </a:rPr>
              <a:t>A piece of equipment keeps failing</a:t>
            </a:r>
          </a:p>
          <a:p>
            <a:pPr lvl="0">
              <a:spcBef>
                <a:spcPts val="600"/>
              </a:spcBef>
              <a:spcAft>
                <a:spcPts val="1200"/>
              </a:spcAft>
            </a:pPr>
            <a:r>
              <a:rPr lang="en-AU" sz="2200" dirty="0" smtClean="0">
                <a:latin typeface="Helvetica" pitchFamily="34" charset="0"/>
              </a:rPr>
              <a:t>Faulty refrigeration</a:t>
            </a:r>
          </a:p>
          <a:p>
            <a:pPr lvl="0">
              <a:spcBef>
                <a:spcPts val="600"/>
              </a:spcBef>
              <a:spcAft>
                <a:spcPts val="1200"/>
              </a:spcAft>
            </a:pPr>
            <a:r>
              <a:rPr lang="en-AU" sz="2200" dirty="0" smtClean="0">
                <a:latin typeface="Helvetica" pitchFamily="34" charset="0"/>
              </a:rPr>
              <a:t>Running out of crockery, cutlery or glasses</a:t>
            </a:r>
          </a:p>
          <a:p>
            <a:pPr lvl="0">
              <a:spcBef>
                <a:spcPts val="600"/>
              </a:spcBef>
              <a:spcAft>
                <a:spcPts val="1200"/>
              </a:spcAft>
            </a:pPr>
            <a:r>
              <a:rPr lang="en-AU" sz="2200" dirty="0" smtClean="0">
                <a:latin typeface="Helvetica" pitchFamily="34" charset="0"/>
              </a:rPr>
              <a:t>Always running out of forms or pens</a:t>
            </a:r>
          </a:p>
          <a:p>
            <a:pPr lvl="0">
              <a:spcBef>
                <a:spcPts val="600"/>
              </a:spcBef>
              <a:spcAft>
                <a:spcPts val="1200"/>
              </a:spcAft>
            </a:pPr>
            <a:r>
              <a:rPr lang="en-AU" sz="2200" dirty="0" smtClean="0">
                <a:latin typeface="Helvetica" pitchFamily="34" charset="0"/>
              </a:rPr>
              <a:t>Circuit breakers constantly tripping</a:t>
            </a:r>
          </a:p>
          <a:p>
            <a:pPr>
              <a:spcBef>
                <a:spcPts val="600"/>
              </a:spcBef>
              <a:spcAft>
                <a:spcPts val="1200"/>
              </a:spcAft>
            </a:pPr>
            <a:r>
              <a:rPr lang="en-AU" sz="2200" dirty="0" smtClean="0">
                <a:latin typeface="Helvetica" pitchFamily="34" charset="0"/>
              </a:rPr>
              <a:t>Faulty air conditioning</a:t>
            </a:r>
          </a:p>
          <a:p>
            <a:pPr>
              <a:spcBef>
                <a:spcPts val="600"/>
              </a:spcBef>
              <a:spcAft>
                <a:spcPts val="1200"/>
              </a:spcAft>
            </a:pPr>
            <a:r>
              <a:rPr lang="en-AU" sz="2200" dirty="0" smtClean="0"/>
              <a:t>Production delays</a:t>
            </a:r>
          </a:p>
          <a:p>
            <a:pPr>
              <a:spcBef>
                <a:spcPts val="600"/>
              </a:spcBef>
              <a:spcAft>
                <a:spcPts val="1200"/>
              </a:spcAft>
            </a:pPr>
            <a:r>
              <a:rPr lang="en-AU" sz="2200" dirty="0" smtClean="0">
                <a:latin typeface="Helvetica" pitchFamily="34" charset="0"/>
              </a:rPr>
              <a:t>Miscommunication between customers &amp; staff</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6" name="Picture 5" descr="MP900401145[1].JPG"/>
          <p:cNvPicPr/>
          <p:nvPr/>
        </p:nvPicPr>
        <p:blipFill>
          <a:blip r:embed="rId3" cstate="print"/>
          <a:stretch>
            <a:fillRect/>
          </a:stretch>
        </p:blipFill>
        <p:spPr>
          <a:xfrm>
            <a:off x="6804248" y="3071810"/>
            <a:ext cx="1486364" cy="1862254"/>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Reporting problems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200" dirty="0" smtClean="0">
                <a:latin typeface="Helvetica" pitchFamily="34" charset="0"/>
              </a:rPr>
              <a:t>The floor plan always gets lost</a:t>
            </a:r>
          </a:p>
          <a:p>
            <a:pPr lvl="0">
              <a:spcBef>
                <a:spcPts val="600"/>
              </a:spcBef>
              <a:spcAft>
                <a:spcPts val="1200"/>
              </a:spcAft>
            </a:pPr>
            <a:r>
              <a:rPr lang="en-AU" sz="2200" dirty="0" smtClean="0">
                <a:latin typeface="Helvetica" pitchFamily="34" charset="0"/>
              </a:rPr>
              <a:t>The need for a new piece of equipment to </a:t>
            </a:r>
            <a:br>
              <a:rPr lang="en-AU" sz="2200" dirty="0" smtClean="0">
                <a:latin typeface="Helvetica" pitchFamily="34" charset="0"/>
              </a:rPr>
            </a:br>
            <a:r>
              <a:rPr lang="en-AU" sz="2200" dirty="0" smtClean="0">
                <a:latin typeface="Helvetica" pitchFamily="34" charset="0"/>
              </a:rPr>
              <a:t>complete a specific task more efficiently  </a:t>
            </a:r>
          </a:p>
          <a:p>
            <a:pPr lvl="0">
              <a:spcBef>
                <a:spcPts val="600"/>
              </a:spcBef>
              <a:spcAft>
                <a:spcPts val="1200"/>
              </a:spcAft>
            </a:pPr>
            <a:r>
              <a:rPr lang="en-AU" sz="2200" dirty="0" smtClean="0">
                <a:latin typeface="Helvetica" pitchFamily="34" charset="0"/>
              </a:rPr>
              <a:t>Any health and safety issue</a:t>
            </a:r>
          </a:p>
          <a:p>
            <a:pPr lvl="0">
              <a:spcBef>
                <a:spcPts val="600"/>
              </a:spcBef>
              <a:spcAft>
                <a:spcPts val="1200"/>
              </a:spcAft>
            </a:pPr>
            <a:r>
              <a:rPr lang="en-AU" sz="2200" dirty="0" smtClean="0">
                <a:latin typeface="Helvetica" pitchFamily="34" charset="0"/>
              </a:rPr>
              <a:t>Always running out of a particular product</a:t>
            </a:r>
          </a:p>
          <a:p>
            <a:pPr lvl="0">
              <a:spcBef>
                <a:spcPts val="600"/>
              </a:spcBef>
              <a:spcAft>
                <a:spcPts val="1200"/>
              </a:spcAft>
            </a:pPr>
            <a:r>
              <a:rPr lang="en-AU" sz="2200" dirty="0" smtClean="0">
                <a:latin typeface="Helvetica" pitchFamily="34" charset="0"/>
              </a:rPr>
              <a:t>Always running out of ice  </a:t>
            </a:r>
          </a:p>
          <a:p>
            <a:pPr lvl="0">
              <a:spcBef>
                <a:spcPts val="600"/>
              </a:spcBef>
              <a:spcAft>
                <a:spcPts val="1200"/>
              </a:spcAft>
            </a:pPr>
            <a:r>
              <a:rPr lang="en-AU" sz="2200" dirty="0" smtClean="0">
                <a:latin typeface="Helvetica" pitchFamily="34" charset="0"/>
              </a:rPr>
              <a:t>Always running out of menus  </a:t>
            </a:r>
          </a:p>
          <a:p>
            <a:pPr>
              <a:spcBef>
                <a:spcPts val="600"/>
              </a:spcBef>
              <a:spcAft>
                <a:spcPts val="1200"/>
              </a:spcAft>
            </a:pPr>
            <a:r>
              <a:rPr lang="en-AU" sz="2200" dirty="0" smtClean="0">
                <a:latin typeface="Helvetica" pitchFamily="34" charset="0"/>
              </a:rPr>
              <a:t>Need for more cleaning items and equipment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17410" name="Picture 2" descr="C:\Documents and Settings\danielc\Local Settings\Temporary Internet Files\Content.IE5\3DV3UKH9\MP900442237[1].jpg"/>
          <p:cNvPicPr>
            <a:picLocks noChangeAspect="1" noChangeArrowheads="1"/>
          </p:cNvPicPr>
          <p:nvPr/>
        </p:nvPicPr>
        <p:blipFill>
          <a:blip r:embed="rId3" cstate="print"/>
          <a:srcRect/>
          <a:stretch>
            <a:fillRect/>
          </a:stretch>
        </p:blipFill>
        <p:spPr bwMode="auto">
          <a:xfrm>
            <a:off x="6786578" y="2285992"/>
            <a:ext cx="1465404" cy="1928802"/>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rPr>
              <a:t>Meet and greet guests</a:t>
            </a:r>
            <a:endParaRPr lang="en-AU" sz="2200" dirty="0" smtClean="0">
              <a:solidFill>
                <a:srgbClr val="FF6600"/>
              </a:solidFill>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descr="I:\Overseas Projects\PHOTOS\2012\F &amp; B 2012\shutterstock_72434737.jpg"/>
          <p:cNvPicPr/>
          <p:nvPr/>
        </p:nvPicPr>
        <p:blipFill>
          <a:blip r:embed="rId3" cstate="print"/>
          <a:srcRect/>
          <a:stretch>
            <a:fillRect/>
          </a:stretch>
        </p:blipFill>
        <p:spPr bwMode="auto">
          <a:xfrm>
            <a:off x="2285984" y="3286124"/>
            <a:ext cx="3786214" cy="25660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Meet and greet guests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Welcome guests on arrival</a:t>
            </a:r>
          </a:p>
          <a:p>
            <a:pPr>
              <a:spcBef>
                <a:spcPts val="600"/>
              </a:spcBef>
              <a:spcAft>
                <a:spcPts val="1200"/>
              </a:spcAft>
            </a:pPr>
            <a:r>
              <a:rPr lang="en-AU" sz="2200" dirty="0" smtClean="0">
                <a:latin typeface="Helvetica" pitchFamily="34" charset="0"/>
              </a:rPr>
              <a:t>Seat guests</a:t>
            </a:r>
            <a:r>
              <a:rPr lang="en-AU" sz="2200" b="1" dirty="0" smtClean="0">
                <a:latin typeface="Helvetica" pitchFamily="34" charset="0"/>
              </a:rPr>
              <a:t> </a:t>
            </a:r>
            <a:r>
              <a:rPr lang="en-AU" sz="2200" dirty="0" smtClean="0">
                <a:latin typeface="Helvetica" pitchFamily="34" charset="0"/>
              </a:rPr>
              <a:t>at nominated or designated tables</a:t>
            </a:r>
          </a:p>
          <a:p>
            <a:pPr>
              <a:spcBef>
                <a:spcPts val="600"/>
              </a:spcBef>
              <a:spcAft>
                <a:spcPts val="1200"/>
              </a:spcAft>
            </a:pPr>
            <a:r>
              <a:rPr lang="en-AU" sz="2200" dirty="0" smtClean="0">
                <a:latin typeface="Helvetica" pitchFamily="34" charset="0"/>
              </a:rPr>
              <a:t>Offer pre-meal services</a:t>
            </a:r>
            <a:r>
              <a:rPr lang="en-AU" sz="2200" i="1" dirty="0" smtClean="0">
                <a:latin typeface="Helvetica" pitchFamily="34" charset="0"/>
              </a:rPr>
              <a:t> </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Present menus and wine/drink lists</a:t>
            </a:r>
          </a:p>
          <a:p>
            <a:pPr>
              <a:spcBef>
                <a:spcPts val="600"/>
              </a:spcBef>
              <a:spcAft>
                <a:spcPts val="1200"/>
              </a:spcAft>
            </a:pPr>
            <a:r>
              <a:rPr lang="en-AU" sz="2200" dirty="0" smtClean="0">
                <a:latin typeface="Helvetica" pitchFamily="34" charset="0"/>
              </a:rPr>
              <a:t>Provide service advice and information to guests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458598"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929454"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101408" y="318770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3714752"/>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173242" y="4286256"/>
            <a:ext cx="399154" cy="527046"/>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Welcoming guests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6350" indent="-6350">
              <a:spcBef>
                <a:spcPts val="600"/>
              </a:spcBef>
              <a:spcAft>
                <a:spcPts val="600"/>
              </a:spcAft>
              <a:buNone/>
            </a:pPr>
            <a:r>
              <a:rPr lang="en-US" altLang="zh-CN" sz="2200" b="1" dirty="0" smtClean="0">
                <a:latin typeface="Helvetica" pitchFamily="34" charset="0"/>
                <a:ea typeface="宋体" pitchFamily="2" charset="-122"/>
              </a:rPr>
              <a:t>You never get a second chance to make a good first impression</a:t>
            </a:r>
          </a:p>
          <a:p>
            <a:pPr marL="406400" indent="-406400">
              <a:spcBef>
                <a:spcPts val="600"/>
              </a:spcBef>
              <a:spcAft>
                <a:spcPts val="600"/>
              </a:spcAft>
            </a:pPr>
            <a:r>
              <a:rPr lang="en-US" altLang="zh-CN" sz="2200" dirty="0" smtClean="0">
                <a:latin typeface="Helvetica" pitchFamily="34" charset="0"/>
                <a:ea typeface="宋体" pitchFamily="2" charset="-122"/>
              </a:rPr>
              <a:t>What is a good way to welcome customers to a food and beverage establishment?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6" name="Picture 6" descr="teeth-whitening-23232701"/>
          <p:cNvPicPr>
            <a:picLocks noChangeAspect="1" noChangeArrowheads="1"/>
          </p:cNvPicPr>
          <p:nvPr/>
        </p:nvPicPr>
        <p:blipFill>
          <a:blip r:embed="rId3" cstate="print"/>
          <a:srcRect/>
          <a:stretch>
            <a:fillRect/>
          </a:stretch>
        </p:blipFill>
        <p:spPr bwMode="auto">
          <a:xfrm>
            <a:off x="5857884" y="3143248"/>
            <a:ext cx="1885578" cy="2098237"/>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Check reservations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US" altLang="zh-CN" sz="2200" dirty="0" smtClean="0">
                <a:latin typeface="Helvetica" pitchFamily="34" charset="0"/>
                <a:ea typeface="宋体" pitchFamily="2" charset="-122"/>
              </a:rPr>
              <a:t>Name of booking</a:t>
            </a:r>
          </a:p>
          <a:p>
            <a:pPr>
              <a:spcBef>
                <a:spcPts val="600"/>
              </a:spcBef>
              <a:spcAft>
                <a:spcPts val="1200"/>
              </a:spcAft>
            </a:pPr>
            <a:r>
              <a:rPr lang="en-US" altLang="zh-CN" sz="2200" dirty="0" smtClean="0">
                <a:latin typeface="Helvetica" pitchFamily="34" charset="0"/>
                <a:ea typeface="宋体" pitchFamily="2" charset="-122"/>
              </a:rPr>
              <a:t>Reservation/No reservation</a:t>
            </a:r>
          </a:p>
          <a:p>
            <a:pPr>
              <a:spcBef>
                <a:spcPts val="600"/>
              </a:spcBef>
              <a:spcAft>
                <a:spcPts val="1200"/>
              </a:spcAft>
            </a:pPr>
            <a:r>
              <a:rPr lang="en-US" altLang="zh-CN" sz="2200" dirty="0" smtClean="0">
                <a:latin typeface="Helvetica" pitchFamily="34" charset="0"/>
                <a:ea typeface="宋体" pitchFamily="2" charset="-122"/>
              </a:rPr>
              <a:t>Confirm number of guests</a:t>
            </a:r>
          </a:p>
          <a:p>
            <a:pPr>
              <a:spcBef>
                <a:spcPts val="600"/>
              </a:spcBef>
              <a:spcAft>
                <a:spcPts val="1200"/>
              </a:spcAft>
            </a:pPr>
            <a:r>
              <a:rPr lang="en-US" altLang="zh-CN" sz="2200" dirty="0" smtClean="0">
                <a:latin typeface="Helvetica" pitchFamily="34" charset="0"/>
                <a:ea typeface="宋体" pitchFamily="2" charset="-122"/>
              </a:rPr>
              <a:t>Smoking and non smoking</a:t>
            </a:r>
          </a:p>
          <a:p>
            <a:pPr>
              <a:spcBef>
                <a:spcPts val="600"/>
              </a:spcBef>
              <a:spcAft>
                <a:spcPts val="1200"/>
              </a:spcAft>
            </a:pPr>
            <a:r>
              <a:rPr lang="en-US" altLang="zh-CN" sz="2200" dirty="0" smtClean="0">
                <a:latin typeface="Helvetica" pitchFamily="34" charset="0"/>
                <a:ea typeface="宋体" pitchFamily="2" charset="-122"/>
              </a:rPr>
              <a:t>Special requests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6" name="Picture 5" descr="online-restaurant-reservation-services"/>
          <p:cNvPicPr>
            <a:picLocks noChangeAspect="1" noChangeArrowheads="1"/>
          </p:cNvPicPr>
          <p:nvPr/>
        </p:nvPicPr>
        <p:blipFill>
          <a:blip r:embed="rId3" cstate="print"/>
          <a:srcRect/>
          <a:stretch>
            <a:fillRect/>
          </a:stretch>
        </p:blipFill>
        <p:spPr bwMode="auto">
          <a:xfrm>
            <a:off x="5500694" y="2214554"/>
            <a:ext cx="2613469" cy="1814243"/>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Greeting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altLang="zh-CN" sz="2400" b="1" dirty="0" smtClean="0">
                <a:ea typeface="宋体" pitchFamily="2" charset="-122"/>
              </a:rPr>
              <a:t> </a:t>
            </a:r>
            <a:r>
              <a:rPr lang="en-US" altLang="zh-CN" sz="2200" b="1" dirty="0" smtClean="0">
                <a:latin typeface="Helvetica" pitchFamily="34" charset="0"/>
                <a:ea typeface="宋体" pitchFamily="2" charset="-122"/>
              </a:rPr>
              <a:t>Give an appropriate greeting</a:t>
            </a:r>
          </a:p>
          <a:p>
            <a:pPr>
              <a:spcBef>
                <a:spcPts val="600"/>
              </a:spcBef>
              <a:spcAft>
                <a:spcPts val="1200"/>
              </a:spcAft>
            </a:pPr>
            <a:r>
              <a:rPr lang="en-US" altLang="zh-CN" sz="2200" dirty="0" smtClean="0">
                <a:latin typeface="Helvetica" pitchFamily="34" charset="0"/>
                <a:ea typeface="宋体" pitchFamily="2" charset="-122"/>
              </a:rPr>
              <a:t>What is a good way to greet a customer?</a:t>
            </a:r>
          </a:p>
          <a:p>
            <a:pPr>
              <a:spcBef>
                <a:spcPts val="600"/>
              </a:spcBef>
              <a:spcAft>
                <a:spcPts val="1200"/>
              </a:spcAft>
            </a:pPr>
            <a:r>
              <a:rPr lang="en-US" altLang="zh-CN" sz="2200" dirty="0" smtClean="0">
                <a:latin typeface="Helvetica" pitchFamily="34" charset="0"/>
                <a:ea typeface="宋体" pitchFamily="2" charset="-122"/>
              </a:rPr>
              <a:t>What is ‘ice-breaking’ conversations that you can initiate?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7" name="Picture 6" descr="MP900424406.JPG"/>
          <p:cNvPicPr/>
          <p:nvPr/>
        </p:nvPicPr>
        <p:blipFill>
          <a:blip r:embed="rId3" cstate="print"/>
          <a:stretch>
            <a:fillRect/>
          </a:stretch>
        </p:blipFill>
        <p:spPr>
          <a:xfrm>
            <a:off x="3500430" y="3643314"/>
            <a:ext cx="1962522" cy="2304281"/>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Special needs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13940"/>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Making suitable accommodation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Alternative easy access to their table because of a disability </a:t>
            </a:r>
          </a:p>
          <a:p>
            <a:pPr lvl="0">
              <a:spcBef>
                <a:spcPts val="600"/>
              </a:spcBef>
              <a:spcAft>
                <a:spcPts val="1200"/>
              </a:spcAft>
            </a:pPr>
            <a:r>
              <a:rPr lang="en-AU" sz="2200" dirty="0" smtClean="0">
                <a:latin typeface="Helvetica" pitchFamily="34" charset="0"/>
              </a:rPr>
              <a:t>Privacy for romantic couples and business people</a:t>
            </a:r>
          </a:p>
          <a:p>
            <a:pPr lvl="0">
              <a:spcBef>
                <a:spcPts val="600"/>
              </a:spcBef>
              <a:spcAft>
                <a:spcPts val="1200"/>
              </a:spcAft>
            </a:pPr>
            <a:r>
              <a:rPr lang="en-AU" sz="2200" dirty="0" smtClean="0">
                <a:latin typeface="Helvetica" pitchFamily="34" charset="0"/>
              </a:rPr>
              <a:t>Room on a table to spread out business </a:t>
            </a:r>
            <a:br>
              <a:rPr lang="en-AU" sz="2200" dirty="0" smtClean="0">
                <a:latin typeface="Helvetica" pitchFamily="34" charset="0"/>
              </a:rPr>
            </a:br>
            <a:r>
              <a:rPr lang="en-AU" sz="2200" dirty="0" smtClean="0">
                <a:latin typeface="Helvetica" pitchFamily="34" charset="0"/>
              </a:rPr>
              <a:t>documents</a:t>
            </a:r>
          </a:p>
          <a:p>
            <a:pPr lvl="0">
              <a:spcBef>
                <a:spcPts val="600"/>
              </a:spcBef>
              <a:spcAft>
                <a:spcPts val="1200"/>
              </a:spcAft>
            </a:pPr>
            <a:r>
              <a:rPr lang="en-AU" sz="2200" dirty="0" smtClean="0">
                <a:latin typeface="Helvetica" pitchFamily="34" charset="0"/>
              </a:rPr>
              <a:t>A table near the door for someone                              with a walking stick</a:t>
            </a:r>
          </a:p>
          <a:p>
            <a:pPr lvl="0">
              <a:spcBef>
                <a:spcPts val="600"/>
              </a:spcBef>
              <a:spcAft>
                <a:spcPts val="1200"/>
              </a:spcAft>
            </a:pPr>
            <a:r>
              <a:rPr lang="en-AU" sz="2200" dirty="0" smtClean="0">
                <a:latin typeface="Helvetica" pitchFamily="34" charset="0"/>
              </a:rPr>
              <a:t>A high chair for infants</a:t>
            </a:r>
          </a:p>
          <a:p>
            <a:pPr lvl="0">
              <a:spcBef>
                <a:spcPts val="600"/>
              </a:spcBef>
              <a:spcAft>
                <a:spcPts val="1200"/>
              </a:spcAft>
            </a:pPr>
            <a:r>
              <a:rPr lang="en-AU" sz="2200" dirty="0" smtClean="0">
                <a:latin typeface="Helvetica" pitchFamily="34" charset="0"/>
              </a:rPr>
              <a:t>Warming of a bottle for babies </a:t>
            </a:r>
          </a:p>
          <a:p>
            <a:pPr lvl="0">
              <a:spcBef>
                <a:spcPts val="600"/>
              </a:spcBef>
              <a:spcAft>
                <a:spcPts val="1200"/>
              </a:spcAft>
            </a:pPr>
            <a:r>
              <a:rPr lang="en-AU" sz="2200" dirty="0" smtClean="0">
                <a:latin typeface="Helvetica" pitchFamily="34" charset="0"/>
              </a:rPr>
              <a:t>Special dietary needs  </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1026" name="Picture 2" descr="C:\Users\danielc\AppData\Local\Microsoft\Windows\Temporary Internet Files\Content.IE5\2CPQBGO8\MC900309876[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240" y="3381610"/>
            <a:ext cx="1433779" cy="18324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Escort and seat customers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US" altLang="zh-CN" sz="2200" dirty="0" smtClean="0">
                <a:latin typeface="Helvetica" pitchFamily="34" charset="0"/>
                <a:ea typeface="宋体" pitchFamily="2" charset="-122"/>
              </a:rPr>
              <a:t>“Follow me”</a:t>
            </a:r>
          </a:p>
          <a:p>
            <a:pPr>
              <a:spcBef>
                <a:spcPts val="600"/>
              </a:spcBef>
              <a:spcAft>
                <a:spcPts val="1200"/>
              </a:spcAft>
            </a:pPr>
            <a:r>
              <a:rPr lang="en-US" altLang="zh-CN" sz="2200" dirty="0" smtClean="0">
                <a:latin typeface="Helvetica" pitchFamily="34" charset="0"/>
                <a:ea typeface="宋体" pitchFamily="2" charset="-122"/>
              </a:rPr>
              <a:t>Walk at a comfortable pace</a:t>
            </a:r>
          </a:p>
          <a:p>
            <a:pPr>
              <a:spcBef>
                <a:spcPts val="600"/>
              </a:spcBef>
              <a:spcAft>
                <a:spcPts val="1200"/>
              </a:spcAft>
            </a:pPr>
            <a:r>
              <a:rPr lang="en-US" altLang="zh-CN" sz="2200" dirty="0" smtClean="0">
                <a:latin typeface="Helvetica" pitchFamily="34" charset="0"/>
                <a:ea typeface="宋体" pitchFamily="2" charset="-122"/>
              </a:rPr>
              <a:t>Acknowledge any dangers</a:t>
            </a:r>
          </a:p>
          <a:p>
            <a:pPr>
              <a:spcBef>
                <a:spcPts val="600"/>
              </a:spcBef>
              <a:spcAft>
                <a:spcPts val="1200"/>
              </a:spcAft>
            </a:pPr>
            <a:r>
              <a:rPr lang="en-US" altLang="zh-CN" sz="2200" dirty="0" smtClean="0">
                <a:latin typeface="Helvetica" pitchFamily="34" charset="0"/>
                <a:ea typeface="宋体" pitchFamily="2" charset="-122"/>
              </a:rPr>
              <a:t>Pull out chairs</a:t>
            </a:r>
          </a:p>
          <a:p>
            <a:pPr>
              <a:spcBef>
                <a:spcPts val="600"/>
              </a:spcBef>
              <a:spcAft>
                <a:spcPts val="1200"/>
              </a:spcAft>
            </a:pPr>
            <a:r>
              <a:rPr lang="en-US" altLang="zh-CN" sz="2200" dirty="0" smtClean="0">
                <a:latin typeface="Helvetica" pitchFamily="34" charset="0"/>
                <a:ea typeface="宋体" pitchFamily="2" charset="-122"/>
              </a:rPr>
              <a:t>Push in chairs</a:t>
            </a:r>
          </a:p>
          <a:p>
            <a:pPr>
              <a:spcBef>
                <a:spcPts val="600"/>
              </a:spcBef>
              <a:spcAft>
                <a:spcPts val="1200"/>
              </a:spcAft>
            </a:pPr>
            <a:r>
              <a:rPr lang="en-US" altLang="zh-CN" sz="2200" dirty="0" smtClean="0">
                <a:latin typeface="Helvetica" pitchFamily="34" charset="0"/>
                <a:ea typeface="宋体" pitchFamily="2" charset="-122"/>
              </a:rPr>
              <a:t>Ensure adequate seating</a:t>
            </a:r>
          </a:p>
          <a:p>
            <a:pPr>
              <a:spcBef>
                <a:spcPts val="600"/>
              </a:spcBef>
              <a:spcAft>
                <a:spcPts val="1200"/>
              </a:spcAft>
            </a:pPr>
            <a:r>
              <a:rPr lang="en-US" altLang="zh-CN" sz="2200" dirty="0" smtClean="0">
                <a:latin typeface="Helvetica" pitchFamily="34" charset="0"/>
                <a:ea typeface="宋体" pitchFamily="2" charset="-122"/>
              </a:rPr>
              <a:t>Remove excess chairs</a:t>
            </a:r>
          </a:p>
          <a:p>
            <a:pPr>
              <a:spcBef>
                <a:spcPts val="600"/>
              </a:spcBef>
              <a:spcAft>
                <a:spcPts val="1200"/>
              </a:spcAft>
            </a:pPr>
            <a:r>
              <a:rPr lang="en-US" altLang="zh-CN" sz="2200" dirty="0" smtClean="0">
                <a:latin typeface="Helvetica" pitchFamily="34" charset="0"/>
                <a:ea typeface="宋体" pitchFamily="2" charset="-122"/>
              </a:rPr>
              <a:t>Lap napkins</a:t>
            </a:r>
          </a:p>
          <a:p>
            <a:pPr>
              <a:spcBef>
                <a:spcPts val="600"/>
              </a:spcBef>
              <a:spcAft>
                <a:spcPts val="1200"/>
              </a:spcAft>
            </a:pPr>
            <a:r>
              <a:rPr lang="en-US" altLang="zh-CN" sz="2200" dirty="0" smtClean="0">
                <a:latin typeface="Helvetica" pitchFamily="34" charset="0"/>
                <a:ea typeface="宋体" pitchFamily="2" charset="-122"/>
              </a:rPr>
              <a:t>Communication</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7" name="Picture 6" descr="MP900386131[1].JPG"/>
          <p:cNvPicPr/>
          <p:nvPr/>
        </p:nvPicPr>
        <p:blipFill>
          <a:blip r:embed="rId3" cstate="print"/>
          <a:srcRect l="16126" t="7234" r="16610"/>
          <a:stretch>
            <a:fillRect/>
          </a:stretch>
        </p:blipFill>
        <p:spPr>
          <a:xfrm>
            <a:off x="5929322" y="1714488"/>
            <a:ext cx="1399595" cy="287051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800" b="1" dirty="0" smtClean="0">
                <a:solidFill>
                  <a:srgbClr val="FF6600"/>
                </a:solidFill>
                <a:latin typeface="Helvetica" pitchFamily="34" charset="0"/>
              </a:rPr>
              <a:t>Pre-meal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altLang="zh-CN" sz="2200" b="1" dirty="0" smtClean="0">
                <a:latin typeface="Helvetica" pitchFamily="34" charset="0"/>
                <a:ea typeface="宋体" pitchFamily="2" charset="-122"/>
              </a:rPr>
              <a:t>Offer pre-meal services</a:t>
            </a:r>
          </a:p>
          <a:p>
            <a:pPr>
              <a:spcBef>
                <a:spcPts val="600"/>
              </a:spcBef>
              <a:spcAft>
                <a:spcPts val="1200"/>
              </a:spcAft>
            </a:pPr>
            <a:r>
              <a:rPr lang="en-US" altLang="zh-CN" sz="2200" dirty="0" smtClean="0">
                <a:latin typeface="Helvetica" pitchFamily="34" charset="0"/>
                <a:ea typeface="宋体" pitchFamily="2" charset="-122"/>
              </a:rPr>
              <a:t>Seat</a:t>
            </a:r>
          </a:p>
          <a:p>
            <a:pPr>
              <a:spcBef>
                <a:spcPts val="600"/>
              </a:spcBef>
              <a:spcAft>
                <a:spcPts val="1200"/>
              </a:spcAft>
            </a:pPr>
            <a:r>
              <a:rPr lang="en-US" altLang="zh-CN" sz="2200" dirty="0" smtClean="0">
                <a:latin typeface="Helvetica" pitchFamily="34" charset="0"/>
                <a:ea typeface="宋体" pitchFamily="2" charset="-122"/>
              </a:rPr>
              <a:t>Magazine/newspaper</a:t>
            </a:r>
          </a:p>
          <a:p>
            <a:pPr>
              <a:spcBef>
                <a:spcPts val="600"/>
              </a:spcBef>
              <a:spcAft>
                <a:spcPts val="1200"/>
              </a:spcAft>
            </a:pPr>
            <a:r>
              <a:rPr lang="en-US" altLang="zh-CN" sz="2200" dirty="0" smtClean="0">
                <a:latin typeface="Helvetica" pitchFamily="34" charset="0"/>
                <a:ea typeface="宋体" pitchFamily="2" charset="-122"/>
              </a:rPr>
              <a:t>Menu</a:t>
            </a:r>
          </a:p>
          <a:p>
            <a:pPr>
              <a:spcBef>
                <a:spcPts val="600"/>
              </a:spcBef>
              <a:spcAft>
                <a:spcPts val="1200"/>
              </a:spcAft>
            </a:pPr>
            <a:r>
              <a:rPr lang="en-US" altLang="zh-CN" sz="2200" dirty="0" smtClean="0">
                <a:latin typeface="Helvetica" pitchFamily="34" charset="0"/>
                <a:ea typeface="宋体" pitchFamily="2" charset="-122"/>
              </a:rPr>
              <a:t>Beverage</a:t>
            </a:r>
          </a:p>
          <a:p>
            <a:pPr>
              <a:spcBef>
                <a:spcPts val="600"/>
              </a:spcBef>
              <a:spcAft>
                <a:spcPts val="1200"/>
              </a:spcAft>
            </a:pPr>
            <a:r>
              <a:rPr lang="en-US" altLang="zh-CN" sz="2200" dirty="0" smtClean="0">
                <a:latin typeface="Helvetica" pitchFamily="34" charset="0"/>
                <a:ea typeface="宋体" pitchFamily="2" charset="-122"/>
              </a:rPr>
              <a:t>Snack</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7" name="Picture 6" descr="object_utils"/>
          <p:cNvPicPr/>
          <p:nvPr/>
        </p:nvPicPr>
        <p:blipFill>
          <a:blip r:embed="rId3" cstate="print">
            <a:lum contrast="20000"/>
          </a:blip>
          <a:srcRect/>
          <a:stretch>
            <a:fillRect/>
          </a:stretch>
        </p:blipFill>
        <p:spPr bwMode="auto">
          <a:xfrm>
            <a:off x="6072198" y="2214554"/>
            <a:ext cx="1780208" cy="2169393"/>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200" dirty="0" smtClean="0">
                <a:latin typeface="Helvetica" pitchFamily="34" charset="0"/>
              </a:rPr>
              <a:t>Ensure there are adequate menus for everyone to read</a:t>
            </a:r>
          </a:p>
          <a:p>
            <a:pPr lvl="0">
              <a:spcBef>
                <a:spcPts val="600"/>
              </a:spcBef>
              <a:spcAft>
                <a:spcPts val="1200"/>
              </a:spcAft>
            </a:pPr>
            <a:r>
              <a:rPr lang="en-AU" sz="2200" dirty="0" smtClean="0">
                <a:latin typeface="Helvetica" pitchFamily="34" charset="0"/>
              </a:rPr>
              <a:t>Provide menus suitable for the customers:</a:t>
            </a:r>
          </a:p>
          <a:p>
            <a:pPr lvl="1">
              <a:spcBef>
                <a:spcPts val="600"/>
              </a:spcBef>
              <a:spcAft>
                <a:spcPts val="1200"/>
              </a:spcAft>
            </a:pPr>
            <a:r>
              <a:rPr lang="en-AU" sz="2200" dirty="0" smtClean="0">
                <a:latin typeface="Helvetica" pitchFamily="34" charset="0"/>
              </a:rPr>
              <a:t>Different languages </a:t>
            </a:r>
          </a:p>
          <a:p>
            <a:pPr lvl="1">
              <a:spcBef>
                <a:spcPts val="600"/>
              </a:spcBef>
              <a:spcAft>
                <a:spcPts val="1200"/>
              </a:spcAft>
            </a:pPr>
            <a:r>
              <a:rPr lang="en-AU" sz="2200" dirty="0" smtClean="0">
                <a:latin typeface="Helvetica" pitchFamily="34" charset="0"/>
              </a:rPr>
              <a:t>Children’s menus</a:t>
            </a:r>
          </a:p>
          <a:p>
            <a:pPr lvl="0">
              <a:spcBef>
                <a:spcPts val="600"/>
              </a:spcBef>
              <a:spcAft>
                <a:spcPts val="1200"/>
              </a:spcAft>
            </a:pPr>
            <a:r>
              <a:rPr lang="en-AU" sz="2200" dirty="0" smtClean="0">
                <a:latin typeface="Helvetica" pitchFamily="34" charset="0"/>
              </a:rPr>
              <a:t>Distribute menus to the guests from                                their right-hand side</a:t>
            </a:r>
          </a:p>
          <a:p>
            <a:pPr lvl="0">
              <a:spcBef>
                <a:spcPts val="600"/>
              </a:spcBef>
              <a:spcAft>
                <a:spcPts val="1200"/>
              </a:spcAft>
            </a:pPr>
            <a:r>
              <a:rPr lang="en-AU" sz="2200" dirty="0" smtClean="0">
                <a:latin typeface="Helvetica" pitchFamily="34" charset="0"/>
              </a:rPr>
              <a:t>Leave the wine list with the host or place in the centre of the table</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70572644_0ee36aa130_m.jpg"/>
          <p:cNvPicPr/>
          <p:nvPr/>
        </p:nvPicPr>
        <p:blipFill>
          <a:blip r:embed="rId3" cstate="print">
            <a:grayscl/>
            <a:lum bright="20000"/>
          </a:blip>
          <a:stretch>
            <a:fillRect/>
          </a:stretch>
        </p:blipFill>
        <p:spPr>
          <a:xfrm>
            <a:off x="6715140" y="2714620"/>
            <a:ext cx="1503308" cy="1857388"/>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pPr>
            <a:r>
              <a:rPr lang="en-AU" sz="2200" dirty="0" smtClean="0">
                <a:latin typeface="Helvetica" pitchFamily="34" charset="0"/>
              </a:rPr>
              <a:t>Ask customers if they would like any starters</a:t>
            </a:r>
          </a:p>
          <a:p>
            <a:pPr lvl="0">
              <a:spcBef>
                <a:spcPts val="600"/>
              </a:spcBef>
              <a:spcAft>
                <a:spcPts val="1200"/>
              </a:spcAft>
            </a:pPr>
            <a:r>
              <a:rPr lang="en-AU" sz="2200" dirty="0" smtClean="0">
                <a:latin typeface="Helvetica" pitchFamily="34" charset="0"/>
              </a:rPr>
              <a:t>Serve any complimentary starters</a:t>
            </a:r>
          </a:p>
          <a:p>
            <a:pPr lvl="0">
              <a:spcBef>
                <a:spcPts val="600"/>
              </a:spcBef>
              <a:spcAft>
                <a:spcPts val="1200"/>
              </a:spcAft>
            </a:pPr>
            <a:r>
              <a:rPr lang="en-AU" sz="2200" dirty="0" smtClean="0">
                <a:latin typeface="Helvetica" pitchFamily="34" charset="0"/>
              </a:rPr>
              <a:t>Point of direct customers to other menus:</a:t>
            </a:r>
          </a:p>
          <a:p>
            <a:pPr lvl="1">
              <a:spcBef>
                <a:spcPts val="600"/>
              </a:spcBef>
              <a:spcAft>
                <a:spcPts val="1200"/>
              </a:spcAft>
            </a:pPr>
            <a:r>
              <a:rPr lang="en-AU" sz="2200" dirty="0" smtClean="0">
                <a:latin typeface="Helvetica" pitchFamily="34" charset="0"/>
              </a:rPr>
              <a:t>Fixed menus on walls</a:t>
            </a:r>
          </a:p>
          <a:p>
            <a:pPr lvl="1">
              <a:spcBef>
                <a:spcPts val="600"/>
              </a:spcBef>
              <a:spcAft>
                <a:spcPts val="1200"/>
              </a:spcAft>
            </a:pPr>
            <a:r>
              <a:rPr lang="en-AU" sz="2200" dirty="0" smtClean="0">
                <a:latin typeface="Helvetica" pitchFamily="34" charset="0"/>
              </a:rPr>
              <a:t>Daily specials</a:t>
            </a:r>
          </a:p>
          <a:p>
            <a:pPr lvl="1">
              <a:spcBef>
                <a:spcPts val="600"/>
              </a:spcBef>
              <a:spcAft>
                <a:spcPts val="1200"/>
              </a:spcAft>
            </a:pPr>
            <a:r>
              <a:rPr lang="en-AU" sz="2200" dirty="0" smtClean="0">
                <a:latin typeface="Helvetica" pitchFamily="34" charset="0"/>
              </a:rPr>
              <a:t>Tent card displays on tables</a:t>
            </a:r>
          </a:p>
          <a:p>
            <a:pPr lvl="0">
              <a:spcBef>
                <a:spcPts val="600"/>
              </a:spcBef>
              <a:spcAft>
                <a:spcPts val="1200"/>
              </a:spcAft>
            </a:pPr>
            <a:r>
              <a:rPr lang="en-AU" sz="2200" dirty="0" smtClean="0">
                <a:latin typeface="Helvetica" pitchFamily="34" charset="0"/>
              </a:rPr>
              <a:t>Tell customers you will be back in a minute to discuss the menu</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2290422007_fe7d701bfc_m.jpg"/>
          <p:cNvPicPr/>
          <p:nvPr/>
        </p:nvPicPr>
        <p:blipFill>
          <a:blip r:embed="rId3" cstate="print"/>
          <a:stretch>
            <a:fillRect/>
          </a:stretch>
        </p:blipFill>
        <p:spPr>
          <a:xfrm>
            <a:off x="6429388" y="2285992"/>
            <a:ext cx="1910988" cy="157163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Offering advice and information</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Most customers who visit a food and beverage establishment will not have the same level of knowledge about the menu offering as staff.  </a:t>
            </a:r>
          </a:p>
          <a:p>
            <a:pPr marL="0" indent="0">
              <a:spcBef>
                <a:spcPts val="600"/>
              </a:spcBef>
              <a:spcAft>
                <a:spcPts val="1200"/>
              </a:spcAft>
              <a:buNone/>
            </a:pPr>
            <a:r>
              <a:rPr lang="en-AU" sz="2200" dirty="0" smtClean="0">
                <a:latin typeface="Helvetica" pitchFamily="34" charset="0"/>
              </a:rPr>
              <a:t>Therefore they may not be aware of:</a:t>
            </a:r>
          </a:p>
          <a:p>
            <a:pPr>
              <a:spcBef>
                <a:spcPts val="600"/>
              </a:spcBef>
              <a:spcAft>
                <a:spcPts val="1200"/>
              </a:spcAft>
            </a:pPr>
            <a:r>
              <a:rPr lang="en-AU" sz="2200" dirty="0" smtClean="0">
                <a:latin typeface="Helvetica" pitchFamily="34" charset="0"/>
              </a:rPr>
              <a:t>What is available</a:t>
            </a:r>
          </a:p>
          <a:p>
            <a:pPr>
              <a:spcBef>
                <a:spcPts val="600"/>
              </a:spcBef>
              <a:spcAft>
                <a:spcPts val="1200"/>
              </a:spcAft>
            </a:pPr>
            <a:r>
              <a:rPr lang="en-AU" sz="2200" dirty="0" smtClean="0">
                <a:latin typeface="Helvetica" pitchFamily="34" charset="0"/>
              </a:rPr>
              <a:t>Which ones are the specialty items</a:t>
            </a:r>
          </a:p>
          <a:p>
            <a:pPr>
              <a:spcBef>
                <a:spcPts val="600"/>
              </a:spcBef>
              <a:spcAft>
                <a:spcPts val="1200"/>
              </a:spcAft>
            </a:pPr>
            <a:r>
              <a:rPr lang="en-AU" sz="2200" dirty="0" smtClean="0">
                <a:latin typeface="Helvetica" pitchFamily="34" charset="0"/>
              </a:rPr>
              <a:t>What promotions exist</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PDA.jpg"/>
          <p:cNvPicPr>
            <a:picLocks noChangeAspect="1"/>
          </p:cNvPicPr>
          <p:nvPr/>
        </p:nvPicPr>
        <p:blipFill>
          <a:blip r:embed="rId3" cstate="print">
            <a:lum bright="10000"/>
          </a:blip>
          <a:stretch>
            <a:fillRect/>
          </a:stretch>
        </p:blipFill>
        <p:spPr>
          <a:xfrm>
            <a:off x="6643702" y="2928934"/>
            <a:ext cx="1431025" cy="1881187"/>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Offering advice and information</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latin typeface="Helvetica" pitchFamily="34" charset="0"/>
              </a:rPr>
              <a:t>Asking questions</a:t>
            </a:r>
          </a:p>
          <a:p>
            <a:pPr lvl="0">
              <a:spcBef>
                <a:spcPts val="600"/>
              </a:spcBef>
              <a:spcAft>
                <a:spcPts val="1200"/>
              </a:spcAft>
            </a:pPr>
            <a:r>
              <a:rPr lang="en-AU" sz="2200" dirty="0" smtClean="0">
                <a:latin typeface="Helvetica" pitchFamily="34" charset="0"/>
              </a:rPr>
              <a:t>What investigatory questions can you ask to help identify their desired food and beverage needs?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MPj04387780000[1]"/>
          <p:cNvPicPr/>
          <p:nvPr/>
        </p:nvPicPr>
        <p:blipFill>
          <a:blip r:embed="rId3" cstate="print"/>
          <a:srcRect/>
          <a:stretch>
            <a:fillRect/>
          </a:stretch>
        </p:blipFill>
        <p:spPr bwMode="auto">
          <a:xfrm>
            <a:off x="3357554" y="3357562"/>
            <a:ext cx="1514475" cy="1643063"/>
          </a:xfrm>
          <a:prstGeom prst="rect">
            <a:avLst/>
          </a:prstGeom>
          <a:noFill/>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Offering advice and information</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latin typeface="Helvetica" pitchFamily="34" charset="0"/>
              </a:rPr>
              <a:t>Giving general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most common form of assistance to be provided will evolve around helping to clarify:</a:t>
            </a:r>
          </a:p>
          <a:p>
            <a:pPr lvl="0">
              <a:spcBef>
                <a:spcPts val="600"/>
              </a:spcBef>
              <a:spcAft>
                <a:spcPts val="1200"/>
              </a:spcAft>
            </a:pPr>
            <a:r>
              <a:rPr lang="en-AU" sz="2200" dirty="0" smtClean="0">
                <a:latin typeface="Helvetica" pitchFamily="34" charset="0"/>
              </a:rPr>
              <a:t>Compatibility of food and wine choices</a:t>
            </a:r>
          </a:p>
          <a:p>
            <a:pPr lvl="0">
              <a:spcBef>
                <a:spcPts val="600"/>
              </a:spcBef>
              <a:spcAft>
                <a:spcPts val="1200"/>
              </a:spcAft>
            </a:pPr>
            <a:r>
              <a:rPr lang="en-AU" sz="2200" dirty="0" smtClean="0">
                <a:latin typeface="Helvetica" pitchFamily="34" charset="0"/>
              </a:rPr>
              <a:t>Interpretation of menu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7" name="Picture 6" descr="MP900410119[1].JPG"/>
          <p:cNvPicPr/>
          <p:nvPr/>
        </p:nvPicPr>
        <p:blipFill>
          <a:blip r:embed="rId3" cstate="print">
            <a:lum contrast="10000"/>
          </a:blip>
          <a:stretch>
            <a:fillRect/>
          </a:stretch>
        </p:blipFill>
        <p:spPr>
          <a:xfrm>
            <a:off x="6072198" y="2857496"/>
            <a:ext cx="2133600" cy="1509713"/>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Offering advice and information</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600"/>
              </a:spcAft>
              <a:buNone/>
            </a:pPr>
            <a:r>
              <a:rPr lang="en-AU" sz="2200" b="1" dirty="0" smtClean="0">
                <a:latin typeface="Helvetica" pitchFamily="34" charset="0"/>
              </a:rPr>
              <a:t>Giving information on food</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Ingredients in dishes</a:t>
            </a:r>
          </a:p>
          <a:p>
            <a:pPr lvl="0">
              <a:spcBef>
                <a:spcPts val="600"/>
              </a:spcBef>
              <a:spcAft>
                <a:spcPts val="600"/>
              </a:spcAft>
            </a:pPr>
            <a:r>
              <a:rPr lang="en-AU" sz="2200" dirty="0" smtClean="0">
                <a:latin typeface="Helvetica" pitchFamily="34" charset="0"/>
              </a:rPr>
              <a:t>Cooking/preparation times</a:t>
            </a:r>
          </a:p>
          <a:p>
            <a:pPr lvl="0">
              <a:spcBef>
                <a:spcPts val="600"/>
              </a:spcBef>
              <a:spcAft>
                <a:spcPts val="600"/>
              </a:spcAft>
            </a:pPr>
            <a:r>
              <a:rPr lang="en-AU" sz="2200" dirty="0" smtClean="0">
                <a:latin typeface="Helvetica" pitchFamily="34" charset="0"/>
              </a:rPr>
              <a:t>Whether things like MSG, sugar, and flour </a:t>
            </a:r>
            <a:br>
              <a:rPr lang="en-AU" sz="2200" dirty="0" smtClean="0">
                <a:latin typeface="Helvetica" pitchFamily="34" charset="0"/>
              </a:rPr>
            </a:br>
            <a:r>
              <a:rPr lang="en-AU" sz="2200" dirty="0" smtClean="0">
                <a:latin typeface="Helvetica" pitchFamily="34" charset="0"/>
              </a:rPr>
              <a:t>are present in dishes</a:t>
            </a:r>
          </a:p>
          <a:p>
            <a:pPr lvl="0">
              <a:spcBef>
                <a:spcPts val="600"/>
              </a:spcBef>
              <a:spcAft>
                <a:spcPts val="600"/>
              </a:spcAft>
            </a:pPr>
            <a:r>
              <a:rPr lang="en-AU" sz="2200" dirty="0" smtClean="0">
                <a:latin typeface="Helvetica" pitchFamily="34" charset="0"/>
              </a:rPr>
              <a:t>Serve sizes</a:t>
            </a:r>
          </a:p>
          <a:p>
            <a:pPr lvl="0">
              <a:spcBef>
                <a:spcPts val="600"/>
              </a:spcBef>
              <a:spcAft>
                <a:spcPts val="600"/>
              </a:spcAft>
            </a:pPr>
            <a:r>
              <a:rPr lang="en-AU" sz="2200" dirty="0" smtClean="0">
                <a:latin typeface="Helvetica" pitchFamily="34" charset="0"/>
              </a:rPr>
              <a:t>Whether items are fresh, frozen, canned, etc</a:t>
            </a:r>
          </a:p>
          <a:p>
            <a:pPr lvl="0">
              <a:spcBef>
                <a:spcPts val="600"/>
              </a:spcBef>
              <a:spcAft>
                <a:spcPts val="600"/>
              </a:spcAft>
            </a:pPr>
            <a:r>
              <a:rPr lang="en-AU" sz="2200" dirty="0" smtClean="0">
                <a:latin typeface="Helvetica" pitchFamily="34" charset="0"/>
              </a:rPr>
              <a:t>Why a certain dish has the name it does</a:t>
            </a:r>
          </a:p>
          <a:p>
            <a:pPr lvl="0">
              <a:spcBef>
                <a:spcPts val="600"/>
              </a:spcBef>
              <a:spcAft>
                <a:spcPts val="600"/>
              </a:spcAft>
            </a:pPr>
            <a:r>
              <a:rPr lang="en-AU" sz="2200" dirty="0" smtClean="0">
                <a:latin typeface="Helvetica" pitchFamily="34" charset="0"/>
              </a:rPr>
              <a:t>What different cooking styles mean</a:t>
            </a:r>
          </a:p>
          <a:p>
            <a:pPr lvl="0">
              <a:spcBef>
                <a:spcPts val="600"/>
              </a:spcBef>
              <a:spcAft>
                <a:spcPts val="600"/>
              </a:spcAft>
            </a:pPr>
            <a:r>
              <a:rPr lang="en-AU" sz="2200" dirty="0" smtClean="0">
                <a:latin typeface="Helvetica" pitchFamily="34" charset="0"/>
              </a:rPr>
              <a:t>Menu and cooking terminology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7" name="Picture 6" descr="C:\Documents and Settings\danielc\Desktop\Provide F&amp;B services images\332033_french_waiter_2.jpg"/>
          <p:cNvPicPr/>
          <p:nvPr/>
        </p:nvPicPr>
        <p:blipFill>
          <a:blip r:embed="rId3" cstate="print">
            <a:lum contrast="20000"/>
          </a:blip>
          <a:srcRect/>
          <a:stretch>
            <a:fillRect/>
          </a:stretch>
        </p:blipFill>
        <p:spPr bwMode="auto">
          <a:xfrm>
            <a:off x="6929454" y="2500306"/>
            <a:ext cx="1385331" cy="2143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Offering advice and information</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latin typeface="Helvetica" pitchFamily="34" charset="0"/>
              </a:rPr>
              <a:t>Giving information on beverages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Whether they are domestic or imported beverages</a:t>
            </a:r>
          </a:p>
          <a:p>
            <a:pPr lvl="0">
              <a:spcBef>
                <a:spcPts val="600"/>
              </a:spcBef>
              <a:spcAft>
                <a:spcPts val="1200"/>
              </a:spcAft>
            </a:pPr>
            <a:r>
              <a:rPr lang="en-AU" sz="2200" dirty="0" smtClean="0">
                <a:latin typeface="Helvetica" pitchFamily="34" charset="0"/>
              </a:rPr>
              <a:t>Information specific to wines</a:t>
            </a:r>
          </a:p>
          <a:p>
            <a:pPr lvl="0">
              <a:spcBef>
                <a:spcPts val="600"/>
              </a:spcBef>
              <a:spcAft>
                <a:spcPts val="1200"/>
              </a:spcAft>
            </a:pPr>
            <a:r>
              <a:rPr lang="en-AU" sz="2200" dirty="0" smtClean="0">
                <a:latin typeface="Helvetica" pitchFamily="34" charset="0"/>
              </a:rPr>
              <a:t>Size of serves, bottles, cans and glasses</a:t>
            </a:r>
          </a:p>
          <a:p>
            <a:pPr lvl="0">
              <a:spcBef>
                <a:spcPts val="600"/>
              </a:spcBef>
              <a:spcAft>
                <a:spcPts val="1200"/>
              </a:spcAft>
            </a:pPr>
            <a:r>
              <a:rPr lang="en-AU" sz="2200" dirty="0" smtClean="0">
                <a:latin typeface="Helvetica" pitchFamily="34" charset="0"/>
              </a:rPr>
              <a:t>The variety of ways in which different                             liquors can be served</a:t>
            </a:r>
          </a:p>
          <a:p>
            <a:pPr lvl="0">
              <a:spcBef>
                <a:spcPts val="600"/>
              </a:spcBef>
              <a:spcAft>
                <a:spcPts val="1200"/>
              </a:spcAft>
            </a:pPr>
            <a:r>
              <a:rPr lang="en-AU" sz="2200" dirty="0" smtClean="0">
                <a:latin typeface="Helvetica" pitchFamily="34" charset="0"/>
              </a:rPr>
              <a:t>How it may be consumed</a:t>
            </a:r>
          </a:p>
          <a:p>
            <a:pPr lvl="0">
              <a:spcBef>
                <a:spcPts val="600"/>
              </a:spcBef>
              <a:spcAft>
                <a:spcPts val="1200"/>
              </a:spcAft>
            </a:pPr>
            <a:r>
              <a:rPr lang="en-AU" sz="2200" dirty="0" smtClean="0">
                <a:latin typeface="Helvetica" pitchFamily="34" charset="0"/>
              </a:rPr>
              <a:t>Any special points about 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MP900432803[1].JPG"/>
          <p:cNvPicPr/>
          <p:nvPr/>
        </p:nvPicPr>
        <p:blipFill>
          <a:blip r:embed="rId3" cstate="print"/>
          <a:stretch>
            <a:fillRect/>
          </a:stretch>
        </p:blipFill>
        <p:spPr>
          <a:xfrm>
            <a:off x="6643702" y="2857496"/>
            <a:ext cx="1409700" cy="1924050"/>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Offering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Describe specials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Soup of the day</a:t>
            </a:r>
          </a:p>
          <a:p>
            <a:pPr lvl="0">
              <a:spcBef>
                <a:spcPts val="600"/>
              </a:spcBef>
              <a:spcAft>
                <a:spcPts val="1200"/>
              </a:spcAft>
            </a:pPr>
            <a:r>
              <a:rPr lang="en-AU" sz="2200" dirty="0" smtClean="0">
                <a:latin typeface="Helvetica" pitchFamily="34" charset="0"/>
              </a:rPr>
              <a:t>Fish of the day</a:t>
            </a:r>
          </a:p>
          <a:p>
            <a:pPr lvl="0">
              <a:spcBef>
                <a:spcPts val="600"/>
              </a:spcBef>
              <a:spcAft>
                <a:spcPts val="1200"/>
              </a:spcAft>
            </a:pPr>
            <a:r>
              <a:rPr lang="en-AU" sz="2200" dirty="0" smtClean="0">
                <a:latin typeface="Helvetica" pitchFamily="34" charset="0"/>
              </a:rPr>
              <a:t>Roast of day</a:t>
            </a:r>
          </a:p>
          <a:p>
            <a:pPr lvl="0">
              <a:spcBef>
                <a:spcPts val="600"/>
              </a:spcBef>
              <a:spcAft>
                <a:spcPts val="1200"/>
              </a:spcAft>
            </a:pPr>
            <a:r>
              <a:rPr lang="en-AU" sz="2200" dirty="0" smtClean="0">
                <a:latin typeface="Helvetica" pitchFamily="34" charset="0"/>
              </a:rPr>
              <a:t>The vegetables for the session and how they are cooked</a:t>
            </a:r>
          </a:p>
          <a:p>
            <a:pPr lvl="0">
              <a:spcBef>
                <a:spcPts val="600"/>
              </a:spcBef>
              <a:spcAft>
                <a:spcPts val="1200"/>
              </a:spcAft>
            </a:pPr>
            <a:r>
              <a:rPr lang="en-AU" sz="2200" dirty="0" smtClean="0">
                <a:latin typeface="Helvetica" pitchFamily="34" charset="0"/>
              </a:rPr>
              <a:t>Any other specials that are available</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7" name="Picture 6" descr="untitled.bmp"/>
          <p:cNvPicPr>
            <a:picLocks noChangeAspect="1"/>
          </p:cNvPicPr>
          <p:nvPr/>
        </p:nvPicPr>
        <p:blipFill>
          <a:blip r:embed="rId3" cstate="print"/>
          <a:stretch>
            <a:fillRect/>
          </a:stretch>
        </p:blipFill>
        <p:spPr>
          <a:xfrm>
            <a:off x="6072198" y="1857364"/>
            <a:ext cx="1360736" cy="1814315"/>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Offering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Making recommendations</a:t>
            </a:r>
            <a:endParaRPr lang="en-US" altLang="zh-CN" sz="2200"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Items you think they might like – ask questions</a:t>
            </a:r>
          </a:p>
          <a:p>
            <a:pPr marL="342900" indent="-342900">
              <a:spcBef>
                <a:spcPts val="600"/>
              </a:spcBef>
              <a:spcAft>
                <a:spcPts val="1200"/>
              </a:spcAft>
            </a:pPr>
            <a:r>
              <a:rPr lang="en-US" altLang="zh-CN" sz="2200" dirty="0" smtClean="0">
                <a:latin typeface="Helvetica" pitchFamily="34" charset="0"/>
                <a:ea typeface="宋体" pitchFamily="2" charset="-122"/>
              </a:rPr>
              <a:t>Items you like and why</a:t>
            </a:r>
          </a:p>
          <a:p>
            <a:pPr marL="342900" indent="-342900">
              <a:spcBef>
                <a:spcPts val="600"/>
              </a:spcBef>
              <a:spcAft>
                <a:spcPts val="1200"/>
              </a:spcAft>
            </a:pPr>
            <a:r>
              <a:rPr lang="en-US" altLang="zh-CN" sz="2200" dirty="0" smtClean="0">
                <a:latin typeface="Helvetica" pitchFamily="34" charset="0"/>
                <a:ea typeface="宋体" pitchFamily="2" charset="-122"/>
              </a:rPr>
              <a:t>Items that are popular</a:t>
            </a:r>
          </a:p>
          <a:p>
            <a:pPr marL="342900" indent="-342900">
              <a:spcBef>
                <a:spcPts val="600"/>
              </a:spcBef>
              <a:spcAft>
                <a:spcPts val="1200"/>
              </a:spcAft>
            </a:pPr>
            <a:r>
              <a:rPr lang="en-US" altLang="zh-CN" sz="2200" dirty="0" smtClean="0">
                <a:latin typeface="Helvetica" pitchFamily="34" charset="0"/>
                <a:ea typeface="宋体" pitchFamily="2" charset="-122"/>
              </a:rPr>
              <a:t>Specials of the day</a:t>
            </a:r>
          </a:p>
          <a:p>
            <a:pPr marL="342900" indent="-342900">
              <a:spcBef>
                <a:spcPts val="600"/>
              </a:spcBef>
              <a:spcAft>
                <a:spcPts val="1200"/>
              </a:spcAft>
            </a:pPr>
            <a:r>
              <a:rPr lang="en-US" altLang="zh-CN" sz="2200" dirty="0" smtClean="0">
                <a:latin typeface="Helvetica" pitchFamily="34" charset="0"/>
                <a:ea typeface="宋体" pitchFamily="2" charset="-122"/>
              </a:rPr>
              <a:t>Items the kitchen wants you to sell</a:t>
            </a:r>
          </a:p>
          <a:p>
            <a:pPr marL="342900" indent="-342900">
              <a:spcBef>
                <a:spcPts val="600"/>
              </a:spcBef>
              <a:spcAft>
                <a:spcPts val="1200"/>
              </a:spcAft>
            </a:pPr>
            <a:r>
              <a:rPr lang="en-US" altLang="zh-CN" sz="2200" dirty="0" smtClean="0">
                <a:latin typeface="Helvetica" pitchFamily="34" charset="0"/>
                <a:ea typeface="宋体" pitchFamily="2" charset="-122"/>
              </a:rPr>
              <a:t>Food and Wine Combinations</a:t>
            </a:r>
          </a:p>
          <a:p>
            <a:pPr marL="342900" indent="-342900">
              <a:lnSpc>
                <a:spcPct val="90000"/>
              </a:lnSpc>
              <a:buFontTx/>
              <a:buChar char="•"/>
            </a:pPr>
            <a:endParaRPr lang="en-US" altLang="zh-CN" sz="2400" dirty="0" smtClean="0">
              <a:ea typeface="宋体" pitchFamily="2" charset="-122"/>
            </a:endParaRPr>
          </a:p>
          <a:p>
            <a:pPr marL="342900" indent="-342900">
              <a:lnSpc>
                <a:spcPct val="90000"/>
              </a:lnSpc>
              <a:buFontTx/>
              <a:buChar char="•"/>
            </a:pPr>
            <a:endParaRPr lang="en-US" altLang="zh-CN" sz="2400"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5" descr="SuperStock_255-18680"/>
          <p:cNvPicPr>
            <a:picLocks noChangeAspect="1" noChangeArrowheads="1"/>
          </p:cNvPicPr>
          <p:nvPr/>
        </p:nvPicPr>
        <p:blipFill>
          <a:blip r:embed="rId3" cstate="print"/>
          <a:srcRect/>
          <a:stretch>
            <a:fillRect/>
          </a:stretch>
        </p:blipFill>
        <p:spPr bwMode="auto">
          <a:xfrm>
            <a:off x="6500826" y="2857496"/>
            <a:ext cx="1644880" cy="2085898"/>
          </a:xfrm>
          <a:prstGeom prst="rect">
            <a:avLst/>
          </a:prstGeom>
          <a:noFill/>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Offering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Additional information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some dining experiences you may also be required to provide additional information such as:</a:t>
            </a:r>
          </a:p>
          <a:p>
            <a:pPr lvl="0">
              <a:spcBef>
                <a:spcPts val="600"/>
              </a:spcBef>
              <a:spcAft>
                <a:spcPts val="1200"/>
              </a:spcAft>
            </a:pPr>
            <a:r>
              <a:rPr lang="en-AU" sz="2200" dirty="0" smtClean="0">
                <a:latin typeface="Helvetica" pitchFamily="34" charset="0"/>
              </a:rPr>
              <a:t>Entertainment to accompany meals</a:t>
            </a:r>
          </a:p>
          <a:p>
            <a:pPr lvl="0">
              <a:spcBef>
                <a:spcPts val="600"/>
              </a:spcBef>
              <a:spcAft>
                <a:spcPts val="1200"/>
              </a:spcAft>
            </a:pPr>
            <a:r>
              <a:rPr lang="en-AU" sz="2200" dirty="0" smtClean="0">
                <a:latin typeface="Helvetica" pitchFamily="34" charset="0"/>
              </a:rPr>
              <a:t>Location of buffets</a:t>
            </a:r>
          </a:p>
          <a:p>
            <a:pPr lvl="0">
              <a:spcBef>
                <a:spcPts val="600"/>
              </a:spcBef>
              <a:spcAft>
                <a:spcPts val="1200"/>
              </a:spcAft>
            </a:pPr>
            <a:r>
              <a:rPr lang="en-AU" sz="2200" dirty="0" smtClean="0">
                <a:latin typeface="Helvetica" pitchFamily="34" charset="0"/>
              </a:rPr>
              <a:t>Location of customer facilities</a:t>
            </a:r>
          </a:p>
          <a:p>
            <a:pPr lvl="0">
              <a:spcBef>
                <a:spcPts val="600"/>
              </a:spcBef>
              <a:spcAft>
                <a:spcPts val="1200"/>
              </a:spcAft>
            </a:pPr>
            <a:r>
              <a:rPr lang="en-AU" sz="2200" dirty="0" smtClean="0">
                <a:latin typeface="Helvetica" pitchFamily="34" charset="0"/>
              </a:rPr>
              <a:t>Information about the local area</a:t>
            </a:r>
            <a:endParaRPr lang="en-US" altLang="zh-CN" sz="2200" dirty="0" smtClean="0">
              <a:latin typeface="Helvetica" pitchFamily="34" charset="0"/>
              <a:ea typeface="宋体" pitchFamily="2" charset="-122"/>
            </a:endParaRPr>
          </a:p>
          <a:p>
            <a:pPr marL="342900" indent="-342900">
              <a:lnSpc>
                <a:spcPct val="90000"/>
              </a:lnSpc>
              <a:buFontTx/>
              <a:buChar char="•"/>
            </a:pPr>
            <a:endParaRPr lang="en-US" altLang="zh-CN" sz="2400"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18434" name="Picture 2" descr="C:\Documents and Settings\danielc\Desktop\Provide F&amp;B services images\300561_waiter_motion_blur.jpg"/>
          <p:cNvPicPr>
            <a:picLocks noChangeAspect="1" noChangeArrowheads="1"/>
          </p:cNvPicPr>
          <p:nvPr/>
        </p:nvPicPr>
        <p:blipFill>
          <a:blip r:embed="rId3" cstate="print"/>
          <a:srcRect/>
          <a:stretch>
            <a:fillRect/>
          </a:stretch>
        </p:blipFill>
        <p:spPr bwMode="auto">
          <a:xfrm>
            <a:off x="6072198" y="3429000"/>
            <a:ext cx="2139972" cy="1604979"/>
          </a:xfrm>
          <a:prstGeom prst="rect">
            <a:avLst/>
          </a:prstGeom>
          <a:noFill/>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Offering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Leave table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After all information has been passed on to the table, you should retire from the table while guests browse the menu and make their selection</a:t>
            </a:r>
          </a:p>
          <a:p>
            <a:pPr>
              <a:spcBef>
                <a:spcPts val="600"/>
              </a:spcBef>
              <a:spcAft>
                <a:spcPts val="1200"/>
              </a:spcAft>
            </a:pPr>
            <a:r>
              <a:rPr lang="en-AU" sz="2200" dirty="0" smtClean="0">
                <a:latin typeface="Helvetica" pitchFamily="34" charset="0"/>
              </a:rPr>
              <a:t>Keep an eye on them for cues that they are ready to order</a:t>
            </a:r>
            <a:endParaRPr lang="en-US" altLang="zh-CN" sz="2200"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19459" name="Picture 3" descr="C:\Documents and Settings\danielc\Local Settings\Temporary Internet Files\Content.IE5\SIQ5KRQ3\MC900185503[1].wmf"/>
          <p:cNvPicPr>
            <a:picLocks noChangeAspect="1" noChangeArrowheads="1"/>
          </p:cNvPicPr>
          <p:nvPr/>
        </p:nvPicPr>
        <p:blipFill>
          <a:blip r:embed="rId3" cstate="print"/>
          <a:srcRect/>
          <a:stretch>
            <a:fillRect/>
          </a:stretch>
        </p:blipFill>
        <p:spPr bwMode="auto">
          <a:xfrm>
            <a:off x="3857620" y="4214818"/>
            <a:ext cx="1822399" cy="1804111"/>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4:</a:t>
            </a:r>
          </a:p>
          <a:p>
            <a:pPr marL="0">
              <a:spcBef>
                <a:spcPts val="600"/>
              </a:spcBef>
              <a:spcAft>
                <a:spcPts val="1200"/>
              </a:spcAft>
              <a:buNone/>
            </a:pPr>
            <a:r>
              <a:rPr lang="en-AU" sz="4000" dirty="0" smtClean="0">
                <a:solidFill>
                  <a:srgbClr val="FF6600"/>
                </a:solidFill>
              </a:rPr>
              <a:t>Take food and beverage orders</a:t>
            </a:r>
            <a:endParaRPr lang="en-AU" sz="2200" dirty="0" smtClean="0">
              <a:solidFill>
                <a:srgbClr val="FF6600"/>
              </a:solidFill>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6" name="Picture 5" descr="I:\Overseas Projects\PHOTOS\2012\F &amp; B 2012\Orderpad.jpg"/>
          <p:cNvPicPr/>
          <p:nvPr/>
        </p:nvPicPr>
        <p:blipFill>
          <a:blip r:embed="rId3" cstate="print"/>
          <a:srcRect l="13980"/>
          <a:stretch>
            <a:fillRect/>
          </a:stretch>
        </p:blipFill>
        <p:spPr bwMode="auto">
          <a:xfrm>
            <a:off x="2357422" y="3214686"/>
            <a:ext cx="3531550" cy="27146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Take food and beverage orders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Take beverage orders and food orders</a:t>
            </a:r>
          </a:p>
          <a:p>
            <a:pPr>
              <a:spcBef>
                <a:spcPts val="600"/>
              </a:spcBef>
              <a:spcAft>
                <a:spcPts val="1200"/>
              </a:spcAft>
            </a:pPr>
            <a:r>
              <a:rPr lang="en-AU" sz="2200" dirty="0" smtClean="0">
                <a:latin typeface="Helvetica" pitchFamily="34" charset="0"/>
              </a:rPr>
              <a:t>Sell menu items and drinks proactively</a:t>
            </a:r>
          </a:p>
          <a:p>
            <a:pPr>
              <a:spcBef>
                <a:spcPts val="600"/>
              </a:spcBef>
              <a:spcAft>
                <a:spcPts val="1200"/>
              </a:spcAft>
            </a:pPr>
            <a:r>
              <a:rPr lang="en-AU" sz="2200" dirty="0" smtClean="0">
                <a:latin typeface="Helvetica" pitchFamily="34" charset="0"/>
              </a:rPr>
              <a:t>Recommend wines and drinks to accompany                selected foods</a:t>
            </a:r>
          </a:p>
          <a:p>
            <a:pPr>
              <a:spcBef>
                <a:spcPts val="600"/>
              </a:spcBef>
              <a:spcAft>
                <a:spcPts val="1200"/>
              </a:spcAft>
            </a:pPr>
            <a:r>
              <a:rPr lang="en-AU" sz="2200" dirty="0" smtClean="0">
                <a:latin typeface="Helvetica" pitchFamily="34" charset="0"/>
              </a:rPr>
              <a:t>Respond to guest queries regarding menu                           items and drink choices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887358" y="204469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958796"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928926" y="357187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101408" y="4500570"/>
            <a:ext cx="399154" cy="527046"/>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Take food and beverage orders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Transfer orders to service and preparation points</a:t>
            </a:r>
          </a:p>
          <a:p>
            <a:pPr>
              <a:spcBef>
                <a:spcPts val="600"/>
              </a:spcBef>
              <a:spcAft>
                <a:spcPts val="1200"/>
              </a:spcAft>
            </a:pPr>
            <a:r>
              <a:rPr lang="en-AU" sz="2200" dirty="0" smtClean="0">
                <a:latin typeface="Helvetica" pitchFamily="34" charset="0"/>
              </a:rPr>
              <a:t>Adjust settings/covers to reflect menu items selected</a:t>
            </a:r>
          </a:p>
          <a:p>
            <a:pPr>
              <a:spcBef>
                <a:spcPts val="600"/>
              </a:spcBef>
              <a:spcAft>
                <a:spcPts val="1200"/>
              </a:spcAft>
            </a:pPr>
            <a:r>
              <a:rPr lang="en-AU" sz="2200" dirty="0" smtClean="0">
                <a:latin typeface="Helvetica" pitchFamily="34" charset="0"/>
              </a:rPr>
              <a:t>Liaise with other staff regarding intended service delivery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215206"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673308" y="261620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143108" y="3616334"/>
            <a:ext cx="399154" cy="527046"/>
          </a:xfrm>
          <a:prstGeom prst="rect">
            <a:avLst/>
          </a:prstGeom>
          <a:noFill/>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Taking orders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Options available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Staff may be required to:</a:t>
            </a:r>
          </a:p>
          <a:p>
            <a:pPr lvl="0">
              <a:spcBef>
                <a:spcPts val="600"/>
              </a:spcBef>
              <a:spcAft>
                <a:spcPts val="1200"/>
              </a:spcAft>
            </a:pPr>
            <a:r>
              <a:rPr lang="en-AU" sz="2200" dirty="0" smtClean="0">
                <a:latin typeface="Helvetica" pitchFamily="34" charset="0"/>
              </a:rPr>
              <a:t>Remember orders</a:t>
            </a:r>
          </a:p>
          <a:p>
            <a:pPr lvl="0">
              <a:spcBef>
                <a:spcPts val="600"/>
              </a:spcBef>
              <a:spcAft>
                <a:spcPts val="1200"/>
              </a:spcAft>
            </a:pPr>
            <a:r>
              <a:rPr lang="en-AU" sz="2200" dirty="0" smtClean="0">
                <a:latin typeface="Helvetica" pitchFamily="34" charset="0"/>
              </a:rPr>
              <a:t>Record orders on paper-based order forms</a:t>
            </a:r>
          </a:p>
          <a:p>
            <a:pPr lvl="0">
              <a:spcBef>
                <a:spcPts val="600"/>
              </a:spcBef>
              <a:spcAft>
                <a:spcPts val="1200"/>
              </a:spcAft>
            </a:pPr>
            <a:r>
              <a:rPr lang="en-AU" sz="2200" dirty="0" smtClean="0">
                <a:latin typeface="Helvetica" pitchFamily="34" charset="0"/>
              </a:rPr>
              <a:t>Record orders using electronic means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20482" name="Picture 2" descr="C:\Documents and Settings\danielc\Desktop\Provide F&amp;B services images\332033_french_waiter_2.jpg"/>
          <p:cNvPicPr>
            <a:picLocks noChangeAspect="1" noChangeArrowheads="1"/>
          </p:cNvPicPr>
          <p:nvPr/>
        </p:nvPicPr>
        <p:blipFill>
          <a:blip r:embed="rId3" cstate="print"/>
          <a:srcRect/>
          <a:stretch>
            <a:fillRect/>
          </a:stretch>
        </p:blipFill>
        <p:spPr bwMode="auto">
          <a:xfrm>
            <a:off x="6929454" y="2285992"/>
            <a:ext cx="1293503" cy="2000262"/>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Taking orders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Guidelines for taking the order</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Look for signs when guests are ready to order</a:t>
            </a:r>
          </a:p>
          <a:p>
            <a:pPr marL="342900" indent="-342900">
              <a:spcBef>
                <a:spcPts val="600"/>
              </a:spcBef>
              <a:spcAft>
                <a:spcPts val="1200"/>
              </a:spcAft>
            </a:pPr>
            <a:r>
              <a:rPr lang="en-US" altLang="zh-CN" sz="2200" dirty="0" smtClean="0">
                <a:latin typeface="Helvetica" pitchFamily="34" charset="0"/>
                <a:ea typeface="宋体" pitchFamily="2" charset="-122"/>
              </a:rPr>
              <a:t>Start with females</a:t>
            </a:r>
          </a:p>
          <a:p>
            <a:pPr marL="342900" indent="-342900">
              <a:spcBef>
                <a:spcPts val="600"/>
              </a:spcBef>
              <a:spcAft>
                <a:spcPts val="1200"/>
              </a:spcAft>
            </a:pPr>
            <a:r>
              <a:rPr lang="en-US" altLang="zh-CN" sz="2200" dirty="0" smtClean="0">
                <a:latin typeface="Helvetica" pitchFamily="34" charset="0"/>
                <a:ea typeface="宋体" pitchFamily="2" charset="-122"/>
              </a:rPr>
              <a:t>Record clockwise or number guests</a:t>
            </a:r>
          </a:p>
          <a:p>
            <a:pPr marL="342900" indent="-342900">
              <a:spcBef>
                <a:spcPts val="600"/>
              </a:spcBef>
              <a:spcAft>
                <a:spcPts val="1200"/>
              </a:spcAft>
            </a:pPr>
            <a:r>
              <a:rPr lang="en-US" altLang="zh-CN" sz="2200" dirty="0" smtClean="0">
                <a:latin typeface="Helvetica" pitchFamily="34" charset="0"/>
                <a:ea typeface="宋体" pitchFamily="2" charset="-122"/>
              </a:rPr>
              <a:t>Record all orders accurately and legibly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21506" name="Picture 2" descr="C:\Documents and Settings\danielc\Local Settings\Temporary Internet Files\Content.IE5\3DV3UKH9\MC900017085[1].wmf"/>
          <p:cNvPicPr>
            <a:picLocks noChangeAspect="1" noChangeArrowheads="1"/>
          </p:cNvPicPr>
          <p:nvPr/>
        </p:nvPicPr>
        <p:blipFill>
          <a:blip r:embed="rId3" cstate="print"/>
          <a:srcRect/>
          <a:stretch>
            <a:fillRect/>
          </a:stretch>
        </p:blipFill>
        <p:spPr bwMode="auto">
          <a:xfrm>
            <a:off x="6858016" y="2500306"/>
            <a:ext cx="1145743" cy="2301545"/>
          </a:xfrm>
          <a:prstGeom prst="rect">
            <a:avLst/>
          </a:prstGeom>
          <a:noFill/>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Taking orders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Guidelines for taking the order</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Record special requirements:</a:t>
            </a:r>
          </a:p>
          <a:p>
            <a:pPr marL="536575" lvl="1" indent="-266700">
              <a:spcBef>
                <a:spcPts val="600"/>
              </a:spcBef>
              <a:spcAft>
                <a:spcPts val="1200"/>
              </a:spcAft>
            </a:pPr>
            <a:r>
              <a:rPr lang="en-US" altLang="zh-CN" sz="2200" dirty="0" smtClean="0">
                <a:latin typeface="Helvetica" pitchFamily="34" charset="0"/>
                <a:ea typeface="宋体" pitchFamily="2" charset="-122"/>
              </a:rPr>
              <a:t>Sauces</a:t>
            </a:r>
          </a:p>
          <a:p>
            <a:pPr marL="536575" lvl="1" indent="-266700">
              <a:spcBef>
                <a:spcPts val="600"/>
              </a:spcBef>
              <a:spcAft>
                <a:spcPts val="1200"/>
              </a:spcAft>
            </a:pPr>
            <a:r>
              <a:rPr lang="en-US" altLang="zh-CN" sz="2200" dirty="0" smtClean="0">
                <a:latin typeface="Helvetica" pitchFamily="34" charset="0"/>
                <a:ea typeface="宋体" pitchFamily="2" charset="-122"/>
              </a:rPr>
              <a:t>Temperatures</a:t>
            </a:r>
          </a:p>
          <a:p>
            <a:pPr marL="536575" lvl="1" indent="-266700">
              <a:spcBef>
                <a:spcPts val="600"/>
              </a:spcBef>
              <a:spcAft>
                <a:spcPts val="1200"/>
              </a:spcAft>
            </a:pPr>
            <a:r>
              <a:rPr lang="en-US" altLang="zh-CN" sz="2200" dirty="0" smtClean="0">
                <a:latin typeface="Helvetica" pitchFamily="34" charset="0"/>
                <a:ea typeface="宋体" pitchFamily="2" charset="-122"/>
              </a:rPr>
              <a:t>Extras / exclusions</a:t>
            </a:r>
          </a:p>
          <a:p>
            <a:pPr marL="342900" indent="-342900">
              <a:spcBef>
                <a:spcPts val="600"/>
              </a:spcBef>
              <a:spcAft>
                <a:spcPts val="1200"/>
              </a:spcAft>
            </a:pPr>
            <a:r>
              <a:rPr lang="en-US" altLang="zh-CN" sz="2200" dirty="0" smtClean="0">
                <a:latin typeface="Helvetica" pitchFamily="34" charset="0"/>
                <a:ea typeface="宋体" pitchFamily="2" charset="-122"/>
              </a:rPr>
              <a:t>Separate courses</a:t>
            </a:r>
          </a:p>
          <a:p>
            <a:pPr marL="342900" indent="-342900">
              <a:spcBef>
                <a:spcPts val="600"/>
              </a:spcBef>
              <a:spcAft>
                <a:spcPts val="1200"/>
              </a:spcAft>
            </a:pPr>
            <a:r>
              <a:rPr lang="en-US" altLang="zh-CN" sz="2200" dirty="0" smtClean="0">
                <a:latin typeface="Helvetica" pitchFamily="34" charset="0"/>
                <a:ea typeface="宋体" pitchFamily="2" charset="-122"/>
              </a:rPr>
              <a:t>Repeat order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5" name="Picture 5" descr="getty_rr_photo_of_waitress_taking_order"/>
          <p:cNvPicPr>
            <a:picLocks noChangeAspect="1" noChangeArrowheads="1"/>
          </p:cNvPicPr>
          <p:nvPr/>
        </p:nvPicPr>
        <p:blipFill>
          <a:blip r:embed="rId3" cstate="print"/>
          <a:srcRect/>
          <a:stretch>
            <a:fillRect/>
          </a:stretch>
        </p:blipFill>
        <p:spPr bwMode="auto">
          <a:xfrm>
            <a:off x="5357818" y="2786058"/>
            <a:ext cx="2681973" cy="1822202"/>
          </a:xfrm>
          <a:prstGeom prst="rect">
            <a:avLst/>
          </a:prstGeom>
          <a:noFill/>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Check food preferences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Degrees of ‘doneness’ of steaks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important to note on the order how the guest wants their steak cooked.</a:t>
            </a:r>
          </a:p>
          <a:p>
            <a:pPr>
              <a:spcBef>
                <a:spcPts val="600"/>
              </a:spcBef>
              <a:spcAft>
                <a:spcPts val="1200"/>
              </a:spcAft>
              <a:buNone/>
            </a:pPr>
            <a:r>
              <a:rPr lang="en-AU" sz="2200" dirty="0" smtClean="0">
                <a:latin typeface="Helvetica" pitchFamily="34" charset="0"/>
              </a:rPr>
              <a:t>Degrees of doneness are:</a:t>
            </a:r>
          </a:p>
          <a:p>
            <a:pPr lvl="0">
              <a:spcBef>
                <a:spcPts val="600"/>
              </a:spcBef>
              <a:spcAft>
                <a:spcPts val="1200"/>
              </a:spcAft>
            </a:pPr>
            <a:r>
              <a:rPr lang="en-AU" sz="2200" dirty="0" smtClean="0">
                <a:latin typeface="Helvetica" pitchFamily="34" charset="0"/>
              </a:rPr>
              <a:t>Blue</a:t>
            </a:r>
          </a:p>
          <a:p>
            <a:pPr lvl="0">
              <a:spcBef>
                <a:spcPts val="600"/>
              </a:spcBef>
              <a:spcAft>
                <a:spcPts val="1200"/>
              </a:spcAft>
            </a:pPr>
            <a:r>
              <a:rPr lang="en-AU" sz="2200" dirty="0" smtClean="0">
                <a:latin typeface="Helvetica" pitchFamily="34" charset="0"/>
              </a:rPr>
              <a:t>Rare</a:t>
            </a:r>
          </a:p>
          <a:p>
            <a:pPr lvl="0">
              <a:spcBef>
                <a:spcPts val="600"/>
              </a:spcBef>
              <a:spcAft>
                <a:spcPts val="1200"/>
              </a:spcAft>
            </a:pPr>
            <a:r>
              <a:rPr lang="en-AU" sz="2200" dirty="0" smtClean="0">
                <a:latin typeface="Helvetica" pitchFamily="34" charset="0"/>
              </a:rPr>
              <a:t>Medium rare</a:t>
            </a:r>
          </a:p>
          <a:p>
            <a:pPr lvl="0">
              <a:spcBef>
                <a:spcPts val="600"/>
              </a:spcBef>
              <a:spcAft>
                <a:spcPts val="1200"/>
              </a:spcAft>
            </a:pPr>
            <a:r>
              <a:rPr lang="en-AU" sz="2200" dirty="0" smtClean="0">
                <a:latin typeface="Helvetica" pitchFamily="34" charset="0"/>
              </a:rPr>
              <a:t>Medium to well-done</a:t>
            </a:r>
          </a:p>
          <a:p>
            <a:pPr lvl="0">
              <a:spcBef>
                <a:spcPts val="600"/>
              </a:spcBef>
              <a:spcAft>
                <a:spcPts val="1200"/>
              </a:spcAft>
            </a:pPr>
            <a:r>
              <a:rPr lang="en-AU" sz="2200" dirty="0" smtClean="0">
                <a:latin typeface="Helvetica" pitchFamily="34" charset="0"/>
              </a:rPr>
              <a:t>Well-done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6" name="Picture 5" descr="http://beitor.org/wp-content/uploads/2011/07/grilled-rare-steak.jpg"/>
          <p:cNvPicPr/>
          <p:nvPr/>
        </p:nvPicPr>
        <p:blipFill>
          <a:blip r:embed="rId3" cstate="print"/>
          <a:srcRect/>
          <a:stretch>
            <a:fillRect/>
          </a:stretch>
        </p:blipFill>
        <p:spPr bwMode="auto">
          <a:xfrm>
            <a:off x="5214942" y="3071810"/>
            <a:ext cx="2621955" cy="188136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 beverage preferences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As part of the ordering process, customers will identify which item that they desire, be it a food or beverage item.</a:t>
            </a:r>
            <a:endParaRPr lang="en-AU" sz="2200" b="1" dirty="0" smtClean="0">
              <a:latin typeface="Helvetica" pitchFamily="34" charset="0"/>
            </a:endParaRPr>
          </a:p>
          <a:p>
            <a:pPr>
              <a:spcBef>
                <a:spcPts val="600"/>
              </a:spcBef>
              <a:spcAft>
                <a:spcPts val="1200"/>
              </a:spcAft>
              <a:buNone/>
            </a:pPr>
            <a:r>
              <a:rPr lang="en-AU" sz="2200" dirty="0" smtClean="0">
                <a:latin typeface="Helvetica" pitchFamily="34" charset="0"/>
              </a:rPr>
              <a:t>They may ask for:</a:t>
            </a:r>
          </a:p>
          <a:p>
            <a:pPr>
              <a:spcBef>
                <a:spcPts val="600"/>
              </a:spcBef>
              <a:spcAft>
                <a:spcPts val="1200"/>
              </a:spcAft>
            </a:pPr>
            <a:r>
              <a:rPr lang="en-AU" sz="2200" dirty="0" smtClean="0">
                <a:latin typeface="Helvetica" pitchFamily="34" charset="0"/>
              </a:rPr>
              <a:t>A specific brand</a:t>
            </a:r>
          </a:p>
          <a:p>
            <a:pPr>
              <a:spcBef>
                <a:spcPts val="600"/>
              </a:spcBef>
              <a:spcAft>
                <a:spcPts val="1200"/>
              </a:spcAft>
            </a:pPr>
            <a:r>
              <a:rPr lang="en-AU" sz="2200" dirty="0" smtClean="0">
                <a:latin typeface="Helvetica" pitchFamily="34" charset="0"/>
              </a:rPr>
              <a:t>A generic brand</a:t>
            </a:r>
          </a:p>
          <a:p>
            <a:pPr>
              <a:spcBef>
                <a:spcPts val="600"/>
              </a:spcBef>
              <a:spcAft>
                <a:spcPts val="1200"/>
              </a:spcAft>
            </a:pPr>
            <a:r>
              <a:rPr lang="en-AU" sz="2200" dirty="0" smtClean="0">
                <a:latin typeface="Helvetica" pitchFamily="34" charset="0"/>
              </a:rPr>
              <a:t>A generic drink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MP900443861[1].JPG"/>
          <p:cNvPicPr>
            <a:picLocks noChangeAspect="1"/>
          </p:cNvPicPr>
          <p:nvPr/>
        </p:nvPicPr>
        <p:blipFill>
          <a:blip r:embed="rId3" cstate="print"/>
          <a:stretch>
            <a:fillRect/>
          </a:stretch>
        </p:blipFill>
        <p:spPr>
          <a:xfrm>
            <a:off x="6072198" y="2500306"/>
            <a:ext cx="1714512" cy="2568739"/>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 beverage preferences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Clarifying an order</a:t>
            </a:r>
          </a:p>
          <a:p>
            <a:pPr marL="0">
              <a:spcBef>
                <a:spcPts val="600"/>
              </a:spcBef>
              <a:spcAft>
                <a:spcPts val="1200"/>
              </a:spcAft>
              <a:buNone/>
            </a:pPr>
            <a:r>
              <a:rPr lang="en-AU" sz="2200" dirty="0" smtClean="0">
                <a:latin typeface="Helvetica" pitchFamily="34" charset="0"/>
              </a:rPr>
              <a:t>It makes good sense and excellent customer service, to check with the guest regarding their preference.</a:t>
            </a:r>
          </a:p>
          <a:p>
            <a:pPr>
              <a:spcBef>
                <a:spcPts val="600"/>
              </a:spcBef>
              <a:spcAft>
                <a:spcPts val="1200"/>
              </a:spcAft>
              <a:buNone/>
            </a:pPr>
            <a:r>
              <a:rPr lang="en-AU" sz="2200" dirty="0" smtClean="0">
                <a:latin typeface="Helvetica" pitchFamily="34" charset="0"/>
              </a:rPr>
              <a:t>For example if someone wants a ‘gin’ do they want:</a:t>
            </a:r>
          </a:p>
          <a:p>
            <a:pPr>
              <a:spcBef>
                <a:spcPts val="600"/>
              </a:spcBef>
              <a:spcAft>
                <a:spcPts val="1200"/>
              </a:spcAft>
            </a:pPr>
            <a:r>
              <a:rPr lang="en-AU" sz="2200" dirty="0" smtClean="0">
                <a:latin typeface="Helvetica" pitchFamily="34" charset="0"/>
              </a:rPr>
              <a:t>A specific brand – Gordon’s, Beefeaters</a:t>
            </a:r>
          </a:p>
          <a:p>
            <a:pPr>
              <a:spcBef>
                <a:spcPts val="600"/>
              </a:spcBef>
              <a:spcAft>
                <a:spcPts val="1200"/>
              </a:spcAft>
            </a:pPr>
            <a:r>
              <a:rPr lang="en-AU" sz="2200" dirty="0" smtClean="0">
                <a:latin typeface="Helvetica" pitchFamily="34" charset="0"/>
              </a:rPr>
              <a:t>The house/pour brand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 name="Picture 5" descr="C:\Documents and Settings\danielc\Desktop\RSA images\296055_waiter.jpg"/>
          <p:cNvPicPr/>
          <p:nvPr/>
        </p:nvPicPr>
        <p:blipFill>
          <a:blip r:embed="rId3" cstate="print"/>
          <a:srcRect/>
          <a:stretch>
            <a:fillRect/>
          </a:stretch>
        </p:blipFill>
        <p:spPr bwMode="auto">
          <a:xfrm>
            <a:off x="4357686" y="4286256"/>
            <a:ext cx="2207703" cy="15001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Operate the ordering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All transactions should be undertaken within establishment guidelines relating to:</a:t>
            </a:r>
          </a:p>
          <a:p>
            <a:pPr lvl="0">
              <a:spcBef>
                <a:spcPts val="600"/>
              </a:spcBef>
              <a:spcAft>
                <a:spcPts val="1200"/>
              </a:spcAft>
            </a:pPr>
            <a:r>
              <a:rPr lang="en-AU" sz="2200" dirty="0" smtClean="0">
                <a:latin typeface="Helvetica" pitchFamily="34" charset="0"/>
              </a:rPr>
              <a:t>Honesty and integrity</a:t>
            </a:r>
          </a:p>
          <a:p>
            <a:pPr lvl="0">
              <a:spcBef>
                <a:spcPts val="600"/>
              </a:spcBef>
              <a:spcAft>
                <a:spcPts val="1200"/>
              </a:spcAft>
            </a:pPr>
            <a:r>
              <a:rPr lang="en-AU" sz="2200" dirty="0" smtClean="0">
                <a:latin typeface="Helvetica" pitchFamily="34" charset="0"/>
              </a:rPr>
              <a:t>Accuracy</a:t>
            </a:r>
          </a:p>
          <a:p>
            <a:pPr lvl="0">
              <a:spcBef>
                <a:spcPts val="600"/>
              </a:spcBef>
              <a:spcAft>
                <a:spcPts val="1200"/>
              </a:spcAft>
            </a:pPr>
            <a:r>
              <a:rPr lang="en-AU" sz="2200" dirty="0" smtClean="0">
                <a:latin typeface="Helvetica" pitchFamily="34" charset="0"/>
              </a:rPr>
              <a:t>Speed</a:t>
            </a:r>
          </a:p>
          <a:p>
            <a:pPr lvl="0">
              <a:spcBef>
                <a:spcPts val="600"/>
              </a:spcBef>
              <a:spcAft>
                <a:spcPts val="1200"/>
              </a:spcAft>
            </a:pPr>
            <a:r>
              <a:rPr lang="en-AU" sz="2200" dirty="0" smtClean="0">
                <a:latin typeface="Helvetica" pitchFamily="34" charset="0"/>
              </a:rPr>
              <a:t>Explanation and description of charges</a:t>
            </a:r>
          </a:p>
          <a:p>
            <a:pPr lvl="0">
              <a:spcBef>
                <a:spcPts val="600"/>
              </a:spcBef>
              <a:spcAft>
                <a:spcPts val="1200"/>
              </a:spcAft>
            </a:pPr>
            <a:r>
              <a:rPr lang="en-AU" sz="2200" dirty="0" smtClean="0">
                <a:latin typeface="Helvetica" pitchFamily="34" charset="0"/>
              </a:rPr>
              <a:t>Customer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6" name="Picture 5" descr="http://www.fcruise.com/Portals/13/_Screenshots/Micros/Micros_699X600.jpg"/>
          <p:cNvPicPr/>
          <p:nvPr/>
        </p:nvPicPr>
        <p:blipFill>
          <a:blip r:embed="rId3" cstate="print"/>
          <a:srcRect/>
          <a:stretch>
            <a:fillRect/>
          </a:stretch>
        </p:blipFill>
        <p:spPr bwMode="auto">
          <a:xfrm>
            <a:off x="6215074" y="2500306"/>
            <a:ext cx="1784908" cy="153886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Operate the ordering system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Using different systems</a:t>
            </a:r>
          </a:p>
          <a:p>
            <a:pPr marL="0">
              <a:spcBef>
                <a:spcPts val="600"/>
              </a:spcBef>
              <a:spcAft>
                <a:spcPts val="1200"/>
              </a:spcAft>
              <a:buNone/>
            </a:pPr>
            <a:r>
              <a:rPr lang="en-AU" sz="2200" dirty="0" smtClean="0">
                <a:latin typeface="Helvetica" pitchFamily="34" charset="0"/>
              </a:rPr>
              <a:t>Orders can be taken using:</a:t>
            </a:r>
          </a:p>
          <a:p>
            <a:pPr marL="0">
              <a:spcBef>
                <a:spcPts val="600"/>
              </a:spcBef>
              <a:spcAft>
                <a:spcPts val="1200"/>
              </a:spcAft>
            </a:pPr>
            <a:r>
              <a:rPr lang="en-AU" sz="2200" dirty="0" smtClean="0">
                <a:latin typeface="Helvetica" pitchFamily="34" charset="0"/>
              </a:rPr>
              <a:t>Manual system</a:t>
            </a:r>
          </a:p>
          <a:p>
            <a:pPr marL="0">
              <a:spcBef>
                <a:spcPts val="600"/>
              </a:spcBef>
              <a:spcAft>
                <a:spcPts val="1200"/>
              </a:spcAft>
            </a:pPr>
            <a:r>
              <a:rPr lang="en-AU" sz="2200" dirty="0" smtClean="0">
                <a:latin typeface="Helvetica" pitchFamily="34" charset="0"/>
              </a:rPr>
              <a:t>Electronic system:</a:t>
            </a:r>
          </a:p>
          <a:p>
            <a:pPr marL="714375" lvl="1" indent="-273050">
              <a:spcBef>
                <a:spcPts val="600"/>
              </a:spcBef>
              <a:spcAft>
                <a:spcPts val="1200"/>
              </a:spcAft>
            </a:pPr>
            <a:r>
              <a:rPr lang="en-AU" sz="2200" dirty="0" smtClean="0">
                <a:latin typeface="Helvetica" pitchFamily="34" charset="0"/>
              </a:rPr>
              <a:t>Point of sale terminals</a:t>
            </a:r>
          </a:p>
          <a:p>
            <a:pPr marL="714375" lvl="1" indent="-273050">
              <a:spcBef>
                <a:spcPts val="600"/>
              </a:spcBef>
              <a:spcAft>
                <a:spcPts val="1200"/>
              </a:spcAft>
            </a:pPr>
            <a:r>
              <a:rPr lang="en-AU" sz="2200" dirty="0" smtClean="0">
                <a:latin typeface="Helvetica" pitchFamily="34" charset="0"/>
              </a:rPr>
              <a:t>Hand held devices</a:t>
            </a:r>
          </a:p>
          <a:p>
            <a:pPr marL="714375" lvl="1" indent="-273050">
              <a:spcBef>
                <a:spcPts val="600"/>
              </a:spcBef>
              <a:spcAft>
                <a:spcPts val="1200"/>
              </a:spcAft>
            </a:pPr>
            <a:r>
              <a:rPr lang="en-AU" sz="2200" dirty="0" smtClean="0">
                <a:latin typeface="Helvetica" pitchFamily="34" charset="0"/>
              </a:rPr>
              <a:t>Print out terminals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22530" name="Picture 2" descr="C:\Documents and Settings\danielc\Local Settings\Temporary Internet Files\Content.IE5\3DV3UKH9\MP900411760[1].jpg"/>
          <p:cNvPicPr>
            <a:picLocks noChangeAspect="1" noChangeArrowheads="1"/>
          </p:cNvPicPr>
          <p:nvPr/>
        </p:nvPicPr>
        <p:blipFill>
          <a:blip r:embed="rId3" cstate="print"/>
          <a:srcRect/>
          <a:stretch>
            <a:fillRect/>
          </a:stretch>
        </p:blipFill>
        <p:spPr bwMode="auto">
          <a:xfrm>
            <a:off x="5286380" y="2428868"/>
            <a:ext cx="2214554" cy="2214554"/>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800" b="1" dirty="0" smtClean="0">
                <a:solidFill>
                  <a:srgbClr val="FF6600"/>
                </a:solidFill>
                <a:latin typeface="Helvetica" pitchFamily="34" charset="0"/>
              </a:rPr>
              <a:t>Optimise sales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Sale of additional items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Side salads, vegetables or French fries</a:t>
            </a:r>
          </a:p>
          <a:p>
            <a:pPr>
              <a:spcBef>
                <a:spcPts val="600"/>
              </a:spcBef>
              <a:spcAft>
                <a:spcPts val="1200"/>
              </a:spcAft>
            </a:pPr>
            <a:r>
              <a:rPr lang="en-AU" sz="2200" dirty="0" smtClean="0">
                <a:latin typeface="Helvetica" pitchFamily="34" charset="0"/>
              </a:rPr>
              <a:t>Starch foods like wedges, fries, rice or other potato formats</a:t>
            </a:r>
          </a:p>
          <a:p>
            <a:pPr>
              <a:spcBef>
                <a:spcPts val="600"/>
              </a:spcBef>
              <a:spcAft>
                <a:spcPts val="1200"/>
              </a:spcAft>
            </a:pPr>
            <a:r>
              <a:rPr lang="en-AU" sz="2200" dirty="0" smtClean="0">
                <a:latin typeface="Helvetica" pitchFamily="34" charset="0"/>
              </a:rPr>
              <a:t>Beverages to compliment meals</a:t>
            </a:r>
          </a:p>
          <a:p>
            <a:pPr>
              <a:spcBef>
                <a:spcPts val="600"/>
              </a:spcBef>
              <a:spcAft>
                <a:spcPts val="1200"/>
              </a:spcAft>
            </a:pPr>
            <a:r>
              <a:rPr lang="en-AU" sz="2200" dirty="0" smtClean="0">
                <a:latin typeface="Helvetica" pitchFamily="34" charset="0"/>
              </a:rPr>
              <a:t>Additional sauces or condiments</a:t>
            </a:r>
          </a:p>
          <a:p>
            <a:pPr>
              <a:spcBef>
                <a:spcPts val="600"/>
              </a:spcBef>
              <a:spcAft>
                <a:spcPts val="1200"/>
              </a:spcAft>
            </a:pPr>
            <a:r>
              <a:rPr lang="en-AU" sz="2200" dirty="0" smtClean="0">
                <a:latin typeface="Helvetica" pitchFamily="34" charset="0"/>
              </a:rPr>
              <a:t>Desserts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5" descr="MP900427691[1].JPG"/>
          <p:cNvPicPr/>
          <p:nvPr/>
        </p:nvPicPr>
        <p:blipFill>
          <a:blip r:embed="rId3" cstate="print"/>
          <a:stretch>
            <a:fillRect/>
          </a:stretch>
        </p:blipFill>
        <p:spPr>
          <a:xfrm>
            <a:off x="6286512" y="3429000"/>
            <a:ext cx="1987154" cy="1493742"/>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800" b="1" dirty="0" smtClean="0">
                <a:solidFill>
                  <a:srgbClr val="FF6600"/>
                </a:solidFill>
                <a:latin typeface="Helvetica" pitchFamily="34" charset="0"/>
              </a:rPr>
              <a:t>Optimise sales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Other methods to optimise sales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Upsizing/upgrading meals</a:t>
            </a:r>
          </a:p>
          <a:p>
            <a:pPr>
              <a:spcBef>
                <a:spcPts val="600"/>
              </a:spcBef>
              <a:spcAft>
                <a:spcPts val="1200"/>
              </a:spcAft>
            </a:pPr>
            <a:r>
              <a:rPr lang="en-AU" sz="2200" dirty="0" smtClean="0">
                <a:latin typeface="Helvetica" pitchFamily="34" charset="0"/>
              </a:rPr>
              <a:t>Package meal deals</a:t>
            </a:r>
          </a:p>
          <a:p>
            <a:pPr>
              <a:spcBef>
                <a:spcPts val="600"/>
              </a:spcBef>
              <a:spcAft>
                <a:spcPts val="1200"/>
              </a:spcAft>
            </a:pPr>
            <a:r>
              <a:rPr lang="en-AU" sz="2200" dirty="0" smtClean="0">
                <a:latin typeface="Helvetica" pitchFamily="34" charset="0"/>
              </a:rPr>
              <a:t>Suggestive selling</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Picture 5" descr="Fish3.JPG"/>
          <p:cNvPicPr>
            <a:picLocks noChangeAspect="1"/>
          </p:cNvPicPr>
          <p:nvPr/>
        </p:nvPicPr>
        <p:blipFill>
          <a:blip r:embed="rId3" cstate="print"/>
          <a:stretch>
            <a:fillRect/>
          </a:stretch>
        </p:blipFill>
        <p:spPr>
          <a:xfrm>
            <a:off x="5500694" y="2285992"/>
            <a:ext cx="2580790" cy="2064632"/>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Recommending food and wine</a:t>
            </a:r>
          </a:p>
        </p:txBody>
      </p:sp>
      <p:sp>
        <p:nvSpPr>
          <p:cNvPr id="3" name="Content Placeholder 2"/>
          <p:cNvSpPr>
            <a:spLocks noGrp="1"/>
          </p:cNvSpPr>
          <p:nvPr>
            <p:ph idx="1"/>
          </p:nvPr>
        </p:nvSpPr>
        <p:spPr>
          <a:xfrm>
            <a:off x="611560" y="1556792"/>
            <a:ext cx="7889530" cy="5301208"/>
          </a:xfrm>
        </p:spPr>
        <p:txBody>
          <a:bodyPr>
            <a:normAutofit lnSpcReduction="10000"/>
          </a:bodyPr>
          <a:lstStyle/>
          <a:p>
            <a:pPr>
              <a:spcBef>
                <a:spcPts val="600"/>
              </a:spcBef>
              <a:spcAft>
                <a:spcPts val="1200"/>
              </a:spcAft>
              <a:buNone/>
            </a:pPr>
            <a:r>
              <a:rPr lang="en-AU" sz="2200" b="1" dirty="0" smtClean="0">
                <a:latin typeface="Helvetica" pitchFamily="34" charset="0"/>
              </a:rPr>
              <a:t>General guidelines</a:t>
            </a:r>
          </a:p>
          <a:p>
            <a:pPr lvl="0">
              <a:spcBef>
                <a:spcPts val="600"/>
              </a:spcBef>
              <a:spcAft>
                <a:spcPts val="1200"/>
              </a:spcAft>
            </a:pPr>
            <a:r>
              <a:rPr lang="en-AU" sz="2200" dirty="0" smtClean="0">
                <a:latin typeface="Helvetica" pitchFamily="34" charset="0"/>
              </a:rPr>
              <a:t>Whites with fish, chicken, veal and pork</a:t>
            </a:r>
          </a:p>
          <a:p>
            <a:pPr lvl="0">
              <a:spcBef>
                <a:spcPts val="600"/>
              </a:spcBef>
              <a:spcAft>
                <a:spcPts val="1200"/>
              </a:spcAft>
            </a:pPr>
            <a:r>
              <a:rPr lang="en-AU" sz="2200" dirty="0" smtClean="0">
                <a:latin typeface="Helvetica" pitchFamily="34" charset="0"/>
              </a:rPr>
              <a:t>Reds with dark meat</a:t>
            </a:r>
          </a:p>
          <a:p>
            <a:pPr lvl="0">
              <a:spcBef>
                <a:spcPts val="600"/>
              </a:spcBef>
              <a:spcAft>
                <a:spcPts val="1200"/>
              </a:spcAft>
            </a:pPr>
            <a:r>
              <a:rPr lang="en-AU" sz="2200" dirty="0" smtClean="0">
                <a:latin typeface="Helvetica" pitchFamily="34" charset="0"/>
              </a:rPr>
              <a:t>Reds with cheese </a:t>
            </a:r>
          </a:p>
          <a:p>
            <a:pPr lvl="0">
              <a:spcBef>
                <a:spcPts val="600"/>
              </a:spcBef>
              <a:spcAft>
                <a:spcPts val="1200"/>
              </a:spcAft>
            </a:pPr>
            <a:r>
              <a:rPr lang="en-AU" sz="2200" dirty="0" smtClean="0">
                <a:latin typeface="Helvetica" pitchFamily="34" charset="0"/>
              </a:rPr>
              <a:t>Delicate wines with delicate food</a:t>
            </a:r>
          </a:p>
          <a:p>
            <a:pPr lvl="0">
              <a:spcBef>
                <a:spcPts val="600"/>
              </a:spcBef>
              <a:spcAft>
                <a:spcPts val="1200"/>
              </a:spcAft>
            </a:pPr>
            <a:r>
              <a:rPr lang="en-AU" sz="2200" dirty="0" smtClean="0">
                <a:latin typeface="Helvetica" pitchFamily="34" charset="0"/>
              </a:rPr>
              <a:t>Full-bodied wines with full-bodied food</a:t>
            </a:r>
          </a:p>
          <a:p>
            <a:pPr lvl="0">
              <a:spcBef>
                <a:spcPts val="600"/>
              </a:spcBef>
              <a:spcAft>
                <a:spcPts val="1200"/>
              </a:spcAft>
            </a:pPr>
            <a:r>
              <a:rPr lang="en-AU" sz="2200" dirty="0" smtClean="0">
                <a:latin typeface="Helvetica" pitchFamily="34" charset="0"/>
              </a:rPr>
              <a:t>Sweet wines with sweet food</a:t>
            </a:r>
          </a:p>
          <a:p>
            <a:pPr lvl="0">
              <a:spcBef>
                <a:spcPts val="600"/>
              </a:spcBef>
              <a:spcAft>
                <a:spcPts val="1200"/>
              </a:spcAft>
            </a:pPr>
            <a:r>
              <a:rPr lang="en-AU" sz="2200" dirty="0" smtClean="0">
                <a:latin typeface="Helvetica" pitchFamily="34" charset="0"/>
              </a:rPr>
              <a:t>Sparkling wine can generally go with anything and with any course</a:t>
            </a:r>
          </a:p>
          <a:p>
            <a:pPr>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6" name="Picture 5" descr="210421689_42d4e1308f"/>
          <p:cNvPicPr/>
          <p:nvPr/>
        </p:nvPicPr>
        <p:blipFill>
          <a:blip r:embed="rId3" cstate="print"/>
          <a:srcRect/>
          <a:stretch>
            <a:fillRect/>
          </a:stretch>
        </p:blipFill>
        <p:spPr bwMode="auto">
          <a:xfrm>
            <a:off x="6429388" y="2428868"/>
            <a:ext cx="1695450" cy="1752600"/>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48" name="Group 36"/>
          <p:cNvGraphicFramePr>
            <a:graphicFrameLocks noGrp="1"/>
          </p:cNvGraphicFramePr>
          <p:nvPr>
            <p:ph idx="1"/>
          </p:nvPr>
        </p:nvGraphicFramePr>
        <p:xfrm>
          <a:off x="714348" y="1524000"/>
          <a:ext cx="7429552" cy="4262454"/>
        </p:xfrm>
        <a:graphic>
          <a:graphicData uri="http://schemas.openxmlformats.org/drawingml/2006/table">
            <a:tbl>
              <a:tblPr/>
              <a:tblGrid>
                <a:gridCol w="3388071"/>
                <a:gridCol w="4041481"/>
              </a:tblGrid>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WINE TYPES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FOOD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White Wine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White Meat: Chicken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Seafood: Fish, Salmon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Spicy Food</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Pasta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Red Wine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Red Meat: Beef, Lamb, </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Dark White Meat: Duck, Turkey</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Pasta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7061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Sparkling Wine/ Champagne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Strawberries, Seafood, Fruit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999040" cy="1143000"/>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AU" sz="3400" b="1" dirty="0" smtClean="0">
                <a:solidFill>
                  <a:srgbClr val="FF6600"/>
                </a:solidFill>
                <a:latin typeface="Helvetica" pitchFamily="34" charset="0"/>
                <a:ea typeface="+mj-ea"/>
                <a:cs typeface="+mj-cs"/>
              </a:rPr>
              <a:t>Food and wine combinations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119</a:t>
            </a:fld>
            <a:endParaRPr lang="en-US" dirty="0"/>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48" name="Group 36"/>
          <p:cNvGraphicFramePr>
            <a:graphicFrameLocks noGrp="1"/>
          </p:cNvGraphicFramePr>
          <p:nvPr>
            <p:ph idx="1"/>
          </p:nvPr>
        </p:nvGraphicFramePr>
        <p:xfrm>
          <a:off x="714348" y="1513332"/>
          <a:ext cx="7715304" cy="4582668"/>
        </p:xfrm>
        <a:graphic>
          <a:graphicData uri="http://schemas.openxmlformats.org/drawingml/2006/table">
            <a:tbl>
              <a:tblPr/>
              <a:tblGrid>
                <a:gridCol w="5553990"/>
                <a:gridCol w="2161314"/>
              </a:tblGrid>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WINE TYPES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FOOD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498348">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Chenin blanc, verdelho, chardonnay, riesling</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Salads</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Chardonnay, rosé</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Antipasto</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Semillon, sauvignon blanc, </a:t>
                      </a:r>
                      <a:r>
                        <a:rPr lang="en-AU" sz="1800" dirty="0" smtClean="0">
                          <a:latin typeface="Helvetica" pitchFamily="34" charset="0"/>
                          <a:ea typeface="Times New Roman"/>
                          <a:cs typeface="HelveticaNeueLTStd-Lt"/>
                        </a:rPr>
                        <a:t>riesling</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Seafood</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Cabernet sauvignon, shiraz, chardonnay, semillon</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Game</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Cabernet merlot, cabernet sauvignon, shiraz, malbec</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Red meat</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Chardonnay, chenin blanc, </a:t>
                      </a:r>
                      <a:r>
                        <a:rPr lang="en-AU" sz="1800" dirty="0" smtClean="0">
                          <a:latin typeface="Helvetica" pitchFamily="34" charset="0"/>
                          <a:ea typeface="Times New Roman"/>
                          <a:cs typeface="HelveticaNeueLTStd-Lt"/>
                        </a:rPr>
                        <a:t>verdelho</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Poultry</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Chardonnay, riesling, shiraz</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Pasta</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Cabernet merlot</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Cheese platters</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Dessert wines</a:t>
                      </a:r>
                      <a:endParaRPr lang="en-AU" sz="18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800" dirty="0">
                          <a:latin typeface="Helvetica" pitchFamily="34" charset="0"/>
                          <a:ea typeface="Times New Roman"/>
                          <a:cs typeface="HelveticaNeueLTStd-Lt"/>
                        </a:rPr>
                        <a:t>Desserts</a:t>
                      </a:r>
                      <a:endParaRPr lang="en-AU" sz="18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999040" cy="1143000"/>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AU" sz="3400" b="1" dirty="0" smtClean="0">
                <a:solidFill>
                  <a:srgbClr val="FF6600"/>
                </a:solidFill>
                <a:latin typeface="Helvetica" pitchFamily="34" charset="0"/>
                <a:ea typeface="+mj-ea"/>
                <a:cs typeface="+mj-cs"/>
              </a:rPr>
              <a:t>Food and wine combinations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120</a:t>
            </a:fld>
            <a:endParaRPr 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301208"/>
          </a:xfrm>
        </p:spPr>
        <p:txBody>
          <a:bodyPr>
            <a:normAutofit/>
          </a:bodyPr>
          <a:lstStyle/>
          <a:p>
            <a:pPr marL="0">
              <a:spcBef>
                <a:spcPts val="600"/>
              </a:spcBef>
              <a:spcAft>
                <a:spcPts val="600"/>
              </a:spcAft>
              <a:buNone/>
            </a:pPr>
            <a:r>
              <a:rPr lang="en-AU" sz="2200" dirty="0" smtClean="0">
                <a:latin typeface="Helvetica" pitchFamily="34" charset="0"/>
              </a:rPr>
              <a:t>A major part of the service staff’s role is to respond to guest questions regarding menu items. </a:t>
            </a:r>
          </a:p>
          <a:p>
            <a:pPr>
              <a:spcBef>
                <a:spcPts val="600"/>
              </a:spcBef>
              <a:spcAft>
                <a:spcPts val="600"/>
              </a:spcAft>
            </a:pPr>
            <a:r>
              <a:rPr lang="en-AU" sz="2200" dirty="0" smtClean="0">
                <a:latin typeface="Helvetica" pitchFamily="34" charset="0"/>
              </a:rPr>
              <a:t>What are common queries customers have in relation to menu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 name="Picture 5" descr="I:\Overseas Projects\PHOTOS\2012\F &amp; B 2012\shutterstock_83072002.jpg"/>
          <p:cNvPicPr/>
          <p:nvPr/>
        </p:nvPicPr>
        <p:blipFill>
          <a:blip r:embed="rId3" cstate="print"/>
          <a:srcRect/>
          <a:stretch>
            <a:fillRect/>
          </a:stretch>
        </p:blipFill>
        <p:spPr bwMode="auto">
          <a:xfrm>
            <a:off x="6286512" y="2928934"/>
            <a:ext cx="1595787" cy="23883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Common customer enquires</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Dish ingredients</a:t>
            </a:r>
          </a:p>
          <a:p>
            <a:pPr marL="342900" indent="-342900">
              <a:spcBef>
                <a:spcPts val="600"/>
              </a:spcBef>
              <a:spcAft>
                <a:spcPts val="1200"/>
              </a:spcAft>
            </a:pPr>
            <a:r>
              <a:rPr lang="en-US" altLang="zh-CN" sz="2200" dirty="0" smtClean="0">
                <a:latin typeface="Helvetica" pitchFamily="34" charset="0"/>
                <a:ea typeface="宋体" pitchFamily="2" charset="-122"/>
              </a:rPr>
              <a:t>Cooking/preparation time</a:t>
            </a:r>
          </a:p>
          <a:p>
            <a:pPr marL="342900" indent="-342900">
              <a:spcBef>
                <a:spcPts val="600"/>
              </a:spcBef>
              <a:spcAft>
                <a:spcPts val="1200"/>
              </a:spcAft>
            </a:pPr>
            <a:r>
              <a:rPr lang="en-US" altLang="zh-CN" sz="2200" dirty="0" smtClean="0">
                <a:latin typeface="Helvetica" pitchFamily="34" charset="0"/>
                <a:ea typeface="宋体" pitchFamily="2" charset="-122"/>
              </a:rPr>
              <a:t>MSG and flavourings</a:t>
            </a:r>
          </a:p>
          <a:p>
            <a:pPr marL="342900" indent="-342900">
              <a:spcBef>
                <a:spcPts val="600"/>
              </a:spcBef>
              <a:spcAft>
                <a:spcPts val="1200"/>
              </a:spcAft>
            </a:pPr>
            <a:r>
              <a:rPr lang="en-US" altLang="zh-CN" sz="2200" dirty="0" smtClean="0">
                <a:latin typeface="Helvetica" pitchFamily="34" charset="0"/>
                <a:ea typeface="宋体" pitchFamily="2" charset="-122"/>
              </a:rPr>
              <a:t>Serving sizes</a:t>
            </a:r>
          </a:p>
          <a:p>
            <a:pPr marL="342900" indent="-342900">
              <a:spcBef>
                <a:spcPts val="600"/>
              </a:spcBef>
              <a:spcAft>
                <a:spcPts val="1200"/>
              </a:spcAft>
            </a:pPr>
            <a:r>
              <a:rPr lang="en-US" altLang="zh-CN" sz="2200" dirty="0" smtClean="0">
                <a:latin typeface="Helvetica" pitchFamily="34" charset="0"/>
                <a:ea typeface="宋体" pitchFamily="2" charset="-122"/>
              </a:rPr>
              <a:t>Freshness of ingredients (seafood)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6" name="Picture 5" descr="MP900433159[1].JPG"/>
          <p:cNvPicPr/>
          <p:nvPr/>
        </p:nvPicPr>
        <p:blipFill>
          <a:blip r:embed="rId3" cstate="print"/>
          <a:stretch>
            <a:fillRect/>
          </a:stretch>
        </p:blipFill>
        <p:spPr>
          <a:xfrm>
            <a:off x="5643570" y="2357430"/>
            <a:ext cx="2424931" cy="1636390"/>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Common customer enquires</a:t>
            </a:r>
            <a:endParaRPr lang="en-AU" sz="2200" dirty="0" smtClean="0">
              <a:latin typeface="Helvetica" pitchFamily="34" charset="0"/>
            </a:endParaRPr>
          </a:p>
          <a:p>
            <a:pPr marL="342900" indent="-342900">
              <a:spcBef>
                <a:spcPts val="600"/>
              </a:spcBef>
              <a:spcAft>
                <a:spcPts val="1200"/>
              </a:spcAft>
            </a:pPr>
            <a:r>
              <a:rPr lang="en-US" altLang="zh-CN" sz="2200" dirty="0" smtClean="0">
                <a:latin typeface="Helvetica" pitchFamily="34" charset="0"/>
                <a:ea typeface="宋体" pitchFamily="2" charset="-122"/>
              </a:rPr>
              <a:t>Cooking styles</a:t>
            </a:r>
          </a:p>
          <a:p>
            <a:pPr marL="342900" indent="-342900">
              <a:spcBef>
                <a:spcPts val="600"/>
              </a:spcBef>
              <a:spcAft>
                <a:spcPts val="1200"/>
              </a:spcAft>
            </a:pPr>
            <a:r>
              <a:rPr lang="en-US" altLang="zh-CN" sz="2200" dirty="0" smtClean="0">
                <a:latin typeface="Helvetica" pitchFamily="34" charset="0"/>
                <a:ea typeface="宋体" pitchFamily="2" charset="-122"/>
              </a:rPr>
              <a:t>Meat or meat stocks</a:t>
            </a:r>
          </a:p>
          <a:p>
            <a:pPr marL="342900" indent="-342900">
              <a:spcBef>
                <a:spcPts val="600"/>
              </a:spcBef>
              <a:spcAft>
                <a:spcPts val="1200"/>
              </a:spcAft>
            </a:pPr>
            <a:r>
              <a:rPr lang="en-US" altLang="zh-CN" sz="2200" dirty="0" smtClean="0">
                <a:latin typeface="Helvetica" pitchFamily="34" charset="0"/>
                <a:ea typeface="宋体" pitchFamily="2" charset="-122"/>
              </a:rPr>
              <a:t>Menu and cookery terminology</a:t>
            </a:r>
          </a:p>
          <a:p>
            <a:pPr marL="342900" indent="-342900">
              <a:spcBef>
                <a:spcPts val="600"/>
              </a:spcBef>
              <a:spcAft>
                <a:spcPts val="1200"/>
              </a:spcAft>
            </a:pPr>
            <a:r>
              <a:rPr lang="en-US" altLang="zh-CN" sz="2200" dirty="0" smtClean="0">
                <a:latin typeface="Helvetica" pitchFamily="34" charset="0"/>
                <a:ea typeface="宋体" pitchFamily="2" charset="-122"/>
              </a:rPr>
              <a:t>Side dishes</a:t>
            </a:r>
          </a:p>
          <a:p>
            <a:pPr marL="342900" indent="-342900">
              <a:spcBef>
                <a:spcPts val="600"/>
              </a:spcBef>
              <a:spcAft>
                <a:spcPts val="1200"/>
              </a:spcAft>
            </a:pPr>
            <a:r>
              <a:rPr lang="en-US" altLang="zh-CN" sz="2200" dirty="0" smtClean="0">
                <a:latin typeface="Helvetica" pitchFamily="34" charset="0"/>
                <a:ea typeface="宋体" pitchFamily="2" charset="-122"/>
              </a:rPr>
              <a:t>Calorie/fat content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Composite2"/>
          <p:cNvPicPr/>
          <p:nvPr/>
        </p:nvPicPr>
        <p:blipFill>
          <a:blip r:embed="rId3" cstate="print"/>
          <a:srcRect/>
          <a:stretch>
            <a:fillRect/>
          </a:stretch>
        </p:blipFill>
        <p:spPr bwMode="auto">
          <a:xfrm>
            <a:off x="5504996" y="2571744"/>
            <a:ext cx="1932993" cy="1857388"/>
          </a:xfrm>
          <a:prstGeom prst="rect">
            <a:avLst/>
          </a:prstGeom>
          <a:noFill/>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Handling questions where you don’t know the answer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Apologise to the guest</a:t>
            </a:r>
          </a:p>
          <a:p>
            <a:pPr lvl="0">
              <a:spcBef>
                <a:spcPts val="600"/>
              </a:spcBef>
              <a:spcAft>
                <a:spcPts val="1200"/>
              </a:spcAft>
            </a:pPr>
            <a:r>
              <a:rPr lang="en-AU" sz="2200" dirty="0" smtClean="0">
                <a:latin typeface="Helvetica" pitchFamily="34" charset="0"/>
              </a:rPr>
              <a:t>Tell them you don’t know the answer to their question</a:t>
            </a:r>
          </a:p>
          <a:p>
            <a:pPr lvl="0">
              <a:spcBef>
                <a:spcPts val="600"/>
              </a:spcBef>
              <a:spcAft>
                <a:spcPts val="1200"/>
              </a:spcAft>
            </a:pPr>
            <a:r>
              <a:rPr lang="en-AU" sz="2200" dirty="0" smtClean="0">
                <a:latin typeface="Helvetica" pitchFamily="34" charset="0"/>
              </a:rPr>
              <a:t>Tell them you will go and find out, ask the kitchen etc.</a:t>
            </a:r>
          </a:p>
          <a:p>
            <a:pPr>
              <a:spcBef>
                <a:spcPts val="600"/>
              </a:spcBef>
              <a:spcAft>
                <a:spcPts val="1200"/>
              </a:spcAft>
            </a:pPr>
            <a:r>
              <a:rPr lang="en-AU" sz="2200" dirty="0" smtClean="0">
                <a:latin typeface="Helvetica" pitchFamily="34" charset="0"/>
              </a:rPr>
              <a:t>Go back to the guest and pass on what you have found out</a:t>
            </a:r>
            <a:endParaRPr lang="en-US" altLang="zh-CN" sz="2200"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6" name="Picture 5" descr="Parisian%20Waiter%201"/>
          <p:cNvPicPr/>
          <p:nvPr/>
        </p:nvPicPr>
        <p:blipFill>
          <a:blip r:embed="rId3" cstate="print"/>
          <a:srcRect/>
          <a:stretch>
            <a:fillRect/>
          </a:stretch>
        </p:blipFill>
        <p:spPr bwMode="auto">
          <a:xfrm>
            <a:off x="3714744" y="4500570"/>
            <a:ext cx="1805732" cy="1895649"/>
          </a:xfrm>
          <a:prstGeom prst="rect">
            <a:avLst/>
          </a:prstGeom>
          <a:noFill/>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Dietary Considerations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extremely important to make sure that special requests that relate to dietary issues receive extra attention and care.</a:t>
            </a:r>
          </a:p>
          <a:p>
            <a:pPr>
              <a:spcBef>
                <a:spcPts val="600"/>
              </a:spcBef>
              <a:spcAft>
                <a:spcPts val="1200"/>
              </a:spcAft>
            </a:pPr>
            <a:r>
              <a:rPr lang="en-AU" altLang="zh-CN" sz="2200" dirty="0" smtClean="0">
                <a:latin typeface="Helvetica" pitchFamily="34" charset="0"/>
                <a:ea typeface="宋体" pitchFamily="2" charset="-122"/>
              </a:rPr>
              <a:t>What dietary considerations are there?</a:t>
            </a:r>
            <a:endParaRPr lang="en-US" altLang="zh-CN" sz="2200" dirty="0" smtClean="0">
              <a:latin typeface="Helvetica" pitchFamily="34" charset="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23554" name="Picture 2" descr="C:\Documents and Settings\danielc\Desktop\Provide F&amp;B services images\1009934_question_con_2.jpg"/>
          <p:cNvPicPr>
            <a:picLocks noChangeAspect="1" noChangeArrowheads="1"/>
          </p:cNvPicPr>
          <p:nvPr/>
        </p:nvPicPr>
        <p:blipFill>
          <a:blip r:embed="rId3" cstate="print"/>
          <a:srcRect/>
          <a:stretch>
            <a:fillRect/>
          </a:stretch>
        </p:blipFill>
        <p:spPr bwMode="auto">
          <a:xfrm>
            <a:off x="6286512" y="3071810"/>
            <a:ext cx="1849423" cy="1849423"/>
          </a:xfrm>
          <a:prstGeom prst="rect">
            <a:avLst/>
          </a:prstGeom>
          <a:noFill/>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Special dietary needs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Vegetarian requests</a:t>
            </a:r>
          </a:p>
          <a:p>
            <a:pPr lvl="0">
              <a:spcBef>
                <a:spcPts val="600"/>
              </a:spcBef>
              <a:spcAft>
                <a:spcPts val="1200"/>
              </a:spcAft>
            </a:pPr>
            <a:r>
              <a:rPr lang="en-AU" sz="2200" dirty="0" smtClean="0">
                <a:latin typeface="Helvetica" pitchFamily="34" charset="0"/>
              </a:rPr>
              <a:t>Lacto-ova vegetarians/Ova-lacto vegetarians</a:t>
            </a:r>
          </a:p>
          <a:p>
            <a:pPr lvl="0">
              <a:spcBef>
                <a:spcPts val="600"/>
              </a:spcBef>
              <a:spcAft>
                <a:spcPts val="1200"/>
              </a:spcAft>
            </a:pPr>
            <a:r>
              <a:rPr lang="en-AU" sz="2200" dirty="0" smtClean="0">
                <a:latin typeface="Helvetica" pitchFamily="34" charset="0"/>
              </a:rPr>
              <a:t>Lacto-vegetarians</a:t>
            </a:r>
          </a:p>
          <a:p>
            <a:pPr lvl="0">
              <a:spcBef>
                <a:spcPts val="600"/>
              </a:spcBef>
              <a:spcAft>
                <a:spcPts val="1200"/>
              </a:spcAft>
            </a:pPr>
            <a:r>
              <a:rPr lang="en-AU" sz="2200" dirty="0" smtClean="0">
                <a:latin typeface="Helvetica" pitchFamily="34" charset="0"/>
              </a:rPr>
              <a:t>Pescatarians</a:t>
            </a:r>
          </a:p>
          <a:p>
            <a:pPr lvl="0">
              <a:spcBef>
                <a:spcPts val="600"/>
              </a:spcBef>
              <a:spcAft>
                <a:spcPts val="1200"/>
              </a:spcAft>
            </a:pPr>
            <a:r>
              <a:rPr lang="en-AU" sz="2200" dirty="0" smtClean="0">
                <a:latin typeface="Helvetica" pitchFamily="34" charset="0"/>
              </a:rPr>
              <a:t>Vegan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http://www.tinkersgardens.com/wp-content/uploads/2011/08/Veggies.jpg"/>
          <p:cNvPicPr/>
          <p:nvPr/>
        </p:nvPicPr>
        <p:blipFill>
          <a:blip r:embed="rId3" cstate="print"/>
          <a:srcRect/>
          <a:stretch>
            <a:fillRect/>
          </a:stretch>
        </p:blipFill>
        <p:spPr bwMode="auto">
          <a:xfrm>
            <a:off x="5429256" y="3429000"/>
            <a:ext cx="2428892" cy="17136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Respond to customer queries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Special dietary needs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Requests for low-salt meals</a:t>
            </a:r>
          </a:p>
          <a:p>
            <a:pPr lvl="0">
              <a:spcBef>
                <a:spcPts val="600"/>
              </a:spcBef>
              <a:spcAft>
                <a:spcPts val="1200"/>
              </a:spcAft>
            </a:pPr>
            <a:r>
              <a:rPr lang="en-AU" sz="2200" dirty="0" smtClean="0">
                <a:latin typeface="Helvetica" pitchFamily="34" charset="0"/>
              </a:rPr>
              <a:t>Requests for low-sugar or no sugar meals</a:t>
            </a:r>
          </a:p>
          <a:p>
            <a:pPr lvl="0">
              <a:spcBef>
                <a:spcPts val="600"/>
              </a:spcBef>
              <a:spcAft>
                <a:spcPts val="1200"/>
              </a:spcAft>
            </a:pPr>
            <a:r>
              <a:rPr lang="en-AU" sz="2200" dirty="0" smtClean="0">
                <a:latin typeface="Helvetica" pitchFamily="34" charset="0"/>
              </a:rPr>
              <a:t>Requests for lactose-reduced milk</a:t>
            </a:r>
          </a:p>
          <a:p>
            <a:pPr lvl="0">
              <a:spcBef>
                <a:spcPts val="600"/>
              </a:spcBef>
              <a:spcAft>
                <a:spcPts val="1200"/>
              </a:spcAft>
            </a:pPr>
            <a:r>
              <a:rPr lang="en-AU" sz="2200" dirty="0" smtClean="0">
                <a:latin typeface="Helvetica" pitchFamily="34" charset="0"/>
              </a:rPr>
              <a:t>Requests for gluten-free food</a:t>
            </a:r>
          </a:p>
          <a:p>
            <a:pPr>
              <a:spcBef>
                <a:spcPts val="600"/>
              </a:spcBef>
              <a:spcAft>
                <a:spcPts val="1200"/>
              </a:spcAft>
            </a:pPr>
            <a:r>
              <a:rPr lang="en-AU" sz="2200" dirty="0" smtClean="0">
                <a:latin typeface="Helvetica" pitchFamily="34" charset="0"/>
              </a:rPr>
              <a:t>Requests for a macrobiotic diet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24578" name="Picture 2" descr="C:\Documents and Settings\danielc\Local Settings\Temporary Internet Files\Content.IE5\V9A2RTT8\MP900448702[1].jpg"/>
          <p:cNvPicPr>
            <a:picLocks noChangeAspect="1" noChangeArrowheads="1"/>
          </p:cNvPicPr>
          <p:nvPr/>
        </p:nvPicPr>
        <p:blipFill>
          <a:blip r:embed="rId3" cstate="print"/>
          <a:srcRect/>
          <a:stretch>
            <a:fillRect/>
          </a:stretch>
        </p:blipFill>
        <p:spPr bwMode="auto">
          <a:xfrm>
            <a:off x="6286512" y="3214686"/>
            <a:ext cx="2095483" cy="1571612"/>
          </a:xfrm>
          <a:prstGeom prst="rect">
            <a:avLst/>
          </a:prstGeom>
          <a:noFill/>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Convey orders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Regardless of whether or not an electronic or manual ordering system is used to take an order, there are many times when waiter staff will need to speak directly to the person preparing items, normally the chef or bartender to:</a:t>
            </a:r>
          </a:p>
          <a:p>
            <a:pPr marL="0">
              <a:spcBef>
                <a:spcPts val="600"/>
              </a:spcBef>
              <a:spcAft>
                <a:spcPts val="1200"/>
              </a:spcAft>
            </a:pPr>
            <a:r>
              <a:rPr lang="en-AU" sz="2200" dirty="0" smtClean="0">
                <a:latin typeface="Helvetica" pitchFamily="34" charset="0"/>
              </a:rPr>
              <a:t>Explain special requests </a:t>
            </a:r>
          </a:p>
          <a:p>
            <a:pPr marL="0">
              <a:spcBef>
                <a:spcPts val="600"/>
              </a:spcBef>
              <a:spcAft>
                <a:spcPts val="1200"/>
              </a:spcAft>
            </a:pPr>
            <a:r>
              <a:rPr lang="en-AU" sz="2200" dirty="0" smtClean="0">
                <a:latin typeface="Helvetica" pitchFamily="34" charset="0"/>
              </a:rPr>
              <a:t>Clarify the order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6" name="Picture 5" descr="product CC rick.jpg"/>
          <p:cNvPicPr/>
          <p:nvPr/>
        </p:nvPicPr>
        <p:blipFill>
          <a:blip r:embed="rId3" cstate="print">
            <a:lum bright="10000" contrast="10000"/>
          </a:blip>
          <a:stretch>
            <a:fillRect/>
          </a:stretch>
        </p:blipFill>
        <p:spPr>
          <a:xfrm>
            <a:off x="5857884" y="3214686"/>
            <a:ext cx="2380681" cy="1785950"/>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Convey orders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Information to be relayed</a:t>
            </a:r>
          </a:p>
          <a:p>
            <a:pPr lvl="0">
              <a:spcBef>
                <a:spcPts val="600"/>
              </a:spcBef>
              <a:spcAft>
                <a:spcPts val="1200"/>
              </a:spcAft>
            </a:pPr>
            <a:r>
              <a:rPr lang="en-AU" sz="2200" dirty="0" smtClean="0">
                <a:latin typeface="Helvetica" pitchFamily="34" charset="0"/>
              </a:rPr>
              <a:t>Timing issues</a:t>
            </a:r>
          </a:p>
          <a:p>
            <a:pPr lvl="0">
              <a:spcBef>
                <a:spcPts val="600"/>
              </a:spcBef>
              <a:spcAft>
                <a:spcPts val="1200"/>
              </a:spcAft>
            </a:pPr>
            <a:r>
              <a:rPr lang="en-AU" sz="2200" dirty="0" smtClean="0">
                <a:latin typeface="Helvetica" pitchFamily="34" charset="0"/>
              </a:rPr>
              <a:t>Cultural issues </a:t>
            </a:r>
          </a:p>
          <a:p>
            <a:pPr lvl="0">
              <a:spcBef>
                <a:spcPts val="600"/>
              </a:spcBef>
              <a:spcAft>
                <a:spcPts val="1200"/>
              </a:spcAft>
            </a:pPr>
            <a:r>
              <a:rPr lang="en-AU" sz="2200" dirty="0" smtClean="0">
                <a:latin typeface="Helvetica" pitchFamily="34" charset="0"/>
              </a:rPr>
              <a:t>Special requests</a:t>
            </a:r>
          </a:p>
          <a:p>
            <a:pPr lvl="0">
              <a:spcBef>
                <a:spcPts val="600"/>
              </a:spcBef>
              <a:spcAft>
                <a:spcPts val="1200"/>
              </a:spcAft>
            </a:pPr>
            <a:r>
              <a:rPr lang="en-AU" sz="2200" dirty="0" smtClean="0">
                <a:latin typeface="Helvetica" pitchFamily="34" charset="0"/>
              </a:rPr>
              <a:t>How steaks are to be cooked </a:t>
            </a:r>
          </a:p>
          <a:p>
            <a:pPr lvl="0">
              <a:spcBef>
                <a:spcPts val="600"/>
              </a:spcBef>
              <a:spcAft>
                <a:spcPts val="1200"/>
              </a:spcAft>
            </a:pPr>
            <a:r>
              <a:rPr lang="en-AU" sz="2200" dirty="0" smtClean="0">
                <a:latin typeface="Helvetica" pitchFamily="34" charset="0"/>
              </a:rPr>
              <a:t>Entrees required as main courses</a:t>
            </a:r>
          </a:p>
          <a:p>
            <a:pPr lvl="0">
              <a:spcBef>
                <a:spcPts val="600"/>
              </a:spcBef>
              <a:spcAft>
                <a:spcPts val="1200"/>
              </a:spcAft>
            </a:pPr>
            <a:r>
              <a:rPr lang="en-AU" sz="2200" dirty="0" smtClean="0">
                <a:latin typeface="Helvetica" pitchFamily="34" charset="0"/>
              </a:rPr>
              <a:t>Explanation of tables and their orders</a:t>
            </a:r>
          </a:p>
          <a:p>
            <a:pPr lvl="0">
              <a:spcBef>
                <a:spcPts val="600"/>
              </a:spcBef>
              <a:spcAft>
                <a:spcPts val="1200"/>
              </a:spcAft>
            </a:pPr>
            <a:r>
              <a:rPr lang="en-AU" sz="2200" dirty="0" smtClean="0">
                <a:latin typeface="Helvetica" pitchFamily="34" charset="0"/>
              </a:rPr>
              <a:t>Dietary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6" name="Picture 5" descr="Culinary Academy_017.jpg"/>
          <p:cNvPicPr/>
          <p:nvPr/>
        </p:nvPicPr>
        <p:blipFill>
          <a:blip r:embed="rId3" cstate="print"/>
          <a:stretch>
            <a:fillRect/>
          </a:stretch>
        </p:blipFill>
        <p:spPr>
          <a:xfrm>
            <a:off x="6279591" y="2143116"/>
            <a:ext cx="1484575" cy="2214578"/>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Adjusting settings to reflect selections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Depending on the dishes and drinks they have ordered, it is now time to adjust the setting with certain items of:</a:t>
            </a:r>
          </a:p>
          <a:p>
            <a:pPr>
              <a:spcBef>
                <a:spcPts val="600"/>
              </a:spcBef>
              <a:spcAft>
                <a:spcPts val="1200"/>
              </a:spcAft>
            </a:pPr>
            <a:r>
              <a:rPr lang="en-AU" sz="2200" dirty="0" smtClean="0">
                <a:latin typeface="Helvetica" pitchFamily="34" charset="0"/>
              </a:rPr>
              <a:t>Cutlery</a:t>
            </a:r>
          </a:p>
          <a:p>
            <a:pPr>
              <a:spcBef>
                <a:spcPts val="600"/>
              </a:spcBef>
              <a:spcAft>
                <a:spcPts val="1200"/>
              </a:spcAft>
            </a:pPr>
            <a:r>
              <a:rPr lang="en-AU" sz="2200" dirty="0" smtClean="0">
                <a:latin typeface="Helvetica" pitchFamily="34" charset="0"/>
              </a:rPr>
              <a:t>Glassware</a:t>
            </a:r>
          </a:p>
          <a:p>
            <a:pPr>
              <a:spcBef>
                <a:spcPts val="600"/>
              </a:spcBef>
              <a:spcAft>
                <a:spcPts val="1200"/>
              </a:spcAft>
            </a:pPr>
            <a:r>
              <a:rPr lang="en-AU" sz="2200" dirty="0" smtClean="0">
                <a:latin typeface="Helvetica" pitchFamily="34" charset="0"/>
              </a:rPr>
              <a:t>Service wear</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4435995779_f6b72de3f4_m.jpg"/>
          <p:cNvPicPr>
            <a:picLocks noChangeAspect="1"/>
          </p:cNvPicPr>
          <p:nvPr/>
        </p:nvPicPr>
        <p:blipFill>
          <a:blip r:embed="rId3" cstate="print">
            <a:lum bright="10000"/>
          </a:blip>
          <a:stretch>
            <a:fillRect/>
          </a:stretch>
        </p:blipFill>
        <p:spPr>
          <a:xfrm>
            <a:off x="5643570" y="2571743"/>
            <a:ext cx="2461900" cy="1631009"/>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Adjusting glassware</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Practical examples of the need to adjust glasses may include:</a:t>
            </a:r>
          </a:p>
          <a:p>
            <a:pPr lvl="0">
              <a:spcBef>
                <a:spcPts val="600"/>
              </a:spcBef>
              <a:spcAft>
                <a:spcPts val="1200"/>
              </a:spcAft>
            </a:pPr>
            <a:r>
              <a:rPr lang="en-AU" sz="2200" dirty="0" smtClean="0">
                <a:latin typeface="Helvetica" pitchFamily="34" charset="0"/>
              </a:rPr>
              <a:t>Adding water glasses and jugs</a:t>
            </a:r>
          </a:p>
          <a:p>
            <a:pPr lvl="0">
              <a:spcBef>
                <a:spcPts val="600"/>
              </a:spcBef>
              <a:spcAft>
                <a:spcPts val="1200"/>
              </a:spcAft>
            </a:pPr>
            <a:r>
              <a:rPr lang="en-AU" sz="2200" dirty="0" smtClean="0">
                <a:latin typeface="Helvetica" pitchFamily="34" charset="0"/>
              </a:rPr>
              <a:t>Removing/adding all or some wine glasses</a:t>
            </a:r>
          </a:p>
          <a:p>
            <a:pPr lvl="0">
              <a:spcBef>
                <a:spcPts val="600"/>
              </a:spcBef>
              <a:spcAft>
                <a:spcPts val="1200"/>
              </a:spcAft>
            </a:pPr>
            <a:r>
              <a:rPr lang="en-AU" sz="2200" dirty="0" smtClean="0">
                <a:latin typeface="Helvetica" pitchFamily="34" charset="0"/>
              </a:rPr>
              <a:t>Removing the set glasses and replacing them with champagne flutes where a sparkling wine is ordered</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25602" name="Picture 2" descr="C:\Documents and Settings\danielc\Local Settings\Temporary Internet Files\Content.IE5\SIQ5KRQ3\MC900326552[1].wmf"/>
          <p:cNvPicPr>
            <a:picLocks noChangeAspect="1" noChangeArrowheads="1"/>
          </p:cNvPicPr>
          <p:nvPr/>
        </p:nvPicPr>
        <p:blipFill>
          <a:blip r:embed="rId3" cstate="print"/>
          <a:srcRect/>
          <a:stretch>
            <a:fillRect/>
          </a:stretch>
        </p:blipFill>
        <p:spPr bwMode="auto">
          <a:xfrm>
            <a:off x="7143768" y="2428868"/>
            <a:ext cx="1110259" cy="1000132"/>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Adjusting service ware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Service wear may need to be provided as follows:</a:t>
            </a:r>
          </a:p>
          <a:p>
            <a:pPr lvl="0">
              <a:spcBef>
                <a:spcPts val="600"/>
              </a:spcBef>
              <a:spcAft>
                <a:spcPts val="1200"/>
              </a:spcAft>
            </a:pPr>
            <a:r>
              <a:rPr lang="en-AU" sz="2200" dirty="0" smtClean="0">
                <a:latin typeface="Helvetica" pitchFamily="34" charset="0"/>
              </a:rPr>
              <a:t>Service platters</a:t>
            </a:r>
          </a:p>
          <a:p>
            <a:pPr lvl="0">
              <a:spcBef>
                <a:spcPts val="600"/>
              </a:spcBef>
              <a:spcAft>
                <a:spcPts val="1200"/>
              </a:spcAft>
            </a:pPr>
            <a:r>
              <a:rPr lang="en-AU" sz="2200" dirty="0" smtClean="0">
                <a:latin typeface="Helvetica" pitchFamily="34" charset="0"/>
              </a:rPr>
              <a:t>Sauce boats</a:t>
            </a:r>
          </a:p>
          <a:p>
            <a:pPr lvl="0">
              <a:spcBef>
                <a:spcPts val="600"/>
              </a:spcBef>
              <a:spcAft>
                <a:spcPts val="1200"/>
              </a:spcAft>
            </a:pPr>
            <a:r>
              <a:rPr lang="en-AU" sz="2200" dirty="0" smtClean="0">
                <a:latin typeface="Helvetica" pitchFamily="34" charset="0"/>
              </a:rPr>
              <a:t>Cake stands and knives</a:t>
            </a:r>
          </a:p>
          <a:p>
            <a:pPr lvl="0">
              <a:spcBef>
                <a:spcPts val="600"/>
              </a:spcBef>
              <a:spcAft>
                <a:spcPts val="1200"/>
              </a:spcAft>
            </a:pPr>
            <a:r>
              <a:rPr lang="en-AU" sz="2200" dirty="0" smtClean="0">
                <a:latin typeface="Helvetica" pitchFamily="34" charset="0"/>
              </a:rPr>
              <a:t>Snail forks and tongs</a:t>
            </a:r>
          </a:p>
          <a:p>
            <a:pPr lvl="0">
              <a:spcBef>
                <a:spcPts val="600"/>
              </a:spcBef>
              <a:spcAft>
                <a:spcPts val="1200"/>
              </a:spcAft>
            </a:pPr>
            <a:r>
              <a:rPr lang="en-AU" sz="2200" dirty="0" smtClean="0">
                <a:latin typeface="Helvetica" pitchFamily="34" charset="0"/>
              </a:rPr>
              <a:t>Lobster picks and crackers</a:t>
            </a:r>
          </a:p>
          <a:p>
            <a:pPr lvl="0">
              <a:spcBef>
                <a:spcPts val="600"/>
              </a:spcBef>
              <a:spcAft>
                <a:spcPts val="1200"/>
              </a:spcAft>
            </a:pPr>
            <a:r>
              <a:rPr lang="en-AU" sz="2200" dirty="0" smtClean="0">
                <a:latin typeface="Helvetica" pitchFamily="34" charset="0"/>
              </a:rPr>
              <a:t>Soup tureen</a:t>
            </a:r>
          </a:p>
          <a:p>
            <a:pPr lvl="0">
              <a:spcBef>
                <a:spcPts val="600"/>
              </a:spcBef>
              <a:spcAft>
                <a:spcPts val="1200"/>
              </a:spcAft>
            </a:pPr>
            <a:r>
              <a:rPr lang="en-AU" sz="2200" dirty="0" smtClean="0">
                <a:latin typeface="Helvetica" pitchFamily="34" charset="0"/>
              </a:rPr>
              <a:t>Gueridon equipment</a:t>
            </a:r>
          </a:p>
          <a:p>
            <a:pPr lvl="0"/>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6" name="Picture 5" descr="http://www.poubelle.com/images/gyro/gyroeat.jpg"/>
          <p:cNvPicPr/>
          <p:nvPr/>
        </p:nvPicPr>
        <p:blipFill>
          <a:blip r:embed="rId3" cstate="print"/>
          <a:srcRect/>
          <a:stretch>
            <a:fillRect/>
          </a:stretch>
        </p:blipFill>
        <p:spPr bwMode="auto">
          <a:xfrm>
            <a:off x="6000760" y="2786058"/>
            <a:ext cx="1856606" cy="209778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Adjusting settings</a:t>
            </a:r>
          </a:p>
        </p:txBody>
      </p:sp>
      <p:sp>
        <p:nvSpPr>
          <p:cNvPr id="3" name="Content Placeholder 2"/>
          <p:cNvSpPr>
            <a:spLocks noGrp="1"/>
          </p:cNvSpPr>
          <p:nvPr>
            <p:ph idx="1"/>
          </p:nvPr>
        </p:nvSpPr>
        <p:spPr>
          <a:xfrm>
            <a:off x="500034" y="1428736"/>
            <a:ext cx="7467600" cy="5301208"/>
          </a:xfrm>
        </p:spPr>
        <p:txBody>
          <a:bodyPr>
            <a:normAutofit/>
          </a:bodyPr>
          <a:lstStyle/>
          <a:p>
            <a:pPr>
              <a:spcBef>
                <a:spcPts val="600"/>
              </a:spcBef>
              <a:spcAft>
                <a:spcPts val="600"/>
              </a:spcAft>
              <a:buNone/>
            </a:pPr>
            <a:r>
              <a:rPr lang="en-AU" sz="2200" b="1" dirty="0" smtClean="0">
                <a:latin typeface="Helvetica" pitchFamily="34" charset="0"/>
              </a:rPr>
              <a:t>Process for adjusting covers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Identify what needs to be removed from each cover</a:t>
            </a:r>
          </a:p>
          <a:p>
            <a:pPr lvl="0">
              <a:spcBef>
                <a:spcPts val="600"/>
              </a:spcBef>
              <a:spcAft>
                <a:spcPts val="600"/>
              </a:spcAft>
            </a:pPr>
            <a:r>
              <a:rPr lang="en-AU" sz="2200" dirty="0" smtClean="0">
                <a:latin typeface="Helvetica" pitchFamily="34" charset="0"/>
              </a:rPr>
              <a:t>Identify what needs to be added to each cover</a:t>
            </a:r>
          </a:p>
          <a:p>
            <a:pPr lvl="0">
              <a:spcBef>
                <a:spcPts val="600"/>
              </a:spcBef>
              <a:spcAft>
                <a:spcPts val="600"/>
              </a:spcAft>
            </a:pPr>
            <a:r>
              <a:rPr lang="en-AU" sz="2200" dirty="0" smtClean="0">
                <a:latin typeface="Helvetica" pitchFamily="34" charset="0"/>
              </a:rPr>
              <a:t>Obtain the necessary items</a:t>
            </a:r>
          </a:p>
          <a:p>
            <a:pPr lvl="0">
              <a:spcBef>
                <a:spcPts val="600"/>
              </a:spcBef>
              <a:spcAft>
                <a:spcPts val="600"/>
              </a:spcAft>
            </a:pPr>
            <a:r>
              <a:rPr lang="en-AU" sz="2200" dirty="0" smtClean="0">
                <a:latin typeface="Helvetica" pitchFamily="34" charset="0"/>
              </a:rPr>
              <a:t>Load them onto a clothed service plate</a:t>
            </a:r>
          </a:p>
          <a:p>
            <a:pPr lvl="0">
              <a:spcBef>
                <a:spcPts val="600"/>
              </a:spcBef>
              <a:spcAft>
                <a:spcPts val="600"/>
              </a:spcAft>
            </a:pPr>
            <a:r>
              <a:rPr lang="en-AU" sz="2200" dirty="0" smtClean="0">
                <a:latin typeface="Helvetica" pitchFamily="34" charset="0"/>
              </a:rPr>
              <a:t>Carry the clothed plate with all the </a:t>
            </a:r>
            <a:br>
              <a:rPr lang="en-AU" sz="2200" dirty="0" smtClean="0">
                <a:latin typeface="Helvetica" pitchFamily="34" charset="0"/>
              </a:rPr>
            </a:br>
            <a:r>
              <a:rPr lang="en-AU" sz="2200" dirty="0" smtClean="0">
                <a:latin typeface="Helvetica" pitchFamily="34" charset="0"/>
              </a:rPr>
              <a:t>required cutlery to the table</a:t>
            </a:r>
          </a:p>
          <a:p>
            <a:pPr lvl="0">
              <a:spcBef>
                <a:spcPts val="600"/>
              </a:spcBef>
              <a:spcAft>
                <a:spcPts val="600"/>
              </a:spcAft>
            </a:pPr>
            <a:r>
              <a:rPr lang="en-AU" sz="2200" dirty="0" smtClean="0">
                <a:latin typeface="Helvetica" pitchFamily="34" charset="0"/>
              </a:rPr>
              <a:t>On arrival at the table, begin adjusting the cutlery by starting at the Number One guest, working clockwise</a:t>
            </a:r>
          </a:p>
          <a:p>
            <a:pPr lvl="0">
              <a:spcBef>
                <a:spcPts val="600"/>
              </a:spcBef>
              <a:spcAft>
                <a:spcPts val="600"/>
              </a:spcAft>
            </a:pPr>
            <a:r>
              <a:rPr lang="en-AU" sz="2200" dirty="0" smtClean="0">
                <a:latin typeface="Helvetica" pitchFamily="34" charset="0"/>
              </a:rPr>
              <a:t>Always handle cutlery by the handles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http://www.buzzle.com/img/articleImages/409104-43524-51.jpg"/>
          <p:cNvPicPr/>
          <p:nvPr/>
        </p:nvPicPr>
        <p:blipFill>
          <a:blip r:embed="rId3" cstate="print"/>
          <a:srcRect/>
          <a:stretch>
            <a:fillRect/>
          </a:stretch>
        </p:blipFill>
        <p:spPr bwMode="auto">
          <a:xfrm>
            <a:off x="6215074" y="3071810"/>
            <a:ext cx="2155438" cy="143850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Liaise with other staff</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600"/>
              </a:spcAft>
              <a:buNone/>
            </a:pPr>
            <a:r>
              <a:rPr lang="en-AU" sz="2200" b="1" dirty="0" smtClean="0">
                <a:latin typeface="Helvetica" pitchFamily="34" charset="0"/>
              </a:rPr>
              <a:t>Liaise with other staff regarding intended service delivery</a:t>
            </a:r>
          </a:p>
          <a:p>
            <a:pPr lvl="0">
              <a:spcBef>
                <a:spcPts val="600"/>
              </a:spcBef>
              <a:spcAft>
                <a:spcPts val="600"/>
              </a:spcAft>
            </a:pPr>
            <a:r>
              <a:rPr lang="en-AU" sz="2200" dirty="0" smtClean="0">
                <a:latin typeface="Helvetica" pitchFamily="34" charset="0"/>
              </a:rPr>
              <a:t>What are common communication topics?</a:t>
            </a:r>
          </a:p>
          <a:p>
            <a:pPr lvl="0">
              <a:spcBef>
                <a:spcPts val="600"/>
              </a:spcBef>
              <a:spcAft>
                <a:spcPts val="600"/>
              </a:spcAft>
            </a:pPr>
            <a:r>
              <a:rPr lang="en-AU" sz="2200" dirty="0" smtClean="0">
                <a:latin typeface="Helvetica" pitchFamily="34" charset="0"/>
              </a:rPr>
              <a:t>Who do you communicate with?</a:t>
            </a:r>
          </a:p>
          <a:p>
            <a:pPr lvl="0">
              <a:spcBef>
                <a:spcPts val="600"/>
              </a:spcBef>
              <a:spcAft>
                <a:spcPts val="600"/>
              </a:spcAft>
            </a:pPr>
            <a:r>
              <a:rPr lang="en-AU" sz="2200" dirty="0" smtClean="0">
                <a:latin typeface="Helvetica" pitchFamily="34" charset="0"/>
              </a:rPr>
              <a:t>How does this communication take place?</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6" name="Picture 5" descr="20.jpg"/>
          <p:cNvPicPr/>
          <p:nvPr/>
        </p:nvPicPr>
        <p:blipFill>
          <a:blip r:embed="rId3" cstate="print"/>
          <a:stretch>
            <a:fillRect/>
          </a:stretch>
        </p:blipFill>
        <p:spPr>
          <a:xfrm>
            <a:off x="6715140" y="2428868"/>
            <a:ext cx="1397155" cy="2118732"/>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5:</a:t>
            </a:r>
          </a:p>
          <a:p>
            <a:pPr marL="0">
              <a:spcBef>
                <a:spcPts val="600"/>
              </a:spcBef>
              <a:spcAft>
                <a:spcPts val="1200"/>
              </a:spcAft>
              <a:buNone/>
            </a:pPr>
            <a:r>
              <a:rPr lang="en-AU" sz="4000" dirty="0" smtClean="0">
                <a:solidFill>
                  <a:srgbClr val="FF6600"/>
                </a:solidFill>
              </a:rPr>
              <a:t>Serve food</a:t>
            </a:r>
            <a:endParaRPr lang="en-AU" sz="2200" dirty="0" smtClean="0">
              <a:solidFill>
                <a:srgbClr val="FF6600"/>
              </a:solidFill>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26626" name="Picture 2" descr="C:\Documents and Settings\danielc\Local Settings\Temporary Internet Files\Content.IE5\XGIII3N1\MC900332101[1].wmf"/>
          <p:cNvPicPr>
            <a:picLocks noChangeAspect="1" noChangeArrowheads="1"/>
          </p:cNvPicPr>
          <p:nvPr/>
        </p:nvPicPr>
        <p:blipFill>
          <a:blip r:embed="rId3" cstate="print"/>
          <a:srcRect/>
          <a:stretch>
            <a:fillRect/>
          </a:stretch>
        </p:blipFill>
        <p:spPr bwMode="auto">
          <a:xfrm>
            <a:off x="3357554" y="3000372"/>
            <a:ext cx="3071834" cy="3020680"/>
          </a:xfrm>
          <a:prstGeom prst="rect">
            <a:avLst/>
          </a:prstGeom>
          <a:noFill/>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Serve food</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Serve bread rolls at table</a:t>
            </a:r>
          </a:p>
          <a:p>
            <a:pPr>
              <a:spcBef>
                <a:spcPts val="600"/>
              </a:spcBef>
              <a:spcAft>
                <a:spcPts val="1200"/>
              </a:spcAft>
            </a:pPr>
            <a:r>
              <a:rPr lang="en-AU" sz="2200" dirty="0" smtClean="0">
                <a:latin typeface="Helvetica" pitchFamily="34" charset="0"/>
              </a:rPr>
              <a:t>Serve dishes as ordered by guests</a:t>
            </a:r>
          </a:p>
          <a:p>
            <a:pPr>
              <a:spcBef>
                <a:spcPts val="600"/>
              </a:spcBef>
              <a:spcAft>
                <a:spcPts val="1200"/>
              </a:spcAft>
            </a:pPr>
            <a:r>
              <a:rPr lang="en-AU" sz="2200" dirty="0" smtClean="0">
                <a:latin typeface="Helvetica" pitchFamily="34" charset="0"/>
              </a:rPr>
              <a:t>Check guest satisfaction as part of service delivery</a:t>
            </a:r>
          </a:p>
          <a:p>
            <a:pPr>
              <a:spcBef>
                <a:spcPts val="600"/>
              </a:spcBef>
              <a:spcAft>
                <a:spcPts val="1200"/>
              </a:spcAft>
            </a:pPr>
            <a:r>
              <a:rPr lang="en-AU" sz="2200" dirty="0" smtClean="0">
                <a:latin typeface="Helvetica" pitchFamily="34" charset="0"/>
              </a:rPr>
              <a:t>Take remedial action in the event of guest dissatisfaction</a:t>
            </a:r>
          </a:p>
          <a:p>
            <a:pPr>
              <a:spcBef>
                <a:spcPts val="600"/>
              </a:spcBef>
              <a:spcAft>
                <a:spcPts val="1200"/>
              </a:spcAft>
            </a:pPr>
            <a:r>
              <a:rPr lang="en-AU" sz="2200" dirty="0" smtClean="0">
                <a:latin typeface="Helvetica" pitchFamily="34" charset="0"/>
              </a:rPr>
              <a:t>Clear table at appropriate times throughout                     meal and on completion of meal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286248"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257174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00958" y="3143248"/>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958400" y="4187838"/>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43504" y="5116532"/>
            <a:ext cx="399154" cy="527046"/>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bread</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Serving bread at start of meal</a:t>
            </a:r>
          </a:p>
          <a:p>
            <a:pPr marL="0">
              <a:spcBef>
                <a:spcPts val="600"/>
              </a:spcBef>
              <a:spcAft>
                <a:spcPts val="1200"/>
              </a:spcAft>
              <a:buNone/>
            </a:pPr>
            <a:r>
              <a:rPr lang="en-AU" sz="2200" dirty="0" smtClean="0">
                <a:latin typeface="Helvetica" pitchFamily="34" charset="0"/>
              </a:rPr>
              <a:t>In most eating experiences in a restaurant, bread is often provided to customers.</a:t>
            </a:r>
          </a:p>
          <a:p>
            <a:pPr>
              <a:spcBef>
                <a:spcPts val="600"/>
              </a:spcBef>
              <a:spcAft>
                <a:spcPts val="1200"/>
              </a:spcAft>
            </a:pPr>
            <a:r>
              <a:rPr lang="en-AU" sz="2200" dirty="0" smtClean="0">
                <a:latin typeface="Helvetica" pitchFamily="34" charset="0"/>
              </a:rPr>
              <a:t>What is the purpose of serving bread?</a:t>
            </a:r>
          </a:p>
          <a:p>
            <a:pPr>
              <a:spcBef>
                <a:spcPts val="600"/>
              </a:spcBef>
              <a:spcAft>
                <a:spcPts val="1200"/>
              </a:spcAft>
            </a:pPr>
            <a:r>
              <a:rPr lang="en-AU" sz="2200" dirty="0" smtClean="0">
                <a:latin typeface="Helvetica" pitchFamily="34" charset="0"/>
              </a:rPr>
              <a:t>What formats are they served?</a:t>
            </a:r>
          </a:p>
          <a:p>
            <a:pPr>
              <a:spcBef>
                <a:spcPts val="600"/>
              </a:spcBef>
              <a:spcAft>
                <a:spcPts val="1200"/>
              </a:spcAft>
            </a:pPr>
            <a:r>
              <a:rPr lang="en-AU" sz="2200" dirty="0" smtClean="0">
                <a:latin typeface="Helvetica" pitchFamily="34" charset="0"/>
              </a:rPr>
              <a:t>How are they served?</a:t>
            </a:r>
          </a:p>
          <a:p>
            <a:pPr>
              <a:spcBef>
                <a:spcPts val="600"/>
              </a:spcBef>
              <a:spcAft>
                <a:spcPts val="1200"/>
              </a:spcAft>
            </a:pPr>
            <a:r>
              <a:rPr lang="en-AU" sz="2200" dirty="0" smtClean="0">
                <a:latin typeface="Helvetica" pitchFamily="34" charset="0"/>
              </a:rPr>
              <a:t>What else is commonly served as an alternative?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7" name="Picture 6" descr="1635803608_db5c9c08cb_m.jpg"/>
          <p:cNvPicPr>
            <a:picLocks noChangeAspect="1"/>
          </p:cNvPicPr>
          <p:nvPr/>
        </p:nvPicPr>
        <p:blipFill>
          <a:blip r:embed="rId3" cstate="print"/>
          <a:stretch>
            <a:fillRect/>
          </a:stretch>
        </p:blipFill>
        <p:spPr>
          <a:xfrm>
            <a:off x="6215074" y="2928934"/>
            <a:ext cx="2093952" cy="1570464"/>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bread</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Alternatives to serving bread</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Nuts </a:t>
            </a:r>
          </a:p>
          <a:p>
            <a:pPr lvl="0">
              <a:spcBef>
                <a:spcPts val="600"/>
              </a:spcBef>
              <a:spcAft>
                <a:spcPts val="1200"/>
              </a:spcAft>
            </a:pPr>
            <a:r>
              <a:rPr lang="en-AU" sz="2200" dirty="0" smtClean="0">
                <a:latin typeface="Helvetica" pitchFamily="34" charset="0"/>
              </a:rPr>
              <a:t>Chips</a:t>
            </a:r>
          </a:p>
          <a:p>
            <a:pPr lvl="0">
              <a:spcBef>
                <a:spcPts val="600"/>
              </a:spcBef>
              <a:spcAft>
                <a:spcPts val="1200"/>
              </a:spcAft>
            </a:pPr>
            <a:r>
              <a:rPr lang="en-AU" sz="2200" dirty="0" smtClean="0">
                <a:latin typeface="Helvetica" pitchFamily="34" charset="0"/>
              </a:rPr>
              <a:t>Vegetable sticks (crudités) and dip</a:t>
            </a:r>
          </a:p>
          <a:p>
            <a:pPr lvl="0">
              <a:spcBef>
                <a:spcPts val="600"/>
              </a:spcBef>
              <a:spcAft>
                <a:spcPts val="1200"/>
              </a:spcAft>
            </a:pPr>
            <a:r>
              <a:rPr lang="en-AU" sz="2200" dirty="0" smtClean="0">
                <a:latin typeface="Helvetica" pitchFamily="34" charset="0"/>
              </a:rPr>
              <a:t>Corn chips and salsa</a:t>
            </a:r>
          </a:p>
          <a:p>
            <a:pPr lvl="0">
              <a:spcBef>
                <a:spcPts val="600"/>
              </a:spcBef>
              <a:spcAft>
                <a:spcPts val="1200"/>
              </a:spcAft>
            </a:pPr>
            <a:r>
              <a:rPr lang="en-AU" sz="2200" dirty="0" smtClean="0">
                <a:latin typeface="Helvetica" pitchFamily="34" charset="0"/>
              </a:rPr>
              <a:t>Soup tasters</a:t>
            </a:r>
          </a:p>
          <a:p>
            <a:pPr lvl="0">
              <a:spcBef>
                <a:spcPts val="600"/>
              </a:spcBef>
              <a:spcAft>
                <a:spcPts val="1200"/>
              </a:spcAft>
            </a:pPr>
            <a:r>
              <a:rPr lang="en-AU" sz="2200" dirty="0" smtClean="0">
                <a:latin typeface="Helvetica" pitchFamily="34" charset="0"/>
              </a:rPr>
              <a:t>Sorbet – to clean the palate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3739580735_4fbb338d06_m.jpg"/>
          <p:cNvPicPr/>
          <p:nvPr/>
        </p:nvPicPr>
        <p:blipFill>
          <a:blip r:embed="rId3" cstate="print"/>
          <a:stretch>
            <a:fillRect/>
          </a:stretch>
        </p:blipFill>
        <p:spPr>
          <a:xfrm>
            <a:off x="6000760" y="2714619"/>
            <a:ext cx="2195315" cy="1643939"/>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Collect food selections</a:t>
            </a:r>
          </a:p>
          <a:p>
            <a:pPr marL="342900" indent="-342900">
              <a:spcBef>
                <a:spcPts val="600"/>
              </a:spcBef>
              <a:spcAft>
                <a:spcPts val="1200"/>
              </a:spcAft>
              <a:buNone/>
            </a:pPr>
            <a:r>
              <a:rPr lang="en-US" altLang="zh-CN" sz="2200" dirty="0" smtClean="0">
                <a:latin typeface="Helvetica" pitchFamily="34" charset="0"/>
                <a:ea typeface="宋体" pitchFamily="2" charset="-122"/>
              </a:rPr>
              <a:t>When collecting </a:t>
            </a:r>
            <a:r>
              <a:rPr lang="en-US" altLang="zh-CN" sz="2200" u="sng" dirty="0" smtClean="0">
                <a:latin typeface="Helvetica" pitchFamily="34" charset="0"/>
                <a:ea typeface="宋体" pitchFamily="2" charset="-122"/>
              </a:rPr>
              <a:t>food</a:t>
            </a:r>
            <a:r>
              <a:rPr lang="en-US" altLang="zh-CN" sz="2200" dirty="0" smtClean="0">
                <a:latin typeface="Helvetica" pitchFamily="34" charset="0"/>
                <a:ea typeface="宋体" pitchFamily="2" charset="-122"/>
              </a:rPr>
              <a:t> ensure: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food</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temperature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requests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Clean plate</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Service cutlery</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Garnishes and condiments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Correct side dishes</a:t>
            </a:r>
          </a:p>
          <a:p>
            <a:pPr marL="342900" indent="-342900">
              <a:lnSpc>
                <a:spcPct val="90000"/>
              </a:lnSpc>
              <a:spcBef>
                <a:spcPts val="600"/>
              </a:spcBef>
              <a:spcAft>
                <a:spcPts val="600"/>
              </a:spcAft>
            </a:pPr>
            <a:r>
              <a:rPr lang="en-US" altLang="zh-CN" sz="2200" dirty="0" smtClean="0">
                <a:latin typeface="Helvetica" pitchFamily="34" charset="0"/>
                <a:ea typeface="宋体" pitchFamily="2" charset="-122"/>
              </a:rPr>
              <a:t>All meals to the table are taken at the same time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6" name="Picture 5" descr="DSC02667.JPG"/>
          <p:cNvPicPr/>
          <p:nvPr/>
        </p:nvPicPr>
        <p:blipFill>
          <a:blip r:embed="rId3" cstate="print"/>
          <a:stretch>
            <a:fillRect/>
          </a:stretch>
        </p:blipFill>
        <p:spPr>
          <a:xfrm>
            <a:off x="5929322" y="2857496"/>
            <a:ext cx="2451095" cy="1832223"/>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food and beverage items</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Serving Food</a:t>
            </a:r>
          </a:p>
          <a:p>
            <a:pPr marL="342900" indent="-342900">
              <a:spcBef>
                <a:spcPts val="600"/>
              </a:spcBef>
              <a:spcAft>
                <a:spcPts val="1200"/>
              </a:spcAft>
            </a:pPr>
            <a:r>
              <a:rPr lang="en-US" altLang="zh-CN" sz="2200" dirty="0" smtClean="0">
                <a:latin typeface="Helvetica" pitchFamily="34" charset="0"/>
                <a:ea typeface="宋体" pitchFamily="2" charset="-122"/>
              </a:rPr>
              <a:t>Use 2 plate or 3 plate method</a:t>
            </a:r>
          </a:p>
          <a:p>
            <a:pPr marL="0" indent="0">
              <a:spcBef>
                <a:spcPts val="600"/>
              </a:spcBef>
              <a:spcAft>
                <a:spcPts val="1200"/>
              </a:spcAft>
            </a:pPr>
            <a:r>
              <a:rPr lang="en-US" altLang="zh-CN" sz="2200" dirty="0" smtClean="0">
                <a:latin typeface="Helvetica" pitchFamily="34" charset="0"/>
                <a:ea typeface="宋体" pitchFamily="2" charset="-122"/>
              </a:rPr>
              <a:t>  Serve the meal from the right</a:t>
            </a:r>
          </a:p>
          <a:p>
            <a:pPr marL="0" indent="0">
              <a:spcBef>
                <a:spcPts val="600"/>
              </a:spcBef>
              <a:spcAft>
                <a:spcPts val="1200"/>
              </a:spcAft>
            </a:pPr>
            <a:r>
              <a:rPr lang="en-US" altLang="zh-CN" sz="2200" dirty="0" smtClean="0">
                <a:latin typeface="Helvetica" pitchFamily="34" charset="0"/>
                <a:ea typeface="宋体" pitchFamily="2" charset="-122"/>
              </a:rPr>
              <a:t>  Serve ladies first or direction</a:t>
            </a:r>
          </a:p>
          <a:p>
            <a:pPr marL="0" indent="0">
              <a:spcBef>
                <a:spcPts val="600"/>
              </a:spcBef>
              <a:spcAft>
                <a:spcPts val="1200"/>
              </a:spcAft>
            </a:pPr>
            <a:r>
              <a:rPr lang="en-US" altLang="zh-CN" sz="2200" dirty="0" smtClean="0">
                <a:latin typeface="Helvetica" pitchFamily="34" charset="0"/>
                <a:ea typeface="宋体" pitchFamily="2" charset="-122"/>
              </a:rPr>
              <a:t>  Place the meat at 6 o’clock</a:t>
            </a:r>
          </a:p>
          <a:p>
            <a:pPr marL="0" indent="0">
              <a:spcBef>
                <a:spcPts val="600"/>
              </a:spcBef>
              <a:spcAft>
                <a:spcPts val="1200"/>
              </a:spcAft>
            </a:pPr>
            <a:r>
              <a:rPr lang="en-US" altLang="zh-CN" sz="2200" dirty="0" smtClean="0">
                <a:latin typeface="Helvetica" pitchFamily="34" charset="0"/>
                <a:ea typeface="宋体" pitchFamily="2" charset="-122"/>
              </a:rPr>
              <a:t>  Repeat order when presenting</a:t>
            </a:r>
          </a:p>
          <a:p>
            <a:pPr marL="0" indent="0">
              <a:spcBef>
                <a:spcPts val="600"/>
              </a:spcBef>
              <a:spcAft>
                <a:spcPts val="1200"/>
              </a:spcAft>
            </a:pPr>
            <a:r>
              <a:rPr lang="en-US" altLang="zh-CN" sz="2200" dirty="0" smtClean="0">
                <a:latin typeface="Helvetica" pitchFamily="34" charset="0"/>
                <a:ea typeface="宋体" pitchFamily="2" charset="-122"/>
              </a:rPr>
              <a:t>  Ensure correct cutlery</a:t>
            </a:r>
          </a:p>
          <a:p>
            <a:pPr marL="0" indent="0">
              <a:spcBef>
                <a:spcPts val="600"/>
              </a:spcBef>
              <a:spcAft>
                <a:spcPts val="1200"/>
              </a:spcAft>
            </a:pPr>
            <a:r>
              <a:rPr lang="en-US" altLang="zh-CN" sz="2200" dirty="0" smtClean="0">
                <a:latin typeface="Helvetica" pitchFamily="34" charset="0"/>
                <a:ea typeface="宋体" pitchFamily="2" charset="-122"/>
              </a:rPr>
              <a:t>  Ensure correct condiments</a:t>
            </a:r>
          </a:p>
          <a:p>
            <a:pPr marL="536575" lvl="1" indent="-266700">
              <a:buFontTx/>
              <a:buNone/>
            </a:pPr>
            <a:endParaRPr lang="en-US" altLang="zh-CN" sz="1800" dirty="0" smtClean="0">
              <a:ea typeface="宋体" pitchFamily="2" charset="-122"/>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8" name="Picture 7" descr="shutterstock_100068119.jpg"/>
          <p:cNvPicPr>
            <a:picLocks noChangeAspect="1"/>
          </p:cNvPicPr>
          <p:nvPr/>
        </p:nvPicPr>
        <p:blipFill>
          <a:blip r:embed="rId3" cstate="print"/>
          <a:stretch>
            <a:fillRect/>
          </a:stretch>
        </p:blipFill>
        <p:spPr>
          <a:xfrm>
            <a:off x="6286512" y="2500306"/>
            <a:ext cx="1592572" cy="2387664"/>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Checking guest satisfaction</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Check Customer Satisfaction</a:t>
            </a:r>
            <a:endParaRPr lang="en-US" altLang="zh-CN" sz="2200" b="1" i="1" dirty="0" smtClean="0">
              <a:latin typeface="Helvetica" pitchFamily="34" charset="0"/>
              <a:ea typeface="宋体" pitchFamily="2" charset="-122"/>
            </a:endParaRPr>
          </a:p>
          <a:p>
            <a:pPr marL="342900" indent="-342900">
              <a:spcBef>
                <a:spcPts val="600"/>
              </a:spcBef>
              <a:spcAft>
                <a:spcPts val="1200"/>
              </a:spcAft>
              <a:buNone/>
            </a:pPr>
            <a:r>
              <a:rPr lang="en-US" altLang="zh-CN" sz="2200" u="sng" dirty="0" smtClean="0">
                <a:latin typeface="Helvetica" pitchFamily="34" charset="0"/>
                <a:ea typeface="宋体" pitchFamily="2" charset="-122"/>
              </a:rPr>
              <a:t>Conduct ‘The 3 minute check’</a:t>
            </a:r>
          </a:p>
          <a:p>
            <a:pPr marL="342900" indent="-342900">
              <a:spcBef>
                <a:spcPts val="600"/>
              </a:spcBef>
              <a:spcAft>
                <a:spcPts val="1200"/>
              </a:spcAft>
            </a:pPr>
            <a:r>
              <a:rPr lang="en-US" altLang="zh-CN" sz="2200" dirty="0" smtClean="0">
                <a:latin typeface="Helvetica" pitchFamily="34" charset="0"/>
                <a:ea typeface="宋体" pitchFamily="2" charset="-122"/>
              </a:rPr>
              <a:t>Ensure meals are alright</a:t>
            </a:r>
          </a:p>
          <a:p>
            <a:pPr marL="342900" indent="-342900">
              <a:spcBef>
                <a:spcPts val="600"/>
              </a:spcBef>
              <a:spcAft>
                <a:spcPts val="1200"/>
              </a:spcAft>
            </a:pPr>
            <a:r>
              <a:rPr lang="en-US" altLang="zh-CN" sz="2200" dirty="0" smtClean="0">
                <a:latin typeface="Helvetica" pitchFamily="34" charset="0"/>
                <a:ea typeface="宋体" pitchFamily="2" charset="-122"/>
              </a:rPr>
              <a:t>Replenish condiments</a:t>
            </a:r>
          </a:p>
          <a:p>
            <a:pPr marL="342900" indent="-342900">
              <a:spcBef>
                <a:spcPts val="600"/>
              </a:spcBef>
              <a:spcAft>
                <a:spcPts val="1200"/>
              </a:spcAft>
            </a:pPr>
            <a:r>
              <a:rPr lang="en-US" altLang="zh-CN" sz="2200" dirty="0" smtClean="0">
                <a:latin typeface="Helvetica" pitchFamily="34" charset="0"/>
                <a:ea typeface="宋体" pitchFamily="2" charset="-122"/>
              </a:rPr>
              <a:t>Providing additional items</a:t>
            </a:r>
          </a:p>
          <a:p>
            <a:pPr marL="342900" indent="-342900">
              <a:spcBef>
                <a:spcPts val="600"/>
              </a:spcBef>
              <a:spcAft>
                <a:spcPts val="1200"/>
              </a:spcAft>
            </a:pPr>
            <a:r>
              <a:rPr lang="en-US" altLang="zh-CN" sz="2200" dirty="0" smtClean="0">
                <a:latin typeface="Helvetica" pitchFamily="34" charset="0"/>
                <a:ea typeface="宋体" pitchFamily="2" charset="-122"/>
              </a:rPr>
              <a:t>Clear unused items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7" name="Picture 6" descr="F&amp;B-0019"/>
          <p:cNvPicPr/>
          <p:nvPr/>
        </p:nvPicPr>
        <p:blipFill>
          <a:blip r:embed="rId3" cstate="print"/>
          <a:srcRect/>
          <a:stretch>
            <a:fillRect/>
          </a:stretch>
        </p:blipFill>
        <p:spPr bwMode="auto">
          <a:xfrm>
            <a:off x="5929322" y="2143116"/>
            <a:ext cx="1859055" cy="2457424"/>
          </a:xfrm>
          <a:prstGeom prst="rect">
            <a:avLst/>
          </a:prstGeom>
          <a:noFill/>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Checking guest satisfaction</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Offer additional food and beverage</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Re-order drinks</a:t>
            </a:r>
          </a:p>
          <a:p>
            <a:pPr marL="342900" indent="-342900">
              <a:spcBef>
                <a:spcPts val="600"/>
              </a:spcBef>
              <a:spcAft>
                <a:spcPts val="1200"/>
              </a:spcAft>
            </a:pPr>
            <a:r>
              <a:rPr lang="en-US" altLang="zh-CN" sz="2200" dirty="0" smtClean="0">
                <a:latin typeface="Helvetica" pitchFamily="34" charset="0"/>
                <a:ea typeface="宋体" pitchFamily="2" charset="-122"/>
              </a:rPr>
              <a:t>Additional items</a:t>
            </a:r>
          </a:p>
          <a:p>
            <a:pPr marL="342900" indent="-342900">
              <a:spcBef>
                <a:spcPts val="600"/>
              </a:spcBef>
              <a:spcAft>
                <a:spcPts val="1200"/>
              </a:spcAft>
            </a:pPr>
            <a:r>
              <a:rPr lang="en-US" altLang="zh-CN" sz="2200" dirty="0" smtClean="0">
                <a:latin typeface="Helvetica" pitchFamily="34" charset="0"/>
                <a:ea typeface="宋体" pitchFamily="2" charset="-122"/>
              </a:rPr>
              <a:t>Give ideas of next course</a:t>
            </a:r>
          </a:p>
          <a:p>
            <a:pPr marL="342900" indent="-342900">
              <a:spcBef>
                <a:spcPts val="600"/>
              </a:spcBef>
              <a:spcAft>
                <a:spcPts val="1200"/>
              </a:spcAft>
            </a:pPr>
            <a:r>
              <a:rPr lang="en-US" altLang="zh-CN" sz="2200" dirty="0" smtClean="0">
                <a:latin typeface="Helvetica" pitchFamily="34" charset="0"/>
                <a:ea typeface="宋体" pitchFamily="2" charset="-122"/>
              </a:rPr>
              <a:t>More cutlery/crockery</a:t>
            </a:r>
          </a:p>
          <a:p>
            <a:pPr marL="342900" indent="-342900">
              <a:spcBef>
                <a:spcPts val="600"/>
              </a:spcBef>
              <a:spcAft>
                <a:spcPts val="1200"/>
              </a:spcAft>
            </a:pPr>
            <a:r>
              <a:rPr lang="en-US" altLang="zh-CN" sz="2200" dirty="0" smtClean="0">
                <a:latin typeface="Helvetica" pitchFamily="34" charset="0"/>
                <a:ea typeface="宋体" pitchFamily="2" charset="-122"/>
              </a:rPr>
              <a:t>More condiments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8" name="Picture 4" descr="Event 25"/>
          <p:cNvPicPr>
            <a:picLocks noChangeAspect="1" noChangeArrowheads="1"/>
          </p:cNvPicPr>
          <p:nvPr/>
        </p:nvPicPr>
        <p:blipFill>
          <a:blip r:embed="rId3" cstate="print"/>
          <a:srcRect/>
          <a:stretch>
            <a:fillRect/>
          </a:stretch>
        </p:blipFill>
        <p:spPr bwMode="auto">
          <a:xfrm>
            <a:off x="5572132" y="2714620"/>
            <a:ext cx="2571768" cy="1928826"/>
          </a:xfrm>
          <a:prstGeom prst="rect">
            <a:avLst/>
          </a:prstGeom>
          <a:noFill/>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Checking guest satisfaction</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Offer additional food and beverage</a:t>
            </a:r>
            <a:endParaRPr lang="en-US" altLang="zh-CN" sz="2200" b="1" i="1" dirty="0" smtClean="0">
              <a:latin typeface="Helvetica" pitchFamily="34" charset="0"/>
              <a:ea typeface="宋体" pitchFamily="2" charset="-122"/>
            </a:endParaRPr>
          </a:p>
          <a:p>
            <a:pPr marL="0">
              <a:spcBef>
                <a:spcPts val="600"/>
              </a:spcBef>
              <a:spcAft>
                <a:spcPts val="1200"/>
              </a:spcAft>
              <a:buNone/>
            </a:pPr>
            <a:r>
              <a:rPr lang="en-AU" sz="2200" dirty="0" smtClean="0">
                <a:latin typeface="Helvetica" pitchFamily="34" charset="0"/>
              </a:rPr>
              <a:t>Additional items should be offered at appropriate times such as:</a:t>
            </a:r>
          </a:p>
          <a:p>
            <a:pPr lvl="0">
              <a:spcBef>
                <a:spcPts val="600"/>
              </a:spcBef>
              <a:spcAft>
                <a:spcPts val="1200"/>
              </a:spcAft>
            </a:pPr>
            <a:r>
              <a:rPr lang="en-AU" sz="2200" dirty="0" smtClean="0">
                <a:latin typeface="Helvetica" pitchFamily="34" charset="0"/>
              </a:rPr>
              <a:t>The three-minute check </a:t>
            </a:r>
          </a:p>
          <a:p>
            <a:pPr lvl="0">
              <a:spcBef>
                <a:spcPts val="600"/>
              </a:spcBef>
              <a:spcAft>
                <a:spcPts val="1200"/>
              </a:spcAft>
            </a:pPr>
            <a:r>
              <a:rPr lang="en-AU" sz="2200" dirty="0" smtClean="0">
                <a:latin typeface="Helvetica" pitchFamily="34" charset="0"/>
              </a:rPr>
              <a:t>When glasses are nearly empty </a:t>
            </a:r>
          </a:p>
          <a:p>
            <a:pPr lvl="0">
              <a:spcBef>
                <a:spcPts val="600"/>
              </a:spcBef>
              <a:spcAft>
                <a:spcPts val="1200"/>
              </a:spcAft>
            </a:pPr>
            <a:r>
              <a:rPr lang="en-AU" sz="2200" dirty="0" smtClean="0">
                <a:latin typeface="Helvetica" pitchFamily="34" charset="0"/>
              </a:rPr>
              <a:t>When bottles are nearly empty</a:t>
            </a:r>
          </a:p>
          <a:p>
            <a:pPr lvl="0">
              <a:spcBef>
                <a:spcPts val="600"/>
              </a:spcBef>
              <a:spcAft>
                <a:spcPts val="1200"/>
              </a:spcAft>
            </a:pPr>
            <a:r>
              <a:rPr lang="en-AU" sz="2200" dirty="0" smtClean="0">
                <a:latin typeface="Helvetica" pitchFamily="34" charset="0"/>
              </a:rPr>
              <a:t>When most bread or rolls on the table have all been consumed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27650" name="Picture 2" descr="C:\Documents and Settings\danielc\Local Settings\Temporary Internet Files\Content.IE5\Y88G682L\MC900331700[1].wmf"/>
          <p:cNvPicPr>
            <a:picLocks noChangeAspect="1" noChangeArrowheads="1"/>
          </p:cNvPicPr>
          <p:nvPr/>
        </p:nvPicPr>
        <p:blipFill>
          <a:blip r:embed="rId3" cstate="print"/>
          <a:srcRect/>
          <a:stretch>
            <a:fillRect/>
          </a:stretch>
        </p:blipFill>
        <p:spPr bwMode="auto">
          <a:xfrm>
            <a:off x="6143636" y="2857496"/>
            <a:ext cx="1794095" cy="1527018"/>
          </a:xfrm>
          <a:prstGeom prst="rect">
            <a:avLst/>
          </a:prstGeom>
          <a:noFill/>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Take remedial action</a:t>
            </a:r>
          </a:p>
        </p:txBody>
      </p:sp>
      <p:sp>
        <p:nvSpPr>
          <p:cNvPr id="3" name="Content Placeholder 2"/>
          <p:cNvSpPr>
            <a:spLocks noGrp="1"/>
          </p:cNvSpPr>
          <p:nvPr>
            <p:ph idx="1"/>
          </p:nvPr>
        </p:nvSpPr>
        <p:spPr>
          <a:xfrm>
            <a:off x="611560" y="1556792"/>
            <a:ext cx="7467600" cy="5301208"/>
          </a:xfrm>
        </p:spPr>
        <p:txBody>
          <a:bodyPr>
            <a:normAutofit/>
          </a:bodyPr>
          <a:lstStyle/>
          <a:p>
            <a:pPr marL="0" indent="-342900">
              <a:spcBef>
                <a:spcPts val="600"/>
              </a:spcBef>
              <a:spcAft>
                <a:spcPts val="1200"/>
              </a:spcAft>
              <a:buNone/>
            </a:pPr>
            <a:r>
              <a:rPr lang="en-AU" sz="2200" b="1" dirty="0" smtClean="0">
                <a:latin typeface="Helvetica" pitchFamily="34" charset="0"/>
              </a:rPr>
              <a:t>Take remedial action in the event of guest dissatisfaction</a:t>
            </a:r>
          </a:p>
          <a:p>
            <a:pPr marL="0">
              <a:spcBef>
                <a:spcPts val="600"/>
              </a:spcBef>
              <a:spcAft>
                <a:spcPts val="1200"/>
              </a:spcAft>
              <a:buNone/>
            </a:pPr>
            <a:r>
              <a:rPr lang="en-AU" sz="2200" dirty="0" smtClean="0">
                <a:latin typeface="Helvetica" pitchFamily="34" charset="0"/>
              </a:rPr>
              <a:t>Whilst most customers will be happy, naturally some customers will have a problem with their food or beverage item.</a:t>
            </a:r>
          </a:p>
          <a:p>
            <a:pPr>
              <a:spcBef>
                <a:spcPts val="600"/>
              </a:spcBef>
              <a:spcAft>
                <a:spcPts val="1200"/>
              </a:spcAft>
            </a:pPr>
            <a:r>
              <a:rPr lang="en-AU" sz="2200" dirty="0" smtClean="0">
                <a:latin typeface="Helvetica" pitchFamily="34" charset="0"/>
              </a:rPr>
              <a:t>What do you do?</a:t>
            </a:r>
          </a:p>
          <a:p>
            <a:pPr>
              <a:spcBef>
                <a:spcPts val="600"/>
              </a:spcBef>
              <a:spcAft>
                <a:spcPts val="1200"/>
              </a:spcAft>
            </a:pPr>
            <a:r>
              <a:rPr lang="en-AU" sz="2200" dirty="0" smtClean="0">
                <a:latin typeface="Helvetica" pitchFamily="34" charset="0"/>
              </a:rPr>
              <a:t>What options are available to you?</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7" name="Picture 6" descr="6682407197_9d6b093522_m.jpg"/>
          <p:cNvPicPr>
            <a:picLocks noChangeAspect="1"/>
          </p:cNvPicPr>
          <p:nvPr/>
        </p:nvPicPr>
        <p:blipFill>
          <a:blip r:embed="rId3" cstate="print"/>
          <a:stretch>
            <a:fillRect/>
          </a:stretch>
        </p:blipFill>
        <p:spPr>
          <a:xfrm>
            <a:off x="6143636" y="3571876"/>
            <a:ext cx="2172072" cy="1629054"/>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Take remedial action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Offer alternatives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Replace meal quickly</a:t>
            </a:r>
          </a:p>
          <a:p>
            <a:pPr lvl="0">
              <a:spcBef>
                <a:spcPts val="600"/>
              </a:spcBef>
              <a:spcAft>
                <a:spcPts val="1200"/>
              </a:spcAft>
            </a:pPr>
            <a:r>
              <a:rPr lang="en-AU" sz="2200" dirty="0" smtClean="0">
                <a:latin typeface="Helvetica" pitchFamily="34" charset="0"/>
              </a:rPr>
              <a:t>Allowing them to take some items from the buffet whilst they are waiting</a:t>
            </a:r>
          </a:p>
          <a:p>
            <a:pPr lvl="0">
              <a:spcBef>
                <a:spcPts val="600"/>
              </a:spcBef>
              <a:spcAft>
                <a:spcPts val="1200"/>
              </a:spcAft>
            </a:pPr>
            <a:r>
              <a:rPr lang="en-AU" sz="2200" dirty="0" smtClean="0">
                <a:latin typeface="Helvetica" pitchFamily="34" charset="0"/>
              </a:rPr>
              <a:t>Providing a plate of snacks including rice, </a:t>
            </a:r>
            <a:br>
              <a:rPr lang="en-AU" sz="2200" dirty="0" smtClean="0">
                <a:latin typeface="Helvetica" pitchFamily="34" charset="0"/>
              </a:rPr>
            </a:br>
            <a:r>
              <a:rPr lang="en-AU" sz="2200" dirty="0" smtClean="0">
                <a:latin typeface="Helvetica" pitchFamily="34" charset="0"/>
              </a:rPr>
              <a:t>salad, bread or fries</a:t>
            </a:r>
          </a:p>
          <a:p>
            <a:pPr lvl="0">
              <a:spcBef>
                <a:spcPts val="600"/>
              </a:spcBef>
              <a:spcAft>
                <a:spcPts val="1200"/>
              </a:spcAft>
            </a:pPr>
            <a:r>
              <a:rPr lang="en-AU" sz="2200" dirty="0" smtClean="0">
                <a:latin typeface="Helvetica" pitchFamily="34" charset="0"/>
              </a:rPr>
              <a:t>Suggesting fast cook items to that a dish will be ready when others are also eating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6" name="Picture 5" descr="8181240905_7a178cdc0d_m.jpg"/>
          <p:cNvPicPr/>
          <p:nvPr/>
        </p:nvPicPr>
        <p:blipFill>
          <a:blip r:embed="rId3" cstate="print"/>
          <a:stretch>
            <a:fillRect/>
          </a:stretch>
        </p:blipFill>
        <p:spPr>
          <a:xfrm>
            <a:off x="6715140" y="3286124"/>
            <a:ext cx="1595755" cy="1057275"/>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Clear Tables</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i="1" dirty="0" smtClean="0">
                <a:latin typeface="Helvetica" pitchFamily="34" charset="0"/>
                <a:ea typeface="宋体" pitchFamily="2" charset="-122"/>
              </a:rPr>
              <a:t>What is the sign that a guest has finished their meal?</a:t>
            </a:r>
          </a:p>
          <a:p>
            <a:pPr marL="342900" indent="-342900">
              <a:spcBef>
                <a:spcPts val="600"/>
              </a:spcBef>
              <a:spcAft>
                <a:spcPts val="1200"/>
              </a:spcAft>
            </a:pPr>
            <a:r>
              <a:rPr lang="en-US" altLang="zh-CN" sz="2200" dirty="0" smtClean="0">
                <a:latin typeface="Helvetica" pitchFamily="34" charset="0"/>
                <a:ea typeface="宋体" pitchFamily="2" charset="-122"/>
              </a:rPr>
              <a:t>Before clearing, ask if they have finished</a:t>
            </a:r>
          </a:p>
          <a:p>
            <a:pPr marL="342900" indent="-342900">
              <a:spcBef>
                <a:spcPts val="600"/>
              </a:spcBef>
              <a:spcAft>
                <a:spcPts val="1200"/>
              </a:spcAft>
            </a:pPr>
            <a:r>
              <a:rPr lang="en-US" altLang="zh-CN" sz="2200" dirty="0" smtClean="0">
                <a:latin typeface="Helvetica" pitchFamily="34" charset="0"/>
                <a:ea typeface="宋体" pitchFamily="2" charset="-122"/>
              </a:rPr>
              <a:t>Clear the table together</a:t>
            </a:r>
          </a:p>
          <a:p>
            <a:pPr marL="342900" indent="-342900">
              <a:spcBef>
                <a:spcPts val="600"/>
              </a:spcBef>
              <a:spcAft>
                <a:spcPts val="1200"/>
              </a:spcAft>
            </a:pPr>
            <a:r>
              <a:rPr lang="en-US" altLang="zh-CN" sz="2200" dirty="0" smtClean="0">
                <a:latin typeface="Helvetica" pitchFamily="34" charset="0"/>
                <a:ea typeface="宋体" pitchFamily="2" charset="-122"/>
              </a:rPr>
              <a:t>Remove any unused items</a:t>
            </a:r>
          </a:p>
          <a:p>
            <a:pPr marL="342900" indent="-342900">
              <a:spcBef>
                <a:spcPts val="600"/>
              </a:spcBef>
              <a:spcAft>
                <a:spcPts val="1200"/>
              </a:spcAft>
            </a:pPr>
            <a:r>
              <a:rPr lang="en-US" altLang="zh-CN" sz="2200" i="1" dirty="0" smtClean="0">
                <a:latin typeface="Helvetica" pitchFamily="34" charset="0"/>
                <a:ea typeface="宋体" pitchFamily="2" charset="-122"/>
              </a:rPr>
              <a:t>How do you clear plates?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9" name="Picture 8" descr="dirty-dish.jpg"/>
          <p:cNvPicPr>
            <a:picLocks noChangeAspect="1"/>
          </p:cNvPicPr>
          <p:nvPr/>
        </p:nvPicPr>
        <p:blipFill>
          <a:blip r:embed="rId3" cstate="print"/>
          <a:stretch>
            <a:fillRect/>
          </a:stretch>
        </p:blipFill>
        <p:spPr>
          <a:xfrm>
            <a:off x="6500826" y="3214686"/>
            <a:ext cx="1785950" cy="1785950"/>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571472" y="1285860"/>
            <a:ext cx="7467600" cy="5301208"/>
          </a:xfrm>
        </p:spPr>
        <p:txBody>
          <a:bodyPr>
            <a:normAutofit/>
          </a:bodyPr>
          <a:lstStyle/>
          <a:p>
            <a:pPr>
              <a:spcBef>
                <a:spcPts val="600"/>
              </a:spcBef>
              <a:spcAft>
                <a:spcPts val="1200"/>
              </a:spcAft>
              <a:buNone/>
            </a:pPr>
            <a:r>
              <a:rPr lang="en-AU" sz="2100" b="1" dirty="0" smtClean="0">
                <a:latin typeface="Helvetica" pitchFamily="34" charset="0"/>
              </a:rPr>
              <a:t>Steps to clearing a table</a:t>
            </a:r>
            <a:endParaRPr lang="en-AU" sz="2100" dirty="0" smtClean="0">
              <a:latin typeface="Helvetica" pitchFamily="34" charset="0"/>
            </a:endParaRPr>
          </a:p>
          <a:p>
            <a:pPr marL="0" indent="0">
              <a:spcBef>
                <a:spcPts val="600"/>
              </a:spcBef>
              <a:spcAft>
                <a:spcPts val="1200"/>
              </a:spcAft>
              <a:buNone/>
            </a:pPr>
            <a:r>
              <a:rPr lang="en-AU" sz="2100" dirty="0" smtClean="0">
                <a:latin typeface="Helvetica" pitchFamily="34" charset="0"/>
              </a:rPr>
              <a:t>The following protocols commonly apply when clearing a table:</a:t>
            </a:r>
          </a:p>
          <a:p>
            <a:pPr lvl="0">
              <a:spcBef>
                <a:spcPts val="600"/>
              </a:spcBef>
              <a:spcAft>
                <a:spcPts val="1200"/>
              </a:spcAft>
            </a:pPr>
            <a:r>
              <a:rPr lang="en-AU" sz="2100" dirty="0" smtClean="0">
                <a:latin typeface="Helvetica" pitchFamily="34" charset="0"/>
              </a:rPr>
              <a:t>Try to start with the guest who has the most scraps left on their plate. This will act as the base plate for clearing</a:t>
            </a:r>
          </a:p>
          <a:p>
            <a:pPr lvl="0">
              <a:spcBef>
                <a:spcPts val="600"/>
              </a:spcBef>
              <a:spcAft>
                <a:spcPts val="1200"/>
              </a:spcAft>
            </a:pPr>
            <a:r>
              <a:rPr lang="en-AU" sz="2100" dirty="0" smtClean="0">
                <a:latin typeface="Helvetica" pitchFamily="34" charset="0"/>
              </a:rPr>
              <a:t>Always clear from the right of the guest – </a:t>
            </a:r>
            <a:br>
              <a:rPr lang="en-AU" sz="2100" dirty="0" smtClean="0">
                <a:latin typeface="Helvetica" pitchFamily="34" charset="0"/>
              </a:rPr>
            </a:br>
            <a:r>
              <a:rPr lang="en-AU" sz="2100" dirty="0" smtClean="0">
                <a:latin typeface="Helvetica" pitchFamily="34" charset="0"/>
              </a:rPr>
              <a:t>the same side that you should have served </a:t>
            </a:r>
            <a:br>
              <a:rPr lang="en-AU" sz="2100" dirty="0" smtClean="0">
                <a:latin typeface="Helvetica" pitchFamily="34" charset="0"/>
              </a:rPr>
            </a:br>
            <a:r>
              <a:rPr lang="en-AU" sz="2100" dirty="0" smtClean="0">
                <a:latin typeface="Helvetica" pitchFamily="34" charset="0"/>
              </a:rPr>
              <a:t>from</a:t>
            </a:r>
          </a:p>
          <a:p>
            <a:pPr lvl="0">
              <a:spcBef>
                <a:spcPts val="600"/>
              </a:spcBef>
              <a:spcAft>
                <a:spcPts val="1200"/>
              </a:spcAft>
            </a:pPr>
            <a:r>
              <a:rPr lang="en-AU" sz="2100" dirty="0" smtClean="0">
                <a:latin typeface="Helvetica" pitchFamily="34" charset="0"/>
              </a:rPr>
              <a:t>Pick up the first plate, complete with cutlery, with your right hand and transfer and secure it in your left hand</a:t>
            </a:r>
          </a:p>
          <a:p>
            <a:pPr lvl="0">
              <a:spcBef>
                <a:spcPts val="600"/>
              </a:spcBef>
              <a:spcAft>
                <a:spcPts val="1200"/>
              </a:spcAft>
            </a:pPr>
            <a:r>
              <a:rPr lang="en-AU" sz="2100" dirty="0" smtClean="0">
                <a:latin typeface="Helvetica" pitchFamily="34" charset="0"/>
              </a:rPr>
              <a:t>Secure the end of the fork handle under your thumb</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descr="shutterstock_84571768.jpg"/>
          <p:cNvPicPr/>
          <p:nvPr/>
        </p:nvPicPr>
        <p:blipFill>
          <a:blip r:embed="rId3" cstate="print"/>
          <a:stretch>
            <a:fillRect/>
          </a:stretch>
        </p:blipFill>
        <p:spPr>
          <a:xfrm>
            <a:off x="6858016" y="3500438"/>
            <a:ext cx="1751553" cy="1172393"/>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 to clearing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Slide the knife, cutting end first, under the fork to secure it and stop it from sliding away</a:t>
            </a:r>
          </a:p>
          <a:p>
            <a:pPr lvl="0">
              <a:spcBef>
                <a:spcPts val="600"/>
              </a:spcBef>
              <a:spcAft>
                <a:spcPts val="1200"/>
              </a:spcAft>
            </a:pPr>
            <a:r>
              <a:rPr lang="en-AU" sz="2200" dirty="0" smtClean="0">
                <a:latin typeface="Helvetica" pitchFamily="34" charset="0"/>
              </a:rPr>
              <a:t>Moving clockwise around the table, clear the next guest’s plate</a:t>
            </a:r>
          </a:p>
          <a:p>
            <a:pPr lvl="0">
              <a:spcBef>
                <a:spcPts val="600"/>
              </a:spcBef>
              <a:spcAft>
                <a:spcPts val="1200"/>
              </a:spcAft>
            </a:pPr>
            <a:r>
              <a:rPr lang="en-AU" sz="2200" dirty="0" smtClean="0">
                <a:latin typeface="Helvetica" pitchFamily="34" charset="0"/>
              </a:rPr>
              <a:t>Secure the second plate into position over the wrist, and scrape any food scraps onto  the base plate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 name="Picture 3" descr="P3191632"/>
          <p:cNvPicPr>
            <a:picLocks noChangeAspect="1" noChangeArrowheads="1"/>
          </p:cNvPicPr>
          <p:nvPr/>
        </p:nvPicPr>
        <p:blipFill>
          <a:blip r:embed="rId3" cstate="print"/>
          <a:srcRect/>
          <a:stretch>
            <a:fillRect/>
          </a:stretch>
        </p:blipFill>
        <p:spPr bwMode="auto">
          <a:xfrm>
            <a:off x="3786182" y="4857760"/>
            <a:ext cx="2018058" cy="1407566"/>
          </a:xfrm>
          <a:prstGeom prst="rect">
            <a:avLst/>
          </a:prstGeom>
          <a:noFill/>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Clearing food and beverage items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 to clearing a table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Secure the knife by sliding it under the securing fork</a:t>
            </a:r>
          </a:p>
          <a:p>
            <a:pPr lvl="0">
              <a:spcBef>
                <a:spcPts val="600"/>
              </a:spcBef>
              <a:spcAft>
                <a:spcPts val="1200"/>
              </a:spcAft>
            </a:pPr>
            <a:r>
              <a:rPr lang="en-AU" sz="2200" dirty="0" smtClean="0">
                <a:latin typeface="Helvetica" pitchFamily="34" charset="0"/>
              </a:rPr>
              <a:t>Place the second fork parallel to the securing fork</a:t>
            </a:r>
          </a:p>
          <a:p>
            <a:pPr lvl="0">
              <a:spcBef>
                <a:spcPts val="600"/>
              </a:spcBef>
              <a:spcAft>
                <a:spcPts val="1200"/>
              </a:spcAft>
            </a:pPr>
            <a:r>
              <a:rPr lang="en-AU" sz="2200" dirty="0" smtClean="0">
                <a:latin typeface="Helvetica" pitchFamily="34" charset="0"/>
              </a:rPr>
              <a:t>Continue this procedure until all the plates and cutlery are cleared for that particular course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6" name="Picture 3" descr="P3191634"/>
          <p:cNvPicPr>
            <a:picLocks noChangeAspect="1" noChangeArrowheads="1"/>
          </p:cNvPicPr>
          <p:nvPr/>
        </p:nvPicPr>
        <p:blipFill>
          <a:blip r:embed="rId3" cstate="print"/>
          <a:srcRect/>
          <a:stretch>
            <a:fillRect/>
          </a:stretch>
        </p:blipFill>
        <p:spPr bwMode="auto">
          <a:xfrm>
            <a:off x="3714744" y="4429132"/>
            <a:ext cx="2327532" cy="1745649"/>
          </a:xfrm>
          <a:prstGeom prst="rect">
            <a:avLst/>
          </a:prstGeom>
          <a:noFill/>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6:</a:t>
            </a:r>
          </a:p>
          <a:p>
            <a:pPr marL="0">
              <a:spcBef>
                <a:spcPts val="600"/>
              </a:spcBef>
              <a:spcAft>
                <a:spcPts val="1200"/>
              </a:spcAft>
              <a:buNone/>
            </a:pPr>
            <a:r>
              <a:rPr lang="en-AU" sz="4000" dirty="0" smtClean="0">
                <a:solidFill>
                  <a:srgbClr val="FF6600"/>
                </a:solidFill>
              </a:rPr>
              <a:t>Serve drinks</a:t>
            </a:r>
            <a:endParaRPr lang="en-AU" sz="2400" dirty="0" smtClean="0">
              <a:solidFill>
                <a:srgbClr val="FF6600"/>
              </a:solidFill>
            </a:endParaRP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28674" name="Picture 2" descr="C:\Documents and Settings\danielc\Local Settings\Temporary Internet Files\Content.IE5\112MAXTI\MP900423012[1].jpg"/>
          <p:cNvPicPr>
            <a:picLocks noChangeAspect="1" noChangeArrowheads="1"/>
          </p:cNvPicPr>
          <p:nvPr/>
        </p:nvPicPr>
        <p:blipFill>
          <a:blip r:embed="rId3" cstate="print"/>
          <a:srcRect/>
          <a:stretch>
            <a:fillRect/>
          </a:stretch>
        </p:blipFill>
        <p:spPr bwMode="auto">
          <a:xfrm>
            <a:off x="2857488" y="3000372"/>
            <a:ext cx="3071834" cy="2928958"/>
          </a:xfrm>
          <a:prstGeom prst="rect">
            <a:avLst/>
          </a:prstGeom>
          <a:noFill/>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Serve drinks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Serve pre-dinner drinks to table</a:t>
            </a:r>
          </a:p>
          <a:p>
            <a:pPr>
              <a:spcBef>
                <a:spcPts val="600"/>
              </a:spcBef>
              <a:spcAft>
                <a:spcPts val="1200"/>
              </a:spcAft>
            </a:pPr>
            <a:r>
              <a:rPr lang="en-AU" sz="2200" dirty="0" smtClean="0">
                <a:latin typeface="Helvetica" pitchFamily="34" charset="0"/>
              </a:rPr>
              <a:t>Serve wines to table</a:t>
            </a:r>
          </a:p>
          <a:p>
            <a:pPr>
              <a:spcBef>
                <a:spcPts val="600"/>
              </a:spcBef>
              <a:spcAft>
                <a:spcPts val="1200"/>
              </a:spcAft>
            </a:pPr>
            <a:r>
              <a:rPr lang="en-AU" sz="2200" dirty="0" smtClean="0">
                <a:latin typeface="Helvetica" pitchFamily="34" charset="0"/>
              </a:rPr>
              <a:t>Serve after-meal drinks to table</a:t>
            </a:r>
          </a:p>
          <a:p>
            <a:pPr>
              <a:spcBef>
                <a:spcPts val="600"/>
              </a:spcBef>
              <a:spcAft>
                <a:spcPts val="1200"/>
              </a:spcAft>
            </a:pPr>
            <a:r>
              <a:rPr lang="en-AU" sz="2200" dirty="0" smtClean="0">
                <a:latin typeface="Helvetica" pitchFamily="34" charset="0"/>
              </a:rPr>
              <a:t>Coordinate timing of beverage service to                   match courses/menu items being served</a:t>
            </a:r>
          </a:p>
          <a:p>
            <a:pPr>
              <a:spcBef>
                <a:spcPts val="600"/>
              </a:spcBef>
              <a:spcAft>
                <a:spcPts val="1200"/>
              </a:spcAft>
            </a:pPr>
            <a:r>
              <a:rPr lang="en-AU" sz="2200" dirty="0" smtClean="0">
                <a:latin typeface="Helvetica" pitchFamily="34" charset="0"/>
              </a:rPr>
              <a:t>Clear glasses and beverage items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72066"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714744"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72066" y="318770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215074" y="4071942"/>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387292" y="4687904"/>
            <a:ext cx="399154" cy="527046"/>
          </a:xfrm>
          <a:prstGeom prst="rect">
            <a:avLst/>
          </a:prstGeom>
          <a:noFill/>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beverage items</a:t>
            </a:r>
          </a:p>
        </p:txBody>
      </p:sp>
      <p:sp>
        <p:nvSpPr>
          <p:cNvPr id="3" name="Content Placeholder 2"/>
          <p:cNvSpPr>
            <a:spLocks noGrp="1"/>
          </p:cNvSpPr>
          <p:nvPr>
            <p:ph idx="1"/>
          </p:nvPr>
        </p:nvSpPr>
        <p:spPr>
          <a:xfrm>
            <a:off x="611560" y="1556792"/>
            <a:ext cx="7467600" cy="5301208"/>
          </a:xfrm>
        </p:spPr>
        <p:txBody>
          <a:bodyPr>
            <a:normAutofit lnSpcReduction="10000"/>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Collect beverage selections</a:t>
            </a:r>
          </a:p>
          <a:p>
            <a:pPr marL="342900" indent="-342900">
              <a:spcBef>
                <a:spcPts val="600"/>
              </a:spcBef>
              <a:spcAft>
                <a:spcPts val="1200"/>
              </a:spcAft>
              <a:buNone/>
            </a:pPr>
            <a:r>
              <a:rPr lang="en-US" altLang="zh-CN" sz="2200" dirty="0" smtClean="0">
                <a:latin typeface="Helvetica" pitchFamily="34" charset="0"/>
                <a:ea typeface="宋体" pitchFamily="2" charset="-122"/>
              </a:rPr>
              <a:t>When collecting </a:t>
            </a:r>
            <a:r>
              <a:rPr lang="en-US" altLang="zh-CN" sz="2200" u="sng" dirty="0" smtClean="0">
                <a:latin typeface="Helvetica" pitchFamily="34" charset="0"/>
                <a:ea typeface="宋体" pitchFamily="2" charset="-122"/>
              </a:rPr>
              <a:t>drinks</a:t>
            </a:r>
            <a:r>
              <a:rPr lang="en-US" altLang="zh-CN" sz="2200" dirty="0" smtClean="0">
                <a:latin typeface="Helvetica" pitchFamily="34" charset="0"/>
                <a:ea typeface="宋体" pitchFamily="2" charset="-122"/>
              </a:rPr>
              <a:t> ensure:</a:t>
            </a:r>
          </a:p>
          <a:p>
            <a:pPr marL="342900" indent="-342900">
              <a:spcBef>
                <a:spcPts val="600"/>
              </a:spcBef>
              <a:spcAft>
                <a:spcPts val="1200"/>
              </a:spcAft>
            </a:pPr>
            <a:r>
              <a:rPr lang="en-US" altLang="zh-CN" sz="2200" dirty="0" smtClean="0">
                <a:latin typeface="Helvetica" pitchFamily="34" charset="0"/>
                <a:ea typeface="宋体" pitchFamily="2" charset="-122"/>
              </a:rPr>
              <a:t>Correct drink</a:t>
            </a:r>
          </a:p>
          <a:p>
            <a:pPr marL="342900" indent="-342900">
              <a:spcBef>
                <a:spcPts val="600"/>
              </a:spcBef>
              <a:spcAft>
                <a:spcPts val="1200"/>
              </a:spcAft>
            </a:pPr>
            <a:r>
              <a:rPr lang="en-US" altLang="zh-CN" sz="2200" dirty="0" smtClean="0">
                <a:latin typeface="Helvetica" pitchFamily="34" charset="0"/>
                <a:ea typeface="宋体" pitchFamily="2" charset="-122"/>
              </a:rPr>
              <a:t>Correct glassware</a:t>
            </a:r>
          </a:p>
          <a:p>
            <a:pPr marL="342900" indent="-342900">
              <a:spcBef>
                <a:spcPts val="600"/>
              </a:spcBef>
              <a:spcAft>
                <a:spcPts val="1200"/>
              </a:spcAft>
            </a:pPr>
            <a:r>
              <a:rPr lang="en-US" altLang="zh-CN" sz="2200" dirty="0" smtClean="0">
                <a:latin typeface="Helvetica" pitchFamily="34" charset="0"/>
                <a:ea typeface="宋体" pitchFamily="2" charset="-122"/>
              </a:rPr>
              <a:t>Garnishes</a:t>
            </a:r>
          </a:p>
          <a:p>
            <a:pPr marL="342900" indent="-342900">
              <a:spcBef>
                <a:spcPts val="600"/>
              </a:spcBef>
              <a:spcAft>
                <a:spcPts val="1200"/>
              </a:spcAft>
            </a:pPr>
            <a:r>
              <a:rPr lang="en-US" altLang="zh-CN" sz="2200" dirty="0" smtClean="0">
                <a:latin typeface="Helvetica" pitchFamily="34" charset="0"/>
                <a:ea typeface="宋体" pitchFamily="2" charset="-122"/>
              </a:rPr>
              <a:t>Glasses have right amount of liquid</a:t>
            </a:r>
          </a:p>
          <a:p>
            <a:pPr marL="342900" indent="-342900">
              <a:spcBef>
                <a:spcPts val="600"/>
              </a:spcBef>
              <a:spcAft>
                <a:spcPts val="1200"/>
              </a:spcAft>
            </a:pPr>
            <a:r>
              <a:rPr lang="en-US" altLang="zh-CN" sz="2200" dirty="0" smtClean="0">
                <a:latin typeface="Helvetica" pitchFamily="34" charset="0"/>
                <a:ea typeface="宋体" pitchFamily="2" charset="-122"/>
              </a:rPr>
              <a:t>Drinks are not flat (if required to be carbonated)</a:t>
            </a:r>
          </a:p>
          <a:p>
            <a:pPr marL="342900" indent="-342900">
              <a:spcBef>
                <a:spcPts val="600"/>
              </a:spcBef>
              <a:spcAft>
                <a:spcPts val="1200"/>
              </a:spcAft>
            </a:pPr>
            <a:r>
              <a:rPr lang="en-US" altLang="zh-CN" sz="2200" dirty="0" smtClean="0">
                <a:latin typeface="Helvetica" pitchFamily="34" charset="0"/>
                <a:ea typeface="宋体" pitchFamily="2" charset="-122"/>
              </a:rPr>
              <a:t>Correct straws</a:t>
            </a:r>
          </a:p>
          <a:p>
            <a:pPr>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6" name="Picture 5" descr="March 2005  390_RT8.TIF"/>
          <p:cNvPicPr/>
          <p:nvPr/>
        </p:nvPicPr>
        <p:blipFill>
          <a:blip r:embed="rId3" cstate="print">
            <a:lum contrast="10000"/>
          </a:blip>
          <a:stretch>
            <a:fillRect/>
          </a:stretch>
        </p:blipFill>
        <p:spPr>
          <a:xfrm>
            <a:off x="5572132" y="2428868"/>
            <a:ext cx="2455374" cy="1643074"/>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beverage items</a:t>
            </a: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Serving beverages</a:t>
            </a:r>
          </a:p>
          <a:p>
            <a:pPr marL="342900" indent="-342900">
              <a:spcBef>
                <a:spcPts val="600"/>
              </a:spcBef>
              <a:spcAft>
                <a:spcPts val="1200"/>
              </a:spcAft>
            </a:pPr>
            <a:r>
              <a:rPr lang="en-US" altLang="zh-CN" sz="2200" dirty="0" smtClean="0">
                <a:latin typeface="Helvetica" pitchFamily="34" charset="0"/>
                <a:ea typeface="宋体" pitchFamily="2" charset="-122"/>
              </a:rPr>
              <a:t>Carrying trays</a:t>
            </a:r>
          </a:p>
          <a:p>
            <a:pPr marL="342900" indent="-342900">
              <a:spcBef>
                <a:spcPts val="600"/>
              </a:spcBef>
              <a:spcAft>
                <a:spcPts val="1200"/>
              </a:spcAft>
            </a:pPr>
            <a:r>
              <a:rPr lang="en-US" altLang="zh-CN" sz="2200" dirty="0" smtClean="0">
                <a:latin typeface="Helvetica" pitchFamily="34" charset="0"/>
                <a:ea typeface="宋体" pitchFamily="2" charset="-122"/>
              </a:rPr>
              <a:t>Handle glassware by the stem or stem</a:t>
            </a:r>
          </a:p>
          <a:p>
            <a:pPr marL="342900" indent="-342900">
              <a:spcBef>
                <a:spcPts val="600"/>
              </a:spcBef>
              <a:spcAft>
                <a:spcPts val="1200"/>
              </a:spcAft>
            </a:pPr>
            <a:r>
              <a:rPr lang="en-US" altLang="zh-CN" sz="2200" dirty="0" smtClean="0">
                <a:latin typeface="Helvetica" pitchFamily="34" charset="0"/>
                <a:ea typeface="宋体" pitchFamily="2" charset="-122"/>
              </a:rPr>
              <a:t>Don’t overload trays</a:t>
            </a:r>
          </a:p>
          <a:p>
            <a:pPr marL="342900" indent="-342900">
              <a:spcBef>
                <a:spcPts val="600"/>
              </a:spcBef>
              <a:spcAft>
                <a:spcPts val="1200"/>
              </a:spcAft>
            </a:pPr>
            <a:r>
              <a:rPr lang="en-US" altLang="zh-CN" sz="2200" dirty="0" smtClean="0">
                <a:latin typeface="Helvetica" pitchFamily="34" charset="0"/>
                <a:ea typeface="宋体" pitchFamily="2" charset="-122"/>
              </a:rPr>
              <a:t>Use coasters</a:t>
            </a:r>
          </a:p>
          <a:p>
            <a:pPr marL="342900" indent="-342900">
              <a:spcBef>
                <a:spcPts val="600"/>
              </a:spcBef>
              <a:spcAft>
                <a:spcPts val="1200"/>
              </a:spcAft>
            </a:pPr>
            <a:r>
              <a:rPr lang="en-US" altLang="zh-CN" sz="2200" dirty="0" smtClean="0">
                <a:latin typeface="Helvetica" pitchFamily="34" charset="0"/>
                <a:ea typeface="宋体" pitchFamily="2" charset="-122"/>
              </a:rPr>
              <a:t>Provide snacks where appropriate</a:t>
            </a:r>
          </a:p>
          <a:p>
            <a:pPr marL="342900" indent="-342900">
              <a:spcBef>
                <a:spcPts val="600"/>
              </a:spcBef>
              <a:spcAft>
                <a:spcPts val="1200"/>
              </a:spcAft>
            </a:pPr>
            <a:r>
              <a:rPr lang="en-US" altLang="zh-CN" sz="2200" dirty="0" smtClean="0">
                <a:latin typeface="Helvetica" pitchFamily="34" charset="0"/>
                <a:ea typeface="宋体" pitchFamily="2" charset="-122"/>
              </a:rPr>
              <a:t>Monitor behaviour of guests (alcohol)</a:t>
            </a:r>
          </a:p>
          <a:p>
            <a:pPr marL="342900" indent="-342900">
              <a:spcBef>
                <a:spcPts val="600"/>
              </a:spcBef>
              <a:spcAft>
                <a:spcPts val="1200"/>
              </a:spcAft>
            </a:pPr>
            <a:r>
              <a:rPr lang="en-US" altLang="zh-CN" sz="2200" dirty="0" smtClean="0">
                <a:latin typeface="Helvetica" pitchFamily="34" charset="0"/>
                <a:ea typeface="宋体" pitchFamily="2" charset="-122"/>
              </a:rPr>
              <a:t>Announce name of drink</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10" descr="Waiters"/>
          <p:cNvPicPr>
            <a:picLocks noChangeAspect="1" noChangeArrowheads="1"/>
          </p:cNvPicPr>
          <p:nvPr/>
        </p:nvPicPr>
        <p:blipFill>
          <a:blip r:embed="rId3" cstate="print"/>
          <a:srcRect/>
          <a:stretch>
            <a:fillRect/>
          </a:stretch>
        </p:blipFill>
        <p:spPr bwMode="auto">
          <a:xfrm>
            <a:off x="6215074" y="2857496"/>
            <a:ext cx="2059906" cy="2014177"/>
          </a:xfrm>
          <a:prstGeom prst="rect">
            <a:avLst/>
          </a:prstGeom>
          <a:noFill/>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table</a:t>
            </a:r>
          </a:p>
        </p:txBody>
      </p:sp>
      <p:sp>
        <p:nvSpPr>
          <p:cNvPr id="3" name="Content Placeholder 2"/>
          <p:cNvSpPr>
            <a:spLocks noGrp="1"/>
          </p:cNvSpPr>
          <p:nvPr>
            <p:ph idx="1"/>
          </p:nvPr>
        </p:nvSpPr>
        <p:spPr>
          <a:xfrm>
            <a:off x="604862" y="1357298"/>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Serving table and sparking wine</a:t>
            </a:r>
          </a:p>
          <a:p>
            <a:pPr marL="0">
              <a:spcBef>
                <a:spcPts val="600"/>
              </a:spcBef>
              <a:spcAft>
                <a:spcPts val="1200"/>
              </a:spcAft>
              <a:buNone/>
            </a:pPr>
            <a:r>
              <a:rPr lang="en-AU" sz="2200" dirty="0" smtClean="0">
                <a:latin typeface="Helvetica" pitchFamily="34" charset="0"/>
              </a:rPr>
              <a:t>Besides the service of pre-dinner drinks, common drinks often served to accompany a meal include sparkling and table wine.</a:t>
            </a:r>
          </a:p>
          <a:p>
            <a:pPr marL="342900" indent="-342900">
              <a:spcBef>
                <a:spcPts val="600"/>
              </a:spcBef>
              <a:spcAft>
                <a:spcPts val="1200"/>
              </a:spcAft>
            </a:pPr>
            <a:r>
              <a:rPr lang="en-AU" sz="2200" dirty="0" smtClean="0">
                <a:latin typeface="Helvetica" pitchFamily="34" charset="0"/>
              </a:rPr>
              <a:t>What is the difference between these?</a:t>
            </a:r>
          </a:p>
          <a:p>
            <a:pPr marL="342900" indent="-342900">
              <a:spcBef>
                <a:spcPts val="600"/>
              </a:spcBef>
              <a:spcAft>
                <a:spcPts val="1200"/>
              </a:spcAft>
            </a:pPr>
            <a:r>
              <a:rPr lang="en-AU" sz="2200" dirty="0" smtClean="0">
                <a:latin typeface="Helvetica" pitchFamily="34" charset="0"/>
              </a:rPr>
              <a:t>What are examples of table wine?</a:t>
            </a:r>
          </a:p>
          <a:p>
            <a:pPr marL="342900" indent="-342900">
              <a:spcBef>
                <a:spcPts val="600"/>
              </a:spcBef>
              <a:spcAft>
                <a:spcPts val="1200"/>
              </a:spcAft>
            </a:pPr>
            <a:r>
              <a:rPr lang="en-AU" sz="2200" dirty="0" smtClean="0">
                <a:latin typeface="Helvetica" pitchFamily="34" charset="0"/>
              </a:rPr>
              <a:t>How is white table wine served?</a:t>
            </a:r>
          </a:p>
          <a:p>
            <a:pPr marL="342900" indent="-342900">
              <a:spcBef>
                <a:spcPts val="600"/>
              </a:spcBef>
              <a:spcAft>
                <a:spcPts val="1200"/>
              </a:spcAft>
            </a:pPr>
            <a:r>
              <a:rPr lang="en-AU" sz="2200" dirty="0" smtClean="0">
                <a:latin typeface="Helvetica" pitchFamily="34" charset="0"/>
              </a:rPr>
              <a:t>How is red table wine served?</a:t>
            </a:r>
          </a:p>
          <a:p>
            <a:pPr marL="342900" indent="-342900">
              <a:spcBef>
                <a:spcPts val="600"/>
              </a:spcBef>
              <a:spcAft>
                <a:spcPts val="1200"/>
              </a:spcAft>
            </a:pPr>
            <a:r>
              <a:rPr lang="en-AU" sz="2200" dirty="0" smtClean="0">
                <a:latin typeface="Helvetica" pitchFamily="34" charset="0"/>
              </a:rPr>
              <a:t>How is sparkling wine served?</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5" name="Picture 4" descr="726285_24196540.jpg"/>
          <p:cNvPicPr>
            <a:picLocks noChangeAspect="1"/>
          </p:cNvPicPr>
          <p:nvPr/>
        </p:nvPicPr>
        <p:blipFill>
          <a:blip r:embed="rId3" cstate="print">
            <a:lum bright="10000"/>
          </a:blip>
          <a:stretch>
            <a:fillRect/>
          </a:stretch>
        </p:blipFill>
        <p:spPr>
          <a:xfrm>
            <a:off x="6072198" y="3857628"/>
            <a:ext cx="2528217" cy="1692443"/>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table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Check bottle condition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Label </a:t>
            </a:r>
          </a:p>
          <a:p>
            <a:pPr lvl="0">
              <a:spcBef>
                <a:spcPts val="600"/>
              </a:spcBef>
              <a:spcAft>
                <a:spcPts val="1200"/>
              </a:spcAft>
            </a:pPr>
            <a:r>
              <a:rPr lang="en-AU" sz="2200" dirty="0" smtClean="0">
                <a:latin typeface="Helvetica" pitchFamily="34" charset="0"/>
              </a:rPr>
              <a:t>Top near the cork/seal </a:t>
            </a:r>
          </a:p>
          <a:p>
            <a:pPr lvl="0">
              <a:spcBef>
                <a:spcPts val="600"/>
              </a:spcBef>
              <a:spcAft>
                <a:spcPts val="1200"/>
              </a:spcAft>
            </a:pPr>
            <a:r>
              <a:rPr lang="en-AU" sz="2200" dirty="0" smtClean="0">
                <a:latin typeface="Helvetica" pitchFamily="34" charset="0"/>
              </a:rPr>
              <a:t>Bottle top </a:t>
            </a:r>
          </a:p>
          <a:p>
            <a:pPr lvl="0">
              <a:spcBef>
                <a:spcPts val="600"/>
              </a:spcBef>
              <a:spcAft>
                <a:spcPts val="1200"/>
              </a:spcAft>
            </a:pPr>
            <a:r>
              <a:rPr lang="en-AU" sz="2200" dirty="0" smtClean="0">
                <a:latin typeface="Helvetica" pitchFamily="34" charset="0"/>
              </a:rPr>
              <a:t>Nothing floating in solution </a:t>
            </a:r>
          </a:p>
          <a:p>
            <a:pPr lvl="0">
              <a:spcBef>
                <a:spcPts val="600"/>
              </a:spcBef>
              <a:spcAft>
                <a:spcPts val="1200"/>
              </a:spcAft>
            </a:pPr>
            <a:r>
              <a:rPr lang="en-AU" sz="2200" dirty="0" smtClean="0">
                <a:latin typeface="Helvetica" pitchFamily="34" charset="0"/>
              </a:rPr>
              <a:t>Overall condition of the glass </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descr="4126563489_28ffdc9847_m.jpg"/>
          <p:cNvPicPr>
            <a:picLocks noChangeAspect="1"/>
          </p:cNvPicPr>
          <p:nvPr/>
        </p:nvPicPr>
        <p:blipFill>
          <a:blip r:embed="rId3" cstate="print"/>
          <a:stretch>
            <a:fillRect/>
          </a:stretch>
        </p:blipFill>
        <p:spPr>
          <a:xfrm>
            <a:off x="6429388" y="1643050"/>
            <a:ext cx="1381135" cy="2071702"/>
          </a:xfrm>
          <a:prstGeom prst="rect">
            <a:avLst/>
          </a:prstGeom>
        </p:spPr>
      </p:pic>
      <p:pic>
        <p:nvPicPr>
          <p:cNvPr id="6" name="Picture 5" descr="MP900438457.JPG"/>
          <p:cNvPicPr/>
          <p:nvPr/>
        </p:nvPicPr>
        <p:blipFill>
          <a:blip r:embed="rId4" cstate="print">
            <a:lum contrast="10000"/>
          </a:blip>
          <a:stretch>
            <a:fillRect/>
          </a:stretch>
        </p:blipFill>
        <p:spPr>
          <a:xfrm>
            <a:off x="5357818" y="3500438"/>
            <a:ext cx="1452911" cy="1828800"/>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table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Checking the selection with customer</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Present the wine to the person who ordered the bottle</a:t>
            </a:r>
          </a:p>
          <a:p>
            <a:pPr lvl="0">
              <a:spcBef>
                <a:spcPts val="600"/>
              </a:spcBef>
              <a:spcAft>
                <a:spcPts val="1200"/>
              </a:spcAft>
            </a:pPr>
            <a:r>
              <a:rPr lang="en-AU" sz="2200" dirty="0" smtClean="0">
                <a:latin typeface="Helvetica" pitchFamily="34" charset="0"/>
              </a:rPr>
              <a:t>Announce the brand name, style and vintage</a:t>
            </a:r>
          </a:p>
          <a:p>
            <a:pPr lvl="0">
              <a:spcBef>
                <a:spcPts val="600"/>
              </a:spcBef>
              <a:spcAft>
                <a:spcPts val="1200"/>
              </a:spcAft>
            </a:pPr>
            <a:r>
              <a:rPr lang="en-AU" sz="2200" dirty="0" smtClean="0">
                <a:latin typeface="Helvetica" pitchFamily="34" charset="0"/>
              </a:rPr>
              <a:t>Wait for the customer to confirm it is the right product</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4" descr="shutterstock_83072131.jpg"/>
          <p:cNvPicPr>
            <a:picLocks noChangeAspect="1"/>
          </p:cNvPicPr>
          <p:nvPr/>
        </p:nvPicPr>
        <p:blipFill>
          <a:blip r:embed="rId3" cstate="print"/>
          <a:stretch>
            <a:fillRect/>
          </a:stretch>
        </p:blipFill>
        <p:spPr>
          <a:xfrm>
            <a:off x="3357554" y="4071942"/>
            <a:ext cx="2784689" cy="1857388"/>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table</a:t>
            </a:r>
          </a:p>
        </p:txBody>
      </p:sp>
      <p:sp>
        <p:nvSpPr>
          <p:cNvPr id="3" name="Content Placeholder 2"/>
          <p:cNvSpPr>
            <a:spLocks noGrp="1"/>
          </p:cNvSpPr>
          <p:nvPr>
            <p:ph idx="1"/>
          </p:nvPr>
        </p:nvSpPr>
        <p:spPr>
          <a:xfrm>
            <a:off x="571472" y="1428736"/>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Select appropriate glassware and equipment </a:t>
            </a:r>
          </a:p>
          <a:p>
            <a:pPr>
              <a:spcBef>
                <a:spcPts val="600"/>
              </a:spcBef>
              <a:spcAft>
                <a:spcPts val="1200"/>
              </a:spcAft>
            </a:pPr>
            <a:r>
              <a:rPr lang="en-AU" sz="2200" dirty="0" smtClean="0">
                <a:latin typeface="Helvetica" pitchFamily="34" charset="0"/>
              </a:rPr>
              <a:t>Wines and glasses</a:t>
            </a:r>
          </a:p>
          <a:p>
            <a:pPr>
              <a:spcBef>
                <a:spcPts val="600"/>
              </a:spcBef>
              <a:spcAft>
                <a:spcPts val="1200"/>
              </a:spcAft>
            </a:pPr>
            <a:r>
              <a:rPr lang="en-AU" sz="2200" dirty="0" smtClean="0">
                <a:latin typeface="Helvetica" pitchFamily="34" charset="0"/>
              </a:rPr>
              <a:t>Drink trays </a:t>
            </a:r>
          </a:p>
          <a:p>
            <a:pPr>
              <a:spcBef>
                <a:spcPts val="600"/>
              </a:spcBef>
              <a:spcAft>
                <a:spcPts val="1200"/>
              </a:spcAft>
            </a:pPr>
            <a:r>
              <a:rPr lang="en-AU" sz="2200" dirty="0" smtClean="0">
                <a:latin typeface="Helvetica" pitchFamily="34" charset="0"/>
              </a:rPr>
              <a:t>Waiter’s friend</a:t>
            </a:r>
          </a:p>
          <a:p>
            <a:pPr>
              <a:spcBef>
                <a:spcPts val="600"/>
              </a:spcBef>
              <a:spcAft>
                <a:spcPts val="1200"/>
              </a:spcAft>
            </a:pPr>
            <a:r>
              <a:rPr lang="en-AU" sz="2200" dirty="0" smtClean="0">
                <a:latin typeface="Helvetica" pitchFamily="34" charset="0"/>
              </a:rPr>
              <a:t>Ice bucket</a:t>
            </a:r>
          </a:p>
          <a:p>
            <a:pPr>
              <a:spcBef>
                <a:spcPts val="600"/>
              </a:spcBef>
              <a:spcAft>
                <a:spcPts val="1200"/>
              </a:spcAft>
            </a:pPr>
            <a:r>
              <a:rPr lang="en-AU" sz="2200" dirty="0" smtClean="0">
                <a:latin typeface="Helvetica" pitchFamily="34" charset="0"/>
              </a:rPr>
              <a:t>Service cloth</a:t>
            </a:r>
          </a:p>
          <a:p>
            <a:pPr>
              <a:spcBef>
                <a:spcPts val="600"/>
              </a:spcBef>
              <a:spcAft>
                <a:spcPts val="1200"/>
              </a:spcAft>
            </a:pPr>
            <a:r>
              <a:rPr lang="en-AU" sz="2200" dirty="0" smtClean="0">
                <a:latin typeface="Helvetica" pitchFamily="34" charset="0"/>
              </a:rPr>
              <a:t>Carafes</a:t>
            </a:r>
          </a:p>
          <a:p>
            <a:pPr>
              <a:spcBef>
                <a:spcPts val="600"/>
              </a:spcBef>
              <a:spcAft>
                <a:spcPts val="1200"/>
              </a:spcAft>
            </a:pPr>
            <a:r>
              <a:rPr lang="en-AU" sz="2200" dirty="0" smtClean="0">
                <a:latin typeface="Helvetica" pitchFamily="34" charset="0"/>
              </a:rPr>
              <a:t>Decanting equipment</a:t>
            </a:r>
          </a:p>
          <a:p>
            <a:pPr>
              <a:spcBef>
                <a:spcPts val="600"/>
              </a:spcBef>
              <a:spcAft>
                <a:spcPts val="1200"/>
              </a:spcAft>
            </a:pPr>
            <a:r>
              <a:rPr lang="en-AU" sz="2200" dirty="0" smtClean="0">
                <a:latin typeface="Helvetica" pitchFamily="34" charset="0"/>
              </a:rPr>
              <a:t>Wine baskets</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 name="Picture 4" descr="499647_10160850.jpg"/>
          <p:cNvPicPr>
            <a:picLocks noChangeAspect="1"/>
          </p:cNvPicPr>
          <p:nvPr/>
        </p:nvPicPr>
        <p:blipFill>
          <a:blip r:embed="rId3" cstate="print"/>
          <a:stretch>
            <a:fillRect/>
          </a:stretch>
        </p:blipFill>
        <p:spPr>
          <a:xfrm>
            <a:off x="4857752" y="3143248"/>
            <a:ext cx="2809896" cy="1714512"/>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table</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Open and serve wine correctly, safely and without spillage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Discuss procedures for opening and pouring:</a:t>
            </a:r>
          </a:p>
          <a:p>
            <a:pPr>
              <a:spcBef>
                <a:spcPts val="600"/>
              </a:spcBef>
              <a:spcAft>
                <a:spcPts val="1200"/>
              </a:spcAft>
            </a:pPr>
            <a:r>
              <a:rPr lang="en-AU" sz="2200" dirty="0" smtClean="0">
                <a:latin typeface="Helvetica" pitchFamily="34" charset="0"/>
              </a:rPr>
              <a:t>White table wine</a:t>
            </a:r>
          </a:p>
          <a:p>
            <a:pPr>
              <a:spcBef>
                <a:spcPts val="600"/>
              </a:spcBef>
              <a:spcAft>
                <a:spcPts val="1200"/>
              </a:spcAft>
            </a:pPr>
            <a:r>
              <a:rPr lang="en-AU" sz="2200" dirty="0" smtClean="0">
                <a:latin typeface="Helvetica" pitchFamily="34" charset="0"/>
              </a:rPr>
              <a:t>Red table wine</a:t>
            </a:r>
          </a:p>
          <a:p>
            <a:pPr>
              <a:spcBef>
                <a:spcPts val="600"/>
              </a:spcBef>
              <a:spcAft>
                <a:spcPts val="1200"/>
              </a:spcAft>
            </a:pPr>
            <a:r>
              <a:rPr lang="en-AU" sz="2200" dirty="0" smtClean="0">
                <a:latin typeface="Helvetica" pitchFamily="34" charset="0"/>
              </a:rPr>
              <a:t>Sparkling wine</a:t>
            </a:r>
          </a:p>
          <a:p>
            <a:pPr>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4" descr="shutterstock_55059526.jpg"/>
          <p:cNvPicPr/>
          <p:nvPr/>
        </p:nvPicPr>
        <p:blipFill>
          <a:blip r:embed="rId3" cstate="print"/>
          <a:stretch>
            <a:fillRect/>
          </a:stretch>
        </p:blipFill>
        <p:spPr>
          <a:xfrm>
            <a:off x="5500694" y="3286124"/>
            <a:ext cx="2130152" cy="1301676"/>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Serve after meal drinks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Speciality Coffees</a:t>
            </a:r>
          </a:p>
          <a:p>
            <a:pPr>
              <a:spcBef>
                <a:spcPts val="600"/>
              </a:spcBef>
              <a:spcAft>
                <a:spcPts val="1200"/>
              </a:spcAft>
            </a:pPr>
            <a:r>
              <a:rPr lang="en-AU" sz="2200" dirty="0" smtClean="0">
                <a:latin typeface="Helvetica" pitchFamily="34" charset="0"/>
              </a:rPr>
              <a:t>Various spirits and liqueurs can be combined with hot coffee and fresh double cream </a:t>
            </a:r>
          </a:p>
          <a:p>
            <a:pPr>
              <a:spcBef>
                <a:spcPts val="600"/>
              </a:spcBef>
              <a:spcAft>
                <a:spcPts val="1200"/>
              </a:spcAft>
            </a:pPr>
            <a:r>
              <a:rPr lang="en-AU" sz="2200" dirty="0" smtClean="0">
                <a:latin typeface="Helvetica" pitchFamily="34" charset="0"/>
              </a:rPr>
              <a:t>They make a dessert in its own right, to </a:t>
            </a:r>
            <a:br>
              <a:rPr lang="en-AU" sz="2200" dirty="0" smtClean="0">
                <a:latin typeface="Helvetica" pitchFamily="34" charset="0"/>
              </a:rPr>
            </a:br>
            <a:r>
              <a:rPr lang="en-AU" sz="2200" dirty="0" smtClean="0">
                <a:latin typeface="Helvetica" pitchFamily="34" charset="0"/>
              </a:rPr>
              <a:t>accompany a dessert or to conclude a meal</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6" name="Picture 5" descr="2746248955_2180d01229_m.jpg"/>
          <p:cNvPicPr/>
          <p:nvPr/>
        </p:nvPicPr>
        <p:blipFill>
          <a:blip r:embed="rId3" cstate="print"/>
          <a:stretch>
            <a:fillRect/>
          </a:stretch>
        </p:blipFill>
        <p:spPr>
          <a:xfrm>
            <a:off x="6715140" y="2857496"/>
            <a:ext cx="1518270" cy="2025377"/>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spcBef>
                <a:spcPts val="600"/>
              </a:spcBef>
              <a:spcAft>
                <a:spcPts val="1200"/>
              </a:spcAft>
            </a:pPr>
            <a:r>
              <a:rPr lang="en-AU" sz="3400" b="1" dirty="0" smtClean="0">
                <a:solidFill>
                  <a:srgbClr val="FF6600"/>
                </a:solidFill>
                <a:latin typeface="Helvetica" pitchFamily="34" charset="0"/>
              </a:rPr>
              <a:t>Serve after meal drinks</a:t>
            </a:r>
          </a:p>
        </p:txBody>
      </p:sp>
      <p:sp>
        <p:nvSpPr>
          <p:cNvPr id="3" name="Content Placeholder 2"/>
          <p:cNvSpPr>
            <a:spLocks noGrp="1"/>
          </p:cNvSpPr>
          <p:nvPr>
            <p:ph idx="1"/>
          </p:nvPr>
        </p:nvSpPr>
        <p:spPr>
          <a:xfrm>
            <a:off x="611560" y="1556792"/>
            <a:ext cx="7467600" cy="4824536"/>
          </a:xfrm>
        </p:spPr>
        <p:txBody>
          <a:bodyPr>
            <a:normAutofit/>
          </a:bodyPr>
          <a:lstStyle/>
          <a:p>
            <a:pPr lvl="0">
              <a:spcBef>
                <a:spcPts val="600"/>
              </a:spcBef>
              <a:spcAft>
                <a:spcPts val="600"/>
              </a:spcAft>
              <a:buNone/>
            </a:pPr>
            <a:r>
              <a:rPr lang="en-AU" sz="2200" b="1" dirty="0" smtClean="0">
                <a:latin typeface="Helvetica" pitchFamily="34" charset="0"/>
              </a:rPr>
              <a:t>Techniques to make specialist coffee</a:t>
            </a:r>
          </a:p>
          <a:p>
            <a:pPr lvl="0">
              <a:spcBef>
                <a:spcPts val="600"/>
              </a:spcBef>
              <a:spcAft>
                <a:spcPts val="600"/>
              </a:spcAft>
            </a:pPr>
            <a:r>
              <a:rPr lang="en-AU" sz="2200" dirty="0" smtClean="0">
                <a:latin typeface="Helvetica" pitchFamily="34" charset="0"/>
              </a:rPr>
              <a:t>Ready the glass or mug </a:t>
            </a:r>
          </a:p>
          <a:p>
            <a:pPr lvl="0">
              <a:spcBef>
                <a:spcPts val="600"/>
              </a:spcBef>
              <a:spcAft>
                <a:spcPts val="600"/>
              </a:spcAft>
            </a:pPr>
            <a:r>
              <a:rPr lang="en-AU" sz="2200" dirty="0" smtClean="0">
                <a:latin typeface="Helvetica" pitchFamily="34" charset="0"/>
              </a:rPr>
              <a:t>Prepare good-quality, strong, black coffee</a:t>
            </a:r>
          </a:p>
          <a:p>
            <a:pPr lvl="0">
              <a:spcBef>
                <a:spcPts val="600"/>
              </a:spcBef>
              <a:spcAft>
                <a:spcPts val="600"/>
              </a:spcAft>
            </a:pPr>
            <a:r>
              <a:rPr lang="en-AU" sz="2200" dirty="0" smtClean="0">
                <a:latin typeface="Helvetica" pitchFamily="34" charset="0"/>
              </a:rPr>
              <a:t>Put 30 ml of the required spirit or liqueur </a:t>
            </a:r>
            <a:br>
              <a:rPr lang="en-AU" sz="2200" dirty="0" smtClean="0">
                <a:latin typeface="Helvetica" pitchFamily="34" charset="0"/>
              </a:rPr>
            </a:br>
            <a:r>
              <a:rPr lang="en-AU" sz="2200" dirty="0" smtClean="0">
                <a:latin typeface="Helvetica" pitchFamily="34" charset="0"/>
              </a:rPr>
              <a:t>into the glass/mug</a:t>
            </a:r>
          </a:p>
          <a:p>
            <a:pPr lvl="0">
              <a:spcBef>
                <a:spcPts val="600"/>
              </a:spcBef>
              <a:spcAft>
                <a:spcPts val="600"/>
              </a:spcAft>
            </a:pPr>
            <a:r>
              <a:rPr lang="en-AU" sz="2200" dirty="0" smtClean="0">
                <a:latin typeface="Helvetica" pitchFamily="34" charset="0"/>
              </a:rPr>
              <a:t>Add sugar if required</a:t>
            </a:r>
          </a:p>
          <a:p>
            <a:pPr lvl="0">
              <a:spcBef>
                <a:spcPts val="600"/>
              </a:spcBef>
              <a:spcAft>
                <a:spcPts val="600"/>
              </a:spcAft>
            </a:pPr>
            <a:r>
              <a:rPr lang="en-AU" sz="2200" dirty="0" smtClean="0">
                <a:latin typeface="Helvetica" pitchFamily="34" charset="0"/>
              </a:rPr>
              <a:t>Pour in coffee</a:t>
            </a:r>
          </a:p>
          <a:p>
            <a:pPr lvl="0">
              <a:spcBef>
                <a:spcPts val="600"/>
              </a:spcBef>
              <a:spcAft>
                <a:spcPts val="600"/>
              </a:spcAft>
            </a:pPr>
            <a:r>
              <a:rPr lang="en-AU" sz="2200" dirty="0" smtClean="0">
                <a:latin typeface="Helvetica" pitchFamily="34" charset="0"/>
              </a:rPr>
              <a:t>Stir to disperse liquor and/or melt sugar</a:t>
            </a:r>
          </a:p>
          <a:p>
            <a:pPr lvl="0">
              <a:spcBef>
                <a:spcPts val="600"/>
              </a:spcBef>
              <a:spcAft>
                <a:spcPts val="600"/>
              </a:spcAft>
            </a:pPr>
            <a:r>
              <a:rPr lang="en-AU" sz="2200" dirty="0" smtClean="0">
                <a:latin typeface="Helvetica" pitchFamily="34" charset="0"/>
              </a:rPr>
              <a:t>Float fresh cream on top</a:t>
            </a:r>
          </a:p>
          <a:p>
            <a:pPr lvl="0">
              <a:spcBef>
                <a:spcPts val="600"/>
              </a:spcBef>
              <a:spcAft>
                <a:spcPts val="600"/>
              </a:spcAft>
            </a:pPr>
            <a:r>
              <a:rPr lang="en-AU" sz="2200" dirty="0" smtClean="0">
                <a:latin typeface="Helvetica" pitchFamily="34" charset="0"/>
              </a:rPr>
              <a:t>Serve immediately</a:t>
            </a:r>
          </a:p>
          <a:p>
            <a:endParaRPr lang="en-AU" sz="2400" dirty="0" smtClean="0"/>
          </a:p>
          <a:p>
            <a:pPr lvl="0">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endParaRPr lang="en-AU" sz="2000" dirty="0" smtClean="0"/>
          </a:p>
          <a:p>
            <a:pPr lvl="0">
              <a:spcBef>
                <a:spcPts val="600"/>
              </a:spcBef>
              <a:spcAft>
                <a:spcPts val="1200"/>
              </a:spcAft>
            </a:pP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6" name="Picture 5" descr="7198725142_e032f6a136_m.jpg"/>
          <p:cNvPicPr/>
          <p:nvPr/>
        </p:nvPicPr>
        <p:blipFill>
          <a:blip r:embed="rId3" cstate="print">
            <a:lum contrast="40000"/>
          </a:blip>
          <a:stretch>
            <a:fillRect/>
          </a:stretch>
        </p:blipFill>
        <p:spPr>
          <a:xfrm>
            <a:off x="7000892" y="2571744"/>
            <a:ext cx="1295400" cy="1733550"/>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Serve after meal drinks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Spirits and liqueurs</a:t>
            </a:r>
          </a:p>
          <a:p>
            <a:pPr marL="0">
              <a:spcBef>
                <a:spcPts val="600"/>
              </a:spcBef>
              <a:spcAft>
                <a:spcPts val="1200"/>
              </a:spcAft>
              <a:buNone/>
            </a:pPr>
            <a:r>
              <a:rPr lang="en-AU" sz="2200" dirty="0" smtClean="0">
                <a:latin typeface="Helvetica" pitchFamily="34" charset="0"/>
              </a:rPr>
              <a:t>In some cases customers may wish to have a spirit or liqueur at the end of a meal or to accompany a dessert. </a:t>
            </a:r>
          </a:p>
          <a:p>
            <a:pPr marL="0">
              <a:spcBef>
                <a:spcPts val="600"/>
              </a:spcBef>
              <a:spcAft>
                <a:spcPts val="1200"/>
              </a:spcAft>
              <a:buNone/>
            </a:pPr>
            <a:r>
              <a:rPr lang="en-AU" sz="2200" dirty="0" smtClean="0">
                <a:latin typeface="Helvetica" pitchFamily="34" charset="0"/>
              </a:rPr>
              <a:t>These normally consist of:</a:t>
            </a:r>
          </a:p>
          <a:p>
            <a:pPr lvl="0">
              <a:spcBef>
                <a:spcPts val="600"/>
              </a:spcBef>
              <a:spcAft>
                <a:spcPts val="1200"/>
              </a:spcAft>
            </a:pPr>
            <a:r>
              <a:rPr lang="en-AU" sz="2200" dirty="0" smtClean="0">
                <a:latin typeface="Helvetica" pitchFamily="34" charset="0"/>
              </a:rPr>
              <a:t>Cognac</a:t>
            </a:r>
          </a:p>
          <a:p>
            <a:pPr lvl="0">
              <a:spcBef>
                <a:spcPts val="600"/>
              </a:spcBef>
              <a:spcAft>
                <a:spcPts val="1200"/>
              </a:spcAft>
            </a:pPr>
            <a:r>
              <a:rPr lang="en-AU" sz="2200" dirty="0" smtClean="0">
                <a:latin typeface="Helvetica" pitchFamily="34" charset="0"/>
              </a:rPr>
              <a:t>Armagnac</a:t>
            </a:r>
          </a:p>
          <a:p>
            <a:pPr lvl="0">
              <a:spcBef>
                <a:spcPts val="600"/>
              </a:spcBef>
              <a:spcAft>
                <a:spcPts val="1200"/>
              </a:spcAft>
            </a:pPr>
            <a:r>
              <a:rPr lang="en-AU" sz="2200" dirty="0" smtClean="0">
                <a:latin typeface="Helvetica" pitchFamily="34" charset="0"/>
              </a:rPr>
              <a:t>Calvados</a:t>
            </a:r>
          </a:p>
          <a:p>
            <a:pPr lvl="0">
              <a:spcBef>
                <a:spcPts val="600"/>
              </a:spcBef>
              <a:spcAft>
                <a:spcPts val="1200"/>
              </a:spcAft>
            </a:pPr>
            <a:r>
              <a:rPr lang="en-AU" sz="2200" dirty="0" smtClean="0">
                <a:latin typeface="Helvetica" pitchFamily="34" charset="0"/>
              </a:rPr>
              <a:t>Liqueurs</a:t>
            </a:r>
          </a:p>
          <a:p>
            <a:pPr lvl="0">
              <a:spcBef>
                <a:spcPts val="600"/>
              </a:spcBef>
              <a:spcAft>
                <a:spcPts val="1200"/>
              </a:spcAft>
            </a:pPr>
            <a:r>
              <a:rPr lang="en-AU" sz="2200" dirty="0" smtClean="0">
                <a:latin typeface="Helvetica" pitchFamily="34" charset="0"/>
              </a:rPr>
              <a:t>Port</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7" name="Picture 6" descr="5076313963_d52ee6147e_m.jpg"/>
          <p:cNvPicPr>
            <a:picLocks noChangeAspect="1"/>
          </p:cNvPicPr>
          <p:nvPr/>
        </p:nvPicPr>
        <p:blipFill>
          <a:blip r:embed="rId3" cstate="print"/>
          <a:stretch>
            <a:fillRect/>
          </a:stretch>
        </p:blipFill>
        <p:spPr>
          <a:xfrm>
            <a:off x="6143636" y="3071810"/>
            <a:ext cx="1400043" cy="210006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Coordinate food and beverage service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Timing of beverage service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Serving drinks ‘immediately’ achieves the following quality factors:</a:t>
            </a:r>
          </a:p>
          <a:p>
            <a:pPr lvl="0">
              <a:spcBef>
                <a:spcPts val="600"/>
              </a:spcBef>
              <a:spcAft>
                <a:spcPts val="1200"/>
              </a:spcAft>
            </a:pPr>
            <a:r>
              <a:rPr lang="en-AU" sz="2200" dirty="0" smtClean="0">
                <a:latin typeface="Helvetica" pitchFamily="34" charset="0"/>
              </a:rPr>
              <a:t>Maintenance of the service of beverages as they are intended to be </a:t>
            </a:r>
          </a:p>
          <a:p>
            <a:pPr>
              <a:spcBef>
                <a:spcPts val="600"/>
              </a:spcBef>
              <a:spcAft>
                <a:spcPts val="1200"/>
              </a:spcAft>
            </a:pPr>
            <a:r>
              <a:rPr lang="en-AU" sz="2200" dirty="0" smtClean="0">
                <a:latin typeface="Helvetica" pitchFamily="34" charset="0"/>
              </a:rPr>
              <a:t>Delivery of high levels of customer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6" name="Picture 5" descr="C:\Documents and Settings\danielc\Desktop\Provide F&amp;B services images\962507_cappuccino.jpg"/>
          <p:cNvPicPr/>
          <p:nvPr/>
        </p:nvPicPr>
        <p:blipFill>
          <a:blip r:embed="rId3" cstate="print"/>
          <a:srcRect/>
          <a:stretch>
            <a:fillRect/>
          </a:stretch>
        </p:blipFill>
        <p:spPr bwMode="auto">
          <a:xfrm>
            <a:off x="6858016" y="3571876"/>
            <a:ext cx="1508667"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Coordinate food and beverage service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latin typeface="Helvetica" pitchFamily="34" charset="0"/>
              </a:rPr>
              <a:t>Synchronised food and beverage service situations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 bar situations where snacks are provided with </a:t>
            </a:r>
            <a:br>
              <a:rPr lang="en-AU" sz="2200" dirty="0" smtClean="0">
                <a:latin typeface="Helvetica" pitchFamily="34" charset="0"/>
              </a:rPr>
            </a:br>
            <a:r>
              <a:rPr lang="en-AU" sz="2200" dirty="0" smtClean="0">
                <a:latin typeface="Helvetica" pitchFamily="34" charset="0"/>
              </a:rPr>
              <a:t>drinks</a:t>
            </a:r>
          </a:p>
          <a:p>
            <a:pPr lvl="0">
              <a:spcBef>
                <a:spcPts val="600"/>
              </a:spcBef>
              <a:spcAft>
                <a:spcPts val="1200"/>
              </a:spcAft>
            </a:pPr>
            <a:r>
              <a:rPr lang="en-AU" sz="2200" dirty="0" smtClean="0">
                <a:latin typeface="Helvetica" pitchFamily="34" charset="0"/>
              </a:rPr>
              <a:t>Initial service of drinks should come quickly</a:t>
            </a:r>
          </a:p>
          <a:p>
            <a:pPr lvl="0">
              <a:spcBef>
                <a:spcPts val="600"/>
              </a:spcBef>
              <a:spcAft>
                <a:spcPts val="1200"/>
              </a:spcAft>
            </a:pPr>
            <a:r>
              <a:rPr lang="en-AU" sz="2200" dirty="0" smtClean="0">
                <a:latin typeface="Helvetica" pitchFamily="34" charset="0"/>
              </a:rPr>
              <a:t>Refills of drinks to coincide with next food </a:t>
            </a:r>
            <a:br>
              <a:rPr lang="en-AU" sz="2200" dirty="0" smtClean="0">
                <a:latin typeface="Helvetica" pitchFamily="34" charset="0"/>
              </a:rPr>
            </a:br>
            <a:r>
              <a:rPr lang="en-AU" sz="2200" dirty="0" smtClean="0">
                <a:latin typeface="Helvetica" pitchFamily="34" charset="0"/>
              </a:rPr>
              <a:t>courses</a:t>
            </a:r>
          </a:p>
          <a:p>
            <a:pPr>
              <a:spcBef>
                <a:spcPts val="600"/>
              </a:spcBef>
              <a:spcAft>
                <a:spcPts val="1200"/>
              </a:spcAft>
            </a:pPr>
            <a:r>
              <a:rPr lang="en-AU" sz="2200" dirty="0" smtClean="0">
                <a:latin typeface="Helvetica" pitchFamily="34" charset="0"/>
              </a:rPr>
              <a:t>Coffees and cakes are often served together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descr="1376037_16960356.jpg"/>
          <p:cNvPicPr/>
          <p:nvPr/>
        </p:nvPicPr>
        <p:blipFill>
          <a:blip r:embed="rId3" cstate="print">
            <a:lum bright="10000"/>
          </a:blip>
          <a:stretch>
            <a:fillRect/>
          </a:stretch>
        </p:blipFill>
        <p:spPr>
          <a:xfrm>
            <a:off x="7000892" y="2928934"/>
            <a:ext cx="1409700" cy="1914525"/>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Coordinate food and beverage service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89530" cy="5040560"/>
          </a:xfrm>
        </p:spPr>
        <p:txBody>
          <a:bodyPr>
            <a:normAutofit/>
          </a:bodyPr>
          <a:lstStyle/>
          <a:p>
            <a:pPr>
              <a:spcBef>
                <a:spcPts val="600"/>
              </a:spcBef>
              <a:spcAft>
                <a:spcPts val="1200"/>
              </a:spcAft>
              <a:buNone/>
            </a:pPr>
            <a:r>
              <a:rPr lang="en-AU" sz="2200" b="1" dirty="0" smtClean="0">
                <a:latin typeface="Helvetica" pitchFamily="34" charset="0"/>
              </a:rPr>
              <a:t>Synchronised food and beverage service situations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Where beverages compliment the meal, such as:</a:t>
            </a:r>
          </a:p>
          <a:p>
            <a:pPr lvl="1">
              <a:spcBef>
                <a:spcPts val="600"/>
              </a:spcBef>
              <a:spcAft>
                <a:spcPts val="1200"/>
              </a:spcAft>
            </a:pPr>
            <a:r>
              <a:rPr lang="en-AU" sz="2200" dirty="0" smtClean="0">
                <a:latin typeface="Helvetica" pitchFamily="34" charset="0"/>
              </a:rPr>
              <a:t>Wines to accompany courses </a:t>
            </a:r>
          </a:p>
          <a:p>
            <a:pPr lvl="1">
              <a:spcBef>
                <a:spcPts val="600"/>
              </a:spcBef>
              <a:spcAft>
                <a:spcPts val="1200"/>
              </a:spcAft>
            </a:pPr>
            <a:r>
              <a:rPr lang="en-AU" sz="2200" dirty="0" smtClean="0">
                <a:latin typeface="Helvetica" pitchFamily="34" charset="0"/>
              </a:rPr>
              <a:t>Dessert wines or coffee that is served </a:t>
            </a:r>
            <a:br>
              <a:rPr lang="en-AU" sz="2200" dirty="0" smtClean="0">
                <a:latin typeface="Helvetica" pitchFamily="34" charset="0"/>
              </a:rPr>
            </a:br>
            <a:r>
              <a:rPr lang="en-AU" sz="2200" dirty="0" smtClean="0">
                <a:latin typeface="Helvetica" pitchFamily="34" charset="0"/>
              </a:rPr>
              <a:t>with dessert</a:t>
            </a:r>
          </a:p>
          <a:p>
            <a:pPr lvl="1">
              <a:spcBef>
                <a:spcPts val="600"/>
              </a:spcBef>
              <a:spcAft>
                <a:spcPts val="1200"/>
              </a:spcAft>
            </a:pPr>
            <a:r>
              <a:rPr lang="en-AU" sz="2200" dirty="0" smtClean="0">
                <a:latin typeface="Helvetica" pitchFamily="34" charset="0"/>
              </a:rPr>
              <a:t>Ports and cheese</a:t>
            </a:r>
          </a:p>
          <a:p>
            <a:pPr lvl="1">
              <a:spcBef>
                <a:spcPts val="600"/>
              </a:spcBef>
              <a:spcAft>
                <a:spcPts val="1200"/>
              </a:spcAft>
            </a:pPr>
            <a:r>
              <a:rPr lang="en-AU" sz="2200" dirty="0" smtClean="0">
                <a:latin typeface="Helvetica" pitchFamily="34" charset="0"/>
              </a:rPr>
              <a:t>Champagne and birthday cakes or other celebrations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6" name="Picture 5" descr="I:\Overseas Projects\PHOTOS\2012\F &amp; B 2012\shutterstock_111381536.jpg"/>
          <p:cNvPicPr/>
          <p:nvPr/>
        </p:nvPicPr>
        <p:blipFill>
          <a:blip r:embed="rId3" cstate="print"/>
          <a:srcRect/>
          <a:stretch>
            <a:fillRect/>
          </a:stretch>
        </p:blipFill>
        <p:spPr bwMode="auto">
          <a:xfrm>
            <a:off x="6429388" y="2786058"/>
            <a:ext cx="1959597" cy="15001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Clear beverage items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Autofit/>
          </a:bodyPr>
          <a:lstStyle/>
          <a:p>
            <a:pPr marL="0">
              <a:spcBef>
                <a:spcPts val="600"/>
              </a:spcBef>
              <a:spcAft>
                <a:spcPts val="1200"/>
              </a:spcAft>
              <a:buNone/>
            </a:pPr>
            <a:r>
              <a:rPr lang="en-AU" sz="2200" dirty="0" smtClean="0">
                <a:latin typeface="Helvetica" pitchFamily="34" charset="0"/>
              </a:rPr>
              <a:t>Similar to the service of beverages, the timely clearance of both used and unused glasses is important.</a:t>
            </a:r>
          </a:p>
          <a:p>
            <a:pPr>
              <a:spcBef>
                <a:spcPts val="600"/>
              </a:spcBef>
              <a:spcAft>
                <a:spcPts val="1200"/>
              </a:spcAft>
            </a:pPr>
            <a:r>
              <a:rPr lang="en-AU" sz="2200" dirty="0" smtClean="0">
                <a:latin typeface="Helvetica" pitchFamily="34" charset="0"/>
              </a:rPr>
              <a:t>When should used glasses be cleared?</a:t>
            </a:r>
          </a:p>
          <a:p>
            <a:pPr>
              <a:spcBef>
                <a:spcPts val="600"/>
              </a:spcBef>
              <a:spcAft>
                <a:spcPts val="1200"/>
              </a:spcAft>
            </a:pPr>
            <a:r>
              <a:rPr lang="en-AU" sz="2200" dirty="0" smtClean="0">
                <a:latin typeface="Helvetica" pitchFamily="34" charset="0"/>
              </a:rPr>
              <a:t>When should unused glasses be cleared?</a:t>
            </a:r>
          </a:p>
          <a:p>
            <a:pPr>
              <a:spcBef>
                <a:spcPts val="600"/>
              </a:spcBef>
              <a:spcAft>
                <a:spcPts val="1200"/>
              </a:spcAft>
            </a:pPr>
            <a:r>
              <a:rPr lang="en-AU" sz="2200" dirty="0" smtClean="0">
                <a:latin typeface="Helvetica" pitchFamily="34" charset="0"/>
              </a:rPr>
              <a:t>What else should be cleared?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29698" name="Picture 2" descr="I:\Overseas Projects\PHOTOS\2012\F &amp; B 2012\MP900444083.JPG"/>
          <p:cNvPicPr>
            <a:picLocks noChangeAspect="1" noChangeArrowheads="1"/>
          </p:cNvPicPr>
          <p:nvPr/>
        </p:nvPicPr>
        <p:blipFill>
          <a:blip r:embed="rId3" cstate="print">
            <a:lum contrast="20000"/>
          </a:blip>
          <a:srcRect/>
          <a:stretch>
            <a:fillRect/>
          </a:stretch>
        </p:blipFill>
        <p:spPr bwMode="auto">
          <a:xfrm>
            <a:off x="3714744" y="4357694"/>
            <a:ext cx="2468145" cy="1643074"/>
          </a:xfrm>
          <a:prstGeom prst="rect">
            <a:avLst/>
          </a:prstGeom>
          <a:noFill/>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7:</a:t>
            </a:r>
          </a:p>
          <a:p>
            <a:pPr marL="0">
              <a:spcBef>
                <a:spcPts val="600"/>
              </a:spcBef>
              <a:spcAft>
                <a:spcPts val="1200"/>
              </a:spcAft>
              <a:buNone/>
            </a:pPr>
            <a:r>
              <a:rPr lang="en-AU" sz="4000" dirty="0" smtClean="0">
                <a:solidFill>
                  <a:srgbClr val="FF6600"/>
                </a:solidFill>
              </a:rPr>
              <a:t>Present account to guest</a:t>
            </a:r>
            <a:endParaRPr lang="en-AU" sz="2200" dirty="0" smtClean="0">
              <a:solidFill>
                <a:srgbClr val="FF6600"/>
              </a:solidFill>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5" name="Picture 4" descr="shutterstock_18561934.jpg"/>
          <p:cNvPicPr>
            <a:picLocks noChangeAspect="1"/>
          </p:cNvPicPr>
          <p:nvPr/>
        </p:nvPicPr>
        <p:blipFill>
          <a:blip r:embed="rId3" cstate="print"/>
          <a:stretch>
            <a:fillRect/>
          </a:stretch>
        </p:blipFill>
        <p:spPr>
          <a:xfrm>
            <a:off x="4214810" y="3143248"/>
            <a:ext cx="2000264" cy="2998896"/>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Present account to guest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Compile guest account ready for presentation</a:t>
            </a:r>
          </a:p>
          <a:p>
            <a:pPr>
              <a:spcBef>
                <a:spcPts val="600"/>
              </a:spcBef>
              <a:spcAft>
                <a:spcPts val="1200"/>
              </a:spcAft>
            </a:pPr>
            <a:r>
              <a:rPr lang="en-AU" sz="2200" dirty="0" smtClean="0">
                <a:latin typeface="Helvetica" pitchFamily="34" charset="0"/>
              </a:rPr>
              <a:t>Present account to guest</a:t>
            </a:r>
          </a:p>
          <a:p>
            <a:pPr>
              <a:spcBef>
                <a:spcPts val="600"/>
              </a:spcBef>
              <a:spcAft>
                <a:spcPts val="1200"/>
              </a:spcAft>
            </a:pPr>
            <a:r>
              <a:rPr lang="en-AU" sz="2200" dirty="0" smtClean="0">
                <a:latin typeface="Helvetica" pitchFamily="34" charset="0"/>
              </a:rPr>
              <a:t>Accept payment for account</a:t>
            </a:r>
          </a:p>
          <a:p>
            <a:pPr>
              <a:spcBef>
                <a:spcPts val="600"/>
              </a:spcBef>
              <a:spcAft>
                <a:spcPts val="1200"/>
              </a:spcAft>
            </a:pPr>
            <a:r>
              <a:rPr lang="en-AU" sz="2200" dirty="0" smtClean="0">
                <a:latin typeface="Helvetica" pitchFamily="34" charset="0"/>
              </a:rPr>
              <a:t>Process payment of account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858016"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286248" y="257174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3143248"/>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714876" y="3714752"/>
            <a:ext cx="399154" cy="527046"/>
          </a:xfrm>
          <a:prstGeom prst="rect">
            <a:avLst/>
          </a:prstGeom>
          <a:noFill/>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Prepare customer accounts</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600"/>
              </a:spcAft>
              <a:buNone/>
              <a:defRPr/>
            </a:pPr>
            <a:r>
              <a:rPr lang="en-AU" sz="2200" b="1" dirty="0" smtClean="0">
                <a:latin typeface="Helvetica" pitchFamily="34" charset="0"/>
              </a:rPr>
              <a:t>Guidelines for preparing accounts:</a:t>
            </a:r>
          </a:p>
          <a:p>
            <a:pPr marL="342900" indent="-342900">
              <a:spcBef>
                <a:spcPts val="600"/>
              </a:spcBef>
              <a:spcAft>
                <a:spcPts val="600"/>
              </a:spcAft>
              <a:defRPr/>
            </a:pPr>
            <a:r>
              <a:rPr lang="en-US" sz="2200" dirty="0" smtClean="0">
                <a:latin typeface="Helvetica" pitchFamily="34" charset="0"/>
              </a:rPr>
              <a:t>Understand operations and equipment</a:t>
            </a:r>
          </a:p>
          <a:p>
            <a:pPr marL="342900" indent="-342900">
              <a:spcBef>
                <a:spcPts val="600"/>
              </a:spcBef>
              <a:spcAft>
                <a:spcPts val="600"/>
              </a:spcAft>
              <a:defRPr/>
            </a:pPr>
            <a:r>
              <a:rPr lang="en-US" sz="2200" dirty="0" smtClean="0">
                <a:latin typeface="Helvetica" pitchFamily="34" charset="0"/>
              </a:rPr>
              <a:t>Produce supporting documentation</a:t>
            </a:r>
          </a:p>
          <a:p>
            <a:pPr marL="342900" indent="-342900">
              <a:spcBef>
                <a:spcPts val="600"/>
              </a:spcBef>
              <a:spcAft>
                <a:spcPts val="600"/>
              </a:spcAft>
              <a:defRPr/>
            </a:pPr>
            <a:r>
              <a:rPr lang="en-US" sz="2200" dirty="0" smtClean="0">
                <a:latin typeface="Helvetica" pitchFamily="34" charset="0"/>
              </a:rPr>
              <a:t>Post charges accurately and promptly</a:t>
            </a:r>
          </a:p>
          <a:p>
            <a:pPr marL="342900" indent="-342900">
              <a:spcBef>
                <a:spcPts val="600"/>
              </a:spcBef>
              <a:spcAft>
                <a:spcPts val="600"/>
              </a:spcAft>
              <a:defRPr/>
            </a:pPr>
            <a:r>
              <a:rPr lang="en-US" sz="2200" dirty="0" smtClean="0">
                <a:latin typeface="Helvetica" pitchFamily="34" charset="0"/>
              </a:rPr>
              <a:t>Keep accounts updated</a:t>
            </a:r>
          </a:p>
          <a:p>
            <a:pPr marL="342900" indent="-342900">
              <a:spcBef>
                <a:spcPts val="600"/>
              </a:spcBef>
              <a:spcAft>
                <a:spcPts val="600"/>
              </a:spcAft>
              <a:defRPr/>
            </a:pPr>
            <a:r>
              <a:rPr lang="en-US" sz="2200" dirty="0" smtClean="0">
                <a:latin typeface="Helvetica" pitchFamily="34" charset="0"/>
              </a:rPr>
              <a:t>Process when required</a:t>
            </a:r>
          </a:p>
          <a:p>
            <a:pPr marL="342900" indent="-342900">
              <a:spcBef>
                <a:spcPts val="600"/>
              </a:spcBef>
              <a:spcAft>
                <a:spcPts val="600"/>
              </a:spcAft>
              <a:buNone/>
              <a:defRPr/>
            </a:pPr>
            <a:r>
              <a:rPr lang="en-US" sz="2200" b="1" dirty="0" smtClean="0">
                <a:latin typeface="Helvetica" pitchFamily="34" charset="0"/>
              </a:rPr>
              <a:t>Ensure:</a:t>
            </a:r>
          </a:p>
          <a:p>
            <a:pPr marL="342900" indent="-342900">
              <a:spcBef>
                <a:spcPts val="600"/>
              </a:spcBef>
              <a:spcAft>
                <a:spcPts val="600"/>
              </a:spcAft>
              <a:defRPr/>
            </a:pPr>
            <a:r>
              <a:rPr lang="en-US" sz="2200" dirty="0" smtClean="0">
                <a:latin typeface="Helvetica" pitchFamily="34" charset="0"/>
              </a:rPr>
              <a:t>Prompt processing</a:t>
            </a:r>
          </a:p>
          <a:p>
            <a:pPr marL="342900" indent="-342900">
              <a:spcBef>
                <a:spcPts val="600"/>
              </a:spcBef>
              <a:spcAft>
                <a:spcPts val="600"/>
              </a:spcAft>
              <a:defRPr/>
            </a:pPr>
            <a:r>
              <a:rPr lang="en-US" sz="2200" dirty="0" smtClean="0">
                <a:latin typeface="Helvetica" pitchFamily="34" charset="0"/>
              </a:rPr>
              <a:t>Accuracy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6" name="Picture 5" descr="MP900409077.JPG"/>
          <p:cNvPicPr/>
          <p:nvPr/>
        </p:nvPicPr>
        <p:blipFill>
          <a:blip r:embed="rId3" cstate="print"/>
          <a:stretch>
            <a:fillRect/>
          </a:stretch>
        </p:blipFill>
        <p:spPr>
          <a:xfrm>
            <a:off x="6429388" y="2643182"/>
            <a:ext cx="1857388" cy="1857388"/>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account to customer</a:t>
            </a:r>
          </a:p>
        </p:txBody>
      </p:sp>
      <p:sp>
        <p:nvSpPr>
          <p:cNvPr id="3" name="Content Placeholder 2"/>
          <p:cNvSpPr>
            <a:spLocks noGrp="1"/>
          </p:cNvSpPr>
          <p:nvPr>
            <p:ph idx="1"/>
          </p:nvPr>
        </p:nvSpPr>
        <p:spPr>
          <a:xfrm>
            <a:off x="611560" y="1556792"/>
            <a:ext cx="7467600" cy="5301208"/>
          </a:xfrm>
        </p:spPr>
        <p:txBody>
          <a:bodyPr>
            <a:noAutofit/>
          </a:bodyPr>
          <a:lstStyle/>
          <a:p>
            <a:pPr marL="342900" indent="-342900">
              <a:spcBef>
                <a:spcPts val="600"/>
              </a:spcBef>
              <a:spcAft>
                <a:spcPts val="1200"/>
              </a:spcAft>
              <a:buNone/>
              <a:defRPr/>
            </a:pPr>
            <a:r>
              <a:rPr lang="en-AU" sz="2200" b="1" dirty="0" smtClean="0">
                <a:latin typeface="Helvetica" pitchFamily="34" charset="0"/>
              </a:rPr>
              <a:t>Account folders:</a:t>
            </a:r>
          </a:p>
          <a:p>
            <a:pPr marL="342900" indent="-342900">
              <a:spcBef>
                <a:spcPts val="600"/>
              </a:spcBef>
              <a:spcAft>
                <a:spcPts val="1200"/>
              </a:spcAft>
              <a:defRPr/>
            </a:pPr>
            <a:r>
              <a:rPr lang="en-US" sz="2200" dirty="0" smtClean="0">
                <a:latin typeface="Helvetica" pitchFamily="34" charset="0"/>
              </a:rPr>
              <a:t>Used in a la carte restaurants</a:t>
            </a:r>
          </a:p>
          <a:p>
            <a:pPr marL="342900" indent="-342900">
              <a:spcBef>
                <a:spcPts val="600"/>
              </a:spcBef>
              <a:spcAft>
                <a:spcPts val="1200"/>
              </a:spcAft>
              <a:defRPr/>
            </a:pPr>
            <a:r>
              <a:rPr lang="en-US" sz="2200" dirty="0" smtClean="0">
                <a:latin typeface="Helvetica" pitchFamily="34" charset="0"/>
              </a:rPr>
              <a:t>Presented to customers at the table</a:t>
            </a:r>
          </a:p>
          <a:p>
            <a:pPr marL="342900" indent="-342900">
              <a:spcBef>
                <a:spcPts val="600"/>
              </a:spcBef>
              <a:spcAft>
                <a:spcPts val="1200"/>
              </a:spcAft>
              <a:buNone/>
              <a:defRPr/>
            </a:pPr>
            <a:r>
              <a:rPr lang="en-US" sz="2200" b="1" dirty="0" smtClean="0">
                <a:latin typeface="Helvetica" pitchFamily="34" charset="0"/>
              </a:rPr>
              <a:t>Ensure:</a:t>
            </a:r>
          </a:p>
          <a:p>
            <a:pPr marL="342900" indent="-342900">
              <a:spcBef>
                <a:spcPts val="600"/>
              </a:spcBef>
              <a:spcAft>
                <a:spcPts val="1200"/>
              </a:spcAft>
              <a:defRPr/>
            </a:pPr>
            <a:r>
              <a:rPr lang="en-US" sz="2200" dirty="0" smtClean="0">
                <a:latin typeface="Helvetica" pitchFamily="34" charset="0"/>
              </a:rPr>
              <a:t>Account is correct</a:t>
            </a:r>
          </a:p>
          <a:p>
            <a:pPr marL="342900" indent="-342900">
              <a:spcBef>
                <a:spcPts val="600"/>
              </a:spcBef>
              <a:spcAft>
                <a:spcPts val="1200"/>
              </a:spcAft>
              <a:defRPr/>
            </a:pPr>
            <a:r>
              <a:rPr lang="en-US" sz="2200" dirty="0" smtClean="0">
                <a:latin typeface="Helvetica" pitchFamily="34" charset="0"/>
              </a:rPr>
              <a:t>Pen is provided</a:t>
            </a:r>
          </a:p>
          <a:p>
            <a:pPr marL="342900" indent="-342900">
              <a:spcBef>
                <a:spcPts val="600"/>
              </a:spcBef>
              <a:spcAft>
                <a:spcPts val="1200"/>
              </a:spcAft>
              <a:defRPr/>
            </a:pPr>
            <a:r>
              <a:rPr lang="en-US" sz="2200" dirty="0" smtClean="0">
                <a:latin typeface="Helvetica" pitchFamily="34" charset="0"/>
              </a:rPr>
              <a:t>Issued and collected in a prompt manner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6" name="Picture 5" descr="IMG_1982.jpg"/>
          <p:cNvPicPr/>
          <p:nvPr/>
        </p:nvPicPr>
        <p:blipFill>
          <a:blip r:embed="rId3" cstate="print"/>
          <a:stretch>
            <a:fillRect/>
          </a:stretch>
        </p:blipFill>
        <p:spPr>
          <a:xfrm>
            <a:off x="5786446" y="2928934"/>
            <a:ext cx="2553790" cy="1857388"/>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Accept payment for account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Secure money and documentation during trade</a:t>
            </a:r>
          </a:p>
          <a:p>
            <a:pPr marL="0">
              <a:spcBef>
                <a:spcPts val="600"/>
              </a:spcBef>
              <a:spcAft>
                <a:spcPts val="1200"/>
              </a:spcAft>
              <a:buNone/>
            </a:pPr>
            <a:r>
              <a:rPr lang="en-AU" sz="2200" dirty="0" smtClean="0"/>
              <a:t>The f</a:t>
            </a:r>
            <a:r>
              <a:rPr lang="en-AU" sz="2200" dirty="0" smtClean="0">
                <a:latin typeface="Helvetica" pitchFamily="34" charset="0"/>
              </a:rPr>
              <a:t>ollowing are helpful tips to employ to increase the security of cash and non-cash payments:</a:t>
            </a:r>
          </a:p>
          <a:p>
            <a:pPr>
              <a:spcBef>
                <a:spcPts val="600"/>
              </a:spcBef>
              <a:spcAft>
                <a:spcPts val="1200"/>
              </a:spcAft>
            </a:pPr>
            <a:r>
              <a:rPr lang="en-AU" sz="2200" dirty="0" smtClean="0">
                <a:latin typeface="Helvetica" pitchFamily="34" charset="0"/>
              </a:rPr>
              <a:t>Try not to share cash registers</a:t>
            </a:r>
          </a:p>
          <a:p>
            <a:pPr>
              <a:spcBef>
                <a:spcPts val="600"/>
              </a:spcBef>
              <a:spcAft>
                <a:spcPts val="1200"/>
              </a:spcAft>
            </a:pPr>
            <a:r>
              <a:rPr lang="en-AU" sz="2200" dirty="0" smtClean="0">
                <a:latin typeface="Helvetica" pitchFamily="34" charset="0"/>
              </a:rPr>
              <a:t>Never leave a cash register open when </a:t>
            </a:r>
            <a:br>
              <a:rPr lang="en-AU" sz="2200" dirty="0" smtClean="0">
                <a:latin typeface="Helvetica" pitchFamily="34" charset="0"/>
              </a:rPr>
            </a:br>
            <a:r>
              <a:rPr lang="en-AU" sz="2200" dirty="0" smtClean="0">
                <a:latin typeface="Helvetica" pitchFamily="34" charset="0"/>
              </a:rPr>
              <a:t>unattended</a:t>
            </a:r>
          </a:p>
          <a:p>
            <a:pPr>
              <a:spcBef>
                <a:spcPts val="600"/>
              </a:spcBef>
              <a:spcAft>
                <a:spcPts val="1200"/>
              </a:spcAft>
            </a:pPr>
            <a:r>
              <a:rPr lang="en-AU" sz="2200" dirty="0" smtClean="0">
                <a:latin typeface="Helvetica" pitchFamily="34" charset="0"/>
              </a:rPr>
              <a:t>Keep cash registers out of the reach of customers</a:t>
            </a:r>
          </a:p>
          <a:p>
            <a:pPr>
              <a:buNone/>
            </a:pP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6" name="Picture 5" descr="MP900409439.JPG"/>
          <p:cNvPicPr/>
          <p:nvPr/>
        </p:nvPicPr>
        <p:blipFill>
          <a:blip r:embed="rId3" cstate="print"/>
          <a:stretch>
            <a:fillRect/>
          </a:stretch>
        </p:blipFill>
        <p:spPr>
          <a:xfrm>
            <a:off x="6286512" y="2857496"/>
            <a:ext cx="2093590" cy="1368549"/>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Accept payment for account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Secure money and documentation during trade</a:t>
            </a:r>
          </a:p>
          <a:p>
            <a:pPr>
              <a:spcBef>
                <a:spcPts val="600"/>
              </a:spcBef>
              <a:spcAft>
                <a:spcPts val="1200"/>
              </a:spcAft>
            </a:pPr>
            <a:r>
              <a:rPr lang="en-AU" sz="2200" dirty="0" smtClean="0">
                <a:latin typeface="Helvetica" pitchFamily="34" charset="0"/>
              </a:rPr>
              <a:t>Lock cash registers when not in use</a:t>
            </a:r>
          </a:p>
          <a:p>
            <a:pPr>
              <a:spcBef>
                <a:spcPts val="600"/>
              </a:spcBef>
              <a:spcAft>
                <a:spcPts val="1200"/>
              </a:spcAft>
            </a:pPr>
            <a:r>
              <a:rPr lang="en-AU" sz="2200" dirty="0" smtClean="0">
                <a:latin typeface="Helvetica" pitchFamily="34" charset="0"/>
              </a:rPr>
              <a:t>Keep the original note on display whilst a </a:t>
            </a:r>
            <a:br>
              <a:rPr lang="en-AU" sz="2200" dirty="0" smtClean="0">
                <a:latin typeface="Helvetica" pitchFamily="34" charset="0"/>
              </a:rPr>
            </a:br>
            <a:r>
              <a:rPr lang="en-AU" sz="2200" dirty="0" smtClean="0">
                <a:latin typeface="Helvetica" pitchFamily="34" charset="0"/>
              </a:rPr>
              <a:t>transaction is taking place</a:t>
            </a:r>
          </a:p>
          <a:p>
            <a:pPr>
              <a:spcBef>
                <a:spcPts val="600"/>
              </a:spcBef>
              <a:spcAft>
                <a:spcPts val="1200"/>
              </a:spcAft>
            </a:pPr>
            <a:r>
              <a:rPr lang="en-AU" sz="2200" dirty="0" smtClean="0">
                <a:latin typeface="Helvetica" pitchFamily="34" charset="0"/>
              </a:rPr>
              <a:t>Regularly store large notes under the cash till,                        out of display of customers</a:t>
            </a:r>
          </a:p>
          <a:p>
            <a:pPr>
              <a:spcBef>
                <a:spcPts val="600"/>
              </a:spcBef>
              <a:spcAft>
                <a:spcPts val="1200"/>
              </a:spcAft>
            </a:pPr>
            <a:r>
              <a:rPr lang="en-AU" sz="2200" dirty="0" smtClean="0">
                <a:latin typeface="Helvetica" pitchFamily="34" charset="0"/>
              </a:rPr>
              <a:t>Regularly arrange for cash registers to                                         be cleared</a:t>
            </a:r>
            <a:r>
              <a:rPr lang="en-AU" sz="2400" dirty="0" smtClean="0"/>
              <a:t/>
            </a:r>
            <a:br>
              <a:rPr lang="en-AU" sz="2400" dirty="0" smtClean="0"/>
            </a:b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5" name="Picture 4" descr="j0409039.jpg"/>
          <p:cNvPicPr>
            <a:picLocks noChangeAspect="1"/>
          </p:cNvPicPr>
          <p:nvPr/>
        </p:nvPicPr>
        <p:blipFill>
          <a:blip r:embed="rId3" cstate="print">
            <a:lum contrast="30000"/>
          </a:blip>
          <a:srcRect r="20699"/>
          <a:stretch>
            <a:fillRect/>
          </a:stretch>
        </p:blipFill>
        <p:spPr>
          <a:xfrm>
            <a:off x="7143768" y="2571744"/>
            <a:ext cx="1357322" cy="1991690"/>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Account settling options</a:t>
            </a:r>
          </a:p>
          <a:p>
            <a:pPr>
              <a:spcBef>
                <a:spcPts val="600"/>
              </a:spcBef>
              <a:spcAft>
                <a:spcPts val="1200"/>
              </a:spcAft>
              <a:defRPr/>
            </a:pPr>
            <a:r>
              <a:rPr lang="en-US" sz="2200" dirty="0" smtClean="0">
                <a:latin typeface="Helvetica" pitchFamily="34" charset="0"/>
              </a:rPr>
              <a:t>Paying cash</a:t>
            </a:r>
          </a:p>
          <a:p>
            <a:pPr>
              <a:spcBef>
                <a:spcPts val="600"/>
              </a:spcBef>
              <a:spcAft>
                <a:spcPts val="1200"/>
              </a:spcAft>
              <a:defRPr/>
            </a:pPr>
            <a:r>
              <a:rPr lang="en-US" sz="2200" dirty="0" smtClean="0">
                <a:latin typeface="Helvetica" pitchFamily="34" charset="0"/>
              </a:rPr>
              <a:t>Paying via credit card/EFTPOS</a:t>
            </a:r>
          </a:p>
          <a:p>
            <a:pPr>
              <a:spcBef>
                <a:spcPts val="600"/>
              </a:spcBef>
              <a:spcAft>
                <a:spcPts val="1200"/>
              </a:spcAft>
              <a:defRPr/>
            </a:pPr>
            <a:r>
              <a:rPr lang="en-US" sz="2200" dirty="0" smtClean="0">
                <a:latin typeface="Helvetica" pitchFamily="34" charset="0"/>
              </a:rPr>
              <a:t>Charge a house/VIP account</a:t>
            </a:r>
          </a:p>
          <a:p>
            <a:pPr>
              <a:spcBef>
                <a:spcPts val="600"/>
              </a:spcBef>
              <a:spcAft>
                <a:spcPts val="1200"/>
              </a:spcAft>
              <a:defRPr/>
            </a:pPr>
            <a:r>
              <a:rPr lang="en-US" sz="2200" dirty="0" smtClean="0">
                <a:latin typeface="Helvetica" pitchFamily="34" charset="0"/>
              </a:rPr>
              <a:t>Presenting voucher</a:t>
            </a:r>
          </a:p>
          <a:p>
            <a:pPr>
              <a:spcBef>
                <a:spcPts val="600"/>
              </a:spcBef>
              <a:spcAft>
                <a:spcPts val="1200"/>
              </a:spcAft>
              <a:defRPr/>
            </a:pPr>
            <a:r>
              <a:rPr lang="en-US" sz="2200" dirty="0" smtClean="0">
                <a:latin typeface="Helvetica" pitchFamily="34" charset="0"/>
              </a:rPr>
              <a:t>Other payment methods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6" name="Picture 5" descr="C:\Documents and Settings\danielc\Desktop\Provide F&amp;B services images\2037_visa.jpg"/>
          <p:cNvPicPr/>
          <p:nvPr/>
        </p:nvPicPr>
        <p:blipFill>
          <a:blip r:embed="rId3" cstate="print">
            <a:lum contrast="10000"/>
          </a:blip>
          <a:srcRect/>
          <a:stretch>
            <a:fillRect/>
          </a:stretch>
        </p:blipFill>
        <p:spPr bwMode="auto">
          <a:xfrm>
            <a:off x="5929322" y="2714620"/>
            <a:ext cx="2376270" cy="1785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When customers pay cash:</a:t>
            </a:r>
          </a:p>
          <a:p>
            <a:pPr>
              <a:spcBef>
                <a:spcPts val="600"/>
              </a:spcBef>
              <a:spcAft>
                <a:spcPts val="1200"/>
              </a:spcAft>
              <a:defRPr/>
            </a:pPr>
            <a:r>
              <a:rPr lang="en-US" sz="2200" dirty="0" smtClean="0">
                <a:latin typeface="Helvetica" pitchFamily="34" charset="0"/>
              </a:rPr>
              <a:t>Verify the amount tendered will cover the total of the account</a:t>
            </a:r>
          </a:p>
          <a:p>
            <a:pPr>
              <a:spcBef>
                <a:spcPts val="600"/>
              </a:spcBef>
              <a:spcAft>
                <a:spcPts val="1200"/>
              </a:spcAft>
              <a:defRPr/>
            </a:pPr>
            <a:r>
              <a:rPr lang="en-US" sz="2200" dirty="0" smtClean="0">
                <a:latin typeface="Helvetica" pitchFamily="34" charset="0"/>
              </a:rPr>
              <a:t>Thank customer</a:t>
            </a:r>
          </a:p>
          <a:p>
            <a:pPr>
              <a:spcBef>
                <a:spcPts val="600"/>
              </a:spcBef>
              <a:spcAft>
                <a:spcPts val="1200"/>
              </a:spcAft>
              <a:defRPr/>
            </a:pPr>
            <a:r>
              <a:rPr lang="en-US" sz="2200" dirty="0" smtClean="0">
                <a:latin typeface="Helvetica" pitchFamily="34" charset="0"/>
              </a:rPr>
              <a:t>Place cash on register shelf</a:t>
            </a:r>
          </a:p>
          <a:p>
            <a:pPr>
              <a:spcBef>
                <a:spcPts val="600"/>
              </a:spcBef>
              <a:spcAft>
                <a:spcPts val="1200"/>
              </a:spcAft>
              <a:defRPr/>
            </a:pPr>
            <a:r>
              <a:rPr lang="en-US" sz="2200" dirty="0" smtClean="0">
                <a:latin typeface="Helvetica" pitchFamily="34" charset="0"/>
              </a:rPr>
              <a:t>Register the sale</a:t>
            </a:r>
          </a:p>
          <a:p>
            <a:pPr>
              <a:spcBef>
                <a:spcPts val="600"/>
              </a:spcBef>
              <a:spcAft>
                <a:spcPts val="1200"/>
              </a:spcAft>
              <a:defRPr/>
            </a:pPr>
            <a:r>
              <a:rPr lang="en-US" sz="2200" dirty="0" smtClean="0">
                <a:latin typeface="Helvetica" pitchFamily="34" charset="0"/>
              </a:rPr>
              <a:t>Calculate and give change to customer</a:t>
            </a:r>
          </a:p>
          <a:p>
            <a:pPr>
              <a:spcBef>
                <a:spcPts val="600"/>
              </a:spcBef>
              <a:spcAft>
                <a:spcPts val="1200"/>
              </a:spcAft>
              <a:defRPr/>
            </a:pPr>
            <a:r>
              <a:rPr lang="en-US" sz="2200" dirty="0" smtClean="0">
                <a:latin typeface="Helvetica" pitchFamily="34" charset="0"/>
              </a:rPr>
              <a:t>Give receipt to customer</a:t>
            </a:r>
          </a:p>
          <a:p>
            <a:pPr>
              <a:spcBef>
                <a:spcPts val="600"/>
              </a:spcBef>
              <a:spcAft>
                <a:spcPts val="1200"/>
              </a:spcAft>
              <a:defRPr/>
            </a:pPr>
            <a:r>
              <a:rPr lang="en-US" sz="2200" dirty="0" smtClean="0">
                <a:latin typeface="Helvetica" pitchFamily="34" charset="0"/>
              </a:rPr>
              <a:t>Secure all money into register drawer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6" name="Picture 5" descr="RetailPhoto Shoot 2007[1].108.JPG"/>
          <p:cNvPicPr>
            <a:picLocks noChangeAspect="1"/>
          </p:cNvPicPr>
          <p:nvPr/>
        </p:nvPicPr>
        <p:blipFill>
          <a:blip r:embed="rId3" cstate="print">
            <a:lum bright="10000"/>
          </a:blip>
          <a:stretch>
            <a:fillRect/>
          </a:stretch>
        </p:blipFill>
        <p:spPr>
          <a:xfrm>
            <a:off x="6500826" y="2928934"/>
            <a:ext cx="1781682" cy="2675136"/>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When customers pay via credit card or EFTPOS:</a:t>
            </a:r>
          </a:p>
          <a:p>
            <a:pPr>
              <a:spcBef>
                <a:spcPts val="600"/>
              </a:spcBef>
              <a:spcAft>
                <a:spcPts val="1200"/>
              </a:spcAft>
              <a:defRPr/>
            </a:pPr>
            <a:r>
              <a:rPr lang="en-US" sz="2200" dirty="0" smtClean="0">
                <a:latin typeface="Helvetica" pitchFamily="34" charset="0"/>
              </a:rPr>
              <a:t>Customer presents card</a:t>
            </a:r>
          </a:p>
          <a:p>
            <a:pPr>
              <a:spcBef>
                <a:spcPts val="600"/>
              </a:spcBef>
              <a:spcAft>
                <a:spcPts val="1200"/>
              </a:spcAft>
              <a:defRPr/>
            </a:pPr>
            <a:r>
              <a:rPr lang="en-US" sz="2200" dirty="0" smtClean="0">
                <a:latin typeface="Helvetica" pitchFamily="34" charset="0"/>
              </a:rPr>
              <a:t>Attendant processed card and amount into </a:t>
            </a:r>
            <a:br>
              <a:rPr lang="en-US" sz="2200" dirty="0" smtClean="0">
                <a:latin typeface="Helvetica" pitchFamily="34" charset="0"/>
              </a:rPr>
            </a:br>
            <a:r>
              <a:rPr lang="en-US" sz="2200" dirty="0" smtClean="0">
                <a:latin typeface="Helvetica" pitchFamily="34" charset="0"/>
              </a:rPr>
              <a:t>machine</a:t>
            </a:r>
          </a:p>
          <a:p>
            <a:pPr>
              <a:spcBef>
                <a:spcPts val="600"/>
              </a:spcBef>
              <a:spcAft>
                <a:spcPts val="1200"/>
              </a:spcAft>
              <a:defRPr/>
            </a:pPr>
            <a:r>
              <a:rPr lang="en-US" sz="2200" dirty="0" smtClean="0">
                <a:latin typeface="Helvetica" pitchFamily="34" charset="0"/>
              </a:rPr>
              <a:t>Customer enters password and gratuity</a:t>
            </a:r>
          </a:p>
          <a:p>
            <a:pPr>
              <a:spcBef>
                <a:spcPts val="600"/>
              </a:spcBef>
              <a:spcAft>
                <a:spcPts val="1200"/>
              </a:spcAft>
              <a:defRPr/>
            </a:pPr>
            <a:r>
              <a:rPr lang="en-US" sz="2200" dirty="0" smtClean="0">
                <a:latin typeface="Helvetica" pitchFamily="34" charset="0"/>
              </a:rPr>
              <a:t>Attendant obtains customer signature</a:t>
            </a:r>
          </a:p>
          <a:p>
            <a:pPr>
              <a:spcBef>
                <a:spcPts val="600"/>
              </a:spcBef>
              <a:spcAft>
                <a:spcPts val="1200"/>
              </a:spcAft>
              <a:defRPr/>
            </a:pPr>
            <a:r>
              <a:rPr lang="en-US" sz="2200" dirty="0" smtClean="0">
                <a:latin typeface="Helvetica" pitchFamily="34" charset="0"/>
              </a:rPr>
              <a:t>Attendant keeps signed copy and issues copy and receipt to customer</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6" name="Picture 5" descr="C:\Documents and Settings\danielc\Local Settings\Temporary Internet Files\Content.IE5\Y88G682L\MP900431293[1].jpg"/>
          <p:cNvPicPr/>
          <p:nvPr/>
        </p:nvPicPr>
        <p:blipFill>
          <a:blip r:embed="rId3" cstate="print"/>
          <a:srcRect l="21824" t="17365"/>
          <a:stretch>
            <a:fillRect/>
          </a:stretch>
        </p:blipFill>
        <p:spPr bwMode="auto">
          <a:xfrm>
            <a:off x="6786578" y="2928934"/>
            <a:ext cx="1508667" cy="1594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When customers charge to room/account</a:t>
            </a:r>
          </a:p>
          <a:p>
            <a:pPr marL="0">
              <a:spcBef>
                <a:spcPts val="600"/>
              </a:spcBef>
              <a:spcAft>
                <a:spcPts val="1200"/>
              </a:spcAft>
              <a:buNone/>
              <a:defRPr/>
            </a:pPr>
            <a:r>
              <a:rPr lang="en-US" sz="2200" dirty="0" smtClean="0">
                <a:latin typeface="Helvetica" pitchFamily="34" charset="0"/>
              </a:rPr>
              <a:t>This allows customers to sign to an account. These accounts will be settled at a later date.</a:t>
            </a:r>
          </a:p>
          <a:p>
            <a:pPr marL="0">
              <a:spcBef>
                <a:spcPts val="600"/>
              </a:spcBef>
              <a:spcAft>
                <a:spcPts val="1200"/>
              </a:spcAft>
              <a:buNone/>
              <a:defRPr/>
            </a:pPr>
            <a:r>
              <a:rPr lang="en-US" sz="2200" dirty="0" smtClean="0">
                <a:latin typeface="Helvetica" pitchFamily="34" charset="0"/>
              </a:rPr>
              <a:t>These accounts are normally used for:</a:t>
            </a:r>
          </a:p>
          <a:p>
            <a:pPr>
              <a:spcBef>
                <a:spcPts val="600"/>
              </a:spcBef>
              <a:spcAft>
                <a:spcPts val="1200"/>
              </a:spcAft>
              <a:defRPr/>
            </a:pPr>
            <a:r>
              <a:rPr lang="en-US" sz="2200" dirty="0" smtClean="0">
                <a:latin typeface="Helvetica" pitchFamily="34" charset="0"/>
              </a:rPr>
              <a:t>In-house guests</a:t>
            </a:r>
          </a:p>
          <a:p>
            <a:pPr>
              <a:spcBef>
                <a:spcPts val="600"/>
              </a:spcBef>
              <a:spcAft>
                <a:spcPts val="1200"/>
              </a:spcAft>
              <a:defRPr/>
            </a:pPr>
            <a:r>
              <a:rPr lang="en-US" sz="2200" dirty="0" smtClean="0">
                <a:latin typeface="Helvetica" pitchFamily="34" charset="0"/>
              </a:rPr>
              <a:t>VIP customers</a:t>
            </a:r>
          </a:p>
          <a:p>
            <a:pPr>
              <a:spcBef>
                <a:spcPts val="600"/>
              </a:spcBef>
              <a:spcAft>
                <a:spcPts val="1200"/>
              </a:spcAft>
              <a:defRPr/>
            </a:pPr>
            <a:r>
              <a:rPr lang="en-US" sz="2200" dirty="0" smtClean="0">
                <a:latin typeface="Helvetica" pitchFamily="34" charset="0"/>
              </a:rPr>
              <a:t>Functions</a:t>
            </a:r>
          </a:p>
          <a:p>
            <a:pPr>
              <a:spcBef>
                <a:spcPts val="600"/>
              </a:spcBef>
              <a:spcAft>
                <a:spcPts val="1200"/>
              </a:spcAft>
              <a:defRPr/>
            </a:pPr>
            <a:r>
              <a:rPr lang="en-US" sz="2200" dirty="0" smtClean="0">
                <a:latin typeface="Helvetica" pitchFamily="34" charset="0"/>
              </a:rPr>
              <a:t>Corporate events</a:t>
            </a:r>
          </a:p>
          <a:p>
            <a:pPr>
              <a:spcBef>
                <a:spcPts val="600"/>
              </a:spcBef>
              <a:spcAft>
                <a:spcPts val="1200"/>
              </a:spcAft>
              <a:defRPr/>
            </a:pPr>
            <a:r>
              <a:rPr lang="en-US" sz="2200" dirty="0" smtClean="0">
                <a:latin typeface="Helvetica" pitchFamily="34" charset="0"/>
              </a:rPr>
              <a:t>Management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30722" name="Picture 2" descr="C:\Documents and Settings\danielc\Local Settings\Temporary Internet Files\Content.IE5\3Y3SDCJX\MP900309626[1].jpg"/>
          <p:cNvPicPr>
            <a:picLocks noChangeAspect="1" noChangeArrowheads="1"/>
          </p:cNvPicPr>
          <p:nvPr/>
        </p:nvPicPr>
        <p:blipFill>
          <a:blip r:embed="rId3" cstate="print"/>
          <a:srcRect/>
          <a:stretch>
            <a:fillRect/>
          </a:stretch>
        </p:blipFill>
        <p:spPr bwMode="auto">
          <a:xfrm>
            <a:off x="6143636" y="3571876"/>
            <a:ext cx="1763176" cy="2471742"/>
          </a:xfrm>
          <a:prstGeom prst="rect">
            <a:avLst/>
          </a:prstGeom>
          <a:noFill/>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When customers pay by voucher</a:t>
            </a:r>
          </a:p>
          <a:p>
            <a:pPr marL="0">
              <a:spcBef>
                <a:spcPts val="600"/>
              </a:spcBef>
              <a:spcAft>
                <a:spcPts val="1200"/>
              </a:spcAft>
              <a:buNone/>
              <a:defRPr/>
            </a:pPr>
            <a:r>
              <a:rPr lang="en-US" sz="2200" dirty="0" smtClean="0">
                <a:latin typeface="Helvetica" pitchFamily="34" charset="0"/>
              </a:rPr>
              <a:t>Some properties accept vouchers in full or part-payment for food and beverage items, services etc. purchased by the customer.</a:t>
            </a:r>
          </a:p>
          <a:p>
            <a:pPr>
              <a:spcBef>
                <a:spcPts val="600"/>
              </a:spcBef>
              <a:spcAft>
                <a:spcPts val="1200"/>
              </a:spcAft>
              <a:buNone/>
              <a:defRPr/>
            </a:pPr>
            <a:r>
              <a:rPr lang="en-US" sz="2200" dirty="0" smtClean="0">
                <a:latin typeface="Helvetica" pitchFamily="34" charset="0"/>
              </a:rPr>
              <a:t>Consider:</a:t>
            </a:r>
          </a:p>
          <a:p>
            <a:pPr>
              <a:spcBef>
                <a:spcPts val="600"/>
              </a:spcBef>
              <a:spcAft>
                <a:spcPts val="1200"/>
              </a:spcAft>
              <a:defRPr/>
            </a:pPr>
            <a:r>
              <a:rPr lang="en-US" sz="2200" dirty="0" smtClean="0">
                <a:latin typeface="Helvetica" pitchFamily="34" charset="0"/>
              </a:rPr>
              <a:t>Value of voucher</a:t>
            </a:r>
          </a:p>
          <a:p>
            <a:pPr>
              <a:spcBef>
                <a:spcPts val="600"/>
              </a:spcBef>
              <a:spcAft>
                <a:spcPts val="1200"/>
              </a:spcAft>
              <a:defRPr/>
            </a:pPr>
            <a:r>
              <a:rPr lang="en-US" sz="2200" dirty="0" smtClean="0">
                <a:latin typeface="Helvetica" pitchFamily="34" charset="0"/>
              </a:rPr>
              <a:t>Conditions of voucher</a:t>
            </a:r>
          </a:p>
          <a:p>
            <a:pPr>
              <a:spcBef>
                <a:spcPts val="600"/>
              </a:spcBef>
              <a:spcAft>
                <a:spcPts val="1200"/>
              </a:spcAft>
              <a:defRPr/>
            </a:pPr>
            <a:r>
              <a:rPr lang="en-US" sz="2200" dirty="0" smtClean="0">
                <a:latin typeface="Helvetica" pitchFamily="34" charset="0"/>
              </a:rPr>
              <a:t>Expiry date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31746" name="Picture 2" descr="C:\Documents and Settings\danielc\Desktop\Provide F&amp;B services images\BS-Gift-Voucher-e1324311653441.jpg"/>
          <p:cNvPicPr>
            <a:picLocks noChangeAspect="1" noChangeArrowheads="1"/>
          </p:cNvPicPr>
          <p:nvPr/>
        </p:nvPicPr>
        <p:blipFill>
          <a:blip r:embed="rId3" cstate="print">
            <a:duotone>
              <a:prstClr val="black"/>
              <a:srgbClr val="D9C3A5">
                <a:tint val="50000"/>
                <a:satMod val="180000"/>
              </a:srgbClr>
            </a:duotone>
          </a:blip>
          <a:srcRect t="22322"/>
          <a:stretch>
            <a:fillRect/>
          </a:stretch>
        </p:blipFill>
        <p:spPr bwMode="auto">
          <a:xfrm>
            <a:off x="5286380" y="3929066"/>
            <a:ext cx="2857500" cy="1243010"/>
          </a:xfrm>
          <a:prstGeom prst="rect">
            <a:avLst/>
          </a:prstGeom>
          <a:noFill/>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defRPr/>
            </a:pPr>
            <a:r>
              <a:rPr lang="en-US" sz="2200" b="1" dirty="0" smtClean="0">
                <a:latin typeface="Helvetica" pitchFamily="34" charset="0"/>
              </a:rPr>
              <a:t>Process gratuities</a:t>
            </a:r>
          </a:p>
          <a:p>
            <a:pPr marL="0">
              <a:spcBef>
                <a:spcPts val="600"/>
              </a:spcBef>
              <a:spcAft>
                <a:spcPts val="1200"/>
              </a:spcAft>
              <a:buNone/>
            </a:pPr>
            <a:r>
              <a:rPr lang="en-US" sz="2200" dirty="0" smtClean="0">
                <a:latin typeface="Helvetica" pitchFamily="34" charset="0"/>
              </a:rPr>
              <a:t>Customers may leave a tip for service staff in appreciation of good service.</a:t>
            </a:r>
          </a:p>
          <a:p>
            <a:pPr>
              <a:spcBef>
                <a:spcPts val="600"/>
              </a:spcBef>
              <a:spcAft>
                <a:spcPts val="1200"/>
              </a:spcAft>
              <a:buNone/>
            </a:pPr>
            <a:r>
              <a:rPr lang="en-US" sz="2200" dirty="0" smtClean="0">
                <a:latin typeface="Helvetica" pitchFamily="34" charset="0"/>
              </a:rPr>
              <a:t>Tips are also known as ‘gratuities’</a:t>
            </a:r>
          </a:p>
          <a:p>
            <a:pPr>
              <a:spcBef>
                <a:spcPts val="600"/>
              </a:spcBef>
              <a:spcAft>
                <a:spcPts val="1200"/>
              </a:spcAft>
              <a:buNone/>
              <a:defRPr/>
            </a:pPr>
            <a:r>
              <a:rPr lang="en-US" sz="2200" dirty="0" smtClean="0">
                <a:latin typeface="Helvetica" pitchFamily="34" charset="0"/>
              </a:rPr>
              <a:t>Tipping options:</a:t>
            </a:r>
          </a:p>
          <a:p>
            <a:pPr>
              <a:spcBef>
                <a:spcPts val="600"/>
              </a:spcBef>
              <a:spcAft>
                <a:spcPts val="1200"/>
              </a:spcAft>
              <a:defRPr/>
            </a:pPr>
            <a:r>
              <a:rPr lang="en-US" sz="2200" dirty="0" smtClean="0">
                <a:latin typeface="Helvetica" pitchFamily="34" charset="0"/>
              </a:rPr>
              <a:t>Individual staff keep all tips they receive </a:t>
            </a:r>
          </a:p>
          <a:p>
            <a:pPr>
              <a:spcBef>
                <a:spcPts val="600"/>
              </a:spcBef>
              <a:spcAft>
                <a:spcPts val="1200"/>
              </a:spcAft>
              <a:defRPr/>
            </a:pPr>
            <a:r>
              <a:rPr lang="en-US" sz="2200" dirty="0" smtClean="0">
                <a:latin typeface="Helvetica" pitchFamily="34" charset="0"/>
              </a:rPr>
              <a:t>All tips are pooled into a central pool of money and then shared amongst all staff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6" name="Picture 5" descr="857196_coffee_cups.jpg"/>
          <p:cNvPicPr/>
          <p:nvPr/>
        </p:nvPicPr>
        <p:blipFill>
          <a:blip r:embed="rId3" cstate="print">
            <a:lum bright="10000"/>
          </a:blip>
          <a:stretch>
            <a:fillRect/>
          </a:stretch>
        </p:blipFill>
        <p:spPr>
          <a:xfrm>
            <a:off x="6357950" y="3143248"/>
            <a:ext cx="1887808" cy="1416205"/>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Process payment of account</a:t>
            </a:r>
          </a:p>
        </p:txBody>
      </p:sp>
      <p:sp>
        <p:nvSpPr>
          <p:cNvPr id="3" name="Content Placeholder 2"/>
          <p:cNvSpPr>
            <a:spLocks noGrp="1"/>
          </p:cNvSpPr>
          <p:nvPr>
            <p:ph idx="1"/>
          </p:nvPr>
        </p:nvSpPr>
        <p:spPr>
          <a:xfrm>
            <a:off x="571472" y="1357298"/>
            <a:ext cx="7467600" cy="5301208"/>
          </a:xfrm>
        </p:spPr>
        <p:txBody>
          <a:bodyPr>
            <a:noAutofit/>
          </a:bodyPr>
          <a:lstStyle/>
          <a:p>
            <a:pPr>
              <a:spcBef>
                <a:spcPts val="600"/>
              </a:spcBef>
              <a:spcAft>
                <a:spcPts val="1200"/>
              </a:spcAft>
              <a:buNone/>
              <a:defRPr/>
            </a:pPr>
            <a:r>
              <a:rPr lang="en-US" sz="2200" b="1" dirty="0" smtClean="0">
                <a:latin typeface="Helvetica" pitchFamily="34" charset="0"/>
              </a:rPr>
              <a:t>Issue change and receipts</a:t>
            </a:r>
          </a:p>
          <a:p>
            <a:pPr>
              <a:spcBef>
                <a:spcPts val="600"/>
              </a:spcBef>
              <a:spcAft>
                <a:spcPts val="1200"/>
              </a:spcAft>
              <a:buNone/>
            </a:pPr>
            <a:r>
              <a:rPr lang="en-AU" sz="2200" dirty="0" smtClean="0">
                <a:latin typeface="Helvetica" pitchFamily="34" charset="0"/>
              </a:rPr>
              <a:t>As an ethical staff member it is important to:</a:t>
            </a:r>
          </a:p>
          <a:p>
            <a:pPr>
              <a:spcBef>
                <a:spcPts val="600"/>
              </a:spcBef>
              <a:spcAft>
                <a:spcPts val="1200"/>
              </a:spcAft>
            </a:pPr>
            <a:r>
              <a:rPr lang="en-AU" sz="2200" dirty="0" smtClean="0">
                <a:latin typeface="Helvetica" pitchFamily="34" charset="0"/>
              </a:rPr>
              <a:t>To charge the correct amount for a sale</a:t>
            </a:r>
          </a:p>
          <a:p>
            <a:pPr>
              <a:spcBef>
                <a:spcPts val="600"/>
              </a:spcBef>
              <a:spcAft>
                <a:spcPts val="1200"/>
              </a:spcAft>
            </a:pPr>
            <a:r>
              <a:rPr lang="en-AU" sz="2200" dirty="0" smtClean="0">
                <a:latin typeface="Helvetica" pitchFamily="34" charset="0"/>
              </a:rPr>
              <a:t>To return change automatically. It is at the </a:t>
            </a:r>
            <a:br>
              <a:rPr lang="en-AU" sz="2200" dirty="0" smtClean="0">
                <a:latin typeface="Helvetica" pitchFamily="34" charset="0"/>
              </a:rPr>
            </a:br>
            <a:r>
              <a:rPr lang="en-AU" sz="2200" dirty="0" smtClean="0">
                <a:latin typeface="Helvetica" pitchFamily="34" charset="0"/>
              </a:rPr>
              <a:t>discretion of the customer if a gratuity is given</a:t>
            </a:r>
          </a:p>
          <a:p>
            <a:pPr>
              <a:spcBef>
                <a:spcPts val="600"/>
              </a:spcBef>
              <a:spcAft>
                <a:spcPts val="1200"/>
              </a:spcAft>
            </a:pPr>
            <a:r>
              <a:rPr lang="en-AU" sz="2200" dirty="0" smtClean="0">
                <a:latin typeface="Helvetica" pitchFamily="34" charset="0"/>
              </a:rPr>
              <a:t>Provide a receipt and explanation of charges</a:t>
            </a:r>
          </a:p>
          <a:p>
            <a:pPr>
              <a:spcBef>
                <a:spcPts val="600"/>
              </a:spcBef>
              <a:spcAft>
                <a:spcPts val="1200"/>
              </a:spcAft>
            </a:pPr>
            <a:r>
              <a:rPr lang="en-AU" sz="2200" dirty="0" smtClean="0">
                <a:latin typeface="Helvetica" pitchFamily="34" charset="0"/>
              </a:rPr>
              <a:t>Remind customers to collect their change</a:t>
            </a:r>
          </a:p>
          <a:p>
            <a:pPr>
              <a:spcBef>
                <a:spcPts val="600"/>
              </a:spcBef>
              <a:spcAft>
                <a:spcPts val="1200"/>
              </a:spcAft>
            </a:pPr>
            <a:r>
              <a:rPr lang="en-AU" sz="2200" dirty="0" smtClean="0">
                <a:latin typeface="Helvetica" pitchFamily="34" charset="0"/>
              </a:rPr>
              <a:t>To accurately record all transactions and store money securely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6" name="Picture 5" descr="http://ecowomen.files.wordpress.com/2010/02/5045cash_receipt.jpg"/>
          <p:cNvPicPr/>
          <p:nvPr/>
        </p:nvPicPr>
        <p:blipFill>
          <a:blip r:embed="rId3" cstate="print"/>
          <a:srcRect/>
          <a:stretch>
            <a:fillRect/>
          </a:stretch>
        </p:blipFill>
        <p:spPr bwMode="auto">
          <a:xfrm>
            <a:off x="6929454" y="2714620"/>
            <a:ext cx="1890684" cy="134912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8:</a:t>
            </a:r>
          </a:p>
          <a:p>
            <a:pPr marL="0">
              <a:spcBef>
                <a:spcPts val="600"/>
              </a:spcBef>
              <a:spcAft>
                <a:spcPts val="1200"/>
              </a:spcAft>
              <a:buNone/>
            </a:pPr>
            <a:r>
              <a:rPr lang="en-AU" sz="4000" dirty="0" smtClean="0">
                <a:solidFill>
                  <a:srgbClr val="FF6600"/>
                </a:solidFill>
              </a:rPr>
              <a:t>Provide departure services</a:t>
            </a:r>
            <a:endParaRPr lang="en-AU" sz="22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6" name="Picture 5" descr="BW_4.jpg"/>
          <p:cNvPicPr>
            <a:picLocks noChangeAspect="1"/>
          </p:cNvPicPr>
          <p:nvPr/>
        </p:nvPicPr>
        <p:blipFill>
          <a:blip r:embed="rId3" cstate="print"/>
          <a:stretch>
            <a:fillRect/>
          </a:stretch>
        </p:blipFill>
        <p:spPr>
          <a:xfrm>
            <a:off x="4857752" y="3071810"/>
            <a:ext cx="2012658" cy="2677489"/>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Provide departure services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Assist guest in leaving table </a:t>
            </a:r>
          </a:p>
          <a:p>
            <a:pPr>
              <a:spcBef>
                <a:spcPts val="600"/>
              </a:spcBef>
              <a:spcAft>
                <a:spcPts val="1200"/>
              </a:spcAft>
            </a:pPr>
            <a:r>
              <a:rPr lang="en-AU" sz="2200" dirty="0" smtClean="0">
                <a:latin typeface="Helvetica" pitchFamily="34" charset="0"/>
              </a:rPr>
              <a:t>Provide end-of-service assistance, as required </a:t>
            </a:r>
          </a:p>
          <a:p>
            <a:pPr>
              <a:spcBef>
                <a:spcPts val="600"/>
              </a:spcBef>
              <a:spcAft>
                <a:spcPts val="1200"/>
              </a:spcAft>
            </a:pPr>
            <a:r>
              <a:rPr lang="en-AU" sz="2200" dirty="0" smtClean="0">
                <a:latin typeface="Helvetica" pitchFamily="34" charset="0"/>
              </a:rPr>
              <a:t>Farewell guests</a:t>
            </a:r>
            <a:r>
              <a:rPr lang="en-AU" sz="2200" i="1" dirty="0" smtClean="0">
                <a:latin typeface="Helvetica" pitchFamily="34" charset="0"/>
              </a:rPr>
              <a:t>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2000240"/>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000892" y="257174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143240" y="3143248"/>
            <a:ext cx="399154" cy="527046"/>
          </a:xfrm>
          <a:prstGeom prst="rect">
            <a:avLst/>
          </a:prstGeom>
          <a:noFill/>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Assist customers as they leave table</a:t>
            </a:r>
          </a:p>
        </p:txBody>
      </p:sp>
      <p:sp>
        <p:nvSpPr>
          <p:cNvPr id="3" name="Content Placeholder 2"/>
          <p:cNvSpPr>
            <a:spLocks noGrp="1"/>
          </p:cNvSpPr>
          <p:nvPr>
            <p:ph idx="1"/>
          </p:nvPr>
        </p:nvSpPr>
        <p:spPr>
          <a:xfrm>
            <a:off x="571472" y="1357298"/>
            <a:ext cx="7467600" cy="5301208"/>
          </a:xfrm>
        </p:spPr>
        <p:txBody>
          <a:bodyPr>
            <a:noAutofit/>
          </a:bodyPr>
          <a:lstStyle/>
          <a:p>
            <a:pPr>
              <a:spcBef>
                <a:spcPts val="600"/>
              </a:spcBef>
              <a:spcAft>
                <a:spcPts val="1200"/>
              </a:spcAft>
              <a:buNone/>
            </a:pPr>
            <a:r>
              <a:rPr lang="en-AU" sz="2200" b="1" dirty="0" smtClean="0">
                <a:latin typeface="Helvetica" pitchFamily="34" charset="0"/>
              </a:rPr>
              <a:t>Providing assistance to customer leaving table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customers are leaving the table a couple of things to remember include:</a:t>
            </a:r>
          </a:p>
          <a:p>
            <a:pPr>
              <a:spcBef>
                <a:spcPts val="600"/>
              </a:spcBef>
              <a:spcAft>
                <a:spcPts val="1200"/>
              </a:spcAft>
            </a:pPr>
            <a:r>
              <a:rPr lang="en-AU" sz="2200" dirty="0" smtClean="0">
                <a:latin typeface="Helvetica" pitchFamily="34" charset="0"/>
              </a:rPr>
              <a:t>Pull back chairs for customers</a:t>
            </a:r>
          </a:p>
          <a:p>
            <a:pPr>
              <a:spcBef>
                <a:spcPts val="600"/>
              </a:spcBef>
              <a:spcAft>
                <a:spcPts val="1200"/>
              </a:spcAft>
            </a:pPr>
            <a:r>
              <a:rPr lang="en-AU" sz="2200" dirty="0" smtClean="0">
                <a:latin typeface="Helvetica" pitchFamily="34" charset="0"/>
              </a:rPr>
              <a:t>Get wheelchairs or other aids as required</a:t>
            </a:r>
          </a:p>
          <a:p>
            <a:pPr>
              <a:spcBef>
                <a:spcPts val="600"/>
              </a:spcBef>
              <a:spcAft>
                <a:spcPts val="1200"/>
              </a:spcAft>
            </a:pPr>
            <a:r>
              <a:rPr lang="en-AU" sz="2200" dirty="0" smtClean="0">
                <a:latin typeface="Helvetica" pitchFamily="34" charset="0"/>
              </a:rPr>
              <a:t>Thank customer for their patronage</a:t>
            </a:r>
          </a:p>
          <a:p>
            <a:pPr>
              <a:spcBef>
                <a:spcPts val="600"/>
              </a:spcBef>
              <a:spcAft>
                <a:spcPts val="1200"/>
              </a:spcAft>
            </a:pPr>
            <a:r>
              <a:rPr lang="en-AU" sz="2200" dirty="0" smtClean="0">
                <a:latin typeface="Helvetica" pitchFamily="34" charset="0"/>
              </a:rPr>
              <a:t>Arrange any take-away containers</a:t>
            </a:r>
          </a:p>
          <a:p>
            <a:pPr>
              <a:spcBef>
                <a:spcPts val="600"/>
              </a:spcBef>
              <a:spcAft>
                <a:spcPts val="1200"/>
              </a:spcAft>
            </a:pPr>
            <a:r>
              <a:rPr lang="en-AU" sz="2200" dirty="0" smtClean="0">
                <a:latin typeface="Helvetica" pitchFamily="34" charset="0"/>
              </a:rPr>
              <a:t>Where permitted, place corks back in unfinished                wine bottles for easier transportation for customer</a:t>
            </a:r>
          </a:p>
          <a:p>
            <a:pPr>
              <a:spcBef>
                <a:spcPts val="600"/>
              </a:spcBef>
              <a:spcAft>
                <a:spcPts val="1200"/>
              </a:spcAft>
            </a:pPr>
            <a:r>
              <a:rPr lang="en-AU" sz="2200" dirty="0" smtClean="0">
                <a:latin typeface="Helvetica" pitchFamily="34" charset="0"/>
              </a:rPr>
              <a:t>Arrange toothpicks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5" name="Picture 4" descr="shutterstock_72434716.jpg"/>
          <p:cNvPicPr/>
          <p:nvPr/>
        </p:nvPicPr>
        <p:blipFill>
          <a:blip r:embed="rId3" cstate="print"/>
          <a:stretch>
            <a:fillRect/>
          </a:stretch>
        </p:blipFill>
        <p:spPr>
          <a:xfrm>
            <a:off x="6715140" y="2643182"/>
            <a:ext cx="1449708" cy="2163743"/>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Assist customers as they leave table</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Providing assistance to customer leaving table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Remind customers to collect any bags, clothes and other personal items left on table, seat of floor</a:t>
            </a:r>
          </a:p>
          <a:p>
            <a:pPr>
              <a:spcBef>
                <a:spcPts val="600"/>
              </a:spcBef>
              <a:spcAft>
                <a:spcPts val="1200"/>
              </a:spcAft>
            </a:pPr>
            <a:r>
              <a:rPr lang="en-AU" sz="2200" dirty="0" smtClean="0">
                <a:latin typeface="Helvetica" pitchFamily="34" charset="0"/>
              </a:rPr>
              <a:t>Arrange balloons or gift packs or other </a:t>
            </a:r>
            <a:br>
              <a:rPr lang="en-AU" sz="2200" dirty="0" smtClean="0">
                <a:latin typeface="Helvetica" pitchFamily="34" charset="0"/>
              </a:rPr>
            </a:br>
            <a:r>
              <a:rPr lang="en-AU" sz="2200" dirty="0" smtClean="0">
                <a:latin typeface="Helvetica" pitchFamily="34" charset="0"/>
              </a:rPr>
              <a:t>children’s gifts </a:t>
            </a:r>
          </a:p>
          <a:p>
            <a:pPr>
              <a:spcBef>
                <a:spcPts val="600"/>
              </a:spcBef>
              <a:spcAft>
                <a:spcPts val="1200"/>
              </a:spcAft>
            </a:pPr>
            <a:r>
              <a:rPr lang="en-AU" sz="2200" dirty="0" smtClean="0">
                <a:latin typeface="Helvetica" pitchFamily="34" charset="0"/>
              </a:rPr>
              <a:t>Help them with putting on coats and jackets</a:t>
            </a:r>
          </a:p>
          <a:p>
            <a:pPr>
              <a:spcBef>
                <a:spcPts val="600"/>
              </a:spcBef>
              <a:spcAft>
                <a:spcPts val="1200"/>
              </a:spcAft>
            </a:pPr>
            <a:r>
              <a:rPr lang="en-AU" sz="2200" dirty="0" smtClean="0">
                <a:latin typeface="Helvetica" pitchFamily="34" charset="0"/>
              </a:rPr>
              <a:t>Remind customer to collect change, credit card </a:t>
            </a:r>
            <a:br>
              <a:rPr lang="en-AU" sz="2200" dirty="0" smtClean="0">
                <a:latin typeface="Helvetica" pitchFamily="34" charset="0"/>
              </a:rPr>
            </a:br>
            <a:r>
              <a:rPr lang="en-AU" sz="2200" dirty="0" smtClean="0">
                <a:latin typeface="Helvetica" pitchFamily="34" charset="0"/>
              </a:rPr>
              <a:t>or receipt</a:t>
            </a:r>
          </a:p>
          <a:p>
            <a:pPr>
              <a:spcBef>
                <a:spcPts val="600"/>
              </a:spcBef>
              <a:spcAft>
                <a:spcPts val="1200"/>
              </a:spcAft>
            </a:pPr>
            <a:r>
              <a:rPr lang="en-AU" sz="2200" dirty="0" smtClean="0">
                <a:latin typeface="Helvetica" pitchFamily="34" charset="0"/>
              </a:rPr>
              <a:t>Escort the customers to the door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6" name="Picture 5" descr="shutterstock_17560465.jpg"/>
          <p:cNvPicPr/>
          <p:nvPr/>
        </p:nvPicPr>
        <p:blipFill>
          <a:blip r:embed="rId3" cstate="print"/>
          <a:stretch>
            <a:fillRect/>
          </a:stretch>
        </p:blipFill>
        <p:spPr>
          <a:xfrm>
            <a:off x="7143768" y="2786058"/>
            <a:ext cx="1513442" cy="2029196"/>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Provide end of service assistance </a:t>
            </a:r>
          </a:p>
        </p:txBody>
      </p:sp>
      <p:sp>
        <p:nvSpPr>
          <p:cNvPr id="3" name="Content Placeholder 2"/>
          <p:cNvSpPr>
            <a:spLocks noGrp="1"/>
          </p:cNvSpPr>
          <p:nvPr>
            <p:ph idx="1"/>
          </p:nvPr>
        </p:nvSpPr>
        <p:spPr>
          <a:xfrm>
            <a:off x="611560" y="1357298"/>
            <a:ext cx="7467600" cy="5301208"/>
          </a:xfrm>
        </p:spPr>
        <p:txBody>
          <a:bodyPr>
            <a:noAutofit/>
          </a:bodyPr>
          <a:lstStyle/>
          <a:p>
            <a:pPr>
              <a:spcBef>
                <a:spcPts val="600"/>
              </a:spcBef>
              <a:spcAft>
                <a:spcPts val="1200"/>
              </a:spcAft>
              <a:buNone/>
            </a:pPr>
            <a:r>
              <a:rPr lang="en-AU" sz="2200" b="1" dirty="0" smtClean="0">
                <a:latin typeface="Helvetica" pitchFamily="34" charset="0"/>
              </a:rPr>
              <a:t>Types of end of service assistance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Obtaining a taxi or other transport for guests</a:t>
            </a:r>
          </a:p>
          <a:p>
            <a:pPr lvl="0">
              <a:spcBef>
                <a:spcPts val="600"/>
              </a:spcBef>
              <a:spcAft>
                <a:spcPts val="1200"/>
              </a:spcAft>
            </a:pPr>
            <a:r>
              <a:rPr lang="en-AU" sz="2200" dirty="0" smtClean="0">
                <a:latin typeface="Helvetica" pitchFamily="34" charset="0"/>
              </a:rPr>
              <a:t>Retrieving items that have been placed into safe keeping</a:t>
            </a:r>
          </a:p>
          <a:p>
            <a:pPr lvl="0">
              <a:spcBef>
                <a:spcPts val="600"/>
              </a:spcBef>
              <a:spcAft>
                <a:spcPts val="1200"/>
              </a:spcAft>
            </a:pPr>
            <a:r>
              <a:rPr lang="en-AU" sz="2200" dirty="0" smtClean="0">
                <a:latin typeface="Helvetica" pitchFamily="34" charset="0"/>
              </a:rPr>
              <a:t>Offering umbrellas</a:t>
            </a:r>
          </a:p>
          <a:p>
            <a:pPr lvl="0">
              <a:spcBef>
                <a:spcPts val="600"/>
              </a:spcBef>
              <a:spcAft>
                <a:spcPts val="1200"/>
              </a:spcAft>
            </a:pPr>
            <a:r>
              <a:rPr lang="en-AU" sz="2200" dirty="0" smtClean="0">
                <a:latin typeface="Helvetica" pitchFamily="34" charset="0"/>
              </a:rPr>
              <a:t>Accompanying guests to cars</a:t>
            </a:r>
          </a:p>
          <a:p>
            <a:pPr lvl="0">
              <a:spcBef>
                <a:spcPts val="600"/>
              </a:spcBef>
              <a:spcAft>
                <a:spcPts val="1200"/>
              </a:spcAft>
            </a:pPr>
            <a:r>
              <a:rPr lang="en-AU" sz="2200" dirty="0" smtClean="0">
                <a:latin typeface="Helvetica" pitchFamily="34" charset="0"/>
              </a:rPr>
              <a:t>Making reservations on their behalf</a:t>
            </a:r>
          </a:p>
          <a:p>
            <a:pPr lvl="0">
              <a:spcBef>
                <a:spcPts val="600"/>
              </a:spcBef>
              <a:spcAft>
                <a:spcPts val="1200"/>
              </a:spcAft>
            </a:pPr>
            <a:r>
              <a:rPr lang="en-AU" sz="2200" dirty="0" smtClean="0">
                <a:latin typeface="Helvetica" pitchFamily="34" charset="0"/>
              </a:rPr>
              <a:t>Directing them to their next destination</a:t>
            </a:r>
          </a:p>
          <a:p>
            <a:pPr lvl="0">
              <a:spcBef>
                <a:spcPts val="600"/>
              </a:spcBef>
              <a:spcAft>
                <a:spcPts val="1200"/>
              </a:spcAft>
            </a:pPr>
            <a:r>
              <a:rPr lang="en-AU" sz="2200" dirty="0" smtClean="0">
                <a:latin typeface="Helvetica" pitchFamily="34" charset="0"/>
              </a:rPr>
              <a:t>Offering a seat, paper or complimentary                         coffee while the weather clears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5" name="Picture 4" descr="Limousines.jpg"/>
          <p:cNvPicPr/>
          <p:nvPr/>
        </p:nvPicPr>
        <p:blipFill>
          <a:blip r:embed="rId3" cstate="print"/>
          <a:stretch>
            <a:fillRect/>
          </a:stretch>
        </p:blipFill>
        <p:spPr>
          <a:xfrm>
            <a:off x="6357950" y="3214686"/>
            <a:ext cx="1991362" cy="1201045"/>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Farewell guests</a:t>
            </a:r>
          </a:p>
        </p:txBody>
      </p:sp>
      <p:sp>
        <p:nvSpPr>
          <p:cNvPr id="3" name="Content Placeholder 2"/>
          <p:cNvSpPr>
            <a:spLocks noGrp="1"/>
          </p:cNvSpPr>
          <p:nvPr>
            <p:ph idx="1"/>
          </p:nvPr>
        </p:nvSpPr>
        <p:spPr>
          <a:xfrm>
            <a:off x="571472" y="1357298"/>
            <a:ext cx="7467600" cy="5301208"/>
          </a:xfrm>
        </p:spPr>
        <p:txBody>
          <a:bodyPr>
            <a:normAutofit/>
          </a:bodyPr>
          <a:lstStyle/>
          <a:p>
            <a:pPr marL="342900" indent="-342900">
              <a:spcBef>
                <a:spcPts val="600"/>
              </a:spcBef>
              <a:spcAft>
                <a:spcPts val="1200"/>
              </a:spcAft>
              <a:buNone/>
            </a:pPr>
            <a:r>
              <a:rPr lang="en-US" altLang="zh-CN" sz="2200" b="1" dirty="0" smtClean="0">
                <a:latin typeface="Helvetica" pitchFamily="34" charset="0"/>
                <a:ea typeface="宋体" pitchFamily="2" charset="-122"/>
              </a:rPr>
              <a:t>Farewell Guests</a:t>
            </a:r>
            <a:endParaRPr lang="en-US" altLang="zh-CN" sz="2200" b="1" i="1" dirty="0" smtClean="0">
              <a:latin typeface="Helvetica" pitchFamily="34" charset="0"/>
              <a:ea typeface="宋体" pitchFamily="2" charset="-122"/>
            </a:endParaRPr>
          </a:p>
          <a:p>
            <a:pPr marL="342900" indent="-342900">
              <a:spcBef>
                <a:spcPts val="600"/>
              </a:spcBef>
              <a:spcAft>
                <a:spcPts val="1200"/>
              </a:spcAft>
            </a:pPr>
            <a:r>
              <a:rPr lang="en-US" altLang="zh-CN" sz="2200" dirty="0" smtClean="0">
                <a:latin typeface="Helvetica" pitchFamily="34" charset="0"/>
                <a:ea typeface="宋体" pitchFamily="2" charset="-122"/>
              </a:rPr>
              <a:t>Walk them to door</a:t>
            </a:r>
          </a:p>
          <a:p>
            <a:pPr marL="342900" indent="-342900">
              <a:spcBef>
                <a:spcPts val="600"/>
              </a:spcBef>
              <a:spcAft>
                <a:spcPts val="1200"/>
              </a:spcAft>
            </a:pPr>
            <a:r>
              <a:rPr lang="en-US" altLang="zh-CN" sz="2200" dirty="0" smtClean="0">
                <a:latin typeface="Helvetica" pitchFamily="34" charset="0"/>
                <a:ea typeface="宋体" pitchFamily="2" charset="-122"/>
              </a:rPr>
              <a:t>Re-booking</a:t>
            </a:r>
          </a:p>
          <a:p>
            <a:pPr marL="342900" indent="-342900">
              <a:spcBef>
                <a:spcPts val="600"/>
              </a:spcBef>
              <a:spcAft>
                <a:spcPts val="1200"/>
              </a:spcAft>
            </a:pPr>
            <a:r>
              <a:rPr lang="en-US" altLang="zh-CN" sz="2200" dirty="0" smtClean="0">
                <a:latin typeface="Helvetica" pitchFamily="34" charset="0"/>
                <a:ea typeface="宋体" pitchFamily="2" charset="-122"/>
              </a:rPr>
              <a:t>Remind them not to forget belongings</a:t>
            </a:r>
          </a:p>
          <a:p>
            <a:pPr marL="342900" indent="-342900">
              <a:spcBef>
                <a:spcPts val="600"/>
              </a:spcBef>
              <a:spcAft>
                <a:spcPts val="1200"/>
              </a:spcAft>
            </a:pPr>
            <a:r>
              <a:rPr lang="en-US" altLang="zh-CN" sz="2200" dirty="0" smtClean="0">
                <a:latin typeface="Helvetica" pitchFamily="34" charset="0"/>
                <a:ea typeface="宋体" pitchFamily="2" charset="-122"/>
              </a:rPr>
              <a:t>Get their coats or jackets</a:t>
            </a:r>
          </a:p>
          <a:p>
            <a:pPr marL="342900" indent="-342900">
              <a:spcBef>
                <a:spcPts val="600"/>
              </a:spcBef>
              <a:spcAft>
                <a:spcPts val="1200"/>
              </a:spcAft>
            </a:pPr>
            <a:r>
              <a:rPr lang="en-US" altLang="zh-CN" sz="2200" dirty="0" smtClean="0">
                <a:latin typeface="Helvetica" pitchFamily="34" charset="0"/>
                <a:ea typeface="宋体" pitchFamily="2" charset="-122"/>
              </a:rPr>
              <a:t>Arrange take home ‘left over’ food</a:t>
            </a:r>
          </a:p>
          <a:p>
            <a:pPr marL="342900" indent="-342900">
              <a:spcBef>
                <a:spcPts val="600"/>
              </a:spcBef>
              <a:spcAft>
                <a:spcPts val="1200"/>
              </a:spcAft>
            </a:pPr>
            <a:r>
              <a:rPr lang="en-US" altLang="zh-CN" sz="2200" dirty="0" smtClean="0">
                <a:latin typeface="Helvetica" pitchFamily="34" charset="0"/>
                <a:ea typeface="宋体" pitchFamily="2" charset="-122"/>
              </a:rPr>
              <a:t>Arrange taxi or transportation</a:t>
            </a:r>
          </a:p>
          <a:p>
            <a:pPr marL="342900" indent="-342900">
              <a:spcBef>
                <a:spcPts val="600"/>
              </a:spcBef>
              <a:spcAft>
                <a:spcPts val="1200"/>
              </a:spcAft>
            </a:pPr>
            <a:r>
              <a:rPr lang="en-US" altLang="zh-CN" sz="2200" dirty="0" smtClean="0">
                <a:latin typeface="Helvetica" pitchFamily="34" charset="0"/>
                <a:ea typeface="宋体" pitchFamily="2" charset="-122"/>
              </a:rPr>
              <a:t>Walk them to transport (wet weather)</a:t>
            </a:r>
          </a:p>
          <a:p>
            <a:pPr marL="342900" indent="-342900">
              <a:spcBef>
                <a:spcPts val="600"/>
              </a:spcBef>
              <a:spcAft>
                <a:spcPts val="1200"/>
              </a:spcAft>
            </a:pPr>
            <a:r>
              <a:rPr lang="en-US" altLang="zh-CN" sz="2200" dirty="0" smtClean="0">
                <a:latin typeface="Helvetica" pitchFamily="34" charset="0"/>
                <a:ea typeface="宋体" pitchFamily="2" charset="-122"/>
              </a:rPr>
              <a:t>Say goodbye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6" name="Picture 5" descr="hostess"/>
          <p:cNvPicPr>
            <a:picLocks noChangeAspect="1" noChangeArrowheads="1"/>
          </p:cNvPicPr>
          <p:nvPr/>
        </p:nvPicPr>
        <p:blipFill>
          <a:blip r:embed="rId3" cstate="print"/>
          <a:srcRect/>
          <a:stretch>
            <a:fillRect/>
          </a:stretch>
        </p:blipFill>
        <p:spPr bwMode="auto">
          <a:xfrm>
            <a:off x="6858016" y="1714488"/>
            <a:ext cx="1498226" cy="2238053"/>
          </a:xfrm>
          <a:prstGeom prst="rect">
            <a:avLst/>
          </a:prstGeom>
          <a:noFill/>
        </p:spPr>
      </p:pic>
      <p:pic>
        <p:nvPicPr>
          <p:cNvPr id="7" name="Picture 6" descr="shutterstock_72434737.jpg"/>
          <p:cNvPicPr>
            <a:picLocks noChangeAspect="1"/>
          </p:cNvPicPr>
          <p:nvPr/>
        </p:nvPicPr>
        <p:blipFill>
          <a:blip r:embed="rId4" cstate="print"/>
          <a:stretch>
            <a:fillRect/>
          </a:stretch>
        </p:blipFill>
        <p:spPr>
          <a:xfrm>
            <a:off x="5929322" y="4000504"/>
            <a:ext cx="2476476" cy="1664192"/>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9:</a:t>
            </a:r>
          </a:p>
          <a:p>
            <a:pPr marL="0">
              <a:spcBef>
                <a:spcPts val="600"/>
              </a:spcBef>
              <a:spcAft>
                <a:spcPts val="1200"/>
              </a:spcAft>
              <a:buNone/>
            </a:pPr>
            <a:r>
              <a:rPr lang="en-AU" sz="4000" dirty="0" smtClean="0">
                <a:solidFill>
                  <a:srgbClr val="FF6600"/>
                </a:solidFill>
              </a:rPr>
              <a:t>Conduct shut down activities</a:t>
            </a:r>
            <a:endParaRPr lang="en-AU" sz="22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5" name="Picture 4" descr="werribee196 - student and lecturer in Food and Beverage class.jpg"/>
          <p:cNvPicPr/>
          <p:nvPr/>
        </p:nvPicPr>
        <p:blipFill>
          <a:blip r:embed="rId3" cstate="print"/>
          <a:stretch>
            <a:fillRect/>
          </a:stretch>
        </p:blipFill>
        <p:spPr>
          <a:xfrm>
            <a:off x="2500298" y="3286124"/>
            <a:ext cx="3809231" cy="2581142"/>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Conduct shut down activities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Turn off electrical and service-related equipment, where appropriate</a:t>
            </a:r>
          </a:p>
          <a:p>
            <a:pPr>
              <a:spcBef>
                <a:spcPts val="600"/>
              </a:spcBef>
              <a:spcAft>
                <a:spcPts val="1200"/>
              </a:spcAft>
            </a:pPr>
            <a:r>
              <a:rPr lang="en-AU" sz="2200" dirty="0" smtClean="0">
                <a:latin typeface="Helvetica" pitchFamily="34" charset="0"/>
              </a:rPr>
              <a:t>Remove used linen items for laundering</a:t>
            </a:r>
          </a:p>
          <a:p>
            <a:pPr>
              <a:spcBef>
                <a:spcPts val="600"/>
              </a:spcBef>
              <a:spcAft>
                <a:spcPts val="1200"/>
              </a:spcAft>
            </a:pPr>
            <a:r>
              <a:rPr lang="en-AU" sz="2200" dirty="0" smtClean="0">
                <a:latin typeface="Helvetica" pitchFamily="34" charset="0"/>
              </a:rPr>
              <a:t>Store, stock and replenish, where necessary, for next service session</a:t>
            </a:r>
          </a:p>
          <a:p>
            <a:pPr>
              <a:spcBef>
                <a:spcPts val="600"/>
              </a:spcBef>
              <a:spcAft>
                <a:spcPts val="1200"/>
              </a:spcAft>
            </a:pPr>
            <a:r>
              <a:rPr lang="en-AU" sz="2200" dirty="0" smtClean="0">
                <a:latin typeface="Helvetica" pitchFamily="34" charset="0"/>
              </a:rPr>
              <a:t>Dispose of waste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428992" y="2473326"/>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72198" y="300037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071934" y="392906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286116" y="4429132"/>
            <a:ext cx="399154" cy="527046"/>
          </a:xfrm>
          <a:prstGeom prst="rect">
            <a:avLst/>
          </a:prstGeom>
          <a:noFill/>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Conduct shut down activities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Clear and clean service area and service items</a:t>
            </a:r>
          </a:p>
          <a:p>
            <a:pPr>
              <a:spcBef>
                <a:spcPts val="600"/>
              </a:spcBef>
              <a:spcAft>
                <a:spcPts val="1200"/>
              </a:spcAft>
            </a:pPr>
            <a:r>
              <a:rPr lang="en-AU" sz="2200" dirty="0" smtClean="0">
                <a:latin typeface="Helvetica" pitchFamily="34" charset="0"/>
              </a:rPr>
              <a:t>Conduct session de-briefing</a:t>
            </a:r>
          </a:p>
          <a:p>
            <a:pPr>
              <a:spcBef>
                <a:spcPts val="600"/>
              </a:spcBef>
              <a:spcAft>
                <a:spcPts val="1200"/>
              </a:spcAft>
            </a:pPr>
            <a:r>
              <a:rPr lang="en-AU" sz="2200" dirty="0" smtClean="0">
                <a:latin typeface="Helvetica" pitchFamily="34" charset="0"/>
              </a:rPr>
              <a:t>Conduct handover to incoming shift, where appropriate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000892"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643438"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8001024" y="3214686"/>
            <a:ext cx="399154" cy="527046"/>
          </a:xfrm>
          <a:prstGeom prst="rect">
            <a:avLst/>
          </a:prstGeom>
          <a:noFill/>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Preparing for the next shift</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dirty="0" smtClean="0">
                <a:latin typeface="Helvetica" pitchFamily="34" charset="0"/>
              </a:rPr>
              <a:t>The procedures can include:</a:t>
            </a:r>
          </a:p>
          <a:p>
            <a:pPr lvl="0">
              <a:spcBef>
                <a:spcPts val="600"/>
              </a:spcBef>
              <a:spcAft>
                <a:spcPts val="1200"/>
              </a:spcAft>
            </a:pPr>
            <a:r>
              <a:rPr lang="en-AU" sz="2200" dirty="0" smtClean="0">
                <a:latin typeface="Helvetica" pitchFamily="34" charset="0"/>
              </a:rPr>
              <a:t>Clearing, cleaning, tidying, dismantling equipment, storing furniture</a:t>
            </a:r>
          </a:p>
          <a:p>
            <a:pPr lvl="0">
              <a:spcBef>
                <a:spcPts val="600"/>
              </a:spcBef>
              <a:spcAft>
                <a:spcPts val="1200"/>
              </a:spcAft>
            </a:pPr>
            <a:r>
              <a:rPr lang="en-AU" sz="2200" dirty="0" smtClean="0">
                <a:latin typeface="Helvetica" pitchFamily="34" charset="0"/>
              </a:rPr>
              <a:t> Turning various items of equipment off</a:t>
            </a:r>
          </a:p>
          <a:p>
            <a:pPr lvl="0">
              <a:spcBef>
                <a:spcPts val="600"/>
              </a:spcBef>
              <a:spcAft>
                <a:spcPts val="1200"/>
              </a:spcAft>
            </a:pPr>
            <a:r>
              <a:rPr lang="en-AU" sz="2200" dirty="0" smtClean="0">
                <a:latin typeface="Helvetica" pitchFamily="34" charset="0"/>
              </a:rPr>
              <a:t>Ordering stock</a:t>
            </a:r>
          </a:p>
          <a:p>
            <a:pPr lvl="0">
              <a:spcBef>
                <a:spcPts val="600"/>
              </a:spcBef>
              <a:spcAft>
                <a:spcPts val="1200"/>
              </a:spcAft>
            </a:pPr>
            <a:r>
              <a:rPr lang="en-AU" sz="2200" dirty="0" smtClean="0">
                <a:latin typeface="Helvetica" pitchFamily="34" charset="0"/>
              </a:rPr>
              <a:t>Stowing stock away</a:t>
            </a:r>
          </a:p>
          <a:p>
            <a:pPr lvl="0">
              <a:spcBef>
                <a:spcPts val="600"/>
              </a:spcBef>
              <a:spcAft>
                <a:spcPts val="1200"/>
              </a:spcAft>
            </a:pPr>
            <a:r>
              <a:rPr lang="en-AU" sz="2200" dirty="0" smtClean="0">
                <a:latin typeface="Helvetica" pitchFamily="34" charset="0"/>
              </a:rPr>
              <a:t>Holding a debriefing session</a:t>
            </a:r>
          </a:p>
          <a:p>
            <a:pPr lvl="0">
              <a:spcBef>
                <a:spcPts val="600"/>
              </a:spcBef>
              <a:spcAft>
                <a:spcPts val="1200"/>
              </a:spcAft>
            </a:pPr>
            <a:r>
              <a:rPr lang="en-AU" sz="2200" dirty="0" smtClean="0">
                <a:latin typeface="Helvetica" pitchFamily="34" charset="0"/>
              </a:rPr>
              <a:t>Handing over the room to the next shift</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6" name="Picture 5" descr="IMG_1974.jpg"/>
          <p:cNvPicPr>
            <a:picLocks noChangeAspect="1"/>
          </p:cNvPicPr>
          <p:nvPr/>
        </p:nvPicPr>
        <p:blipFill>
          <a:blip r:embed="rId3" cstate="print">
            <a:lum contrast="30000"/>
          </a:blip>
          <a:stretch>
            <a:fillRect/>
          </a:stretch>
        </p:blipFill>
        <p:spPr>
          <a:xfrm>
            <a:off x="6286512" y="2786058"/>
            <a:ext cx="2174013" cy="1630510"/>
          </a:xfrm>
          <a:prstGeom prst="rect">
            <a:avLst/>
          </a:prstGeom>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Turn off and clean equipment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0">
              <a:spcBef>
                <a:spcPts val="600"/>
              </a:spcBef>
              <a:spcAft>
                <a:spcPts val="1200"/>
              </a:spcAft>
              <a:buNone/>
            </a:pPr>
            <a:r>
              <a:rPr lang="en-AU" sz="2200" dirty="0" smtClean="0">
                <a:latin typeface="Helvetica" pitchFamily="34" charset="0"/>
              </a:rPr>
              <a:t>Equipment and other items that may require such attention includes are located in the following areas: </a:t>
            </a:r>
          </a:p>
          <a:p>
            <a:pPr>
              <a:spcBef>
                <a:spcPts val="600"/>
              </a:spcBef>
              <a:spcAft>
                <a:spcPts val="1200"/>
              </a:spcAft>
            </a:pPr>
            <a:r>
              <a:rPr lang="en-AU" sz="2200" dirty="0" smtClean="0">
                <a:latin typeface="Helvetica" pitchFamily="34" charset="0"/>
              </a:rPr>
              <a:t>Service areas</a:t>
            </a:r>
          </a:p>
          <a:p>
            <a:pPr>
              <a:spcBef>
                <a:spcPts val="600"/>
              </a:spcBef>
              <a:spcAft>
                <a:spcPts val="1200"/>
              </a:spcAft>
            </a:pPr>
            <a:r>
              <a:rPr lang="en-AU" sz="2200" dirty="0" smtClean="0">
                <a:latin typeface="Helvetica" pitchFamily="34" charset="0"/>
              </a:rPr>
              <a:t>Kitchen and food display areas</a:t>
            </a:r>
          </a:p>
          <a:p>
            <a:pPr>
              <a:spcBef>
                <a:spcPts val="600"/>
              </a:spcBef>
              <a:spcAft>
                <a:spcPts val="1200"/>
              </a:spcAft>
            </a:pPr>
            <a:r>
              <a:rPr lang="en-AU" sz="2200" dirty="0" smtClean="0">
                <a:latin typeface="Helvetica" pitchFamily="34" charset="0"/>
              </a:rPr>
              <a:t>Bars</a:t>
            </a:r>
          </a:p>
          <a:p>
            <a:pPr>
              <a:spcBef>
                <a:spcPts val="600"/>
              </a:spcBef>
              <a:spcAft>
                <a:spcPts val="1200"/>
              </a:spcAft>
            </a:pPr>
            <a:r>
              <a:rPr lang="en-AU" sz="2200" dirty="0" smtClean="0">
                <a:latin typeface="Helvetica" pitchFamily="34" charset="0"/>
              </a:rPr>
              <a:t>Front of house areas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189</a:t>
            </a:fld>
            <a:endParaRPr lang="en-US" dirty="0"/>
          </a:p>
        </p:txBody>
      </p:sp>
      <p:pic>
        <p:nvPicPr>
          <p:cNvPr id="6" name="Picture 5" descr="IMG_2014.jpg"/>
          <p:cNvPicPr/>
          <p:nvPr/>
        </p:nvPicPr>
        <p:blipFill>
          <a:blip r:embed="rId3" cstate="print">
            <a:lum bright="20000" contrast="20000"/>
          </a:blip>
          <a:srcRect l="11527" r="15470"/>
          <a:stretch>
            <a:fillRect/>
          </a:stretch>
        </p:blipFill>
        <p:spPr>
          <a:xfrm>
            <a:off x="6500826" y="2500306"/>
            <a:ext cx="1357322" cy="2216274"/>
          </a:xfrm>
          <a:prstGeom prst="rect">
            <a:avLst/>
          </a:prstGeom>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Remove used linen items for laundering</a:t>
            </a: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Collect, sort and count linen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Regardless of whether linen is owned or hired by the hotel it must be:</a:t>
            </a:r>
          </a:p>
          <a:p>
            <a:pPr lvl="0" fontAlgn="ctr">
              <a:spcBef>
                <a:spcPts val="600"/>
              </a:spcBef>
              <a:spcAft>
                <a:spcPts val="1200"/>
              </a:spcAft>
            </a:pPr>
            <a:r>
              <a:rPr lang="en-US" sz="2200" dirty="0" smtClean="0">
                <a:latin typeface="Helvetica" pitchFamily="34" charset="0"/>
              </a:rPr>
              <a:t>Collected </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Sorted </a:t>
            </a:r>
          </a:p>
          <a:p>
            <a:pPr lvl="0" fontAlgn="ctr">
              <a:spcBef>
                <a:spcPts val="600"/>
              </a:spcBef>
              <a:spcAft>
                <a:spcPts val="1200"/>
              </a:spcAft>
            </a:pPr>
            <a:r>
              <a:rPr lang="en-US" sz="2200" dirty="0" smtClean="0">
                <a:latin typeface="Helvetica" pitchFamily="34" charset="0"/>
              </a:rPr>
              <a:t>Checked </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Counted </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Separated </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Forwarded to the appropriate location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190</a:t>
            </a:fld>
            <a:endParaRPr lang="en-US" dirty="0"/>
          </a:p>
        </p:txBody>
      </p:sp>
      <p:pic>
        <p:nvPicPr>
          <p:cNvPr id="5" name="Picture 4" descr="16243_4499.jpg"/>
          <p:cNvPicPr/>
          <p:nvPr/>
        </p:nvPicPr>
        <p:blipFill>
          <a:blip r:embed="rId3" cstate="print"/>
          <a:stretch>
            <a:fillRect/>
          </a:stretch>
        </p:blipFill>
        <p:spPr>
          <a:xfrm>
            <a:off x="5857884" y="3143248"/>
            <a:ext cx="2030651" cy="1571636"/>
          </a:xfrm>
          <a:prstGeom prst="rect">
            <a:avLst/>
          </a:prstGeom>
        </p:spPr>
      </p:pic>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Store and restock equipment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0">
              <a:spcBef>
                <a:spcPts val="600"/>
              </a:spcBef>
              <a:spcAft>
                <a:spcPts val="1200"/>
              </a:spcAft>
              <a:buNone/>
            </a:pPr>
            <a:r>
              <a:rPr lang="en-AU" sz="2200" dirty="0" smtClean="0">
                <a:latin typeface="Helvetica" pitchFamily="34" charset="0"/>
              </a:rPr>
              <a:t>All storage must occur in accordance with establishment standards which may include:</a:t>
            </a:r>
          </a:p>
          <a:p>
            <a:pPr lvl="0">
              <a:spcBef>
                <a:spcPts val="600"/>
              </a:spcBef>
              <a:spcAft>
                <a:spcPts val="1200"/>
              </a:spcAft>
            </a:pPr>
            <a:r>
              <a:rPr lang="en-AU" sz="2200" dirty="0" smtClean="0">
                <a:latin typeface="Helvetica" pitchFamily="34" charset="0"/>
              </a:rPr>
              <a:t>Ensuring staff and equipment safety</a:t>
            </a:r>
          </a:p>
          <a:p>
            <a:pPr lvl="0">
              <a:spcBef>
                <a:spcPts val="600"/>
              </a:spcBef>
              <a:spcAft>
                <a:spcPts val="1200"/>
              </a:spcAft>
            </a:pPr>
            <a:r>
              <a:rPr lang="en-AU" sz="2200" dirty="0" smtClean="0">
                <a:latin typeface="Helvetica" pitchFamily="34" charset="0"/>
              </a:rPr>
              <a:t>Ensuring all items are cleaned before storage</a:t>
            </a:r>
          </a:p>
          <a:p>
            <a:pPr lvl="0">
              <a:spcBef>
                <a:spcPts val="600"/>
              </a:spcBef>
              <a:spcAft>
                <a:spcPts val="1200"/>
              </a:spcAft>
            </a:pPr>
            <a:r>
              <a:rPr lang="en-AU" sz="2200" dirty="0" smtClean="0">
                <a:latin typeface="Helvetica" pitchFamily="34" charset="0"/>
              </a:rPr>
              <a:t>Ensuring that food-related items are </a:t>
            </a:r>
            <a:br>
              <a:rPr lang="en-AU" sz="2200" dirty="0" smtClean="0">
                <a:latin typeface="Helvetica" pitchFamily="34" charset="0"/>
              </a:rPr>
            </a:br>
            <a:r>
              <a:rPr lang="en-AU" sz="2200" dirty="0" smtClean="0">
                <a:latin typeface="Helvetica" pitchFamily="34" charset="0"/>
              </a:rPr>
              <a:t>protected from contamination </a:t>
            </a:r>
          </a:p>
          <a:p>
            <a:pPr lvl="0">
              <a:spcBef>
                <a:spcPts val="600"/>
              </a:spcBef>
              <a:spcAft>
                <a:spcPts val="1200"/>
              </a:spcAft>
            </a:pPr>
            <a:r>
              <a:rPr lang="en-AU" sz="2200" dirty="0" smtClean="0">
                <a:latin typeface="Helvetica" pitchFamily="34" charset="0"/>
              </a:rPr>
              <a:t>Making sure items are returned to                                   their nominated locations</a:t>
            </a:r>
          </a:p>
          <a:p>
            <a:pPr>
              <a:spcBef>
                <a:spcPts val="600"/>
              </a:spcBef>
              <a:spcAft>
                <a:spcPts val="1200"/>
              </a:spcAft>
            </a:pPr>
            <a:r>
              <a:rPr lang="en-AU" sz="2200" dirty="0" smtClean="0">
                <a:latin typeface="Helvetica" pitchFamily="34" charset="0"/>
              </a:rPr>
              <a:t>Checking individual items as part of the storage process</a:t>
            </a:r>
            <a:endParaRPr lang="en-US" sz="2200" b="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191</a:t>
            </a:fld>
            <a:endParaRPr lang="en-US" dirty="0"/>
          </a:p>
        </p:txBody>
      </p:sp>
      <p:pic>
        <p:nvPicPr>
          <p:cNvPr id="4098" name="Picture 2" descr="C:\Documents and Settings\danielc\Local Settings\Temporary Internet Files\Content.IE5\3DV3UKH9\MP900049638[1].jpg"/>
          <p:cNvPicPr>
            <a:picLocks noChangeAspect="1" noChangeArrowheads="1"/>
          </p:cNvPicPr>
          <p:nvPr/>
        </p:nvPicPr>
        <p:blipFill>
          <a:blip r:embed="rId3" cstate="print"/>
          <a:srcRect b="3845"/>
          <a:stretch>
            <a:fillRect/>
          </a:stretch>
        </p:blipFill>
        <p:spPr bwMode="auto">
          <a:xfrm>
            <a:off x="7215206" y="2428868"/>
            <a:ext cx="1478464" cy="2143140"/>
          </a:xfrm>
          <a:prstGeom prst="rect">
            <a:avLst/>
          </a:prstGeom>
          <a:noFill/>
        </p:spPr>
      </p:pic>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Replenish items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lvl="0">
              <a:spcBef>
                <a:spcPts val="600"/>
              </a:spcBef>
              <a:spcAft>
                <a:spcPts val="1200"/>
              </a:spcAft>
            </a:pPr>
            <a:r>
              <a:rPr lang="en-AU" sz="2200" dirty="0" smtClean="0">
                <a:latin typeface="Helvetica" pitchFamily="34" charset="0"/>
              </a:rPr>
              <a:t>Condiments and sauces</a:t>
            </a:r>
          </a:p>
          <a:p>
            <a:pPr lvl="0">
              <a:spcBef>
                <a:spcPts val="600"/>
              </a:spcBef>
              <a:spcAft>
                <a:spcPts val="1200"/>
              </a:spcAft>
            </a:pPr>
            <a:r>
              <a:rPr lang="en-AU" sz="2200" dirty="0" smtClean="0">
                <a:latin typeface="Helvetica" pitchFamily="34" charset="0"/>
              </a:rPr>
              <a:t>Cutlery</a:t>
            </a:r>
          </a:p>
          <a:p>
            <a:pPr lvl="0">
              <a:spcBef>
                <a:spcPts val="600"/>
              </a:spcBef>
              <a:spcAft>
                <a:spcPts val="1200"/>
              </a:spcAft>
            </a:pPr>
            <a:r>
              <a:rPr lang="en-AU" sz="2200" dirty="0" smtClean="0">
                <a:latin typeface="Helvetica" pitchFamily="34" charset="0"/>
              </a:rPr>
              <a:t>Crockery</a:t>
            </a:r>
          </a:p>
          <a:p>
            <a:pPr lvl="0">
              <a:spcBef>
                <a:spcPts val="600"/>
              </a:spcBef>
              <a:spcAft>
                <a:spcPts val="1200"/>
              </a:spcAft>
            </a:pPr>
            <a:r>
              <a:rPr lang="en-AU" sz="2200" dirty="0" smtClean="0">
                <a:latin typeface="Helvetica" pitchFamily="34" charset="0"/>
              </a:rPr>
              <a:t>Glassware</a:t>
            </a:r>
          </a:p>
          <a:p>
            <a:pPr lvl="0">
              <a:spcBef>
                <a:spcPts val="600"/>
              </a:spcBef>
              <a:spcAft>
                <a:spcPts val="1200"/>
              </a:spcAft>
            </a:pPr>
            <a:r>
              <a:rPr lang="en-AU" sz="2200" dirty="0" smtClean="0">
                <a:latin typeface="Helvetica" pitchFamily="34" charset="0"/>
              </a:rPr>
              <a:t>Linen </a:t>
            </a:r>
          </a:p>
          <a:p>
            <a:pPr lvl="0">
              <a:spcBef>
                <a:spcPts val="600"/>
              </a:spcBef>
              <a:spcAft>
                <a:spcPts val="1200"/>
              </a:spcAft>
            </a:pPr>
            <a:r>
              <a:rPr lang="en-AU" sz="2200" dirty="0" smtClean="0">
                <a:latin typeface="Helvetica" pitchFamily="34" charset="0"/>
              </a:rPr>
              <a:t>Salt and pepper shakers</a:t>
            </a:r>
          </a:p>
          <a:p>
            <a:pPr lvl="0">
              <a:spcBef>
                <a:spcPts val="600"/>
              </a:spcBef>
              <a:spcAft>
                <a:spcPts val="1200"/>
              </a:spcAft>
            </a:pPr>
            <a:r>
              <a:rPr lang="en-AU" sz="2200" dirty="0" smtClean="0">
                <a:latin typeface="Helvetica" pitchFamily="34" charset="0"/>
              </a:rPr>
              <a:t>Drinking straw containers</a:t>
            </a:r>
          </a:p>
          <a:p>
            <a:pPr lvl="0">
              <a:spcBef>
                <a:spcPts val="600"/>
              </a:spcBef>
              <a:spcAft>
                <a:spcPts val="1200"/>
              </a:spcAft>
            </a:pPr>
            <a:r>
              <a:rPr lang="en-AU" sz="2200" dirty="0" smtClean="0">
                <a:latin typeface="Helvetica" pitchFamily="34" charset="0"/>
              </a:rPr>
              <a:t>Tooth pick containers</a:t>
            </a:r>
          </a:p>
          <a:p>
            <a:endParaRPr lang="en-US" sz="2400" b="1" u="sng"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192</a:t>
            </a:fld>
            <a:endParaRPr lang="en-US" dirty="0"/>
          </a:p>
        </p:txBody>
      </p:sp>
      <p:pic>
        <p:nvPicPr>
          <p:cNvPr id="6" name="Picture 5" descr="IMG_2106.jpg"/>
          <p:cNvPicPr/>
          <p:nvPr/>
        </p:nvPicPr>
        <p:blipFill>
          <a:blip r:embed="rId3" cstate="print">
            <a:lum bright="10000" contrast="20000"/>
          </a:blip>
          <a:stretch>
            <a:fillRect/>
          </a:stretch>
        </p:blipFill>
        <p:spPr>
          <a:xfrm>
            <a:off x="5339983" y="2500306"/>
            <a:ext cx="2459025" cy="1857388"/>
          </a:xfrm>
          <a:prstGeom prst="rect">
            <a:avLst/>
          </a:prstGeom>
        </p:spPr>
      </p:pic>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Restock items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The requisition form </a:t>
            </a:r>
          </a:p>
          <a:p>
            <a:pPr marL="0">
              <a:spcBef>
                <a:spcPts val="600"/>
              </a:spcBef>
              <a:spcAft>
                <a:spcPts val="1200"/>
              </a:spcAft>
              <a:buNone/>
            </a:pPr>
            <a:r>
              <a:rPr lang="en-AU" sz="2200" dirty="0" smtClean="0">
                <a:latin typeface="Helvetica" pitchFamily="34" charset="0"/>
              </a:rPr>
              <a:t>An internal stock ordering form that you fill in and give to the outlet supervisor or other nominated person. </a:t>
            </a:r>
          </a:p>
          <a:p>
            <a:pPr>
              <a:spcBef>
                <a:spcPts val="600"/>
              </a:spcBef>
              <a:spcAft>
                <a:spcPts val="1200"/>
              </a:spcAft>
              <a:buNone/>
            </a:pPr>
            <a:r>
              <a:rPr lang="en-AU" sz="2200" dirty="0" smtClean="0">
                <a:latin typeface="Helvetica" pitchFamily="34" charset="0"/>
              </a:rPr>
              <a:t>It will identify:</a:t>
            </a:r>
          </a:p>
          <a:p>
            <a:pPr lvl="0" fontAlgn="ctr">
              <a:spcBef>
                <a:spcPts val="600"/>
              </a:spcBef>
              <a:spcAft>
                <a:spcPts val="1200"/>
              </a:spcAft>
            </a:pPr>
            <a:r>
              <a:rPr lang="en-US" sz="2200" dirty="0" smtClean="0">
                <a:latin typeface="Helvetica" pitchFamily="34" charset="0"/>
              </a:rPr>
              <a:t>Person requesting the items</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Type of items needed</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Quantity</a:t>
            </a:r>
            <a:endParaRPr lang="en-AU" sz="2200" dirty="0" smtClean="0">
              <a:latin typeface="Helvetica" pitchFamily="34" charset="0"/>
            </a:endParaRPr>
          </a:p>
          <a:p>
            <a:pPr lvl="0" fontAlgn="ctr">
              <a:spcBef>
                <a:spcPts val="600"/>
              </a:spcBef>
              <a:spcAft>
                <a:spcPts val="1200"/>
              </a:spcAft>
            </a:pPr>
            <a:r>
              <a:rPr lang="en-US" sz="2200" dirty="0" smtClean="0">
                <a:latin typeface="Helvetica" pitchFamily="34" charset="0"/>
              </a:rPr>
              <a:t>Date</a:t>
            </a:r>
            <a:endParaRPr lang="en-AU" sz="2200" dirty="0" smtClean="0">
              <a:latin typeface="Helvetica" pitchFamily="34" charset="0"/>
            </a:endParaRPr>
          </a:p>
          <a:p>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193</a:t>
            </a:fld>
            <a:endParaRPr lang="en-US" dirty="0"/>
          </a:p>
        </p:txBody>
      </p:sp>
      <p:pic>
        <p:nvPicPr>
          <p:cNvPr id="5" name="Picture 4" descr="iStock_000003275204Medium.jpg"/>
          <p:cNvPicPr/>
          <p:nvPr/>
        </p:nvPicPr>
        <p:blipFill>
          <a:blip r:embed="rId3" cstate="print"/>
          <a:stretch>
            <a:fillRect/>
          </a:stretch>
        </p:blipFill>
        <p:spPr>
          <a:xfrm>
            <a:off x="5357818" y="3357562"/>
            <a:ext cx="2455143" cy="1780778"/>
          </a:xfrm>
          <a:prstGeom prst="rect">
            <a:avLst/>
          </a:prstGeom>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Restock items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Items to reorder</a:t>
            </a:r>
          </a:p>
          <a:p>
            <a:pPr>
              <a:spcBef>
                <a:spcPts val="600"/>
              </a:spcBef>
              <a:spcAft>
                <a:spcPts val="1200"/>
              </a:spcAft>
            </a:pPr>
            <a:r>
              <a:rPr lang="en-AU" sz="2200" dirty="0" smtClean="0">
                <a:latin typeface="Helvetica" pitchFamily="34" charset="0"/>
              </a:rPr>
              <a:t>What items do you need to reorder in a food and beverage outlet?</a:t>
            </a:r>
          </a:p>
          <a:p>
            <a:pPr>
              <a:spcBef>
                <a:spcPts val="600"/>
              </a:spcBef>
              <a:spcAft>
                <a:spcPts val="1200"/>
              </a:spcAft>
            </a:pPr>
            <a:r>
              <a:rPr lang="en-AU" sz="2200" dirty="0" smtClean="0">
                <a:latin typeface="Helvetica" pitchFamily="34" charset="0"/>
              </a:rPr>
              <a:t>What items differ between a restaurant and a bar?</a:t>
            </a:r>
          </a:p>
          <a:p>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194</a:t>
            </a:fld>
            <a:endParaRPr lang="en-US" dirty="0"/>
          </a:p>
        </p:txBody>
      </p:sp>
      <p:pic>
        <p:nvPicPr>
          <p:cNvPr id="6" name="Picture 5" descr="I:\Overseas Projects\PHOTOS\2012\Culinary 2012\Fruit and vegeble\SS04098.jpg"/>
          <p:cNvPicPr/>
          <p:nvPr/>
        </p:nvPicPr>
        <p:blipFill>
          <a:blip r:embed="rId3" cstate="print"/>
          <a:srcRect/>
          <a:stretch>
            <a:fillRect/>
          </a:stretch>
        </p:blipFill>
        <p:spPr bwMode="auto">
          <a:xfrm>
            <a:off x="3428992" y="3786190"/>
            <a:ext cx="2055076" cy="26093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left over food</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defRPr/>
            </a:pPr>
            <a:r>
              <a:rPr lang="en-US" sz="2200" dirty="0" smtClean="0">
                <a:latin typeface="Helvetica" pitchFamily="34" charset="0"/>
              </a:rPr>
              <a:t>Any food that has been </a:t>
            </a:r>
            <a:r>
              <a:rPr lang="en-US" sz="2200" u="sng" dirty="0" smtClean="0">
                <a:latin typeface="Helvetica" pitchFamily="34" charset="0"/>
              </a:rPr>
              <a:t>on a customer’s plate </a:t>
            </a:r>
            <a:r>
              <a:rPr lang="en-US" sz="2200" dirty="0" smtClean="0">
                <a:latin typeface="Helvetica" pitchFamily="34" charset="0"/>
              </a:rPr>
              <a:t>or in direct contact with a customer or staff member must be disposed of in the rubbish bin</a:t>
            </a:r>
          </a:p>
          <a:p>
            <a:pPr marL="342900" indent="-342900">
              <a:spcBef>
                <a:spcPts val="600"/>
              </a:spcBef>
              <a:spcAft>
                <a:spcPts val="1200"/>
              </a:spcAft>
              <a:defRPr/>
            </a:pPr>
            <a:r>
              <a:rPr lang="en-US" sz="2200" dirty="0" smtClean="0">
                <a:latin typeface="Helvetica" pitchFamily="34" charset="0"/>
              </a:rPr>
              <a:t>Food and beverage items </a:t>
            </a:r>
            <a:r>
              <a:rPr lang="en-US" sz="2200" u="sng" dirty="0" smtClean="0">
                <a:latin typeface="Helvetica" pitchFamily="34" charset="0"/>
              </a:rPr>
              <a:t>on the buffet </a:t>
            </a:r>
            <a:r>
              <a:rPr lang="en-US" sz="2200" dirty="0" smtClean="0">
                <a:latin typeface="Helvetica" pitchFamily="34" charset="0"/>
              </a:rPr>
              <a:t>that have not been used can be stored for re-use depending on their freshness and level of exposure to contamination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195</a:t>
            </a:fld>
            <a:endParaRPr lang="en-US" dirty="0"/>
          </a:p>
        </p:txBody>
      </p:sp>
      <p:pic>
        <p:nvPicPr>
          <p:cNvPr id="6" name="Picture 5" descr="IMG_1977.jpg"/>
          <p:cNvPicPr>
            <a:picLocks noChangeAspect="1"/>
          </p:cNvPicPr>
          <p:nvPr/>
        </p:nvPicPr>
        <p:blipFill>
          <a:blip r:embed="rId3" cstate="print">
            <a:lum bright="10000" contrast="30000"/>
          </a:blip>
          <a:stretch>
            <a:fillRect/>
          </a:stretch>
        </p:blipFill>
        <p:spPr>
          <a:xfrm>
            <a:off x="3643306" y="4143380"/>
            <a:ext cx="1643056" cy="2190741"/>
          </a:xfrm>
          <a:prstGeom prst="rect">
            <a:avLst/>
          </a:prstGeom>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left over food</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Enterprise requirements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Options include:</a:t>
            </a:r>
          </a:p>
          <a:p>
            <a:pPr lvl="0">
              <a:spcBef>
                <a:spcPts val="600"/>
              </a:spcBef>
              <a:spcAft>
                <a:spcPts val="1200"/>
              </a:spcAft>
            </a:pPr>
            <a:r>
              <a:rPr lang="en-AU" sz="2200" dirty="0" smtClean="0">
                <a:latin typeface="Helvetica" pitchFamily="34" charset="0"/>
              </a:rPr>
              <a:t>Throwing out all leftover food </a:t>
            </a:r>
          </a:p>
          <a:p>
            <a:pPr lvl="0">
              <a:spcBef>
                <a:spcPts val="600"/>
              </a:spcBef>
              <a:spcAft>
                <a:spcPts val="1200"/>
              </a:spcAft>
            </a:pPr>
            <a:r>
              <a:rPr lang="en-AU" sz="2200" dirty="0" smtClean="0">
                <a:latin typeface="Helvetica" pitchFamily="34" charset="0"/>
              </a:rPr>
              <a:t>Items that are left over</a:t>
            </a:r>
          </a:p>
          <a:p>
            <a:pPr lvl="0">
              <a:spcBef>
                <a:spcPts val="600"/>
              </a:spcBef>
              <a:spcAft>
                <a:spcPts val="1200"/>
              </a:spcAft>
            </a:pPr>
            <a:r>
              <a:rPr lang="en-AU" sz="2200" dirty="0" smtClean="0">
                <a:latin typeface="Helvetica" pitchFamily="34" charset="0"/>
              </a:rPr>
              <a:t>Requiring high cost items to be stored for later use but allowing low-cost items to be thrown out</a:t>
            </a:r>
          </a:p>
          <a:p>
            <a:pPr lvl="0">
              <a:spcBef>
                <a:spcPts val="600"/>
              </a:spcBef>
              <a:spcAft>
                <a:spcPts val="1200"/>
              </a:spcAft>
            </a:pPr>
            <a:r>
              <a:rPr lang="en-AU" sz="2200" dirty="0" smtClean="0">
                <a:latin typeface="Helvetica" pitchFamily="34" charset="0"/>
              </a:rPr>
              <a:t>Separating disposables from food waste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196</a:t>
            </a:fld>
            <a:endParaRPr lang="en-US" dirty="0"/>
          </a:p>
        </p:txBody>
      </p:sp>
      <p:pic>
        <p:nvPicPr>
          <p:cNvPr id="7" name="Picture 6" descr="IMG_2083.jpg"/>
          <p:cNvPicPr/>
          <p:nvPr/>
        </p:nvPicPr>
        <p:blipFill>
          <a:blip r:embed="rId3" cstate="print">
            <a:lum bright="10000" contrast="30000"/>
          </a:blip>
          <a:stretch>
            <a:fillRect/>
          </a:stretch>
        </p:blipFill>
        <p:spPr>
          <a:xfrm>
            <a:off x="5643569" y="1857364"/>
            <a:ext cx="2248589" cy="1680397"/>
          </a:xfrm>
          <a:prstGeom prst="rect">
            <a:avLst/>
          </a:prstGeom>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items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unused items</a:t>
            </a:r>
          </a:p>
          <a:p>
            <a:pPr marL="342900" indent="-342900">
              <a:spcBef>
                <a:spcPts val="600"/>
              </a:spcBef>
              <a:spcAft>
                <a:spcPts val="1200"/>
              </a:spcAft>
              <a:defRPr/>
            </a:pPr>
            <a:r>
              <a:rPr lang="en-US" sz="2200" dirty="0" smtClean="0">
                <a:latin typeface="Helvetica" pitchFamily="34" charset="0"/>
              </a:rPr>
              <a:t>In many cases there are </a:t>
            </a:r>
            <a:r>
              <a:rPr lang="en-US" sz="2200" u="sng" dirty="0" smtClean="0">
                <a:latin typeface="Helvetica" pitchFamily="34" charset="0"/>
              </a:rPr>
              <a:t>unused items </a:t>
            </a:r>
            <a:r>
              <a:rPr lang="en-US" sz="2200" dirty="0" smtClean="0">
                <a:latin typeface="Helvetica" pitchFamily="34" charset="0"/>
              </a:rPr>
              <a:t>that can be reused. These include sugar packets, napkins and sealed condiments</a:t>
            </a:r>
          </a:p>
          <a:p>
            <a:pPr marL="342900" indent="-342900">
              <a:spcBef>
                <a:spcPts val="600"/>
              </a:spcBef>
              <a:spcAft>
                <a:spcPts val="1200"/>
              </a:spcAft>
              <a:defRPr/>
            </a:pPr>
            <a:r>
              <a:rPr lang="en-US" sz="2200" dirty="0" smtClean="0">
                <a:latin typeface="Helvetica" pitchFamily="34" charset="0"/>
              </a:rPr>
              <a:t>In addition cutlery, crockery and glassware </a:t>
            </a:r>
            <a:r>
              <a:rPr lang="en-US" sz="2200" u="sng" dirty="0" smtClean="0">
                <a:latin typeface="Helvetica" pitchFamily="34" charset="0"/>
              </a:rPr>
              <a:t>untouched or unused </a:t>
            </a:r>
            <a:r>
              <a:rPr lang="en-US" sz="2200" dirty="0" smtClean="0">
                <a:latin typeface="Helvetica" pitchFamily="34" charset="0"/>
              </a:rPr>
              <a:t>by the customer may be reused without re-cleaning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197</a:t>
            </a:fld>
            <a:endParaRPr lang="en-US" dirty="0"/>
          </a:p>
        </p:txBody>
      </p:sp>
      <p:pic>
        <p:nvPicPr>
          <p:cNvPr id="6" name="Picture 5" descr="IMG_1971.jpg"/>
          <p:cNvPicPr>
            <a:picLocks noChangeAspect="1"/>
          </p:cNvPicPr>
          <p:nvPr/>
        </p:nvPicPr>
        <p:blipFill>
          <a:blip r:embed="rId3" cstate="print">
            <a:lum contrast="20000"/>
          </a:blip>
          <a:stretch>
            <a:fillRect/>
          </a:stretch>
        </p:blipFill>
        <p:spPr>
          <a:xfrm>
            <a:off x="3500430" y="4429132"/>
            <a:ext cx="2476518" cy="1857388"/>
          </a:xfrm>
          <a:prstGeom prst="rect">
            <a:avLst/>
          </a:prstGeom>
        </p:spPr>
      </p:pic>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items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disposables</a:t>
            </a:r>
          </a:p>
          <a:p>
            <a:pPr marL="0" indent="-342900">
              <a:spcBef>
                <a:spcPts val="600"/>
              </a:spcBef>
              <a:spcAft>
                <a:spcPts val="1200"/>
              </a:spcAft>
              <a:buNone/>
              <a:defRPr/>
            </a:pPr>
            <a:r>
              <a:rPr lang="en-US" sz="2200" dirty="0" smtClean="0">
                <a:latin typeface="Helvetica" pitchFamily="34" charset="0"/>
              </a:rPr>
              <a:t>Many outlets may have separate rubbish bins for the following items:</a:t>
            </a:r>
          </a:p>
          <a:p>
            <a:pPr marL="342900" indent="-342900">
              <a:spcBef>
                <a:spcPts val="600"/>
              </a:spcBef>
              <a:spcAft>
                <a:spcPts val="1200"/>
              </a:spcAft>
              <a:defRPr/>
            </a:pPr>
            <a:r>
              <a:rPr lang="en-US" sz="2200" dirty="0" smtClean="0">
                <a:latin typeface="Helvetica" pitchFamily="34" charset="0"/>
              </a:rPr>
              <a:t>General waste</a:t>
            </a:r>
          </a:p>
          <a:p>
            <a:pPr marL="342900" indent="-342900">
              <a:spcBef>
                <a:spcPts val="600"/>
              </a:spcBef>
              <a:spcAft>
                <a:spcPts val="1200"/>
              </a:spcAft>
              <a:defRPr/>
            </a:pPr>
            <a:r>
              <a:rPr lang="en-US" sz="2200" dirty="0" smtClean="0">
                <a:latin typeface="Helvetica" pitchFamily="34" charset="0"/>
              </a:rPr>
              <a:t>Vegetable or organic matter</a:t>
            </a:r>
          </a:p>
          <a:p>
            <a:pPr marL="342900" indent="-342900">
              <a:spcBef>
                <a:spcPts val="600"/>
              </a:spcBef>
              <a:spcAft>
                <a:spcPts val="1200"/>
              </a:spcAft>
              <a:defRPr/>
            </a:pPr>
            <a:r>
              <a:rPr lang="en-US" sz="2200" dirty="0" smtClean="0">
                <a:latin typeface="Helvetica" pitchFamily="34" charset="0"/>
              </a:rPr>
              <a:t>Recyclables  </a:t>
            </a:r>
          </a:p>
          <a:p>
            <a:pPr marL="342900" indent="-342900">
              <a:spcBef>
                <a:spcPts val="600"/>
              </a:spcBef>
              <a:spcAft>
                <a:spcPts val="1200"/>
              </a:spcAft>
              <a:defRPr/>
            </a:pPr>
            <a:r>
              <a:rPr lang="en-US" sz="2200" dirty="0" smtClean="0">
                <a:latin typeface="Helvetica" pitchFamily="34" charset="0"/>
              </a:rPr>
              <a:t>Broken glass </a:t>
            </a:r>
          </a:p>
          <a:p>
            <a:pPr marL="342900" indent="-342900">
              <a:spcBef>
                <a:spcPts val="600"/>
              </a:spcBef>
              <a:spcAft>
                <a:spcPts val="1200"/>
              </a:spcAft>
              <a:defRPr/>
            </a:pPr>
            <a:r>
              <a:rPr lang="en-US" sz="2200" dirty="0" smtClean="0">
                <a:latin typeface="Helvetica" pitchFamily="34" charset="0"/>
              </a:rPr>
              <a:t>Oils and hot liquids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198</a:t>
            </a:fld>
            <a:endParaRPr lang="en-US" dirty="0"/>
          </a:p>
        </p:txBody>
      </p:sp>
      <p:pic>
        <p:nvPicPr>
          <p:cNvPr id="3074" name="Picture 2" descr="C:\Documents and Settings\danielc\Local Settings\Temporary Internet Files\Content.IE5\112MAXTI\MC900215197[1].wmf"/>
          <p:cNvPicPr>
            <a:picLocks noChangeAspect="1" noChangeArrowheads="1"/>
          </p:cNvPicPr>
          <p:nvPr/>
        </p:nvPicPr>
        <p:blipFill>
          <a:blip r:embed="rId3" cstate="print"/>
          <a:srcRect/>
          <a:stretch>
            <a:fillRect/>
          </a:stretch>
        </p:blipFill>
        <p:spPr bwMode="auto">
          <a:xfrm>
            <a:off x="5786446" y="3143248"/>
            <a:ext cx="1758731" cy="1871374"/>
          </a:xfrm>
          <a:prstGeom prst="rect">
            <a:avLst/>
          </a:prstGeom>
          <a:noFill/>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items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recyclables</a:t>
            </a:r>
          </a:p>
          <a:p>
            <a:pPr marL="0">
              <a:spcBef>
                <a:spcPts val="600"/>
              </a:spcBef>
              <a:spcAft>
                <a:spcPts val="1200"/>
              </a:spcAft>
              <a:buNone/>
            </a:pPr>
            <a:r>
              <a:rPr lang="en-US" sz="2200" dirty="0" smtClean="0">
                <a:latin typeface="Helvetica" pitchFamily="34" charset="0"/>
              </a:rPr>
              <a:t>Recyclables are items that can be re-used again and are kept separate for collection.</a:t>
            </a:r>
          </a:p>
          <a:p>
            <a:pPr marL="342900" indent="-342900">
              <a:spcBef>
                <a:spcPts val="600"/>
              </a:spcBef>
              <a:spcAft>
                <a:spcPts val="1200"/>
              </a:spcAft>
              <a:buNone/>
              <a:defRPr/>
            </a:pPr>
            <a:r>
              <a:rPr lang="en-US" sz="2200" dirty="0" smtClean="0">
                <a:latin typeface="Helvetica" pitchFamily="34" charset="0"/>
              </a:rPr>
              <a:t>Recyclables include:</a:t>
            </a:r>
          </a:p>
          <a:p>
            <a:pPr marL="342900" indent="-342900">
              <a:spcBef>
                <a:spcPts val="600"/>
              </a:spcBef>
              <a:spcAft>
                <a:spcPts val="1200"/>
              </a:spcAft>
              <a:defRPr/>
            </a:pPr>
            <a:r>
              <a:rPr lang="en-US" sz="2200" dirty="0" smtClean="0">
                <a:latin typeface="Helvetica" pitchFamily="34" charset="0"/>
              </a:rPr>
              <a:t>Paper</a:t>
            </a:r>
          </a:p>
          <a:p>
            <a:pPr marL="342900" indent="-342900">
              <a:spcBef>
                <a:spcPts val="600"/>
              </a:spcBef>
              <a:spcAft>
                <a:spcPts val="1200"/>
              </a:spcAft>
              <a:defRPr/>
            </a:pPr>
            <a:r>
              <a:rPr lang="en-US" sz="2200" dirty="0" smtClean="0">
                <a:latin typeface="Helvetica" pitchFamily="34" charset="0"/>
              </a:rPr>
              <a:t>Cardboard</a:t>
            </a:r>
          </a:p>
          <a:p>
            <a:pPr marL="342900" indent="-342900">
              <a:spcBef>
                <a:spcPts val="600"/>
              </a:spcBef>
              <a:spcAft>
                <a:spcPts val="1200"/>
              </a:spcAft>
              <a:defRPr/>
            </a:pPr>
            <a:r>
              <a:rPr lang="en-US" sz="2200" dirty="0" smtClean="0">
                <a:latin typeface="Helvetica" pitchFamily="34" charset="0"/>
              </a:rPr>
              <a:t>Glass</a:t>
            </a:r>
          </a:p>
          <a:p>
            <a:pPr marL="342900" indent="-342900">
              <a:spcBef>
                <a:spcPts val="600"/>
              </a:spcBef>
              <a:spcAft>
                <a:spcPts val="1200"/>
              </a:spcAft>
              <a:defRPr/>
            </a:pPr>
            <a:r>
              <a:rPr lang="en-US" sz="2200" dirty="0" smtClean="0">
                <a:latin typeface="Helvetica" pitchFamily="34" charset="0"/>
              </a:rPr>
              <a:t>Plastic</a:t>
            </a:r>
          </a:p>
          <a:p>
            <a:pPr marL="342900" indent="-342900">
              <a:spcBef>
                <a:spcPts val="600"/>
              </a:spcBef>
              <a:spcAft>
                <a:spcPts val="1200"/>
              </a:spcAft>
              <a:defRPr/>
            </a:pPr>
            <a:r>
              <a:rPr lang="en-US" sz="2200" dirty="0" smtClean="0">
                <a:latin typeface="Helvetica" pitchFamily="34" charset="0"/>
              </a:rPr>
              <a:t>Cans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199</a:t>
            </a:fld>
            <a:endParaRPr lang="en-US" dirty="0"/>
          </a:p>
        </p:txBody>
      </p:sp>
      <p:pic>
        <p:nvPicPr>
          <p:cNvPr id="7" name="Picture 6" descr="MP900437342[1].JPG"/>
          <p:cNvPicPr/>
          <p:nvPr/>
        </p:nvPicPr>
        <p:blipFill>
          <a:blip r:embed="rId3" cstate="print"/>
          <a:stretch>
            <a:fillRect/>
          </a:stretch>
        </p:blipFill>
        <p:spPr>
          <a:xfrm>
            <a:off x="5500694" y="3214686"/>
            <a:ext cx="2408089" cy="1699245"/>
          </a:xfrm>
          <a:prstGeom prst="rect">
            <a:avLst/>
          </a:prstGeom>
        </p:spPr>
      </p:pic>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Disposing of items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342900" indent="-342900">
              <a:spcBef>
                <a:spcPts val="600"/>
              </a:spcBef>
              <a:spcAft>
                <a:spcPts val="1200"/>
              </a:spcAft>
              <a:buNone/>
              <a:defRPr/>
            </a:pPr>
            <a:r>
              <a:rPr lang="en-US" sz="2200" b="1" dirty="0" smtClean="0">
                <a:latin typeface="Helvetica" pitchFamily="34" charset="0"/>
              </a:rPr>
              <a:t>Dispose of cleaning chemicals</a:t>
            </a:r>
          </a:p>
          <a:p>
            <a:pPr marL="0">
              <a:spcBef>
                <a:spcPts val="600"/>
              </a:spcBef>
              <a:spcAft>
                <a:spcPts val="1200"/>
              </a:spcAft>
              <a:buNone/>
            </a:pPr>
            <a:r>
              <a:rPr lang="en-AU" sz="2200" dirty="0" smtClean="0">
                <a:latin typeface="Helvetica" pitchFamily="34" charset="0"/>
              </a:rPr>
              <a:t>There will be a need to dispose of cleaning chemicals when:</a:t>
            </a:r>
          </a:p>
          <a:p>
            <a:pPr lvl="0">
              <a:spcBef>
                <a:spcPts val="600"/>
              </a:spcBef>
              <a:spcAft>
                <a:spcPts val="1200"/>
              </a:spcAft>
            </a:pPr>
            <a:r>
              <a:rPr lang="en-AU" sz="2200" dirty="0" smtClean="0">
                <a:latin typeface="Helvetica" pitchFamily="34" charset="0"/>
              </a:rPr>
              <a:t>Chemicals have become dated</a:t>
            </a:r>
          </a:p>
          <a:p>
            <a:pPr lvl="0">
              <a:spcBef>
                <a:spcPts val="600"/>
              </a:spcBef>
              <a:spcAft>
                <a:spcPts val="1200"/>
              </a:spcAft>
            </a:pPr>
            <a:r>
              <a:rPr lang="en-AU" sz="2200" dirty="0" smtClean="0">
                <a:latin typeface="Helvetica" pitchFamily="34" charset="0"/>
              </a:rPr>
              <a:t>Containers have lost their labels and you                          don’t know what’s inside</a:t>
            </a:r>
          </a:p>
          <a:p>
            <a:pPr lvl="0">
              <a:spcBef>
                <a:spcPts val="600"/>
              </a:spcBef>
              <a:spcAft>
                <a:spcPts val="1200"/>
              </a:spcAft>
            </a:pPr>
            <a:r>
              <a:rPr lang="en-AU" sz="2200" dirty="0" smtClean="0">
                <a:latin typeface="Helvetica" pitchFamily="34" charset="0"/>
              </a:rPr>
              <a:t>You decide to discontinue using a                                    certain product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200</a:t>
            </a:fld>
            <a:endParaRPr lang="en-US" dirty="0"/>
          </a:p>
        </p:txBody>
      </p:sp>
      <p:pic>
        <p:nvPicPr>
          <p:cNvPr id="2050" name="Picture 2" descr="C:\Documents and Settings\danielc\Local Settings\Temporary Internet Files\Content.IE5\UMECW9PM\MC900234307[1].wmf"/>
          <p:cNvPicPr>
            <a:picLocks noChangeAspect="1" noChangeArrowheads="1"/>
          </p:cNvPicPr>
          <p:nvPr/>
        </p:nvPicPr>
        <p:blipFill>
          <a:blip r:embed="rId3" cstate="print"/>
          <a:srcRect/>
          <a:stretch>
            <a:fillRect/>
          </a:stretch>
        </p:blipFill>
        <p:spPr bwMode="auto">
          <a:xfrm>
            <a:off x="6429388" y="2786058"/>
            <a:ext cx="2192448" cy="2427838"/>
          </a:xfrm>
          <a:prstGeom prst="rect">
            <a:avLst/>
          </a:prstGeom>
          <a:noFill/>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Maintain clean work area</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dirty="0" smtClean="0">
                <a:latin typeface="Helvetica" pitchFamily="34" charset="0"/>
              </a:rPr>
              <a:t>Management and staff must:</a:t>
            </a:r>
          </a:p>
          <a:p>
            <a:pPr>
              <a:spcBef>
                <a:spcPts val="600"/>
              </a:spcBef>
              <a:spcAft>
                <a:spcPts val="1200"/>
              </a:spcAft>
            </a:pPr>
            <a:r>
              <a:rPr lang="en-AU" sz="2200" dirty="0" smtClean="0">
                <a:latin typeface="Helvetica" pitchFamily="34" charset="0"/>
              </a:rPr>
              <a:t>Regularly clean and maintain the premises</a:t>
            </a:r>
          </a:p>
          <a:p>
            <a:pPr>
              <a:spcBef>
                <a:spcPts val="600"/>
              </a:spcBef>
              <a:spcAft>
                <a:spcPts val="1200"/>
              </a:spcAft>
            </a:pPr>
            <a:r>
              <a:rPr lang="en-AU" sz="2200" dirty="0" smtClean="0">
                <a:latin typeface="Helvetica" pitchFamily="34" charset="0"/>
              </a:rPr>
              <a:t>Control pests and vermin</a:t>
            </a:r>
          </a:p>
          <a:p>
            <a:pPr>
              <a:spcBef>
                <a:spcPts val="600"/>
              </a:spcBef>
              <a:spcAft>
                <a:spcPts val="1200"/>
              </a:spcAft>
            </a:pPr>
            <a:r>
              <a:rPr lang="en-AU" sz="2200" dirty="0" smtClean="0">
                <a:latin typeface="Helvetica" pitchFamily="34" charset="0"/>
              </a:rPr>
              <a:t>Implement a daily cleaning schedule</a:t>
            </a:r>
          </a:p>
          <a:p>
            <a:pPr>
              <a:spcBef>
                <a:spcPts val="600"/>
              </a:spcBef>
              <a:spcAft>
                <a:spcPts val="1200"/>
              </a:spcAft>
            </a:pPr>
            <a:r>
              <a:rPr lang="en-AU" sz="2200" dirty="0" smtClean="0">
                <a:latin typeface="Helvetica" pitchFamily="34" charset="0"/>
              </a:rPr>
              <a:t>Maintain and clean equipment</a:t>
            </a:r>
          </a:p>
          <a:p>
            <a:pPr>
              <a:spcBef>
                <a:spcPts val="600"/>
              </a:spcBef>
              <a:spcAft>
                <a:spcPts val="1200"/>
              </a:spcAft>
            </a:pPr>
            <a:r>
              <a:rPr lang="en-AU" sz="2200" dirty="0" smtClean="0">
                <a:latin typeface="Helvetica" pitchFamily="34" charset="0"/>
              </a:rPr>
              <a:t>Maintain food or beverage preparation and service areas at the highest standard of hygiene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201</a:t>
            </a:fld>
            <a:endParaRPr lang="en-US" dirty="0"/>
          </a:p>
        </p:txBody>
      </p:sp>
      <p:pic>
        <p:nvPicPr>
          <p:cNvPr id="6" name="Picture 5" descr="Waiter.jpg"/>
          <p:cNvPicPr>
            <a:picLocks noChangeAspect="1"/>
          </p:cNvPicPr>
          <p:nvPr/>
        </p:nvPicPr>
        <p:blipFill>
          <a:blip r:embed="rId3" cstate="print"/>
          <a:stretch>
            <a:fillRect/>
          </a:stretch>
        </p:blipFill>
        <p:spPr>
          <a:xfrm>
            <a:off x="6858016" y="1857364"/>
            <a:ext cx="1242125" cy="2438584"/>
          </a:xfrm>
          <a:prstGeom prst="rect">
            <a:avLst/>
          </a:prstGeom>
        </p:spPr>
      </p:pic>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Cleaning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301208"/>
          </a:xfrm>
        </p:spPr>
        <p:txBody>
          <a:bodyPr>
            <a:normAutofit/>
          </a:bodyPr>
          <a:lstStyle/>
          <a:p>
            <a:pPr>
              <a:spcBef>
                <a:spcPts val="600"/>
              </a:spcBef>
              <a:spcAft>
                <a:spcPts val="800"/>
              </a:spcAft>
              <a:buNone/>
            </a:pPr>
            <a:r>
              <a:rPr lang="en-AU" sz="2200" b="1" dirty="0" smtClean="0">
                <a:latin typeface="Helvetica" pitchFamily="34" charset="0"/>
              </a:rPr>
              <a:t>Glasses and glassware</a:t>
            </a:r>
            <a:endParaRPr lang="en-AU" sz="2200" dirty="0" smtClean="0">
              <a:latin typeface="Helvetica" pitchFamily="34" charset="0"/>
            </a:endParaRPr>
          </a:p>
          <a:p>
            <a:pPr lvl="0">
              <a:spcBef>
                <a:spcPts val="600"/>
              </a:spcBef>
              <a:spcAft>
                <a:spcPts val="800"/>
              </a:spcAft>
            </a:pPr>
            <a:r>
              <a:rPr lang="en-AU" sz="2200" dirty="0" smtClean="0">
                <a:latin typeface="Helvetica" pitchFamily="34" charset="0"/>
              </a:rPr>
              <a:t>Empty glasses of all contents</a:t>
            </a:r>
          </a:p>
          <a:p>
            <a:pPr lvl="0">
              <a:spcBef>
                <a:spcPts val="600"/>
              </a:spcBef>
              <a:spcAft>
                <a:spcPts val="800"/>
              </a:spcAft>
            </a:pPr>
            <a:r>
              <a:rPr lang="en-AU" sz="2200" dirty="0" smtClean="0">
                <a:latin typeface="Helvetica" pitchFamily="34" charset="0"/>
              </a:rPr>
              <a:t>Load the glasses into a glass washing tray</a:t>
            </a:r>
          </a:p>
          <a:p>
            <a:pPr lvl="0">
              <a:spcBef>
                <a:spcPts val="600"/>
              </a:spcBef>
              <a:spcAft>
                <a:spcPts val="800"/>
              </a:spcAft>
            </a:pPr>
            <a:r>
              <a:rPr lang="en-AU" sz="2200" dirty="0" smtClean="0">
                <a:latin typeface="Helvetica" pitchFamily="34" charset="0"/>
              </a:rPr>
              <a:t>Wash the glasses in the machine when required or when the trays are full</a:t>
            </a:r>
          </a:p>
          <a:p>
            <a:pPr lvl="0">
              <a:spcBef>
                <a:spcPts val="600"/>
              </a:spcBef>
              <a:spcAft>
                <a:spcPts val="800"/>
              </a:spcAft>
            </a:pPr>
            <a:r>
              <a:rPr lang="en-AU" sz="2200" dirty="0" smtClean="0">
                <a:latin typeface="Helvetica" pitchFamily="34" charset="0"/>
              </a:rPr>
              <a:t>Take the glasses out of the machine and </a:t>
            </a:r>
            <a:br>
              <a:rPr lang="en-AU" sz="2200" dirty="0" smtClean="0">
                <a:latin typeface="Helvetica" pitchFamily="34" charset="0"/>
              </a:rPr>
            </a:br>
            <a:r>
              <a:rPr lang="en-AU" sz="2200" dirty="0" smtClean="0">
                <a:latin typeface="Helvetica" pitchFamily="34" charset="0"/>
              </a:rPr>
              <a:t>either allow to air dry or hand-polish  </a:t>
            </a:r>
          </a:p>
          <a:p>
            <a:pPr>
              <a:spcBef>
                <a:spcPts val="600"/>
              </a:spcBef>
              <a:spcAft>
                <a:spcPts val="800"/>
              </a:spcAft>
            </a:pPr>
            <a:r>
              <a:rPr lang="en-AU" sz="2200" dirty="0" smtClean="0">
                <a:latin typeface="Helvetica" pitchFamily="34" charset="0"/>
              </a:rPr>
              <a:t>Put the clean glasses in their nominated </a:t>
            </a:r>
            <a:br>
              <a:rPr lang="en-AU" sz="2200" dirty="0" smtClean="0">
                <a:latin typeface="Helvetica" pitchFamily="34" charset="0"/>
              </a:rPr>
            </a:br>
            <a:r>
              <a:rPr lang="en-AU" sz="2200" dirty="0" smtClean="0">
                <a:latin typeface="Helvetica" pitchFamily="34" charset="0"/>
              </a:rPr>
              <a:t>storage areas ready for use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202</a:t>
            </a:fld>
            <a:endParaRPr lang="en-US" dirty="0"/>
          </a:p>
        </p:txBody>
      </p:sp>
      <p:pic>
        <p:nvPicPr>
          <p:cNvPr id="7" name="Picture 6" descr="IMG_1978.jpg"/>
          <p:cNvPicPr/>
          <p:nvPr/>
        </p:nvPicPr>
        <p:blipFill>
          <a:blip r:embed="rId3" cstate="print">
            <a:lum bright="10000"/>
          </a:blip>
          <a:stretch>
            <a:fillRect/>
          </a:stretch>
        </p:blipFill>
        <p:spPr>
          <a:xfrm>
            <a:off x="6357950" y="3571876"/>
            <a:ext cx="2091825" cy="1571636"/>
          </a:xfrm>
          <a:prstGeom prst="rect">
            <a:avLst/>
          </a:prstGeom>
        </p:spPr>
      </p:pic>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Cleaning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Crockery and cutlery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Remove visible food debris</a:t>
            </a:r>
          </a:p>
          <a:p>
            <a:pPr lvl="0">
              <a:spcBef>
                <a:spcPts val="600"/>
              </a:spcBef>
              <a:spcAft>
                <a:spcPts val="1200"/>
              </a:spcAft>
            </a:pPr>
            <a:r>
              <a:rPr lang="en-AU" sz="2200" dirty="0" smtClean="0">
                <a:latin typeface="Helvetica" pitchFamily="34" charset="0"/>
              </a:rPr>
              <a:t>Rinse with warm water to remove loose dirt</a:t>
            </a:r>
          </a:p>
          <a:p>
            <a:pPr lvl="0">
              <a:spcBef>
                <a:spcPts val="600"/>
              </a:spcBef>
              <a:spcAft>
                <a:spcPts val="1200"/>
              </a:spcAft>
            </a:pPr>
            <a:r>
              <a:rPr lang="en-AU" sz="2200" dirty="0" smtClean="0">
                <a:latin typeface="Helvetica" pitchFamily="34" charset="0"/>
              </a:rPr>
              <a:t>Wash with a detergent</a:t>
            </a:r>
          </a:p>
          <a:p>
            <a:pPr lvl="0">
              <a:spcBef>
                <a:spcPts val="600"/>
              </a:spcBef>
              <a:spcAft>
                <a:spcPts val="1200"/>
              </a:spcAft>
            </a:pPr>
            <a:r>
              <a:rPr lang="en-AU" sz="2200" dirty="0" smtClean="0">
                <a:latin typeface="Helvetica" pitchFamily="34" charset="0"/>
              </a:rPr>
              <a:t>Rinse again to remove the detergent and debris</a:t>
            </a:r>
          </a:p>
          <a:p>
            <a:pPr lvl="0">
              <a:spcBef>
                <a:spcPts val="600"/>
              </a:spcBef>
              <a:spcAft>
                <a:spcPts val="1200"/>
              </a:spcAft>
            </a:pPr>
            <a:r>
              <a:rPr lang="en-AU" sz="2200" dirty="0" smtClean="0">
                <a:latin typeface="Helvetica" pitchFamily="34" charset="0"/>
              </a:rPr>
              <a:t>Apply a sanitiser. Sanitisers are chemicals                          designed to kill bacteria</a:t>
            </a:r>
          </a:p>
          <a:p>
            <a:pPr lvl="0">
              <a:spcBef>
                <a:spcPts val="600"/>
              </a:spcBef>
              <a:spcAft>
                <a:spcPts val="1200"/>
              </a:spcAft>
            </a:pPr>
            <a:r>
              <a:rPr lang="en-AU" sz="2200" dirty="0" smtClean="0">
                <a:latin typeface="Helvetica" pitchFamily="34" charset="0"/>
              </a:rPr>
              <a:t>Rinse to remove the sanitiser</a:t>
            </a:r>
          </a:p>
          <a:p>
            <a:pPr lvl="0">
              <a:spcBef>
                <a:spcPts val="600"/>
              </a:spcBef>
              <a:spcAft>
                <a:spcPts val="1200"/>
              </a:spcAft>
            </a:pPr>
            <a:r>
              <a:rPr lang="en-AU" sz="2200" dirty="0" smtClean="0">
                <a:latin typeface="Helvetica" pitchFamily="34" charset="0"/>
              </a:rPr>
              <a:t>Allow to air dry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203</a:t>
            </a:fld>
            <a:endParaRPr lang="en-US" dirty="0"/>
          </a:p>
        </p:txBody>
      </p:sp>
      <p:pic>
        <p:nvPicPr>
          <p:cNvPr id="6" name="Picture 5" descr="http://snewzbutton.com/wp-content/uploads/2009/10/dirtydishes.jpg"/>
          <p:cNvPicPr/>
          <p:nvPr/>
        </p:nvPicPr>
        <p:blipFill>
          <a:blip r:embed="rId3" cstate="print"/>
          <a:srcRect/>
          <a:stretch>
            <a:fillRect/>
          </a:stretch>
        </p:blipFill>
        <p:spPr bwMode="auto">
          <a:xfrm>
            <a:off x="7000892" y="1571612"/>
            <a:ext cx="1503680" cy="2143141"/>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Clearing and cleaning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Areas to be cleared and cleaned</a:t>
            </a:r>
          </a:p>
          <a:p>
            <a:pPr marL="0">
              <a:spcBef>
                <a:spcPts val="600"/>
              </a:spcBef>
              <a:spcAft>
                <a:spcPts val="1200"/>
              </a:spcAft>
              <a:buNone/>
            </a:pPr>
            <a:r>
              <a:rPr lang="en-AU" sz="2200" dirty="0" smtClean="0">
                <a:latin typeface="Helvetica" pitchFamily="34" charset="0"/>
              </a:rPr>
              <a:t>Various areas in a restaurant need to be cleaned, cleared or dismantled at the end of service sessions including:</a:t>
            </a:r>
          </a:p>
          <a:p>
            <a:pPr lvl="0">
              <a:spcBef>
                <a:spcPts val="600"/>
              </a:spcBef>
              <a:spcAft>
                <a:spcPts val="1200"/>
              </a:spcAft>
            </a:pPr>
            <a:r>
              <a:rPr lang="en-AU" sz="2200" dirty="0" smtClean="0">
                <a:latin typeface="Helvetica" pitchFamily="34" charset="0"/>
              </a:rPr>
              <a:t>Stripping tables</a:t>
            </a:r>
          </a:p>
          <a:p>
            <a:pPr lvl="0">
              <a:spcBef>
                <a:spcPts val="600"/>
              </a:spcBef>
              <a:spcAft>
                <a:spcPts val="1200"/>
              </a:spcAft>
            </a:pPr>
            <a:r>
              <a:rPr lang="en-AU" sz="2200" dirty="0" smtClean="0">
                <a:latin typeface="Helvetica" pitchFamily="34" charset="0"/>
              </a:rPr>
              <a:t>Around the coffee machine</a:t>
            </a:r>
          </a:p>
          <a:p>
            <a:pPr lvl="0">
              <a:spcBef>
                <a:spcPts val="600"/>
              </a:spcBef>
              <a:spcAft>
                <a:spcPts val="1200"/>
              </a:spcAft>
            </a:pPr>
            <a:r>
              <a:rPr lang="en-AU" sz="2200" dirty="0" smtClean="0">
                <a:latin typeface="Helvetica" pitchFamily="34" charset="0"/>
              </a:rPr>
              <a:t>The waiter’s stations</a:t>
            </a:r>
          </a:p>
          <a:p>
            <a:pPr lvl="0">
              <a:spcBef>
                <a:spcPts val="600"/>
              </a:spcBef>
              <a:spcAft>
                <a:spcPts val="1200"/>
              </a:spcAft>
            </a:pPr>
            <a:r>
              <a:rPr lang="en-AU" sz="2200" dirty="0" smtClean="0">
                <a:latin typeface="Helvetica" pitchFamily="34" charset="0"/>
              </a:rPr>
              <a:t>Laundry areas</a:t>
            </a:r>
          </a:p>
          <a:p>
            <a:pPr lvl="0">
              <a:spcBef>
                <a:spcPts val="600"/>
              </a:spcBef>
              <a:spcAft>
                <a:spcPts val="1200"/>
              </a:spcAft>
            </a:pPr>
            <a:r>
              <a:rPr lang="en-AU" sz="2200" dirty="0" smtClean="0">
                <a:latin typeface="Helvetica" pitchFamily="34" charset="0"/>
              </a:rPr>
              <a:t>Kitchen food service area</a:t>
            </a:r>
          </a:p>
          <a:p>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204</a:t>
            </a:fld>
            <a:endParaRPr lang="en-US" dirty="0"/>
          </a:p>
        </p:txBody>
      </p:sp>
      <p:pic>
        <p:nvPicPr>
          <p:cNvPr id="8" name="Picture 7" descr="IMG_1837.jpg"/>
          <p:cNvPicPr>
            <a:picLocks noChangeAspect="1"/>
          </p:cNvPicPr>
          <p:nvPr/>
        </p:nvPicPr>
        <p:blipFill>
          <a:blip r:embed="rId3" cstate="print">
            <a:lum bright="10000" contrast="10000"/>
          </a:blip>
          <a:stretch>
            <a:fillRect/>
          </a:stretch>
        </p:blipFill>
        <p:spPr>
          <a:xfrm>
            <a:off x="5929322" y="3214686"/>
            <a:ext cx="2459765" cy="1844824"/>
          </a:xfrm>
          <a:prstGeom prst="rect">
            <a:avLst/>
          </a:prstGeom>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Clearing and cleaning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lvl="0">
              <a:spcBef>
                <a:spcPts val="600"/>
              </a:spcBef>
              <a:spcAft>
                <a:spcPts val="1200"/>
              </a:spcAft>
              <a:buNone/>
            </a:pPr>
            <a:r>
              <a:rPr lang="en-AU" sz="2200" b="1" dirty="0" smtClean="0">
                <a:latin typeface="Helvetica" pitchFamily="34" charset="0"/>
              </a:rPr>
              <a:t>Restroom facilities</a:t>
            </a:r>
          </a:p>
          <a:p>
            <a:pPr lvl="0">
              <a:spcBef>
                <a:spcPts val="600"/>
              </a:spcBef>
              <a:spcAft>
                <a:spcPts val="1200"/>
              </a:spcAft>
            </a:pPr>
            <a:r>
              <a:rPr lang="en-AU" sz="2200" dirty="0" smtClean="0">
                <a:latin typeface="Helvetica" pitchFamily="34" charset="0"/>
              </a:rPr>
              <a:t>Checking to make no patrons remain in these areas after the premises have closed</a:t>
            </a:r>
          </a:p>
          <a:p>
            <a:pPr lvl="0">
              <a:spcBef>
                <a:spcPts val="600"/>
              </a:spcBef>
              <a:spcAft>
                <a:spcPts val="1200"/>
              </a:spcAft>
            </a:pPr>
            <a:r>
              <a:rPr lang="en-AU" sz="2200" dirty="0" smtClean="0">
                <a:latin typeface="Helvetica" pitchFamily="34" charset="0"/>
              </a:rPr>
              <a:t>Checking to see if any items have been left there</a:t>
            </a:r>
          </a:p>
          <a:p>
            <a:pPr lvl="0">
              <a:spcBef>
                <a:spcPts val="600"/>
              </a:spcBef>
              <a:spcAft>
                <a:spcPts val="1200"/>
              </a:spcAft>
            </a:pPr>
            <a:r>
              <a:rPr lang="en-AU" sz="2200" dirty="0" smtClean="0">
                <a:latin typeface="Helvetica" pitchFamily="34" charset="0"/>
              </a:rPr>
              <a:t>Checking to identify damage or cleaning needs</a:t>
            </a:r>
          </a:p>
          <a:p>
            <a:pPr lvl="0">
              <a:spcBef>
                <a:spcPts val="600"/>
              </a:spcBef>
              <a:spcAft>
                <a:spcPts val="1200"/>
              </a:spcAft>
            </a:pPr>
            <a:r>
              <a:rPr lang="en-AU" sz="2200" dirty="0" smtClean="0">
                <a:latin typeface="Helvetica" pitchFamily="34" charset="0"/>
              </a:rPr>
              <a:t>Replenishment of toilet supplies</a:t>
            </a:r>
          </a:p>
          <a:p>
            <a:endParaRPr lang="en-AU" sz="3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205</a:t>
            </a:fld>
            <a:endParaRPr lang="en-US" dirty="0"/>
          </a:p>
        </p:txBody>
      </p:sp>
      <p:pic>
        <p:nvPicPr>
          <p:cNvPr id="7" name="Picture 6" descr="IMG_1774.jpg"/>
          <p:cNvPicPr>
            <a:picLocks noChangeAspect="1"/>
          </p:cNvPicPr>
          <p:nvPr/>
        </p:nvPicPr>
        <p:blipFill>
          <a:blip r:embed="rId3" cstate="print"/>
          <a:srcRect t="14942" b="16029"/>
          <a:stretch>
            <a:fillRect/>
          </a:stretch>
        </p:blipFill>
        <p:spPr>
          <a:xfrm>
            <a:off x="3428992" y="4857760"/>
            <a:ext cx="2759742" cy="1428760"/>
          </a:xfrm>
          <a:prstGeom prst="rect">
            <a:avLst/>
          </a:prstGeom>
        </p:spPr>
      </p:pic>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Clearing and cleaning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lvl="0">
              <a:spcBef>
                <a:spcPts val="600"/>
              </a:spcBef>
              <a:spcAft>
                <a:spcPts val="1200"/>
              </a:spcAft>
              <a:buNone/>
            </a:pPr>
            <a:r>
              <a:rPr lang="en-AU" sz="2200" b="1" dirty="0" smtClean="0">
                <a:latin typeface="Helvetica" pitchFamily="34" charset="0"/>
              </a:rPr>
              <a:t>Furniture</a:t>
            </a:r>
          </a:p>
          <a:p>
            <a:pPr lvl="0">
              <a:spcBef>
                <a:spcPts val="600"/>
              </a:spcBef>
              <a:spcAft>
                <a:spcPts val="1200"/>
              </a:spcAft>
            </a:pPr>
            <a:r>
              <a:rPr lang="en-AU" sz="2200" dirty="0" smtClean="0">
                <a:latin typeface="Helvetica" pitchFamily="34" charset="0"/>
              </a:rPr>
              <a:t>Relocating tables and chairs to their ‘original’ position</a:t>
            </a:r>
          </a:p>
          <a:p>
            <a:pPr lvl="0">
              <a:spcBef>
                <a:spcPts val="600"/>
              </a:spcBef>
              <a:spcAft>
                <a:spcPts val="1200"/>
              </a:spcAft>
            </a:pPr>
            <a:r>
              <a:rPr lang="en-AU" sz="2200" dirty="0" smtClean="0">
                <a:latin typeface="Helvetica" pitchFamily="34" charset="0"/>
              </a:rPr>
              <a:t>Taking table tops off tables</a:t>
            </a:r>
          </a:p>
          <a:p>
            <a:pPr lvl="0">
              <a:spcBef>
                <a:spcPts val="600"/>
              </a:spcBef>
              <a:spcAft>
                <a:spcPts val="1200"/>
              </a:spcAft>
            </a:pPr>
            <a:r>
              <a:rPr lang="en-AU" sz="2200" dirty="0" smtClean="0">
                <a:latin typeface="Helvetica" pitchFamily="34" charset="0"/>
              </a:rPr>
              <a:t>Removing extra chairs that have been brought in</a:t>
            </a:r>
          </a:p>
          <a:p>
            <a:pPr>
              <a:spcBef>
                <a:spcPts val="600"/>
              </a:spcBef>
              <a:spcAft>
                <a:spcPts val="1200"/>
              </a:spcAft>
            </a:pPr>
            <a:r>
              <a:rPr lang="en-AU" sz="2200" dirty="0" smtClean="0">
                <a:latin typeface="Helvetica" pitchFamily="34" charset="0"/>
              </a:rPr>
              <a:t>Removing high chairs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206</a:t>
            </a:fld>
            <a:endParaRPr lang="en-US" dirty="0"/>
          </a:p>
        </p:txBody>
      </p:sp>
      <p:pic>
        <p:nvPicPr>
          <p:cNvPr id="6" name="Picture 5" descr="222957507_626e03b33d"/>
          <p:cNvPicPr/>
          <p:nvPr/>
        </p:nvPicPr>
        <p:blipFill>
          <a:blip r:embed="rId3" cstate="print">
            <a:duotone>
              <a:prstClr val="black"/>
              <a:srgbClr val="D9C3A5">
                <a:tint val="50000"/>
                <a:satMod val="180000"/>
              </a:srgbClr>
            </a:duotone>
            <a:lum bright="10000"/>
          </a:blip>
          <a:srcRect/>
          <a:stretch>
            <a:fillRect/>
          </a:stretch>
        </p:blipFill>
        <p:spPr bwMode="auto">
          <a:xfrm>
            <a:off x="6072198" y="3929066"/>
            <a:ext cx="1940204" cy="1656470"/>
          </a:xfrm>
          <a:prstGeom prst="rect">
            <a:avLst/>
          </a:prstGeom>
          <a:noFill/>
        </p:spPr>
      </p:pic>
    </p:spTree>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Clearing and cleaning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lvl="0">
              <a:spcBef>
                <a:spcPts val="600"/>
              </a:spcBef>
              <a:spcAft>
                <a:spcPts val="1200"/>
              </a:spcAft>
              <a:buNone/>
            </a:pPr>
            <a:r>
              <a:rPr lang="en-AU" sz="2200" b="1" dirty="0" smtClean="0">
                <a:latin typeface="Helvetica" pitchFamily="34" charset="0"/>
              </a:rPr>
              <a:t>Other areas and items</a:t>
            </a:r>
          </a:p>
          <a:p>
            <a:pPr lvl="0">
              <a:spcBef>
                <a:spcPts val="600"/>
              </a:spcBef>
              <a:spcAft>
                <a:spcPts val="1200"/>
              </a:spcAft>
            </a:pPr>
            <a:r>
              <a:rPr lang="en-AU" sz="2200" dirty="0" smtClean="0">
                <a:latin typeface="Helvetica" pitchFamily="34" charset="0"/>
              </a:rPr>
              <a:t>Fixtures and fittings </a:t>
            </a:r>
          </a:p>
          <a:p>
            <a:pPr lvl="0">
              <a:spcBef>
                <a:spcPts val="600"/>
              </a:spcBef>
              <a:spcAft>
                <a:spcPts val="1200"/>
              </a:spcAft>
            </a:pPr>
            <a:r>
              <a:rPr lang="en-AU" sz="2200" dirty="0" smtClean="0">
                <a:latin typeface="Helvetica" pitchFamily="34" charset="0"/>
              </a:rPr>
              <a:t>Windows and doors</a:t>
            </a:r>
          </a:p>
          <a:p>
            <a:pPr lvl="0">
              <a:spcBef>
                <a:spcPts val="600"/>
              </a:spcBef>
              <a:spcAft>
                <a:spcPts val="1200"/>
              </a:spcAft>
            </a:pPr>
            <a:r>
              <a:rPr lang="en-AU" sz="2200" dirty="0" smtClean="0">
                <a:latin typeface="Helvetica" pitchFamily="34" charset="0"/>
              </a:rPr>
              <a:t>All floor areas</a:t>
            </a:r>
          </a:p>
          <a:p>
            <a:pPr lvl="0">
              <a:spcBef>
                <a:spcPts val="600"/>
              </a:spcBef>
              <a:spcAft>
                <a:spcPts val="1200"/>
              </a:spcAft>
            </a:pPr>
            <a:r>
              <a:rPr lang="en-AU" sz="2200" dirty="0" smtClean="0">
                <a:latin typeface="Helvetica" pitchFamily="34" charset="0"/>
              </a:rPr>
              <a:t>Displays</a:t>
            </a:r>
          </a:p>
          <a:p>
            <a:pPr lvl="0">
              <a:spcBef>
                <a:spcPts val="600"/>
              </a:spcBef>
              <a:spcAft>
                <a:spcPts val="1200"/>
              </a:spcAft>
            </a:pPr>
            <a:r>
              <a:rPr lang="en-AU" sz="2200" dirty="0" smtClean="0">
                <a:latin typeface="Helvetica" pitchFamily="34" charset="0"/>
              </a:rPr>
              <a:t>Guest waiting area and reception</a:t>
            </a:r>
          </a:p>
          <a:p>
            <a:pPr lvl="0">
              <a:spcBef>
                <a:spcPts val="600"/>
              </a:spcBef>
              <a:spcAft>
                <a:spcPts val="1200"/>
              </a:spcAft>
            </a:pPr>
            <a:r>
              <a:rPr lang="en-AU" sz="2200" dirty="0" smtClean="0">
                <a:latin typeface="Helvetica" pitchFamily="34" charset="0"/>
              </a:rPr>
              <a:t>Garbage area</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207</a:t>
            </a:fld>
            <a:endParaRPr lang="en-US" dirty="0"/>
          </a:p>
        </p:txBody>
      </p:sp>
      <p:pic>
        <p:nvPicPr>
          <p:cNvPr id="7" name="Picture 6" descr="window_pic"/>
          <p:cNvPicPr/>
          <p:nvPr/>
        </p:nvPicPr>
        <p:blipFill>
          <a:blip r:embed="rId3" cstate="print">
            <a:lum bright="10000" contrast="20000"/>
          </a:blip>
          <a:srcRect/>
          <a:stretch>
            <a:fillRect/>
          </a:stretch>
        </p:blipFill>
        <p:spPr bwMode="auto">
          <a:xfrm>
            <a:off x="5857884" y="2440948"/>
            <a:ext cx="2255769" cy="1630994"/>
          </a:xfrm>
          <a:prstGeom prst="rect">
            <a:avLst/>
          </a:prstGeom>
          <a:noFill/>
        </p:spPr>
      </p:pic>
    </p:spTree>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Storing cleaning equipment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lvl="0">
              <a:spcBef>
                <a:spcPts val="600"/>
              </a:spcBef>
              <a:spcAft>
                <a:spcPts val="1200"/>
              </a:spcAft>
            </a:pPr>
            <a:r>
              <a:rPr lang="en-AU" sz="2200" dirty="0" smtClean="0">
                <a:latin typeface="Helvetica" pitchFamily="34" charset="0"/>
              </a:rPr>
              <a:t>Stowing items neatly and tidily</a:t>
            </a:r>
          </a:p>
          <a:p>
            <a:pPr lvl="0">
              <a:spcBef>
                <a:spcPts val="600"/>
              </a:spcBef>
              <a:spcAft>
                <a:spcPts val="1200"/>
              </a:spcAft>
            </a:pPr>
            <a:r>
              <a:rPr lang="en-AU" sz="2200" dirty="0" smtClean="0">
                <a:latin typeface="Helvetica" pitchFamily="34" charset="0"/>
              </a:rPr>
              <a:t>Checking the equipment for faults or damage</a:t>
            </a:r>
          </a:p>
          <a:p>
            <a:pPr lvl="0">
              <a:spcBef>
                <a:spcPts val="600"/>
              </a:spcBef>
              <a:spcAft>
                <a:spcPts val="1200"/>
              </a:spcAft>
            </a:pPr>
            <a:r>
              <a:rPr lang="en-AU" sz="2200" dirty="0" smtClean="0">
                <a:latin typeface="Helvetica" pitchFamily="34" charset="0"/>
              </a:rPr>
              <a:t>Cleaning the equipment used </a:t>
            </a:r>
          </a:p>
          <a:p>
            <a:pPr lvl="0">
              <a:spcBef>
                <a:spcPts val="600"/>
              </a:spcBef>
              <a:spcAft>
                <a:spcPts val="1200"/>
              </a:spcAft>
            </a:pPr>
            <a:r>
              <a:rPr lang="en-AU" sz="2200" dirty="0" smtClean="0">
                <a:latin typeface="Helvetica" pitchFamily="34" charset="0"/>
              </a:rPr>
              <a:t>Checking supply level of cleaning chemicals</a:t>
            </a:r>
          </a:p>
          <a:p>
            <a:pPr>
              <a:spcBef>
                <a:spcPts val="600"/>
              </a:spcBef>
              <a:spcAft>
                <a:spcPts val="1200"/>
              </a:spcAft>
            </a:pPr>
            <a:r>
              <a:rPr lang="en-AU" sz="2200" dirty="0" smtClean="0">
                <a:latin typeface="Helvetica" pitchFamily="34" charset="0"/>
              </a:rPr>
              <a:t>Checking supplies of cleaning materials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208</a:t>
            </a:fld>
            <a:endParaRPr lang="en-US" dirty="0"/>
          </a:p>
        </p:txBody>
      </p:sp>
      <p:pic>
        <p:nvPicPr>
          <p:cNvPr id="6" name="Picture 5" descr="MP900439279[1].JPG"/>
          <p:cNvPicPr/>
          <p:nvPr/>
        </p:nvPicPr>
        <p:blipFill>
          <a:blip r:embed="rId3" cstate="print"/>
          <a:stretch>
            <a:fillRect/>
          </a:stretch>
        </p:blipFill>
        <p:spPr>
          <a:xfrm>
            <a:off x="7143768" y="1857364"/>
            <a:ext cx="1522854" cy="2168649"/>
          </a:xfrm>
          <a:prstGeom prst="rect">
            <a:avLst/>
          </a:prstGeom>
        </p:spPr>
      </p:pic>
    </p:spTree>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Conduct session de-briefing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dirty="0" smtClean="0">
                <a:latin typeface="Helvetica" pitchFamily="34" charset="0"/>
              </a:rPr>
              <a:t>Prime concerns at this meeting should be:</a:t>
            </a:r>
          </a:p>
          <a:p>
            <a:pPr lvl="0">
              <a:spcBef>
                <a:spcPts val="600"/>
              </a:spcBef>
              <a:spcAft>
                <a:spcPts val="1200"/>
              </a:spcAft>
            </a:pPr>
            <a:r>
              <a:rPr lang="en-AU" sz="2200" dirty="0" smtClean="0">
                <a:latin typeface="Helvetica" pitchFamily="34" charset="0"/>
              </a:rPr>
              <a:t>Communication between food and beverage staff</a:t>
            </a:r>
          </a:p>
          <a:p>
            <a:pPr lvl="0">
              <a:spcBef>
                <a:spcPts val="600"/>
              </a:spcBef>
              <a:spcAft>
                <a:spcPts val="1200"/>
              </a:spcAft>
            </a:pPr>
            <a:r>
              <a:rPr lang="en-AU" sz="2200" dirty="0" smtClean="0">
                <a:latin typeface="Helvetica" pitchFamily="34" charset="0"/>
              </a:rPr>
              <a:t>Communication between food and kitchen staff</a:t>
            </a:r>
          </a:p>
          <a:p>
            <a:pPr lvl="0">
              <a:spcBef>
                <a:spcPts val="600"/>
              </a:spcBef>
              <a:spcAft>
                <a:spcPts val="1200"/>
              </a:spcAft>
            </a:pPr>
            <a:r>
              <a:rPr lang="en-AU" sz="2200" dirty="0" smtClean="0">
                <a:latin typeface="Helvetica" pitchFamily="34" charset="0"/>
              </a:rPr>
              <a:t>Cooperation between staff in all food and beverage areas</a:t>
            </a:r>
          </a:p>
          <a:p>
            <a:pPr lvl="0">
              <a:spcBef>
                <a:spcPts val="600"/>
              </a:spcBef>
              <a:spcAft>
                <a:spcPts val="1200"/>
              </a:spcAft>
            </a:pPr>
            <a:r>
              <a:rPr lang="en-AU" sz="2200" dirty="0" smtClean="0">
                <a:latin typeface="Helvetica" pitchFamily="34" charset="0"/>
              </a:rPr>
              <a:t>Integration of service between food and beverage staff</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209</a:t>
            </a:fld>
            <a:endParaRPr lang="en-US" dirty="0"/>
          </a:p>
        </p:txBody>
      </p:sp>
      <p:pic>
        <p:nvPicPr>
          <p:cNvPr id="6" name="Picture 5" descr="21.jpg"/>
          <p:cNvPicPr/>
          <p:nvPr/>
        </p:nvPicPr>
        <p:blipFill>
          <a:blip r:embed="rId3" cstate="print"/>
          <a:stretch>
            <a:fillRect/>
          </a:stretch>
        </p:blipFill>
        <p:spPr>
          <a:xfrm>
            <a:off x="3500430" y="4857760"/>
            <a:ext cx="2247900" cy="1524000"/>
          </a:xfrm>
          <a:prstGeom prst="rect">
            <a:avLst/>
          </a:prstGeom>
        </p:spPr>
      </p:pic>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Conduct session de-briefing</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Purpose of a debrief session</a:t>
            </a:r>
          </a:p>
          <a:p>
            <a:pPr lvl="0">
              <a:spcBef>
                <a:spcPts val="600"/>
              </a:spcBef>
              <a:spcAft>
                <a:spcPts val="1200"/>
              </a:spcAft>
            </a:pPr>
            <a:r>
              <a:rPr lang="en-AU" sz="2200" dirty="0" smtClean="0">
                <a:latin typeface="Helvetica" pitchFamily="34" charset="0"/>
              </a:rPr>
              <a:t>Congratulate staff on work that has been well done during service  </a:t>
            </a:r>
          </a:p>
          <a:p>
            <a:pPr lvl="0">
              <a:spcBef>
                <a:spcPts val="600"/>
              </a:spcBef>
              <a:spcAft>
                <a:spcPts val="1200"/>
              </a:spcAft>
            </a:pPr>
            <a:r>
              <a:rPr lang="en-AU" sz="2200" dirty="0" smtClean="0">
                <a:latin typeface="Helvetica" pitchFamily="34" charset="0"/>
              </a:rPr>
              <a:t>Highlight and lead discussion on problems and issues that  arose</a:t>
            </a:r>
          </a:p>
          <a:p>
            <a:pPr lvl="0">
              <a:spcBef>
                <a:spcPts val="600"/>
              </a:spcBef>
              <a:spcAft>
                <a:spcPts val="1200"/>
              </a:spcAft>
            </a:pPr>
            <a:r>
              <a:rPr lang="en-AU" sz="2200" dirty="0" smtClean="0">
                <a:latin typeface="Helvetica" pitchFamily="34" charset="0"/>
              </a:rPr>
              <a:t>Provide the staff with feedback from their                          perspective of how the session went  </a:t>
            </a:r>
          </a:p>
          <a:p>
            <a:pPr lvl="0">
              <a:spcBef>
                <a:spcPts val="600"/>
              </a:spcBef>
              <a:spcAft>
                <a:spcPts val="1200"/>
              </a:spcAft>
            </a:pPr>
            <a:r>
              <a:rPr lang="en-AU" sz="2200" dirty="0" smtClean="0">
                <a:latin typeface="Helvetica" pitchFamily="34" charset="0"/>
              </a:rPr>
              <a:t>Review the quality of service                                         delivery provided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210</a:t>
            </a:fld>
            <a:endParaRPr lang="en-US" dirty="0"/>
          </a:p>
        </p:txBody>
      </p:sp>
      <p:pic>
        <p:nvPicPr>
          <p:cNvPr id="7" name="Picture 6" descr="20.jpg"/>
          <p:cNvPicPr>
            <a:picLocks noChangeAspect="1"/>
          </p:cNvPicPr>
          <p:nvPr/>
        </p:nvPicPr>
        <p:blipFill>
          <a:blip r:embed="rId3" cstate="print"/>
          <a:stretch>
            <a:fillRect/>
          </a:stretch>
        </p:blipFill>
        <p:spPr>
          <a:xfrm>
            <a:off x="6786578" y="3714752"/>
            <a:ext cx="1764608" cy="2649500"/>
          </a:xfrm>
          <a:prstGeom prst="rect">
            <a:avLst/>
          </a:prstGeom>
        </p:spPr>
      </p:pic>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Review and evaluate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a:spcBef>
                <a:spcPts val="600"/>
              </a:spcBef>
              <a:spcAft>
                <a:spcPts val="1200"/>
              </a:spcAft>
              <a:buNone/>
            </a:pPr>
            <a:r>
              <a:rPr lang="en-AU" sz="2200" b="1" dirty="0" smtClean="0">
                <a:latin typeface="Helvetica" pitchFamily="34" charset="0"/>
              </a:rPr>
              <a:t>Purpose of a debrief session</a:t>
            </a:r>
          </a:p>
          <a:p>
            <a:pPr lvl="0">
              <a:spcBef>
                <a:spcPts val="600"/>
              </a:spcBef>
              <a:spcAft>
                <a:spcPts val="1200"/>
              </a:spcAft>
            </a:pPr>
            <a:r>
              <a:rPr lang="en-AU" sz="2200" dirty="0" smtClean="0">
                <a:latin typeface="Helvetica" pitchFamily="34" charset="0"/>
              </a:rPr>
              <a:t>Encourage staff to identify issues of concern to them </a:t>
            </a:r>
          </a:p>
          <a:p>
            <a:pPr lvl="0">
              <a:spcBef>
                <a:spcPts val="600"/>
              </a:spcBef>
              <a:spcAft>
                <a:spcPts val="1200"/>
              </a:spcAft>
            </a:pPr>
            <a:r>
              <a:rPr lang="en-AU" sz="2200" dirty="0" smtClean="0">
                <a:latin typeface="Helvetica" pitchFamily="34" charset="0"/>
              </a:rPr>
              <a:t>Present issues and details of what can be expected in the next session </a:t>
            </a:r>
          </a:p>
          <a:p>
            <a:pPr>
              <a:spcBef>
                <a:spcPts val="600"/>
              </a:spcBef>
              <a:spcAft>
                <a:spcPts val="1200"/>
              </a:spcAft>
            </a:pPr>
            <a:r>
              <a:rPr lang="en-AU" sz="2200" dirty="0" smtClean="0">
                <a:latin typeface="Helvetica" pitchFamily="34" charset="0"/>
              </a:rPr>
              <a:t>Thank staff for their efforts and contribution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211</a:t>
            </a:fld>
            <a:endParaRPr lang="en-US" dirty="0"/>
          </a:p>
        </p:txBody>
      </p:sp>
      <p:pic>
        <p:nvPicPr>
          <p:cNvPr id="5" name="Picture 4" descr="11111.jpg"/>
          <p:cNvPicPr>
            <a:picLocks noChangeAspect="1"/>
          </p:cNvPicPr>
          <p:nvPr/>
        </p:nvPicPr>
        <p:blipFill>
          <a:blip r:embed="rId3" cstate="print"/>
          <a:stretch>
            <a:fillRect/>
          </a:stretch>
        </p:blipFill>
        <p:spPr>
          <a:xfrm>
            <a:off x="6929454" y="3429000"/>
            <a:ext cx="1428760" cy="2139127"/>
          </a:xfrm>
          <a:prstGeom prst="rect">
            <a:avLst/>
          </a:prstGeom>
        </p:spPr>
      </p:pic>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Conduct a handover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457200" indent="-457200">
              <a:spcBef>
                <a:spcPts val="600"/>
              </a:spcBef>
              <a:spcAft>
                <a:spcPts val="1200"/>
              </a:spcAft>
              <a:buNone/>
            </a:pPr>
            <a:r>
              <a:rPr lang="en-AU" sz="2200" b="1" dirty="0" smtClean="0">
                <a:latin typeface="Helvetica" pitchFamily="34" charset="0"/>
              </a:rPr>
              <a:t>Importance of a handover</a:t>
            </a:r>
          </a:p>
          <a:p>
            <a:pPr marL="457200" indent="-457200">
              <a:spcBef>
                <a:spcPts val="600"/>
              </a:spcBef>
              <a:spcAft>
                <a:spcPts val="1200"/>
              </a:spcAft>
            </a:pPr>
            <a:r>
              <a:rPr lang="en-AU" sz="2200" dirty="0" smtClean="0">
                <a:latin typeface="Helvetica" pitchFamily="34" charset="0"/>
              </a:rPr>
              <a:t>What is a handover?</a:t>
            </a:r>
          </a:p>
          <a:p>
            <a:pPr marL="457200" indent="-457200">
              <a:spcBef>
                <a:spcPts val="600"/>
              </a:spcBef>
              <a:spcAft>
                <a:spcPts val="1200"/>
              </a:spcAft>
            </a:pPr>
            <a:r>
              <a:rPr lang="en-AU" sz="2200" dirty="0" smtClean="0">
                <a:latin typeface="Helvetica" pitchFamily="34" charset="0"/>
              </a:rPr>
              <a:t>Why is it important to have a handover?</a:t>
            </a:r>
          </a:p>
          <a:p>
            <a:pPr marL="457200" indent="-457200">
              <a:spcBef>
                <a:spcPts val="600"/>
              </a:spcBef>
              <a:spcAft>
                <a:spcPts val="1200"/>
              </a:spcAft>
            </a:pPr>
            <a:r>
              <a:rPr lang="en-AU" sz="2200" dirty="0" smtClean="0">
                <a:latin typeface="Helvetica" pitchFamily="34" charset="0"/>
              </a:rPr>
              <a:t>What is discussed at a handover?</a:t>
            </a: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212</a:t>
            </a:fld>
            <a:endParaRPr lang="en-US" dirty="0"/>
          </a:p>
        </p:txBody>
      </p:sp>
      <p:pic>
        <p:nvPicPr>
          <p:cNvPr id="7" name="Picture 6" descr="I:\Overseas Projects\PHOTOS\2012\Office\ZOO_004.jpg"/>
          <p:cNvPicPr/>
          <p:nvPr/>
        </p:nvPicPr>
        <p:blipFill>
          <a:blip r:embed="rId3" cstate="print">
            <a:grayscl/>
          </a:blip>
          <a:srcRect/>
          <a:stretch>
            <a:fillRect/>
          </a:stretch>
        </p:blipFill>
        <p:spPr bwMode="auto">
          <a:xfrm>
            <a:off x="6429388" y="1785926"/>
            <a:ext cx="1642482" cy="243096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Conduct a handover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457200" indent="-457200">
              <a:spcBef>
                <a:spcPts val="600"/>
              </a:spcBef>
              <a:spcAft>
                <a:spcPts val="1200"/>
              </a:spcAft>
              <a:buNone/>
            </a:pPr>
            <a:r>
              <a:rPr lang="en-AU" sz="2200" b="1" dirty="0" smtClean="0">
                <a:latin typeface="Helvetica" pitchFamily="34" charset="0"/>
              </a:rPr>
              <a:t>Importance of a handover</a:t>
            </a:r>
          </a:p>
          <a:p>
            <a:pPr>
              <a:spcBef>
                <a:spcPts val="600"/>
              </a:spcBef>
              <a:spcAft>
                <a:spcPts val="1200"/>
              </a:spcAft>
            </a:pPr>
            <a:r>
              <a:rPr lang="en-US" sz="2200" dirty="0" smtClean="0">
                <a:latin typeface="Helvetica" pitchFamily="34" charset="0"/>
              </a:rPr>
              <a:t>The last function to be performed by the manager, supervisor or staff member responsible for the </a:t>
            </a:r>
            <a:br>
              <a:rPr lang="en-US" sz="2200" dirty="0" smtClean="0">
                <a:latin typeface="Helvetica" pitchFamily="34" charset="0"/>
              </a:rPr>
            </a:br>
            <a:r>
              <a:rPr lang="en-US" sz="2200" dirty="0" smtClean="0">
                <a:latin typeface="Helvetica" pitchFamily="34" charset="0"/>
              </a:rPr>
              <a:t>service period is to </a:t>
            </a:r>
            <a:r>
              <a:rPr lang="en-US" sz="2200" u="sng" dirty="0" smtClean="0">
                <a:latin typeface="Helvetica" pitchFamily="34" charset="0"/>
              </a:rPr>
              <a:t>conduct a handover with the </a:t>
            </a:r>
            <a:br>
              <a:rPr lang="en-US" sz="2200" u="sng" dirty="0" smtClean="0">
                <a:latin typeface="Helvetica" pitchFamily="34" charset="0"/>
              </a:rPr>
            </a:br>
            <a:r>
              <a:rPr lang="en-US" sz="2200" u="sng" dirty="0" smtClean="0">
                <a:latin typeface="Helvetica" pitchFamily="34" charset="0"/>
              </a:rPr>
              <a:t>person responsible </a:t>
            </a:r>
            <a:r>
              <a:rPr lang="en-US" sz="2200" dirty="0" smtClean="0">
                <a:latin typeface="Helvetica" pitchFamily="34" charset="0"/>
              </a:rPr>
              <a:t>for the next service period</a:t>
            </a:r>
          </a:p>
          <a:p>
            <a:pPr>
              <a:spcBef>
                <a:spcPts val="600"/>
              </a:spcBef>
              <a:spcAft>
                <a:spcPts val="1200"/>
              </a:spcAft>
            </a:pPr>
            <a:r>
              <a:rPr lang="en-US" sz="2200" dirty="0" smtClean="0">
                <a:latin typeface="Helvetica" pitchFamily="34" charset="0"/>
              </a:rPr>
              <a:t>It is vital that the new </a:t>
            </a:r>
            <a:r>
              <a:rPr lang="en-US" sz="2200" u="sng" dirty="0" smtClean="0">
                <a:latin typeface="Helvetica" pitchFamily="34" charset="0"/>
              </a:rPr>
              <a:t>team receives all the </a:t>
            </a:r>
            <a:br>
              <a:rPr lang="en-US" sz="2200" u="sng" dirty="0" smtClean="0">
                <a:latin typeface="Helvetica" pitchFamily="34" charset="0"/>
              </a:rPr>
            </a:br>
            <a:r>
              <a:rPr lang="en-US" sz="2200" u="sng" dirty="0" smtClean="0">
                <a:latin typeface="Helvetica" pitchFamily="34" charset="0"/>
              </a:rPr>
              <a:t>necessary information</a:t>
            </a:r>
            <a:r>
              <a:rPr lang="en-US" sz="2200" dirty="0" smtClean="0">
                <a:latin typeface="Helvetica" pitchFamily="34" charset="0"/>
              </a:rPr>
              <a:t> that will affect their </a:t>
            </a:r>
            <a:br>
              <a:rPr lang="en-US" sz="2200" dirty="0" smtClean="0">
                <a:latin typeface="Helvetica" pitchFamily="34" charset="0"/>
              </a:rPr>
            </a:br>
            <a:r>
              <a:rPr lang="en-US" sz="2200" dirty="0" smtClean="0">
                <a:latin typeface="Helvetica" pitchFamily="34" charset="0"/>
              </a:rPr>
              <a:t>service period</a:t>
            </a:r>
            <a:endParaRPr lang="en-US" sz="2200" b="1"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213</a:t>
            </a:fld>
            <a:endParaRPr lang="en-US" dirty="0"/>
          </a:p>
        </p:txBody>
      </p:sp>
      <p:pic>
        <p:nvPicPr>
          <p:cNvPr id="6" name="Picture 5" descr="I:\Overseas Projects\PHOTOS\2012\F &amp; B 2012\Vibe_Hotel_065.jpg"/>
          <p:cNvPicPr/>
          <p:nvPr/>
        </p:nvPicPr>
        <p:blipFill>
          <a:blip r:embed="rId3" cstate="print">
            <a:lum bright="20000" contrast="20000"/>
          </a:blip>
          <a:srcRect/>
          <a:stretch>
            <a:fillRect/>
          </a:stretch>
        </p:blipFill>
        <p:spPr bwMode="auto">
          <a:xfrm>
            <a:off x="7500958" y="2285992"/>
            <a:ext cx="1394932" cy="20783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Conduct a handover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Autofit/>
          </a:bodyPr>
          <a:lstStyle/>
          <a:p>
            <a:pPr marL="457200" indent="-457200">
              <a:spcBef>
                <a:spcPts val="600"/>
              </a:spcBef>
              <a:spcAft>
                <a:spcPts val="1200"/>
              </a:spcAft>
              <a:buNone/>
            </a:pPr>
            <a:r>
              <a:rPr lang="en-AU" sz="2200" b="1" dirty="0" smtClean="0">
                <a:latin typeface="Helvetica" pitchFamily="34" charset="0"/>
              </a:rPr>
              <a:t>Share valuable information</a:t>
            </a:r>
          </a:p>
          <a:p>
            <a:pPr lvl="0">
              <a:spcBef>
                <a:spcPts val="600"/>
              </a:spcBef>
              <a:spcAft>
                <a:spcPts val="1200"/>
              </a:spcAft>
            </a:pPr>
            <a:r>
              <a:rPr lang="en-AU" sz="2200" dirty="0" smtClean="0">
                <a:latin typeface="Helvetica" pitchFamily="34" charset="0"/>
              </a:rPr>
              <a:t>Status of the customer’s orders and service</a:t>
            </a:r>
          </a:p>
          <a:p>
            <a:pPr lvl="0">
              <a:spcBef>
                <a:spcPts val="600"/>
              </a:spcBef>
              <a:spcAft>
                <a:spcPts val="1200"/>
              </a:spcAft>
            </a:pPr>
            <a:r>
              <a:rPr lang="en-AU" sz="2200" dirty="0" smtClean="0">
                <a:latin typeface="Helvetica" pitchFamily="34" charset="0"/>
              </a:rPr>
              <a:t>Availability of beverage products and supplies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Changes or alterations to the menu</a:t>
            </a:r>
          </a:p>
          <a:p>
            <a:pPr lvl="0">
              <a:spcBef>
                <a:spcPts val="600"/>
              </a:spcBef>
              <a:spcAft>
                <a:spcPts val="1200"/>
              </a:spcAft>
            </a:pPr>
            <a:r>
              <a:rPr lang="en-AU" sz="2200" dirty="0" smtClean="0">
                <a:latin typeface="Helvetica" pitchFamily="34" charset="0"/>
              </a:rPr>
              <a:t>Any customer complaints</a:t>
            </a:r>
          </a:p>
          <a:p>
            <a:pPr lvl="0">
              <a:spcBef>
                <a:spcPts val="600"/>
              </a:spcBef>
              <a:spcAft>
                <a:spcPts val="1200"/>
              </a:spcAft>
            </a:pPr>
            <a:r>
              <a:rPr lang="en-AU" sz="2200" dirty="0" smtClean="0">
                <a:latin typeface="Helvetica" pitchFamily="34" charset="0"/>
              </a:rPr>
              <a:t>Roles for incoming staff members</a:t>
            </a:r>
          </a:p>
          <a:p>
            <a:pPr lvl="0">
              <a:spcBef>
                <a:spcPts val="600"/>
              </a:spcBef>
              <a:spcAft>
                <a:spcPts val="1200"/>
              </a:spcAft>
            </a:pPr>
            <a:r>
              <a:rPr lang="en-AU" sz="2200" dirty="0" smtClean="0">
                <a:latin typeface="Helvetica" pitchFamily="34" charset="0"/>
              </a:rPr>
              <a:t>Information about specific pieces of equipment or utensils</a:t>
            </a:r>
          </a:p>
          <a:p>
            <a:pPr>
              <a:spcBef>
                <a:spcPts val="600"/>
              </a:spcBef>
              <a:spcAft>
                <a:spcPts val="1200"/>
              </a:spcAft>
            </a:pPr>
            <a:r>
              <a:rPr lang="en-AU" sz="2200" dirty="0" smtClean="0">
                <a:latin typeface="Helvetica" pitchFamily="34" charset="0"/>
              </a:rPr>
              <a:t>Discussing financial transactions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214</a:t>
            </a:fld>
            <a:endParaRPr lang="en-US" dirty="0"/>
          </a:p>
        </p:txBody>
      </p:sp>
      <p:pic>
        <p:nvPicPr>
          <p:cNvPr id="6" name="Picture 5" descr="MP900442211.JPG"/>
          <p:cNvPicPr>
            <a:picLocks noChangeAspect="1"/>
          </p:cNvPicPr>
          <p:nvPr/>
        </p:nvPicPr>
        <p:blipFill>
          <a:blip r:embed="rId3" cstate="print"/>
          <a:stretch>
            <a:fillRect/>
          </a:stretch>
        </p:blipFill>
        <p:spPr>
          <a:xfrm>
            <a:off x="7286644" y="2214554"/>
            <a:ext cx="1470290" cy="2205434"/>
          </a:xfrm>
          <a:prstGeom prst="rect">
            <a:avLst/>
          </a:prstGeom>
        </p:spPr>
      </p:pic>
    </p:spTree>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spcBef>
                <a:spcPts val="600"/>
              </a:spcBef>
              <a:spcAft>
                <a:spcPts val="1200"/>
              </a:spcAft>
            </a:pPr>
            <a:r>
              <a:rPr lang="en-AU" sz="3400" b="1" dirty="0" smtClean="0">
                <a:solidFill>
                  <a:srgbClr val="FF6600"/>
                </a:solidFill>
                <a:latin typeface="Helvetica" pitchFamily="34" charset="0"/>
              </a:rPr>
              <a:t>Revision and Assessments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200" b="1" dirty="0" smtClean="0">
                <a:latin typeface="Helvetica" pitchFamily="34" charset="0"/>
              </a:rPr>
              <a:t>It is now time to complete any:</a:t>
            </a:r>
          </a:p>
          <a:p>
            <a:pPr>
              <a:spcBef>
                <a:spcPts val="600"/>
              </a:spcBef>
              <a:spcAft>
                <a:spcPts val="600"/>
              </a:spcAft>
            </a:pPr>
            <a:r>
              <a:rPr lang="en-AU" sz="2200" dirty="0" smtClean="0">
                <a:latin typeface="Helvetica" pitchFamily="34" charset="0"/>
              </a:rPr>
              <a:t>Revision</a:t>
            </a:r>
          </a:p>
          <a:p>
            <a:pPr>
              <a:spcBef>
                <a:spcPts val="600"/>
              </a:spcBef>
              <a:spcAft>
                <a:spcPts val="600"/>
              </a:spcAft>
            </a:pPr>
            <a:r>
              <a:rPr lang="en-AU" sz="2200" dirty="0" smtClean="0">
                <a:latin typeface="Helvetica" pitchFamily="34" charset="0"/>
              </a:rPr>
              <a:t>Activities</a:t>
            </a:r>
          </a:p>
          <a:p>
            <a:pPr>
              <a:spcBef>
                <a:spcPts val="600"/>
              </a:spcBef>
              <a:spcAft>
                <a:spcPts val="600"/>
              </a:spcAft>
            </a:pPr>
            <a:r>
              <a:rPr lang="en-AU" sz="2200" dirty="0" smtClean="0">
                <a:latin typeface="Helvetica" pitchFamily="34" charset="0"/>
              </a:rPr>
              <a:t>Assessments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215</a:t>
            </a:fld>
            <a:endParaRPr lang="en-US" dirty="0"/>
          </a:p>
        </p:txBody>
      </p:sp>
      <p:pic>
        <p:nvPicPr>
          <p:cNvPr id="6" name="Picture 5" descr="63118519_bbcf63d198_m.jpg"/>
          <p:cNvPicPr>
            <a:picLocks noChangeAspect="1"/>
          </p:cNvPicPr>
          <p:nvPr/>
        </p:nvPicPr>
        <p:blipFill>
          <a:blip r:embed="rId3" cstate="print"/>
          <a:stretch>
            <a:fillRect/>
          </a:stretch>
        </p:blipFill>
        <p:spPr>
          <a:xfrm>
            <a:off x="5000628" y="2214554"/>
            <a:ext cx="2279915" cy="1709936"/>
          </a:xfrm>
          <a:prstGeom prst="rect">
            <a:avLst/>
          </a:prstGeom>
        </p:spPr>
      </p:pic>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dirty="0" smtClean="0">
                <a:solidFill>
                  <a:srgbClr val="FF6600"/>
                </a:solidFill>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216</a:t>
            </a:fld>
            <a:endParaRPr lang="en-US" dirty="0"/>
          </a:p>
        </p:txBody>
      </p:sp>
      <p:pic>
        <p:nvPicPr>
          <p:cNvPr id="6" name="Picture 5" descr="157966_waiter.jpg"/>
          <p:cNvPicPr>
            <a:picLocks noChangeAspect="1"/>
          </p:cNvPicPr>
          <p:nvPr/>
        </p:nvPicPr>
        <p:blipFill>
          <a:blip r:embed="rId3" cstate="print"/>
          <a:stretch>
            <a:fillRect/>
          </a:stretch>
        </p:blipFill>
        <p:spPr>
          <a:xfrm>
            <a:off x="4143372" y="2500306"/>
            <a:ext cx="2100824" cy="1575618"/>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5112</TotalTime>
  <Words>14492</Words>
  <Application>Microsoft Office PowerPoint</Application>
  <PresentationFormat>On-screen Show (4:3)</PresentationFormat>
  <Paragraphs>2859</Paragraphs>
  <Slides>216</Slides>
  <Notes>216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216</vt:i4>
      </vt:variant>
    </vt:vector>
  </HeadingPairs>
  <TitlesOfParts>
    <vt:vector size="227" baseType="lpstr">
      <vt:lpstr>MS PGothic</vt:lpstr>
      <vt:lpstr>黑体</vt:lpstr>
      <vt:lpstr>宋体</vt:lpstr>
      <vt:lpstr>Arial</vt:lpstr>
      <vt:lpstr>Calibri</vt:lpstr>
      <vt:lpstr>Franklin Gothic Book</vt:lpstr>
      <vt:lpstr>Helvetica</vt:lpstr>
      <vt:lpstr>HelveticaNeueLTStd-Lt</vt:lpstr>
      <vt:lpstr>Times New Roman</vt:lpstr>
      <vt:lpstr>Wingdings 2</vt:lpstr>
      <vt:lpstr>PPT_Food_&amp;_Bev_template_250612</vt:lpstr>
      <vt:lpstr>PROVIDE FOOD AND BEVERAGE SERVICES</vt:lpstr>
      <vt:lpstr>Subject Elements</vt:lpstr>
      <vt:lpstr>Assessment</vt:lpstr>
      <vt:lpstr>PowerPoint Presentation</vt:lpstr>
      <vt:lpstr>Prepare food and beverage environment for service</vt:lpstr>
      <vt:lpstr>Preparing a food and beverage outlet</vt:lpstr>
      <vt:lpstr>Types of food and beverage outlets</vt:lpstr>
      <vt:lpstr>Identify individual responsibilities</vt:lpstr>
      <vt:lpstr>Understand upcoming session</vt:lpstr>
      <vt:lpstr>Understand upcoming session</vt:lpstr>
      <vt:lpstr>Understand upcoming session</vt:lpstr>
      <vt:lpstr>Understand upcoming session</vt:lpstr>
      <vt:lpstr>Understand upcoming session</vt:lpstr>
      <vt:lpstr>Check cleanliness of facility</vt:lpstr>
      <vt:lpstr>Checking and cleaning restaurant area</vt:lpstr>
      <vt:lpstr>Checking and cleaning restaurant area</vt:lpstr>
      <vt:lpstr>Checking and cleaning customer facilities</vt:lpstr>
      <vt:lpstr>Setting up the dining area</vt:lpstr>
      <vt:lpstr>Set up furniture</vt:lpstr>
      <vt:lpstr>Set up furniture</vt:lpstr>
      <vt:lpstr>Set up furniture</vt:lpstr>
      <vt:lpstr>Set up furniture</vt:lpstr>
      <vt:lpstr>Allocating sections to staff</vt:lpstr>
      <vt:lpstr>Allocating sections to staff</vt:lpstr>
      <vt:lpstr>Prepare comfort and ambiance</vt:lpstr>
      <vt:lpstr>Prepare comfort and ambiance</vt:lpstr>
      <vt:lpstr>Prepare equipment</vt:lpstr>
      <vt:lpstr>Prepare equipment</vt:lpstr>
      <vt:lpstr>Prepare equipment</vt:lpstr>
      <vt:lpstr>Prepare equipment</vt:lpstr>
      <vt:lpstr>Prepare cash register station</vt:lpstr>
      <vt:lpstr>Prepare cash register station</vt:lpstr>
      <vt:lpstr>Prepare cash register station</vt:lpstr>
      <vt:lpstr>Prepare cash register station</vt:lpstr>
      <vt:lpstr>Prepare cash register station</vt:lpstr>
      <vt:lpstr>Prepare cash register station</vt:lpstr>
      <vt:lpstr>Display food and beverage items</vt:lpstr>
      <vt:lpstr>Process incoming reservations</vt:lpstr>
      <vt:lpstr>Process incoming reservations</vt:lpstr>
      <vt:lpstr>Process incoming reservations</vt:lpstr>
      <vt:lpstr>Process incoming reservations</vt:lpstr>
      <vt:lpstr>Process incoming reservations</vt:lpstr>
      <vt:lpstr>PowerPoint Presentation</vt:lpstr>
      <vt:lpstr>Set tables</vt:lpstr>
      <vt:lpstr>Setting tables</vt:lpstr>
      <vt:lpstr>Setting tables</vt:lpstr>
      <vt:lpstr>Setting tables</vt:lpstr>
      <vt:lpstr>Setting tables</vt:lpstr>
      <vt:lpstr>Setting tables</vt:lpstr>
      <vt:lpstr>Setting tables</vt:lpstr>
      <vt:lpstr>Types of functions</vt:lpstr>
      <vt:lpstr>House specials</vt:lpstr>
      <vt:lpstr>Meal periods</vt:lpstr>
      <vt:lpstr>Meal periods</vt:lpstr>
      <vt:lpstr>Styles of service</vt:lpstr>
      <vt:lpstr>Styles of service</vt:lpstr>
      <vt:lpstr>Styles of service</vt:lpstr>
      <vt:lpstr>Styles of service</vt:lpstr>
      <vt:lpstr>Styles of service</vt:lpstr>
      <vt:lpstr>Styles of service</vt:lpstr>
      <vt:lpstr>Styles of service</vt:lpstr>
      <vt:lpstr>Set and dress tables</vt:lpstr>
      <vt:lpstr>Set and dress tables</vt:lpstr>
      <vt:lpstr>Prepare napkins</vt:lpstr>
      <vt:lpstr>Prepare napkins</vt:lpstr>
      <vt:lpstr>Prepare cutlery</vt:lpstr>
      <vt:lpstr>Prepare crockery</vt:lpstr>
      <vt:lpstr>Prepare glassware</vt:lpstr>
      <vt:lpstr>Prepare shakers</vt:lpstr>
      <vt:lpstr>Setting tables</vt:lpstr>
      <vt:lpstr>Setting tables</vt:lpstr>
      <vt:lpstr>Setting tables</vt:lpstr>
      <vt:lpstr>Setting tables</vt:lpstr>
      <vt:lpstr>Place table accoutrements </vt:lpstr>
      <vt:lpstr>Prepare other items</vt:lpstr>
      <vt:lpstr>Complete final inspection of room</vt:lpstr>
      <vt:lpstr>Removing, cleaning or replacing items</vt:lpstr>
      <vt:lpstr>Removing, cleaning or replacing items</vt:lpstr>
      <vt:lpstr>Setting tables</vt:lpstr>
      <vt:lpstr>Setting tables</vt:lpstr>
      <vt:lpstr>Setting tables</vt:lpstr>
      <vt:lpstr>Final check</vt:lpstr>
      <vt:lpstr>Reporting problems</vt:lpstr>
      <vt:lpstr>Reporting problems</vt:lpstr>
      <vt:lpstr>Reporting problems</vt:lpstr>
      <vt:lpstr>PowerPoint Presentation</vt:lpstr>
      <vt:lpstr>Meet and greet guests</vt:lpstr>
      <vt:lpstr>Welcoming guests</vt:lpstr>
      <vt:lpstr>Check reservations</vt:lpstr>
      <vt:lpstr>Greeting</vt:lpstr>
      <vt:lpstr>Special needs customers</vt:lpstr>
      <vt:lpstr>Escort and seat customers</vt:lpstr>
      <vt:lpstr>Pre-meal services</vt:lpstr>
      <vt:lpstr>Present menus</vt:lpstr>
      <vt:lpstr>Present menus</vt:lpstr>
      <vt:lpstr>Offering advice and information</vt:lpstr>
      <vt:lpstr>Offering advice and information</vt:lpstr>
      <vt:lpstr>Offering advice and information</vt:lpstr>
      <vt:lpstr>Offering advice and information</vt:lpstr>
      <vt:lpstr>Offering advice and information</vt:lpstr>
      <vt:lpstr>Offering advice and information</vt:lpstr>
      <vt:lpstr>Offering advice and information</vt:lpstr>
      <vt:lpstr>Offering advice and information</vt:lpstr>
      <vt:lpstr>Offering advice and information</vt:lpstr>
      <vt:lpstr>PowerPoint Presentation</vt:lpstr>
      <vt:lpstr>Take food and beverage orders</vt:lpstr>
      <vt:lpstr>Take food and beverage orders</vt:lpstr>
      <vt:lpstr>Taking orders</vt:lpstr>
      <vt:lpstr>Taking orders</vt:lpstr>
      <vt:lpstr>Taking orders</vt:lpstr>
      <vt:lpstr>Check food preferences</vt:lpstr>
      <vt:lpstr>Check beverage preferences</vt:lpstr>
      <vt:lpstr>Check beverage preferences</vt:lpstr>
      <vt:lpstr>Operate the ordering system</vt:lpstr>
      <vt:lpstr>Operate the ordering system</vt:lpstr>
      <vt:lpstr>Optimise sales</vt:lpstr>
      <vt:lpstr>Optimise sales</vt:lpstr>
      <vt:lpstr>Recommending food and wine</vt:lpstr>
      <vt:lpstr>PowerPoint Presentation</vt:lpstr>
      <vt:lpstr>PowerPoint Presentation</vt:lpstr>
      <vt:lpstr>Respond to customer queries</vt:lpstr>
      <vt:lpstr>Respond to customer queries</vt:lpstr>
      <vt:lpstr>Respond to customer queries</vt:lpstr>
      <vt:lpstr>Respond to customer queries</vt:lpstr>
      <vt:lpstr>Respond to customer queries</vt:lpstr>
      <vt:lpstr>Respond to customer queries</vt:lpstr>
      <vt:lpstr>Respond to customer queries</vt:lpstr>
      <vt:lpstr>Convey orders</vt:lpstr>
      <vt:lpstr>Convey orders</vt:lpstr>
      <vt:lpstr>Adjusting settings to reflect selections</vt:lpstr>
      <vt:lpstr>Adjusting glassware</vt:lpstr>
      <vt:lpstr>Adjusting service ware</vt:lpstr>
      <vt:lpstr>Adjusting settings</vt:lpstr>
      <vt:lpstr>Liaise with other staff</vt:lpstr>
      <vt:lpstr>PowerPoint Presentation</vt:lpstr>
      <vt:lpstr>Serve food</vt:lpstr>
      <vt:lpstr>Serving bread</vt:lpstr>
      <vt:lpstr>Serving bread</vt:lpstr>
      <vt:lpstr>Serving food and beverage items</vt:lpstr>
      <vt:lpstr>Serving food and beverage items</vt:lpstr>
      <vt:lpstr>Checking guest satisfaction</vt:lpstr>
      <vt:lpstr>Checking guest satisfaction</vt:lpstr>
      <vt:lpstr>Checking guest satisfaction</vt:lpstr>
      <vt:lpstr>Take remedial action</vt:lpstr>
      <vt:lpstr>Take remedial action</vt:lpstr>
      <vt:lpstr>Clearing food and beverage items</vt:lpstr>
      <vt:lpstr>Clearing food and beverage items</vt:lpstr>
      <vt:lpstr>Clearing food and beverage items</vt:lpstr>
      <vt:lpstr>Clearing food and beverage items</vt:lpstr>
      <vt:lpstr>PowerPoint Presentation</vt:lpstr>
      <vt:lpstr>Serve drinks</vt:lpstr>
      <vt:lpstr>Serving beverage items</vt:lpstr>
      <vt:lpstr>Serving beverage items</vt:lpstr>
      <vt:lpstr>Serving wine at table</vt:lpstr>
      <vt:lpstr>Serving wine at table</vt:lpstr>
      <vt:lpstr>Serving wine at table</vt:lpstr>
      <vt:lpstr>Serving wine at table</vt:lpstr>
      <vt:lpstr>Serving wine at table</vt:lpstr>
      <vt:lpstr>Serve after meal drinks</vt:lpstr>
      <vt:lpstr>Serve after meal drinks</vt:lpstr>
      <vt:lpstr>Serve after meal drinks</vt:lpstr>
      <vt:lpstr>Coordinate food and beverage service </vt:lpstr>
      <vt:lpstr>Coordinate food and beverage service </vt:lpstr>
      <vt:lpstr>Coordinate food and beverage service </vt:lpstr>
      <vt:lpstr>Clear beverage items</vt:lpstr>
      <vt:lpstr>PowerPoint Presentation</vt:lpstr>
      <vt:lpstr>Present account to guest</vt:lpstr>
      <vt:lpstr>Prepare customer accounts</vt:lpstr>
      <vt:lpstr>Present account to customer</vt:lpstr>
      <vt:lpstr>Accept payment for account</vt:lpstr>
      <vt:lpstr>Accept payment for account</vt:lpstr>
      <vt:lpstr>Process payment of account</vt:lpstr>
      <vt:lpstr>Process payment of account</vt:lpstr>
      <vt:lpstr>Process payment of account</vt:lpstr>
      <vt:lpstr>Process payment of account</vt:lpstr>
      <vt:lpstr>Process payment of account</vt:lpstr>
      <vt:lpstr>Process payment of account</vt:lpstr>
      <vt:lpstr>Process payment of account</vt:lpstr>
      <vt:lpstr>PowerPoint Presentation</vt:lpstr>
      <vt:lpstr>Provide departure services</vt:lpstr>
      <vt:lpstr>Assist customers as they leave table</vt:lpstr>
      <vt:lpstr>Assist customers as they leave table</vt:lpstr>
      <vt:lpstr>Provide end of service assistance </vt:lpstr>
      <vt:lpstr>Farewell guests</vt:lpstr>
      <vt:lpstr>PowerPoint Presentation</vt:lpstr>
      <vt:lpstr>Conduct shut down activities</vt:lpstr>
      <vt:lpstr>Conduct shut down activities</vt:lpstr>
      <vt:lpstr>Preparing for the next shift</vt:lpstr>
      <vt:lpstr>Turn off and clean equipment</vt:lpstr>
      <vt:lpstr>Remove used linen items for laundering</vt:lpstr>
      <vt:lpstr>Store and restock equipment</vt:lpstr>
      <vt:lpstr>Replenish items</vt:lpstr>
      <vt:lpstr>Restock items</vt:lpstr>
      <vt:lpstr>Restock items</vt:lpstr>
      <vt:lpstr>Disposing of left over food</vt:lpstr>
      <vt:lpstr>Disposing of left over food</vt:lpstr>
      <vt:lpstr>Disposing of items</vt:lpstr>
      <vt:lpstr>Disposing of items</vt:lpstr>
      <vt:lpstr>Disposing of items</vt:lpstr>
      <vt:lpstr>Disposing of items</vt:lpstr>
      <vt:lpstr>Maintain clean work area</vt:lpstr>
      <vt:lpstr>Cleaning</vt:lpstr>
      <vt:lpstr>Cleaning</vt:lpstr>
      <vt:lpstr>Clearing and cleaning</vt:lpstr>
      <vt:lpstr>Clearing and cleaning</vt:lpstr>
      <vt:lpstr>Clearing and cleaning</vt:lpstr>
      <vt:lpstr>Clearing and cleaning</vt:lpstr>
      <vt:lpstr>Storing cleaning equipment</vt:lpstr>
      <vt:lpstr>Conduct session de-briefing</vt:lpstr>
      <vt:lpstr>Conduct session de-briefing</vt:lpstr>
      <vt:lpstr>Review and evaluate services</vt:lpstr>
      <vt:lpstr>Conduct a handover</vt:lpstr>
      <vt:lpstr>Conduct a handover</vt:lpstr>
      <vt:lpstr>Conduct a handover</vt:lpstr>
      <vt:lpstr>Revision and Assessments</vt:lpstr>
      <vt:lpstr>PowerPoint Presentation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PROVIDE FOOD AND BEVERAGE SERVICES</dc:title>
  <dc:creator>Daniel James Chee</dc:creator>
  <cp:lastModifiedBy>Carla Angelica Co</cp:lastModifiedBy>
  <cp:revision>172</cp:revision>
  <dcterms:created xsi:type="dcterms:W3CDTF">2012-10-12T00:17:21Z</dcterms:created>
  <dcterms:modified xsi:type="dcterms:W3CDTF">2015-04-06T08:01:42Z</dcterms:modified>
</cp:coreProperties>
</file>