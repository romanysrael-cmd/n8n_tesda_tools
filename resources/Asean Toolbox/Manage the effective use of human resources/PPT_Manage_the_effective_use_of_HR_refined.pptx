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5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79.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46.xml" ContentType="application/vnd.openxmlformats-officedocument.presentationml.notesSlide+xml"/>
  <Override PartName="/ppt/notesSlides/notesSlide15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notesSlides/notesSlide187.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Default Extension="tiff" ContentType="image/tiff"/>
  <Override PartName="/ppt/notesSlides/notesSlide40.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1"/>
  </p:notesMasterIdLst>
  <p:handoutMasterIdLst>
    <p:handoutMasterId r:id="rId192"/>
  </p:handoutMasterIdLst>
  <p:sldIdLst>
    <p:sldId id="256" r:id="rId2"/>
    <p:sldId id="257" r:id="rId3"/>
    <p:sldId id="258" r:id="rId4"/>
    <p:sldId id="259" r:id="rId5"/>
    <p:sldId id="260" r:id="rId6"/>
    <p:sldId id="262" r:id="rId7"/>
    <p:sldId id="461" r:id="rId8"/>
    <p:sldId id="709" r:id="rId9"/>
    <p:sldId id="462" r:id="rId10"/>
    <p:sldId id="464" r:id="rId11"/>
    <p:sldId id="455" r:id="rId12"/>
    <p:sldId id="711" r:id="rId13"/>
    <p:sldId id="710" r:id="rId14"/>
    <p:sldId id="712" r:id="rId15"/>
    <p:sldId id="713" r:id="rId16"/>
    <p:sldId id="714" r:id="rId17"/>
    <p:sldId id="529" r:id="rId18"/>
    <p:sldId id="530" r:id="rId19"/>
    <p:sldId id="715" r:id="rId20"/>
    <p:sldId id="539" r:id="rId21"/>
    <p:sldId id="716" r:id="rId22"/>
    <p:sldId id="717" r:id="rId23"/>
    <p:sldId id="718" r:id="rId24"/>
    <p:sldId id="719" r:id="rId25"/>
    <p:sldId id="720" r:id="rId26"/>
    <p:sldId id="721" r:id="rId27"/>
    <p:sldId id="669" r:id="rId28"/>
    <p:sldId id="671" r:id="rId29"/>
    <p:sldId id="722" r:id="rId30"/>
    <p:sldId id="263" r:id="rId31"/>
    <p:sldId id="264" r:id="rId32"/>
    <p:sldId id="265" r:id="rId33"/>
    <p:sldId id="290" r:id="rId34"/>
    <p:sldId id="676" r:id="rId35"/>
    <p:sldId id="677" r:id="rId36"/>
    <p:sldId id="678" r:id="rId37"/>
    <p:sldId id="679" r:id="rId38"/>
    <p:sldId id="680" r:id="rId39"/>
    <p:sldId id="681" r:id="rId40"/>
    <p:sldId id="685" r:id="rId41"/>
    <p:sldId id="686" r:id="rId42"/>
    <p:sldId id="723" r:id="rId43"/>
    <p:sldId id="688" r:id="rId44"/>
    <p:sldId id="687" r:id="rId45"/>
    <p:sldId id="291" r:id="rId46"/>
    <p:sldId id="724" r:id="rId47"/>
    <p:sldId id="725" r:id="rId48"/>
    <p:sldId id="726" r:id="rId49"/>
    <p:sldId id="727" r:id="rId50"/>
    <p:sldId id="728" r:id="rId51"/>
    <p:sldId id="729" r:id="rId52"/>
    <p:sldId id="730" r:id="rId53"/>
    <p:sldId id="731" r:id="rId54"/>
    <p:sldId id="292" r:id="rId55"/>
    <p:sldId id="732" r:id="rId56"/>
    <p:sldId id="733" r:id="rId57"/>
    <p:sldId id="293" r:id="rId58"/>
    <p:sldId id="734" r:id="rId59"/>
    <p:sldId id="735" r:id="rId60"/>
    <p:sldId id="267" r:id="rId61"/>
    <p:sldId id="268" r:id="rId62"/>
    <p:sldId id="736" r:id="rId63"/>
    <p:sldId id="560" r:id="rId64"/>
    <p:sldId id="562" r:id="rId65"/>
    <p:sldId id="568" r:id="rId66"/>
    <p:sldId id="576" r:id="rId67"/>
    <p:sldId id="577" r:id="rId68"/>
    <p:sldId id="591" r:id="rId69"/>
    <p:sldId id="594" r:id="rId70"/>
    <p:sldId id="598" r:id="rId71"/>
    <p:sldId id="607" r:id="rId72"/>
    <p:sldId id="610" r:id="rId73"/>
    <p:sldId id="612" r:id="rId74"/>
    <p:sldId id="617" r:id="rId75"/>
    <p:sldId id="618" r:id="rId76"/>
    <p:sldId id="625" r:id="rId77"/>
    <p:sldId id="628" r:id="rId78"/>
    <p:sldId id="635" r:id="rId79"/>
    <p:sldId id="639" r:id="rId80"/>
    <p:sldId id="642" r:id="rId81"/>
    <p:sldId id="641" r:id="rId82"/>
    <p:sldId id="646" r:id="rId83"/>
    <p:sldId id="650" r:id="rId84"/>
    <p:sldId id="653" r:id="rId85"/>
    <p:sldId id="658" r:id="rId86"/>
    <p:sldId id="659" r:id="rId87"/>
    <p:sldId id="738" r:id="rId88"/>
    <p:sldId id="665" r:id="rId89"/>
    <p:sldId id="666" r:id="rId90"/>
    <p:sldId id="668" r:id="rId91"/>
    <p:sldId id="469" r:id="rId92"/>
    <p:sldId id="479" r:id="rId93"/>
    <p:sldId id="480" r:id="rId94"/>
    <p:sldId id="473" r:id="rId95"/>
    <p:sldId id="476" r:id="rId96"/>
    <p:sldId id="741" r:id="rId97"/>
    <p:sldId id="477" r:id="rId98"/>
    <p:sldId id="691" r:id="rId99"/>
    <p:sldId id="692" r:id="rId100"/>
    <p:sldId id="696" r:id="rId101"/>
    <p:sldId id="697" r:id="rId102"/>
    <p:sldId id="698" r:id="rId103"/>
    <p:sldId id="699" r:id="rId104"/>
    <p:sldId id="700" r:id="rId105"/>
    <p:sldId id="481" r:id="rId106"/>
    <p:sldId id="483" r:id="rId107"/>
    <p:sldId id="742" r:id="rId108"/>
    <p:sldId id="689" r:id="rId109"/>
    <p:sldId id="271" r:id="rId110"/>
    <p:sldId id="272" r:id="rId111"/>
    <p:sldId id="743" r:id="rId112"/>
    <p:sldId id="301" r:id="rId113"/>
    <p:sldId id="393" r:id="rId114"/>
    <p:sldId id="394" r:id="rId115"/>
    <p:sldId id="395" r:id="rId116"/>
    <p:sldId id="382" r:id="rId117"/>
    <p:sldId id="383" r:id="rId118"/>
    <p:sldId id="384" r:id="rId119"/>
    <p:sldId id="385" r:id="rId120"/>
    <p:sldId id="274" r:id="rId121"/>
    <p:sldId id="275" r:id="rId122"/>
    <p:sldId id="335" r:id="rId123"/>
    <p:sldId id="336" r:id="rId124"/>
    <p:sldId id="337" r:id="rId125"/>
    <p:sldId id="338" r:id="rId126"/>
    <p:sldId id="343" r:id="rId127"/>
    <p:sldId id="344" r:id="rId128"/>
    <p:sldId id="345" r:id="rId129"/>
    <p:sldId id="346" r:id="rId130"/>
    <p:sldId id="347" r:id="rId131"/>
    <p:sldId id="357" r:id="rId132"/>
    <p:sldId id="328" r:id="rId133"/>
    <p:sldId id="334" r:id="rId134"/>
    <p:sldId id="363" r:id="rId135"/>
    <p:sldId id="365" r:id="rId136"/>
    <p:sldId id="370" r:id="rId137"/>
    <p:sldId id="397" r:id="rId138"/>
    <p:sldId id="398" r:id="rId139"/>
    <p:sldId id="399" r:id="rId140"/>
    <p:sldId id="400" r:id="rId141"/>
    <p:sldId id="426" r:id="rId142"/>
    <p:sldId id="427" r:id="rId143"/>
    <p:sldId id="428" r:id="rId144"/>
    <p:sldId id="429" r:id="rId145"/>
    <p:sldId id="430" r:id="rId146"/>
    <p:sldId id="431" r:id="rId147"/>
    <p:sldId id="432" r:id="rId148"/>
    <p:sldId id="277" r:id="rId149"/>
    <p:sldId id="278" r:id="rId150"/>
    <p:sldId id="495" r:id="rId151"/>
    <p:sldId id="496" r:id="rId152"/>
    <p:sldId id="497" r:id="rId153"/>
    <p:sldId id="498" r:id="rId154"/>
    <p:sldId id="502" r:id="rId155"/>
    <p:sldId id="503" r:id="rId156"/>
    <p:sldId id="504" r:id="rId157"/>
    <p:sldId id="505" r:id="rId158"/>
    <p:sldId id="508" r:id="rId159"/>
    <p:sldId id="509" r:id="rId160"/>
    <p:sldId id="510" r:id="rId161"/>
    <p:sldId id="511" r:id="rId162"/>
    <p:sldId id="512" r:id="rId163"/>
    <p:sldId id="513" r:id="rId164"/>
    <p:sldId id="744" r:id="rId165"/>
    <p:sldId id="745" r:id="rId166"/>
    <p:sldId id="280" r:id="rId167"/>
    <p:sldId id="281" r:id="rId168"/>
    <p:sldId id="283" r:id="rId169"/>
    <p:sldId id="309" r:id="rId170"/>
    <p:sldId id="554" r:id="rId171"/>
    <p:sldId id="556" r:id="rId172"/>
    <p:sldId id="310" r:id="rId173"/>
    <p:sldId id="756" r:id="rId174"/>
    <p:sldId id="757" r:id="rId175"/>
    <p:sldId id="758" r:id="rId176"/>
    <p:sldId id="760" r:id="rId177"/>
    <p:sldId id="761" r:id="rId178"/>
    <p:sldId id="762" r:id="rId179"/>
    <p:sldId id="746" r:id="rId180"/>
    <p:sldId id="747" r:id="rId181"/>
    <p:sldId id="748" r:id="rId182"/>
    <p:sldId id="749" r:id="rId183"/>
    <p:sldId id="750" r:id="rId184"/>
    <p:sldId id="751" r:id="rId185"/>
    <p:sldId id="752" r:id="rId186"/>
    <p:sldId id="753" r:id="rId187"/>
    <p:sldId id="763" r:id="rId188"/>
    <p:sldId id="754" r:id="rId189"/>
    <p:sldId id="755" r:id="rId19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2308" autoAdjust="0"/>
  </p:normalViewPr>
  <p:slideViewPr>
    <p:cSldViewPr>
      <p:cViewPr varScale="1">
        <p:scale>
          <a:sx n="100" d="100"/>
          <a:sy n="100" d="100"/>
        </p:scale>
        <p:origin x="-148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notesMaster" Target="notesMasters/notesMaster1.xml"/><Relationship Id="rId196"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heme" Target="theme/theme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7/29/2013</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7/29/2013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and trainees to introduce themselves.</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seven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the role of Human Resources?</a:t>
            </a:r>
          </a:p>
          <a:p>
            <a:pPr>
              <a:buFont typeface="Arial" pitchFamily="34" charset="0"/>
              <a:buChar char="•"/>
            </a:pPr>
            <a:r>
              <a:rPr lang="en-AU" sz="1200" kern="1200" baseline="0" dirty="0" smtClean="0">
                <a:solidFill>
                  <a:schemeClr val="tx1"/>
                </a:solidFill>
                <a:latin typeface="+mn-lt"/>
                <a:ea typeface="+mn-ea"/>
                <a:cs typeface="+mn-cs"/>
              </a:rPr>
              <a:t>How can you identify human resources needs?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What are common operational needs?</a:t>
            </a:r>
          </a:p>
          <a:p>
            <a:pPr>
              <a:buFont typeface="Arial" pitchFamily="34" charset="0"/>
              <a:buChar char="•"/>
            </a:pPr>
            <a:r>
              <a:rPr lang="en-AU" sz="1200" dirty="0" smtClean="0"/>
              <a:t>How can you identify needs?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What are common operational needs?</a:t>
            </a:r>
          </a:p>
          <a:p>
            <a:pPr>
              <a:buFont typeface="Arial" pitchFamily="34" charset="0"/>
              <a:buChar char="•"/>
            </a:pPr>
            <a:r>
              <a:rPr lang="en-AU" sz="1200" dirty="0" smtClean="0"/>
              <a:t>How can you identify needs?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How else can you identify training needs?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show documents</a:t>
            </a:r>
          </a:p>
          <a:p>
            <a:endParaRPr lang="en-AU" sz="1200" dirty="0" smtClean="0"/>
          </a:p>
          <a:p>
            <a:pPr>
              <a:buFont typeface="Arial" pitchFamily="34" charset="0"/>
              <a:buChar char="•"/>
            </a:pPr>
            <a:r>
              <a:rPr lang="en-AU" sz="1200" baseline="0" dirty="0" smtClean="0"/>
              <a:t>Trainer to show examples of these documentation where relevant</a:t>
            </a:r>
          </a:p>
          <a:p>
            <a:pPr>
              <a:buFont typeface="Arial" pitchFamily="34" charset="0"/>
              <a:buChar char="•"/>
            </a:pPr>
            <a:r>
              <a:rPr lang="en-AU" sz="1200" baseline="0" dirty="0" smtClean="0"/>
              <a:t>Who would you consult with?</a:t>
            </a:r>
            <a:endParaRPr lang="en-AU" sz="120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Answer the questions in the slide.</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else can you identify existing competencies of staff?</a:t>
            </a:r>
          </a:p>
          <a:p>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What are the processes associated in conducting</a:t>
            </a:r>
            <a:r>
              <a:rPr lang="en-AU" sz="1200" baseline="0" dirty="0" smtClean="0"/>
              <a:t> a TNA?</a:t>
            </a:r>
          </a:p>
          <a:p>
            <a:pPr>
              <a:buFont typeface="Arial" pitchFamily="34" charset="0"/>
              <a:buChar char="•"/>
            </a:pPr>
            <a:r>
              <a:rPr lang="en-AU" sz="1200" baseline="0" dirty="0" smtClean="0"/>
              <a:t>What documents are used (Trainer to show examples of this documentation where relevant)</a:t>
            </a:r>
          </a:p>
          <a:p>
            <a:pPr>
              <a:buFont typeface="Arial" pitchFamily="34" charset="0"/>
              <a:buChar char="•"/>
            </a:pPr>
            <a:r>
              <a:rPr lang="en-AU" sz="1200" baseline="0" dirty="0" smtClean="0"/>
              <a:t>Who undertakes these activities?</a:t>
            </a:r>
            <a:endParaRPr lang="en-AU" sz="120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documents</a:t>
            </a:r>
          </a:p>
          <a:p>
            <a:endParaRPr lang="en-AU" sz="1200" dirty="0" smtClean="0"/>
          </a:p>
          <a:p>
            <a:pPr>
              <a:buFont typeface="Arial" pitchFamily="34" charset="0"/>
              <a:buChar char="•"/>
            </a:pPr>
            <a:r>
              <a:rPr lang="en-AU" sz="1200" dirty="0" smtClean="0"/>
              <a:t>Why is it important</a:t>
            </a:r>
            <a:r>
              <a:rPr lang="en-AU" sz="1200" baseline="0" dirty="0" smtClean="0"/>
              <a:t> to know required competency standards that are expected by staff?</a:t>
            </a:r>
          </a:p>
          <a:p>
            <a:pPr>
              <a:buFont typeface="Arial" pitchFamily="34" charset="0"/>
              <a:buChar char="•"/>
            </a:pPr>
            <a:r>
              <a:rPr lang="en-AU" sz="1200" baseline="0" dirty="0" smtClean="0"/>
              <a:t>Trainer to show these documents to audience.</a:t>
            </a:r>
            <a:endParaRPr lang="en-AU" sz="120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and Develop List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Develop list of possible impacts</a:t>
            </a:r>
            <a:endParaRPr lang="en-AU" sz="1200" b="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and Develop List of external factors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For each of the factors identified in the slide, identify impacts within them.</a:t>
            </a:r>
            <a:endParaRPr lang="en-AU" sz="1200"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and Develop List of internal factors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For each of the factors identified in the slide, identify impacts within them.</a:t>
            </a:r>
            <a:endParaRPr lang="en-AU" sz="1200" b="0" dirty="0" smtClean="0"/>
          </a:p>
          <a:p>
            <a:pPr lvl="1">
              <a:buFont typeface="Arial" pitchFamily="34" charset="0"/>
              <a:buChar char="•"/>
            </a:pPr>
            <a:endParaRPr lang="en-AU" sz="1200" kern="1200" dirty="0" smtClean="0">
              <a:solidFill>
                <a:schemeClr val="tx1"/>
              </a:solidFill>
              <a:latin typeface="+mn-lt"/>
              <a:ea typeface="+mn-ea"/>
              <a:cs typeface="+mn-cs"/>
            </a:endParaRPr>
          </a:p>
          <a:p>
            <a:pPr lvl="1">
              <a:buFont typeface="Arial" pitchFamily="34" charset="0"/>
              <a:buChar char="•"/>
            </a:pP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and Develop List of internal factors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For each of the factors identified in the slide, identify impacts within them.</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 challenges associated with each of these HR issues?</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to involve these stakeholders?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can you get from each of them?</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should be included in an HR plan?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should prepare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should be consulted when producing an HR plan?</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may impact on a HR Plan?</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HR Plan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is included in each section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show a copy of a HR plan to the audience and summarise the content.</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HR Plan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is included in each section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show a copy of a HR plan to the audience and summarise the content.</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each of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essential?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needs to be prepared / activities undertaken for each of these steps?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each of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essential?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needs to be prepared / activities undertaken for each of these steps?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Document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JS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show and explain document to audience.</a:t>
            </a:r>
            <a:endParaRPr lang="en-AU" sz="1200"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Document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show different JD’s for different positions and explain document to audience.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 &amp; Review Document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show different JD’s for different positions and explain document to audience.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policy and procedure?</a:t>
            </a:r>
          </a:p>
          <a:p>
            <a:pPr>
              <a:buFont typeface="Arial" pitchFamily="34" charset="0"/>
              <a:buChar char="•"/>
            </a:pPr>
            <a:r>
              <a:rPr lang="en-AU" sz="1200" kern="1200" baseline="0" dirty="0" smtClean="0">
                <a:solidFill>
                  <a:schemeClr val="tx1"/>
                </a:solidFill>
                <a:latin typeface="+mn-lt"/>
                <a:ea typeface="+mn-ea"/>
                <a:cs typeface="+mn-cs"/>
              </a:rPr>
              <a:t>What are examples of HR policies and procedures?</a:t>
            </a:r>
          </a:p>
          <a:p>
            <a:pPr>
              <a:buFont typeface="Arial" pitchFamily="34" charset="0"/>
              <a:buChar char="•"/>
            </a:pPr>
            <a:r>
              <a:rPr lang="en-AU" sz="1200" kern="1200" baseline="0" dirty="0" smtClean="0">
                <a:solidFill>
                  <a:schemeClr val="tx1"/>
                </a:solidFill>
                <a:latin typeface="+mn-lt"/>
                <a:ea typeface="+mn-ea"/>
                <a:cs typeface="+mn-cs"/>
              </a:rPr>
              <a:t>How are they documented?</a:t>
            </a:r>
          </a:p>
          <a:p>
            <a:pPr>
              <a:buFont typeface="Arial" pitchFamily="34" charset="0"/>
              <a:buChar char="•"/>
            </a:pPr>
            <a:r>
              <a:rPr lang="en-AU" sz="1200" kern="1200" baseline="0" dirty="0" smtClean="0">
                <a:solidFill>
                  <a:schemeClr val="tx1"/>
                </a:solidFill>
                <a:latin typeface="+mn-lt"/>
                <a:ea typeface="+mn-ea"/>
                <a:cs typeface="+mn-cs"/>
              </a:rPr>
              <a:t>How are they communicated to staff?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should be documented under each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pPr>
            <a:r>
              <a:rPr lang="en-US" sz="1200" dirty="0" smtClean="0">
                <a:latin typeface="Helvetica" pitchFamily="34" charset="0"/>
              </a:rPr>
              <a:t>What are examples of performance standards</a:t>
            </a:r>
            <a:r>
              <a:rPr lang="en-US" sz="1200" baseline="0" dirty="0" smtClean="0">
                <a:latin typeface="Helvetica" pitchFamily="34" charset="0"/>
              </a:rPr>
              <a:t> for the following job roles:</a:t>
            </a:r>
          </a:p>
          <a:p>
            <a:pPr>
              <a:spcBef>
                <a:spcPts val="600"/>
              </a:spcBef>
              <a:spcAft>
                <a:spcPts val="1200"/>
              </a:spcAft>
              <a:buFont typeface="Arial" pitchFamily="34" charset="0"/>
              <a:buChar char="•"/>
            </a:pPr>
            <a:r>
              <a:rPr lang="en-US" sz="1200" baseline="0" dirty="0" smtClean="0">
                <a:latin typeface="Helvetica" pitchFamily="34" charset="0"/>
              </a:rPr>
              <a:t>Waiter</a:t>
            </a:r>
          </a:p>
          <a:p>
            <a:pPr>
              <a:spcBef>
                <a:spcPts val="600"/>
              </a:spcBef>
              <a:spcAft>
                <a:spcPts val="1200"/>
              </a:spcAft>
              <a:buFont typeface="Arial" pitchFamily="34" charset="0"/>
              <a:buChar char="•"/>
            </a:pPr>
            <a:r>
              <a:rPr lang="en-US" sz="1200" baseline="0" dirty="0" smtClean="0">
                <a:latin typeface="Helvetica" pitchFamily="34" charset="0"/>
              </a:rPr>
              <a:t>Chef</a:t>
            </a:r>
          </a:p>
          <a:p>
            <a:pPr>
              <a:spcBef>
                <a:spcPts val="600"/>
              </a:spcBef>
              <a:spcAft>
                <a:spcPts val="1200"/>
              </a:spcAft>
              <a:buFont typeface="Arial" pitchFamily="34" charset="0"/>
              <a:buChar char="•"/>
            </a:pPr>
            <a:r>
              <a:rPr lang="en-US" sz="1200" baseline="0" dirty="0" smtClean="0">
                <a:latin typeface="Helvetica" pitchFamily="34" charset="0"/>
              </a:rPr>
              <a:t>Reservationist</a:t>
            </a:r>
          </a:p>
          <a:p>
            <a:pPr>
              <a:spcBef>
                <a:spcPts val="600"/>
              </a:spcBef>
              <a:spcAft>
                <a:spcPts val="1200"/>
              </a:spcAft>
              <a:buFont typeface="Arial" pitchFamily="34" charset="0"/>
              <a:buChar char="•"/>
            </a:pPr>
            <a:r>
              <a:rPr lang="en-US" sz="1200" baseline="0" dirty="0" smtClean="0">
                <a:latin typeface="Helvetica" pitchFamily="34" charset="0"/>
              </a:rPr>
              <a:t>Receptionist</a:t>
            </a:r>
          </a:p>
          <a:p>
            <a:pPr>
              <a:spcBef>
                <a:spcPts val="600"/>
              </a:spcBef>
              <a:spcAft>
                <a:spcPts val="1200"/>
              </a:spcAft>
              <a:buFont typeface="Arial" pitchFamily="34" charset="0"/>
              <a:buChar char="•"/>
            </a:pPr>
            <a:r>
              <a:rPr lang="en-US" sz="1200" baseline="0" dirty="0" smtClean="0">
                <a:latin typeface="Helvetica" pitchFamily="34" charset="0"/>
              </a:rPr>
              <a:t>Porter</a:t>
            </a:r>
          </a:p>
          <a:p>
            <a:pPr>
              <a:spcBef>
                <a:spcPts val="600"/>
              </a:spcBef>
              <a:spcAft>
                <a:spcPts val="1200"/>
              </a:spcAft>
              <a:buFont typeface="Arial" pitchFamily="34" charset="0"/>
              <a:buChar char="•"/>
            </a:pPr>
            <a:r>
              <a:rPr lang="en-US" sz="1200" baseline="0" dirty="0" smtClean="0">
                <a:latin typeface="Helvetica" pitchFamily="34" charset="0"/>
              </a:rPr>
              <a:t>Room attendant</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Where do</a:t>
            </a:r>
            <a:r>
              <a:rPr lang="en-US" sz="1200" baseline="0" dirty="0" smtClean="0">
                <a:latin typeface="Helvetica" pitchFamily="34" charset="0"/>
              </a:rPr>
              <a:t> performance standards come from?</a:t>
            </a:r>
          </a:p>
          <a:p>
            <a:pPr>
              <a:spcBef>
                <a:spcPts val="600"/>
              </a:spcBef>
              <a:spcAft>
                <a:spcPts val="1200"/>
              </a:spcAft>
              <a:buFont typeface="Arial" pitchFamily="34" charset="0"/>
              <a:buChar char="•"/>
            </a:pPr>
            <a:r>
              <a:rPr lang="en-US" sz="1200" baseline="0" dirty="0" smtClean="0">
                <a:latin typeface="Helvetica" pitchFamily="34" charset="0"/>
              </a:rPr>
              <a:t>Who sets them?</a:t>
            </a:r>
          </a:p>
          <a:p>
            <a:pPr>
              <a:spcBef>
                <a:spcPts val="600"/>
              </a:spcBef>
              <a:spcAft>
                <a:spcPts val="1200"/>
              </a:spcAft>
              <a:buFont typeface="Arial" pitchFamily="34" charset="0"/>
              <a:buChar char="•"/>
            </a:pPr>
            <a:r>
              <a:rPr lang="en-US" sz="1200" baseline="0" dirty="0" smtClean="0">
                <a:latin typeface="Helvetica" pitchFamily="34" charset="0"/>
              </a:rPr>
              <a:t>What is the importance of having a performance standard?</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How can you determining performance standards</a:t>
            </a:r>
            <a:r>
              <a:rPr lang="en-US" sz="1200" baseline="0" dirty="0" smtClean="0">
                <a:latin typeface="Helvetica" pitchFamily="34" charset="0"/>
              </a:rPr>
              <a:t> from each of these points?</a:t>
            </a:r>
          </a:p>
          <a:p>
            <a:pPr>
              <a:spcBef>
                <a:spcPts val="600"/>
              </a:spcBef>
              <a:spcAft>
                <a:spcPts val="1200"/>
              </a:spcAft>
              <a:buFont typeface="Arial" pitchFamily="34" charset="0"/>
              <a:buChar char="•"/>
            </a:pPr>
            <a:r>
              <a:rPr lang="en-US" sz="1200" baseline="0" dirty="0" smtClean="0">
                <a:latin typeface="Helvetica" pitchFamily="34" charset="0"/>
              </a:rPr>
              <a:t>What other ways can you determine performance standards?</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How can you determining performance standards</a:t>
            </a:r>
            <a:r>
              <a:rPr lang="en-US" sz="1200" baseline="0" dirty="0" smtClean="0">
                <a:latin typeface="Helvetica" pitchFamily="34" charset="0"/>
              </a:rPr>
              <a:t> from each of these points?</a:t>
            </a:r>
          </a:p>
          <a:p>
            <a:pPr>
              <a:spcBef>
                <a:spcPts val="600"/>
              </a:spcBef>
              <a:spcAft>
                <a:spcPts val="1200"/>
              </a:spcAft>
              <a:buFont typeface="Arial" pitchFamily="34" charset="0"/>
              <a:buChar char="•"/>
            </a:pPr>
            <a:r>
              <a:rPr lang="en-US" sz="1200" baseline="0" dirty="0" smtClean="0">
                <a:latin typeface="Helvetica" pitchFamily="34" charset="0"/>
              </a:rPr>
              <a:t>What other ways can you determine performance standards?</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and review</a:t>
            </a:r>
          </a:p>
          <a:p>
            <a:endParaRPr lang="en-AU" sz="1200" b="1"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Trainer explain point in more detail (see below) and hand out actual examples of these documents highlighting the performance standards.</a:t>
            </a:r>
          </a:p>
          <a:p>
            <a:endParaRPr lang="en-AU" sz="1200" b="1" kern="1200" baseline="0" dirty="0" smtClean="0">
              <a:solidFill>
                <a:schemeClr val="tx1"/>
              </a:solidFill>
              <a:latin typeface="+mn-lt"/>
              <a:ea typeface="+mn-ea"/>
              <a:cs typeface="+mn-cs"/>
            </a:endParaRPr>
          </a:p>
          <a:p>
            <a:pPr lvl="0">
              <a:buFont typeface="Arial" pitchFamily="34" charset="0"/>
              <a:buChar char="•"/>
            </a:pPr>
            <a:r>
              <a:rPr lang="en-US" sz="1200" dirty="0" smtClean="0"/>
              <a:t>A job description  - a detailed breakdown of the responsibilities and tasks within a job</a:t>
            </a:r>
            <a:endParaRPr lang="en-AU" sz="1200" dirty="0" smtClean="0"/>
          </a:p>
          <a:p>
            <a:pPr lvl="0">
              <a:buFont typeface="Arial" pitchFamily="34" charset="0"/>
              <a:buChar char="•"/>
            </a:pPr>
            <a:r>
              <a:rPr lang="en-US" sz="1200" dirty="0" smtClean="0"/>
              <a:t>An employment contract - specifically for management positions</a:t>
            </a:r>
            <a:endParaRPr lang="en-AU" sz="1200" dirty="0" smtClean="0"/>
          </a:p>
          <a:p>
            <a:pPr lvl="0">
              <a:buFont typeface="Arial" pitchFamily="34" charset="0"/>
              <a:buChar char="•"/>
            </a:pPr>
            <a:r>
              <a:rPr lang="en-US" sz="1200" dirty="0" smtClean="0"/>
              <a:t>Company policy documents – including policies, procedures and SOPs</a:t>
            </a:r>
            <a:endParaRPr lang="en-AU" sz="1200" dirty="0" smtClean="0"/>
          </a:p>
          <a:p>
            <a:pPr lvl="0">
              <a:buFont typeface="Arial" pitchFamily="34" charset="0"/>
              <a:buChar char="•"/>
            </a:pPr>
            <a:r>
              <a:rPr lang="en-US" sz="1200" dirty="0" smtClean="0"/>
              <a:t>Induction and orientation - It is essential that upon commencement, the employee is informed and acknowledges they understand the requirements of their job. </a:t>
            </a:r>
            <a:endParaRPr lang="en-AU" sz="1200" dirty="0" smtClean="0"/>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other performance standards</a:t>
            </a:r>
            <a:r>
              <a:rPr lang="en-US" sz="1200" baseline="0" dirty="0" smtClean="0">
                <a:latin typeface="Helvetica" pitchFamily="34" charset="0"/>
              </a:rPr>
              <a:t> could you develop for these areas?</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other job behavior standards</a:t>
            </a:r>
            <a:r>
              <a:rPr lang="en-US" sz="1200" baseline="0" dirty="0" smtClean="0">
                <a:latin typeface="Helvetica" pitchFamily="34" charset="0"/>
              </a:rPr>
              <a:t> could you develop for staff?</a:t>
            </a:r>
          </a:p>
          <a:p>
            <a:pPr>
              <a:spcBef>
                <a:spcPts val="600"/>
              </a:spcBef>
              <a:spcAft>
                <a:spcPts val="1200"/>
              </a:spcAft>
              <a:buFont typeface="Arial" pitchFamily="34" charset="0"/>
              <a:buChar char="•"/>
            </a:pPr>
            <a:r>
              <a:rPr lang="en-US" sz="1200" baseline="0" dirty="0" smtClean="0">
                <a:latin typeface="Helvetica" pitchFamily="34" charset="0"/>
              </a:rPr>
              <a:t>What specific standards could be put in place?</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other job behavior standards</a:t>
            </a:r>
            <a:r>
              <a:rPr lang="en-US" sz="1200" baseline="0" dirty="0" smtClean="0">
                <a:latin typeface="Helvetica" pitchFamily="34" charset="0"/>
              </a:rPr>
              <a:t> could you develop for staff?</a:t>
            </a:r>
          </a:p>
          <a:p>
            <a:pPr>
              <a:spcBef>
                <a:spcPts val="600"/>
              </a:spcBef>
              <a:spcAft>
                <a:spcPts val="1200"/>
              </a:spcAft>
              <a:buFont typeface="Arial" pitchFamily="34" charset="0"/>
              <a:buChar char="•"/>
            </a:pPr>
            <a:r>
              <a:rPr lang="en-US" sz="1200" baseline="0" dirty="0" smtClean="0">
                <a:latin typeface="Helvetica" pitchFamily="34" charset="0"/>
              </a:rPr>
              <a:t>What specific standards could be put in place?</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Show documents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Trainer</a:t>
            </a:r>
            <a:r>
              <a:rPr lang="en-US" sz="1200" baseline="0" dirty="0" smtClean="0">
                <a:latin typeface="Helvetica" pitchFamily="34" charset="0"/>
              </a:rPr>
              <a:t> to show examples of these documents</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0" kern="1200" baseline="0" dirty="0" smtClean="0">
              <a:solidFill>
                <a:schemeClr val="tx1"/>
              </a:solidFill>
              <a:latin typeface="+mn-lt"/>
              <a:ea typeface="+mn-ea"/>
              <a:cs typeface="+mn-cs"/>
            </a:endParaRPr>
          </a:p>
          <a:p>
            <a:pPr lvl="0">
              <a:buFont typeface="Arial" pitchFamily="34" charset="0"/>
              <a:buChar char="•"/>
            </a:pPr>
            <a:r>
              <a:rPr lang="en-US" sz="1200" dirty="0" smtClean="0"/>
              <a:t>Head office – they will have templates which are used company-wide to ensure consistency</a:t>
            </a:r>
            <a:endParaRPr lang="en-AU" sz="1200" dirty="0" smtClean="0"/>
          </a:p>
          <a:p>
            <a:pPr lvl="0">
              <a:buFont typeface="Arial" pitchFamily="34" charset="0"/>
              <a:buChar char="•"/>
            </a:pPr>
            <a:r>
              <a:rPr lang="en-US" sz="1200" dirty="0" smtClean="0"/>
              <a:t>Human Resources – they have the ability to prepare necessary documents, resources (access to job descriptions and specifications) and specific knowledge to ensure the format meets the requirements of the specific hotel and chain.</a:t>
            </a:r>
            <a:endParaRPr lang="en-AU" sz="1200" dirty="0" smtClean="0"/>
          </a:p>
          <a:p>
            <a:pPr>
              <a:buFont typeface="Arial" pitchFamily="34" charset="0"/>
              <a:buChar char="•"/>
            </a:pPr>
            <a:r>
              <a:rPr lang="en-US" sz="1200" dirty="0" smtClean="0"/>
              <a:t>Departmental or outlet managers – they have a sound understanding of what the individual tasks their staff do as part of their job role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Which</a:t>
            </a:r>
            <a:r>
              <a:rPr lang="en-US" sz="1200" baseline="0" dirty="0" smtClean="0">
                <a:latin typeface="Helvetica" pitchFamily="34" charset="0"/>
              </a:rPr>
              <a:t> method do you believe to be the most effective and why?</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Why are these forms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information is contained within these?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policies and procedures should be introduced for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Which one comes first and why?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Why is counselling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should happen in each of these instances?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 steps associated with each?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obtain information to keep up to date?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Review of awards and other legislation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to show and explain different awards or appropriate legislation.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these procedures.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&amp; Review document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Trainer to show and explain a Human Resources Manual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&amp; Review document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Trainer to show and explain a Human Resources Manual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examples of policies and procedures that may be introduced for each of these areas?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examples of policies and procedures that may be introduced for each of these areas?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different activities that need to be performed by Human Resources?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staff selection process.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&amp; Review Document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Trainer to show examples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Trainer to prepare a list a job titles and get audience to develop a ‘key selection criteria’ for that position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questions in the slide about obtaining authority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When would each of these sources be appropriate?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 advantages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 disadvantages of each?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for trainees </a:t>
            </a:r>
            <a:r>
              <a:rPr lang="en-AU" sz="1200" kern="1200" dirty="0" smtClean="0">
                <a:solidFill>
                  <a:schemeClr val="tx1"/>
                </a:solidFill>
                <a:latin typeface="+mn-lt"/>
                <a:ea typeface="+mn-ea"/>
                <a:cs typeface="+mn-cs"/>
              </a:rPr>
              <a:t>points to consider when writing a job advertisement include:</a:t>
            </a:r>
          </a:p>
          <a:p>
            <a:pPr>
              <a:buFont typeface="Arial" pitchFamily="34" charset="0"/>
              <a:buChar char="•"/>
            </a:pPr>
            <a:r>
              <a:rPr lang="en-AU" sz="1200" kern="1200" dirty="0" smtClean="0">
                <a:solidFill>
                  <a:schemeClr val="tx1"/>
                </a:solidFill>
                <a:latin typeface="+mn-lt"/>
                <a:ea typeface="+mn-ea"/>
                <a:cs typeface="+mn-cs"/>
              </a:rPr>
              <a:t> Business name and contact details – check with the business first however because some establishments prefer not to advertise their name as it can cause too many calls to be made to the premises.</a:t>
            </a:r>
          </a:p>
          <a:p>
            <a:pPr>
              <a:buFont typeface="Arial" pitchFamily="34" charset="0"/>
              <a:buChar char="•"/>
            </a:pPr>
            <a:r>
              <a:rPr lang="en-AU" sz="1200" kern="1200" dirty="0" smtClean="0">
                <a:solidFill>
                  <a:schemeClr val="tx1"/>
                </a:solidFill>
                <a:latin typeface="+mn-lt"/>
                <a:ea typeface="+mn-ea"/>
                <a:cs typeface="+mn-cs"/>
              </a:rPr>
              <a:t> Businesses may want to include the address and telephone number – or there may be a requirement </a:t>
            </a:r>
            <a:r>
              <a:rPr lang="en-AU" sz="1200" b="1" kern="1200" dirty="0" smtClean="0">
                <a:solidFill>
                  <a:schemeClr val="tx1"/>
                </a:solidFill>
                <a:latin typeface="+mn-lt"/>
                <a:ea typeface="+mn-ea"/>
                <a:cs typeface="+mn-cs"/>
              </a:rPr>
              <a:t>not </a:t>
            </a:r>
            <a:r>
              <a:rPr lang="en-AU" sz="1200" kern="1200" dirty="0" smtClean="0">
                <a:solidFill>
                  <a:schemeClr val="tx1"/>
                </a:solidFill>
                <a:latin typeface="+mn-lt"/>
                <a:ea typeface="+mn-ea"/>
                <a:cs typeface="+mn-cs"/>
              </a:rPr>
              <a:t>to do so.</a:t>
            </a:r>
          </a:p>
          <a:p>
            <a:pPr>
              <a:buFont typeface="Arial" pitchFamily="34" charset="0"/>
              <a:buChar char="•"/>
            </a:pPr>
            <a:r>
              <a:rPr lang="en-AU" sz="1200" kern="1200" dirty="0" smtClean="0">
                <a:solidFill>
                  <a:schemeClr val="tx1"/>
                </a:solidFill>
                <a:latin typeface="+mn-lt"/>
                <a:ea typeface="+mn-ea"/>
                <a:cs typeface="+mn-cs"/>
              </a:rPr>
              <a:t> Job title and job description – providing a brief outline of the tasks required to be carried out. This may need to be highlighted as it is often the element of the advertisement that attracts the attention of potential applicants.</a:t>
            </a:r>
          </a:p>
          <a:p>
            <a:pPr>
              <a:buFont typeface="Arial" pitchFamily="34" charset="0"/>
              <a:buChar char="•"/>
            </a:pPr>
            <a:r>
              <a:rPr lang="en-AU" sz="1200" kern="1200" dirty="0" smtClean="0">
                <a:solidFill>
                  <a:schemeClr val="tx1"/>
                </a:solidFill>
                <a:latin typeface="+mn-lt"/>
                <a:ea typeface="+mn-ea"/>
                <a:cs typeface="+mn-cs"/>
              </a:rPr>
              <a:t> Description of the ideal applicant – this must be based on the job description and detail experience, skills, personal qualities and qualifications. It is important this is an accurate and honest depiction of what is required as it enables the advertisement itself to screen out inappropriate applicants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Class Activity – Handouts</a:t>
            </a:r>
          </a:p>
          <a:p>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Trainer assembles a wide range of newspaper job vacancy advertisements relevant to the trainee cohort and:</a:t>
            </a:r>
          </a:p>
          <a:p>
            <a:pPr>
              <a:buFont typeface="Arial" pitchFamily="34" charset="0"/>
              <a:buChar char="•"/>
            </a:pPr>
            <a:r>
              <a:rPr lang="en-AU" sz="1200" b="0" kern="1200" dirty="0" smtClean="0">
                <a:solidFill>
                  <a:schemeClr val="tx1"/>
                </a:solidFill>
                <a:latin typeface="+mn-lt"/>
                <a:ea typeface="+mn-ea"/>
                <a:cs typeface="+mn-cs"/>
              </a:rPr>
              <a:t> Distributes and discusses them</a:t>
            </a:r>
          </a:p>
          <a:p>
            <a:pPr>
              <a:buFont typeface="Arial" pitchFamily="34" charset="0"/>
              <a:buChar char="•"/>
            </a:pPr>
            <a:r>
              <a:rPr lang="en-AU" sz="1200" b="0" kern="1200" dirty="0" smtClean="0">
                <a:solidFill>
                  <a:schemeClr val="tx1"/>
                </a:solidFill>
                <a:latin typeface="+mn-lt"/>
                <a:ea typeface="+mn-ea"/>
                <a:cs typeface="+mn-cs"/>
              </a:rPr>
              <a:t> Asks trainees to evaluate them from the point of view of a person seeking employment:</a:t>
            </a:r>
          </a:p>
          <a:p>
            <a:pPr lvl="1">
              <a:buFont typeface="Arial" pitchFamily="34" charset="0"/>
              <a:buChar char="•"/>
            </a:pPr>
            <a:r>
              <a:rPr lang="en-AU" sz="1200" b="0" kern="1200" baseline="0" dirty="0" smtClean="0">
                <a:solidFill>
                  <a:schemeClr val="tx1"/>
                </a:solidFill>
                <a:latin typeface="+mn-lt"/>
                <a:ea typeface="+mn-ea"/>
                <a:cs typeface="+mn-cs"/>
              </a:rPr>
              <a:t> How good or bad are they? </a:t>
            </a:r>
          </a:p>
          <a:p>
            <a:pPr lvl="1">
              <a:buFont typeface="Arial" pitchFamily="34" charset="0"/>
              <a:buChar char="•"/>
            </a:pPr>
            <a:r>
              <a:rPr lang="en-AU" sz="1200" b="0" kern="1200" baseline="0" dirty="0" smtClean="0">
                <a:solidFill>
                  <a:schemeClr val="tx1"/>
                </a:solidFill>
                <a:latin typeface="+mn-lt"/>
                <a:ea typeface="+mn-ea"/>
                <a:cs typeface="+mn-cs"/>
              </a:rPr>
              <a:t> Do they provide enough information?</a:t>
            </a:r>
          </a:p>
          <a:p>
            <a:pPr lvl="1">
              <a:buFont typeface="Arial" pitchFamily="34" charset="0"/>
              <a:buChar char="•"/>
            </a:pPr>
            <a:r>
              <a:rPr lang="en-AU" sz="1200" b="0" kern="1200" baseline="0" dirty="0" smtClean="0">
                <a:solidFill>
                  <a:schemeClr val="tx1"/>
                </a:solidFill>
                <a:latin typeface="+mn-lt"/>
                <a:ea typeface="+mn-ea"/>
                <a:cs typeface="+mn-cs"/>
              </a:rPr>
              <a:t> What extra information should have been included?</a:t>
            </a:r>
          </a:p>
          <a:p>
            <a:pPr lvl="1">
              <a:buFont typeface="Arial" pitchFamily="34" charset="0"/>
              <a:buChar char="•"/>
            </a:pPr>
            <a:r>
              <a:rPr lang="en-AU" sz="1200" b="0" kern="1200" baseline="0" dirty="0" smtClean="0">
                <a:solidFill>
                  <a:schemeClr val="tx1"/>
                </a:solidFill>
                <a:latin typeface="+mn-lt"/>
                <a:ea typeface="+mn-ea"/>
                <a:cs typeface="+mn-cs"/>
              </a:rPr>
              <a:t> Which adverts seem most effective and why?</a:t>
            </a:r>
          </a:p>
          <a:p>
            <a:pPr lvl="0">
              <a:buFont typeface="Arial" pitchFamily="34" charset="0"/>
              <a:buChar char="•"/>
            </a:pPr>
            <a:r>
              <a:rPr lang="en-AU" sz="1200" b="0" kern="1200" baseline="0" dirty="0" smtClean="0">
                <a:solidFill>
                  <a:schemeClr val="tx1"/>
                </a:solidFill>
                <a:latin typeface="+mn-lt"/>
                <a:ea typeface="+mn-ea"/>
                <a:cs typeface="+mn-cs"/>
              </a:rPr>
              <a:t> Highlights the media used</a:t>
            </a:r>
          </a:p>
          <a:p>
            <a:pPr lvl="0">
              <a:buFont typeface="Arial" pitchFamily="34" charset="0"/>
              <a:buChar char="•"/>
            </a:pPr>
            <a:r>
              <a:rPr lang="en-AU" sz="1200" b="0" kern="1200" baseline="0" dirty="0" smtClean="0">
                <a:solidFill>
                  <a:schemeClr val="tx1"/>
                </a:solidFill>
                <a:latin typeface="+mn-lt"/>
                <a:ea typeface="+mn-ea"/>
                <a:cs typeface="+mn-cs"/>
              </a:rPr>
              <a:t> Examines the days of the week the advertisements are lodged.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steps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Handouts</a:t>
            </a:r>
          </a:p>
          <a:p>
            <a:pPr>
              <a:buFont typeface="Arial" pitchFamily="34" charset="0"/>
              <a:buNone/>
            </a:pPr>
            <a:endParaRPr lang="en-US" b="1" dirty="0" smtClean="0"/>
          </a:p>
          <a:p>
            <a:pPr>
              <a:buFont typeface="Arial" pitchFamily="34" charset="0"/>
              <a:buNone/>
            </a:pPr>
            <a:r>
              <a:rPr lang="en-US" b="0" dirty="0" smtClean="0"/>
              <a:t>Trainer obtains a selection of references (with names of people blocked out) and:</a:t>
            </a:r>
          </a:p>
          <a:p>
            <a:pPr>
              <a:buFont typeface="Arial" pitchFamily="34" charset="0"/>
              <a:buChar char="•"/>
            </a:pPr>
            <a:r>
              <a:rPr lang="en-US" b="0" dirty="0" smtClean="0"/>
              <a:t> Distributes them to trainees to read</a:t>
            </a:r>
          </a:p>
          <a:p>
            <a:pPr>
              <a:buFont typeface="Arial" pitchFamily="34" charset="0"/>
              <a:buChar char="•"/>
            </a:pPr>
            <a:r>
              <a:rPr lang="en-US" b="0" dirty="0" smtClean="0"/>
              <a:t> Asks trainees their opinions about them – what do the references tell them about the person?</a:t>
            </a:r>
          </a:p>
          <a:p>
            <a:pPr>
              <a:buFont typeface="Arial" pitchFamily="34" charset="0"/>
              <a:buChar char="•"/>
            </a:pPr>
            <a:r>
              <a:rPr lang="en-US" b="0" dirty="0" smtClean="0"/>
              <a:t> Points to the fact there is never a bad reference – they are all written in glowing terms.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notify the person?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do people need to bring to an interview?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other information may be helpful?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When would each of these formats be most appropriate?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Guest Speaker</a:t>
            </a:r>
          </a:p>
          <a:p>
            <a:pPr>
              <a:buFont typeface="Arial" pitchFamily="34" charset="0"/>
              <a:buNone/>
            </a:pPr>
            <a:endParaRPr lang="en-US" b="1" dirty="0" smtClean="0"/>
          </a:p>
          <a:p>
            <a:pPr>
              <a:buFont typeface="Arial" pitchFamily="34" charset="0"/>
              <a:buNone/>
            </a:pPr>
            <a:r>
              <a:rPr lang="en-US" b="0" dirty="0" smtClean="0"/>
              <a:t>Trainer arranges for a suitable HR manager (or similar) to attend and:</a:t>
            </a:r>
          </a:p>
          <a:p>
            <a:pPr>
              <a:buFont typeface="Arial" pitchFamily="34" charset="0"/>
              <a:buChar char="•"/>
            </a:pPr>
            <a:r>
              <a:rPr lang="en-US" b="0" dirty="0" smtClean="0"/>
              <a:t> Discuss their views on</a:t>
            </a:r>
            <a:r>
              <a:rPr lang="en-US" b="0" baseline="0" dirty="0" smtClean="0"/>
              <a:t> interviewing applications for vacancies</a:t>
            </a:r>
          </a:p>
          <a:p>
            <a:pPr>
              <a:buFont typeface="Arial" pitchFamily="34" charset="0"/>
              <a:buChar char="•"/>
            </a:pPr>
            <a:r>
              <a:rPr lang="en-US" b="0" baseline="0" dirty="0" smtClean="0"/>
              <a:t> Present details of the planning and preparation they do prior to an interview</a:t>
            </a:r>
          </a:p>
          <a:p>
            <a:pPr>
              <a:buFont typeface="Arial" pitchFamily="34" charset="0"/>
              <a:buChar char="•"/>
            </a:pPr>
            <a:r>
              <a:rPr lang="en-US" b="0" baseline="0" dirty="0" smtClean="0"/>
              <a:t> Provide examples of documentation they use related to interviews</a:t>
            </a:r>
          </a:p>
          <a:p>
            <a:pPr>
              <a:buFont typeface="Arial" pitchFamily="34" charset="0"/>
              <a:buChar char="•"/>
            </a:pPr>
            <a:r>
              <a:rPr lang="en-US" b="0" baseline="0" dirty="0" smtClean="0"/>
              <a:t> Give opinions and tips on effective interview techniques.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Demonstration (Mock interview)</a:t>
            </a:r>
          </a:p>
          <a:p>
            <a:pPr>
              <a:buFont typeface="Arial" pitchFamily="34" charset="0"/>
              <a:buNone/>
            </a:pPr>
            <a:endParaRPr lang="en-US" b="1" dirty="0" smtClean="0"/>
          </a:p>
          <a:p>
            <a:pPr>
              <a:buFont typeface="Arial" pitchFamily="34" charset="0"/>
              <a:buNone/>
            </a:pPr>
            <a:r>
              <a:rPr lang="en-US" b="0" dirty="0" smtClean="0"/>
              <a:t>Trainer arranges for experienced people (from the Training Institute or an</a:t>
            </a:r>
            <a:r>
              <a:rPr lang="en-US" b="0" baseline="0" dirty="0" smtClean="0"/>
              <a:t> industry workplace) to:</a:t>
            </a:r>
          </a:p>
          <a:p>
            <a:pPr>
              <a:buFont typeface="Arial" pitchFamily="34" charset="0"/>
              <a:buChar char="•"/>
            </a:pPr>
            <a:r>
              <a:rPr lang="en-US" b="0" baseline="0" dirty="0" smtClean="0"/>
              <a:t> Attend class</a:t>
            </a:r>
          </a:p>
          <a:p>
            <a:pPr>
              <a:buFont typeface="Arial" pitchFamily="34" charset="0"/>
              <a:buChar char="•"/>
            </a:pPr>
            <a:r>
              <a:rPr lang="en-US" b="0" baseline="0" dirty="0" smtClean="0"/>
              <a:t> Describe a job they will be interviewing for</a:t>
            </a:r>
          </a:p>
          <a:p>
            <a:pPr>
              <a:buFont typeface="Arial" pitchFamily="34" charset="0"/>
              <a:buChar char="•"/>
            </a:pPr>
            <a:r>
              <a:rPr lang="en-US" b="0" baseline="0" dirty="0" smtClean="0"/>
              <a:t> Arrange the room as required – explaining why this is being done the way it is</a:t>
            </a:r>
          </a:p>
          <a:p>
            <a:pPr>
              <a:buFont typeface="Arial" pitchFamily="34" charset="0"/>
              <a:buChar char="•"/>
            </a:pPr>
            <a:r>
              <a:rPr lang="en-US" b="0" baseline="0" dirty="0" smtClean="0"/>
              <a:t> Show/explain any prepared questions or documentation to be used throughout the demonstration</a:t>
            </a:r>
          </a:p>
          <a:p>
            <a:pPr>
              <a:buFont typeface="Arial" pitchFamily="34" charset="0"/>
              <a:buChar char="•"/>
            </a:pPr>
            <a:r>
              <a:rPr lang="en-US" b="0" baseline="0" dirty="0" smtClean="0"/>
              <a:t> Conduct the interview – welcoming the ‘interviewee’, asking planned questions and follow-up questions, demonstrating techniques they apply when interviewing staff</a:t>
            </a:r>
          </a:p>
          <a:p>
            <a:pPr>
              <a:buFont typeface="Arial" pitchFamily="34" charset="0"/>
              <a:buChar char="•"/>
            </a:pPr>
            <a:r>
              <a:rPr lang="en-US" b="0" baseline="0" dirty="0" smtClean="0"/>
              <a:t> De-brief after the  mock interview – explaining what they did and why they did it</a:t>
            </a:r>
          </a:p>
          <a:p>
            <a:pPr>
              <a:buFont typeface="Arial" pitchFamily="34" charset="0"/>
              <a:buChar char="•"/>
            </a:pPr>
            <a:r>
              <a:rPr lang="en-US" b="0" baseline="0" dirty="0" smtClean="0"/>
              <a:t> Answer questions from trainees.</a:t>
            </a:r>
          </a:p>
          <a:p>
            <a:pPr>
              <a:buFont typeface="Arial" pitchFamily="34" charset="0"/>
              <a:buNone/>
            </a:pPr>
            <a:r>
              <a:rPr lang="en-US" b="0" baseline="0" dirty="0" smtClean="0"/>
              <a:t>Trainer may elect to video-tape the mock interview for later analysis.</a:t>
            </a:r>
          </a:p>
          <a:p>
            <a:pPr>
              <a:buFont typeface="Arial" pitchFamily="34" charset="0"/>
              <a:buChar char="•"/>
            </a:pPr>
            <a:endParaRPr lang="en-US" b="0" baseline="0" dirty="0" smtClean="0"/>
          </a:p>
          <a:p>
            <a:pPr>
              <a:buFont typeface="Arial" pitchFamily="34" charset="0"/>
              <a:buChar char="•"/>
            </a:pPr>
            <a:endParaRPr lang="en-US" b="0"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common tests that are undertaken in a hospitality environment?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is the purpose for the test?</a:t>
            </a:r>
          </a:p>
          <a:p>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Why is it important to file all interview documents?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Show </a:t>
            </a:r>
            <a:r>
              <a:rPr lang="en-US" sz="1200" b="1" dirty="0" smtClean="0">
                <a:latin typeface="Helvetica" pitchFamily="34" charset="0"/>
              </a:rPr>
              <a:t>‘Interview Rating Sheet’</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Review document.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should be in the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should be included in a </a:t>
            </a:r>
            <a:r>
              <a:rPr lang="en-US" sz="1200" dirty="0" smtClean="0">
                <a:latin typeface="Helvetica" pitchFamily="34" charset="0"/>
              </a:rPr>
              <a:t>‘Letter of Offer / Appointment’?</a:t>
            </a: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 </a:t>
            </a:r>
          </a:p>
          <a:p>
            <a:pPr>
              <a:buFont typeface="Arial" pitchFamily="34" charset="0"/>
              <a:buNone/>
            </a:pPr>
            <a:endParaRPr lang="en-US" b="1" dirty="0" smtClean="0"/>
          </a:p>
          <a:p>
            <a:pPr>
              <a:buFont typeface="Arial" pitchFamily="34" charset="0"/>
              <a:buNone/>
            </a:pPr>
            <a:r>
              <a:rPr lang="en-US" b="0" dirty="0" smtClean="0"/>
              <a:t>Trainer obtains sample Letter of Appointment</a:t>
            </a:r>
            <a:r>
              <a:rPr lang="en-US" b="0" baseline="0" dirty="0" smtClean="0"/>
              <a:t> or </a:t>
            </a:r>
            <a:r>
              <a:rPr lang="en-US" b="0" dirty="0" smtClean="0"/>
              <a:t>draft work contract and:</a:t>
            </a:r>
          </a:p>
          <a:p>
            <a:pPr>
              <a:buFont typeface="Arial" pitchFamily="34" charset="0"/>
              <a:buChar char="•"/>
            </a:pPr>
            <a:r>
              <a:rPr lang="en-US" b="0" dirty="0" smtClean="0"/>
              <a:t> Distributes to trainees</a:t>
            </a:r>
          </a:p>
          <a:p>
            <a:pPr>
              <a:buFont typeface="Arial" pitchFamily="34" charset="0"/>
              <a:buChar char="•"/>
            </a:pPr>
            <a:r>
              <a:rPr lang="en-US" b="0" dirty="0" smtClean="0"/>
              <a:t> Discusses the contents of the document</a:t>
            </a:r>
          </a:p>
          <a:p>
            <a:pPr>
              <a:buFont typeface="Arial" pitchFamily="34" charset="0"/>
              <a:buChar char="•"/>
            </a:pPr>
            <a:r>
              <a:rPr lang="en-US" b="0" dirty="0" smtClean="0"/>
              <a:t> Explains why each statement</a:t>
            </a:r>
            <a:r>
              <a:rPr lang="en-US" b="0" baseline="0" dirty="0" smtClean="0"/>
              <a:t> </a:t>
            </a:r>
            <a:r>
              <a:rPr lang="en-US" b="0" dirty="0" smtClean="0"/>
              <a:t>is provided.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 </a:t>
            </a:r>
          </a:p>
          <a:p>
            <a:pPr>
              <a:buFont typeface="Arial" pitchFamily="34" charset="0"/>
              <a:buNone/>
            </a:pPr>
            <a:endParaRPr lang="en-US" b="1" dirty="0" smtClean="0"/>
          </a:p>
          <a:p>
            <a:pPr>
              <a:buFont typeface="Arial" pitchFamily="34" charset="0"/>
              <a:buNone/>
            </a:pPr>
            <a:r>
              <a:rPr lang="en-US" b="0" dirty="0" smtClean="0"/>
              <a:t>Trainer obtains sample Letter of Appointment</a:t>
            </a:r>
            <a:r>
              <a:rPr lang="en-US" b="0" baseline="0" dirty="0" smtClean="0"/>
              <a:t> or </a:t>
            </a:r>
            <a:r>
              <a:rPr lang="en-US" b="0" dirty="0" smtClean="0"/>
              <a:t>draft work contract and:</a:t>
            </a:r>
          </a:p>
          <a:p>
            <a:pPr>
              <a:buFont typeface="Arial" pitchFamily="34" charset="0"/>
              <a:buChar char="•"/>
            </a:pPr>
            <a:r>
              <a:rPr lang="en-US" b="0" dirty="0" smtClean="0"/>
              <a:t> Distributes to trainees</a:t>
            </a:r>
          </a:p>
          <a:p>
            <a:pPr>
              <a:buFont typeface="Arial" pitchFamily="34" charset="0"/>
              <a:buChar char="•"/>
            </a:pPr>
            <a:r>
              <a:rPr lang="en-US" b="0" dirty="0" smtClean="0"/>
              <a:t> Discusses the contents of the document</a:t>
            </a:r>
          </a:p>
          <a:p>
            <a:pPr>
              <a:buFont typeface="Arial" pitchFamily="34" charset="0"/>
              <a:buChar char="•"/>
            </a:pPr>
            <a:r>
              <a:rPr lang="en-US" b="0" dirty="0" smtClean="0"/>
              <a:t> Explains why each statement</a:t>
            </a:r>
            <a:r>
              <a:rPr lang="en-US" b="0" baseline="0" dirty="0" smtClean="0"/>
              <a:t> </a:t>
            </a:r>
            <a:r>
              <a:rPr lang="en-US" b="0" dirty="0" smtClean="0"/>
              <a:t>is provided.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Discussion</a:t>
            </a:r>
          </a:p>
          <a:p>
            <a:pPr>
              <a:buFont typeface="Arial" pitchFamily="34" charset="0"/>
              <a:buChar char="•"/>
            </a:pPr>
            <a:endParaRPr lang="en-US" b="1" dirty="0" smtClean="0"/>
          </a:p>
          <a:p>
            <a:pPr>
              <a:buFont typeface="Arial" pitchFamily="34" charset="0"/>
              <a:buChar char="•"/>
            </a:pPr>
            <a:r>
              <a:rPr lang="en-US" b="0" dirty="0" smtClean="0"/>
              <a:t>Why is it important to notify unsuccessful applicants?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Discussion</a:t>
            </a:r>
          </a:p>
          <a:p>
            <a:pPr>
              <a:buFont typeface="Arial" pitchFamily="34" charset="0"/>
              <a:buChar char="•"/>
            </a:pPr>
            <a:endParaRPr lang="en-US" b="1" dirty="0" smtClean="0"/>
          </a:p>
          <a:p>
            <a:pPr>
              <a:buFont typeface="Arial" pitchFamily="34" charset="0"/>
              <a:buChar char="•"/>
            </a:pPr>
            <a:r>
              <a:rPr lang="en-US" b="0" dirty="0" smtClean="0"/>
              <a:t>What activities are associated with each?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Discussion</a:t>
            </a:r>
          </a:p>
          <a:p>
            <a:pPr>
              <a:buFont typeface="Arial" pitchFamily="34" charset="0"/>
              <a:buChar char="•"/>
            </a:pPr>
            <a:endParaRPr lang="en-US" b="1" dirty="0" smtClean="0"/>
          </a:p>
          <a:p>
            <a:pPr>
              <a:buFont typeface="Arial" pitchFamily="34" charset="0"/>
              <a:buChar char="•"/>
            </a:pPr>
            <a:r>
              <a:rPr lang="en-US" b="0" dirty="0" smtClean="0"/>
              <a:t>What</a:t>
            </a:r>
            <a:r>
              <a:rPr lang="en-US" b="0" baseline="0" dirty="0" smtClean="0"/>
              <a:t> are other considerations?</a:t>
            </a:r>
          </a:p>
          <a:p>
            <a:pPr>
              <a:buFont typeface="Arial" pitchFamily="34" charset="0"/>
              <a:buChar char="•"/>
            </a:pPr>
            <a:r>
              <a:rPr lang="en-US" b="0" baseline="0" dirty="0" smtClean="0"/>
              <a:t>What needs to be planned for an induction program?</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Handouts </a:t>
            </a:r>
          </a:p>
          <a:p>
            <a:pPr>
              <a:buFont typeface="Arial" pitchFamily="34" charset="0"/>
              <a:buNone/>
            </a:pPr>
            <a:endParaRPr lang="en-US" b="1" dirty="0" smtClean="0"/>
          </a:p>
          <a:p>
            <a:pPr>
              <a:buFont typeface="Arial" pitchFamily="34" charset="0"/>
              <a:buNone/>
            </a:pPr>
            <a:r>
              <a:rPr lang="en-US" b="0" dirty="0" smtClean="0"/>
              <a:t>Trainer obtains sample documentation as identified on this slide and:</a:t>
            </a:r>
          </a:p>
          <a:p>
            <a:pPr>
              <a:buFont typeface="Arial" pitchFamily="34" charset="0"/>
              <a:buChar char="•"/>
            </a:pPr>
            <a:r>
              <a:rPr lang="en-US" b="0" dirty="0" smtClean="0"/>
              <a:t> Distributes to trainees</a:t>
            </a:r>
          </a:p>
          <a:p>
            <a:pPr>
              <a:buFont typeface="Arial" pitchFamily="34" charset="0"/>
              <a:buChar char="•"/>
            </a:pPr>
            <a:r>
              <a:rPr lang="en-US" b="0" dirty="0" smtClean="0"/>
              <a:t> Discusses and explains their role</a:t>
            </a:r>
          </a:p>
          <a:p>
            <a:pPr>
              <a:buFont typeface="Arial" pitchFamily="34" charset="0"/>
              <a:buChar char="•"/>
            </a:pPr>
            <a:r>
              <a:rPr lang="en-US" b="0" dirty="0" smtClean="0"/>
              <a:t> Tells trainees where these forms may be obtained.</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Handouts </a:t>
            </a:r>
          </a:p>
          <a:p>
            <a:pPr>
              <a:buFont typeface="Arial" pitchFamily="34" charset="0"/>
              <a:buNone/>
            </a:pPr>
            <a:endParaRPr lang="en-US" b="1" dirty="0" smtClean="0"/>
          </a:p>
          <a:p>
            <a:pPr>
              <a:buFont typeface="Arial" pitchFamily="34" charset="0"/>
              <a:buNone/>
            </a:pPr>
            <a:r>
              <a:rPr lang="en-US" b="0" dirty="0" smtClean="0"/>
              <a:t>Refer to handouts in Slide </a:t>
            </a:r>
            <a:r>
              <a:rPr lang="en-US" b="0" dirty="0" smtClean="0"/>
              <a:t>85</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Handouts </a:t>
            </a:r>
          </a:p>
          <a:p>
            <a:pPr>
              <a:buFont typeface="Arial" pitchFamily="34" charset="0"/>
              <a:buNone/>
            </a:pPr>
            <a:endParaRPr lang="en-US" b="1" dirty="0" smtClean="0"/>
          </a:p>
          <a:p>
            <a:pPr>
              <a:buFont typeface="Arial" pitchFamily="34" charset="0"/>
              <a:buNone/>
            </a:pPr>
            <a:r>
              <a:rPr lang="en-US" b="0" dirty="0" smtClean="0"/>
              <a:t>Refer to handouts in Slide </a:t>
            </a:r>
            <a:r>
              <a:rPr lang="en-US" b="0" dirty="0" smtClean="0"/>
              <a:t>85</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 – Excursion</a:t>
            </a:r>
          </a:p>
          <a:p>
            <a:pPr>
              <a:buFont typeface="Arial" pitchFamily="34" charset="0"/>
              <a:buNone/>
            </a:pPr>
            <a:endParaRPr lang="en-US" b="1" baseline="0" dirty="0" smtClean="0"/>
          </a:p>
          <a:p>
            <a:pPr>
              <a:buFont typeface="Arial" pitchFamily="34" charset="0"/>
              <a:buNone/>
            </a:pPr>
            <a:r>
              <a:rPr lang="en-US" b="0" baseline="0" dirty="0" smtClean="0"/>
              <a:t>Trainer arranges for trainees to visit a local enterprise and:</a:t>
            </a:r>
          </a:p>
          <a:p>
            <a:pPr>
              <a:buFont typeface="Arial" pitchFamily="34" charset="0"/>
              <a:buChar char="•"/>
            </a:pPr>
            <a:r>
              <a:rPr lang="en-US" b="0" baseline="0" dirty="0" smtClean="0"/>
              <a:t> Talk to management about staff recruitment, selection and induction and orientation sessions</a:t>
            </a:r>
          </a:p>
          <a:p>
            <a:pPr>
              <a:buFont typeface="Arial" pitchFamily="34" charset="0"/>
              <a:buChar char="•"/>
            </a:pPr>
            <a:r>
              <a:rPr lang="en-US" b="0" baseline="0" dirty="0" smtClean="0"/>
              <a:t> View management offices where they work and see the facilities they have to work with</a:t>
            </a:r>
          </a:p>
          <a:p>
            <a:pPr>
              <a:buFont typeface="Arial" pitchFamily="34" charset="0"/>
              <a:buChar char="•"/>
            </a:pPr>
            <a:r>
              <a:rPr lang="en-US" b="0" baseline="0" dirty="0" smtClean="0"/>
              <a:t> View relevant management policies and procedures related to staffing functions</a:t>
            </a:r>
          </a:p>
          <a:p>
            <a:pPr>
              <a:buFont typeface="Arial" pitchFamily="34" charset="0"/>
              <a:buChar char="•"/>
            </a:pPr>
            <a:r>
              <a:rPr lang="en-US" b="0" baseline="0" dirty="0" smtClean="0"/>
              <a:t> Observe a hiring interview – if possible (or a mock interview)</a:t>
            </a:r>
          </a:p>
          <a:p>
            <a:pPr>
              <a:buFont typeface="Arial" pitchFamily="34" charset="0"/>
              <a:buChar char="•"/>
            </a:pPr>
            <a:r>
              <a:rPr lang="en-US" b="0" baseline="0" dirty="0" smtClean="0"/>
              <a:t> Participate in a mock induction and orientation session.</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 – Excursion</a:t>
            </a:r>
          </a:p>
          <a:p>
            <a:pPr>
              <a:buFont typeface="Arial" pitchFamily="34" charset="0"/>
              <a:buNone/>
            </a:pPr>
            <a:endParaRPr lang="en-US" b="1" baseline="0" dirty="0" smtClean="0"/>
          </a:p>
          <a:p>
            <a:pPr>
              <a:buFont typeface="Arial" pitchFamily="34" charset="0"/>
              <a:buNone/>
            </a:pPr>
            <a:r>
              <a:rPr lang="en-US" b="0" baseline="0" dirty="0" smtClean="0"/>
              <a:t>Refer to excursion on Slide </a:t>
            </a:r>
            <a:r>
              <a:rPr lang="en-US" b="0" baseline="0" dirty="0" smtClean="0"/>
              <a:t>88</a:t>
            </a:r>
            <a:endParaRPr lang="en-US"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 – Excursion</a:t>
            </a:r>
          </a:p>
          <a:p>
            <a:pPr>
              <a:buFont typeface="Arial" pitchFamily="34" charset="0"/>
              <a:buNone/>
            </a:pPr>
            <a:endParaRPr lang="en-US" b="1" baseline="0" dirty="0" smtClean="0"/>
          </a:p>
          <a:p>
            <a:pPr>
              <a:buFont typeface="Arial" pitchFamily="34" charset="0"/>
              <a:buNone/>
            </a:pPr>
            <a:r>
              <a:rPr lang="en-US" b="0" baseline="0" dirty="0" smtClean="0"/>
              <a:t>Refer to excursion on Slide </a:t>
            </a:r>
            <a:r>
              <a:rPr lang="en-US" b="0" baseline="0" dirty="0" smtClean="0"/>
              <a:t>88</a:t>
            </a:r>
            <a:endParaRPr lang="en-US" b="0" baseline="0" dirty="0" smtClean="0"/>
          </a:p>
          <a:p>
            <a:pPr>
              <a:buFont typeface="Arial" pitchFamily="34" charset="0"/>
              <a:buChar cha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Show work program documents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work programs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have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should they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latin typeface="+mn-lt"/>
                <a:ea typeface="+mn-ea"/>
                <a:cs typeface="+mn-cs"/>
              </a:rPr>
              <a:t>Discussion </a:t>
            </a:r>
            <a:r>
              <a:rPr lang="en-AU" sz="1200" b="1" kern="1200" dirty="0" smtClean="0">
                <a:solidFill>
                  <a:schemeClr val="tx1"/>
                </a:solidFill>
                <a:latin typeface="+mn-lt"/>
                <a:ea typeface="+mn-ea"/>
                <a:cs typeface="+mn-cs"/>
              </a:rPr>
              <a:t>and review of documents</a:t>
            </a: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is the impact of</a:t>
            </a:r>
            <a:r>
              <a:rPr lang="en-AU" sz="1200" b="0" kern="1200" baseline="0" dirty="0" smtClean="0">
                <a:solidFill>
                  <a:schemeClr val="tx1"/>
                </a:solidFill>
                <a:latin typeface="+mn-lt"/>
                <a:ea typeface="+mn-ea"/>
                <a:cs typeface="+mn-cs"/>
              </a:rPr>
              <a:t> these organisational requirements when identifying group and individual roles and responsibilities?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provide examples of these documents and discuss their impact on identifying roles.</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latin typeface="+mn-lt"/>
                <a:ea typeface="+mn-ea"/>
                <a:cs typeface="+mn-cs"/>
              </a:rPr>
              <a:t>Discussion </a:t>
            </a:r>
            <a:r>
              <a:rPr lang="en-AU" sz="1200" b="1" kern="1200" dirty="0" smtClean="0">
                <a:solidFill>
                  <a:schemeClr val="tx1"/>
                </a:solidFill>
                <a:latin typeface="+mn-lt"/>
                <a:ea typeface="+mn-ea"/>
                <a:cs typeface="+mn-cs"/>
              </a:rPr>
              <a:t>and review of documents</a:t>
            </a: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is the impact of</a:t>
            </a:r>
            <a:r>
              <a:rPr lang="en-AU" sz="1200" b="0" kern="1200" baseline="0" dirty="0" smtClean="0">
                <a:solidFill>
                  <a:schemeClr val="tx1"/>
                </a:solidFill>
                <a:latin typeface="+mn-lt"/>
                <a:ea typeface="+mn-ea"/>
                <a:cs typeface="+mn-cs"/>
              </a:rPr>
              <a:t> these organisational requirements when identifying group and individual roles and responsibilities?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provide examples of these documents and discuss their impact on identifying roles.</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would you plan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Discuss from personal</a:t>
            </a:r>
            <a:r>
              <a:rPr lang="en-AU" sz="1200" baseline="0" dirty="0" smtClean="0"/>
              <a:t> experiences.</a:t>
            </a:r>
          </a:p>
          <a:p>
            <a:pPr>
              <a:buFont typeface="Arial" pitchFamily="34" charset="0"/>
              <a:buChar char="•"/>
            </a:pPr>
            <a:r>
              <a:rPr lang="en-AU" sz="1200" baseline="0" dirty="0" smtClean="0"/>
              <a:t>Which ways are the most effective and why?</a:t>
            </a:r>
            <a:endParaRPr lang="en-AU" sz="120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pPr>
              <a:buFont typeface="Arial" pitchFamily="34" charset="0"/>
              <a:buChar char="•"/>
            </a:pPr>
            <a:r>
              <a:rPr lang="en-AU" sz="1200" dirty="0" smtClean="0"/>
              <a:t>Discuss the questions in the slide.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dirty="0" smtClean="0"/>
          </a:p>
          <a:p>
            <a:r>
              <a:rPr lang="en-AU" sz="1200" dirty="0" smtClean="0"/>
              <a:t>In</a:t>
            </a:r>
            <a:r>
              <a:rPr lang="en-AU" sz="1200" baseline="0" dirty="0" smtClean="0"/>
              <a:t> your past experience:</a:t>
            </a:r>
          </a:p>
          <a:p>
            <a:pPr>
              <a:buFont typeface="Arial" pitchFamily="34" charset="0"/>
              <a:buChar char="•"/>
            </a:pPr>
            <a:r>
              <a:rPr lang="en-AU" sz="1200" baseline="0" dirty="0" smtClean="0"/>
              <a:t>What work activities to you need to do on a daily basis?</a:t>
            </a:r>
          </a:p>
          <a:p>
            <a:pPr>
              <a:buFont typeface="Arial" pitchFamily="34" charset="0"/>
              <a:buChar char="•"/>
            </a:pPr>
            <a:r>
              <a:rPr lang="en-AU" sz="1200" baseline="0" dirty="0" smtClean="0"/>
              <a:t>How do you prioritise your work activities?</a:t>
            </a:r>
          </a:p>
          <a:p>
            <a:pPr>
              <a:buFont typeface="Arial" pitchFamily="34" charset="0"/>
              <a:buChar char="•"/>
            </a:pPr>
            <a:r>
              <a:rPr lang="en-AU" sz="1200" baseline="0" dirty="0" smtClean="0"/>
              <a:t>Are you good at managing your time?</a:t>
            </a:r>
          </a:p>
          <a:p>
            <a:pPr>
              <a:buFont typeface="Arial" pitchFamily="34" charset="0"/>
              <a:buChar char="•"/>
            </a:pPr>
            <a:r>
              <a:rPr lang="en-AU" sz="1200" baseline="0" dirty="0" smtClean="0"/>
              <a:t>If so, how do you do it?</a:t>
            </a:r>
          </a:p>
          <a:p>
            <a:pPr>
              <a:buFont typeface="Arial" pitchFamily="34" charset="0"/>
              <a:buChar char="•"/>
            </a:pPr>
            <a:r>
              <a:rPr lang="en-AU" sz="1200" baseline="0" dirty="0" smtClean="0"/>
              <a:t>If not, why not and how could you be better are it?</a:t>
            </a:r>
          </a:p>
          <a:p>
            <a:pPr>
              <a:buFont typeface="Arial" pitchFamily="34" charset="0"/>
              <a:buChar char="•"/>
            </a:pPr>
            <a:r>
              <a:rPr lang="en-AU" sz="1200" baseline="0" dirty="0" smtClean="0"/>
              <a:t>Do you procrastinate? Why?</a:t>
            </a:r>
            <a:endParaRPr lang="en-AU" sz="1200" dirty="0" smtClean="0"/>
          </a:p>
          <a:p>
            <a:pPr lvl="0"/>
            <a:endParaRPr lang="en-AU" sz="1200" kern="1200" dirty="0" smtClean="0">
              <a:solidFill>
                <a:schemeClr val="tx1"/>
              </a:solidFill>
              <a:latin typeface="+mn-lt"/>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Activity on </a:t>
            </a:r>
            <a:r>
              <a:rPr lang="en-AU" sz="1200" b="1" kern="1200" baseline="0" dirty="0" smtClean="0">
                <a:solidFill>
                  <a:schemeClr val="tx1"/>
                </a:solidFill>
                <a:latin typeface="Helvetica" pitchFamily="34" charset="0"/>
                <a:ea typeface="+mn-ea"/>
                <a:cs typeface="+mn-cs"/>
              </a:rPr>
              <a:t>p</a:t>
            </a:r>
            <a:r>
              <a:rPr lang="en-AU" sz="1200" b="1" dirty="0" smtClean="0">
                <a:latin typeface="Helvetica" pitchFamily="34" charset="0"/>
              </a:rPr>
              <a:t>rioritising work</a:t>
            </a:r>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get the audience to pick a position.</a:t>
            </a:r>
          </a:p>
          <a:p>
            <a:pPr>
              <a:buFont typeface="Arial" pitchFamily="34" charset="0"/>
              <a:buChar char="•"/>
            </a:pPr>
            <a:r>
              <a:rPr lang="en-AU" sz="1200" b="0" kern="1200" baseline="0" dirty="0" smtClean="0">
                <a:solidFill>
                  <a:schemeClr val="tx1"/>
                </a:solidFill>
                <a:latin typeface="+mn-lt"/>
                <a:ea typeface="+mn-ea"/>
                <a:cs typeface="+mn-cs"/>
              </a:rPr>
              <a:t>They are to list a range of tasks that need to be completed</a:t>
            </a:r>
          </a:p>
          <a:p>
            <a:pPr>
              <a:buFont typeface="Arial" pitchFamily="34" charset="0"/>
              <a:buChar char="•"/>
            </a:pPr>
            <a:r>
              <a:rPr lang="en-AU" sz="1200" b="0" kern="1200" baseline="0" dirty="0" smtClean="0">
                <a:solidFill>
                  <a:schemeClr val="tx1"/>
                </a:solidFill>
                <a:latin typeface="+mn-lt"/>
                <a:ea typeface="+mn-ea"/>
                <a:cs typeface="+mn-cs"/>
              </a:rPr>
              <a:t>They should decide on a priority order for task completion explaining the reasoning behind the order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Activity on </a:t>
            </a:r>
            <a:r>
              <a:rPr lang="en-AU" sz="1200" b="1" kern="1200" baseline="0" dirty="0" smtClean="0">
                <a:solidFill>
                  <a:schemeClr val="tx1"/>
                </a:solidFill>
                <a:latin typeface="Helvetica" pitchFamily="34" charset="0"/>
                <a:ea typeface="+mn-ea"/>
                <a:cs typeface="+mn-cs"/>
              </a:rPr>
              <a:t>p</a:t>
            </a:r>
            <a:r>
              <a:rPr lang="en-AU" sz="1200" b="1" dirty="0" smtClean="0">
                <a:latin typeface="Helvetica" pitchFamily="34" charset="0"/>
              </a:rPr>
              <a:t>rioritising work</a:t>
            </a:r>
            <a:endParaRPr lang="en-AU" sz="1200" b="1" kern="1200" baseline="0" dirty="0" smtClean="0">
              <a:solidFill>
                <a:schemeClr val="tx1"/>
              </a:solidFill>
              <a:latin typeface="+mn-lt"/>
              <a:ea typeface="+mn-ea"/>
              <a:cs typeface="+mn-cs"/>
            </a:endParaRP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Activity extends on from last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organise workflow?</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 points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 on organising workflow</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delegation?</a:t>
            </a:r>
          </a:p>
          <a:p>
            <a:pPr>
              <a:buFont typeface="Arial" pitchFamily="34" charset="0"/>
              <a:buChar char="•"/>
            </a:pPr>
            <a:r>
              <a:rPr lang="en-AU" sz="1200" b="0" kern="1200" baseline="0" dirty="0" smtClean="0">
                <a:solidFill>
                  <a:schemeClr val="tx1"/>
                </a:solidFill>
                <a:latin typeface="+mn-lt"/>
                <a:ea typeface="+mn-ea"/>
                <a:cs typeface="+mn-cs"/>
              </a:rPr>
              <a:t>Why is it beneficial?</a:t>
            </a:r>
          </a:p>
          <a:p>
            <a:pPr>
              <a:buFont typeface="Arial" pitchFamily="34" charset="0"/>
              <a:buChar char="•"/>
            </a:pPr>
            <a:r>
              <a:rPr lang="en-AU" sz="1200" b="0" kern="1200" baseline="0" dirty="0" smtClean="0">
                <a:solidFill>
                  <a:schemeClr val="tx1"/>
                </a:solidFill>
                <a:latin typeface="+mn-lt"/>
                <a:ea typeface="+mn-ea"/>
                <a:cs typeface="+mn-cs"/>
              </a:rPr>
              <a:t>What duties can a manager delegate to staff to perform?</a:t>
            </a:r>
          </a:p>
          <a:p>
            <a:pPr>
              <a:buFont typeface="Arial" pitchFamily="34" charset="0"/>
              <a:buChar char="•"/>
            </a:pPr>
            <a:r>
              <a:rPr lang="en-AU" sz="1200" b="0" kern="1200" baseline="0" dirty="0" smtClean="0">
                <a:solidFill>
                  <a:schemeClr val="tx1"/>
                </a:solidFill>
                <a:latin typeface="+mn-lt"/>
                <a:ea typeface="+mn-ea"/>
                <a:cs typeface="+mn-cs"/>
              </a:rPr>
              <a:t>What can they not delegate? Why?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 points</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the steps associated with delegating tasks as part of their duties.</a:t>
            </a:r>
          </a:p>
          <a:p>
            <a:endParaRPr lang="en-AU" sz="1200" b="0" kern="1200" baseline="0" dirty="0" smtClean="0">
              <a:solidFill>
                <a:schemeClr val="tx1"/>
              </a:solidFill>
              <a:latin typeface="+mn-lt"/>
              <a:ea typeface="+mn-ea"/>
              <a:cs typeface="+mn-cs"/>
            </a:endParaRPr>
          </a:p>
          <a:p>
            <a:pPr lvl="0">
              <a:buFont typeface="Arial" pitchFamily="34" charset="0"/>
              <a:buChar char="•"/>
            </a:pPr>
            <a:r>
              <a:rPr lang="en-AU" sz="1200" dirty="0" smtClean="0"/>
              <a:t>Make sure you are clear about the task to be done – if you don’t know what you want done how can you expect to convey this to someone else?</a:t>
            </a:r>
          </a:p>
          <a:p>
            <a:pPr lvl="0">
              <a:buFont typeface="Arial" pitchFamily="34" charset="0"/>
              <a:buChar char="•"/>
            </a:pPr>
            <a:r>
              <a:rPr lang="en-AU" sz="1200" dirty="0" smtClean="0"/>
              <a:t>If appropriate, explain why the task has to be done, and why it has to be done in the way you are specifying – clear communication is critical</a:t>
            </a:r>
          </a:p>
          <a:p>
            <a:pPr lvl="0">
              <a:buFont typeface="Arial" pitchFamily="34" charset="0"/>
              <a:buChar char="•"/>
            </a:pPr>
            <a:r>
              <a:rPr lang="en-AU" sz="1200" dirty="0" smtClean="0"/>
              <a:t>Choose an appropriate time to inform the staff member about the delegation, and don’t hurry the explanation</a:t>
            </a:r>
          </a:p>
          <a:p>
            <a:pPr lvl="0">
              <a:buFont typeface="Arial" pitchFamily="34" charset="0"/>
              <a:buChar char="•"/>
            </a:pPr>
            <a:r>
              <a:rPr lang="en-AU" sz="1200" dirty="0" smtClean="0"/>
              <a:t>Provide whatever instructions are necessary in the correct sequence, explaining all of the steps</a:t>
            </a: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 points</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the steps associated with delegating tasks as part of their duties.</a:t>
            </a:r>
          </a:p>
          <a:p>
            <a:endParaRPr lang="en-AU" sz="1200" b="0" kern="1200" baseline="0" dirty="0" smtClean="0">
              <a:solidFill>
                <a:schemeClr val="tx1"/>
              </a:solidFill>
              <a:latin typeface="+mn-lt"/>
              <a:ea typeface="+mn-ea"/>
              <a:cs typeface="+mn-cs"/>
            </a:endParaRPr>
          </a:p>
          <a:p>
            <a:pPr lvl="0">
              <a:buFont typeface="Arial" pitchFamily="34" charset="0"/>
              <a:buChar char="•"/>
            </a:pPr>
            <a:r>
              <a:rPr lang="en-AU" sz="1200" dirty="0" smtClean="0"/>
              <a:t>Provide training and demonstration, as required</a:t>
            </a:r>
          </a:p>
          <a:p>
            <a:pPr lvl="0">
              <a:buFont typeface="Arial" pitchFamily="34" charset="0"/>
              <a:buChar char="•"/>
            </a:pPr>
            <a:r>
              <a:rPr lang="en-AU" sz="1200" dirty="0" smtClean="0"/>
              <a:t>Continually check if the employee has any questions and encourage them to ask questions – ensure your replies underline you expect and encourage questions</a:t>
            </a:r>
          </a:p>
          <a:p>
            <a:pPr lvl="0">
              <a:buFont typeface="Arial" pitchFamily="34" charset="0"/>
              <a:buChar char="•"/>
            </a:pPr>
            <a:r>
              <a:rPr lang="en-AU" sz="1200" dirty="0" smtClean="0"/>
              <a:t>Continually check the staff member genuinely understands what is being said and shown to them – you may ask them questions or get them to demonstrate what is required</a:t>
            </a:r>
          </a:p>
          <a:p>
            <a:pPr lvl="0">
              <a:buFont typeface="Arial" pitchFamily="34" charset="0"/>
              <a:buChar char="•"/>
            </a:pPr>
            <a:r>
              <a:rPr lang="en-AU" sz="1200" dirty="0" smtClean="0"/>
              <a:t>Give them positive feedback – people operate better from a platform level of optimism and success, so make them positive and confident.</a:t>
            </a:r>
          </a:p>
          <a:p>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b="1" kern="1200" dirty="0" smtClean="0">
                <a:solidFill>
                  <a:schemeClr val="tx1"/>
                </a:solidFill>
                <a:latin typeface="+mn-lt"/>
                <a:ea typeface="+mn-ea"/>
                <a:cs typeface="+mn-cs"/>
              </a:rPr>
              <a:t>Discussion</a:t>
            </a: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How will these affect the allocation of work?</a:t>
            </a:r>
          </a:p>
          <a:p>
            <a:pPr>
              <a:buFont typeface="Arial" pitchFamily="34" charset="0"/>
              <a:buChar char="•"/>
            </a:pPr>
            <a:r>
              <a:rPr lang="en-AU" sz="1200" b="0" kern="1200" dirty="0" smtClean="0">
                <a:solidFill>
                  <a:schemeClr val="tx1"/>
                </a:solidFill>
                <a:latin typeface="+mn-lt"/>
                <a:ea typeface="+mn-ea"/>
                <a:cs typeface="+mn-cs"/>
              </a:rPr>
              <a:t>How do you notify staff</a:t>
            </a:r>
            <a:r>
              <a:rPr lang="en-AU" sz="1200" b="0" kern="1200" baseline="0" dirty="0" smtClean="0">
                <a:solidFill>
                  <a:schemeClr val="tx1"/>
                </a:solidFill>
                <a:latin typeface="+mn-lt"/>
                <a:ea typeface="+mn-ea"/>
                <a:cs typeface="+mn-cs"/>
              </a:rPr>
              <a:t> of these task allocations?</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latin typeface="+mn-lt"/>
                <a:ea typeface="+mn-ea"/>
                <a:cs typeface="+mn-cs"/>
              </a:rPr>
              <a:t>Discuss the questions in the slide.</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to support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types of support can be provided?</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would you like to know when monitoring these areas?</a:t>
            </a:r>
          </a:p>
          <a:p>
            <a:pPr>
              <a:buFont typeface="Arial" pitchFamily="34" charset="0"/>
              <a:buChar char="•"/>
            </a:pPr>
            <a:r>
              <a:rPr lang="en-AU" sz="1200" b="0" kern="1200" baseline="0" dirty="0" smtClean="0">
                <a:solidFill>
                  <a:schemeClr val="tx1"/>
                </a:solidFill>
                <a:latin typeface="+mn-lt"/>
                <a:ea typeface="+mn-ea"/>
                <a:cs typeface="+mn-cs"/>
              </a:rPr>
              <a:t>How can they be monitored?</a:t>
            </a:r>
          </a:p>
          <a:p>
            <a:pPr>
              <a:buFont typeface="Arial" pitchFamily="34" charset="0"/>
              <a:buChar char="•"/>
            </a:pPr>
            <a:r>
              <a:rPr lang="en-AU" sz="1200" b="0" kern="1200" baseline="0" dirty="0" smtClean="0">
                <a:solidFill>
                  <a:schemeClr val="tx1"/>
                </a:solidFill>
                <a:latin typeface="+mn-lt"/>
                <a:ea typeface="+mn-ea"/>
                <a:cs typeface="+mn-cs"/>
              </a:rPr>
              <a:t>Who will do the monitoring?</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How do you lead people?</a:t>
            </a:r>
          </a:p>
          <a:p>
            <a:pPr>
              <a:buFont typeface="Arial" pitchFamily="34" charset="0"/>
              <a:buChar char="•"/>
            </a:pPr>
            <a:r>
              <a:rPr lang="en-AU" sz="1200" kern="1200" baseline="0" dirty="0" smtClean="0">
                <a:solidFill>
                  <a:schemeClr val="tx1"/>
                </a:solidFill>
                <a:latin typeface="+mn-lt"/>
                <a:ea typeface="+mn-ea"/>
                <a:cs typeface="+mn-cs"/>
              </a:rPr>
              <a:t>What are characteristics of leaders?</a:t>
            </a:r>
          </a:p>
          <a:p>
            <a:pPr>
              <a:buFont typeface="Arial" pitchFamily="34" charset="0"/>
              <a:buChar char="•"/>
            </a:pPr>
            <a:r>
              <a:rPr lang="en-AU" sz="1200" kern="1200" baseline="0" dirty="0" smtClean="0">
                <a:solidFill>
                  <a:schemeClr val="tx1"/>
                </a:solidFill>
                <a:latin typeface="+mn-lt"/>
                <a:ea typeface="+mn-ea"/>
                <a:cs typeface="+mn-cs"/>
              </a:rPr>
              <a:t>How is leadership different to management?</a:t>
            </a:r>
          </a:p>
          <a:p>
            <a:pPr>
              <a:buFont typeface="Arial" pitchFamily="34" charset="0"/>
              <a:buChar char="•"/>
            </a:pPr>
            <a:r>
              <a:rPr lang="en-AU" sz="1200" kern="1200" baseline="0" dirty="0" smtClean="0">
                <a:solidFill>
                  <a:schemeClr val="tx1"/>
                </a:solidFill>
                <a:latin typeface="+mn-lt"/>
                <a:ea typeface="+mn-ea"/>
                <a:cs typeface="+mn-cs"/>
              </a:rPr>
              <a:t>How can you motivate staff?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 and Review of plans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other information can be included in plans?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Trainer to show and explain common plans to audience.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How can</a:t>
            </a:r>
            <a:r>
              <a:rPr lang="en-AU" sz="1200" baseline="0" dirty="0" smtClean="0">
                <a:latin typeface="Helvetica" pitchFamily="34" charset="0"/>
              </a:rPr>
              <a:t> you provide guidance and support?</a:t>
            </a:r>
            <a:r>
              <a:rPr lang="en-AU" sz="1200" dirty="0" smtClean="0">
                <a:latin typeface="Helvetica" pitchFamily="34" charset="0"/>
              </a:rPr>
              <a:t> </a:t>
            </a:r>
          </a:p>
          <a:p>
            <a:pPr>
              <a:spcBef>
                <a:spcPts val="600"/>
              </a:spcBef>
              <a:spcAft>
                <a:spcPts val="1200"/>
              </a:spcAft>
              <a:buFont typeface="Arial" pitchFamily="34" charset="0"/>
              <a:buChar char="•"/>
            </a:pPr>
            <a:r>
              <a:rPr lang="en-AU" sz="1200" dirty="0" smtClean="0">
                <a:latin typeface="Helvetica" pitchFamily="34" charset="0"/>
              </a:rPr>
              <a:t>How</a:t>
            </a:r>
            <a:r>
              <a:rPr lang="en-AU" sz="1200" baseline="0" dirty="0" smtClean="0">
                <a:latin typeface="Helvetica" pitchFamily="34" charset="0"/>
              </a:rPr>
              <a:t> can you make guidance and support a </a:t>
            </a:r>
            <a:r>
              <a:rPr lang="en-AU" sz="1200" dirty="0" smtClean="0">
                <a:latin typeface="Helvetica" pitchFamily="34" charset="0"/>
              </a:rPr>
              <a:t>positive experience?</a:t>
            </a: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the action involved in the points</a:t>
            </a:r>
            <a:r>
              <a:rPr lang="en-AU" sz="1200" baseline="0" dirty="0" smtClean="0">
                <a:latin typeface="Helvetica" pitchFamily="34" charset="0"/>
              </a:rPr>
              <a:t> mentioned in this slide</a:t>
            </a:r>
            <a:endParaRPr lang="en-AU" sz="1200" dirty="0" smtClean="0">
              <a:latin typeface="Helvetica" pitchFamily="34" charset="0"/>
            </a:endParaRP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the action involved in the points</a:t>
            </a:r>
            <a:r>
              <a:rPr lang="en-AU" sz="1200" baseline="0" dirty="0" smtClean="0">
                <a:latin typeface="Helvetica" pitchFamily="34" charset="0"/>
              </a:rPr>
              <a:t> mentioned in this slide</a:t>
            </a:r>
          </a:p>
          <a:p>
            <a:pPr>
              <a:spcBef>
                <a:spcPts val="600"/>
              </a:spcBef>
              <a:spcAft>
                <a:spcPts val="1200"/>
              </a:spcAft>
              <a:buFont typeface="Arial" pitchFamily="34" charset="0"/>
              <a:buChar char="•"/>
            </a:pPr>
            <a:endParaRPr lang="en-AU" sz="1200" baseline="0" dirty="0" smtClean="0">
              <a:latin typeface="Helvetica" pitchFamily="34" charset="0"/>
            </a:endParaRPr>
          </a:p>
          <a:p>
            <a:pPr lvl="0">
              <a:buFont typeface="Arial" pitchFamily="34" charset="0"/>
              <a:buChar char="•"/>
            </a:pPr>
            <a:r>
              <a:rPr lang="en-AU" sz="1200" dirty="0" smtClean="0"/>
              <a:t>Provision of opportunities to discuss work challenges – which can include staff meetings and briefings as well as having an ‘open door’ policy towards staff issues. Some properties may establish ‘toolbox’ meetings where staff meet and discuss work issues together </a:t>
            </a:r>
          </a:p>
          <a:p>
            <a:pPr lvl="0">
              <a:buFont typeface="Arial" pitchFamily="34" charset="0"/>
              <a:buChar char="•"/>
            </a:pPr>
            <a:r>
              <a:rPr lang="en-AU" sz="1200" dirty="0" smtClean="0"/>
              <a:t>Provision on confirmation of organisational objectives and key performance objectives – which can include provision of updates, clarification of relevant points and explanation of ‘issues arising’ </a:t>
            </a:r>
          </a:p>
          <a:p>
            <a:pPr lvl="0">
              <a:buFont typeface="Arial" pitchFamily="34" charset="0"/>
              <a:buChar char="•"/>
            </a:pPr>
            <a:r>
              <a:rPr lang="en-AU" sz="1200" dirty="0" smtClean="0"/>
              <a:t>Ensuring adequate resources are applied to identify staff performance needs – the venue must provide whatever resources were promised and must make sure they are available when needed. Resources can include physical resources, knowledge, time, staffing and money </a:t>
            </a:r>
          </a:p>
          <a:p>
            <a:pPr lvl="0">
              <a:buFont typeface="Arial" pitchFamily="34" charset="0"/>
              <a:buChar char="•"/>
            </a:pPr>
            <a:r>
              <a:rPr lang="en-AU" sz="1200" dirty="0" smtClean="0"/>
              <a:t>Representation of staff interests in other forums – this includes taking staff issues to senior management/business owners and acting as their advocate in this context. This can also include speaking on behalf of staff when complaints arrive from customers</a:t>
            </a:r>
            <a:endParaRPr lang="en-AU" sz="1200" dirty="0" smtClean="0">
              <a:latin typeface="Helvetica" pitchFamily="34" charset="0"/>
            </a:endParaRPr>
          </a:p>
          <a:p>
            <a:pPr lvl="0">
              <a:buFont typeface="Arial" pitchFamily="34" charset="0"/>
              <a:buChar char="•"/>
            </a:pP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some common guidelines you would implement for issuing rewards, taking into account considerations stated on this slide?</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some common guidelines you would implement for issuing rewards, taking into account considerations stated on this slide?</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 How can you understand</a:t>
            </a:r>
            <a:r>
              <a:rPr lang="en-AU" sz="1200" baseline="0" dirty="0" smtClean="0">
                <a:latin typeface="Helvetica" pitchFamily="34" charset="0"/>
              </a:rPr>
              <a:t> </a:t>
            </a:r>
            <a:r>
              <a:rPr lang="en-AU" sz="1200" dirty="0" smtClean="0">
                <a:latin typeface="Helvetica" pitchFamily="34" charset="0"/>
              </a:rPr>
              <a:t>individual preferences of staff members?</a:t>
            </a: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 Do these </a:t>
            </a:r>
            <a:r>
              <a:rPr lang="en-AU" sz="1200" baseline="0" dirty="0" smtClean="0">
                <a:latin typeface="Helvetica" pitchFamily="34" charset="0"/>
              </a:rPr>
              <a:t>reward suit you?</a:t>
            </a:r>
          </a:p>
          <a:p>
            <a:pPr>
              <a:spcBef>
                <a:spcPts val="600"/>
              </a:spcBef>
              <a:spcAft>
                <a:spcPts val="1200"/>
              </a:spcAft>
              <a:buFont typeface="Arial" pitchFamily="34" charset="0"/>
              <a:buChar char="•"/>
            </a:pPr>
            <a:r>
              <a:rPr lang="en-AU" sz="1200" baseline="0" dirty="0" smtClean="0">
                <a:latin typeface="Helvetica" pitchFamily="34" charset="0"/>
              </a:rPr>
              <a:t> Which of these rewards listed on this slide would you prefer over others?</a:t>
            </a:r>
          </a:p>
          <a:p>
            <a:pPr>
              <a:spcBef>
                <a:spcPts val="600"/>
              </a:spcBef>
              <a:spcAft>
                <a:spcPts val="1200"/>
              </a:spcAft>
              <a:buFont typeface="Arial" pitchFamily="34" charset="0"/>
              <a:buChar char="•"/>
            </a:pPr>
            <a:r>
              <a:rPr lang="en-AU" sz="1200" baseline="0" dirty="0" smtClean="0">
                <a:latin typeface="Helvetica" pitchFamily="34" charset="0"/>
              </a:rPr>
              <a:t> If not, what would you prefer?</a:t>
            </a:r>
            <a:endParaRPr lang="en-AU" sz="1200" dirty="0" smtClean="0">
              <a:latin typeface="Helvetica" pitchFamily="34" charset="0"/>
            </a:endParaRP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How can you develop performance?</a:t>
            </a:r>
          </a:p>
          <a:p>
            <a:pPr>
              <a:buFont typeface="Arial" pitchFamily="34" charset="0"/>
              <a:buChar char="•"/>
            </a:pPr>
            <a:r>
              <a:rPr lang="en-AU" sz="1200" kern="1200" baseline="0" dirty="0" smtClean="0">
                <a:solidFill>
                  <a:schemeClr val="tx1"/>
                </a:solidFill>
                <a:latin typeface="+mn-lt"/>
                <a:ea typeface="+mn-ea"/>
                <a:cs typeface="+mn-cs"/>
              </a:rPr>
              <a:t>How do you assess performance?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Trainer to discuss the differences between these two activities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Why are these aims important?</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why these reasons are important. (see answers below)</a:t>
            </a:r>
          </a:p>
          <a:p>
            <a:endParaRPr lang="en-AU" sz="1200" b="1" kern="1200" baseline="0" dirty="0" smtClean="0">
              <a:solidFill>
                <a:schemeClr val="tx1"/>
              </a:solidFill>
              <a:latin typeface="+mn-lt"/>
              <a:ea typeface="+mn-ea"/>
              <a:cs typeface="+mn-cs"/>
            </a:endParaRPr>
          </a:p>
          <a:p>
            <a:pPr>
              <a:buNone/>
            </a:pPr>
            <a:r>
              <a:rPr lang="en-AU" sz="1200" dirty="0" smtClean="0"/>
              <a:t>There are many reasons why formal performance appraisals are undertaken in organisations: </a:t>
            </a:r>
          </a:p>
          <a:p>
            <a:pPr lvl="0">
              <a:buFont typeface="Arial" pitchFamily="34" charset="0"/>
              <a:buChar char="•"/>
            </a:pPr>
            <a:r>
              <a:rPr lang="en-AU" sz="1200" dirty="0" smtClean="0"/>
              <a:t>To improve and maintain performance </a:t>
            </a:r>
          </a:p>
          <a:p>
            <a:pPr lvl="0">
              <a:buFont typeface="Arial" pitchFamily="34" charset="0"/>
              <a:buChar char="•"/>
            </a:pPr>
            <a:r>
              <a:rPr lang="en-AU" sz="1200" dirty="0" smtClean="0"/>
              <a:t>To correct performance deficits </a:t>
            </a:r>
          </a:p>
          <a:p>
            <a:pPr lvl="0">
              <a:buFont typeface="Arial" pitchFamily="34" charset="0"/>
              <a:buChar char="•"/>
            </a:pPr>
            <a:r>
              <a:rPr lang="en-AU" sz="1200" dirty="0" smtClean="0"/>
              <a:t>To reward, recognise and compensate </a:t>
            </a:r>
          </a:p>
          <a:p>
            <a:pPr lvl="0">
              <a:buFont typeface="Arial" pitchFamily="34" charset="0"/>
              <a:buChar char="•"/>
            </a:pPr>
            <a:r>
              <a:rPr lang="en-AU" sz="1200" dirty="0" smtClean="0"/>
              <a:t>To strengthen relationships between supervisor and subordinates – performance appraisals are a good way for the manager and subordinate to discuss issues concerning work. If done correctly, it should mean the subordinate and the supervisor have a better understanding of each other’s position </a:t>
            </a:r>
          </a:p>
          <a:p>
            <a:pPr lvl="0">
              <a:buFont typeface="Arial" pitchFamily="34" charset="0"/>
              <a:buChar char="•"/>
            </a:pPr>
            <a:r>
              <a:rPr lang="en-AU" sz="1200" dirty="0" smtClean="0"/>
              <a:t>To share information – by giving information to employees and getting feedback from employees on methods and processes. By getting feedback, the manager might be able to improve processes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How do performance</a:t>
            </a:r>
            <a:r>
              <a:rPr lang="en-AU" sz="1200" baseline="0" dirty="0" smtClean="0"/>
              <a:t> appraisals benefit each of the groups mentioned in this slide?</a:t>
            </a: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why</a:t>
            </a:r>
            <a:r>
              <a:rPr lang="en-AU" sz="1200" baseline="0" dirty="0" smtClean="0"/>
              <a:t> each step is important and the actual activities associated with each step</a:t>
            </a:r>
          </a:p>
          <a:p>
            <a:pPr lvl="0">
              <a:buFont typeface="Arial" pitchFamily="34" charset="0"/>
              <a:buChar char="•"/>
            </a:pPr>
            <a:endParaRPr lang="en-AU" sz="1200" baseline="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why</a:t>
            </a:r>
            <a:r>
              <a:rPr lang="en-AU" sz="1200" baseline="0" dirty="0" smtClean="0"/>
              <a:t> each step is important and the actual activities associated with each step</a:t>
            </a:r>
          </a:p>
          <a:p>
            <a:pPr lvl="0">
              <a:buFont typeface="Arial" pitchFamily="34" charset="0"/>
              <a:buChar char="•"/>
            </a:pPr>
            <a:endParaRPr lang="en-AU" sz="1200" baseline="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documents can</a:t>
            </a:r>
            <a:r>
              <a:rPr lang="en-AU" sz="1200" baseline="0" dirty="0" smtClean="0"/>
              <a:t> you use?</a:t>
            </a:r>
          </a:p>
          <a:p>
            <a:pPr lvl="0">
              <a:buFont typeface="Arial" pitchFamily="34" charset="0"/>
              <a:buChar char="•"/>
            </a:pPr>
            <a:r>
              <a:rPr lang="en-AU" sz="1200" baseline="0" dirty="0" smtClean="0"/>
              <a:t>Why is it important for both parties to complete?</a:t>
            </a:r>
          </a:p>
          <a:p>
            <a:pPr lvl="0">
              <a:buFont typeface="Arial" pitchFamily="34" charset="0"/>
              <a:buChar char="•"/>
            </a:pPr>
            <a:endParaRPr lang="en-AU" sz="1200" baseline="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How would these differ?</a:t>
            </a:r>
            <a:endParaRPr lang="en-AU" sz="1200" baseline="0" dirty="0" smtClean="0"/>
          </a:p>
          <a:p>
            <a:pPr lvl="0">
              <a:buFont typeface="Arial" pitchFamily="34" charset="0"/>
              <a:buChar char="•"/>
            </a:pPr>
            <a:endParaRPr lang="en-AU" sz="1200" baseline="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 aspects of staff appraisal form</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Technical skills – the actual knowledge and skills they need to undertake their job role. They originate from a Job Description.</a:t>
            </a:r>
          </a:p>
          <a:p>
            <a:pPr lvl="0">
              <a:buFont typeface="Arial" pitchFamily="34" charset="0"/>
              <a:buChar char="•"/>
            </a:pPr>
            <a:r>
              <a:rPr lang="en-AU" sz="1200" dirty="0" smtClean="0"/>
              <a:t>Performance skills – these are personal characteristics that a person needs to do their job successfully. This originates from a Job Specification.</a:t>
            </a:r>
          </a:p>
          <a:p>
            <a:pPr lvl="0">
              <a:buFont typeface="Arial" pitchFamily="34" charset="0"/>
              <a:buChar char="•"/>
            </a:pPr>
            <a:r>
              <a:rPr lang="en-AU" sz="1200" dirty="0" smtClean="0"/>
              <a:t>Goal setting – this is to be completed by the staff member. It enables them to identify where they feel they need to improve and what personal development training they may desire to completed.</a:t>
            </a:r>
          </a:p>
          <a:p>
            <a:pPr lvl="0">
              <a:buFont typeface="Arial" pitchFamily="34" charset="0"/>
              <a:buChar char="•"/>
            </a:pPr>
            <a:r>
              <a:rPr lang="en-AU" sz="1200" dirty="0" smtClean="0"/>
              <a:t>Management appraisal – this allows staff to appraise managers. Remember this is a two way communication system and most management would also like to receive feedback on their performance and they can help staff success in their roles</a:t>
            </a:r>
            <a:endParaRPr lang="en-AU" sz="1200" baseline="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baseline="0" dirty="0" smtClean="0"/>
              <a:t>What marking system would you use to appraise staff?</a:t>
            </a: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Prepare a list if the information each party should know</a:t>
            </a:r>
          </a:p>
          <a:p>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the importance of each piece of information identified in the slide.</a:t>
            </a:r>
          </a:p>
          <a:p>
            <a:endParaRPr lang="en-AU" sz="1200" b="1" kern="1200" baseline="0" dirty="0" smtClean="0">
              <a:solidFill>
                <a:schemeClr val="tx1"/>
              </a:solidFill>
              <a:latin typeface="+mn-lt"/>
              <a:ea typeface="+mn-ea"/>
              <a:cs typeface="+mn-cs"/>
            </a:endParaRPr>
          </a:p>
          <a:p>
            <a:pPr lvl="0">
              <a:buFont typeface="Arial" pitchFamily="34" charset="0"/>
              <a:buChar char="•"/>
            </a:pPr>
            <a:r>
              <a:rPr lang="en-US" sz="1200" dirty="0" smtClean="0"/>
              <a:t>A formal letter  - outlining the assessment process, dates and aims of assessment</a:t>
            </a:r>
            <a:endParaRPr lang="en-AU" sz="1200" dirty="0" smtClean="0"/>
          </a:p>
          <a:p>
            <a:pPr lvl="0">
              <a:buFont typeface="Arial" pitchFamily="34" charset="0"/>
              <a:buChar char="•"/>
            </a:pPr>
            <a:r>
              <a:rPr lang="en-US" sz="1200" dirty="0" smtClean="0"/>
              <a:t>An information kit – containing instructions, background information and a booklet of assessment questions for completing</a:t>
            </a:r>
            <a:endParaRPr lang="en-AU" sz="1200" dirty="0" smtClean="0"/>
          </a:p>
          <a:p>
            <a:pPr lvl="0">
              <a:buFont typeface="Arial" pitchFamily="34" charset="0"/>
              <a:buChar char="•"/>
            </a:pPr>
            <a:r>
              <a:rPr lang="en-US" sz="1200" dirty="0" smtClean="0"/>
              <a:t>A specific meeting – this may be for all staff members or with an individual person. This is normally used to explain the process to persons conducting the assessment </a:t>
            </a:r>
            <a:endParaRPr lang="en-AU" sz="1200" dirty="0" smtClean="0"/>
          </a:p>
          <a:p>
            <a:pPr lvl="0">
              <a:buFont typeface="Arial" pitchFamily="34" charset="0"/>
              <a:buChar char="•"/>
            </a:pPr>
            <a:r>
              <a:rPr lang="en-US" sz="1200" dirty="0" smtClean="0"/>
              <a:t>An email – quick and easy process to share information.</a:t>
            </a:r>
            <a:endParaRPr lang="en-AU" sz="1200" dirty="0" smtClean="0"/>
          </a:p>
          <a:p>
            <a:pPr>
              <a:buFont typeface="Arial" pitchFamily="34" charset="0"/>
              <a:buChar char="•"/>
            </a:pPr>
            <a:r>
              <a:rPr lang="en-US" sz="1200" dirty="0" smtClean="0"/>
              <a:t>An information session – this may be for persons to be assessed, explaining them of the assessment requirements</a:t>
            </a:r>
            <a:endParaRPr lang="en-AU" sz="1200" b="1" dirty="0" smtClean="0"/>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involved in the process?</a:t>
            </a: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would you include each of these?</a:t>
            </a:r>
          </a:p>
          <a:p>
            <a:pPr>
              <a:buFont typeface="Arial" pitchFamily="34" charset="0"/>
              <a:buChar char="•"/>
            </a:pPr>
            <a:r>
              <a:rPr lang="en-AU" sz="1200" b="0" kern="1200" baseline="0" dirty="0" smtClean="0">
                <a:solidFill>
                  <a:schemeClr val="tx1"/>
                </a:solidFill>
                <a:latin typeface="+mn-lt"/>
                <a:ea typeface="+mn-ea"/>
                <a:cs typeface="+mn-cs"/>
              </a:rPr>
              <a:t>What are the benefits of including these people?</a:t>
            </a:r>
          </a:p>
          <a:p>
            <a:pPr>
              <a:buFont typeface="Arial" pitchFamily="34" charset="0"/>
              <a:buChar char="•"/>
            </a:pPr>
            <a:r>
              <a:rPr lang="en-AU" sz="1200" b="0" kern="1200" baseline="0" dirty="0" smtClean="0">
                <a:solidFill>
                  <a:schemeClr val="tx1"/>
                </a:solidFill>
                <a:latin typeface="+mn-lt"/>
                <a:ea typeface="+mn-ea"/>
                <a:cs typeface="+mn-cs"/>
              </a:rPr>
              <a:t>If you were being appraised who would you like to do it and how many people would you like involved?</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involved in each step?</a:t>
            </a:r>
          </a:p>
          <a:p>
            <a:pPr>
              <a:buFont typeface="Arial" pitchFamily="34" charset="0"/>
              <a:buChar char="•"/>
            </a:pPr>
            <a:r>
              <a:rPr lang="en-AU" sz="1200" b="0" kern="1200" baseline="0" dirty="0" smtClean="0">
                <a:solidFill>
                  <a:schemeClr val="tx1"/>
                </a:solidFill>
                <a:latin typeface="+mn-lt"/>
                <a:ea typeface="+mn-ea"/>
                <a:cs typeface="+mn-cs"/>
              </a:rPr>
              <a:t>(Trainer to ask this question as an introduction. Each step will be discussed in more detail)</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 &amp; Review</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information should be recorded in a staff appraisal action plan?</a:t>
            </a:r>
          </a:p>
          <a:p>
            <a:pPr>
              <a:buFont typeface="Arial" pitchFamily="34" charset="0"/>
              <a:buChar char="•"/>
            </a:pPr>
            <a:r>
              <a:rPr lang="en-AU" sz="1200" b="0" kern="1200" baseline="0" dirty="0" smtClean="0">
                <a:solidFill>
                  <a:schemeClr val="tx1"/>
                </a:solidFill>
                <a:latin typeface="+mn-lt"/>
                <a:ea typeface="+mn-ea"/>
                <a:cs typeface="+mn-cs"/>
              </a:rPr>
              <a:t>Refer to Section 5.4 of the Training Manual for an example of a staff appraisal action plan.</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would you handle these outcomes?</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would you handle these outcomes?</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on-the-job training programs</a:t>
            </a:r>
            <a:r>
              <a:rPr lang="en-AU" sz="1200" baseline="0" dirty="0" smtClean="0">
                <a:latin typeface="Helvetica" pitchFamily="34" charset="0"/>
              </a:rPr>
              <a:t> exist or could be developed?</a:t>
            </a:r>
            <a:endParaRPr lang="en-AU" sz="1200" dirty="0" smtClean="0">
              <a:latin typeface="Helvetica" pitchFamily="34" charset="0"/>
            </a:endParaRPr>
          </a:p>
          <a:p>
            <a:pPr lvl="0">
              <a:spcBef>
                <a:spcPts val="600"/>
              </a:spcBef>
              <a:spcAft>
                <a:spcPts val="1200"/>
              </a:spcAft>
              <a:buFont typeface="Arial" pitchFamily="34" charset="0"/>
              <a:buChar char="•"/>
            </a:pPr>
            <a:r>
              <a:rPr lang="en-AU" sz="1200" dirty="0" smtClean="0">
                <a:latin typeface="Helvetica" pitchFamily="34" charset="0"/>
              </a:rPr>
              <a:t>How can you</a:t>
            </a:r>
            <a:r>
              <a:rPr lang="en-AU" sz="1200" baseline="0" dirty="0" smtClean="0">
                <a:latin typeface="Helvetica" pitchFamily="34" charset="0"/>
              </a:rPr>
              <a:t> m</a:t>
            </a:r>
            <a:r>
              <a:rPr lang="en-AU" sz="1200" dirty="0" smtClean="0">
                <a:latin typeface="Helvetica" pitchFamily="34" charset="0"/>
              </a:rPr>
              <a:t>entor staff?</a:t>
            </a:r>
          </a:p>
          <a:p>
            <a:pPr lvl="0">
              <a:spcBef>
                <a:spcPts val="600"/>
              </a:spcBef>
              <a:spcAft>
                <a:spcPts val="1200"/>
              </a:spcAft>
              <a:buFont typeface="Arial" pitchFamily="34" charset="0"/>
              <a:buChar char="•"/>
            </a:pPr>
            <a:r>
              <a:rPr lang="en-AU" sz="1200" dirty="0" smtClean="0">
                <a:latin typeface="Helvetica" pitchFamily="34" charset="0"/>
              </a:rPr>
              <a:t>How</a:t>
            </a:r>
            <a:r>
              <a:rPr lang="en-AU" sz="1200" baseline="0" dirty="0" smtClean="0">
                <a:latin typeface="Helvetica" pitchFamily="34" charset="0"/>
              </a:rPr>
              <a:t> can you c</a:t>
            </a:r>
            <a:r>
              <a:rPr lang="en-AU" sz="1200" dirty="0" smtClean="0">
                <a:latin typeface="Helvetica" pitchFamily="34" charset="0"/>
              </a:rPr>
              <a:t>oach staff?</a:t>
            </a:r>
          </a:p>
          <a:p>
            <a:pPr lvl="0">
              <a:spcBef>
                <a:spcPts val="600"/>
              </a:spcBef>
              <a:spcAft>
                <a:spcPts val="1200"/>
              </a:spcAft>
              <a:buFont typeface="Arial" pitchFamily="34" charset="0"/>
              <a:buChar char="•"/>
            </a:pPr>
            <a:r>
              <a:rPr lang="en-AU" sz="1200" dirty="0" smtClean="0">
                <a:latin typeface="Helvetica" pitchFamily="34" charset="0"/>
              </a:rPr>
              <a:t>What off-the-job training programs exist?</a:t>
            </a: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follow up changes in the workplace?</a:t>
            </a:r>
          </a:p>
          <a:p>
            <a:pPr>
              <a:buFont typeface="Arial" pitchFamily="34" charset="0"/>
              <a:buChar char="•"/>
            </a:pPr>
            <a:r>
              <a:rPr lang="en-AU" sz="1200" b="0" kern="1200" baseline="0" dirty="0" smtClean="0">
                <a:solidFill>
                  <a:schemeClr val="tx1"/>
                </a:solidFill>
                <a:latin typeface="+mn-lt"/>
                <a:ea typeface="+mn-ea"/>
                <a:cs typeface="+mn-cs"/>
              </a:rPr>
              <a:t>Who should do this?</a:t>
            </a:r>
          </a:p>
          <a:p>
            <a:pPr>
              <a:buFont typeface="Arial" pitchFamily="34" charset="0"/>
              <a:buChar char="•"/>
            </a:pPr>
            <a:r>
              <a:rPr lang="en-AU" sz="1200" b="0" kern="1200" baseline="0" dirty="0" smtClean="0">
                <a:solidFill>
                  <a:schemeClr val="tx1"/>
                </a:solidFill>
                <a:latin typeface="+mn-lt"/>
                <a:ea typeface="+mn-ea"/>
                <a:cs typeface="+mn-cs"/>
              </a:rPr>
              <a:t>When should it be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the importance of following up.</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Which is the best method?</a:t>
            </a:r>
          </a:p>
          <a:p>
            <a:pPr>
              <a:buFont typeface="Arial" pitchFamily="34" charset="0"/>
              <a:buChar char="•"/>
            </a:pPr>
            <a:r>
              <a:rPr lang="en-AU" sz="1200" b="0" kern="1200" baseline="0" dirty="0" smtClean="0">
                <a:solidFill>
                  <a:schemeClr val="tx1"/>
                </a:solidFill>
                <a:latin typeface="+mn-lt"/>
                <a:ea typeface="+mn-ea"/>
                <a:cs typeface="+mn-cs"/>
              </a:rPr>
              <a:t>When is it best to use each method?</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each follow up requirement.</a:t>
            </a:r>
          </a:p>
          <a:p>
            <a:pPr>
              <a:buFont typeface="Arial" pitchFamily="34" charset="0"/>
              <a:buChar char="•"/>
            </a:pPr>
            <a:r>
              <a:rPr lang="en-AU" sz="1200" b="0" kern="1200" baseline="0" dirty="0" smtClean="0">
                <a:solidFill>
                  <a:schemeClr val="tx1"/>
                </a:solidFill>
                <a:latin typeface="+mn-lt"/>
                <a:ea typeface="+mn-ea"/>
                <a:cs typeface="+mn-cs"/>
              </a:rPr>
              <a:t>Why would these requirements be necessary?</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each follow up requirement.</a:t>
            </a:r>
          </a:p>
          <a:p>
            <a:pPr>
              <a:buFont typeface="Arial" pitchFamily="34" charset="0"/>
              <a:buChar char="•"/>
            </a:pPr>
            <a:r>
              <a:rPr lang="en-AU" sz="1200" b="0" kern="1200" baseline="0" dirty="0" smtClean="0">
                <a:solidFill>
                  <a:schemeClr val="tx1"/>
                </a:solidFill>
                <a:latin typeface="+mn-lt"/>
                <a:ea typeface="+mn-ea"/>
                <a:cs typeface="+mn-cs"/>
              </a:rPr>
              <a:t>Why would these requirements be necessary?</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a review with the staff member important?</a:t>
            </a:r>
          </a:p>
          <a:p>
            <a:pPr>
              <a:buFont typeface="Arial" pitchFamily="34" charset="0"/>
              <a:buChar char="•"/>
            </a:pPr>
            <a:r>
              <a:rPr lang="en-AU" sz="1200" b="0" kern="1200" baseline="0" dirty="0" smtClean="0">
                <a:solidFill>
                  <a:schemeClr val="tx1"/>
                </a:solidFill>
                <a:latin typeface="+mn-lt"/>
                <a:ea typeface="+mn-ea"/>
                <a:cs typeface="+mn-cs"/>
              </a:rPr>
              <a:t>When is it best done?</a:t>
            </a:r>
          </a:p>
          <a:p>
            <a:pPr>
              <a:buFont typeface="Arial" pitchFamily="34" charset="0"/>
              <a:buChar char="•"/>
            </a:pPr>
            <a:r>
              <a:rPr lang="en-AU" sz="1200" b="0" kern="1200" baseline="0" dirty="0" smtClean="0">
                <a:solidFill>
                  <a:schemeClr val="tx1"/>
                </a:solidFill>
                <a:latin typeface="+mn-lt"/>
                <a:ea typeface="+mn-ea"/>
                <a:cs typeface="+mn-cs"/>
              </a:rPr>
              <a:t>What information would you like at your disposal when conducting a performance follow up review with staff?</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for both management and staff to have the opportunity to comment?</a:t>
            </a:r>
          </a:p>
          <a:p>
            <a:pPr>
              <a:buFont typeface="Arial" pitchFamily="34" charset="0"/>
              <a:buNone/>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r>
              <a:rPr lang="en-AU" sz="1200" kern="1200" baseline="0" dirty="0" smtClean="0">
                <a:solidFill>
                  <a:schemeClr val="tx1"/>
                </a:solidFill>
                <a:latin typeface="+mn-lt"/>
                <a:ea typeface="+mn-ea"/>
                <a:cs typeface="+mn-cs"/>
              </a:rPr>
              <a:t>How do you know when training and development is required?</a:t>
            </a:r>
          </a:p>
          <a:p>
            <a:r>
              <a:rPr lang="en-AU" sz="1200" kern="1200" baseline="0" dirty="0" smtClean="0">
                <a:solidFill>
                  <a:schemeClr val="tx1"/>
                </a:solidFill>
                <a:latin typeface="+mn-lt"/>
                <a:ea typeface="+mn-ea"/>
                <a:cs typeface="+mn-cs"/>
              </a:rPr>
              <a:t>What are training and development opportunities that may be given to staff?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1" kern="120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the benefits of providing these for:</a:t>
            </a:r>
          </a:p>
          <a:p>
            <a:pPr marL="228600" indent="-228600">
              <a:buAutoNum type="alphaLcParenR"/>
            </a:pPr>
            <a:r>
              <a:rPr lang="en-AU" sz="1200" b="0" kern="1200" baseline="0" dirty="0" smtClean="0">
                <a:solidFill>
                  <a:schemeClr val="tx1"/>
                </a:solidFill>
                <a:latin typeface="+mn-lt"/>
                <a:ea typeface="+mn-ea"/>
                <a:cs typeface="+mn-cs"/>
              </a:rPr>
              <a:t>Owners</a:t>
            </a:r>
          </a:p>
          <a:p>
            <a:pPr marL="228600" indent="-228600">
              <a:buAutoNum type="alphaLcParenR"/>
            </a:pPr>
            <a:r>
              <a:rPr lang="en-AU" sz="1200" b="0" kern="1200" baseline="0" dirty="0" smtClean="0">
                <a:solidFill>
                  <a:schemeClr val="tx1"/>
                </a:solidFill>
                <a:latin typeface="+mn-lt"/>
                <a:ea typeface="+mn-ea"/>
                <a:cs typeface="+mn-cs"/>
              </a:rPr>
              <a:t>Managers</a:t>
            </a:r>
          </a:p>
          <a:p>
            <a:pPr marL="228600" indent="-228600">
              <a:buAutoNum type="alphaLcParenR"/>
            </a:pPr>
            <a:r>
              <a:rPr lang="en-AU" sz="1200" b="0" kern="1200" baseline="0" dirty="0" smtClean="0">
                <a:solidFill>
                  <a:schemeClr val="tx1"/>
                </a:solidFill>
                <a:latin typeface="+mn-lt"/>
                <a:ea typeface="+mn-ea"/>
                <a:cs typeface="+mn-cs"/>
              </a:rPr>
              <a:t>Staff members themselves</a:t>
            </a:r>
          </a:p>
          <a:p>
            <a:pPr marL="228600" indent="-228600">
              <a:buAutoNum type="alphaLcParenR"/>
            </a:pPr>
            <a:r>
              <a:rPr lang="en-AU" sz="1200" b="0" kern="1200" baseline="0" dirty="0" smtClean="0">
                <a:solidFill>
                  <a:schemeClr val="tx1"/>
                </a:solidFill>
                <a:latin typeface="+mn-lt"/>
                <a:ea typeface="+mn-ea"/>
                <a:cs typeface="+mn-cs"/>
              </a:rPr>
              <a:t>Customers</a:t>
            </a:r>
            <a:endParaRPr lang="en-AU" sz="1200" b="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1" kern="120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discuss the difference between these</a:t>
            </a:r>
          </a:p>
          <a:p>
            <a:pPr>
              <a:buFont typeface="Arial" pitchFamily="34" charset="0"/>
              <a:buChar char="•"/>
            </a:pPr>
            <a:r>
              <a:rPr lang="en-AU" sz="1200" b="0" kern="1200" baseline="0" dirty="0" smtClean="0">
                <a:solidFill>
                  <a:schemeClr val="tx1"/>
                </a:solidFill>
                <a:latin typeface="+mn-lt"/>
                <a:ea typeface="+mn-ea"/>
                <a:cs typeface="+mn-cs"/>
              </a:rPr>
              <a:t>Identify examples of different training sessions and how each of these points are developed</a:t>
            </a:r>
          </a:p>
          <a:p>
            <a:pPr>
              <a:buFont typeface="Arial" pitchFamily="34" charset="0"/>
              <a:buChar char="•"/>
            </a:pPr>
            <a:r>
              <a:rPr lang="en-AU" sz="1200" b="0" kern="1200" baseline="0" dirty="0" smtClean="0">
                <a:solidFill>
                  <a:schemeClr val="tx1"/>
                </a:solidFill>
                <a:latin typeface="+mn-lt"/>
                <a:ea typeface="+mn-ea"/>
                <a:cs typeface="+mn-cs"/>
              </a:rPr>
              <a:t>What is the best way to ‘develop’ each of these points?</a:t>
            </a:r>
            <a:endParaRPr lang="en-AU" sz="1200" b="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1" kern="120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the benefits of each of these approaches?</a:t>
            </a:r>
          </a:p>
          <a:p>
            <a:pPr>
              <a:buFont typeface="Arial" pitchFamily="34" charset="0"/>
              <a:buChar char="•"/>
            </a:pPr>
            <a:r>
              <a:rPr lang="en-AU" sz="1200" b="0" kern="1200" baseline="0" dirty="0" smtClean="0">
                <a:solidFill>
                  <a:schemeClr val="tx1"/>
                </a:solidFill>
                <a:latin typeface="+mn-lt"/>
                <a:ea typeface="+mn-ea"/>
                <a:cs typeface="+mn-cs"/>
              </a:rPr>
              <a:t>What are examples of development programs for each of these?</a:t>
            </a:r>
            <a:endParaRPr lang="en-AU" sz="1200" b="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1" kern="120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b="0"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Identify</a:t>
            </a:r>
            <a:r>
              <a:rPr lang="en-AU" sz="1200" b="0" kern="1200" baseline="0" dirty="0" smtClean="0">
                <a:solidFill>
                  <a:schemeClr val="tx1"/>
                </a:solidFill>
                <a:latin typeface="+mn-lt"/>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latin typeface="+mn-lt"/>
                <a:ea typeface="+mn-ea"/>
                <a:cs typeface="+mn-cs"/>
              </a:rPr>
              <a:t>When</a:t>
            </a:r>
            <a:r>
              <a:rPr lang="en-AU" sz="1200" b="0" kern="1200" baseline="0" dirty="0" smtClean="0">
                <a:solidFill>
                  <a:schemeClr val="tx1"/>
                </a:solidFill>
                <a:latin typeface="+mn-lt"/>
                <a:ea typeface="+mn-ea"/>
                <a:cs typeface="+mn-cs"/>
              </a:rPr>
              <a:t> would it be beneficial?</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Identify</a:t>
            </a:r>
            <a:r>
              <a:rPr lang="en-AU" sz="1200" b="0" kern="1200" baseline="0" dirty="0" smtClean="0">
                <a:solidFill>
                  <a:schemeClr val="tx1"/>
                </a:solidFill>
                <a:latin typeface="+mn-lt"/>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latin typeface="+mn-lt"/>
                <a:ea typeface="+mn-ea"/>
                <a:cs typeface="+mn-cs"/>
              </a:rPr>
              <a:t>When</a:t>
            </a:r>
            <a:r>
              <a:rPr lang="en-AU" sz="1200" b="0" kern="1200" baseline="0" dirty="0" smtClean="0">
                <a:solidFill>
                  <a:schemeClr val="tx1"/>
                </a:solidFill>
                <a:latin typeface="+mn-lt"/>
                <a:ea typeface="+mn-ea"/>
                <a:cs typeface="+mn-cs"/>
              </a:rPr>
              <a:t> would it be beneficial?</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Identify</a:t>
            </a:r>
            <a:r>
              <a:rPr lang="en-AU" sz="1200" b="0" kern="1200" baseline="0" dirty="0" smtClean="0">
                <a:solidFill>
                  <a:schemeClr val="tx1"/>
                </a:solidFill>
                <a:latin typeface="+mn-lt"/>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latin typeface="+mn-lt"/>
                <a:ea typeface="+mn-ea"/>
                <a:cs typeface="+mn-cs"/>
              </a:rPr>
              <a:t>When</a:t>
            </a:r>
            <a:r>
              <a:rPr lang="en-AU" sz="1200" b="0" kern="1200" baseline="0" dirty="0" smtClean="0">
                <a:solidFill>
                  <a:schemeClr val="tx1"/>
                </a:solidFill>
                <a:latin typeface="+mn-lt"/>
                <a:ea typeface="+mn-ea"/>
                <a:cs typeface="+mn-cs"/>
              </a:rPr>
              <a:t> would it be beneficial?</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Why</a:t>
            </a:r>
            <a:r>
              <a:rPr lang="en-AU" sz="1200" b="0" kern="1200" baseline="0" dirty="0" smtClean="0">
                <a:solidFill>
                  <a:schemeClr val="tx1"/>
                </a:solidFill>
                <a:latin typeface="+mn-lt"/>
                <a:ea typeface="+mn-ea"/>
                <a:cs typeface="+mn-cs"/>
              </a:rPr>
              <a:t> is mentoring such a popular professional development activity?</a:t>
            </a:r>
          </a:p>
          <a:p>
            <a:pPr>
              <a:buFont typeface="Arial" pitchFamily="34" charset="0"/>
              <a:buChar char="•"/>
            </a:pPr>
            <a:r>
              <a:rPr lang="en-AU" sz="1200" b="0" kern="1200" baseline="0" dirty="0" smtClean="0">
                <a:solidFill>
                  <a:schemeClr val="tx1"/>
                </a:solidFill>
                <a:latin typeface="+mn-lt"/>
                <a:ea typeface="+mn-ea"/>
                <a:cs typeface="+mn-cs"/>
              </a:rPr>
              <a:t>What are the benefits?</a:t>
            </a:r>
          </a:p>
          <a:p>
            <a:pPr>
              <a:buFont typeface="Arial" pitchFamily="34" charset="0"/>
              <a:buChar char="•"/>
            </a:pPr>
            <a:r>
              <a:rPr lang="en-AU" sz="1200" b="0" kern="1200" baseline="0" dirty="0" smtClean="0">
                <a:solidFill>
                  <a:schemeClr val="tx1"/>
                </a:solidFill>
                <a:latin typeface="+mn-lt"/>
                <a:ea typeface="+mn-ea"/>
                <a:cs typeface="+mn-cs"/>
              </a:rPr>
              <a:t>How long should the mentoring process last?</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 different coaching options</a:t>
            </a:r>
            <a:r>
              <a:rPr lang="en-AU" sz="1200" b="0" kern="1200" baseline="0" dirty="0" smtClean="0">
                <a:solidFill>
                  <a:schemeClr val="tx1"/>
                </a:solidFill>
                <a:latin typeface="+mn-lt"/>
                <a:ea typeface="+mn-ea"/>
                <a:cs typeface="+mn-cs"/>
              </a:rPr>
              <a:t> as identified in this slide.</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 different coaching options</a:t>
            </a:r>
            <a:r>
              <a:rPr lang="en-AU" sz="1200" b="0" kern="1200" baseline="0" dirty="0" smtClean="0">
                <a:solidFill>
                  <a:schemeClr val="tx1"/>
                </a:solidFill>
                <a:latin typeface="+mn-lt"/>
                <a:ea typeface="+mn-ea"/>
                <a:cs typeface="+mn-cs"/>
              </a:rPr>
              <a:t> as identified in this slide.</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is the different between these two approaches?</a:t>
            </a:r>
          </a:p>
          <a:p>
            <a:pPr>
              <a:buFont typeface="Arial" pitchFamily="34" charset="0"/>
              <a:buChar char="•"/>
            </a:pPr>
            <a:r>
              <a:rPr lang="en-AU" sz="1200" b="0" kern="1200" dirty="0" smtClean="0">
                <a:solidFill>
                  <a:schemeClr val="tx1"/>
                </a:solidFill>
                <a:latin typeface="+mn-lt"/>
                <a:ea typeface="+mn-ea"/>
                <a:cs typeface="+mn-cs"/>
              </a:rPr>
              <a:t>What are the benefits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What are examples of formal and informal learning programs?</a:t>
            </a: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are these</a:t>
            </a:r>
            <a:r>
              <a:rPr lang="en-AU" sz="1200" b="0" kern="1200" baseline="0" dirty="0" smtClean="0">
                <a:solidFill>
                  <a:schemeClr val="tx1"/>
                </a:solidFill>
                <a:latin typeface="+mn-lt"/>
                <a:ea typeface="+mn-ea"/>
                <a:cs typeface="+mn-cs"/>
              </a:rPr>
              <a:t> approaches?</a:t>
            </a:r>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are the benefits of each?</a:t>
            </a: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Why are these resources important?</a:t>
            </a: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 questions in</a:t>
            </a:r>
            <a:r>
              <a:rPr lang="en-AU" sz="1200" b="0" kern="1200" baseline="0" dirty="0" smtClean="0">
                <a:solidFill>
                  <a:schemeClr val="tx1"/>
                </a:solidFill>
                <a:latin typeface="+mn-lt"/>
                <a:ea typeface="+mn-ea"/>
                <a:cs typeface="+mn-cs"/>
              </a:rPr>
              <a:t> the slide.</a:t>
            </a:r>
            <a:endParaRPr lang="en-AU" sz="1200" b="0" kern="1200" dirty="0" smtClean="0">
              <a:solidFill>
                <a:schemeClr val="tx1"/>
              </a:solidFill>
              <a:latin typeface="+mn-lt"/>
              <a:ea typeface="+mn-ea"/>
              <a:cs typeface="+mn-cs"/>
            </a:endParaRP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Discussion</a:t>
            </a:r>
          </a:p>
          <a:p>
            <a:endParaRPr lang="en-AU" sz="1200" b="0"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 importance</a:t>
            </a:r>
            <a:r>
              <a:rPr lang="en-AU" sz="1200" b="0" kern="1200" baseline="0" dirty="0" smtClean="0">
                <a:solidFill>
                  <a:schemeClr val="tx1"/>
                </a:solidFill>
                <a:latin typeface="+mn-lt"/>
                <a:ea typeface="+mn-ea"/>
                <a:cs typeface="+mn-cs"/>
              </a:rPr>
              <a:t> of these points.</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r>
              <a:rPr lang="en-AU" sz="1200" kern="1200" baseline="0" dirty="0" smtClean="0">
                <a:solidFill>
                  <a:schemeClr val="tx1"/>
                </a:solidFill>
                <a:latin typeface="+mn-lt"/>
                <a:ea typeface="+mn-ea"/>
                <a:cs typeface="+mn-cs"/>
              </a:rPr>
              <a:t>What do you need to evaluate in relation to Human Resources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methods.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their purposes?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other data would you like to know?</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 in the slide.</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 benefits of conducting this review?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Who should be involved?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should be reviewed?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this be done?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Who should do it?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–Questions</a:t>
            </a:r>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baseline="0" dirty="0" smtClean="0"/>
              <a:t>What marking system would you use to appraise managers?</a:t>
            </a:r>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–Review management performance appraisals</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Look and discuss example of management performance appraisal in Section 3.1 of the Training Manual.</a:t>
            </a:r>
          </a:p>
          <a:p>
            <a:r>
              <a:rPr lang="en-AU" sz="1200" b="0" kern="1200" baseline="0" dirty="0" smtClean="0">
                <a:solidFill>
                  <a:schemeClr val="tx1"/>
                </a:solidFill>
                <a:latin typeface="+mn-lt"/>
                <a:ea typeface="+mn-ea"/>
                <a:cs typeface="+mn-cs"/>
              </a:rPr>
              <a:t>Trainer also to collect, distribute and discuss performance appraisals used in different hospitality organisations.</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a:t>
            </a:r>
            <a:endParaRPr lang="en-US" b="0" dirty="0" smtClean="0"/>
          </a:p>
          <a:p>
            <a:pPr lvl="0">
              <a:buFont typeface="Arial" pitchFamily="34" charset="0"/>
              <a:buChar char="•"/>
            </a:pPr>
            <a:endParaRPr lang="en-AU" sz="12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 in the slide.</a:t>
            </a: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Who needs to be paid wages?</a:t>
            </a:r>
          </a:p>
          <a:p>
            <a:pPr>
              <a:buFont typeface="Arial" pitchFamily="34" charset="0"/>
              <a:buChar char="•"/>
            </a:pPr>
            <a:r>
              <a:rPr lang="en-AU" sz="1200" b="0" kern="1200" baseline="0" dirty="0" smtClean="0">
                <a:solidFill>
                  <a:schemeClr val="tx1"/>
                </a:solidFill>
                <a:latin typeface="+mn-lt"/>
                <a:ea typeface="+mn-ea"/>
                <a:cs typeface="+mn-cs"/>
              </a:rPr>
              <a:t>What consumables are there?</a:t>
            </a:r>
          </a:p>
          <a:p>
            <a:pPr>
              <a:buFont typeface="Arial" pitchFamily="34" charset="0"/>
              <a:buChar char="•"/>
            </a:pPr>
            <a:r>
              <a:rPr lang="en-AU" sz="1200" b="0" kern="1200" baseline="0" dirty="0" smtClean="0">
                <a:solidFill>
                  <a:schemeClr val="tx1"/>
                </a:solidFill>
                <a:latin typeface="+mn-lt"/>
                <a:ea typeface="+mn-ea"/>
                <a:cs typeface="+mn-cs"/>
              </a:rPr>
              <a:t>What is normally purchased?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normally hired?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costs are associated with training events?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hard to determine value?</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other types of value?</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methods to assess value for money</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types of reports are prepared particularly focused on the improvement of </a:t>
            </a:r>
            <a:r>
              <a:rPr lang="en-AU" sz="1200" b="0" kern="1200" baseline="0" dirty="0" smtClean="0">
                <a:solidFill>
                  <a:schemeClr val="tx1"/>
                </a:solidFill>
                <a:latin typeface="+mn-lt"/>
                <a:ea typeface="+mn-ea"/>
                <a:cs typeface="+mn-cs"/>
              </a:rPr>
              <a:t>human resources?</a:t>
            </a: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should the content of reports include?</a:t>
            </a:r>
          </a:p>
          <a:p>
            <a:pPr>
              <a:buFont typeface="Arial" pitchFamily="34" charset="0"/>
              <a:buChar char="•"/>
            </a:pPr>
            <a:r>
              <a:rPr lang="en-AU" sz="1200" b="0" kern="1200" baseline="0" dirty="0" smtClean="0">
                <a:solidFill>
                  <a:schemeClr val="tx1"/>
                </a:solidFill>
                <a:latin typeface="+mn-lt"/>
                <a:ea typeface="+mn-ea"/>
                <a:cs typeface="+mn-cs"/>
              </a:rPr>
              <a:t>Who prepares these reports?</a:t>
            </a:r>
          </a:p>
          <a:p>
            <a:pPr>
              <a:buFont typeface="Arial" pitchFamily="34" charset="0"/>
              <a:buChar char="•"/>
            </a:pPr>
            <a:r>
              <a:rPr lang="en-AU" sz="1200" b="0" kern="1200" baseline="0" dirty="0" smtClean="0">
                <a:solidFill>
                  <a:schemeClr val="tx1"/>
                </a:solidFill>
                <a:latin typeface="+mn-lt"/>
                <a:ea typeface="+mn-ea"/>
                <a:cs typeface="+mn-cs"/>
              </a:rPr>
              <a:t>Who receives these reports?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information could be included in reports?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information could be included in reports?</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information do these specific people need?</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Thank the audience and deliver assessments as required.</a:t>
            </a:r>
            <a:endParaRPr lang="en-AU" sz="1200" kern="1200" dirty="0" smtClean="0">
              <a:solidFill>
                <a:schemeClr val="tx1"/>
              </a:solidFill>
              <a:latin typeface="+mn-lt"/>
              <a:ea typeface="+mn-ea"/>
              <a:cs typeface="+mn-cs"/>
            </a:endParaRPr>
          </a:p>
          <a:p>
            <a:pPr>
              <a:buFont typeface="Arial" pitchFamily="34" charset="0"/>
              <a:buChar cha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7/29/2013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7/29/2013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7/29/2013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7/29/2013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7/29/2013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7/29/2013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7/29/2013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7/29/2013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7/29/2013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7/29/2013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7/29/2013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7/29/2013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6.tif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2.tiff"/><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6.tiff"/><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457200"/>
            <a:ext cx="6480048" cy="1981200"/>
          </a:xfrm>
        </p:spPr>
        <p:txBody>
          <a:bodyPr>
            <a:normAutofit/>
          </a:bodyPr>
          <a:lstStyle/>
          <a:p>
            <a:r>
              <a:rPr lang="en-AU" sz="4000" dirty="0" smtClean="0">
                <a:ln w="5000" cmpd="sng">
                  <a:noFill/>
                  <a:prstDash val="solid"/>
                </a:ln>
                <a:solidFill>
                  <a:srgbClr val="FF6600"/>
                </a:solidFill>
                <a:latin typeface="Helvetica" pitchFamily="34" charset="0"/>
              </a:rPr>
              <a:t>Manage the effective use of human resources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791200" y="2514600"/>
            <a:ext cx="2541268" cy="597768"/>
          </a:xfrm>
        </p:spPr>
        <p:txBody>
          <a:bodyPr>
            <a:normAutofit lnSpcReduction="10000"/>
          </a:bodyPr>
          <a:lstStyle/>
          <a:p>
            <a:r>
              <a:rPr lang="en-AU" b="1" dirty="0" smtClean="0">
                <a:latin typeface="Helvetica" pitchFamily="34" charset="0"/>
              </a:rPr>
              <a:t>D1.HML.CL10.10</a:t>
            </a:r>
            <a:br>
              <a:rPr lang="en-AU" b="1" dirty="0" smtClean="0">
                <a:latin typeface="Helvetica" pitchFamily="34" charset="0"/>
              </a:rPr>
            </a:br>
            <a:r>
              <a:rPr lang="en-AU" b="1" dirty="0" smtClean="0">
                <a:latin typeface="Helvetica" pitchFamily="34" charset="0"/>
              </a:rPr>
              <a:t>D1.HRM.CL9.01</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rPr>
              <a:t> 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6" name="Picture 5" descr="MP900422122.JPG"/>
          <p:cNvPicPr>
            <a:picLocks noChangeAspect="1"/>
          </p:cNvPicPr>
          <p:nvPr/>
        </p:nvPicPr>
        <p:blipFill>
          <a:blip r:embed="rId3" cstate="print"/>
          <a:stretch>
            <a:fillRect/>
          </a:stretch>
        </p:blipFill>
        <p:spPr>
          <a:xfrm>
            <a:off x="1295400" y="1828800"/>
            <a:ext cx="3316237" cy="448192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099592"/>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seven Elements:</a:t>
            </a:r>
          </a:p>
          <a:p>
            <a:pPr>
              <a:spcBef>
                <a:spcPts val="600"/>
              </a:spcBef>
              <a:spcAft>
                <a:spcPts val="1200"/>
              </a:spcAft>
            </a:pPr>
            <a:r>
              <a:rPr lang="en-AU" sz="2200" dirty="0" smtClean="0">
                <a:latin typeface="Helvetica" pitchFamily="34" charset="0"/>
              </a:rPr>
              <a:t>Determine human resource needs</a:t>
            </a:r>
          </a:p>
          <a:p>
            <a:pPr>
              <a:spcBef>
                <a:spcPts val="600"/>
              </a:spcBef>
              <a:spcAft>
                <a:spcPts val="1200"/>
              </a:spcAft>
            </a:pPr>
            <a:r>
              <a:rPr lang="en-AU" sz="2200" dirty="0" smtClean="0">
                <a:latin typeface="Helvetica" pitchFamily="34" charset="0"/>
              </a:rPr>
              <a:t>Develop and administer human resource policies and procedures</a:t>
            </a:r>
          </a:p>
          <a:p>
            <a:pPr>
              <a:spcBef>
                <a:spcPts val="600"/>
              </a:spcBef>
              <a:spcAft>
                <a:spcPts val="1200"/>
              </a:spcAft>
            </a:pPr>
            <a:r>
              <a:rPr lang="en-AU" sz="2200" dirty="0" smtClean="0">
                <a:latin typeface="Helvetica" pitchFamily="34" charset="0"/>
              </a:rPr>
              <a:t>Organize human resources</a:t>
            </a:r>
          </a:p>
          <a:p>
            <a:pPr>
              <a:spcBef>
                <a:spcPts val="600"/>
              </a:spcBef>
              <a:spcAft>
                <a:spcPts val="1200"/>
              </a:spcAft>
            </a:pPr>
            <a:r>
              <a:rPr lang="en-AU" sz="2200" dirty="0" smtClean="0">
                <a:latin typeface="Helvetica" pitchFamily="34" charset="0"/>
              </a:rPr>
              <a:t>Lead and motivate staff</a:t>
            </a:r>
          </a:p>
          <a:p>
            <a:pPr>
              <a:spcBef>
                <a:spcPts val="600"/>
              </a:spcBef>
              <a:spcAft>
                <a:spcPts val="1200"/>
              </a:spcAft>
            </a:pPr>
            <a:r>
              <a:rPr lang="en-AU" sz="2200" dirty="0" smtClean="0">
                <a:latin typeface="Helvetica" pitchFamily="34" charset="0"/>
              </a:rPr>
              <a:t>Develop human resource performance</a:t>
            </a:r>
          </a:p>
          <a:p>
            <a:pPr>
              <a:spcBef>
                <a:spcPts val="600"/>
              </a:spcBef>
              <a:spcAft>
                <a:spcPts val="1200"/>
              </a:spcAft>
            </a:pPr>
            <a:r>
              <a:rPr lang="en-AU" sz="2200" dirty="0" smtClean="0">
                <a:latin typeface="Helvetica" pitchFamily="34" charset="0"/>
              </a:rPr>
              <a:t>Provide for human resource development</a:t>
            </a:r>
          </a:p>
          <a:p>
            <a:pPr>
              <a:spcBef>
                <a:spcPts val="600"/>
              </a:spcBef>
              <a:spcAft>
                <a:spcPts val="1200"/>
              </a:spcAft>
            </a:pPr>
            <a:r>
              <a:rPr lang="en-AU" sz="2200" dirty="0" smtClean="0">
                <a:latin typeface="Helvetica" pitchFamily="34" charset="0"/>
              </a:rPr>
              <a:t>Evaluate the implementation of the human</a:t>
            </a:r>
            <a:br>
              <a:rPr lang="en-AU" sz="2200" dirty="0" smtClean="0">
                <a:latin typeface="Helvetica" pitchFamily="34" charset="0"/>
              </a:rPr>
            </a:br>
            <a:r>
              <a:rPr lang="en-AU" sz="2200" dirty="0" smtClean="0">
                <a:latin typeface="Helvetica" pitchFamily="34" charset="0"/>
              </a:rPr>
              <a:t>resource plan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iStock_000007055099XSmall.jpg"/>
          <p:cNvPicPr>
            <a:picLocks noChangeAspect="1"/>
          </p:cNvPicPr>
          <p:nvPr/>
        </p:nvPicPr>
        <p:blipFill>
          <a:blip r:embed="rId3" cstate="print"/>
          <a:stretch>
            <a:fillRect/>
          </a:stretch>
        </p:blipFill>
        <p:spPr>
          <a:xfrm>
            <a:off x="7010400" y="3352800"/>
            <a:ext cx="1392462" cy="208623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12837"/>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698.jpg"/>
          <p:cNvPicPr>
            <a:picLocks noChangeAspect="1"/>
          </p:cNvPicPr>
          <p:nvPr/>
        </p:nvPicPr>
        <p:blipFill>
          <a:blip r:embed="rId3" cstate="print"/>
          <a:stretch>
            <a:fillRect/>
          </a:stretch>
        </p:blipFill>
        <p:spPr>
          <a:xfrm>
            <a:off x="5181600" y="3962400"/>
            <a:ext cx="3203848" cy="153198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i="1" dirty="0" smtClean="0">
                <a:solidFill>
                  <a:srgbClr val="FF6600"/>
                </a:solidFill>
                <a:latin typeface="Helvetica" pitchFamily="34" charset="0"/>
              </a:rPr>
              <a:t>Element 1:</a:t>
            </a:r>
          </a:p>
          <a:p>
            <a:pPr marL="0">
              <a:spcBef>
                <a:spcPts val="600"/>
              </a:spcBef>
              <a:spcAft>
                <a:spcPts val="1200"/>
              </a:spcAft>
              <a:buNone/>
            </a:pPr>
            <a:r>
              <a:rPr lang="en-AU" sz="4000" b="1" i="1" dirty="0" smtClean="0">
                <a:solidFill>
                  <a:srgbClr val="FF6600"/>
                </a:solidFill>
                <a:latin typeface="Helvetica" pitchFamily="34" charset="0"/>
              </a:rPr>
              <a:t>Determine human resource needs</a:t>
            </a:r>
            <a:endParaRPr lang="en-AU" sz="4000" i="1" dirty="0" smtClean="0">
              <a:latin typeface="Helvetica" pitchFamily="34" charset="0"/>
            </a:endParaRPr>
          </a:p>
          <a:p>
            <a:pPr marL="0">
              <a:spcBef>
                <a:spcPts val="600"/>
              </a:spcBef>
              <a:spcAft>
                <a:spcPts val="1200"/>
              </a:spcAft>
              <a:buNone/>
            </a:pPr>
            <a:endParaRPr lang="en-AU" sz="4000"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MP900386131[1].JPG"/>
          <p:cNvPicPr>
            <a:picLocks noChangeAspect="1"/>
          </p:cNvPicPr>
          <p:nvPr/>
        </p:nvPicPr>
        <p:blipFill>
          <a:blip r:embed="rId3" cstate="print"/>
          <a:stretch>
            <a:fillRect/>
          </a:stretch>
        </p:blipFill>
        <p:spPr>
          <a:xfrm>
            <a:off x="6872469" y="3222104"/>
            <a:ext cx="1509531" cy="226429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Determine human resource needs</a:t>
            </a:r>
          </a:p>
        </p:txBody>
      </p:sp>
      <p:sp>
        <p:nvSpPr>
          <p:cNvPr id="3" name="Content Placeholder 2"/>
          <p:cNvSpPr>
            <a:spLocks noGrp="1"/>
          </p:cNvSpPr>
          <p:nvPr>
            <p:ph idx="1"/>
          </p:nvPr>
        </p:nvSpPr>
        <p:spPr>
          <a:xfrm>
            <a:off x="611560" y="1143000"/>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operational need of the enterprise and allocated human resources budget</a:t>
            </a:r>
          </a:p>
          <a:p>
            <a:pPr>
              <a:spcBef>
                <a:spcPts val="600"/>
              </a:spcBef>
              <a:spcAft>
                <a:spcPts val="1200"/>
              </a:spcAft>
            </a:pPr>
            <a:r>
              <a:rPr lang="en-AU" sz="2200" dirty="0" smtClean="0">
                <a:latin typeface="Helvetica" pitchFamily="34" charset="0"/>
              </a:rPr>
              <a:t>Evaluate current staffing competencies against identified current and future required competencies</a:t>
            </a:r>
          </a:p>
          <a:p>
            <a:pPr>
              <a:spcBef>
                <a:spcPts val="600"/>
              </a:spcBef>
              <a:spcAft>
                <a:spcPts val="1200"/>
              </a:spcAft>
            </a:pPr>
            <a:r>
              <a:rPr lang="en-AU" sz="2200" dirty="0" smtClean="0">
                <a:latin typeface="Helvetica" pitchFamily="34" charset="0"/>
              </a:rPr>
              <a:t>Consider external and internal factors likely to impact future human resource requirements</a:t>
            </a:r>
          </a:p>
          <a:p>
            <a:pPr>
              <a:spcBef>
                <a:spcPts val="600"/>
              </a:spcBef>
              <a:spcAft>
                <a:spcPts val="1200"/>
              </a:spcAft>
            </a:pPr>
            <a:r>
              <a:rPr lang="en-AU" sz="2200" dirty="0" smtClean="0">
                <a:latin typeface="Helvetica" pitchFamily="34" charset="0"/>
              </a:rPr>
              <a:t>Determine key internal human resource</a:t>
            </a:r>
            <a:br>
              <a:rPr lang="en-AU" sz="2200" dirty="0" smtClean="0">
                <a:latin typeface="Helvetica" pitchFamily="34" charset="0"/>
              </a:rPr>
            </a:br>
            <a:r>
              <a:rPr lang="en-AU" sz="2200" dirty="0" smtClean="0">
                <a:latin typeface="Helvetica" pitchFamily="34" charset="0"/>
              </a:rPr>
              <a:t> issues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6" name="Picture 5" descr="13756_15n.jpg"/>
          <p:cNvPicPr>
            <a:picLocks noChangeAspect="1"/>
          </p:cNvPicPr>
          <p:nvPr/>
        </p:nvPicPr>
        <p:blipFill>
          <a:blip r:embed="rId3" cstate="print"/>
          <a:stretch>
            <a:fillRect/>
          </a:stretch>
        </p:blipFill>
        <p:spPr>
          <a:xfrm>
            <a:off x="6477000" y="4191000"/>
            <a:ext cx="1935129" cy="12954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Determine human resource needs</a:t>
            </a:r>
          </a:p>
        </p:txBody>
      </p:sp>
      <p:sp>
        <p:nvSpPr>
          <p:cNvPr id="3" name="Content Placeholder 2"/>
          <p:cNvSpPr>
            <a:spLocks noGrp="1"/>
          </p:cNvSpPr>
          <p:nvPr>
            <p:ph idx="1"/>
          </p:nvPr>
        </p:nvSpPr>
        <p:spPr>
          <a:xfrm>
            <a:off x="611560" y="1219200"/>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Consult with key personnel to obtain their input</a:t>
            </a:r>
          </a:p>
          <a:p>
            <a:pPr>
              <a:spcBef>
                <a:spcPts val="600"/>
              </a:spcBef>
              <a:spcAft>
                <a:spcPts val="1200"/>
              </a:spcAft>
            </a:pPr>
            <a:r>
              <a:rPr lang="en-AU" sz="2200" dirty="0" smtClean="0">
                <a:latin typeface="Helvetica" pitchFamily="34" charset="0"/>
              </a:rPr>
              <a:t>Develop a human resources plan to meet identified need</a:t>
            </a:r>
          </a:p>
          <a:p>
            <a:pPr>
              <a:spcBef>
                <a:spcPts val="600"/>
              </a:spcBef>
              <a:spcAft>
                <a:spcPts val="1200"/>
              </a:spcAft>
            </a:pPr>
            <a:r>
              <a:rPr lang="en-AU" sz="2200" dirty="0" smtClean="0">
                <a:latin typeface="Helvetica" pitchFamily="34" charset="0"/>
              </a:rPr>
              <a:t>Implement a human resources plan in accordance with identified strategies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March 2005  503_RT8.TIF"/>
          <p:cNvPicPr>
            <a:picLocks noChangeAspect="1"/>
          </p:cNvPicPr>
          <p:nvPr/>
        </p:nvPicPr>
        <p:blipFill>
          <a:blip r:embed="rId3" cstate="print"/>
          <a:stretch>
            <a:fillRect/>
          </a:stretch>
        </p:blipFill>
        <p:spPr>
          <a:xfrm>
            <a:off x="6248400" y="3962400"/>
            <a:ext cx="2171700" cy="14478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467600" cy="914400"/>
          </a:xfrm>
        </p:spPr>
        <p:txBody>
          <a:bodyPr>
            <a:noAutofit/>
          </a:bodyPr>
          <a:lstStyle/>
          <a:p>
            <a:r>
              <a:rPr lang="en-AU" sz="3400" b="1" dirty="0" smtClean="0">
                <a:solidFill>
                  <a:srgbClr val="FF6600"/>
                </a:solidFill>
                <a:latin typeface="Helvetica" pitchFamily="34" charset="0"/>
              </a:rPr>
              <a:t>Identify operational needs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19200"/>
            <a:ext cx="7616952" cy="470912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Role of Human Resources</a:t>
            </a:r>
          </a:p>
          <a:p>
            <a:pPr>
              <a:spcBef>
                <a:spcPts val="600"/>
              </a:spcBef>
              <a:spcAft>
                <a:spcPts val="1200"/>
              </a:spcAft>
            </a:pPr>
            <a:r>
              <a:rPr lang="en-AU" sz="2200" dirty="0" smtClean="0">
                <a:latin typeface="Helvetica" pitchFamily="34" charset="0"/>
              </a:rPr>
              <a:t>An organisation’s ability to recruit, train and develop its staff is fundamental in the delivery of quality service to customers</a:t>
            </a:r>
          </a:p>
          <a:p>
            <a:pPr>
              <a:spcBef>
                <a:spcPts val="600"/>
              </a:spcBef>
              <a:spcAft>
                <a:spcPts val="1200"/>
              </a:spcAft>
            </a:pPr>
            <a:r>
              <a:rPr lang="en-AU" sz="2200" dirty="0" smtClean="0">
                <a:latin typeface="Helvetica" pitchFamily="34" charset="0"/>
              </a:rPr>
              <a:t>The key area responsible for the development of staff in a hospitality organisation is the Human Resources Department</a:t>
            </a:r>
          </a:p>
          <a:p>
            <a:r>
              <a:rPr lang="en-AU" sz="2200" dirty="0" smtClean="0">
                <a:latin typeface="Helvetica" pitchFamily="34" charset="0"/>
              </a:rPr>
              <a:t>They need to develop staff to meet </a:t>
            </a:r>
            <a:br>
              <a:rPr lang="en-AU" sz="2200" dirty="0" smtClean="0">
                <a:latin typeface="Helvetica" pitchFamily="34" charset="0"/>
              </a:rPr>
            </a:br>
            <a:r>
              <a:rPr lang="en-AU" sz="2200" dirty="0" smtClean="0">
                <a:latin typeface="Helvetica" pitchFamily="34" charset="0"/>
              </a:rPr>
              <a:t>operational needs</a:t>
            </a:r>
            <a:endParaRPr lang="en-AU" sz="2200" dirty="0">
              <a:latin typeface="Helvetica" pitchFamily="34" charset="0"/>
            </a:endParaRPr>
          </a:p>
        </p:txBody>
      </p:sp>
      <p:pic>
        <p:nvPicPr>
          <p:cNvPr id="6" name="Picture 5" descr="Culinaryacademy142.TIF"/>
          <p:cNvPicPr>
            <a:picLocks noChangeAspect="1"/>
          </p:cNvPicPr>
          <p:nvPr/>
        </p:nvPicPr>
        <p:blipFill>
          <a:blip r:embed="rId3" cstate="print"/>
          <a:stretch>
            <a:fillRect/>
          </a:stretch>
        </p:blipFill>
        <p:spPr>
          <a:xfrm>
            <a:off x="6248400" y="4038600"/>
            <a:ext cx="2133600" cy="142240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467600" cy="868362"/>
          </a:xfrm>
        </p:spPr>
        <p:txBody>
          <a:bodyPr>
            <a:noAutofit/>
          </a:bodyPr>
          <a:lstStyle/>
          <a:p>
            <a:r>
              <a:rPr lang="en-AU" sz="3400" b="1" dirty="0" smtClean="0">
                <a:solidFill>
                  <a:srgbClr val="FF6600"/>
                </a:solidFill>
                <a:latin typeface="Helvetica" pitchFamily="34" charset="0"/>
              </a:rPr>
              <a:t>Identify operational needs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19200"/>
            <a:ext cx="7464552" cy="470912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Role of Human Resources</a:t>
            </a:r>
          </a:p>
          <a:p>
            <a:pPr>
              <a:spcBef>
                <a:spcPts val="600"/>
              </a:spcBef>
              <a:spcAft>
                <a:spcPts val="1200"/>
              </a:spcAft>
            </a:pPr>
            <a:r>
              <a:rPr lang="en-AU" sz="2200" dirty="0" smtClean="0">
                <a:latin typeface="Helvetica" pitchFamily="34" charset="0"/>
              </a:rPr>
              <a:t>An organisation’s ability to recruit, train and develop its staff is fundamental in the delivery of quality service to customers</a:t>
            </a:r>
          </a:p>
          <a:p>
            <a:pPr>
              <a:spcBef>
                <a:spcPts val="600"/>
              </a:spcBef>
              <a:spcAft>
                <a:spcPts val="1200"/>
              </a:spcAft>
            </a:pPr>
            <a:r>
              <a:rPr lang="en-AU" sz="2200" dirty="0" smtClean="0">
                <a:latin typeface="Helvetica" pitchFamily="34" charset="0"/>
              </a:rPr>
              <a:t>The key area responsible for the development of staff in a hospitality organisation is the Human Resources Department</a:t>
            </a:r>
          </a:p>
          <a:p>
            <a:r>
              <a:rPr lang="en-AU" sz="2200" dirty="0" smtClean="0">
                <a:latin typeface="Helvetica" pitchFamily="34" charset="0"/>
              </a:rPr>
              <a:t>They need to develop staff to meet </a:t>
            </a:r>
            <a:br>
              <a:rPr lang="en-AU" sz="2200" dirty="0" smtClean="0">
                <a:latin typeface="Helvetica" pitchFamily="34" charset="0"/>
              </a:rPr>
            </a:br>
            <a:r>
              <a:rPr lang="en-AU" sz="2200" dirty="0" smtClean="0">
                <a:latin typeface="Helvetica" pitchFamily="34" charset="0"/>
              </a:rPr>
              <a:t>operational needs</a:t>
            </a:r>
            <a:endParaRPr lang="en-AU" sz="2200" dirty="0">
              <a:latin typeface="Helvetica" pitchFamily="34" charset="0"/>
            </a:endParaRPr>
          </a:p>
        </p:txBody>
      </p:sp>
      <p:pic>
        <p:nvPicPr>
          <p:cNvPr id="6" name="Picture 5" descr="Culinaryacademy142.TIF"/>
          <p:cNvPicPr>
            <a:picLocks noChangeAspect="1"/>
          </p:cNvPicPr>
          <p:nvPr/>
        </p:nvPicPr>
        <p:blipFill>
          <a:blip r:embed="rId3" cstate="print"/>
          <a:stretch>
            <a:fillRect/>
          </a:stretch>
        </p:blipFill>
        <p:spPr>
          <a:xfrm>
            <a:off x="6248400" y="4038600"/>
            <a:ext cx="2133600" cy="142240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467600" cy="762000"/>
          </a:xfrm>
        </p:spPr>
        <p:txBody>
          <a:bodyPr>
            <a:noAutofit/>
          </a:bodyPr>
          <a:lstStyle/>
          <a:p>
            <a:r>
              <a:rPr lang="en-AU" sz="3400" b="1" dirty="0" smtClean="0">
                <a:solidFill>
                  <a:srgbClr val="FF6600"/>
                </a:solidFill>
                <a:latin typeface="Helvetica" pitchFamily="34" charset="0"/>
              </a:rPr>
              <a:t>Identify operational needs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143000"/>
            <a:ext cx="7464552" cy="5029200"/>
          </a:xfrm>
          <a:prstGeom prst="rect">
            <a:avLst/>
          </a:prstGeom>
        </p:spPr>
        <p:txBody>
          <a:bodyPr>
            <a:normAutofit/>
          </a:bodyPr>
          <a:lstStyle/>
          <a:p>
            <a:pPr>
              <a:lnSpc>
                <a:spcPct val="120000"/>
              </a:lnSpc>
              <a:spcBef>
                <a:spcPts val="600"/>
              </a:spcBef>
              <a:spcAft>
                <a:spcPts val="600"/>
              </a:spcAft>
              <a:buNone/>
            </a:pPr>
            <a:r>
              <a:rPr lang="en-AU" sz="2200" b="1" dirty="0" smtClean="0">
                <a:latin typeface="Helvetica" pitchFamily="34" charset="0"/>
              </a:rPr>
              <a:t>Identifying training needs</a:t>
            </a:r>
            <a:endParaRPr lang="en-AU" sz="2200" dirty="0" smtClean="0">
              <a:latin typeface="Helvetica" pitchFamily="34" charset="0"/>
            </a:endParaRPr>
          </a:p>
          <a:p>
            <a:pPr>
              <a:lnSpc>
                <a:spcPct val="120000"/>
              </a:lnSpc>
              <a:spcBef>
                <a:spcPts val="600"/>
              </a:spcBef>
              <a:spcAft>
                <a:spcPts val="600"/>
              </a:spcAft>
            </a:pPr>
            <a:r>
              <a:rPr lang="en-AU" sz="2200" dirty="0" smtClean="0">
                <a:latin typeface="Helvetica" pitchFamily="34" charset="0"/>
              </a:rPr>
              <a:t>Staff induction </a:t>
            </a:r>
          </a:p>
          <a:p>
            <a:pPr>
              <a:lnSpc>
                <a:spcPct val="120000"/>
              </a:lnSpc>
              <a:spcBef>
                <a:spcPts val="600"/>
              </a:spcBef>
              <a:spcAft>
                <a:spcPts val="600"/>
              </a:spcAft>
            </a:pPr>
            <a:r>
              <a:rPr lang="en-AU" sz="2200" dirty="0" smtClean="0">
                <a:latin typeface="Helvetica" pitchFamily="34" charset="0"/>
              </a:rPr>
              <a:t>Request from a staff member</a:t>
            </a:r>
          </a:p>
          <a:p>
            <a:pPr>
              <a:lnSpc>
                <a:spcPct val="120000"/>
              </a:lnSpc>
              <a:spcBef>
                <a:spcPts val="600"/>
              </a:spcBef>
              <a:spcAft>
                <a:spcPts val="600"/>
              </a:spcAft>
            </a:pPr>
            <a:r>
              <a:rPr lang="en-AU" sz="2200" dirty="0" smtClean="0">
                <a:latin typeface="Helvetica" pitchFamily="34" charset="0"/>
              </a:rPr>
              <a:t> A request from management </a:t>
            </a:r>
          </a:p>
          <a:p>
            <a:pPr>
              <a:lnSpc>
                <a:spcPct val="120000"/>
              </a:lnSpc>
              <a:spcBef>
                <a:spcPts val="600"/>
              </a:spcBef>
              <a:spcAft>
                <a:spcPts val="600"/>
              </a:spcAft>
            </a:pPr>
            <a:r>
              <a:rPr lang="en-AU" sz="2200" dirty="0" smtClean="0">
                <a:latin typeface="Helvetica" pitchFamily="34" charset="0"/>
              </a:rPr>
              <a:t>Personal observation</a:t>
            </a:r>
          </a:p>
          <a:p>
            <a:pPr>
              <a:lnSpc>
                <a:spcPct val="120000"/>
              </a:lnSpc>
              <a:spcBef>
                <a:spcPts val="600"/>
              </a:spcBef>
              <a:spcAft>
                <a:spcPts val="600"/>
              </a:spcAft>
            </a:pPr>
            <a:r>
              <a:rPr lang="en-AU" sz="2200" dirty="0" smtClean="0">
                <a:latin typeface="Helvetica" pitchFamily="34" charset="0"/>
              </a:rPr>
              <a:t>Customer complaint</a:t>
            </a:r>
          </a:p>
          <a:p>
            <a:pPr>
              <a:lnSpc>
                <a:spcPct val="120000"/>
              </a:lnSpc>
              <a:spcBef>
                <a:spcPts val="600"/>
              </a:spcBef>
              <a:spcAft>
                <a:spcPts val="600"/>
              </a:spcAft>
            </a:pPr>
            <a:r>
              <a:rPr lang="en-AU" sz="2200" dirty="0" smtClean="0">
                <a:latin typeface="Helvetica" pitchFamily="34" charset="0"/>
              </a:rPr>
              <a:t>Changes in workplace equipment</a:t>
            </a:r>
          </a:p>
          <a:p>
            <a:pPr>
              <a:lnSpc>
                <a:spcPct val="120000"/>
              </a:lnSpc>
              <a:spcBef>
                <a:spcPts val="600"/>
              </a:spcBef>
              <a:spcAft>
                <a:spcPts val="600"/>
              </a:spcAft>
            </a:pPr>
            <a:r>
              <a:rPr lang="en-AU" sz="2200" dirty="0" smtClean="0">
                <a:latin typeface="Helvetica" pitchFamily="34" charset="0"/>
              </a:rPr>
              <a:t>Changes in procedures</a:t>
            </a:r>
          </a:p>
          <a:p>
            <a:pPr>
              <a:lnSpc>
                <a:spcPct val="120000"/>
              </a:lnSpc>
              <a:spcBef>
                <a:spcPts val="600"/>
              </a:spcBef>
              <a:spcAft>
                <a:spcPts val="600"/>
              </a:spcAft>
            </a:pPr>
            <a:r>
              <a:rPr lang="en-AU" sz="2200" dirty="0" smtClean="0">
                <a:latin typeface="Helvetica" pitchFamily="34" charset="0"/>
              </a:rPr>
              <a:t>Changes in legal requirements </a:t>
            </a:r>
          </a:p>
          <a:p>
            <a:pPr>
              <a:lnSpc>
                <a:spcPct val="110000"/>
              </a:lnSpc>
              <a:spcBef>
                <a:spcPts val="600"/>
              </a:spcBef>
              <a:spcAft>
                <a:spcPts val="1200"/>
              </a:spcAft>
            </a:pPr>
            <a:endParaRPr lang="en-AU" sz="2200" dirty="0" smtClean="0"/>
          </a:p>
          <a:p>
            <a:pPr>
              <a:lnSpc>
                <a:spcPct val="110000"/>
              </a:lnSpc>
              <a:spcBef>
                <a:spcPts val="600"/>
              </a:spcBef>
              <a:spcAft>
                <a:spcPts val="1200"/>
              </a:spcAft>
            </a:pPr>
            <a:endParaRPr lang="en-AU" sz="2200" dirty="0">
              <a:latin typeface="Helvetica" pitchFamily="34" charset="0"/>
            </a:endParaRPr>
          </a:p>
        </p:txBody>
      </p:sp>
      <p:pic>
        <p:nvPicPr>
          <p:cNvPr id="6" name="Picture 5" descr="00302919.jpg"/>
          <p:cNvPicPr/>
          <p:nvPr/>
        </p:nvPicPr>
        <p:blipFill>
          <a:blip r:embed="rId3" cstate="print"/>
          <a:stretch>
            <a:fillRect/>
          </a:stretch>
        </p:blipFill>
        <p:spPr>
          <a:xfrm>
            <a:off x="6934200" y="3505200"/>
            <a:ext cx="1469509" cy="1818506"/>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467600" cy="944562"/>
          </a:xfrm>
        </p:spPr>
        <p:txBody>
          <a:bodyPr>
            <a:noAutofit/>
          </a:bodyPr>
          <a:lstStyle/>
          <a:p>
            <a:r>
              <a:rPr lang="en-AU" sz="3400" b="1" dirty="0" smtClean="0">
                <a:solidFill>
                  <a:srgbClr val="FF6600"/>
                </a:solidFill>
                <a:latin typeface="Helvetica" pitchFamily="34" charset="0"/>
              </a:rPr>
              <a:t>Identify operational needs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09600" y="1219200"/>
            <a:ext cx="7620000" cy="5257800"/>
          </a:xfrm>
          <a:prstGeom prst="rect">
            <a:avLst/>
          </a:prstGeom>
        </p:spPr>
        <p:txBody>
          <a:bodyPr>
            <a:normAutofit/>
          </a:bodyPr>
          <a:lstStyle/>
          <a:p>
            <a:pPr marL="0" indent="0">
              <a:spcBef>
                <a:spcPts val="600"/>
              </a:spcBef>
              <a:spcAft>
                <a:spcPts val="1200"/>
              </a:spcAft>
              <a:buNone/>
            </a:pPr>
            <a:r>
              <a:rPr lang="en-AU" sz="2100" b="1" dirty="0" smtClean="0">
                <a:latin typeface="Helvetica" pitchFamily="34" charset="0"/>
              </a:rPr>
              <a:t>Further sources of information to identify training needs</a:t>
            </a:r>
            <a:endParaRPr lang="en-AU" sz="2100" dirty="0" smtClean="0">
              <a:latin typeface="Helvetica" pitchFamily="34" charset="0"/>
            </a:endParaRPr>
          </a:p>
          <a:p>
            <a:pPr lvl="0">
              <a:spcBef>
                <a:spcPts val="600"/>
              </a:spcBef>
              <a:spcAft>
                <a:spcPts val="1200"/>
              </a:spcAft>
            </a:pPr>
            <a:r>
              <a:rPr lang="en-AU" sz="2100" dirty="0" smtClean="0">
                <a:latin typeface="Helvetica" pitchFamily="34" charset="0"/>
              </a:rPr>
              <a:t>Industry/enterprise or other competency standards </a:t>
            </a:r>
          </a:p>
          <a:p>
            <a:pPr lvl="0">
              <a:spcBef>
                <a:spcPts val="600"/>
              </a:spcBef>
              <a:spcAft>
                <a:spcPts val="1200"/>
              </a:spcAft>
            </a:pPr>
            <a:r>
              <a:rPr lang="en-AU" sz="2100" dirty="0" smtClean="0">
                <a:latin typeface="Helvetica" pitchFamily="34" charset="0"/>
              </a:rPr>
              <a:t>Endorsed components of relevant industry training packages </a:t>
            </a:r>
          </a:p>
          <a:p>
            <a:pPr lvl="0">
              <a:spcBef>
                <a:spcPts val="600"/>
              </a:spcBef>
              <a:spcAft>
                <a:spcPts val="1200"/>
              </a:spcAft>
            </a:pPr>
            <a:r>
              <a:rPr lang="en-AU" sz="2100" dirty="0" smtClean="0">
                <a:latin typeface="Helvetica" pitchFamily="34" charset="0"/>
              </a:rPr>
              <a:t>Industry/workplace training practices</a:t>
            </a:r>
          </a:p>
          <a:p>
            <a:pPr lvl="0">
              <a:spcBef>
                <a:spcPts val="600"/>
              </a:spcBef>
              <a:spcAft>
                <a:spcPts val="1200"/>
              </a:spcAft>
            </a:pPr>
            <a:r>
              <a:rPr lang="en-AU" sz="2100" dirty="0" smtClean="0">
                <a:latin typeface="Helvetica" pitchFamily="34" charset="0"/>
              </a:rPr>
              <a:t>Job descriptions </a:t>
            </a:r>
          </a:p>
          <a:p>
            <a:pPr lvl="0">
              <a:spcBef>
                <a:spcPts val="600"/>
              </a:spcBef>
              <a:spcAft>
                <a:spcPts val="1200"/>
              </a:spcAft>
            </a:pPr>
            <a:r>
              <a:rPr lang="en-AU" sz="2100" dirty="0" smtClean="0">
                <a:latin typeface="Helvetica" pitchFamily="34" charset="0"/>
              </a:rPr>
              <a:t>Business plans for the organisation</a:t>
            </a:r>
          </a:p>
          <a:p>
            <a:pPr lvl="0">
              <a:spcBef>
                <a:spcPts val="600"/>
              </a:spcBef>
              <a:spcAft>
                <a:spcPts val="1200"/>
              </a:spcAft>
            </a:pPr>
            <a:r>
              <a:rPr lang="en-AU" sz="2100" dirty="0" smtClean="0">
                <a:latin typeface="Helvetica" pitchFamily="34" charset="0"/>
              </a:rPr>
              <a:t>Standard operating or other workplace </a:t>
            </a:r>
            <a:br>
              <a:rPr lang="en-AU" sz="2100" dirty="0" smtClean="0">
                <a:latin typeface="Helvetica" pitchFamily="34" charset="0"/>
              </a:rPr>
            </a:br>
            <a:r>
              <a:rPr lang="en-AU" sz="2100" dirty="0" smtClean="0">
                <a:latin typeface="Helvetica" pitchFamily="34" charset="0"/>
              </a:rPr>
              <a:t>procedures</a:t>
            </a:r>
          </a:p>
          <a:p>
            <a:pPr>
              <a:spcBef>
                <a:spcPts val="600"/>
              </a:spcBef>
              <a:spcAft>
                <a:spcPts val="1200"/>
              </a:spcAft>
            </a:pPr>
            <a:r>
              <a:rPr lang="en-AU" sz="2100" dirty="0" smtClean="0">
                <a:latin typeface="Helvetica" pitchFamily="34" charset="0"/>
              </a:rPr>
              <a:t>Consulting with others</a:t>
            </a:r>
            <a:endParaRPr lang="en-AU" sz="2100" dirty="0">
              <a:latin typeface="Helvetica" pitchFamily="34" charset="0"/>
            </a:endParaRPr>
          </a:p>
        </p:txBody>
      </p:sp>
      <p:pic>
        <p:nvPicPr>
          <p:cNvPr id="6" name="Picture 5" descr="00422152.jpg"/>
          <p:cNvPicPr/>
          <p:nvPr/>
        </p:nvPicPr>
        <p:blipFill>
          <a:blip r:embed="rId3" cstate="print"/>
          <a:stretch>
            <a:fillRect/>
          </a:stretch>
        </p:blipFill>
        <p:spPr>
          <a:xfrm>
            <a:off x="6705600" y="4191000"/>
            <a:ext cx="1676400" cy="114300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US" sz="3400" b="1" dirty="0" smtClean="0">
                <a:solidFill>
                  <a:srgbClr val="FF6600"/>
                </a:solidFill>
                <a:latin typeface="Helvetica" pitchFamily="34" charset="0"/>
              </a:rPr>
              <a:t>Evaluating staff competencies</a:t>
            </a:r>
          </a:p>
        </p:txBody>
      </p:sp>
      <p:sp>
        <p:nvSpPr>
          <p:cNvPr id="3" name="Content Placeholder 2"/>
          <p:cNvSpPr>
            <a:spLocks noGrp="1"/>
          </p:cNvSpPr>
          <p:nvPr>
            <p:ph idx="1"/>
          </p:nvPr>
        </p:nvSpPr>
        <p:spPr>
          <a:xfrm>
            <a:off x="611560" y="1143000"/>
            <a:ext cx="7920880" cy="4968552"/>
          </a:xfrm>
        </p:spPr>
        <p:txBody>
          <a:bodyPr>
            <a:normAutofit/>
          </a:bodyPr>
          <a:lstStyle/>
          <a:p>
            <a:pPr marL="0">
              <a:spcBef>
                <a:spcPts val="600"/>
              </a:spcBef>
              <a:spcAft>
                <a:spcPts val="1200"/>
              </a:spcAft>
              <a:buNone/>
            </a:pPr>
            <a:r>
              <a:rPr lang="en-AU" sz="2200" b="1" dirty="0" smtClean="0">
                <a:latin typeface="Helvetica" pitchFamily="34" charset="0"/>
              </a:rPr>
              <a:t>Determining </a:t>
            </a:r>
            <a:r>
              <a:rPr lang="en-AU" sz="2200" b="1" dirty="0" smtClean="0">
                <a:latin typeface="Helvetica" pitchFamily="34" charset="0"/>
              </a:rPr>
              <a:t>existing competency levels to cater for anticipated demand</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is competency?</a:t>
            </a:r>
          </a:p>
          <a:p>
            <a:pPr lvl="0">
              <a:spcBef>
                <a:spcPts val="600"/>
              </a:spcBef>
              <a:spcAft>
                <a:spcPts val="1200"/>
              </a:spcAft>
            </a:pPr>
            <a:r>
              <a:rPr lang="en-AU" sz="2200" dirty="0" smtClean="0">
                <a:latin typeface="Helvetica" pitchFamily="34" charset="0"/>
              </a:rPr>
              <a:t>How can you determine existing competency levels?</a:t>
            </a:r>
          </a:p>
          <a:p>
            <a:pPr>
              <a:spcBef>
                <a:spcPts val="600"/>
              </a:spcBef>
              <a:spcAft>
                <a:spcPts val="1200"/>
              </a:spcAft>
            </a:pPr>
            <a:r>
              <a:rPr lang="en-AU" sz="2200" dirty="0" smtClean="0">
                <a:latin typeface="Helvetica" pitchFamily="34" charset="0"/>
              </a:rPr>
              <a:t>How can you determine anticipated demand?</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7" name="Picture 6" descr="00443055.jpg"/>
          <p:cNvPicPr/>
          <p:nvPr/>
        </p:nvPicPr>
        <p:blipFill>
          <a:blip r:embed="rId3" cstate="print"/>
          <a:stretch>
            <a:fillRect/>
          </a:stretch>
        </p:blipFill>
        <p:spPr>
          <a:xfrm>
            <a:off x="7162800" y="3276600"/>
            <a:ext cx="1179195" cy="176212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US" sz="3400" b="1" dirty="0" smtClean="0">
                <a:solidFill>
                  <a:srgbClr val="FF6600"/>
                </a:solidFill>
                <a:latin typeface="Helvetica" pitchFamily="34" charset="0"/>
              </a:rPr>
              <a:t>Identifying staff competencies</a:t>
            </a:r>
          </a:p>
        </p:txBody>
      </p:sp>
      <p:sp>
        <p:nvSpPr>
          <p:cNvPr id="3" name="Content Placeholder 2"/>
          <p:cNvSpPr>
            <a:spLocks noGrp="1"/>
          </p:cNvSpPr>
          <p:nvPr>
            <p:ph idx="1"/>
          </p:nvPr>
        </p:nvSpPr>
        <p:spPr>
          <a:xfrm>
            <a:off x="611560" y="1143000"/>
            <a:ext cx="7920880" cy="5334000"/>
          </a:xfrm>
        </p:spPr>
        <p:txBody>
          <a:bodyPr>
            <a:normAutofit/>
          </a:bodyPr>
          <a:lstStyle/>
          <a:p>
            <a:pPr marL="0">
              <a:spcBef>
                <a:spcPts val="600"/>
              </a:spcBef>
              <a:spcAft>
                <a:spcPts val="1200"/>
              </a:spcAft>
              <a:buNone/>
            </a:pPr>
            <a:r>
              <a:rPr lang="en-AU" sz="2200" b="1" dirty="0" smtClean="0">
                <a:latin typeface="Helvetica" pitchFamily="34" charset="0"/>
              </a:rPr>
              <a:t>Determining existing competency levels</a:t>
            </a:r>
          </a:p>
          <a:p>
            <a:pPr marL="0">
              <a:spcBef>
                <a:spcPts val="600"/>
              </a:spcBef>
              <a:spcAft>
                <a:spcPts val="1200"/>
              </a:spcAft>
            </a:pPr>
            <a:r>
              <a:rPr lang="en-AU" sz="2200" dirty="0" smtClean="0">
                <a:latin typeface="Helvetica" pitchFamily="34" charset="0"/>
              </a:rPr>
              <a:t>Review their personnel file</a:t>
            </a:r>
          </a:p>
          <a:p>
            <a:pPr marL="0">
              <a:spcBef>
                <a:spcPts val="600"/>
              </a:spcBef>
              <a:spcAft>
                <a:spcPts val="1200"/>
              </a:spcAft>
            </a:pPr>
            <a:r>
              <a:rPr lang="en-AU" sz="2200" dirty="0" smtClean="0">
                <a:latin typeface="Helvetica" pitchFamily="34" charset="0"/>
              </a:rPr>
              <a:t>Talk to people</a:t>
            </a:r>
          </a:p>
          <a:p>
            <a:pPr marL="0">
              <a:spcBef>
                <a:spcPts val="600"/>
              </a:spcBef>
              <a:spcAft>
                <a:spcPts val="1200"/>
              </a:spcAft>
            </a:pPr>
            <a:r>
              <a:rPr lang="en-AU" sz="2200" dirty="0" smtClean="0">
                <a:latin typeface="Helvetica" pitchFamily="34" charset="0"/>
              </a:rPr>
              <a:t>Observation</a:t>
            </a:r>
          </a:p>
          <a:p>
            <a:pPr marL="0">
              <a:spcBef>
                <a:spcPts val="600"/>
              </a:spcBef>
              <a:spcAft>
                <a:spcPts val="1200"/>
              </a:spcAft>
            </a:pPr>
            <a:r>
              <a:rPr lang="en-AU" sz="2200" dirty="0" smtClean="0">
                <a:latin typeface="Helvetica" pitchFamily="34" charset="0"/>
              </a:rPr>
              <a:t>Trainer collecting competency evidence</a:t>
            </a:r>
          </a:p>
          <a:p>
            <a:pPr marL="0">
              <a:spcBef>
                <a:spcPts val="600"/>
              </a:spcBef>
              <a:spcAft>
                <a:spcPts val="1200"/>
              </a:spcAft>
            </a:pPr>
            <a:r>
              <a:rPr lang="en-AU" sz="2200" dirty="0" smtClean="0">
                <a:latin typeface="Helvetica" pitchFamily="34" charset="0"/>
              </a:rPr>
              <a:t>Others collecting competency evidence</a:t>
            </a:r>
          </a:p>
          <a:p>
            <a:pPr marL="0">
              <a:spcBef>
                <a:spcPts val="600"/>
              </a:spcBef>
              <a:spcAft>
                <a:spcPts val="1200"/>
              </a:spcAft>
            </a:pPr>
            <a:r>
              <a:rPr lang="en-AU" sz="2200" dirty="0" smtClean="0">
                <a:latin typeface="Helvetica" pitchFamily="34" charset="0"/>
              </a:rPr>
              <a:t>Assessments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Picture 5" descr="MP900399181.JPG"/>
          <p:cNvPicPr/>
          <p:nvPr/>
        </p:nvPicPr>
        <p:blipFill>
          <a:blip r:embed="rId3" cstate="print"/>
          <a:stretch>
            <a:fillRect/>
          </a:stretch>
        </p:blipFill>
        <p:spPr>
          <a:xfrm>
            <a:off x="6629400" y="4191000"/>
            <a:ext cx="1781175" cy="101917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467600" cy="944562"/>
          </a:xfrm>
        </p:spPr>
        <p:txBody>
          <a:bodyPr>
            <a:noAutofit/>
          </a:bodyPr>
          <a:lstStyle/>
          <a:p>
            <a:r>
              <a:rPr lang="en-US" sz="3400" b="1" dirty="0" smtClean="0">
                <a:solidFill>
                  <a:srgbClr val="FF6600"/>
                </a:solidFill>
                <a:latin typeface="Helvetica" pitchFamily="34" charset="0"/>
              </a:rPr>
              <a:t>Identifying staff competencies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19200"/>
            <a:ext cx="7616952" cy="4876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Training needs analysis </a:t>
            </a:r>
            <a:endParaRPr lang="en-AU" sz="2200" dirty="0" smtClean="0">
              <a:latin typeface="Helvetica" pitchFamily="34" charset="0"/>
            </a:endParaRPr>
          </a:p>
          <a:p>
            <a:pPr marL="0" indent="0">
              <a:spcBef>
                <a:spcPts val="600"/>
              </a:spcBef>
              <a:spcAft>
                <a:spcPts val="1200"/>
              </a:spcAft>
              <a:buNone/>
            </a:pPr>
            <a:r>
              <a:rPr lang="en-AU" sz="2200" dirty="0" smtClean="0">
                <a:latin typeface="Helvetica" pitchFamily="34" charset="0"/>
              </a:rPr>
              <a:t>TNA </a:t>
            </a:r>
            <a:r>
              <a:rPr lang="en-AU" sz="2200" dirty="0" smtClean="0">
                <a:latin typeface="Helvetica" pitchFamily="34" charset="0"/>
              </a:rPr>
              <a:t>is a way of identifying the difference that exists between: </a:t>
            </a:r>
          </a:p>
          <a:p>
            <a:pPr>
              <a:spcBef>
                <a:spcPts val="600"/>
              </a:spcBef>
              <a:spcAft>
                <a:spcPts val="1200"/>
              </a:spcAft>
            </a:pPr>
            <a:r>
              <a:rPr lang="en-AU" sz="2200" dirty="0" smtClean="0">
                <a:latin typeface="Helvetica" pitchFamily="34" charset="0"/>
              </a:rPr>
              <a:t>The work which staff are performing </a:t>
            </a:r>
          </a:p>
          <a:p>
            <a:pPr>
              <a:spcBef>
                <a:spcPts val="600"/>
              </a:spcBef>
              <a:spcAft>
                <a:spcPts val="1200"/>
              </a:spcAft>
            </a:pPr>
            <a:r>
              <a:rPr lang="en-AU" sz="2200" dirty="0" smtClean="0">
                <a:latin typeface="Helvetica" pitchFamily="34" charset="0"/>
              </a:rPr>
              <a:t>The standard of performance required by the business</a:t>
            </a:r>
          </a:p>
          <a:p>
            <a:pPr>
              <a:spcBef>
                <a:spcPts val="600"/>
              </a:spcBef>
              <a:spcAft>
                <a:spcPts val="1200"/>
              </a:spcAft>
            </a:pPr>
            <a:r>
              <a:rPr lang="en-AU" sz="2200" dirty="0" smtClean="0">
                <a:latin typeface="Helvetica" pitchFamily="34" charset="0"/>
              </a:rPr>
              <a:t>This difference is known as </a:t>
            </a:r>
            <a:br>
              <a:rPr lang="en-AU" sz="2200" dirty="0" smtClean="0">
                <a:latin typeface="Helvetica" pitchFamily="34" charset="0"/>
              </a:rPr>
            </a:br>
            <a:r>
              <a:rPr lang="en-AU" sz="2200" dirty="0" smtClean="0">
                <a:latin typeface="Helvetica" pitchFamily="34" charset="0"/>
              </a:rPr>
              <a:t>‘the training gap’</a:t>
            </a:r>
          </a:p>
        </p:txBody>
      </p:sp>
      <p:pic>
        <p:nvPicPr>
          <p:cNvPr id="7" name="Picture 6" descr="Event 25.JPG"/>
          <p:cNvPicPr>
            <a:picLocks noChangeAspect="1"/>
          </p:cNvPicPr>
          <p:nvPr/>
        </p:nvPicPr>
        <p:blipFill>
          <a:blip r:embed="rId3" cstate="print"/>
          <a:stretch>
            <a:fillRect/>
          </a:stretch>
        </p:blipFill>
        <p:spPr>
          <a:xfrm>
            <a:off x="6406480" y="3962400"/>
            <a:ext cx="2051720" cy="153879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0838"/>
            <a:ext cx="7467600" cy="944562"/>
          </a:xfrm>
        </p:spPr>
        <p:txBody>
          <a:bodyPr>
            <a:noAutofit/>
          </a:bodyPr>
          <a:lstStyle/>
          <a:p>
            <a:r>
              <a:rPr lang="en-US" sz="3400" b="1" dirty="0" smtClean="0">
                <a:solidFill>
                  <a:srgbClr val="FF6600"/>
                </a:solidFill>
                <a:latin typeface="Helvetica" pitchFamily="34" charset="0"/>
              </a:rPr>
              <a:t>Identifying required competencies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95400"/>
            <a:ext cx="7540752" cy="50292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Identifying expected competency standards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Job descriptions</a:t>
            </a:r>
          </a:p>
          <a:p>
            <a:pPr lvl="0">
              <a:spcBef>
                <a:spcPts val="600"/>
              </a:spcBef>
              <a:spcAft>
                <a:spcPts val="1200"/>
              </a:spcAft>
            </a:pPr>
            <a:r>
              <a:rPr lang="en-AU" sz="2200" dirty="0" smtClean="0">
                <a:latin typeface="Helvetica" pitchFamily="34" charset="0"/>
              </a:rPr>
              <a:t>Job Specifications</a:t>
            </a:r>
          </a:p>
          <a:p>
            <a:pPr lvl="0">
              <a:spcBef>
                <a:spcPts val="600"/>
              </a:spcBef>
              <a:spcAft>
                <a:spcPts val="1200"/>
              </a:spcAft>
            </a:pPr>
            <a:r>
              <a:rPr lang="en-AU" sz="2200" dirty="0" smtClean="0">
                <a:latin typeface="Helvetica" pitchFamily="34" charset="0"/>
              </a:rPr>
              <a:t>Key Performance Indicators</a:t>
            </a:r>
          </a:p>
          <a:p>
            <a:pPr lvl="0">
              <a:spcBef>
                <a:spcPts val="600"/>
              </a:spcBef>
              <a:spcAft>
                <a:spcPts val="1200"/>
              </a:spcAft>
            </a:pPr>
            <a:r>
              <a:rPr lang="en-AU" sz="2200" dirty="0" smtClean="0">
                <a:latin typeface="Helvetica" pitchFamily="34" charset="0"/>
              </a:rPr>
              <a:t>Policies and Procedures</a:t>
            </a:r>
          </a:p>
          <a:p>
            <a:pPr>
              <a:spcBef>
                <a:spcPts val="600"/>
              </a:spcBef>
              <a:spcAft>
                <a:spcPts val="1200"/>
              </a:spcAft>
            </a:pPr>
            <a:r>
              <a:rPr lang="en-AU" sz="2200" dirty="0" smtClean="0">
                <a:latin typeface="Helvetica" pitchFamily="34" charset="0"/>
              </a:rPr>
              <a:t>Performance Indicators</a:t>
            </a:r>
            <a:endParaRPr lang="en-AU" sz="2200" dirty="0">
              <a:latin typeface="Helvetica" pitchFamily="34" charset="0"/>
            </a:endParaRPr>
          </a:p>
        </p:txBody>
      </p:sp>
      <p:pic>
        <p:nvPicPr>
          <p:cNvPr id="6" name="Picture 5" descr="MP910216578[1].JPG"/>
          <p:cNvPicPr/>
          <p:nvPr/>
        </p:nvPicPr>
        <p:blipFill>
          <a:blip r:embed="rId3" cstate="print"/>
          <a:stretch>
            <a:fillRect/>
          </a:stretch>
        </p:blipFill>
        <p:spPr>
          <a:xfrm>
            <a:off x="6477000" y="3962400"/>
            <a:ext cx="1981200" cy="137160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467600" cy="838200"/>
          </a:xfrm>
        </p:spPr>
        <p:txBody>
          <a:bodyPr>
            <a:noAutofit/>
          </a:bodyPr>
          <a:lstStyle/>
          <a:p>
            <a:r>
              <a:rPr lang="en-US" sz="3400" b="1" dirty="0" smtClean="0">
                <a:solidFill>
                  <a:srgbClr val="FF6600"/>
                </a:solidFill>
                <a:latin typeface="Helvetica" pitchFamily="34" charset="0"/>
              </a:rPr>
              <a:t>Factors affecting </a:t>
            </a:r>
            <a:r>
              <a:rPr lang="en-US" sz="3400" b="1" dirty="0" smtClean="0">
                <a:solidFill>
                  <a:srgbClr val="FF6600"/>
                </a:solidFill>
                <a:latin typeface="Helvetica" pitchFamily="34" charset="0"/>
              </a:rPr>
              <a:t>human resources </a:t>
            </a:r>
            <a:r>
              <a:rPr lang="en-US" sz="3400" b="1" dirty="0" smtClean="0">
                <a:solidFill>
                  <a:srgbClr val="FF6600"/>
                </a:solidFill>
                <a:latin typeface="Helvetica" pitchFamily="34" charset="0"/>
              </a:rPr>
              <a:t>requirements</a:t>
            </a:r>
            <a:endParaRPr lang="en-AU" sz="3400"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19200"/>
            <a:ext cx="7616952" cy="50292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Evaluating impact of external and internal impacts</a:t>
            </a:r>
          </a:p>
          <a:p>
            <a:pPr marL="0">
              <a:spcBef>
                <a:spcPts val="600"/>
              </a:spcBef>
              <a:spcAft>
                <a:spcPts val="1200"/>
              </a:spcAft>
              <a:buNone/>
            </a:pPr>
            <a:r>
              <a:rPr lang="en-AU" sz="2200" dirty="0" smtClean="0">
                <a:latin typeface="Helvetica" pitchFamily="34" charset="0"/>
              </a:rPr>
              <a:t>Before staff are hired, developed or dismissed there must be an analysis of external and internal factors impacting the business and the need for staff:</a:t>
            </a:r>
          </a:p>
          <a:p>
            <a:pPr>
              <a:spcBef>
                <a:spcPts val="600"/>
              </a:spcBef>
              <a:spcAft>
                <a:spcPts val="1200"/>
              </a:spcAft>
            </a:pPr>
            <a:r>
              <a:rPr lang="en-AU" sz="2200" dirty="0" smtClean="0">
                <a:latin typeface="Helvetica" pitchFamily="34" charset="0"/>
              </a:rPr>
              <a:t>What are possible external factors?</a:t>
            </a:r>
          </a:p>
          <a:p>
            <a:pPr>
              <a:spcBef>
                <a:spcPts val="600"/>
              </a:spcBef>
              <a:spcAft>
                <a:spcPts val="1200"/>
              </a:spcAft>
            </a:pPr>
            <a:r>
              <a:rPr lang="en-AU" sz="2200" dirty="0" smtClean="0">
                <a:latin typeface="Helvetica" pitchFamily="34" charset="0"/>
              </a:rPr>
              <a:t>What are possible internal factors?</a:t>
            </a:r>
          </a:p>
          <a:p>
            <a:pPr>
              <a:buNone/>
            </a:pPr>
            <a:endParaRPr lang="en-AU" sz="2400" dirty="0"/>
          </a:p>
        </p:txBody>
      </p:sp>
      <p:pic>
        <p:nvPicPr>
          <p:cNvPr id="7" name="Picture 6" descr="MP900285031[1].JPG"/>
          <p:cNvPicPr/>
          <p:nvPr/>
        </p:nvPicPr>
        <p:blipFill>
          <a:blip r:embed="rId3" cstate="print"/>
          <a:stretch>
            <a:fillRect/>
          </a:stretch>
        </p:blipFill>
        <p:spPr>
          <a:xfrm>
            <a:off x="6600825" y="4114800"/>
            <a:ext cx="1857375" cy="120015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fontScale="90000"/>
          </a:bodyPr>
          <a:lstStyle/>
          <a:p>
            <a:r>
              <a:rPr lang="en-US" sz="3400" b="1" dirty="0" smtClean="0">
                <a:solidFill>
                  <a:srgbClr val="FF6600"/>
                </a:solidFill>
                <a:latin typeface="Helvetica" pitchFamily="34" charset="0"/>
              </a:rPr>
              <a:t>Factors affecting </a:t>
            </a:r>
            <a:r>
              <a:rPr lang="en-US" sz="3400" b="1" dirty="0" smtClean="0">
                <a:solidFill>
                  <a:srgbClr val="FF6600"/>
                </a:solidFill>
                <a:latin typeface="Helvetica" pitchFamily="34" charset="0"/>
              </a:rPr>
              <a:t>human resources </a:t>
            </a:r>
            <a:r>
              <a:rPr lang="en-US" sz="3400" b="1" dirty="0" smtClean="0">
                <a:solidFill>
                  <a:srgbClr val="FF6600"/>
                </a:solidFill>
                <a:latin typeface="Helvetica" pitchFamily="34" charset="0"/>
              </a:rPr>
              <a:t>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1437"/>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External factors </a:t>
            </a:r>
          </a:p>
          <a:p>
            <a:pPr marL="360000" indent="-360000">
              <a:spcBef>
                <a:spcPts val="600"/>
              </a:spcBef>
              <a:spcAft>
                <a:spcPts val="1200"/>
              </a:spcAft>
            </a:pPr>
            <a:r>
              <a:rPr lang="en-AU" sz="2200" dirty="0" smtClean="0">
                <a:latin typeface="Helvetica" pitchFamily="34" charset="0"/>
              </a:rPr>
              <a:t>The external business environment</a:t>
            </a:r>
          </a:p>
          <a:p>
            <a:pPr marL="360000" indent="-360000">
              <a:spcBef>
                <a:spcPts val="600"/>
              </a:spcBef>
              <a:spcAft>
                <a:spcPts val="1200"/>
              </a:spcAft>
            </a:pPr>
            <a:r>
              <a:rPr lang="en-AU" sz="2200" dirty="0" smtClean="0">
                <a:latin typeface="Helvetica" pitchFamily="34" charset="0"/>
              </a:rPr>
              <a:t>Customer expectations</a:t>
            </a:r>
          </a:p>
          <a:p>
            <a:pPr marL="360000" indent="-360000">
              <a:spcBef>
                <a:spcPts val="600"/>
              </a:spcBef>
              <a:spcAft>
                <a:spcPts val="1200"/>
              </a:spcAft>
            </a:pPr>
            <a:r>
              <a:rPr lang="en-AU" sz="2200" dirty="0" smtClean="0">
                <a:latin typeface="Helvetica" pitchFamily="34" charset="0"/>
              </a:rPr>
              <a:t>Emerging trends</a:t>
            </a:r>
          </a:p>
          <a:p>
            <a:pPr marL="360000" indent="-360000">
              <a:spcBef>
                <a:spcPts val="600"/>
              </a:spcBef>
              <a:spcAft>
                <a:spcPts val="1200"/>
              </a:spcAft>
            </a:pPr>
            <a:r>
              <a:rPr lang="en-AU" sz="2200" dirty="0" smtClean="0">
                <a:latin typeface="Helvetica" pitchFamily="34" charset="0"/>
              </a:rPr>
              <a:t>Changes in legislation and technology</a:t>
            </a:r>
          </a:p>
          <a:p>
            <a:pPr marL="360000" indent="-360000">
              <a:spcBef>
                <a:spcPts val="600"/>
              </a:spcBef>
              <a:spcAft>
                <a:spcPts val="1200"/>
              </a:spcAft>
            </a:pPr>
            <a:r>
              <a:rPr lang="en-AU" sz="2200" dirty="0" smtClean="0">
                <a:latin typeface="Helvetica" pitchFamily="34" charset="0"/>
              </a:rPr>
              <a:t>Availability of staff</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00385575.jpg"/>
          <p:cNvPicPr>
            <a:picLocks noChangeAspect="1"/>
          </p:cNvPicPr>
          <p:nvPr/>
        </p:nvPicPr>
        <p:blipFill>
          <a:blip r:embed="rId3" cstate="print"/>
          <a:stretch>
            <a:fillRect/>
          </a:stretch>
        </p:blipFill>
        <p:spPr>
          <a:xfrm>
            <a:off x="6934200" y="3230880"/>
            <a:ext cx="1505609" cy="210785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fontScale="90000"/>
          </a:bodyPr>
          <a:lstStyle/>
          <a:p>
            <a:r>
              <a:rPr lang="en-US" sz="3400" b="1" dirty="0" smtClean="0">
                <a:solidFill>
                  <a:srgbClr val="FF6600"/>
                </a:solidFill>
                <a:latin typeface="Helvetica" pitchFamily="34" charset="0"/>
              </a:rPr>
              <a:t>Factors affecting </a:t>
            </a:r>
            <a:r>
              <a:rPr lang="en-US" sz="3400" b="1" dirty="0" smtClean="0">
                <a:solidFill>
                  <a:srgbClr val="FF6600"/>
                </a:solidFill>
                <a:latin typeface="Helvetica" pitchFamily="34" charset="0"/>
              </a:rPr>
              <a:t>human resources </a:t>
            </a:r>
            <a:r>
              <a:rPr lang="en-US" sz="3400" b="1" dirty="0" smtClean="0">
                <a:solidFill>
                  <a:srgbClr val="FF6600"/>
                </a:solidFill>
                <a:latin typeface="Helvetica" pitchFamily="34" charset="0"/>
              </a:rPr>
              <a:t>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5257800"/>
          </a:xfrm>
        </p:spPr>
        <p:txBody>
          <a:bodyPr>
            <a:normAutofit/>
          </a:bodyPr>
          <a:lstStyle/>
          <a:p>
            <a:pPr marL="0" indent="0">
              <a:spcBef>
                <a:spcPts val="600"/>
              </a:spcBef>
              <a:spcAft>
                <a:spcPts val="1200"/>
              </a:spcAft>
              <a:buNone/>
            </a:pPr>
            <a:r>
              <a:rPr lang="en-AU" sz="2200" b="1" dirty="0" smtClean="0">
                <a:latin typeface="Helvetica" pitchFamily="34" charset="0"/>
              </a:rPr>
              <a:t>Internal factors </a:t>
            </a:r>
          </a:p>
          <a:p>
            <a:pPr marL="360000" indent="-360000">
              <a:spcBef>
                <a:spcPts val="600"/>
              </a:spcBef>
              <a:spcAft>
                <a:spcPts val="1200"/>
              </a:spcAft>
            </a:pPr>
            <a:r>
              <a:rPr lang="en-AU" sz="2200" dirty="0" smtClean="0">
                <a:latin typeface="Helvetica" pitchFamily="34" charset="0"/>
              </a:rPr>
              <a:t>Labour budget</a:t>
            </a:r>
          </a:p>
          <a:p>
            <a:pPr marL="360000" indent="-360000">
              <a:spcBef>
                <a:spcPts val="600"/>
              </a:spcBef>
              <a:spcAft>
                <a:spcPts val="1200"/>
              </a:spcAft>
            </a:pPr>
            <a:r>
              <a:rPr lang="en-AU" sz="2200" dirty="0" smtClean="0">
                <a:latin typeface="Helvetica" pitchFamily="34" charset="0"/>
              </a:rPr>
              <a:t>Existing staff</a:t>
            </a:r>
          </a:p>
          <a:p>
            <a:pPr marL="360000" indent="-360000">
              <a:spcBef>
                <a:spcPts val="600"/>
              </a:spcBef>
              <a:spcAft>
                <a:spcPts val="1200"/>
              </a:spcAft>
            </a:pPr>
            <a:r>
              <a:rPr lang="en-AU" sz="2200" dirty="0" smtClean="0">
                <a:latin typeface="Helvetica" pitchFamily="34" charset="0"/>
              </a:rPr>
              <a:t>Service standards</a:t>
            </a:r>
          </a:p>
          <a:p>
            <a:pPr marL="360000" indent="-360000">
              <a:spcBef>
                <a:spcPts val="600"/>
              </a:spcBef>
              <a:spcAft>
                <a:spcPts val="1200"/>
              </a:spcAft>
            </a:pPr>
            <a:r>
              <a:rPr lang="en-AU" sz="2200" dirty="0" smtClean="0">
                <a:latin typeface="Helvetica" pitchFamily="34" charset="0"/>
              </a:rPr>
              <a:t>Trading hours</a:t>
            </a:r>
          </a:p>
          <a:p>
            <a:pPr marL="360000" indent="-360000">
              <a:spcBef>
                <a:spcPts val="600"/>
              </a:spcBef>
              <a:spcAft>
                <a:spcPts val="1200"/>
              </a:spcAft>
            </a:pPr>
            <a:r>
              <a:rPr lang="en-AU" sz="2200" dirty="0" smtClean="0">
                <a:latin typeface="Helvetica" pitchFamily="34" charset="0"/>
              </a:rPr>
              <a:t>Volume of customers</a:t>
            </a:r>
          </a:p>
          <a:p>
            <a:pPr marL="360000" indent="-360000">
              <a:spcBef>
                <a:spcPts val="600"/>
              </a:spcBef>
              <a:spcAft>
                <a:spcPts val="1200"/>
              </a:spcAft>
            </a:pPr>
            <a:r>
              <a:rPr lang="en-AU" sz="2200" dirty="0" smtClean="0">
                <a:latin typeface="Helvetica" pitchFamily="34" charset="0"/>
              </a:rPr>
              <a:t>Peak demand</a:t>
            </a:r>
          </a:p>
          <a:p>
            <a:pPr marL="360000" indent="-36000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j0442522.jpg"/>
          <p:cNvPicPr>
            <a:picLocks noChangeAspect="1"/>
          </p:cNvPicPr>
          <p:nvPr/>
        </p:nvPicPr>
        <p:blipFill>
          <a:blip r:embed="rId3" cstate="print"/>
          <a:stretch>
            <a:fillRect/>
          </a:stretch>
        </p:blipFill>
        <p:spPr>
          <a:xfrm>
            <a:off x="6471084" y="4038600"/>
            <a:ext cx="1987116" cy="132474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fontScale="90000"/>
          </a:bodyPr>
          <a:lstStyle/>
          <a:p>
            <a:r>
              <a:rPr lang="en-AU" sz="3400" b="1" dirty="0" smtClean="0">
                <a:solidFill>
                  <a:srgbClr val="FF6600"/>
                </a:solidFill>
                <a:latin typeface="Helvetica" pitchFamily="34" charset="0"/>
              </a:rPr>
              <a:t>Factors affecting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requirements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1437"/>
            <a:ext cx="7467600" cy="4525963"/>
          </a:xfrm>
        </p:spPr>
        <p:txBody>
          <a:bodyPr>
            <a:normAutofit/>
          </a:bodyPr>
          <a:lstStyle/>
          <a:p>
            <a:pPr marL="360000" indent="-360000">
              <a:spcBef>
                <a:spcPts val="600"/>
              </a:spcBef>
              <a:spcAft>
                <a:spcPts val="1200"/>
              </a:spcAft>
              <a:buNone/>
            </a:pPr>
            <a:r>
              <a:rPr lang="en-AU" sz="2200" b="1" dirty="0" smtClean="0">
                <a:latin typeface="Helvetica" pitchFamily="34" charset="0"/>
              </a:rPr>
              <a:t>Internal factors </a:t>
            </a:r>
          </a:p>
          <a:p>
            <a:pPr marL="360000" indent="-360000">
              <a:spcBef>
                <a:spcPts val="600"/>
              </a:spcBef>
              <a:spcAft>
                <a:spcPts val="1200"/>
              </a:spcAft>
            </a:pPr>
            <a:r>
              <a:rPr lang="en-AU" sz="2200" dirty="0" smtClean="0">
                <a:latin typeface="Helvetica" pitchFamily="34" charset="0"/>
              </a:rPr>
              <a:t>Nature and type of customers</a:t>
            </a:r>
          </a:p>
          <a:p>
            <a:pPr marL="360000" indent="-360000">
              <a:spcBef>
                <a:spcPts val="600"/>
              </a:spcBef>
              <a:spcAft>
                <a:spcPts val="1200"/>
              </a:spcAft>
            </a:pPr>
            <a:r>
              <a:rPr lang="en-AU" sz="2200" dirty="0" smtClean="0">
                <a:latin typeface="Helvetica" pitchFamily="34" charset="0"/>
              </a:rPr>
              <a:t>The business itself</a:t>
            </a:r>
          </a:p>
          <a:p>
            <a:pPr marL="360000" indent="-360000">
              <a:spcBef>
                <a:spcPts val="600"/>
              </a:spcBef>
              <a:spcAft>
                <a:spcPts val="1200"/>
              </a:spcAft>
            </a:pPr>
            <a:r>
              <a:rPr lang="en-AU" sz="2200" dirty="0" smtClean="0">
                <a:latin typeface="Helvetica" pitchFamily="34" charset="0"/>
              </a:rPr>
              <a:t>Service offered</a:t>
            </a:r>
          </a:p>
          <a:p>
            <a:pPr marL="360000" indent="-360000">
              <a:spcBef>
                <a:spcPts val="600"/>
              </a:spcBef>
              <a:spcAft>
                <a:spcPts val="1200"/>
              </a:spcAft>
            </a:pPr>
            <a:r>
              <a:rPr lang="en-AU" sz="2200" dirty="0" smtClean="0">
                <a:latin typeface="Helvetica" pitchFamily="34" charset="0"/>
              </a:rPr>
              <a:t>Equipment used</a:t>
            </a:r>
          </a:p>
          <a:p>
            <a:pPr marL="360000" indent="-360000">
              <a:spcBef>
                <a:spcPts val="600"/>
              </a:spcBef>
              <a:spcAft>
                <a:spcPts val="1200"/>
              </a:spcAft>
            </a:pPr>
            <a:r>
              <a:rPr lang="en-AU" sz="2200" dirty="0" smtClean="0">
                <a:latin typeface="Helvetica" pitchFamily="34" charset="0"/>
              </a:rPr>
              <a:t>Promises made to customers</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6" name="Picture 5" descr="00409015.jpg"/>
          <p:cNvPicPr>
            <a:picLocks noChangeAspect="1"/>
          </p:cNvPicPr>
          <p:nvPr/>
        </p:nvPicPr>
        <p:blipFill>
          <a:blip r:embed="rId3" cstate="print"/>
          <a:stretch>
            <a:fillRect/>
          </a:stretch>
        </p:blipFill>
        <p:spPr>
          <a:xfrm>
            <a:off x="6705600" y="3607296"/>
            <a:ext cx="1718273" cy="1726704"/>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fontScale="90000"/>
          </a:bodyPr>
          <a:lstStyle/>
          <a:p>
            <a:r>
              <a:rPr lang="en-US" sz="3400" b="1" dirty="0" smtClean="0">
                <a:solidFill>
                  <a:srgbClr val="FF6600"/>
                </a:solidFill>
                <a:latin typeface="Helvetica" pitchFamily="34" charset="0"/>
              </a:rPr>
              <a:t>Determine key </a:t>
            </a:r>
            <a:r>
              <a:rPr lang="en-US" sz="3400" b="1" dirty="0" smtClean="0">
                <a:solidFill>
                  <a:srgbClr val="FF6600"/>
                </a:solidFill>
                <a:latin typeface="Helvetica" pitchFamily="34" charset="0"/>
              </a:rPr>
              <a:t>human resources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1437"/>
            <a:ext cx="7467600" cy="4525963"/>
          </a:xfrm>
        </p:spPr>
        <p:txBody>
          <a:bodyPr>
            <a:normAutofit/>
          </a:bodyPr>
          <a:lstStyle/>
          <a:p>
            <a:pPr>
              <a:spcBef>
                <a:spcPts val="600"/>
              </a:spcBef>
              <a:spcAft>
                <a:spcPts val="1200"/>
              </a:spcAft>
              <a:buNone/>
            </a:pPr>
            <a:r>
              <a:rPr lang="en-AU" sz="2200" b="1" dirty="0" smtClean="0">
                <a:latin typeface="Helvetica" pitchFamily="34" charset="0"/>
              </a:rPr>
              <a:t>Common HR issues</a:t>
            </a:r>
          </a:p>
          <a:p>
            <a:pPr marL="360000" indent="-360000">
              <a:spcBef>
                <a:spcPts val="600"/>
              </a:spcBef>
              <a:spcAft>
                <a:spcPts val="1200"/>
              </a:spcAft>
            </a:pPr>
            <a:r>
              <a:rPr lang="en-AU" sz="2200" dirty="0" smtClean="0">
                <a:latin typeface="Helvetica" pitchFamily="34" charset="0"/>
              </a:rPr>
              <a:t>Ensuring correct staff categories</a:t>
            </a:r>
          </a:p>
          <a:p>
            <a:pPr marL="360000" indent="-360000">
              <a:spcBef>
                <a:spcPts val="600"/>
              </a:spcBef>
              <a:spcAft>
                <a:spcPts val="1200"/>
              </a:spcAft>
            </a:pPr>
            <a:r>
              <a:rPr lang="en-AU" sz="2200" dirty="0" smtClean="0">
                <a:latin typeface="Helvetica" pitchFamily="34" charset="0"/>
              </a:rPr>
              <a:t>Coverage of staff movement</a:t>
            </a:r>
          </a:p>
          <a:p>
            <a:pPr marL="360000" indent="-360000">
              <a:spcBef>
                <a:spcPts val="600"/>
              </a:spcBef>
              <a:spcAft>
                <a:spcPts val="1200"/>
              </a:spcAft>
            </a:pPr>
            <a:r>
              <a:rPr lang="en-AU" sz="2200" dirty="0" smtClean="0">
                <a:latin typeface="Helvetica" pitchFamily="34" charset="0"/>
              </a:rPr>
              <a:t>Unpredictable staff movement </a:t>
            </a:r>
          </a:p>
          <a:p>
            <a:pPr marL="360000" indent="-360000">
              <a:spcBef>
                <a:spcPts val="600"/>
              </a:spcBef>
              <a:spcAft>
                <a:spcPts val="1200"/>
              </a:spcAft>
            </a:pPr>
            <a:r>
              <a:rPr lang="en-AU" sz="2200" dirty="0" smtClean="0">
                <a:latin typeface="Helvetica" pitchFamily="34" charset="0"/>
              </a:rPr>
              <a:t>Remuneration and motivating staff</a:t>
            </a:r>
          </a:p>
          <a:p>
            <a:pPr marL="360000" indent="-360000">
              <a:spcBef>
                <a:spcPts val="600"/>
              </a:spcBef>
              <a:spcAft>
                <a:spcPts val="1200"/>
              </a:spcAft>
            </a:pPr>
            <a:r>
              <a:rPr lang="en-AU" sz="2200" dirty="0" smtClean="0">
                <a:latin typeface="Helvetica" pitchFamily="34" charset="0"/>
              </a:rPr>
              <a:t>Level of staff turnover</a:t>
            </a:r>
          </a:p>
          <a:p>
            <a:pPr marL="360000" indent="-360000">
              <a:spcBef>
                <a:spcPts val="600"/>
              </a:spcBef>
              <a:spcAft>
                <a:spcPts val="1200"/>
              </a:spcAft>
              <a:buNone/>
            </a:pPr>
            <a:endParaRPr lang="en-AU" sz="2400" dirty="0" smtClean="0"/>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7" name="Picture 6" descr="Group.jpg"/>
          <p:cNvPicPr/>
          <p:nvPr/>
        </p:nvPicPr>
        <p:blipFill>
          <a:blip r:embed="rId3" cstate="print"/>
          <a:stretch>
            <a:fillRect/>
          </a:stretch>
        </p:blipFill>
        <p:spPr>
          <a:xfrm>
            <a:off x="6305550" y="3886200"/>
            <a:ext cx="2152650" cy="15621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Consult with key personnel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389440" cy="4920208"/>
          </a:xfrm>
        </p:spPr>
        <p:txBody>
          <a:bodyPr>
            <a:normAutofit fontScale="92500" lnSpcReduction="20000"/>
          </a:bodyPr>
          <a:lstStyle/>
          <a:p>
            <a:pPr marL="0" indent="0">
              <a:lnSpc>
                <a:spcPct val="120000"/>
              </a:lnSpc>
              <a:spcBef>
                <a:spcPts val="600"/>
              </a:spcBef>
              <a:spcAft>
                <a:spcPts val="1200"/>
              </a:spcAft>
              <a:buNone/>
            </a:pPr>
            <a:r>
              <a:rPr lang="en-AU" sz="2400" b="1" dirty="0" smtClean="0">
                <a:latin typeface="Helvetica" pitchFamily="34" charset="0"/>
              </a:rPr>
              <a:t>You may need to consult with stakeholders about staffing needs:</a:t>
            </a:r>
          </a:p>
          <a:p>
            <a:pPr marL="360000" indent="-360000">
              <a:lnSpc>
                <a:spcPct val="120000"/>
              </a:lnSpc>
              <a:spcBef>
                <a:spcPts val="600"/>
              </a:spcBef>
              <a:spcAft>
                <a:spcPts val="1200"/>
              </a:spcAft>
            </a:pPr>
            <a:r>
              <a:rPr lang="en-AU" sz="2400" dirty="0" smtClean="0">
                <a:latin typeface="Helvetica" pitchFamily="34" charset="0"/>
              </a:rPr>
              <a:t>Owners</a:t>
            </a:r>
          </a:p>
          <a:p>
            <a:pPr marL="360000" indent="-360000">
              <a:lnSpc>
                <a:spcPct val="120000"/>
              </a:lnSpc>
              <a:spcBef>
                <a:spcPts val="600"/>
              </a:spcBef>
              <a:spcAft>
                <a:spcPts val="1200"/>
              </a:spcAft>
            </a:pPr>
            <a:r>
              <a:rPr lang="en-AU" sz="2400" dirty="0" smtClean="0">
                <a:latin typeface="Helvetica" pitchFamily="34" charset="0"/>
              </a:rPr>
              <a:t>Board of Directors</a:t>
            </a:r>
          </a:p>
          <a:p>
            <a:pPr marL="360000" indent="-360000">
              <a:lnSpc>
                <a:spcPct val="120000"/>
              </a:lnSpc>
              <a:spcBef>
                <a:spcPts val="600"/>
              </a:spcBef>
              <a:spcAft>
                <a:spcPts val="1200"/>
              </a:spcAft>
            </a:pPr>
            <a:r>
              <a:rPr lang="en-AU" sz="2400" dirty="0" smtClean="0">
                <a:latin typeface="Helvetica" pitchFamily="34" charset="0"/>
              </a:rPr>
              <a:t>Shareholders</a:t>
            </a:r>
          </a:p>
          <a:p>
            <a:pPr marL="360000" indent="-360000">
              <a:lnSpc>
                <a:spcPct val="120000"/>
              </a:lnSpc>
              <a:spcBef>
                <a:spcPts val="600"/>
              </a:spcBef>
              <a:spcAft>
                <a:spcPts val="1200"/>
              </a:spcAft>
            </a:pPr>
            <a:r>
              <a:rPr lang="en-AU" sz="2400" dirty="0" smtClean="0">
                <a:latin typeface="Helvetica" pitchFamily="34" charset="0"/>
              </a:rPr>
              <a:t>Senior management</a:t>
            </a:r>
          </a:p>
          <a:p>
            <a:pPr marL="360000" indent="-360000">
              <a:lnSpc>
                <a:spcPct val="120000"/>
              </a:lnSpc>
              <a:spcBef>
                <a:spcPts val="600"/>
              </a:spcBef>
              <a:spcAft>
                <a:spcPts val="1200"/>
              </a:spcAft>
            </a:pPr>
            <a:r>
              <a:rPr lang="en-AU" sz="2400" dirty="0" smtClean="0">
                <a:latin typeface="Helvetica" pitchFamily="34" charset="0"/>
              </a:rPr>
              <a:t>Supervisors</a:t>
            </a:r>
          </a:p>
          <a:p>
            <a:pPr marL="360000" indent="-360000">
              <a:lnSpc>
                <a:spcPct val="120000"/>
              </a:lnSpc>
              <a:spcBef>
                <a:spcPts val="600"/>
              </a:spcBef>
              <a:spcAft>
                <a:spcPts val="1200"/>
              </a:spcAft>
            </a:pPr>
            <a:r>
              <a:rPr lang="en-AU" sz="2400" dirty="0" smtClean="0">
                <a:latin typeface="Helvetica" pitchFamily="34" charset="0"/>
              </a:rPr>
              <a:t>Customers</a:t>
            </a:r>
          </a:p>
          <a:p>
            <a:pPr marL="360000" indent="-360000">
              <a:lnSpc>
                <a:spcPct val="120000"/>
              </a:lnSpc>
              <a:spcBef>
                <a:spcPts val="600"/>
              </a:spcBef>
              <a:spcAft>
                <a:spcPts val="1200"/>
              </a:spcAft>
            </a:pPr>
            <a:r>
              <a:rPr lang="en-AU" sz="2400" dirty="0" smtClean="0">
                <a:latin typeface="Helvetica" pitchFamily="34" charset="0"/>
              </a:rPr>
              <a:t>Suppliers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5" descr="conference centre ad.jpg"/>
          <p:cNvPicPr/>
          <p:nvPr/>
        </p:nvPicPr>
        <p:blipFill>
          <a:blip r:embed="rId3" cstate="print"/>
          <a:stretch>
            <a:fillRect/>
          </a:stretch>
        </p:blipFill>
        <p:spPr>
          <a:xfrm>
            <a:off x="6443662" y="3962400"/>
            <a:ext cx="2014538" cy="148113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Develop </a:t>
            </a:r>
            <a:r>
              <a:rPr lang="en-AU" sz="3400" b="1" dirty="0" smtClean="0">
                <a:solidFill>
                  <a:srgbClr val="FF6600"/>
                </a:solidFill>
                <a:latin typeface="Helvetica" pitchFamily="34" charset="0"/>
              </a:rPr>
              <a:t>human resources 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Role </a:t>
            </a:r>
            <a:r>
              <a:rPr lang="en-AU" sz="2200" b="1" dirty="0" smtClean="0">
                <a:latin typeface="Helvetica" pitchFamily="34" charset="0"/>
              </a:rPr>
              <a:t>of an HR </a:t>
            </a:r>
            <a:r>
              <a:rPr lang="en-AU" sz="2200" b="1" dirty="0" smtClean="0">
                <a:latin typeface="Helvetica" pitchFamily="34" charset="0"/>
              </a:rPr>
              <a:t>plan</a:t>
            </a:r>
            <a:endParaRPr lang="en-AU" sz="2200" b="1" dirty="0" smtClean="0">
              <a:latin typeface="Helvetica" pitchFamily="34" charset="0"/>
            </a:endParaRPr>
          </a:p>
          <a:p>
            <a:pPr marL="0" indent="0">
              <a:spcBef>
                <a:spcPts val="600"/>
              </a:spcBef>
              <a:spcAft>
                <a:spcPts val="1200"/>
              </a:spcAft>
              <a:buNone/>
            </a:pPr>
            <a:r>
              <a:rPr lang="en-AU" sz="2200" dirty="0" smtClean="0">
                <a:latin typeface="Helvetica" pitchFamily="34" charset="0"/>
              </a:rPr>
              <a:t>An HR plan should serve as a link between:</a:t>
            </a:r>
          </a:p>
          <a:p>
            <a:pPr marL="420688" indent="-327025">
              <a:spcBef>
                <a:spcPts val="600"/>
              </a:spcBef>
              <a:spcAft>
                <a:spcPts val="1200"/>
              </a:spcAft>
            </a:pPr>
            <a:r>
              <a:rPr lang="en-AU" sz="2200" dirty="0" smtClean="0">
                <a:latin typeface="Helvetica" pitchFamily="34" charset="0"/>
              </a:rPr>
              <a:t>Human resources management </a:t>
            </a:r>
          </a:p>
          <a:p>
            <a:pPr marL="420688" indent="-327025">
              <a:spcBef>
                <a:spcPts val="600"/>
              </a:spcBef>
              <a:spcAft>
                <a:spcPts val="1200"/>
              </a:spcAft>
            </a:pPr>
            <a:r>
              <a:rPr lang="en-AU" sz="2200" dirty="0" smtClean="0">
                <a:latin typeface="Helvetica" pitchFamily="34" charset="0"/>
              </a:rPr>
              <a:t>Overall strategic plan of a hospitality organisation</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7" name="Picture 6" descr="MP900443367[1].JPG"/>
          <p:cNvPicPr/>
          <p:nvPr/>
        </p:nvPicPr>
        <p:blipFill>
          <a:blip r:embed="rId3" cstate="print"/>
          <a:stretch>
            <a:fillRect/>
          </a:stretch>
        </p:blipFill>
        <p:spPr>
          <a:xfrm>
            <a:off x="7162800" y="3581400"/>
            <a:ext cx="1323975" cy="19050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Develop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389440" cy="5105400"/>
          </a:xfrm>
        </p:spPr>
        <p:txBody>
          <a:bodyPr>
            <a:normAutofit/>
          </a:bodyPr>
          <a:lstStyle/>
          <a:p>
            <a:pPr>
              <a:spcBef>
                <a:spcPts val="600"/>
              </a:spcBef>
              <a:spcAft>
                <a:spcPts val="1200"/>
              </a:spcAft>
              <a:buNone/>
            </a:pPr>
            <a:r>
              <a:rPr lang="en-AU" sz="2200" b="1" dirty="0" smtClean="0">
                <a:latin typeface="Helvetica" pitchFamily="34" charset="0"/>
              </a:rPr>
              <a:t>Impacts on an HR </a:t>
            </a:r>
            <a:r>
              <a:rPr lang="en-AU" sz="2200" b="1" dirty="0" smtClean="0">
                <a:latin typeface="Helvetica" pitchFamily="34" charset="0"/>
              </a:rPr>
              <a:t>plan</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Information and feedback from key stakeholders</a:t>
            </a:r>
          </a:p>
          <a:p>
            <a:pPr lvl="0">
              <a:spcBef>
                <a:spcPts val="600"/>
              </a:spcBef>
              <a:spcAft>
                <a:spcPts val="1200"/>
              </a:spcAft>
            </a:pPr>
            <a:r>
              <a:rPr lang="en-AU" sz="2200" dirty="0" smtClean="0">
                <a:latin typeface="Helvetica" pitchFamily="34" charset="0"/>
              </a:rPr>
              <a:t>Relevant good practice models </a:t>
            </a:r>
          </a:p>
          <a:p>
            <a:pPr lvl="0">
              <a:spcBef>
                <a:spcPts val="600"/>
              </a:spcBef>
              <a:spcAft>
                <a:spcPts val="1200"/>
              </a:spcAft>
            </a:pPr>
            <a:r>
              <a:rPr lang="en-AU" sz="2200" dirty="0" smtClean="0">
                <a:latin typeface="Helvetica" pitchFamily="34" charset="0"/>
              </a:rPr>
              <a:t>Risk identification</a:t>
            </a:r>
          </a:p>
          <a:p>
            <a:pPr lvl="0">
              <a:spcBef>
                <a:spcPts val="600"/>
              </a:spcBef>
              <a:spcAft>
                <a:spcPts val="1200"/>
              </a:spcAft>
            </a:pPr>
            <a:r>
              <a:rPr lang="en-AU" sz="2200" dirty="0" smtClean="0">
                <a:latin typeface="Helvetica" pitchFamily="34" charset="0"/>
              </a:rPr>
              <a:t>Nominated strategies designed to achieve the identified objectives of the business plan and </a:t>
            </a:r>
            <a:br>
              <a:rPr lang="en-AU" sz="2200" dirty="0" smtClean="0">
                <a:latin typeface="Helvetica" pitchFamily="34" charset="0"/>
              </a:rPr>
            </a:br>
            <a:r>
              <a:rPr lang="en-AU" sz="2200" dirty="0" smtClean="0">
                <a:latin typeface="Helvetica" pitchFamily="34" charset="0"/>
              </a:rPr>
              <a:t>strategic plans</a:t>
            </a:r>
          </a:p>
          <a:p>
            <a:pPr lvl="0">
              <a:spcBef>
                <a:spcPts val="600"/>
              </a:spcBef>
              <a:spcAft>
                <a:spcPts val="1200"/>
              </a:spcAft>
            </a:pPr>
            <a:r>
              <a:rPr lang="en-AU" sz="2200" dirty="0" smtClean="0">
                <a:latin typeface="Helvetica" pitchFamily="34" charset="0"/>
              </a:rPr>
              <a:t>Budget</a:t>
            </a:r>
          </a:p>
          <a:p>
            <a:pPr>
              <a:spcBef>
                <a:spcPts val="600"/>
              </a:spcBef>
              <a:spcAft>
                <a:spcPts val="1200"/>
              </a:spcAft>
            </a:pPr>
            <a:r>
              <a:rPr lang="en-AU" sz="2200" dirty="0" smtClean="0">
                <a:latin typeface="Helvetica" pitchFamily="34" charset="0"/>
              </a:rPr>
              <a:t>Development and identification of                                  performance indicators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6" name="Picture 5" descr="MP900423616[1].JPG"/>
          <p:cNvPicPr>
            <a:picLocks noChangeAspect="1"/>
          </p:cNvPicPr>
          <p:nvPr/>
        </p:nvPicPr>
        <p:blipFill>
          <a:blip r:embed="rId3" cstate="print"/>
          <a:stretch>
            <a:fillRect/>
          </a:stretch>
        </p:blipFill>
        <p:spPr>
          <a:xfrm>
            <a:off x="6599020" y="4247431"/>
            <a:ext cx="1859180" cy="1238969"/>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Develop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34000"/>
          </a:xfrm>
        </p:spPr>
        <p:txBody>
          <a:bodyPr>
            <a:normAutofit/>
          </a:bodyPr>
          <a:lstStyle/>
          <a:p>
            <a:pPr>
              <a:spcBef>
                <a:spcPts val="600"/>
              </a:spcBef>
              <a:spcAft>
                <a:spcPts val="1200"/>
              </a:spcAft>
              <a:buNone/>
            </a:pPr>
            <a:r>
              <a:rPr lang="en-AU" sz="2200" b="1" dirty="0" smtClean="0">
                <a:latin typeface="Helvetica" pitchFamily="34" charset="0"/>
              </a:rPr>
              <a:t>Contents of a HR </a:t>
            </a:r>
            <a:r>
              <a:rPr lang="en-AU" sz="2200" b="1" dirty="0" smtClean="0">
                <a:latin typeface="Helvetica" pitchFamily="34" charset="0"/>
              </a:rPr>
              <a:t>plan</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Organisational business plan</a:t>
            </a:r>
          </a:p>
          <a:p>
            <a:pPr>
              <a:spcBef>
                <a:spcPts val="600"/>
              </a:spcBef>
              <a:spcAft>
                <a:spcPts val="1200"/>
              </a:spcAft>
            </a:pPr>
            <a:r>
              <a:rPr lang="en-AU" sz="2200" dirty="0" smtClean="0">
                <a:latin typeface="Helvetica" pitchFamily="34" charset="0"/>
              </a:rPr>
              <a:t>HR Planning </a:t>
            </a:r>
          </a:p>
          <a:p>
            <a:pPr>
              <a:spcBef>
                <a:spcPts val="600"/>
              </a:spcBef>
              <a:spcAft>
                <a:spcPts val="1200"/>
              </a:spcAft>
            </a:pPr>
            <a:r>
              <a:rPr lang="en-AU" sz="2200" dirty="0" smtClean="0">
                <a:latin typeface="Helvetica" pitchFamily="34" charset="0"/>
              </a:rPr>
              <a:t>HR Information management</a:t>
            </a:r>
          </a:p>
          <a:p>
            <a:pPr>
              <a:spcBef>
                <a:spcPts val="600"/>
              </a:spcBef>
              <a:spcAft>
                <a:spcPts val="1200"/>
              </a:spcAft>
            </a:pPr>
            <a:r>
              <a:rPr lang="en-AU" sz="2200" dirty="0" smtClean="0">
                <a:latin typeface="Helvetica" pitchFamily="34" charset="0"/>
              </a:rPr>
              <a:t>Identify staffing needs</a:t>
            </a:r>
          </a:p>
          <a:p>
            <a:pPr>
              <a:spcBef>
                <a:spcPts val="600"/>
              </a:spcBef>
              <a:spcAft>
                <a:spcPts val="1200"/>
              </a:spcAft>
            </a:pPr>
            <a:r>
              <a:rPr lang="en-AU" sz="2200" dirty="0" smtClean="0">
                <a:latin typeface="Helvetica" pitchFamily="34" charset="0"/>
              </a:rPr>
              <a:t>Work design / classification</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7" name="Picture 6" descr="F and B 2.JPG"/>
          <p:cNvPicPr/>
          <p:nvPr/>
        </p:nvPicPr>
        <p:blipFill>
          <a:blip r:embed="rId3" cstate="print"/>
          <a:stretch>
            <a:fillRect/>
          </a:stretch>
        </p:blipFill>
        <p:spPr>
          <a:xfrm>
            <a:off x="6438900" y="3886200"/>
            <a:ext cx="2019300" cy="140017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Develop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a:spcBef>
                <a:spcPts val="600"/>
              </a:spcBef>
              <a:spcAft>
                <a:spcPts val="1200"/>
              </a:spcAft>
              <a:buNone/>
            </a:pPr>
            <a:r>
              <a:rPr lang="en-AU" sz="2200" b="1" dirty="0" smtClean="0">
                <a:latin typeface="Helvetica" pitchFamily="34" charset="0"/>
              </a:rPr>
              <a:t>Contents </a:t>
            </a:r>
            <a:r>
              <a:rPr lang="en-AU" sz="2200" b="1" dirty="0" smtClean="0">
                <a:latin typeface="Helvetica" pitchFamily="34" charset="0"/>
              </a:rPr>
              <a:t>of an HR </a:t>
            </a:r>
            <a:r>
              <a:rPr lang="en-AU" sz="2200" b="1" dirty="0" smtClean="0">
                <a:latin typeface="Helvetica" pitchFamily="34" charset="0"/>
              </a:rPr>
              <a:t>plan</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Recruitment and selection</a:t>
            </a:r>
          </a:p>
          <a:p>
            <a:pPr>
              <a:spcBef>
                <a:spcPts val="600"/>
              </a:spcBef>
              <a:spcAft>
                <a:spcPts val="1200"/>
              </a:spcAft>
            </a:pPr>
            <a:r>
              <a:rPr lang="en-AU" sz="2200" dirty="0" smtClean="0">
                <a:latin typeface="Helvetica" pitchFamily="34" charset="0"/>
              </a:rPr>
              <a:t>Learning and development</a:t>
            </a:r>
          </a:p>
          <a:p>
            <a:pPr>
              <a:spcBef>
                <a:spcPts val="600"/>
              </a:spcBef>
              <a:spcAft>
                <a:spcPts val="1200"/>
              </a:spcAft>
            </a:pPr>
            <a:r>
              <a:rPr lang="en-AU" sz="2200" dirty="0" smtClean="0">
                <a:latin typeface="Helvetica" pitchFamily="34" charset="0"/>
              </a:rPr>
              <a:t>Performance management</a:t>
            </a:r>
          </a:p>
          <a:p>
            <a:pPr>
              <a:spcBef>
                <a:spcPts val="600"/>
              </a:spcBef>
              <a:spcAft>
                <a:spcPts val="1200"/>
              </a:spcAft>
            </a:pPr>
            <a:r>
              <a:rPr lang="en-AU" sz="2200" dirty="0" smtClean="0">
                <a:latin typeface="Helvetica" pitchFamily="34" charset="0"/>
              </a:rPr>
              <a:t>Monitoring and evaluation</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6" name="Picture 5" descr="MP900431736.JPG"/>
          <p:cNvPicPr>
            <a:picLocks noChangeAspect="1"/>
          </p:cNvPicPr>
          <p:nvPr/>
        </p:nvPicPr>
        <p:blipFill>
          <a:blip r:embed="rId3" cstate="print"/>
          <a:stretch>
            <a:fillRect/>
          </a:stretch>
        </p:blipFill>
        <p:spPr>
          <a:xfrm>
            <a:off x="6629400" y="3581400"/>
            <a:ext cx="1828800" cy="182880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US" sz="3400" b="1" dirty="0" smtClean="0">
                <a:solidFill>
                  <a:srgbClr val="FF6600"/>
                </a:solidFill>
                <a:latin typeface="Helvetica" pitchFamily="34" charset="0"/>
              </a:rPr>
              <a:t>Implement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plan</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265237"/>
            <a:ext cx="7467600" cy="4525963"/>
          </a:xfrm>
        </p:spPr>
        <p:txBody>
          <a:bodyPr>
            <a:normAutofit/>
          </a:bodyPr>
          <a:lstStyle/>
          <a:p>
            <a:pPr>
              <a:spcBef>
                <a:spcPts val="600"/>
              </a:spcBef>
              <a:spcAft>
                <a:spcPts val="1200"/>
              </a:spcAft>
              <a:buNone/>
            </a:pPr>
            <a:r>
              <a:rPr lang="en-AU" sz="2200" b="1" dirty="0" smtClean="0">
                <a:latin typeface="Helvetica" pitchFamily="34" charset="0"/>
              </a:rPr>
              <a:t>Steps in implementing a </a:t>
            </a:r>
            <a:r>
              <a:rPr lang="en-AU" sz="2200" b="1" dirty="0" smtClean="0">
                <a:latin typeface="Helvetica" pitchFamily="34" charset="0"/>
              </a:rPr>
              <a:t>HR plan</a:t>
            </a:r>
            <a:endParaRPr lang="en-AU" sz="2200" b="1" dirty="0" smtClean="0">
              <a:latin typeface="Helvetica" pitchFamily="34" charset="0"/>
            </a:endParaRPr>
          </a:p>
          <a:p>
            <a:pPr>
              <a:spcBef>
                <a:spcPts val="600"/>
              </a:spcBef>
              <a:spcAft>
                <a:spcPts val="1200"/>
              </a:spcAft>
              <a:buNone/>
            </a:pPr>
            <a:r>
              <a:rPr lang="en-AU" sz="2200" dirty="0" smtClean="0">
                <a:latin typeface="Helvetica" pitchFamily="34" charset="0"/>
              </a:rPr>
              <a:t>Implement a human resources plan may include:</a:t>
            </a:r>
          </a:p>
          <a:p>
            <a:pPr lvl="0">
              <a:spcBef>
                <a:spcPts val="600"/>
              </a:spcBef>
              <a:spcAft>
                <a:spcPts val="1200"/>
              </a:spcAft>
            </a:pPr>
            <a:r>
              <a:rPr lang="en-AU" sz="2200" dirty="0" smtClean="0">
                <a:latin typeface="Helvetica" pitchFamily="34" charset="0"/>
              </a:rPr>
              <a:t>Communication and explanation of the human resources plan to relevant personnel</a:t>
            </a:r>
          </a:p>
          <a:p>
            <a:pPr lvl="0">
              <a:spcBef>
                <a:spcPts val="600"/>
              </a:spcBef>
              <a:spcAft>
                <a:spcPts val="1200"/>
              </a:spcAft>
            </a:pPr>
            <a:r>
              <a:rPr lang="en-AU" sz="2200" dirty="0" smtClean="0">
                <a:latin typeface="Helvetica" pitchFamily="34" charset="0"/>
              </a:rPr>
              <a:t>Practical application and implementation of the strategies outlined in the plans</a:t>
            </a:r>
          </a:p>
          <a:p>
            <a:pPr lvl="0">
              <a:spcBef>
                <a:spcPts val="600"/>
              </a:spcBef>
              <a:spcAft>
                <a:spcPts val="1200"/>
              </a:spcAft>
            </a:pPr>
            <a:r>
              <a:rPr lang="en-AU" sz="2200" dirty="0" smtClean="0">
                <a:latin typeface="Helvetica" pitchFamily="34" charset="0"/>
              </a:rPr>
              <a:t>Support to individual department and </a:t>
            </a:r>
            <a:br>
              <a:rPr lang="en-AU" sz="2200" dirty="0" smtClean="0">
                <a:latin typeface="Helvetica" pitchFamily="34" charset="0"/>
              </a:rPr>
            </a:br>
            <a:r>
              <a:rPr lang="en-AU" sz="2200" dirty="0" smtClean="0">
                <a:latin typeface="Helvetica" pitchFamily="34" charset="0"/>
              </a:rPr>
              <a:t>individuals in plan implementation and </a:t>
            </a:r>
            <a:br>
              <a:rPr lang="en-AU" sz="2200" dirty="0" smtClean="0">
                <a:latin typeface="Helvetica" pitchFamily="34" charset="0"/>
              </a:rPr>
            </a:br>
            <a:r>
              <a:rPr lang="en-AU" sz="2200" dirty="0" smtClean="0">
                <a:latin typeface="Helvetica" pitchFamily="34" charset="0"/>
              </a:rPr>
              <a:t>execution</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7" name="Picture 6" descr="MP900423070[1].JPG"/>
          <p:cNvPicPr/>
          <p:nvPr/>
        </p:nvPicPr>
        <p:blipFill>
          <a:blip r:embed="rId3" cstate="print"/>
          <a:stretch>
            <a:fillRect/>
          </a:stretch>
        </p:blipFill>
        <p:spPr>
          <a:xfrm>
            <a:off x="7010400" y="3810000"/>
            <a:ext cx="1447800" cy="15240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Implement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181600"/>
          </a:xfrm>
        </p:spPr>
        <p:txBody>
          <a:bodyPr>
            <a:normAutofit/>
          </a:bodyPr>
          <a:lstStyle/>
          <a:p>
            <a:pPr>
              <a:spcBef>
                <a:spcPts val="600"/>
              </a:spcBef>
              <a:spcAft>
                <a:spcPts val="1200"/>
              </a:spcAft>
              <a:buNone/>
            </a:pPr>
            <a:r>
              <a:rPr lang="en-AU" sz="2200" b="1" dirty="0" smtClean="0">
                <a:latin typeface="Helvetica" pitchFamily="34" charset="0"/>
              </a:rPr>
              <a:t>Steps </a:t>
            </a:r>
            <a:r>
              <a:rPr lang="en-AU" sz="2200" b="1" dirty="0" smtClean="0">
                <a:latin typeface="Helvetica" pitchFamily="34" charset="0"/>
              </a:rPr>
              <a:t>in implementing a </a:t>
            </a:r>
            <a:r>
              <a:rPr lang="en-AU" sz="2200" b="1" dirty="0" smtClean="0">
                <a:latin typeface="Helvetica" pitchFamily="34" charset="0"/>
              </a:rPr>
              <a:t>HR plan</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Monitoring actual outcomes and evaluating them against projections</a:t>
            </a:r>
          </a:p>
          <a:p>
            <a:pPr lvl="0">
              <a:spcBef>
                <a:spcPts val="600"/>
              </a:spcBef>
              <a:spcAft>
                <a:spcPts val="1200"/>
              </a:spcAft>
            </a:pPr>
            <a:r>
              <a:rPr lang="en-AU" sz="2200" dirty="0" smtClean="0">
                <a:latin typeface="Helvetica" pitchFamily="34" charset="0"/>
              </a:rPr>
              <a:t>Taking remedial action to bring plans back in-line </a:t>
            </a:r>
            <a:br>
              <a:rPr lang="en-AU" sz="2200" dirty="0" smtClean="0">
                <a:latin typeface="Helvetica" pitchFamily="34" charset="0"/>
              </a:rPr>
            </a:br>
            <a:r>
              <a:rPr lang="en-AU" sz="2200" dirty="0" smtClean="0">
                <a:latin typeface="Helvetica" pitchFamily="34" charset="0"/>
              </a:rPr>
              <a:t>with objectives</a:t>
            </a:r>
          </a:p>
          <a:p>
            <a:pPr lvl="0">
              <a:spcBef>
                <a:spcPts val="600"/>
              </a:spcBef>
              <a:spcAft>
                <a:spcPts val="1200"/>
              </a:spcAft>
            </a:pPr>
            <a:r>
              <a:rPr lang="en-AU" sz="2200" dirty="0" smtClean="0">
                <a:latin typeface="Helvetica" pitchFamily="34" charset="0"/>
              </a:rPr>
              <a:t>Development of job specifications </a:t>
            </a:r>
            <a:br>
              <a:rPr lang="en-AU" sz="2200" dirty="0" smtClean="0">
                <a:latin typeface="Helvetica" pitchFamily="34" charset="0"/>
              </a:rPr>
            </a:br>
            <a:r>
              <a:rPr lang="en-AU" sz="2200" dirty="0" smtClean="0">
                <a:latin typeface="Helvetica" pitchFamily="34" charset="0"/>
              </a:rPr>
              <a:t>and job descriptions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MP900424406.JPG"/>
          <p:cNvPicPr>
            <a:picLocks noChangeAspect="1"/>
          </p:cNvPicPr>
          <p:nvPr/>
        </p:nvPicPr>
        <p:blipFill>
          <a:blip r:embed="rId3" cstate="print"/>
          <a:stretch>
            <a:fillRect/>
          </a:stretch>
        </p:blipFill>
        <p:spPr>
          <a:xfrm>
            <a:off x="7061076" y="3581400"/>
            <a:ext cx="1397124" cy="19050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Job </a:t>
            </a:r>
            <a:r>
              <a:rPr lang="en-US" sz="3400" b="1" dirty="0" smtClean="0">
                <a:solidFill>
                  <a:srgbClr val="FF6600"/>
                </a:solidFill>
                <a:latin typeface="Helvetica" pitchFamily="34" charset="0"/>
              </a:rPr>
              <a:t>s</a:t>
            </a:r>
            <a:r>
              <a:rPr lang="en-US" sz="3400" b="1" dirty="0" smtClean="0">
                <a:solidFill>
                  <a:srgbClr val="FF6600"/>
                </a:solidFill>
                <a:latin typeface="Helvetica" pitchFamily="34" charset="0"/>
              </a:rPr>
              <a:t>pecifications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992888" cy="5257800"/>
          </a:xfrm>
        </p:spPr>
        <p:txBody>
          <a:bodyPr>
            <a:normAutofit/>
          </a:bodyPr>
          <a:lstStyle/>
          <a:p>
            <a:pPr marL="0" indent="0">
              <a:spcBef>
                <a:spcPts val="600"/>
              </a:spcBef>
              <a:spcAft>
                <a:spcPts val="1200"/>
              </a:spcAft>
              <a:buNone/>
            </a:pPr>
            <a:r>
              <a:rPr lang="en-AU" sz="2200" b="1" dirty="0" smtClean="0">
                <a:latin typeface="Helvetica" pitchFamily="34" charset="0"/>
              </a:rPr>
              <a:t>Details the </a:t>
            </a:r>
            <a:r>
              <a:rPr lang="en-AU" sz="2200" b="1" u="sng" dirty="0" smtClean="0">
                <a:latin typeface="Helvetica" pitchFamily="34" charset="0"/>
              </a:rPr>
              <a:t>human qualities</a:t>
            </a:r>
            <a:r>
              <a:rPr lang="en-AU" sz="2200" b="1" dirty="0" smtClean="0">
                <a:latin typeface="Helvetica" pitchFamily="34" charset="0"/>
              </a:rPr>
              <a:t> required for the position </a:t>
            </a:r>
          </a:p>
          <a:p>
            <a:pPr marL="360000" indent="-360000">
              <a:spcBef>
                <a:spcPts val="600"/>
              </a:spcBef>
              <a:spcAft>
                <a:spcPts val="1200"/>
              </a:spcAft>
            </a:pPr>
            <a:r>
              <a:rPr lang="en-AU" sz="2200" dirty="0" smtClean="0">
                <a:latin typeface="Helvetica" pitchFamily="34" charset="0"/>
              </a:rPr>
              <a:t>Title of the job</a:t>
            </a:r>
          </a:p>
          <a:p>
            <a:pPr marL="360000" indent="-360000">
              <a:spcBef>
                <a:spcPts val="600"/>
              </a:spcBef>
              <a:spcAft>
                <a:spcPts val="1200"/>
              </a:spcAft>
            </a:pPr>
            <a:r>
              <a:rPr lang="en-AU" sz="2200" dirty="0" smtClean="0">
                <a:latin typeface="Helvetica" pitchFamily="34" charset="0"/>
              </a:rPr>
              <a:t>Minimum level of education</a:t>
            </a:r>
          </a:p>
          <a:p>
            <a:pPr marL="360000" indent="-360000">
              <a:spcBef>
                <a:spcPts val="600"/>
              </a:spcBef>
              <a:spcAft>
                <a:spcPts val="1200"/>
              </a:spcAft>
            </a:pPr>
            <a:r>
              <a:rPr lang="en-AU" sz="2200" dirty="0" smtClean="0">
                <a:latin typeface="Helvetica" pitchFamily="34" charset="0"/>
              </a:rPr>
              <a:t>Specialised training required</a:t>
            </a:r>
          </a:p>
          <a:p>
            <a:pPr marL="360000" indent="-360000">
              <a:spcBef>
                <a:spcPts val="600"/>
              </a:spcBef>
              <a:spcAft>
                <a:spcPts val="1200"/>
              </a:spcAft>
            </a:pPr>
            <a:r>
              <a:rPr lang="en-AU" sz="2200" dirty="0" smtClean="0">
                <a:latin typeface="Helvetica" pitchFamily="34" charset="0"/>
              </a:rPr>
              <a:t>Work-related experience</a:t>
            </a:r>
          </a:p>
          <a:p>
            <a:pPr marL="360000" indent="-360000">
              <a:spcBef>
                <a:spcPts val="600"/>
              </a:spcBef>
              <a:spcAft>
                <a:spcPts val="1200"/>
              </a:spcAft>
            </a:pPr>
            <a:r>
              <a:rPr lang="en-AU" sz="2200" dirty="0" smtClean="0">
                <a:latin typeface="Helvetica" pitchFamily="34" charset="0"/>
              </a:rPr>
              <a:t>Personal attributes required</a:t>
            </a:r>
          </a:p>
          <a:p>
            <a:pPr marL="360000" indent="-360000">
              <a:spcBef>
                <a:spcPts val="600"/>
              </a:spcBef>
              <a:spcAft>
                <a:spcPts val="1200"/>
              </a:spcAft>
            </a:pPr>
            <a:r>
              <a:rPr lang="en-AU" sz="2200" dirty="0" smtClean="0">
                <a:latin typeface="Helvetica" pitchFamily="34" charset="0"/>
              </a:rPr>
              <a:t>Physical effort required to do the job</a:t>
            </a:r>
          </a:p>
          <a:p>
            <a:pPr marL="360000" indent="-360000">
              <a:spcBef>
                <a:spcPts val="600"/>
              </a:spcBef>
              <a:spcAft>
                <a:spcPts val="1200"/>
              </a:spcAft>
            </a:pPr>
            <a:r>
              <a:rPr lang="en-AU" sz="2200" dirty="0" smtClean="0">
                <a:latin typeface="Helvetica" pitchFamily="34" charset="0"/>
              </a:rPr>
              <a:t>Interpersonal skills required</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00438693.jpg"/>
          <p:cNvPicPr>
            <a:picLocks noChangeAspect="1"/>
          </p:cNvPicPr>
          <p:nvPr/>
        </p:nvPicPr>
        <p:blipFill>
          <a:blip r:embed="rId3" cstate="print"/>
          <a:stretch>
            <a:fillRect/>
          </a:stretch>
        </p:blipFill>
        <p:spPr>
          <a:xfrm>
            <a:off x="6222504" y="3962400"/>
            <a:ext cx="2235696" cy="1490464"/>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Job </a:t>
            </a:r>
            <a:r>
              <a:rPr lang="en-US" sz="3400" b="1" dirty="0" smtClean="0">
                <a:solidFill>
                  <a:srgbClr val="FF6600"/>
                </a:solidFill>
                <a:latin typeface="Helvetica" pitchFamily="34" charset="0"/>
              </a:rPr>
              <a:t>d</a:t>
            </a:r>
            <a:r>
              <a:rPr lang="en-US" sz="3400" b="1" dirty="0" smtClean="0">
                <a:solidFill>
                  <a:srgbClr val="FF6600"/>
                </a:solidFill>
                <a:latin typeface="Helvetica" pitchFamily="34" charset="0"/>
              </a:rPr>
              <a:t>escriptions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313240" cy="5105400"/>
          </a:xfrm>
        </p:spPr>
        <p:txBody>
          <a:bodyPr>
            <a:normAutofit/>
          </a:bodyPr>
          <a:lstStyle/>
          <a:p>
            <a:pPr marL="0" indent="0">
              <a:spcBef>
                <a:spcPts val="600"/>
              </a:spcBef>
              <a:spcAft>
                <a:spcPts val="1200"/>
              </a:spcAft>
              <a:buNone/>
            </a:pPr>
            <a:r>
              <a:rPr lang="en-AU" sz="2200" b="1" dirty="0" smtClean="0">
                <a:latin typeface="Helvetica" pitchFamily="34" charset="0"/>
              </a:rPr>
              <a:t>Information about what the job is all about</a:t>
            </a:r>
          </a:p>
          <a:p>
            <a:pPr marL="360000" indent="-360000">
              <a:spcBef>
                <a:spcPts val="600"/>
              </a:spcBef>
              <a:spcAft>
                <a:spcPts val="1200"/>
              </a:spcAft>
            </a:pPr>
            <a:r>
              <a:rPr lang="en-AU" sz="2200" dirty="0" smtClean="0">
                <a:latin typeface="Helvetica" pitchFamily="34" charset="0"/>
              </a:rPr>
              <a:t>Job title</a:t>
            </a:r>
          </a:p>
          <a:p>
            <a:pPr marL="360000" indent="-360000">
              <a:spcBef>
                <a:spcPts val="600"/>
              </a:spcBef>
              <a:spcAft>
                <a:spcPts val="1200"/>
              </a:spcAft>
            </a:pPr>
            <a:r>
              <a:rPr lang="en-AU" sz="2200" dirty="0" smtClean="0">
                <a:latin typeface="Helvetica" pitchFamily="34" charset="0"/>
              </a:rPr>
              <a:t>Location of the job</a:t>
            </a:r>
          </a:p>
          <a:p>
            <a:pPr marL="360000" indent="-360000">
              <a:spcBef>
                <a:spcPts val="600"/>
              </a:spcBef>
              <a:spcAft>
                <a:spcPts val="1200"/>
              </a:spcAft>
            </a:pPr>
            <a:r>
              <a:rPr lang="en-AU" sz="2200" dirty="0" smtClean="0">
                <a:latin typeface="Helvetica" pitchFamily="34" charset="0"/>
              </a:rPr>
              <a:t>Job responsibilities</a:t>
            </a:r>
          </a:p>
          <a:p>
            <a:pPr marL="360000" indent="-360000">
              <a:spcBef>
                <a:spcPts val="600"/>
              </a:spcBef>
              <a:spcAft>
                <a:spcPts val="1200"/>
              </a:spcAft>
            </a:pPr>
            <a:r>
              <a:rPr lang="en-AU" sz="2200" dirty="0" smtClean="0">
                <a:latin typeface="Helvetica" pitchFamily="34" charset="0"/>
              </a:rPr>
              <a:t>Day-to-day tasks of the position</a:t>
            </a:r>
          </a:p>
          <a:p>
            <a:pPr marL="360000" indent="-360000">
              <a:spcBef>
                <a:spcPts val="600"/>
              </a:spcBef>
              <a:spcAft>
                <a:spcPts val="1200"/>
              </a:spcAft>
            </a:pPr>
            <a:r>
              <a:rPr lang="en-AU" sz="2200" dirty="0" smtClean="0">
                <a:latin typeface="Helvetica" pitchFamily="34" charset="0"/>
              </a:rPr>
              <a:t>Job title the position reports to</a:t>
            </a:r>
          </a:p>
          <a:p>
            <a:pPr marL="360000" indent="-360000">
              <a:spcBef>
                <a:spcPts val="600"/>
              </a:spcBef>
              <a:spcAft>
                <a:spcPts val="1200"/>
              </a:spcAft>
            </a:pPr>
            <a:r>
              <a:rPr lang="en-AU" sz="2200" dirty="0" smtClean="0">
                <a:latin typeface="Helvetica" pitchFamily="34" charset="0"/>
              </a:rPr>
              <a:t>Number of people supervised by the position</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MP900185034[1].JPG"/>
          <p:cNvPicPr>
            <a:picLocks noChangeAspect="1"/>
          </p:cNvPicPr>
          <p:nvPr/>
        </p:nvPicPr>
        <p:blipFill>
          <a:blip r:embed="rId3" cstate="print"/>
          <a:stretch>
            <a:fillRect/>
          </a:stretch>
        </p:blipFill>
        <p:spPr>
          <a:xfrm>
            <a:off x="7148146" y="3429000"/>
            <a:ext cx="1310054" cy="195530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2656"/>
            <a:ext cx="7467600" cy="810344"/>
          </a:xfrm>
        </p:spPr>
        <p:txBody>
          <a:bodyPr>
            <a:normAutofit/>
          </a:bodyPr>
          <a:lstStyle/>
          <a:p>
            <a:r>
              <a:rPr lang="en-US" sz="3400" b="1" dirty="0" smtClean="0">
                <a:solidFill>
                  <a:srgbClr val="FF6600"/>
                </a:solidFill>
                <a:latin typeface="Helvetica" pitchFamily="34" charset="0"/>
              </a:rPr>
              <a:t>Job </a:t>
            </a:r>
            <a:r>
              <a:rPr lang="en-US" sz="3400" b="1" dirty="0" smtClean="0">
                <a:solidFill>
                  <a:srgbClr val="FF6600"/>
                </a:solidFill>
                <a:latin typeface="Helvetica" pitchFamily="34" charset="0"/>
              </a:rPr>
              <a:t>d</a:t>
            </a:r>
            <a:r>
              <a:rPr lang="en-US" sz="3400" b="1" dirty="0" smtClean="0">
                <a:solidFill>
                  <a:srgbClr val="FF6600"/>
                </a:solidFill>
                <a:latin typeface="Helvetica" pitchFamily="34" charset="0"/>
              </a:rPr>
              <a:t>escriptions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8136904" cy="4680520"/>
          </a:xfrm>
        </p:spPr>
        <p:txBody>
          <a:bodyPr>
            <a:normAutofit/>
          </a:bodyPr>
          <a:lstStyle/>
          <a:p>
            <a:pPr marL="360000" indent="-360000">
              <a:spcBef>
                <a:spcPts val="600"/>
              </a:spcBef>
              <a:spcAft>
                <a:spcPts val="1200"/>
              </a:spcAft>
            </a:pPr>
            <a:r>
              <a:rPr lang="en-AU" sz="2200" dirty="0" smtClean="0">
                <a:latin typeface="Helvetica" pitchFamily="34" charset="0"/>
              </a:rPr>
              <a:t>Working conditions</a:t>
            </a:r>
          </a:p>
          <a:p>
            <a:pPr marL="360000" indent="-360000">
              <a:spcBef>
                <a:spcPts val="600"/>
              </a:spcBef>
              <a:spcAft>
                <a:spcPts val="1200"/>
              </a:spcAft>
            </a:pPr>
            <a:r>
              <a:rPr lang="en-AU" sz="2200" dirty="0" smtClean="0">
                <a:latin typeface="Helvetica" pitchFamily="34" charset="0"/>
              </a:rPr>
              <a:t>Workplace hazards</a:t>
            </a:r>
          </a:p>
          <a:p>
            <a:pPr marL="360000" indent="-360000">
              <a:spcBef>
                <a:spcPts val="600"/>
              </a:spcBef>
              <a:spcAft>
                <a:spcPts val="1200"/>
              </a:spcAft>
            </a:pPr>
            <a:r>
              <a:rPr lang="en-AU" sz="2200" dirty="0" smtClean="0">
                <a:latin typeface="Helvetica" pitchFamily="34" charset="0"/>
              </a:rPr>
              <a:t>Special work procedures to be followed</a:t>
            </a:r>
          </a:p>
          <a:p>
            <a:pPr marL="360000" indent="-360000">
              <a:spcBef>
                <a:spcPts val="600"/>
              </a:spcBef>
              <a:spcAft>
                <a:spcPts val="1200"/>
              </a:spcAft>
            </a:pPr>
            <a:r>
              <a:rPr lang="en-AU" sz="2200" dirty="0" smtClean="0">
                <a:latin typeface="Helvetica" pitchFamily="34" charset="0"/>
              </a:rPr>
              <a:t>Equipment, technology, systems used in the job</a:t>
            </a:r>
          </a:p>
          <a:p>
            <a:pPr marL="360000" indent="-360000">
              <a:spcBef>
                <a:spcPts val="600"/>
              </a:spcBef>
              <a:spcAft>
                <a:spcPts val="1200"/>
              </a:spcAft>
            </a:pPr>
            <a:r>
              <a:rPr lang="en-AU" sz="2200" dirty="0" smtClean="0">
                <a:latin typeface="Helvetica" pitchFamily="34" charset="0"/>
              </a:rPr>
              <a:t>Output standards required</a:t>
            </a:r>
          </a:p>
          <a:p>
            <a:pPr marL="360000" indent="-360000">
              <a:spcBef>
                <a:spcPts val="600"/>
              </a:spcBef>
              <a:spcAft>
                <a:spcPts val="1200"/>
              </a:spcAft>
            </a:pPr>
            <a:r>
              <a:rPr lang="en-AU" sz="2200" dirty="0" smtClean="0">
                <a:latin typeface="Helvetica" pitchFamily="34" charset="0"/>
              </a:rPr>
              <a:t>Type of work measurement </a:t>
            </a:r>
            <a:br>
              <a:rPr lang="en-AU" sz="2200" dirty="0" smtClean="0">
                <a:latin typeface="Helvetica" pitchFamily="34" charset="0"/>
              </a:rPr>
            </a:br>
            <a:r>
              <a:rPr lang="en-AU" sz="2200" dirty="0" smtClean="0">
                <a:latin typeface="Helvetica" pitchFamily="34" charset="0"/>
              </a:rPr>
              <a:t>used for the work performed</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werribee013_RT8.jpg"/>
          <p:cNvPicPr>
            <a:picLocks noChangeAspect="1"/>
          </p:cNvPicPr>
          <p:nvPr/>
        </p:nvPicPr>
        <p:blipFill>
          <a:blip r:embed="rId3" cstate="print"/>
          <a:stretch>
            <a:fillRect/>
          </a:stretch>
        </p:blipFill>
        <p:spPr>
          <a:xfrm>
            <a:off x="6134472" y="3810000"/>
            <a:ext cx="2323728" cy="154915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389440" cy="4680520"/>
          </a:xfrm>
        </p:spPr>
        <p:txBody>
          <a:bodyPr>
            <a:normAutofit/>
          </a:bodyPr>
          <a:lstStyle/>
          <a:p>
            <a:pPr marL="0">
              <a:buNone/>
            </a:pPr>
            <a:r>
              <a:rPr lang="en-AU" sz="4000" b="1" i="1" dirty="0" smtClean="0">
                <a:solidFill>
                  <a:srgbClr val="FF6600"/>
                </a:solidFill>
                <a:latin typeface="Helvetica" pitchFamily="34" charset="0"/>
              </a:rPr>
              <a:t>Element 2:</a:t>
            </a:r>
          </a:p>
          <a:p>
            <a:pPr marL="0">
              <a:spcBef>
                <a:spcPts val="600"/>
              </a:spcBef>
              <a:spcAft>
                <a:spcPts val="1200"/>
              </a:spcAft>
              <a:buNone/>
            </a:pPr>
            <a:r>
              <a:rPr lang="en-AU" sz="4000" b="1" i="1" dirty="0" smtClean="0">
                <a:solidFill>
                  <a:srgbClr val="FF6600"/>
                </a:solidFill>
                <a:latin typeface="Helvetica" pitchFamily="34" charset="0"/>
              </a:rPr>
              <a:t>Develop and administer human resource policies </a:t>
            </a:r>
            <a:br>
              <a:rPr lang="en-AU" sz="4000" b="1" i="1" dirty="0" smtClean="0">
                <a:solidFill>
                  <a:srgbClr val="FF6600"/>
                </a:solidFill>
                <a:latin typeface="Helvetica" pitchFamily="34" charset="0"/>
              </a:rPr>
            </a:br>
            <a:r>
              <a:rPr lang="en-AU" sz="4000" b="1" i="1" dirty="0" smtClean="0">
                <a:solidFill>
                  <a:srgbClr val="FF6600"/>
                </a:solidFill>
                <a:latin typeface="Helvetica" pitchFamily="34" charset="0"/>
              </a:rPr>
              <a:t>and procedures</a:t>
            </a:r>
            <a:endParaRPr lang="en-AU" sz="4000" b="1" i="1" dirty="0" smtClean="0">
              <a:latin typeface="Helvetica" pitchFamily="34" charset="0"/>
            </a:endParaRPr>
          </a:p>
          <a:p>
            <a:pPr marL="0">
              <a:spcBef>
                <a:spcPts val="600"/>
              </a:spcBef>
              <a:spcAft>
                <a:spcPts val="1200"/>
              </a:spcAft>
              <a:buNone/>
            </a:pPr>
            <a:endParaRPr lang="en-AU" sz="4000" b="1"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MP900422775.JPG"/>
          <p:cNvPicPr>
            <a:picLocks noChangeAspect="1"/>
          </p:cNvPicPr>
          <p:nvPr/>
        </p:nvPicPr>
        <p:blipFill>
          <a:blip r:embed="rId3" cstate="print"/>
          <a:stretch>
            <a:fillRect/>
          </a:stretch>
        </p:blipFill>
        <p:spPr>
          <a:xfrm>
            <a:off x="6400800" y="3505200"/>
            <a:ext cx="1981200" cy="19812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and administer human resource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Research and document enterprise needs in relation to human resource performance</a:t>
            </a:r>
          </a:p>
          <a:p>
            <a:pPr>
              <a:spcBef>
                <a:spcPts val="600"/>
              </a:spcBef>
              <a:spcAft>
                <a:spcPts val="1200"/>
              </a:spcAft>
            </a:pPr>
            <a:r>
              <a:rPr lang="en-AU" sz="2200" dirty="0" smtClean="0">
                <a:latin typeface="Helvetica" pitchFamily="34" charset="0"/>
              </a:rPr>
              <a:t>Develop and document organizational disciplinary policies and procedures</a:t>
            </a:r>
          </a:p>
          <a:p>
            <a:pPr>
              <a:spcBef>
                <a:spcPts val="600"/>
              </a:spcBef>
              <a:spcAft>
                <a:spcPts val="1200"/>
              </a:spcAft>
            </a:pPr>
            <a:r>
              <a:rPr lang="en-AU" sz="2200" dirty="0" smtClean="0">
                <a:latin typeface="Helvetica" pitchFamily="34" charset="0"/>
              </a:rPr>
              <a:t>Develop and document organizational issue </a:t>
            </a:r>
            <a:br>
              <a:rPr lang="en-AU" sz="2200" dirty="0" smtClean="0">
                <a:latin typeface="Helvetica" pitchFamily="34" charset="0"/>
              </a:rPr>
            </a:br>
            <a:r>
              <a:rPr lang="en-AU" sz="2200" dirty="0" smtClean="0">
                <a:latin typeface="Helvetica" pitchFamily="34" charset="0"/>
              </a:rPr>
              <a:t>resolution and grievance policies and </a:t>
            </a:r>
            <a:br>
              <a:rPr lang="en-AU" sz="2200" dirty="0" smtClean="0">
                <a:latin typeface="Helvetica" pitchFamily="34" charset="0"/>
              </a:rPr>
            </a:br>
            <a:r>
              <a:rPr lang="en-AU" sz="2200" dirty="0" smtClean="0">
                <a:latin typeface="Helvetica" pitchFamily="34" charset="0"/>
              </a:rPr>
              <a:t>procedures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00316817.jpg"/>
          <p:cNvPicPr>
            <a:picLocks noChangeAspect="1"/>
          </p:cNvPicPr>
          <p:nvPr/>
        </p:nvPicPr>
        <p:blipFill>
          <a:blip r:embed="rId3" cstate="print"/>
          <a:stretch>
            <a:fillRect/>
          </a:stretch>
        </p:blipFill>
        <p:spPr>
          <a:xfrm>
            <a:off x="7162800" y="3505200"/>
            <a:ext cx="1270000" cy="1905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and administer human resource policies and procedures</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Develop and document human resource manual to guide and govern day-to-day human resource practice</a:t>
            </a:r>
          </a:p>
          <a:p>
            <a:pPr>
              <a:spcBef>
                <a:spcPts val="600"/>
              </a:spcBef>
              <a:spcAft>
                <a:spcPts val="1200"/>
              </a:spcAft>
            </a:pPr>
            <a:r>
              <a:rPr lang="en-AU" sz="2200" dirty="0" smtClean="0">
                <a:latin typeface="Helvetica" pitchFamily="34" charset="0"/>
              </a:rPr>
              <a:t>Distribute and explain organizational human </a:t>
            </a:r>
            <a:br>
              <a:rPr lang="en-AU" sz="2200" dirty="0" smtClean="0">
                <a:latin typeface="Helvetica" pitchFamily="34" charset="0"/>
              </a:rPr>
            </a:br>
            <a:r>
              <a:rPr lang="en-AU" sz="2200" dirty="0" smtClean="0">
                <a:latin typeface="Helvetica" pitchFamily="34" charset="0"/>
              </a:rPr>
              <a:t>resource policies and 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00385537.jpg"/>
          <p:cNvPicPr>
            <a:picLocks noChangeAspect="1"/>
          </p:cNvPicPr>
          <p:nvPr/>
        </p:nvPicPr>
        <p:blipFill>
          <a:blip r:embed="rId3" cstate="print"/>
          <a:stretch>
            <a:fillRect/>
          </a:stretch>
        </p:blipFill>
        <p:spPr>
          <a:xfrm>
            <a:off x="7095304" y="3502144"/>
            <a:ext cx="1362896" cy="1908056"/>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fontScale="90000"/>
          </a:bodyPr>
          <a:lstStyle/>
          <a:p>
            <a:pPr marL="0">
              <a:spcBef>
                <a:spcPts val="600"/>
              </a:spcBef>
              <a:spcAft>
                <a:spcPts val="1200"/>
              </a:spcAft>
            </a:pPr>
            <a:r>
              <a:rPr lang="en-AU" sz="3400" b="1" dirty="0" smtClean="0">
                <a:solidFill>
                  <a:srgbClr val="FF6600"/>
                </a:solidFill>
                <a:latin typeface="Helvetica" pitchFamily="34" charset="0"/>
              </a:rPr>
              <a:t>Document enterprise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needs</a:t>
            </a:r>
          </a:p>
        </p:txBody>
      </p:sp>
      <p:sp>
        <p:nvSpPr>
          <p:cNvPr id="3" name="Content Placeholder 2"/>
          <p:cNvSpPr>
            <a:spLocks noGrp="1"/>
          </p:cNvSpPr>
          <p:nvPr>
            <p:ph idx="1"/>
          </p:nvPr>
        </p:nvSpPr>
        <p:spPr>
          <a:xfrm>
            <a:off x="611560" y="1295400"/>
            <a:ext cx="7467600" cy="5257800"/>
          </a:xfrm>
        </p:spPr>
        <p:txBody>
          <a:bodyPr>
            <a:normAutofit/>
          </a:bodyPr>
          <a:lstStyle/>
          <a:p>
            <a:pPr>
              <a:spcBef>
                <a:spcPts val="600"/>
              </a:spcBef>
              <a:spcAft>
                <a:spcPts val="1200"/>
              </a:spcAft>
              <a:buNone/>
            </a:pPr>
            <a:r>
              <a:rPr lang="en-AU" sz="2200" b="1" dirty="0" smtClean="0">
                <a:latin typeface="Helvetica" pitchFamily="34" charset="0"/>
              </a:rPr>
              <a:t>Importance of documenting needs</a:t>
            </a:r>
          </a:p>
          <a:p>
            <a:pPr marL="0">
              <a:spcBef>
                <a:spcPts val="600"/>
              </a:spcBef>
              <a:spcAft>
                <a:spcPts val="1200"/>
              </a:spcAft>
              <a:buNone/>
            </a:pPr>
            <a:r>
              <a:rPr lang="en-AU" sz="2200" dirty="0" smtClean="0">
                <a:latin typeface="Helvetica" pitchFamily="34" charset="0"/>
              </a:rPr>
              <a:t>Given that the Human Resources Department is often responsible for the hiring and development of staff it is only natural that they will take a proactive role in either establishing or documenting and controlling:</a:t>
            </a:r>
          </a:p>
          <a:p>
            <a:pPr>
              <a:spcBef>
                <a:spcPts val="600"/>
              </a:spcBef>
              <a:spcAft>
                <a:spcPts val="1200"/>
              </a:spcAft>
            </a:pPr>
            <a:r>
              <a:rPr lang="en-AU" sz="2200" dirty="0" smtClean="0">
                <a:latin typeface="Helvetica" pitchFamily="34" charset="0"/>
              </a:rPr>
              <a:t>Staff performance expectations </a:t>
            </a:r>
          </a:p>
          <a:p>
            <a:pPr>
              <a:spcBef>
                <a:spcPts val="600"/>
              </a:spcBef>
              <a:spcAft>
                <a:spcPts val="1200"/>
              </a:spcAft>
            </a:pPr>
            <a:r>
              <a:rPr lang="en-AU" sz="2200" dirty="0" smtClean="0">
                <a:latin typeface="Helvetica" pitchFamily="34" charset="0"/>
              </a:rPr>
              <a:t>Standard operating procedures </a:t>
            </a:r>
          </a:p>
          <a:p>
            <a:pPr>
              <a:spcBef>
                <a:spcPts val="600"/>
              </a:spcBef>
              <a:spcAft>
                <a:spcPts val="1200"/>
              </a:spcAft>
            </a:pPr>
            <a:r>
              <a:rPr lang="en-AU" sz="2200" dirty="0" smtClean="0">
                <a:latin typeface="Helvetica" pitchFamily="34" charset="0"/>
              </a:rPr>
              <a:t>Other staffing related matters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00396162.jpg"/>
          <p:cNvPicPr>
            <a:picLocks noChangeAspect="1"/>
          </p:cNvPicPr>
          <p:nvPr/>
        </p:nvPicPr>
        <p:blipFill>
          <a:blip r:embed="rId3" cstate="print"/>
          <a:stretch>
            <a:fillRect/>
          </a:stretch>
        </p:blipFill>
        <p:spPr>
          <a:xfrm>
            <a:off x="7300482" y="3666813"/>
            <a:ext cx="1157718" cy="1743387"/>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86544"/>
          </a:xfrm>
        </p:spPr>
        <p:txBody>
          <a:bodyPr>
            <a:normAutofit/>
          </a:bodyPr>
          <a:lstStyle/>
          <a:p>
            <a:r>
              <a:rPr lang="en-US" sz="3200" b="1" dirty="0" smtClean="0">
                <a:solidFill>
                  <a:srgbClr val="FF6600"/>
                </a:solidFill>
                <a:latin typeface="Helvetica" pitchFamily="34" charset="0"/>
              </a:rPr>
              <a:t>Performance standards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51992"/>
            <a:ext cx="7467600" cy="5301208"/>
          </a:xfrm>
        </p:spPr>
        <p:txBody>
          <a:bodyPr>
            <a:normAutofit/>
          </a:bodyPr>
          <a:lstStyle/>
          <a:p>
            <a:pPr>
              <a:spcBef>
                <a:spcPts val="600"/>
              </a:spcBef>
              <a:spcAft>
                <a:spcPts val="1200"/>
              </a:spcAft>
            </a:pPr>
            <a:r>
              <a:rPr lang="en-US" sz="2200" dirty="0" smtClean="0">
                <a:latin typeface="Helvetica" pitchFamily="34" charset="0"/>
              </a:rPr>
              <a:t>Every job has standards of performance that are required to be met by the employee undertaking that job </a:t>
            </a:r>
          </a:p>
          <a:p>
            <a:pPr>
              <a:spcBef>
                <a:spcPts val="600"/>
              </a:spcBef>
              <a:spcAft>
                <a:spcPts val="1200"/>
              </a:spcAft>
            </a:pPr>
            <a:r>
              <a:rPr lang="en-US" sz="2200" dirty="0" smtClean="0">
                <a:latin typeface="Helvetica" pitchFamily="34" charset="0"/>
              </a:rPr>
              <a:t>Performance standards are specific targets of what a staff member must achieve</a:t>
            </a:r>
          </a:p>
          <a:p>
            <a:pPr>
              <a:spcBef>
                <a:spcPts val="600"/>
              </a:spcBef>
              <a:spcAft>
                <a:spcPts val="1200"/>
              </a:spcAft>
            </a:pPr>
            <a:r>
              <a:rPr lang="en-US" sz="2200" dirty="0" smtClean="0">
                <a:latin typeface="Helvetica" pitchFamily="34" charset="0"/>
              </a:rPr>
              <a:t>What are examples of performance standards? </a:t>
            </a:r>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6" name="Picture 5" descr="MP900431761[1].JPG"/>
          <p:cNvPicPr>
            <a:picLocks noChangeAspect="1"/>
          </p:cNvPicPr>
          <p:nvPr/>
        </p:nvPicPr>
        <p:blipFill>
          <a:blip r:embed="rId3" cstate="print"/>
          <a:stretch>
            <a:fillRect/>
          </a:stretch>
        </p:blipFill>
        <p:spPr>
          <a:xfrm>
            <a:off x="6304801" y="3962400"/>
            <a:ext cx="2153399" cy="1435039"/>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86544"/>
          </a:xfrm>
        </p:spPr>
        <p:txBody>
          <a:bodyPr>
            <a:normAutofit/>
          </a:bodyPr>
          <a:lstStyle/>
          <a:p>
            <a:r>
              <a:rPr lang="en-US" sz="3200" b="1" dirty="0" smtClean="0">
                <a:solidFill>
                  <a:srgbClr val="FF6600"/>
                </a:solidFill>
                <a:latin typeface="Helvetica" pitchFamily="34" charset="0"/>
              </a:rPr>
              <a:t>Performance standards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lvl="0">
              <a:spcBef>
                <a:spcPts val="600"/>
              </a:spcBef>
              <a:spcAft>
                <a:spcPts val="1200"/>
              </a:spcAft>
              <a:buNone/>
            </a:pPr>
            <a:r>
              <a:rPr lang="en-US" sz="2200" b="1" dirty="0" smtClean="0">
                <a:latin typeface="Helvetica" pitchFamily="34" charset="0"/>
              </a:rPr>
              <a:t>Examples of performance standards</a:t>
            </a:r>
          </a:p>
          <a:p>
            <a:pPr lvl="0">
              <a:spcBef>
                <a:spcPts val="600"/>
              </a:spcBef>
              <a:spcAft>
                <a:spcPts val="1200"/>
              </a:spcAft>
            </a:pPr>
            <a:r>
              <a:rPr lang="en-US" sz="2200" dirty="0" smtClean="0">
                <a:latin typeface="Helvetica" pitchFamily="34" charset="0"/>
              </a:rPr>
              <a:t>The waiting time before presentation of the menu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number of tables to be covered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How a room should be cleaned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Time taken to set up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Deadlines for reports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Turnover targets</a:t>
            </a: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7" name="Picture 6" descr="MP900408879[1].JPG"/>
          <p:cNvPicPr/>
          <p:nvPr/>
        </p:nvPicPr>
        <p:blipFill>
          <a:blip r:embed="rId3" cstate="print"/>
          <a:stretch>
            <a:fillRect/>
          </a:stretch>
        </p:blipFill>
        <p:spPr>
          <a:xfrm>
            <a:off x="6672089" y="3547889"/>
            <a:ext cx="1786111" cy="1786111"/>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US" sz="3200" b="1" dirty="0" smtClean="0">
                <a:solidFill>
                  <a:srgbClr val="FF6600"/>
                </a:solidFill>
                <a:latin typeface="Helvetica" pitchFamily="34" charset="0"/>
              </a:rPr>
              <a:t>Performance standards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5301208"/>
          </a:xfrm>
        </p:spPr>
        <p:txBody>
          <a:bodyPr>
            <a:normAutofit/>
          </a:bodyPr>
          <a:lstStyle/>
          <a:p>
            <a:pPr>
              <a:spcBef>
                <a:spcPts val="600"/>
              </a:spcBef>
              <a:spcAft>
                <a:spcPts val="1200"/>
              </a:spcAft>
              <a:buNone/>
            </a:pPr>
            <a:r>
              <a:rPr lang="en-AU" sz="2200" b="1" dirty="0" smtClean="0">
                <a:latin typeface="Helvetica" pitchFamily="34" charset="0"/>
              </a:rPr>
              <a:t>Where do performance standards come from?</a:t>
            </a:r>
          </a:p>
          <a:p>
            <a:pPr marL="0">
              <a:spcBef>
                <a:spcPts val="600"/>
              </a:spcBef>
              <a:spcAft>
                <a:spcPts val="1200"/>
              </a:spcAft>
              <a:buNone/>
            </a:pPr>
            <a:r>
              <a:rPr lang="en-AU" sz="2200" dirty="0" smtClean="0">
                <a:latin typeface="Helvetica" pitchFamily="34" charset="0"/>
              </a:rPr>
              <a:t>Performance </a:t>
            </a:r>
            <a:r>
              <a:rPr lang="en-AU" sz="2200" dirty="0" smtClean="0">
                <a:latin typeface="Helvetica" pitchFamily="34" charset="0"/>
              </a:rPr>
              <a:t>standard represent the level of performance and behaviour necessary for the job to be done successfully and are derived from:</a:t>
            </a:r>
          </a:p>
          <a:p>
            <a:pPr lvl="0">
              <a:spcBef>
                <a:spcPts val="600"/>
              </a:spcBef>
              <a:spcAft>
                <a:spcPts val="1200"/>
              </a:spcAft>
            </a:pPr>
            <a:r>
              <a:rPr lang="en-AU" sz="2200" dirty="0" smtClean="0">
                <a:latin typeface="Helvetica" pitchFamily="34" charset="0"/>
              </a:rPr>
              <a:t>Personal observation of actual practice</a:t>
            </a:r>
          </a:p>
          <a:p>
            <a:pPr lvl="0">
              <a:spcBef>
                <a:spcPts val="600"/>
              </a:spcBef>
              <a:spcAft>
                <a:spcPts val="1200"/>
              </a:spcAft>
            </a:pPr>
            <a:r>
              <a:rPr lang="en-AU" sz="2200" dirty="0" smtClean="0">
                <a:latin typeface="Helvetica" pitchFamily="34" charset="0"/>
              </a:rPr>
              <a:t>Past performance records</a:t>
            </a:r>
            <a:endParaRPr lang="en-AU" sz="24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6" name="Picture 5" descr="MP900182605[1].JPG"/>
          <p:cNvPicPr>
            <a:picLocks noChangeAspect="1"/>
          </p:cNvPicPr>
          <p:nvPr/>
        </p:nvPicPr>
        <p:blipFill>
          <a:blip r:embed="rId3" cstate="print"/>
          <a:stretch>
            <a:fillRect/>
          </a:stretch>
        </p:blipFill>
        <p:spPr>
          <a:xfrm>
            <a:off x="7020555" y="3276600"/>
            <a:ext cx="1437645" cy="214573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86544"/>
          </a:xfrm>
        </p:spPr>
        <p:txBody>
          <a:bodyPr>
            <a:normAutofit/>
          </a:bodyPr>
          <a:lstStyle/>
          <a:p>
            <a:r>
              <a:rPr lang="en-US" sz="3200" b="1" dirty="0" smtClean="0">
                <a:solidFill>
                  <a:srgbClr val="FF6600"/>
                </a:solidFill>
                <a:latin typeface="Helvetica" pitchFamily="34" charset="0"/>
              </a:rPr>
              <a:t>Performance standards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a:spcBef>
                <a:spcPts val="600"/>
              </a:spcBef>
              <a:spcAft>
                <a:spcPts val="1200"/>
              </a:spcAft>
              <a:buNone/>
            </a:pPr>
            <a:r>
              <a:rPr lang="en-US" sz="2200" b="1" dirty="0" smtClean="0">
                <a:latin typeface="Helvetica" pitchFamily="34" charset="0"/>
              </a:rPr>
              <a:t>Where </a:t>
            </a:r>
            <a:r>
              <a:rPr lang="en-US" sz="2200" b="1" dirty="0" smtClean="0">
                <a:latin typeface="Helvetica" pitchFamily="34" charset="0"/>
              </a:rPr>
              <a:t>do performance standards come from?</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Time-work studies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Production and technical information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Industry standards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Consultation with employees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Benchmarking (best practice)</a:t>
            </a: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MP900442939[1].JPG"/>
          <p:cNvPicPr>
            <a:picLocks noChangeAspect="1"/>
          </p:cNvPicPr>
          <p:nvPr/>
        </p:nvPicPr>
        <p:blipFill>
          <a:blip r:embed="rId3" cstate="print"/>
          <a:stretch>
            <a:fillRect/>
          </a:stretch>
        </p:blipFill>
        <p:spPr>
          <a:xfrm>
            <a:off x="6756460" y="2895600"/>
            <a:ext cx="1674308" cy="2508504"/>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US" sz="3200" b="1" dirty="0" smtClean="0">
                <a:solidFill>
                  <a:srgbClr val="FF6600"/>
                </a:solidFill>
                <a:latin typeface="Helvetica" pitchFamily="34" charset="0"/>
              </a:rPr>
              <a:t>Performance standards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a:spcBef>
                <a:spcPts val="600"/>
              </a:spcBef>
              <a:spcAft>
                <a:spcPts val="1200"/>
              </a:spcAft>
              <a:buNone/>
            </a:pPr>
            <a:r>
              <a:rPr lang="en-US" sz="2200" b="1" dirty="0" smtClean="0">
                <a:latin typeface="Helvetica" pitchFamily="34" charset="0"/>
              </a:rPr>
              <a:t>Documentation of performance standards</a:t>
            </a:r>
            <a:endParaRPr lang="en-AU" sz="2200" b="1" dirty="0" smtClean="0">
              <a:latin typeface="Helvetica" pitchFamily="34" charset="0"/>
            </a:endParaRPr>
          </a:p>
          <a:p>
            <a:pPr>
              <a:spcBef>
                <a:spcPts val="600"/>
              </a:spcBef>
              <a:spcAft>
                <a:spcPts val="1200"/>
              </a:spcAft>
              <a:buNone/>
            </a:pPr>
            <a:r>
              <a:rPr lang="en-US" sz="2200" dirty="0" smtClean="0">
                <a:latin typeface="Helvetica" pitchFamily="34" charset="0"/>
              </a:rPr>
              <a:t>Standards of performance can be documented in either: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job description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An employment contract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Company policy documents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Induction and orientation</a:t>
            </a:r>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Picture 5" descr="00409605.jpg"/>
          <p:cNvPicPr/>
          <p:nvPr/>
        </p:nvPicPr>
        <p:blipFill>
          <a:blip r:embed="rId3" cstate="print"/>
          <a:stretch>
            <a:fillRect/>
          </a:stretch>
        </p:blipFill>
        <p:spPr>
          <a:xfrm>
            <a:off x="6907535" y="3188593"/>
            <a:ext cx="1550665" cy="2145407"/>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86544"/>
          </a:xfrm>
        </p:spPr>
        <p:txBody>
          <a:bodyPr>
            <a:normAutofit/>
          </a:bodyPr>
          <a:lstStyle/>
          <a:p>
            <a:r>
              <a:rPr lang="en-AU" sz="3200" b="1" dirty="0" smtClean="0">
                <a:solidFill>
                  <a:srgbClr val="FF6600"/>
                </a:solidFill>
                <a:latin typeface="Helvetica" pitchFamily="34" charset="0"/>
              </a:rPr>
              <a:t>Types of performance standards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a:spcBef>
                <a:spcPts val="600"/>
              </a:spcBef>
              <a:spcAft>
                <a:spcPts val="1200"/>
              </a:spcAft>
            </a:pPr>
            <a:r>
              <a:rPr lang="en-AU" sz="2200" dirty="0" smtClean="0">
                <a:latin typeface="Helvetica" pitchFamily="34" charset="0"/>
              </a:rPr>
              <a:t>Productivity</a:t>
            </a:r>
          </a:p>
          <a:p>
            <a:pPr>
              <a:spcBef>
                <a:spcPts val="600"/>
              </a:spcBef>
              <a:spcAft>
                <a:spcPts val="1200"/>
              </a:spcAft>
            </a:pPr>
            <a:r>
              <a:rPr lang="en-AU" sz="2200" dirty="0" smtClean="0">
                <a:latin typeface="Helvetica" pitchFamily="34" charset="0"/>
              </a:rPr>
              <a:t>Punctuality</a:t>
            </a:r>
          </a:p>
          <a:p>
            <a:pPr>
              <a:spcBef>
                <a:spcPts val="600"/>
              </a:spcBef>
              <a:spcAft>
                <a:spcPts val="1200"/>
              </a:spcAft>
            </a:pPr>
            <a:r>
              <a:rPr lang="en-AU" sz="2200" dirty="0" smtClean="0">
                <a:latin typeface="Helvetica" pitchFamily="34" charset="0"/>
              </a:rPr>
              <a:t>Personal presentation</a:t>
            </a:r>
          </a:p>
          <a:p>
            <a:pPr>
              <a:spcBef>
                <a:spcPts val="600"/>
              </a:spcBef>
              <a:spcAft>
                <a:spcPts val="1200"/>
              </a:spcAft>
            </a:pPr>
            <a:r>
              <a:rPr lang="en-AU" sz="2200" dirty="0" smtClean="0">
                <a:latin typeface="Helvetica" pitchFamily="34" charset="0"/>
              </a:rPr>
              <a:t>Level of accuracy in work performed</a:t>
            </a:r>
          </a:p>
          <a:p>
            <a:pPr>
              <a:spcBef>
                <a:spcPts val="600"/>
              </a:spcBef>
              <a:spcAft>
                <a:spcPts val="1200"/>
              </a:spcAft>
            </a:pPr>
            <a:r>
              <a:rPr lang="en-AU" sz="2200" dirty="0" smtClean="0">
                <a:latin typeface="Helvetica" pitchFamily="34" charset="0"/>
              </a:rPr>
              <a:t>Adherence to procedures</a:t>
            </a:r>
          </a:p>
          <a:p>
            <a:pPr>
              <a:spcBef>
                <a:spcPts val="600"/>
              </a:spcBef>
              <a:spcAft>
                <a:spcPts val="1200"/>
              </a:spcAft>
            </a:pPr>
            <a:r>
              <a:rPr lang="en-AU" sz="2200" dirty="0" smtClean="0">
                <a:latin typeface="Helvetica" pitchFamily="34" charset="0"/>
              </a:rPr>
              <a:t>Customer service standards</a:t>
            </a:r>
          </a:p>
          <a:p>
            <a:pPr>
              <a:spcBef>
                <a:spcPts val="600"/>
              </a:spcBef>
              <a:spcAft>
                <a:spcPts val="1200"/>
              </a:spcAft>
            </a:pPr>
            <a:r>
              <a:rPr lang="en-AU" sz="2200" dirty="0" smtClean="0">
                <a:latin typeface="Helvetica" pitchFamily="34" charset="0"/>
              </a:rPr>
              <a:t>Team interaction</a:t>
            </a:r>
          </a:p>
          <a:p>
            <a:pPr>
              <a:spcBef>
                <a:spcPts val="600"/>
              </a:spcBef>
              <a:spcAft>
                <a:spcPts val="1200"/>
              </a:spcAft>
            </a:pPr>
            <a:r>
              <a:rPr lang="en-AU" sz="2200" dirty="0" smtClean="0">
                <a:latin typeface="Helvetica" pitchFamily="34" charset="0"/>
              </a:rPr>
              <a:t>Response times/waiting times</a:t>
            </a:r>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Event 30.JPG"/>
          <p:cNvPicPr/>
          <p:nvPr/>
        </p:nvPicPr>
        <p:blipFill>
          <a:blip r:embed="rId3" cstate="print"/>
          <a:stretch>
            <a:fillRect/>
          </a:stretch>
        </p:blipFill>
        <p:spPr>
          <a:xfrm>
            <a:off x="6172200" y="3886200"/>
            <a:ext cx="2269098" cy="1629147"/>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86544"/>
          </a:xfrm>
        </p:spPr>
        <p:txBody>
          <a:bodyPr>
            <a:normAutofit/>
          </a:bodyPr>
          <a:lstStyle/>
          <a:p>
            <a:r>
              <a:rPr lang="en-AU" sz="3200" b="1" dirty="0" smtClean="0">
                <a:solidFill>
                  <a:srgbClr val="FF6600"/>
                </a:solidFill>
                <a:latin typeface="Helvetica" pitchFamily="34" charset="0"/>
              </a:rPr>
              <a:t>Job behaviour standards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95400"/>
            <a:ext cx="7467600" cy="5301208"/>
          </a:xfrm>
        </p:spPr>
        <p:txBody>
          <a:bodyPr>
            <a:normAutofit/>
          </a:bodyPr>
          <a:lstStyle/>
          <a:p>
            <a:pPr marL="0">
              <a:spcBef>
                <a:spcPts val="600"/>
              </a:spcBef>
              <a:spcAft>
                <a:spcPts val="1200"/>
              </a:spcAft>
              <a:buNone/>
            </a:pPr>
            <a:r>
              <a:rPr lang="en-AU" sz="2200" dirty="0" smtClean="0">
                <a:latin typeface="Helvetica" pitchFamily="34" charset="0"/>
              </a:rPr>
              <a:t>As well as having performance standards for the various jobs, an organisation will also have job behaviour standards for employees. </a:t>
            </a:r>
          </a:p>
          <a:p>
            <a:pPr>
              <a:spcBef>
                <a:spcPts val="600"/>
              </a:spcBef>
              <a:spcAft>
                <a:spcPts val="1200"/>
              </a:spcAft>
              <a:buNone/>
            </a:pPr>
            <a:r>
              <a:rPr lang="en-AU" sz="2200" dirty="0" smtClean="0">
                <a:latin typeface="Helvetica" pitchFamily="34" charset="0"/>
              </a:rPr>
              <a:t>These include:</a:t>
            </a:r>
          </a:p>
          <a:p>
            <a:pPr>
              <a:spcBef>
                <a:spcPts val="600"/>
              </a:spcBef>
              <a:spcAft>
                <a:spcPts val="1200"/>
              </a:spcAft>
            </a:pPr>
            <a:r>
              <a:rPr lang="en-AU" sz="2200" dirty="0" smtClean="0">
                <a:latin typeface="Helvetica" pitchFamily="34" charset="0"/>
              </a:rPr>
              <a:t>Initiative</a:t>
            </a:r>
          </a:p>
          <a:p>
            <a:pPr>
              <a:spcBef>
                <a:spcPts val="600"/>
              </a:spcBef>
              <a:spcAft>
                <a:spcPts val="1200"/>
              </a:spcAft>
            </a:pPr>
            <a:r>
              <a:rPr lang="en-AU" sz="2200" dirty="0" smtClean="0">
                <a:latin typeface="Helvetica" pitchFamily="34" charset="0"/>
              </a:rPr>
              <a:t>Motivation</a:t>
            </a:r>
          </a:p>
          <a:p>
            <a:pPr>
              <a:spcBef>
                <a:spcPts val="600"/>
              </a:spcBef>
              <a:spcAft>
                <a:spcPts val="1200"/>
              </a:spcAft>
            </a:pPr>
            <a:r>
              <a:rPr lang="en-AU" sz="2200" dirty="0" smtClean="0">
                <a:latin typeface="Helvetica" pitchFamily="34" charset="0"/>
              </a:rPr>
              <a:t>Attitude</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400" b="1" dirty="0" smtClean="0"/>
          </a:p>
          <a:p>
            <a:endParaRPr lang="en-AU" sz="2400" b="1"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Business Man.JPG"/>
          <p:cNvPicPr>
            <a:picLocks noChangeAspect="1"/>
          </p:cNvPicPr>
          <p:nvPr/>
        </p:nvPicPr>
        <p:blipFill>
          <a:blip r:embed="rId3" cstate="print"/>
          <a:srcRect l="24670" r="5431"/>
          <a:stretch>
            <a:fillRect/>
          </a:stretch>
        </p:blipFill>
        <p:spPr>
          <a:xfrm>
            <a:off x="7010400" y="2286000"/>
            <a:ext cx="1295400" cy="278512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AU" sz="3200" b="1" dirty="0" smtClean="0">
                <a:solidFill>
                  <a:srgbClr val="FF6600"/>
                </a:solidFill>
                <a:latin typeface="Helvetica" pitchFamily="34" charset="0"/>
              </a:rPr>
              <a:t>Job behaviour standards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a:spcBef>
                <a:spcPts val="600"/>
              </a:spcBef>
              <a:spcAft>
                <a:spcPts val="1200"/>
              </a:spcAft>
            </a:pPr>
            <a:r>
              <a:rPr lang="en-AU" sz="2200" dirty="0" smtClean="0">
                <a:latin typeface="Helvetica" pitchFamily="34" charset="0"/>
              </a:rPr>
              <a:t>Punctuality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Dependability</a:t>
            </a:r>
          </a:p>
          <a:p>
            <a:pPr>
              <a:spcBef>
                <a:spcPts val="600"/>
              </a:spcBef>
              <a:spcAft>
                <a:spcPts val="1200"/>
              </a:spcAft>
            </a:pPr>
            <a:r>
              <a:rPr lang="en-AU" sz="2200" dirty="0" smtClean="0">
                <a:latin typeface="Helvetica" pitchFamily="34" charset="0"/>
              </a:rPr>
              <a:t>Appearance</a:t>
            </a:r>
          </a:p>
          <a:p>
            <a:pPr>
              <a:spcBef>
                <a:spcPts val="600"/>
              </a:spcBef>
              <a:spcAft>
                <a:spcPts val="1200"/>
              </a:spcAft>
            </a:pPr>
            <a:r>
              <a:rPr lang="en-AU" sz="2200" dirty="0" smtClean="0">
                <a:latin typeface="Helvetica" pitchFamily="34" charset="0"/>
              </a:rPr>
              <a:t>Communication skills</a:t>
            </a:r>
          </a:p>
          <a:p>
            <a:pPr>
              <a:spcBef>
                <a:spcPts val="600"/>
              </a:spcBef>
              <a:spcAft>
                <a:spcPts val="1200"/>
              </a:spcAft>
            </a:pPr>
            <a:r>
              <a:rPr lang="en-AU" sz="2200" dirty="0" smtClean="0">
                <a:latin typeface="Helvetica" pitchFamily="34" charset="0"/>
              </a:rPr>
              <a:t>Teamwork</a:t>
            </a:r>
            <a:endParaRPr lang="en-AU" sz="2400" b="1" dirty="0" smtClean="0"/>
          </a:p>
          <a:p>
            <a:endParaRPr lang="en-AU" sz="2400" b="1"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descr="Business Woman 1.JPG"/>
          <p:cNvPicPr>
            <a:picLocks noChangeAspect="1"/>
          </p:cNvPicPr>
          <p:nvPr/>
        </p:nvPicPr>
        <p:blipFill>
          <a:blip r:embed="rId3" cstate="print"/>
          <a:srcRect l="15707" t="19120" r="18325"/>
          <a:stretch>
            <a:fillRect/>
          </a:stretch>
        </p:blipFill>
        <p:spPr>
          <a:xfrm>
            <a:off x="6858000" y="2438400"/>
            <a:ext cx="1399507" cy="2578631"/>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AU" sz="3200" b="1" dirty="0" smtClean="0">
                <a:solidFill>
                  <a:srgbClr val="FF6600"/>
                </a:solidFill>
                <a:latin typeface="Helvetica" pitchFamily="34" charset="0"/>
              </a:rPr>
              <a:t>Preparing SOP’s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lvl="0">
              <a:spcBef>
                <a:spcPts val="600"/>
              </a:spcBef>
              <a:spcAft>
                <a:spcPts val="1200"/>
              </a:spcAft>
            </a:pPr>
            <a:r>
              <a:rPr lang="en-AU" sz="2200" dirty="0" smtClean="0">
                <a:latin typeface="Helvetica" pitchFamily="34" charset="0"/>
              </a:rPr>
              <a:t>Standard Operating Procedures (SOP) – standard instructions indicating how to perform specific tasks and the order of sequence</a:t>
            </a:r>
          </a:p>
          <a:p>
            <a:pPr lvl="0">
              <a:spcBef>
                <a:spcPts val="600"/>
              </a:spcBef>
              <a:spcAft>
                <a:spcPts val="1200"/>
              </a:spcAft>
            </a:pPr>
            <a:r>
              <a:rPr lang="en-AU" sz="2200" dirty="0" smtClean="0">
                <a:latin typeface="Helvetica" pitchFamily="34" charset="0"/>
              </a:rPr>
              <a:t>Policies – rules to follow in an organisation relating to difference circumstances</a:t>
            </a:r>
          </a:p>
          <a:p>
            <a:pPr lvl="0">
              <a:spcBef>
                <a:spcPts val="600"/>
              </a:spcBef>
              <a:spcAft>
                <a:spcPts val="1200"/>
              </a:spcAft>
            </a:pPr>
            <a:r>
              <a:rPr lang="en-AU" sz="2200" dirty="0" smtClean="0">
                <a:latin typeface="Helvetica" pitchFamily="34" charset="0"/>
              </a:rPr>
              <a:t>Procedures – step by step instruction detailing </a:t>
            </a:r>
            <a:br>
              <a:rPr lang="en-AU" sz="2200" dirty="0" smtClean="0">
                <a:latin typeface="Helvetica" pitchFamily="34" charset="0"/>
              </a:rPr>
            </a:br>
            <a:r>
              <a:rPr lang="en-AU" sz="2200" dirty="0" smtClean="0">
                <a:latin typeface="Helvetica" pitchFamily="34" charset="0"/>
              </a:rPr>
              <a:t>how to complete an activity</a:t>
            </a:r>
          </a:p>
          <a:p>
            <a:pPr>
              <a:spcBef>
                <a:spcPts val="600"/>
              </a:spcBef>
              <a:spcAft>
                <a:spcPts val="1200"/>
              </a:spcAft>
            </a:pPr>
            <a:r>
              <a:rPr lang="en-AU" sz="2200" dirty="0" smtClean="0">
                <a:latin typeface="Helvetica" pitchFamily="34" charset="0"/>
              </a:rPr>
              <a:t>Daily Task Sheets</a:t>
            </a: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7" name="Picture 6" descr="MP900422539.JPG"/>
          <p:cNvPicPr/>
          <p:nvPr/>
        </p:nvPicPr>
        <p:blipFill>
          <a:blip r:embed="rId3" cstate="print"/>
          <a:stretch>
            <a:fillRect/>
          </a:stretch>
        </p:blipFill>
        <p:spPr>
          <a:xfrm>
            <a:off x="7090410" y="3733800"/>
            <a:ext cx="1367790" cy="162877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AU" sz="3200" b="1" dirty="0" smtClean="0">
                <a:solidFill>
                  <a:srgbClr val="FF6600"/>
                </a:solidFill>
                <a:latin typeface="Helvetica" pitchFamily="34" charset="0"/>
              </a:rPr>
              <a:t>Preparing documents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301208"/>
          </a:xfrm>
        </p:spPr>
        <p:txBody>
          <a:bodyPr>
            <a:normAutofit/>
          </a:bodyPr>
          <a:lstStyle/>
          <a:p>
            <a:pPr>
              <a:spcBef>
                <a:spcPts val="600"/>
              </a:spcBef>
              <a:spcAft>
                <a:spcPts val="1200"/>
              </a:spcAft>
              <a:buNone/>
            </a:pPr>
            <a:r>
              <a:rPr lang="en-AU" sz="2200" b="1" dirty="0" smtClean="0">
                <a:latin typeface="Helvetica" pitchFamily="34" charset="0"/>
              </a:rPr>
              <a:t>Who prepares the documents?</a:t>
            </a:r>
          </a:p>
          <a:p>
            <a:pPr marL="0">
              <a:spcBef>
                <a:spcPts val="600"/>
              </a:spcBef>
              <a:spcAft>
                <a:spcPts val="1200"/>
              </a:spcAft>
              <a:buNone/>
            </a:pPr>
            <a:r>
              <a:rPr lang="en-AU" sz="2200" dirty="0" smtClean="0">
                <a:latin typeface="Helvetica" pitchFamily="34" charset="0"/>
              </a:rPr>
              <a:t>The  documents may be prepared or incorporate the involvement of three main areas: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Head office</a:t>
            </a:r>
          </a:p>
          <a:p>
            <a:pPr lvl="0">
              <a:spcBef>
                <a:spcPts val="600"/>
              </a:spcBef>
              <a:spcAft>
                <a:spcPts val="1200"/>
              </a:spcAft>
            </a:pPr>
            <a:r>
              <a:rPr lang="en-AU" sz="2200" dirty="0" smtClean="0">
                <a:latin typeface="Helvetica" pitchFamily="34" charset="0"/>
              </a:rPr>
              <a:t>Human Resources</a:t>
            </a:r>
          </a:p>
          <a:p>
            <a:pPr>
              <a:spcBef>
                <a:spcPts val="600"/>
              </a:spcBef>
              <a:spcAft>
                <a:spcPts val="1200"/>
              </a:spcAft>
            </a:pPr>
            <a:r>
              <a:rPr lang="en-AU" sz="2200" dirty="0" smtClean="0">
                <a:latin typeface="Helvetica" pitchFamily="34" charset="0"/>
              </a:rPr>
              <a:t>Departmental or outlet managers</a:t>
            </a:r>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6" name="Picture 5" descr="Event 21.JPG"/>
          <p:cNvPicPr/>
          <p:nvPr/>
        </p:nvPicPr>
        <p:blipFill>
          <a:blip r:embed="rId3" cstate="print"/>
          <a:stretch>
            <a:fillRect/>
          </a:stretch>
        </p:blipFill>
        <p:spPr>
          <a:xfrm>
            <a:off x="6314703" y="3810000"/>
            <a:ext cx="2143497" cy="1566664"/>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10344"/>
          </a:xfrm>
        </p:spPr>
        <p:txBody>
          <a:bodyPr>
            <a:normAutofit/>
          </a:bodyPr>
          <a:lstStyle/>
          <a:p>
            <a:r>
              <a:rPr lang="en-AU" sz="3200" b="1" dirty="0" smtClean="0">
                <a:solidFill>
                  <a:srgbClr val="FF6600"/>
                </a:solidFill>
                <a:latin typeface="Helvetica" pitchFamily="34" charset="0"/>
              </a:rPr>
              <a:t>Communicating documents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5301208"/>
          </a:xfrm>
        </p:spPr>
        <p:txBody>
          <a:bodyPr>
            <a:normAutofit/>
          </a:bodyPr>
          <a:lstStyle/>
          <a:p>
            <a:pPr>
              <a:spcBef>
                <a:spcPts val="600"/>
              </a:spcBef>
              <a:spcAft>
                <a:spcPts val="1200"/>
              </a:spcAft>
              <a:buNone/>
            </a:pPr>
            <a:r>
              <a:rPr lang="en-AU" sz="2200" b="1" dirty="0" smtClean="0">
                <a:latin typeface="Helvetica" pitchFamily="34" charset="0"/>
              </a:rPr>
              <a:t>Methods of communicating the standards </a:t>
            </a:r>
          </a:p>
          <a:p>
            <a:pPr>
              <a:spcBef>
                <a:spcPts val="600"/>
              </a:spcBef>
              <a:spcAft>
                <a:spcPts val="1200"/>
              </a:spcAft>
            </a:pPr>
            <a:r>
              <a:rPr lang="en-AU" sz="2200" dirty="0" smtClean="0">
                <a:latin typeface="Helvetica" pitchFamily="34" charset="0"/>
              </a:rPr>
              <a:t>As part of the induction and orientation</a:t>
            </a:r>
          </a:p>
          <a:p>
            <a:pPr lvl="0">
              <a:spcBef>
                <a:spcPts val="600"/>
              </a:spcBef>
              <a:spcAft>
                <a:spcPts val="1200"/>
              </a:spcAft>
            </a:pPr>
            <a:r>
              <a:rPr lang="en-AU" sz="2200" dirty="0" smtClean="0">
                <a:latin typeface="Helvetica" pitchFamily="34" charset="0"/>
              </a:rPr>
              <a:t>During mandatory in-house training programs</a:t>
            </a:r>
          </a:p>
          <a:p>
            <a:pPr lvl="0">
              <a:spcBef>
                <a:spcPts val="600"/>
              </a:spcBef>
              <a:spcAft>
                <a:spcPts val="1200"/>
              </a:spcAft>
            </a:pPr>
            <a:r>
              <a:rPr lang="en-AU" sz="2200" dirty="0" smtClean="0">
                <a:latin typeface="Helvetica" pitchFamily="34" charset="0"/>
              </a:rPr>
              <a:t>During staff meetings, briefings and de-briefings</a:t>
            </a:r>
          </a:p>
          <a:p>
            <a:pPr lvl="0">
              <a:spcBef>
                <a:spcPts val="600"/>
              </a:spcBef>
              <a:spcAft>
                <a:spcPts val="1200"/>
              </a:spcAft>
            </a:pPr>
            <a:r>
              <a:rPr lang="en-AU" sz="2200" dirty="0" smtClean="0">
                <a:latin typeface="Helvetica" pitchFamily="34" charset="0"/>
              </a:rPr>
              <a:t>On posters throughout the workplace</a:t>
            </a:r>
          </a:p>
          <a:p>
            <a:pPr lvl="0">
              <a:spcBef>
                <a:spcPts val="600"/>
              </a:spcBef>
              <a:spcAft>
                <a:spcPts val="1200"/>
              </a:spcAft>
            </a:pPr>
            <a:r>
              <a:rPr lang="en-AU" sz="2200" dirty="0" smtClean="0">
                <a:latin typeface="Helvetica" pitchFamily="34" charset="0"/>
              </a:rPr>
              <a:t>On the intranet</a:t>
            </a:r>
          </a:p>
          <a:p>
            <a:pPr>
              <a:buNone/>
            </a:pPr>
            <a:endParaRPr lang="en-AU" sz="2400" b="1" dirty="0" smtClean="0"/>
          </a:p>
          <a:p>
            <a:endParaRPr lang="en-AU" sz="2400" b="1"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8" name="Picture 7" descr="11111.jpg"/>
          <p:cNvPicPr/>
          <p:nvPr/>
        </p:nvPicPr>
        <p:blipFill>
          <a:blip r:embed="rId3" cstate="print"/>
          <a:stretch>
            <a:fillRect/>
          </a:stretch>
        </p:blipFill>
        <p:spPr>
          <a:xfrm>
            <a:off x="7012310" y="3429000"/>
            <a:ext cx="1445890" cy="213702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Disciplinary policies and procedures</a:t>
            </a:r>
          </a:p>
        </p:txBody>
      </p:sp>
      <p:sp>
        <p:nvSpPr>
          <p:cNvPr id="3" name="Content Placeholder 2"/>
          <p:cNvSpPr>
            <a:spLocks noGrp="1"/>
          </p:cNvSpPr>
          <p:nvPr>
            <p:ph idx="1"/>
          </p:nvPr>
        </p:nvSpPr>
        <p:spPr>
          <a:xfrm>
            <a:off x="611560" y="1219200"/>
            <a:ext cx="7467600" cy="4525963"/>
          </a:xfrm>
        </p:spPr>
        <p:txBody>
          <a:bodyPr>
            <a:normAutofit/>
          </a:bodyPr>
          <a:lstStyle/>
          <a:p>
            <a:pPr marL="0">
              <a:spcBef>
                <a:spcPts val="600"/>
              </a:spcBef>
              <a:spcAft>
                <a:spcPts val="1200"/>
              </a:spcAft>
              <a:buNone/>
            </a:pPr>
            <a:r>
              <a:rPr lang="en-AU" sz="2200" b="1" dirty="0" smtClean="0">
                <a:latin typeface="Helvetica" pitchFamily="34" charset="0"/>
              </a:rPr>
              <a:t>Develop and document organisational disciplinary policies and procedures</a:t>
            </a:r>
          </a:p>
          <a:p>
            <a:pPr>
              <a:spcBef>
                <a:spcPts val="600"/>
              </a:spcBef>
              <a:spcAft>
                <a:spcPts val="1200"/>
              </a:spcAft>
            </a:pPr>
            <a:r>
              <a:rPr lang="en-AU" sz="2200" dirty="0" smtClean="0">
                <a:latin typeface="Helvetica" pitchFamily="34" charset="0"/>
              </a:rPr>
              <a:t>Disciplinary action will need to be considered whenever a staff member, regardless of position or rank violates establishment policies</a:t>
            </a:r>
          </a:p>
          <a:p>
            <a:pPr>
              <a:spcBef>
                <a:spcPts val="600"/>
              </a:spcBef>
              <a:spcAft>
                <a:spcPts val="1200"/>
              </a:spcAft>
            </a:pPr>
            <a:r>
              <a:rPr lang="en-AU" sz="2200" dirty="0" smtClean="0">
                <a:latin typeface="Helvetica" pitchFamily="34" charset="0"/>
              </a:rPr>
              <a:t>Disciplinary policies and procedures are </a:t>
            </a:r>
            <a:br>
              <a:rPr lang="en-AU" sz="2200" dirty="0" smtClean="0">
                <a:latin typeface="Helvetica" pitchFamily="34" charset="0"/>
              </a:rPr>
            </a:br>
            <a:r>
              <a:rPr lang="en-AU" sz="2200" dirty="0" smtClean="0">
                <a:latin typeface="Helvetica" pitchFamily="34" charset="0"/>
              </a:rPr>
              <a:t>enforced by HR departments in the event </a:t>
            </a:r>
            <a:br>
              <a:rPr lang="en-AU" sz="2200" dirty="0" smtClean="0">
                <a:latin typeface="Helvetica" pitchFamily="34" charset="0"/>
              </a:rPr>
            </a:br>
            <a:r>
              <a:rPr lang="en-AU" sz="2200" dirty="0" smtClean="0">
                <a:latin typeface="Helvetica" pitchFamily="34" charset="0"/>
              </a:rPr>
              <a:t>of a breach by an employee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MB900443001.JPG"/>
          <p:cNvPicPr/>
          <p:nvPr/>
        </p:nvPicPr>
        <p:blipFill>
          <a:blip r:embed="rId3" cstate="print"/>
          <a:stretch>
            <a:fillRect/>
          </a:stretch>
        </p:blipFill>
        <p:spPr>
          <a:xfrm>
            <a:off x="6858000" y="3886200"/>
            <a:ext cx="1600200" cy="14478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Disciplinary policies and procedures</a:t>
            </a:r>
          </a:p>
        </p:txBody>
      </p:sp>
      <p:sp>
        <p:nvSpPr>
          <p:cNvPr id="3" name="Content Placeholder 2"/>
          <p:cNvSpPr>
            <a:spLocks noGrp="1"/>
          </p:cNvSpPr>
          <p:nvPr>
            <p:ph idx="1"/>
          </p:nvPr>
        </p:nvSpPr>
        <p:spPr>
          <a:xfrm>
            <a:off x="611560" y="1219200"/>
            <a:ext cx="7467600" cy="4525963"/>
          </a:xfrm>
        </p:spPr>
        <p:txBody>
          <a:bodyPr>
            <a:normAutofit/>
          </a:bodyPr>
          <a:lstStyle/>
          <a:p>
            <a:pPr marL="0">
              <a:spcBef>
                <a:spcPts val="600"/>
              </a:spcBef>
              <a:spcAft>
                <a:spcPts val="1200"/>
              </a:spcAft>
              <a:buNone/>
            </a:pPr>
            <a:r>
              <a:rPr lang="en-AU" sz="2200" b="1" dirty="0" smtClean="0">
                <a:latin typeface="Helvetica" pitchFamily="34" charset="0"/>
              </a:rPr>
              <a:t>What is the difference between counselling and discipline?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Workplace counselling: </a:t>
            </a:r>
          </a:p>
          <a:p>
            <a:pPr>
              <a:spcBef>
                <a:spcPts val="600"/>
              </a:spcBef>
              <a:spcAft>
                <a:spcPts val="1200"/>
              </a:spcAft>
            </a:pPr>
            <a:r>
              <a:rPr lang="en-AU" sz="2200" dirty="0" smtClean="0">
                <a:latin typeface="Helvetica" pitchFamily="34" charset="0"/>
              </a:rPr>
              <a:t>Concerned with discussions and analysis of personal and work problems that affect an employee’s work performance in an attempt to find a solution </a:t>
            </a:r>
          </a:p>
          <a:p>
            <a:pPr>
              <a:spcBef>
                <a:spcPts val="600"/>
              </a:spcBef>
              <a:spcAft>
                <a:spcPts val="1200"/>
              </a:spcAft>
              <a:buNone/>
            </a:pPr>
            <a:r>
              <a:rPr lang="en-AU" sz="2200" dirty="0" smtClean="0">
                <a:latin typeface="Helvetica" pitchFamily="34" charset="0"/>
              </a:rPr>
              <a:t>Discipline: </a:t>
            </a:r>
          </a:p>
          <a:p>
            <a:pPr>
              <a:spcBef>
                <a:spcPts val="600"/>
              </a:spcBef>
              <a:spcAft>
                <a:spcPts val="1200"/>
              </a:spcAft>
            </a:pPr>
            <a:r>
              <a:rPr lang="en-AU" sz="2200" dirty="0" smtClean="0">
                <a:latin typeface="Helvetica" pitchFamily="34" charset="0"/>
              </a:rPr>
              <a:t>Direct statement of what is wrong and a </a:t>
            </a:r>
            <a:br>
              <a:rPr lang="en-AU" sz="2200" dirty="0" smtClean="0">
                <a:latin typeface="Helvetica" pitchFamily="34" charset="0"/>
              </a:rPr>
            </a:br>
            <a:r>
              <a:rPr lang="en-AU" sz="2200" dirty="0" smtClean="0">
                <a:latin typeface="Helvetica" pitchFamily="34" charset="0"/>
              </a:rPr>
              <a:t>directive to improve – a warning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MP900443084.JPG"/>
          <p:cNvPicPr>
            <a:picLocks noChangeAspect="1"/>
          </p:cNvPicPr>
          <p:nvPr/>
        </p:nvPicPr>
        <p:blipFill>
          <a:blip r:embed="rId3" cstate="print"/>
          <a:stretch>
            <a:fillRect/>
          </a:stretch>
        </p:blipFill>
        <p:spPr>
          <a:xfrm>
            <a:off x="6510198" y="4114800"/>
            <a:ext cx="1871802" cy="1240536"/>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Disciplinary policies and procedures</a:t>
            </a:r>
          </a:p>
        </p:txBody>
      </p:sp>
      <p:sp>
        <p:nvSpPr>
          <p:cNvPr id="3" name="Content Placeholder 2"/>
          <p:cNvSpPr>
            <a:spLocks noGrp="1"/>
          </p:cNvSpPr>
          <p:nvPr>
            <p:ph idx="1"/>
          </p:nvPr>
        </p:nvSpPr>
        <p:spPr>
          <a:xfrm>
            <a:off x="611560" y="1143000"/>
            <a:ext cx="7467600" cy="5257800"/>
          </a:xfrm>
        </p:spPr>
        <p:txBody>
          <a:bodyPr>
            <a:normAutofit/>
          </a:bodyPr>
          <a:lstStyle/>
          <a:p>
            <a:pPr>
              <a:spcBef>
                <a:spcPts val="600"/>
              </a:spcBef>
              <a:spcAft>
                <a:spcPts val="1200"/>
              </a:spcAft>
              <a:buNone/>
            </a:pPr>
            <a:r>
              <a:rPr lang="en-AU" sz="2200" b="1" dirty="0" smtClean="0">
                <a:latin typeface="Helvetica" pitchFamily="34" charset="0"/>
              </a:rPr>
              <a:t>Steps in an effective counselling session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Prepare for the session </a:t>
            </a:r>
          </a:p>
          <a:p>
            <a:pPr lvl="0">
              <a:spcBef>
                <a:spcPts val="600"/>
              </a:spcBef>
              <a:spcAft>
                <a:spcPts val="1200"/>
              </a:spcAft>
            </a:pPr>
            <a:r>
              <a:rPr lang="en-AU" sz="2200" dirty="0" smtClean="0">
                <a:latin typeface="Helvetica" pitchFamily="34" charset="0"/>
              </a:rPr>
              <a:t>Develop an opening statement </a:t>
            </a:r>
          </a:p>
          <a:p>
            <a:pPr lvl="0">
              <a:spcBef>
                <a:spcPts val="600"/>
              </a:spcBef>
              <a:spcAft>
                <a:spcPts val="1200"/>
              </a:spcAft>
            </a:pPr>
            <a:r>
              <a:rPr lang="en-AU" sz="2200" dirty="0" smtClean="0">
                <a:latin typeface="Helvetica" pitchFamily="34" charset="0"/>
              </a:rPr>
              <a:t>Get agreement to fix the problem </a:t>
            </a:r>
          </a:p>
          <a:p>
            <a:pPr lvl="0">
              <a:spcBef>
                <a:spcPts val="600"/>
              </a:spcBef>
              <a:spcAft>
                <a:spcPts val="1200"/>
              </a:spcAft>
            </a:pPr>
            <a:r>
              <a:rPr lang="en-AU" sz="2200" dirty="0" smtClean="0">
                <a:latin typeface="Helvetica" pitchFamily="34" charset="0"/>
              </a:rPr>
              <a:t>Explore reasons </a:t>
            </a:r>
          </a:p>
          <a:p>
            <a:pPr lvl="0">
              <a:spcBef>
                <a:spcPts val="600"/>
              </a:spcBef>
              <a:spcAft>
                <a:spcPts val="1200"/>
              </a:spcAft>
            </a:pPr>
            <a:r>
              <a:rPr lang="en-AU" sz="2200" dirty="0" smtClean="0">
                <a:latin typeface="Helvetica" pitchFamily="34" charset="0"/>
              </a:rPr>
              <a:t>Reconfirm the problem </a:t>
            </a:r>
          </a:p>
          <a:p>
            <a:pPr lvl="0">
              <a:spcBef>
                <a:spcPts val="600"/>
              </a:spcBef>
              <a:spcAft>
                <a:spcPts val="1200"/>
              </a:spcAft>
            </a:pPr>
            <a:r>
              <a:rPr lang="en-AU" sz="2200" dirty="0" smtClean="0">
                <a:latin typeface="Helvetica" pitchFamily="34" charset="0"/>
              </a:rPr>
              <a:t>Generate and chose a solution </a:t>
            </a:r>
          </a:p>
          <a:p>
            <a:pPr lvl="0">
              <a:spcBef>
                <a:spcPts val="600"/>
              </a:spcBef>
              <a:spcAft>
                <a:spcPts val="1200"/>
              </a:spcAft>
            </a:pPr>
            <a:r>
              <a:rPr lang="en-AU" sz="2200" dirty="0" smtClean="0">
                <a:latin typeface="Helvetica" pitchFamily="34" charset="0"/>
              </a:rPr>
              <a:t>Prepare an Action plan and review date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7" name="Picture 6" descr="MP900285130.JPG"/>
          <p:cNvPicPr/>
          <p:nvPr/>
        </p:nvPicPr>
        <p:blipFill>
          <a:blip r:embed="rId3" cstate="print"/>
          <a:stretch>
            <a:fillRect/>
          </a:stretch>
        </p:blipFill>
        <p:spPr>
          <a:xfrm>
            <a:off x="6981825" y="3200400"/>
            <a:ext cx="1476375" cy="21336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Disciplinary policies and procedures</a:t>
            </a:r>
          </a:p>
        </p:txBody>
      </p:sp>
      <p:sp>
        <p:nvSpPr>
          <p:cNvPr id="3" name="Content Placeholder 2"/>
          <p:cNvSpPr>
            <a:spLocks noGrp="1"/>
          </p:cNvSpPr>
          <p:nvPr>
            <p:ph idx="1"/>
          </p:nvPr>
        </p:nvSpPr>
        <p:spPr>
          <a:xfrm>
            <a:off x="611560" y="1265237"/>
            <a:ext cx="7467600" cy="4525963"/>
          </a:xfrm>
        </p:spPr>
        <p:txBody>
          <a:bodyPr>
            <a:normAutofit/>
          </a:bodyPr>
          <a:lstStyle/>
          <a:p>
            <a:pPr>
              <a:spcBef>
                <a:spcPts val="600"/>
              </a:spcBef>
              <a:spcAft>
                <a:spcPts val="1200"/>
              </a:spcAft>
              <a:buNone/>
            </a:pPr>
            <a:r>
              <a:rPr lang="en-AU" sz="2200" b="1" dirty="0" smtClean="0">
                <a:latin typeface="Helvetica" pitchFamily="34" charset="0"/>
              </a:rPr>
              <a:t>Types of actions requiring discipline</a:t>
            </a:r>
          </a:p>
          <a:p>
            <a:pPr lvl="0">
              <a:spcBef>
                <a:spcPts val="600"/>
              </a:spcBef>
              <a:spcAft>
                <a:spcPts val="1200"/>
              </a:spcAft>
            </a:pPr>
            <a:r>
              <a:rPr lang="en-AU" sz="2200" dirty="0" smtClean="0">
                <a:latin typeface="Helvetica" pitchFamily="34" charset="0"/>
              </a:rPr>
              <a:t>Intoxication or drug use while on the job</a:t>
            </a:r>
          </a:p>
          <a:p>
            <a:pPr lvl="0">
              <a:spcBef>
                <a:spcPts val="600"/>
              </a:spcBef>
              <a:spcAft>
                <a:spcPts val="1200"/>
              </a:spcAft>
            </a:pPr>
            <a:r>
              <a:rPr lang="en-AU" sz="2200" dirty="0" smtClean="0">
                <a:latin typeface="Helvetica" pitchFamily="34" charset="0"/>
              </a:rPr>
              <a:t>Theft of company property</a:t>
            </a:r>
          </a:p>
          <a:p>
            <a:pPr lvl="0">
              <a:spcBef>
                <a:spcPts val="600"/>
              </a:spcBef>
              <a:spcAft>
                <a:spcPts val="1200"/>
              </a:spcAft>
            </a:pPr>
            <a:r>
              <a:rPr lang="en-AU" sz="2200" dirty="0" smtClean="0">
                <a:latin typeface="Helvetica" pitchFamily="34" charset="0"/>
              </a:rPr>
              <a:t>Physical and/or verbal assault of another staff member </a:t>
            </a:r>
          </a:p>
          <a:p>
            <a:pPr lvl="0">
              <a:spcBef>
                <a:spcPts val="600"/>
              </a:spcBef>
              <a:spcAft>
                <a:spcPts val="1200"/>
              </a:spcAft>
            </a:pPr>
            <a:r>
              <a:rPr lang="en-AU" sz="2200" dirty="0" smtClean="0">
                <a:latin typeface="Helvetica" pitchFamily="34" charset="0"/>
              </a:rPr>
              <a:t>Sexual harassment</a:t>
            </a:r>
          </a:p>
          <a:p>
            <a:pPr lvl="0">
              <a:spcBef>
                <a:spcPts val="600"/>
              </a:spcBef>
              <a:spcAft>
                <a:spcPts val="1200"/>
              </a:spcAft>
            </a:pPr>
            <a:r>
              <a:rPr lang="en-AU" sz="2200" dirty="0" smtClean="0">
                <a:latin typeface="Helvetica" pitchFamily="34" charset="0"/>
              </a:rPr>
              <a:t>poor performance</a:t>
            </a:r>
          </a:p>
          <a:p>
            <a:pPr lvl="0">
              <a:spcBef>
                <a:spcPts val="600"/>
              </a:spcBef>
              <a:spcAft>
                <a:spcPts val="1200"/>
              </a:spcAft>
            </a:pPr>
            <a:r>
              <a:rPr lang="en-AU" sz="2200" dirty="0" smtClean="0">
                <a:latin typeface="Helvetica" pitchFamily="34" charset="0"/>
              </a:rPr>
              <a:t>Poor attendance</a:t>
            </a:r>
          </a:p>
          <a:p>
            <a:pPr lvl="0">
              <a:spcBef>
                <a:spcPts val="600"/>
              </a:spcBef>
              <a:spcAft>
                <a:spcPts val="1200"/>
              </a:spcAft>
            </a:pPr>
            <a:r>
              <a:rPr lang="en-AU" sz="2200" dirty="0" smtClean="0">
                <a:latin typeface="Helvetica" pitchFamily="34" charset="0"/>
              </a:rPr>
              <a:t>Tardiness behaviour</a:t>
            </a:r>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6" name="Picture 5" descr="MB900443085.JPG"/>
          <p:cNvPicPr>
            <a:picLocks noChangeAspect="1"/>
          </p:cNvPicPr>
          <p:nvPr/>
        </p:nvPicPr>
        <p:blipFill>
          <a:blip r:embed="rId3" cstate="print"/>
          <a:srcRect t="18518" b="18519"/>
          <a:stretch>
            <a:fillRect/>
          </a:stretch>
        </p:blipFill>
        <p:spPr>
          <a:xfrm>
            <a:off x="6400800" y="4114800"/>
            <a:ext cx="2057400" cy="12954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Disciplinary policies and procedures</a:t>
            </a:r>
          </a:p>
        </p:txBody>
      </p:sp>
      <p:sp>
        <p:nvSpPr>
          <p:cNvPr id="3" name="Content Placeholder 2"/>
          <p:cNvSpPr>
            <a:spLocks noGrp="1"/>
          </p:cNvSpPr>
          <p:nvPr>
            <p:ph idx="1"/>
          </p:nvPr>
        </p:nvSpPr>
        <p:spPr>
          <a:xfrm>
            <a:off x="611560" y="1219200"/>
            <a:ext cx="7467600" cy="4525963"/>
          </a:xfrm>
        </p:spPr>
        <p:txBody>
          <a:bodyPr>
            <a:normAutofit/>
          </a:bodyPr>
          <a:lstStyle/>
          <a:p>
            <a:pPr>
              <a:spcBef>
                <a:spcPts val="600"/>
              </a:spcBef>
              <a:spcAft>
                <a:spcPts val="1200"/>
              </a:spcAft>
              <a:buNone/>
            </a:pPr>
            <a:r>
              <a:rPr lang="en-AU" sz="2200" b="1" dirty="0" smtClean="0">
                <a:latin typeface="Helvetica" pitchFamily="34" charset="0"/>
              </a:rPr>
              <a:t>Disciplinary </a:t>
            </a:r>
            <a:r>
              <a:rPr lang="en-AU" sz="2200" b="1" dirty="0" smtClean="0">
                <a:latin typeface="Helvetica" pitchFamily="34" charset="0"/>
              </a:rPr>
              <a:t>actions </a:t>
            </a:r>
          </a:p>
          <a:p>
            <a:pPr>
              <a:spcBef>
                <a:spcPts val="600"/>
              </a:spcBef>
              <a:spcAft>
                <a:spcPts val="1200"/>
              </a:spcAft>
            </a:pPr>
            <a:r>
              <a:rPr lang="en-US" sz="2200" dirty="0" smtClean="0">
                <a:latin typeface="Helvetica" pitchFamily="34" charset="0"/>
              </a:rPr>
              <a:t>Verbal Warning</a:t>
            </a:r>
          </a:p>
          <a:p>
            <a:pPr>
              <a:spcBef>
                <a:spcPts val="600"/>
              </a:spcBef>
              <a:spcAft>
                <a:spcPts val="1200"/>
              </a:spcAft>
            </a:pPr>
            <a:r>
              <a:rPr lang="en-US" sz="2200" dirty="0" smtClean="0">
                <a:latin typeface="Helvetica" pitchFamily="34" charset="0"/>
              </a:rPr>
              <a:t>Written Warning</a:t>
            </a:r>
          </a:p>
          <a:p>
            <a:pPr>
              <a:spcBef>
                <a:spcPts val="600"/>
              </a:spcBef>
              <a:spcAft>
                <a:spcPts val="1200"/>
              </a:spcAft>
            </a:pPr>
            <a:r>
              <a:rPr lang="en-US" sz="2200" dirty="0" smtClean="0">
                <a:latin typeface="Helvetica" pitchFamily="34" charset="0"/>
              </a:rPr>
              <a:t>Investigation</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Termination</a:t>
            </a:r>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MP900316786.JPG"/>
          <p:cNvPicPr/>
          <p:nvPr/>
        </p:nvPicPr>
        <p:blipFill>
          <a:blip r:embed="rId3" cstate="print"/>
          <a:stretch>
            <a:fillRect/>
          </a:stretch>
        </p:blipFill>
        <p:spPr>
          <a:xfrm>
            <a:off x="6248400" y="3962400"/>
            <a:ext cx="2198370" cy="146685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Grievance policies and procedures</a:t>
            </a:r>
          </a:p>
        </p:txBody>
      </p:sp>
      <p:sp>
        <p:nvSpPr>
          <p:cNvPr id="3" name="Content Placeholder 2"/>
          <p:cNvSpPr>
            <a:spLocks noGrp="1"/>
          </p:cNvSpPr>
          <p:nvPr>
            <p:ph idx="1"/>
          </p:nvPr>
        </p:nvSpPr>
        <p:spPr>
          <a:xfrm>
            <a:off x="611560" y="1189037"/>
            <a:ext cx="7467600" cy="4525963"/>
          </a:xfrm>
        </p:spPr>
        <p:txBody>
          <a:bodyPr>
            <a:normAutofit/>
          </a:bodyPr>
          <a:lstStyle/>
          <a:p>
            <a:pPr marL="0">
              <a:spcBef>
                <a:spcPts val="600"/>
              </a:spcBef>
              <a:spcAft>
                <a:spcPts val="1200"/>
              </a:spcAft>
              <a:buNone/>
            </a:pPr>
            <a:r>
              <a:rPr lang="en-AU" sz="2200" dirty="0" smtClean="0">
                <a:latin typeface="Helvetica" pitchFamily="34" charset="0"/>
              </a:rPr>
              <a:t>In any organisation, issues and grievances are common place. </a:t>
            </a:r>
          </a:p>
          <a:p>
            <a:pPr marL="0">
              <a:spcBef>
                <a:spcPts val="600"/>
              </a:spcBef>
              <a:spcAft>
                <a:spcPts val="1200"/>
              </a:spcAft>
              <a:buNone/>
            </a:pPr>
            <a:r>
              <a:rPr lang="en-AU" sz="2200" dirty="0" smtClean="0">
                <a:latin typeface="Helvetica" pitchFamily="34" charset="0"/>
              </a:rPr>
              <a:t>It is the role of Human Resources to keep up to date and well versed in:</a:t>
            </a:r>
          </a:p>
          <a:p>
            <a:pPr lvl="0">
              <a:spcBef>
                <a:spcPts val="600"/>
              </a:spcBef>
              <a:spcAft>
                <a:spcPts val="1200"/>
              </a:spcAft>
            </a:pPr>
            <a:r>
              <a:rPr lang="en-AU" sz="2200" dirty="0" smtClean="0">
                <a:latin typeface="Helvetica" pitchFamily="34" charset="0"/>
              </a:rPr>
              <a:t>Any existing legislation in this matter </a:t>
            </a:r>
          </a:p>
          <a:p>
            <a:pPr lvl="0">
              <a:spcBef>
                <a:spcPts val="600"/>
              </a:spcBef>
              <a:spcAft>
                <a:spcPts val="1200"/>
              </a:spcAft>
            </a:pPr>
            <a:r>
              <a:rPr lang="en-AU" sz="2200" dirty="0" smtClean="0">
                <a:latin typeface="Helvetica" pitchFamily="34" charset="0"/>
              </a:rPr>
              <a:t>Terms and conditions of the award or </a:t>
            </a:r>
            <a:br>
              <a:rPr lang="en-AU" sz="2200" dirty="0" smtClean="0">
                <a:latin typeface="Helvetica" pitchFamily="34" charset="0"/>
              </a:rPr>
            </a:br>
            <a:r>
              <a:rPr lang="en-AU" sz="2200" dirty="0" smtClean="0">
                <a:latin typeface="Helvetica" pitchFamily="34" charset="0"/>
              </a:rPr>
              <a:t>agreement that is in effect</a:t>
            </a:r>
          </a:p>
          <a:p>
            <a:pPr lvl="0">
              <a:spcBef>
                <a:spcPts val="600"/>
              </a:spcBef>
              <a:spcAft>
                <a:spcPts val="1200"/>
              </a:spcAft>
            </a:pPr>
            <a:r>
              <a:rPr lang="en-AU" sz="2200" dirty="0" smtClean="0">
                <a:latin typeface="Helvetica" pitchFamily="34" charset="0"/>
              </a:rPr>
              <a:t>Policies and procedures designed for the  establishment</a:t>
            </a:r>
          </a:p>
          <a:p>
            <a:pPr>
              <a:spcBef>
                <a:spcPts val="600"/>
              </a:spcBef>
              <a:spcAft>
                <a:spcPts val="1200"/>
              </a:spcAft>
              <a:buNone/>
            </a:pPr>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00302919.jpg"/>
          <p:cNvPicPr>
            <a:picLocks noChangeAspect="1"/>
          </p:cNvPicPr>
          <p:nvPr/>
        </p:nvPicPr>
        <p:blipFill>
          <a:blip r:embed="rId3" cstate="print"/>
          <a:stretch>
            <a:fillRect/>
          </a:stretch>
        </p:blipFill>
        <p:spPr>
          <a:xfrm>
            <a:off x="7123753" y="3429000"/>
            <a:ext cx="1334447" cy="187072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Grievance policies and procedures</a:t>
            </a:r>
          </a:p>
        </p:txBody>
      </p:sp>
      <p:sp>
        <p:nvSpPr>
          <p:cNvPr id="3" name="Content Placeholder 2"/>
          <p:cNvSpPr>
            <a:spLocks noGrp="1"/>
          </p:cNvSpPr>
          <p:nvPr>
            <p:ph idx="1"/>
          </p:nvPr>
        </p:nvSpPr>
        <p:spPr>
          <a:xfrm>
            <a:off x="611560" y="1143000"/>
            <a:ext cx="7467600" cy="4525963"/>
          </a:xfrm>
        </p:spPr>
        <p:txBody>
          <a:bodyPr>
            <a:normAutofit/>
          </a:bodyPr>
          <a:lstStyle/>
          <a:p>
            <a:pPr>
              <a:spcBef>
                <a:spcPts val="600"/>
              </a:spcBef>
              <a:spcAft>
                <a:spcPts val="1200"/>
              </a:spcAft>
              <a:buNone/>
            </a:pPr>
            <a:r>
              <a:rPr lang="en-AU" sz="2200" b="1" dirty="0" smtClean="0">
                <a:latin typeface="Helvetica" pitchFamily="34" charset="0"/>
              </a:rPr>
              <a:t>Handling </a:t>
            </a:r>
            <a:r>
              <a:rPr lang="en-AU" sz="2200" b="1" dirty="0" smtClean="0">
                <a:latin typeface="Helvetica" pitchFamily="34" charset="0"/>
              </a:rPr>
              <a:t>grievances</a:t>
            </a:r>
          </a:p>
          <a:p>
            <a:pPr>
              <a:spcBef>
                <a:spcPts val="600"/>
              </a:spcBef>
              <a:spcAft>
                <a:spcPts val="1200"/>
              </a:spcAft>
            </a:pPr>
            <a:r>
              <a:rPr lang="en-AU" sz="2200" dirty="0" smtClean="0">
                <a:latin typeface="Helvetica" pitchFamily="34" charset="0"/>
              </a:rPr>
              <a:t>What is a grievance?</a:t>
            </a:r>
          </a:p>
          <a:p>
            <a:pPr>
              <a:spcBef>
                <a:spcPts val="600"/>
              </a:spcBef>
              <a:spcAft>
                <a:spcPts val="1200"/>
              </a:spcAft>
            </a:pPr>
            <a:r>
              <a:rPr lang="en-AU" sz="2200" dirty="0" smtClean="0">
                <a:latin typeface="Helvetica" pitchFamily="34" charset="0"/>
              </a:rPr>
              <a:t>What normally causes them?</a:t>
            </a:r>
          </a:p>
          <a:p>
            <a:pPr>
              <a:spcBef>
                <a:spcPts val="600"/>
              </a:spcBef>
              <a:spcAft>
                <a:spcPts val="1200"/>
              </a:spcAft>
            </a:pPr>
            <a:r>
              <a:rPr lang="en-AU" sz="2200" dirty="0" smtClean="0">
                <a:latin typeface="Helvetica" pitchFamily="34" charset="0"/>
              </a:rPr>
              <a:t>How can you identify them?</a:t>
            </a:r>
          </a:p>
          <a:p>
            <a:pPr>
              <a:spcBef>
                <a:spcPts val="600"/>
              </a:spcBef>
              <a:spcAft>
                <a:spcPts val="1200"/>
              </a:spcAft>
            </a:pPr>
            <a:r>
              <a:rPr lang="en-AU" sz="2200" dirty="0" smtClean="0">
                <a:latin typeface="Helvetica" pitchFamily="34" charset="0"/>
              </a:rPr>
              <a:t>How should they be handled?</a:t>
            </a:r>
          </a:p>
          <a:p>
            <a:pPr>
              <a:spcBef>
                <a:spcPts val="600"/>
              </a:spcBef>
              <a:spcAft>
                <a:spcPts val="1200"/>
              </a:spcAft>
              <a:buNone/>
            </a:pPr>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7" name="Picture 6" descr="MB900442931.JPG"/>
          <p:cNvPicPr/>
          <p:nvPr/>
        </p:nvPicPr>
        <p:blipFill>
          <a:blip r:embed="rId3" cstate="print"/>
          <a:srcRect l="11940" r="13433"/>
          <a:stretch>
            <a:fillRect/>
          </a:stretch>
        </p:blipFill>
        <p:spPr>
          <a:xfrm>
            <a:off x="6858000" y="3581400"/>
            <a:ext cx="1524000" cy="18288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Grievance policies and procedures</a:t>
            </a:r>
          </a:p>
        </p:txBody>
      </p:sp>
      <p:sp>
        <p:nvSpPr>
          <p:cNvPr id="3" name="Content Placeholder 2"/>
          <p:cNvSpPr>
            <a:spLocks noGrp="1"/>
          </p:cNvSpPr>
          <p:nvPr>
            <p:ph idx="1"/>
          </p:nvPr>
        </p:nvSpPr>
        <p:spPr>
          <a:xfrm>
            <a:off x="611560" y="1143000"/>
            <a:ext cx="7467600" cy="5334000"/>
          </a:xfrm>
        </p:spPr>
        <p:txBody>
          <a:bodyPr>
            <a:normAutofit/>
          </a:bodyPr>
          <a:lstStyle/>
          <a:p>
            <a:pPr>
              <a:spcBef>
                <a:spcPts val="600"/>
              </a:spcBef>
              <a:spcAft>
                <a:spcPts val="1200"/>
              </a:spcAft>
              <a:buNone/>
            </a:pPr>
            <a:r>
              <a:rPr lang="en-AU" sz="2200" b="1" dirty="0" smtClean="0">
                <a:latin typeface="Helvetica" pitchFamily="34" charset="0"/>
              </a:rPr>
              <a:t>Understand relevant legislation</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Awards</a:t>
            </a:r>
          </a:p>
          <a:p>
            <a:pPr marL="0">
              <a:spcBef>
                <a:spcPts val="600"/>
              </a:spcBef>
              <a:spcAft>
                <a:spcPts val="1200"/>
              </a:spcAft>
              <a:buNone/>
            </a:pPr>
            <a:r>
              <a:rPr lang="en-AU" sz="2200" dirty="0" smtClean="0">
                <a:latin typeface="Helvetica" pitchFamily="34" charset="0"/>
              </a:rPr>
              <a:t>An award is a legally binding document, for both the employer and the employees, containing a set of working conditions that apply to all businesses and employees covered by it:</a:t>
            </a:r>
          </a:p>
          <a:p>
            <a:pPr>
              <a:spcBef>
                <a:spcPts val="600"/>
              </a:spcBef>
              <a:spcAft>
                <a:spcPts val="1200"/>
              </a:spcAft>
            </a:pPr>
            <a:r>
              <a:rPr lang="en-AU" sz="2200" dirty="0" smtClean="0">
                <a:latin typeface="Helvetica" pitchFamily="34" charset="0"/>
              </a:rPr>
              <a:t>What awards or laws apply?</a:t>
            </a:r>
          </a:p>
          <a:p>
            <a:pPr>
              <a:spcBef>
                <a:spcPts val="600"/>
              </a:spcBef>
              <a:spcAft>
                <a:spcPts val="1200"/>
              </a:spcAft>
            </a:pPr>
            <a:r>
              <a:rPr lang="en-AU" sz="2200" dirty="0" smtClean="0">
                <a:latin typeface="Helvetica" pitchFamily="34" charset="0"/>
              </a:rPr>
              <a:t>What do they state in relation to </a:t>
            </a:r>
            <a:br>
              <a:rPr lang="en-AU" sz="2200" dirty="0" smtClean="0">
                <a:latin typeface="Helvetica" pitchFamily="34" charset="0"/>
              </a:rPr>
            </a:br>
            <a:r>
              <a:rPr lang="en-AU" sz="2200" dirty="0" smtClean="0">
                <a:latin typeface="Helvetica" pitchFamily="34" charset="0"/>
              </a:rPr>
              <a:t>handling grievances?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MP900408864[1].JPG"/>
          <p:cNvPicPr>
            <a:picLocks noChangeAspect="1"/>
          </p:cNvPicPr>
          <p:nvPr/>
        </p:nvPicPr>
        <p:blipFill>
          <a:blip r:embed="rId3" cstate="print"/>
          <a:stretch>
            <a:fillRect/>
          </a:stretch>
        </p:blipFill>
        <p:spPr>
          <a:xfrm>
            <a:off x="6934200" y="3810000"/>
            <a:ext cx="1524000" cy="152400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Grievance policies and procedures</a:t>
            </a:r>
          </a:p>
        </p:txBody>
      </p:sp>
      <p:sp>
        <p:nvSpPr>
          <p:cNvPr id="3" name="Content Placeholder 2"/>
          <p:cNvSpPr>
            <a:spLocks noGrp="1"/>
          </p:cNvSpPr>
          <p:nvPr>
            <p:ph idx="1"/>
          </p:nvPr>
        </p:nvSpPr>
        <p:spPr>
          <a:xfrm>
            <a:off x="611560" y="1143000"/>
            <a:ext cx="7467600" cy="5562600"/>
          </a:xfrm>
        </p:spPr>
        <p:txBody>
          <a:bodyPr>
            <a:normAutofit/>
          </a:bodyPr>
          <a:lstStyle/>
          <a:p>
            <a:pPr>
              <a:spcBef>
                <a:spcPts val="600"/>
              </a:spcBef>
              <a:spcAft>
                <a:spcPts val="1200"/>
              </a:spcAft>
              <a:buNone/>
            </a:pPr>
            <a:r>
              <a:rPr lang="en-AU" sz="2200" b="1" dirty="0" smtClean="0">
                <a:latin typeface="Helvetica" pitchFamily="34" charset="0"/>
              </a:rPr>
              <a:t>General dispute and grievance procedures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Arranging meetings to discuss the issue </a:t>
            </a:r>
          </a:p>
          <a:p>
            <a:pPr lvl="0">
              <a:spcBef>
                <a:spcPts val="600"/>
              </a:spcBef>
              <a:spcAft>
                <a:spcPts val="1200"/>
              </a:spcAft>
            </a:pPr>
            <a:r>
              <a:rPr lang="en-AU" sz="2200" dirty="0" smtClean="0">
                <a:latin typeface="Helvetica" pitchFamily="34" charset="0"/>
              </a:rPr>
              <a:t>Being available to meet with the workers</a:t>
            </a:r>
          </a:p>
          <a:p>
            <a:pPr lvl="0">
              <a:spcBef>
                <a:spcPts val="600"/>
              </a:spcBef>
              <a:spcAft>
                <a:spcPts val="1200"/>
              </a:spcAft>
            </a:pPr>
            <a:r>
              <a:rPr lang="en-AU" sz="2200" dirty="0" smtClean="0">
                <a:latin typeface="Helvetica" pitchFamily="34" charset="0"/>
              </a:rPr>
              <a:t>Making staff aware of where their award/agreement </a:t>
            </a:r>
          </a:p>
          <a:p>
            <a:pPr lvl="0">
              <a:spcBef>
                <a:spcPts val="600"/>
              </a:spcBef>
              <a:spcAft>
                <a:spcPts val="1200"/>
              </a:spcAft>
            </a:pPr>
            <a:r>
              <a:rPr lang="en-AU" sz="2200" dirty="0" smtClean="0">
                <a:latin typeface="Helvetica" pitchFamily="34" charset="0"/>
              </a:rPr>
              <a:t>Explaining relevant parts of the award/agreement a</a:t>
            </a:r>
          </a:p>
          <a:p>
            <a:pPr lvl="0">
              <a:spcBef>
                <a:spcPts val="600"/>
              </a:spcBef>
              <a:spcAft>
                <a:spcPts val="1200"/>
              </a:spcAft>
            </a:pPr>
            <a:r>
              <a:rPr lang="en-AU" sz="2200" dirty="0" smtClean="0">
                <a:latin typeface="Helvetica" pitchFamily="34" charset="0"/>
              </a:rPr>
              <a:t>Referring to the relevant websites</a:t>
            </a:r>
          </a:p>
          <a:p>
            <a:pPr lvl="0">
              <a:spcBef>
                <a:spcPts val="600"/>
              </a:spcBef>
              <a:spcAft>
                <a:spcPts val="1200"/>
              </a:spcAft>
            </a:pPr>
            <a:r>
              <a:rPr lang="en-AU" sz="2200" dirty="0" smtClean="0">
                <a:latin typeface="Helvetica" pitchFamily="34" charset="0"/>
              </a:rPr>
              <a:t>Facilitating meetings with management </a:t>
            </a:r>
          </a:p>
          <a:p>
            <a:pPr>
              <a:spcBef>
                <a:spcPts val="600"/>
              </a:spcBef>
              <a:spcAft>
                <a:spcPts val="1200"/>
              </a:spcAft>
            </a:pPr>
            <a:r>
              <a:rPr lang="en-AU" sz="2200" dirty="0" smtClean="0">
                <a:latin typeface="Helvetica" pitchFamily="34" charset="0"/>
              </a:rPr>
              <a:t>Representing the issue raised by workers </a:t>
            </a:r>
            <a:br>
              <a:rPr lang="en-AU" sz="2200" dirty="0" smtClean="0">
                <a:latin typeface="Helvetica" pitchFamily="34" charset="0"/>
              </a:rPr>
            </a:br>
            <a:r>
              <a:rPr lang="en-AU" sz="2200" dirty="0" smtClean="0">
                <a:latin typeface="Helvetica" pitchFamily="34" charset="0"/>
              </a:rPr>
              <a:t>to management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MB900316809.JPG"/>
          <p:cNvPicPr/>
          <p:nvPr/>
        </p:nvPicPr>
        <p:blipFill>
          <a:blip r:embed="rId3" cstate="print"/>
          <a:srcRect t="17204" b="18280"/>
          <a:stretch>
            <a:fillRect/>
          </a:stretch>
        </p:blipFill>
        <p:spPr>
          <a:xfrm>
            <a:off x="6457950" y="4343400"/>
            <a:ext cx="2000250" cy="11430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a:t>
            </a:r>
            <a:r>
              <a:rPr lang="en-AU" sz="3400" b="1" dirty="0" smtClean="0">
                <a:solidFill>
                  <a:srgbClr val="FF6600"/>
                </a:solidFill>
                <a:latin typeface="Helvetica" pitchFamily="34" charset="0"/>
              </a:rPr>
              <a:t>uman resources manual</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5257800"/>
          </a:xfrm>
        </p:spPr>
        <p:txBody>
          <a:bodyPr>
            <a:normAutofit/>
          </a:bodyPr>
          <a:lstStyle/>
          <a:p>
            <a:pPr>
              <a:spcBef>
                <a:spcPts val="600"/>
              </a:spcBef>
              <a:spcAft>
                <a:spcPts val="1200"/>
              </a:spcAft>
              <a:buNone/>
            </a:pPr>
            <a:r>
              <a:rPr lang="en-AU" sz="2200" b="1" dirty="0" smtClean="0">
                <a:latin typeface="Helvetica" pitchFamily="34" charset="0"/>
              </a:rPr>
              <a:t>Importance </a:t>
            </a:r>
            <a:r>
              <a:rPr lang="en-AU" sz="2200" b="1" dirty="0" smtClean="0">
                <a:latin typeface="Helvetica" pitchFamily="34" charset="0"/>
              </a:rPr>
              <a:t>of Human Resources Manual</a:t>
            </a:r>
          </a:p>
          <a:p>
            <a:pPr marL="0">
              <a:spcBef>
                <a:spcPts val="600"/>
              </a:spcBef>
              <a:spcAft>
                <a:spcPts val="1200"/>
              </a:spcAft>
              <a:buNone/>
            </a:pPr>
            <a:r>
              <a:rPr lang="en-AU" sz="2200" dirty="0" smtClean="0">
                <a:latin typeface="Helvetica" pitchFamily="34" charset="0"/>
              </a:rPr>
              <a:t>One of the key documents that is used by the human resources department to notify staff of general standards and expectations is a manual:</a:t>
            </a:r>
          </a:p>
          <a:p>
            <a:pPr>
              <a:spcBef>
                <a:spcPts val="600"/>
              </a:spcBef>
              <a:spcAft>
                <a:spcPts val="1200"/>
              </a:spcAft>
            </a:pPr>
            <a:r>
              <a:rPr lang="en-AU" sz="2200" dirty="0" smtClean="0">
                <a:latin typeface="Helvetica" pitchFamily="34" charset="0"/>
              </a:rPr>
              <a:t>What information should be included in a manual?</a:t>
            </a:r>
          </a:p>
          <a:p>
            <a:pPr>
              <a:spcBef>
                <a:spcPts val="600"/>
              </a:spcBef>
              <a:spcAft>
                <a:spcPts val="1200"/>
              </a:spcAft>
            </a:pPr>
            <a:r>
              <a:rPr lang="en-AU" sz="2200" dirty="0" smtClean="0">
                <a:latin typeface="Helvetica" pitchFamily="34" charset="0"/>
              </a:rPr>
              <a:t>How and when should it be communication </a:t>
            </a:r>
            <a:br>
              <a:rPr lang="en-AU" sz="2200" dirty="0" smtClean="0">
                <a:latin typeface="Helvetica" pitchFamily="34" charset="0"/>
              </a:rPr>
            </a:br>
            <a:r>
              <a:rPr lang="en-AU" sz="2200" dirty="0" smtClean="0">
                <a:latin typeface="Helvetica" pitchFamily="34" charset="0"/>
              </a:rPr>
              <a:t>with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MP900444381[1].JPG"/>
          <p:cNvPicPr>
            <a:picLocks noChangeAspect="1"/>
          </p:cNvPicPr>
          <p:nvPr/>
        </p:nvPicPr>
        <p:blipFill>
          <a:blip r:embed="rId3" cstate="print"/>
          <a:stretch>
            <a:fillRect/>
          </a:stretch>
        </p:blipFill>
        <p:spPr>
          <a:xfrm>
            <a:off x="6993255" y="3657600"/>
            <a:ext cx="1464945" cy="189552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99864"/>
            <a:ext cx="7999040" cy="766936"/>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manual</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066800"/>
            <a:ext cx="7467600" cy="5410200"/>
          </a:xfrm>
        </p:spPr>
        <p:txBody>
          <a:bodyPr>
            <a:normAutofit/>
          </a:bodyPr>
          <a:lstStyle/>
          <a:p>
            <a:pPr>
              <a:spcBef>
                <a:spcPts val="600"/>
              </a:spcBef>
              <a:spcAft>
                <a:spcPts val="600"/>
              </a:spcAft>
              <a:buNone/>
            </a:pPr>
            <a:r>
              <a:rPr lang="en-AU" sz="2200" b="1" dirty="0" smtClean="0">
                <a:latin typeface="Helvetica" pitchFamily="34" charset="0"/>
              </a:rPr>
              <a:t>Contents of Human Resources Manual</a:t>
            </a:r>
          </a:p>
          <a:p>
            <a:pPr lvl="0">
              <a:spcBef>
                <a:spcPts val="600"/>
              </a:spcBef>
              <a:spcAft>
                <a:spcPts val="600"/>
              </a:spcAft>
            </a:pPr>
            <a:r>
              <a:rPr lang="en-AU" sz="2200" dirty="0" smtClean="0">
                <a:latin typeface="Helvetica" pitchFamily="34" charset="0"/>
              </a:rPr>
              <a:t>Uniform and personal appearance</a:t>
            </a:r>
          </a:p>
          <a:p>
            <a:pPr lvl="0">
              <a:spcBef>
                <a:spcPts val="600"/>
              </a:spcBef>
              <a:spcAft>
                <a:spcPts val="600"/>
              </a:spcAft>
            </a:pPr>
            <a:r>
              <a:rPr lang="en-AU" sz="2200" dirty="0" smtClean="0">
                <a:latin typeface="Helvetica" pitchFamily="34" charset="0"/>
              </a:rPr>
              <a:t>Meals and rest breaks, including rosters, holidays/leave entitlements</a:t>
            </a:r>
          </a:p>
          <a:p>
            <a:pPr lvl="0">
              <a:spcBef>
                <a:spcPts val="600"/>
              </a:spcBef>
              <a:spcAft>
                <a:spcPts val="600"/>
              </a:spcAft>
            </a:pPr>
            <a:r>
              <a:rPr lang="en-AU" sz="2200" dirty="0" smtClean="0">
                <a:latin typeface="Helvetica" pitchFamily="34" charset="0"/>
              </a:rPr>
              <a:t>Time sheets/clocks and the authorization of overtime, including notification of absence and sickness provisions</a:t>
            </a:r>
          </a:p>
          <a:p>
            <a:pPr lvl="0">
              <a:spcBef>
                <a:spcPts val="600"/>
              </a:spcBef>
              <a:spcAft>
                <a:spcPts val="600"/>
              </a:spcAft>
            </a:pPr>
            <a:r>
              <a:rPr lang="en-AU" sz="2200" dirty="0" smtClean="0">
                <a:latin typeface="Helvetica" pitchFamily="34" charset="0"/>
              </a:rPr>
              <a:t>Use of company equipment, facilities </a:t>
            </a:r>
            <a:br>
              <a:rPr lang="en-AU" sz="2200" dirty="0" smtClean="0">
                <a:latin typeface="Helvetica" pitchFamily="34" charset="0"/>
              </a:rPr>
            </a:br>
            <a:r>
              <a:rPr lang="en-AU" sz="2200" dirty="0" smtClean="0">
                <a:latin typeface="Helvetica" pitchFamily="34" charset="0"/>
              </a:rPr>
              <a:t>and services</a:t>
            </a:r>
          </a:p>
          <a:p>
            <a:pPr lvl="0">
              <a:spcBef>
                <a:spcPts val="600"/>
              </a:spcBef>
              <a:spcAft>
                <a:spcPts val="600"/>
              </a:spcAft>
            </a:pPr>
            <a:r>
              <a:rPr lang="en-AU" sz="2200" dirty="0" smtClean="0">
                <a:latin typeface="Helvetica" pitchFamily="34" charset="0"/>
              </a:rPr>
              <a:t>Confidentiality and privacy, including </a:t>
            </a:r>
            <a:br>
              <a:rPr lang="en-AU" sz="2200" dirty="0" smtClean="0">
                <a:latin typeface="Helvetica" pitchFamily="34" charset="0"/>
              </a:rPr>
            </a:br>
            <a:r>
              <a:rPr lang="en-AU" sz="2200" dirty="0" smtClean="0">
                <a:latin typeface="Helvetica" pitchFamily="34" charset="0"/>
              </a:rPr>
              <a:t>commercial in confidence material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6" name="Picture 5" descr="Cooking.jpg"/>
          <p:cNvPicPr>
            <a:picLocks noChangeAspect="1"/>
          </p:cNvPicPr>
          <p:nvPr/>
        </p:nvPicPr>
        <p:blipFill>
          <a:blip r:embed="rId3" cstate="print"/>
          <a:stretch>
            <a:fillRect/>
          </a:stretch>
        </p:blipFill>
        <p:spPr>
          <a:xfrm>
            <a:off x="6781800" y="4191000"/>
            <a:ext cx="1731163" cy="1263749"/>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a:t>
            </a:r>
            <a:r>
              <a:rPr lang="en-AU" sz="3400" b="1" dirty="0" smtClean="0">
                <a:solidFill>
                  <a:srgbClr val="FF6600"/>
                </a:solidFill>
                <a:latin typeface="Helvetica" pitchFamily="34" charset="0"/>
              </a:rPr>
              <a:t>uman resources </a:t>
            </a:r>
            <a:r>
              <a:rPr lang="en-AU" sz="3400" b="1" dirty="0" smtClean="0">
                <a:solidFill>
                  <a:srgbClr val="FF6600"/>
                </a:solidFill>
                <a:latin typeface="Helvetica" pitchFamily="34" charset="0"/>
              </a:rPr>
              <a:t>manual</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5257800"/>
          </a:xfrm>
        </p:spPr>
        <p:txBody>
          <a:bodyPr>
            <a:normAutofit/>
          </a:bodyPr>
          <a:lstStyle/>
          <a:p>
            <a:pPr>
              <a:spcBef>
                <a:spcPts val="600"/>
              </a:spcBef>
              <a:spcAft>
                <a:spcPts val="1200"/>
              </a:spcAft>
              <a:buNone/>
            </a:pPr>
            <a:r>
              <a:rPr lang="en-AU" sz="2200" b="1" dirty="0" smtClean="0">
                <a:latin typeface="Helvetica" pitchFamily="34" charset="0"/>
              </a:rPr>
              <a:t>Contents of Human Resources Manual</a:t>
            </a:r>
          </a:p>
          <a:p>
            <a:pPr lvl="0">
              <a:spcBef>
                <a:spcPts val="600"/>
              </a:spcBef>
              <a:spcAft>
                <a:spcPts val="1200"/>
              </a:spcAft>
            </a:pPr>
            <a:r>
              <a:rPr lang="en-AU" sz="2200" dirty="0" smtClean="0">
                <a:latin typeface="Helvetica" pitchFamily="34" charset="0"/>
              </a:rPr>
              <a:t>Personal performance, including performance assessments, standards and reviews</a:t>
            </a:r>
          </a:p>
          <a:p>
            <a:pPr lvl="0">
              <a:spcBef>
                <a:spcPts val="600"/>
              </a:spcBef>
              <a:spcAft>
                <a:spcPts val="1200"/>
              </a:spcAft>
            </a:pPr>
            <a:r>
              <a:rPr lang="en-AU" sz="2200" dirty="0" smtClean="0">
                <a:latin typeface="Helvetica" pitchFamily="34" charset="0"/>
              </a:rPr>
              <a:t>Training and promotions</a:t>
            </a:r>
          </a:p>
          <a:p>
            <a:pPr lvl="0">
              <a:spcBef>
                <a:spcPts val="600"/>
              </a:spcBef>
              <a:spcAft>
                <a:spcPts val="1200"/>
              </a:spcAft>
            </a:pPr>
            <a:r>
              <a:rPr lang="en-AU" sz="2200" dirty="0" smtClean="0">
                <a:latin typeface="Helvetica" pitchFamily="34" charset="0"/>
              </a:rPr>
              <a:t>Discipline and issue resolution</a:t>
            </a:r>
          </a:p>
          <a:p>
            <a:pPr lvl="0">
              <a:spcBef>
                <a:spcPts val="600"/>
              </a:spcBef>
              <a:spcAft>
                <a:spcPts val="1200"/>
              </a:spcAft>
            </a:pPr>
            <a:r>
              <a:rPr lang="en-AU" sz="2200" dirty="0" smtClean="0">
                <a:latin typeface="Helvetica" pitchFamily="34" charset="0"/>
              </a:rPr>
              <a:t>Workplace health and safety</a:t>
            </a:r>
          </a:p>
          <a:p>
            <a:pPr>
              <a:spcBef>
                <a:spcPts val="600"/>
              </a:spcBef>
              <a:spcAft>
                <a:spcPts val="1200"/>
              </a:spcAft>
            </a:pPr>
            <a:r>
              <a:rPr lang="en-AU" sz="2200" dirty="0" smtClean="0">
                <a:latin typeface="Helvetica" pitchFamily="34" charset="0"/>
              </a:rPr>
              <a:t>Responsibilities</a:t>
            </a:r>
          </a:p>
          <a:p>
            <a:pPr>
              <a:spcBef>
                <a:spcPts val="600"/>
              </a:spcBef>
              <a:spcAft>
                <a:spcPts val="1200"/>
              </a:spcAft>
            </a:pPr>
            <a:r>
              <a:rPr lang="en-AU" sz="2200" dirty="0" smtClean="0">
                <a:latin typeface="Helvetica" pitchFamily="34" charset="0"/>
              </a:rPr>
              <a:t>Organizational structure &amp; hierarchy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7" name="Picture 6" descr="MP900174879[1].JPG"/>
          <p:cNvPicPr>
            <a:picLocks noChangeAspect="1"/>
          </p:cNvPicPr>
          <p:nvPr/>
        </p:nvPicPr>
        <p:blipFill>
          <a:blip r:embed="rId3" cstate="print"/>
          <a:stretch>
            <a:fillRect/>
          </a:stretch>
        </p:blipFill>
        <p:spPr>
          <a:xfrm>
            <a:off x="7239000" y="3581400"/>
            <a:ext cx="1219200" cy="18288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manual</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4996408"/>
          </a:xfrm>
        </p:spPr>
        <p:txBody>
          <a:bodyPr>
            <a:normAutofit/>
          </a:bodyPr>
          <a:lstStyle/>
          <a:p>
            <a:pPr>
              <a:spcBef>
                <a:spcPts val="600"/>
              </a:spcBef>
              <a:spcAft>
                <a:spcPts val="1200"/>
              </a:spcAft>
              <a:buNone/>
            </a:pPr>
            <a:r>
              <a:rPr lang="en-AU" sz="2200" b="1" dirty="0" smtClean="0">
                <a:latin typeface="Helvetica" pitchFamily="34" charset="0"/>
              </a:rPr>
              <a:t>Importance </a:t>
            </a:r>
            <a:r>
              <a:rPr lang="en-AU" sz="2200" b="1" dirty="0" smtClean="0">
                <a:latin typeface="Helvetica" pitchFamily="34" charset="0"/>
              </a:rPr>
              <a:t>of policies and procedures</a:t>
            </a:r>
          </a:p>
          <a:p>
            <a:pPr>
              <a:spcBef>
                <a:spcPts val="600"/>
              </a:spcBef>
              <a:spcAft>
                <a:spcPts val="1200"/>
              </a:spcAft>
            </a:pPr>
            <a:r>
              <a:rPr lang="en-AU" sz="2200" dirty="0" smtClean="0">
                <a:latin typeface="Helvetica" pitchFamily="34" charset="0"/>
              </a:rPr>
              <a:t>What is the different between a policy and procedure?</a:t>
            </a:r>
          </a:p>
          <a:p>
            <a:pPr>
              <a:spcBef>
                <a:spcPts val="600"/>
              </a:spcBef>
              <a:spcAft>
                <a:spcPts val="1200"/>
              </a:spcAft>
            </a:pPr>
            <a:r>
              <a:rPr lang="en-AU" sz="2200" dirty="0" smtClean="0">
                <a:latin typeface="Helvetica" pitchFamily="34" charset="0"/>
              </a:rPr>
              <a:t>How decides them?</a:t>
            </a:r>
          </a:p>
          <a:p>
            <a:pPr>
              <a:spcBef>
                <a:spcPts val="600"/>
              </a:spcBef>
              <a:spcAft>
                <a:spcPts val="1200"/>
              </a:spcAft>
            </a:pPr>
            <a:r>
              <a:rPr lang="en-AU" sz="2200" dirty="0" smtClean="0">
                <a:latin typeface="Helvetica" pitchFamily="34" charset="0"/>
              </a:rPr>
              <a:t>Where do they come from?</a:t>
            </a:r>
          </a:p>
          <a:p>
            <a:pPr>
              <a:spcBef>
                <a:spcPts val="600"/>
              </a:spcBef>
              <a:spcAft>
                <a:spcPts val="1200"/>
              </a:spcAft>
            </a:pPr>
            <a:r>
              <a:rPr lang="en-AU" sz="2200" dirty="0" smtClean="0">
                <a:latin typeface="Helvetica" pitchFamily="34" charset="0"/>
              </a:rPr>
              <a:t>In which areas should policies and </a:t>
            </a:r>
            <a:br>
              <a:rPr lang="en-AU" sz="2200" dirty="0" smtClean="0">
                <a:latin typeface="Helvetica" pitchFamily="34" charset="0"/>
              </a:rPr>
            </a:br>
            <a:r>
              <a:rPr lang="en-AU" sz="2200" dirty="0" smtClean="0">
                <a:latin typeface="Helvetica" pitchFamily="34" charset="0"/>
              </a:rPr>
              <a:t>procedures be developed?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descr="Table Setting.jpg"/>
          <p:cNvPicPr>
            <a:picLocks noChangeAspect="1"/>
          </p:cNvPicPr>
          <p:nvPr/>
        </p:nvPicPr>
        <p:blipFill>
          <a:blip r:embed="rId3" cstate="print"/>
          <a:stretch>
            <a:fillRect/>
          </a:stretch>
        </p:blipFill>
        <p:spPr>
          <a:xfrm>
            <a:off x="6553200" y="4116984"/>
            <a:ext cx="1905000" cy="127635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Human </a:t>
            </a:r>
            <a:r>
              <a:rPr lang="en-AU" sz="3400" b="1" dirty="0" smtClean="0">
                <a:solidFill>
                  <a:srgbClr val="FF6600"/>
                </a:solidFill>
                <a:latin typeface="Helvetica" pitchFamily="34" charset="0"/>
              </a:rPr>
              <a:t>resources policies and procedures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Areas for policies and procedures</a:t>
            </a:r>
          </a:p>
          <a:p>
            <a:pPr>
              <a:spcBef>
                <a:spcPts val="600"/>
              </a:spcBef>
              <a:spcAft>
                <a:spcPts val="1200"/>
              </a:spcAft>
            </a:pPr>
            <a:r>
              <a:rPr lang="en-AU" sz="2200" dirty="0" smtClean="0">
                <a:latin typeface="Helvetica" pitchFamily="34" charset="0"/>
              </a:rPr>
              <a:t>Job advertising</a:t>
            </a:r>
          </a:p>
          <a:p>
            <a:pPr>
              <a:spcBef>
                <a:spcPts val="600"/>
              </a:spcBef>
              <a:spcAft>
                <a:spcPts val="1200"/>
              </a:spcAft>
            </a:pPr>
            <a:r>
              <a:rPr lang="en-AU" sz="2200" dirty="0" smtClean="0">
                <a:latin typeface="Helvetica" pitchFamily="34" charset="0"/>
              </a:rPr>
              <a:t>Internal promotion of staff</a:t>
            </a:r>
          </a:p>
          <a:p>
            <a:pPr>
              <a:spcBef>
                <a:spcPts val="600"/>
              </a:spcBef>
              <a:spcAft>
                <a:spcPts val="1200"/>
              </a:spcAft>
            </a:pPr>
            <a:r>
              <a:rPr lang="en-AU" sz="2200" dirty="0" smtClean="0">
                <a:latin typeface="Helvetica" pitchFamily="34" charset="0"/>
              </a:rPr>
              <a:t>Staff training</a:t>
            </a:r>
          </a:p>
          <a:p>
            <a:pPr>
              <a:spcBef>
                <a:spcPts val="600"/>
              </a:spcBef>
              <a:spcAft>
                <a:spcPts val="1200"/>
              </a:spcAft>
            </a:pPr>
            <a:r>
              <a:rPr lang="en-AU" sz="2200" dirty="0" smtClean="0">
                <a:latin typeface="Helvetica" pitchFamily="34" charset="0"/>
              </a:rPr>
              <a:t>Remuneration</a:t>
            </a:r>
          </a:p>
          <a:p>
            <a:pPr>
              <a:spcBef>
                <a:spcPts val="600"/>
              </a:spcBef>
              <a:spcAft>
                <a:spcPts val="1200"/>
              </a:spcAft>
            </a:pPr>
            <a:r>
              <a:rPr lang="en-AU" sz="2200" dirty="0" smtClean="0">
                <a:latin typeface="Helvetica" pitchFamily="34" charset="0"/>
              </a:rPr>
              <a:t>Probationary period</a:t>
            </a:r>
          </a:p>
          <a:p>
            <a:pPr>
              <a:spcBef>
                <a:spcPts val="600"/>
              </a:spcBef>
              <a:spcAft>
                <a:spcPts val="1200"/>
              </a:spcAft>
            </a:pPr>
            <a:r>
              <a:rPr lang="en-AU" sz="2200" dirty="0" smtClean="0">
                <a:latin typeface="Helvetica" pitchFamily="34" charset="0"/>
              </a:rPr>
              <a:t>Terms and conditions of employment</a:t>
            </a:r>
          </a:p>
          <a:p>
            <a:pPr>
              <a:spcBef>
                <a:spcPts val="600"/>
              </a:spcBef>
              <a:spcAft>
                <a:spcPts val="1200"/>
              </a:spcAft>
            </a:pPr>
            <a:r>
              <a:rPr lang="en-AU" sz="2200" dirty="0" smtClean="0">
                <a:latin typeface="Helvetica" pitchFamily="34" charset="0"/>
              </a:rPr>
              <a:t>Benefits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7" name="Picture 6" descr="11111.jpg"/>
          <p:cNvPicPr>
            <a:picLocks noChangeAspect="1"/>
          </p:cNvPicPr>
          <p:nvPr/>
        </p:nvPicPr>
        <p:blipFill>
          <a:blip r:embed="rId3" cstate="print"/>
          <a:stretch>
            <a:fillRect/>
          </a:stretch>
        </p:blipFill>
        <p:spPr>
          <a:xfrm>
            <a:off x="7086600" y="3505200"/>
            <a:ext cx="1329972" cy="1991223"/>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Human resources policies and procedures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Areas for policies and procedures</a:t>
            </a:r>
          </a:p>
          <a:p>
            <a:pPr>
              <a:spcBef>
                <a:spcPts val="600"/>
              </a:spcBef>
              <a:spcAft>
                <a:spcPts val="1200"/>
              </a:spcAft>
            </a:pPr>
            <a:r>
              <a:rPr lang="en-AU" sz="2200" dirty="0" smtClean="0">
                <a:latin typeface="Helvetica" pitchFamily="34" charset="0"/>
              </a:rPr>
              <a:t>General staff behaviour and presentation</a:t>
            </a:r>
          </a:p>
          <a:p>
            <a:pPr>
              <a:spcBef>
                <a:spcPts val="600"/>
              </a:spcBef>
              <a:spcAft>
                <a:spcPts val="1200"/>
              </a:spcAft>
            </a:pPr>
            <a:r>
              <a:rPr lang="en-AU" sz="2200" dirty="0" smtClean="0">
                <a:latin typeface="Helvetica" pitchFamily="34" charset="0"/>
              </a:rPr>
              <a:t>Interview and selection panels</a:t>
            </a:r>
          </a:p>
          <a:p>
            <a:pPr>
              <a:spcBef>
                <a:spcPts val="600"/>
              </a:spcBef>
              <a:spcAft>
                <a:spcPts val="1200"/>
              </a:spcAft>
            </a:pPr>
            <a:r>
              <a:rPr lang="en-AU" sz="2200" dirty="0" smtClean="0">
                <a:latin typeface="Helvetica" pitchFamily="34" charset="0"/>
              </a:rPr>
              <a:t>Designated authorities for hiring staff</a:t>
            </a:r>
          </a:p>
          <a:p>
            <a:pPr>
              <a:spcBef>
                <a:spcPts val="600"/>
              </a:spcBef>
              <a:spcAft>
                <a:spcPts val="1200"/>
              </a:spcAft>
            </a:pPr>
            <a:r>
              <a:rPr lang="en-AU" sz="2200" dirty="0" smtClean="0">
                <a:latin typeface="Helvetica" pitchFamily="34" charset="0"/>
              </a:rPr>
              <a:t>Discretionary power</a:t>
            </a:r>
          </a:p>
          <a:p>
            <a:pPr>
              <a:spcBef>
                <a:spcPts val="600"/>
              </a:spcBef>
              <a:spcAft>
                <a:spcPts val="1200"/>
              </a:spcAft>
            </a:pPr>
            <a:r>
              <a:rPr lang="en-AU" sz="2200" dirty="0" smtClean="0">
                <a:latin typeface="Helvetica" pitchFamily="34" charset="0"/>
              </a:rPr>
              <a:t>Legislation</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4.jpg"/>
          <p:cNvPicPr>
            <a:picLocks noChangeAspect="1"/>
          </p:cNvPicPr>
          <p:nvPr/>
        </p:nvPicPr>
        <p:blipFill>
          <a:blip r:embed="rId3" cstate="print"/>
          <a:stretch>
            <a:fillRect/>
          </a:stretch>
        </p:blipFill>
        <p:spPr>
          <a:xfrm>
            <a:off x="7162800" y="3581400"/>
            <a:ext cx="1267776" cy="1892424"/>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i="1" dirty="0" smtClean="0">
                <a:solidFill>
                  <a:srgbClr val="FF6600"/>
                </a:solidFill>
                <a:latin typeface="Helvetica" pitchFamily="34" charset="0"/>
              </a:rPr>
              <a:t>Element 3:</a:t>
            </a:r>
          </a:p>
          <a:p>
            <a:pPr marL="0">
              <a:spcBef>
                <a:spcPts val="600"/>
              </a:spcBef>
              <a:spcAft>
                <a:spcPts val="1200"/>
              </a:spcAft>
              <a:buNone/>
            </a:pPr>
            <a:r>
              <a:rPr lang="en-AU" sz="4000" b="1" i="1" dirty="0" smtClean="0">
                <a:solidFill>
                  <a:srgbClr val="FF6600"/>
                </a:solidFill>
                <a:latin typeface="Helvetica" pitchFamily="34" charset="0"/>
              </a:rPr>
              <a:t>Organize human resources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j0438585.jpg"/>
          <p:cNvPicPr>
            <a:picLocks noChangeAspect="1"/>
          </p:cNvPicPr>
          <p:nvPr/>
        </p:nvPicPr>
        <p:blipFill>
          <a:blip r:embed="rId3" cstate="print"/>
          <a:stretch>
            <a:fillRect/>
          </a:stretch>
        </p:blipFill>
        <p:spPr>
          <a:xfrm>
            <a:off x="6019800" y="3810000"/>
            <a:ext cx="2371213" cy="1574034"/>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Organize human resources</a:t>
            </a:r>
          </a:p>
        </p:txBody>
      </p:sp>
      <p:sp>
        <p:nvSpPr>
          <p:cNvPr id="3" name="Content Placeholder 2"/>
          <p:cNvSpPr>
            <a:spLocks noGrp="1"/>
          </p:cNvSpPr>
          <p:nvPr>
            <p:ph idx="1"/>
          </p:nvPr>
        </p:nvSpPr>
        <p:spPr>
          <a:xfrm>
            <a:off x="611560" y="1219200"/>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a:t>
            </a:r>
            <a:r>
              <a:rPr lang="en-AU" sz="2200" dirty="0" smtClean="0">
                <a:latin typeface="Helvetica" pitchFamily="34" charset="0"/>
              </a:rPr>
              <a:t>Criteria for this Element are: </a:t>
            </a:r>
          </a:p>
          <a:p>
            <a:pPr>
              <a:spcBef>
                <a:spcPts val="600"/>
              </a:spcBef>
              <a:spcAft>
                <a:spcPts val="1200"/>
              </a:spcAft>
            </a:pPr>
            <a:r>
              <a:rPr lang="en-AU" sz="2200" dirty="0" smtClean="0">
                <a:latin typeface="Helvetica" pitchFamily="34" charset="0"/>
              </a:rPr>
              <a:t>Participate in staff selection</a:t>
            </a:r>
          </a:p>
          <a:p>
            <a:pPr>
              <a:spcBef>
                <a:spcPts val="600"/>
              </a:spcBef>
              <a:spcAft>
                <a:spcPts val="1200"/>
              </a:spcAft>
            </a:pPr>
            <a:r>
              <a:rPr lang="en-AU" sz="2200" dirty="0" smtClean="0">
                <a:latin typeface="Helvetica" pitchFamily="34" charset="0"/>
              </a:rPr>
              <a:t>Develop staff induction programs</a:t>
            </a:r>
          </a:p>
          <a:p>
            <a:pPr>
              <a:spcBef>
                <a:spcPts val="600"/>
              </a:spcBef>
              <a:spcAft>
                <a:spcPts val="1200"/>
              </a:spcAft>
            </a:pPr>
            <a:r>
              <a:rPr lang="en-AU" sz="2200" dirty="0" smtClean="0">
                <a:latin typeface="Helvetica" pitchFamily="34" charset="0"/>
              </a:rPr>
              <a:t>Organize work programs</a:t>
            </a:r>
          </a:p>
          <a:p>
            <a:pPr>
              <a:spcBef>
                <a:spcPts val="600"/>
              </a:spcBef>
              <a:spcAft>
                <a:spcPts val="1200"/>
              </a:spcAft>
            </a:pPr>
            <a:r>
              <a:rPr lang="en-AU" sz="2200" dirty="0" smtClean="0">
                <a:latin typeface="Helvetica" pitchFamily="34" charset="0"/>
              </a:rPr>
              <a:t>Develop teams to support work</a:t>
            </a:r>
          </a:p>
          <a:p>
            <a:pPr>
              <a:spcBef>
                <a:spcPts val="600"/>
              </a:spcBef>
              <a:spcAft>
                <a:spcPts val="1200"/>
              </a:spcAft>
            </a:pPr>
            <a:r>
              <a:rPr lang="en-AU" sz="2200" dirty="0" smtClean="0">
                <a:latin typeface="Helvetica" pitchFamily="34" charset="0"/>
              </a:rPr>
              <a:t>Provide for supervision of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MP900422777[1].JPG"/>
          <p:cNvPicPr>
            <a:picLocks noChangeAspect="1"/>
          </p:cNvPicPr>
          <p:nvPr/>
        </p:nvPicPr>
        <p:blipFill>
          <a:blip r:embed="rId3" cstate="print"/>
          <a:stretch>
            <a:fillRect/>
          </a:stretch>
        </p:blipFill>
        <p:spPr>
          <a:xfrm>
            <a:off x="6739136" y="3657600"/>
            <a:ext cx="1719064" cy="1719064"/>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Staff selection</a:t>
            </a:r>
          </a:p>
        </p:txBody>
      </p:sp>
      <p:sp>
        <p:nvSpPr>
          <p:cNvPr id="3" name="Content Placeholder 2"/>
          <p:cNvSpPr>
            <a:spLocks noGrp="1"/>
          </p:cNvSpPr>
          <p:nvPr>
            <p:ph idx="1"/>
          </p:nvPr>
        </p:nvSpPr>
        <p:spPr>
          <a:xfrm>
            <a:off x="611560" y="1143000"/>
            <a:ext cx="7467600" cy="4896544"/>
          </a:xfrm>
        </p:spPr>
        <p:txBody>
          <a:bodyPr>
            <a:normAutofit/>
          </a:bodyPr>
          <a:lstStyle/>
          <a:p>
            <a:pPr marL="0" indent="0">
              <a:spcBef>
                <a:spcPts val="600"/>
              </a:spcBef>
              <a:spcAft>
                <a:spcPts val="1200"/>
              </a:spcAft>
              <a:buNone/>
            </a:pPr>
            <a:r>
              <a:rPr lang="en-AU" sz="2200" b="1" dirty="0" smtClean="0">
                <a:latin typeface="Helvetica" pitchFamily="34" charset="0"/>
              </a:rPr>
              <a:t>Participate in staff selection</a:t>
            </a:r>
          </a:p>
          <a:p>
            <a:pPr>
              <a:spcBef>
                <a:spcPts val="600"/>
              </a:spcBef>
              <a:spcAft>
                <a:spcPts val="1200"/>
              </a:spcAft>
            </a:pPr>
            <a:r>
              <a:rPr lang="en-AU" sz="2200" dirty="0" smtClean="0">
                <a:latin typeface="Helvetica" pitchFamily="34" charset="0"/>
              </a:rPr>
              <a:t>One of the key roles of human resources is to recruit new staff for an organisation.</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There are many steps associated with this process before a new staff members starts their first day of employment</a:t>
            </a:r>
          </a:p>
          <a:p>
            <a:pPr>
              <a:spcBef>
                <a:spcPts val="600"/>
              </a:spcBef>
              <a:spcAft>
                <a:spcPts val="1200"/>
              </a:spcAft>
            </a:pPr>
            <a:r>
              <a:rPr lang="en-AU" sz="2200" dirty="0" smtClean="0">
                <a:latin typeface="Helvetica" pitchFamily="34" charset="0"/>
              </a:rPr>
              <a:t>What is involved in this process?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6" name="Picture 5" descr="MP900422804[1].JPG"/>
          <p:cNvPicPr>
            <a:picLocks noChangeAspect="1"/>
          </p:cNvPicPr>
          <p:nvPr/>
        </p:nvPicPr>
        <p:blipFill>
          <a:blip r:embed="rId3" cstate="print"/>
          <a:stretch>
            <a:fillRect/>
          </a:stretch>
        </p:blipFill>
        <p:spPr>
          <a:xfrm>
            <a:off x="6553200" y="3581400"/>
            <a:ext cx="1853952" cy="1853952"/>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Develop key selection criteria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920880" cy="4752528"/>
          </a:xfrm>
        </p:spPr>
        <p:txBody>
          <a:bodyPr>
            <a:normAutofit/>
          </a:bodyPr>
          <a:lstStyle/>
          <a:p>
            <a:pPr marL="360000" indent="-360000">
              <a:spcBef>
                <a:spcPts val="600"/>
              </a:spcBef>
              <a:spcAft>
                <a:spcPts val="1200"/>
              </a:spcAft>
              <a:buNone/>
            </a:pPr>
            <a:r>
              <a:rPr lang="en-AU" sz="2200" b="1" dirty="0" smtClean="0">
                <a:latin typeface="Helvetica" pitchFamily="34" charset="0"/>
              </a:rPr>
              <a:t>Will address:</a:t>
            </a:r>
          </a:p>
          <a:p>
            <a:pPr marL="360000" indent="-360000">
              <a:spcBef>
                <a:spcPts val="600"/>
              </a:spcBef>
              <a:spcAft>
                <a:spcPts val="1200"/>
              </a:spcAft>
            </a:pPr>
            <a:r>
              <a:rPr lang="en-AU" sz="2200" dirty="0" smtClean="0">
                <a:latin typeface="Helvetica" pitchFamily="34" charset="0"/>
              </a:rPr>
              <a:t>Competencies</a:t>
            </a:r>
          </a:p>
          <a:p>
            <a:pPr marL="360000" indent="-360000">
              <a:spcBef>
                <a:spcPts val="600"/>
              </a:spcBef>
              <a:spcAft>
                <a:spcPts val="1200"/>
              </a:spcAft>
            </a:pPr>
            <a:r>
              <a:rPr lang="en-AU" sz="2200" dirty="0" smtClean="0">
                <a:latin typeface="Helvetica" pitchFamily="34" charset="0"/>
              </a:rPr>
              <a:t>Experience</a:t>
            </a:r>
          </a:p>
          <a:p>
            <a:pPr marL="360000" indent="-360000">
              <a:spcBef>
                <a:spcPts val="600"/>
              </a:spcBef>
              <a:spcAft>
                <a:spcPts val="1200"/>
              </a:spcAft>
            </a:pPr>
            <a:r>
              <a:rPr lang="en-AU" sz="2200" dirty="0" smtClean="0">
                <a:latin typeface="Helvetica" pitchFamily="34" charset="0"/>
              </a:rPr>
              <a:t>Qualifications</a:t>
            </a:r>
          </a:p>
          <a:p>
            <a:pPr marL="360000" indent="-360000">
              <a:spcBef>
                <a:spcPts val="600"/>
              </a:spcBef>
              <a:spcAft>
                <a:spcPts val="1200"/>
              </a:spcAft>
            </a:pPr>
            <a:r>
              <a:rPr lang="en-AU" sz="2200" dirty="0" smtClean="0">
                <a:latin typeface="Helvetica" pitchFamily="34" charset="0"/>
              </a:rPr>
              <a:t>Compatibility</a:t>
            </a:r>
          </a:p>
          <a:p>
            <a:pPr marL="360000" indent="-360000">
              <a:spcBef>
                <a:spcPts val="600"/>
              </a:spcBef>
              <a:spcAft>
                <a:spcPts val="1200"/>
              </a:spcAft>
            </a:pPr>
            <a:r>
              <a:rPr lang="en-AU" sz="2200" dirty="0" smtClean="0">
                <a:latin typeface="Helvetica" pitchFamily="34" charset="0"/>
              </a:rPr>
              <a:t>Form the basis of ‘Interview Rating Sheets</a:t>
            </a:r>
          </a:p>
          <a:p>
            <a:pPr marL="661752" lvl="1" indent="-36000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00402960.jpg"/>
          <p:cNvPicPr>
            <a:picLocks noChangeAspect="1"/>
          </p:cNvPicPr>
          <p:nvPr/>
        </p:nvPicPr>
        <p:blipFill>
          <a:blip r:embed="rId3" cstate="print"/>
          <a:stretch>
            <a:fillRect/>
          </a:stretch>
        </p:blipFill>
        <p:spPr>
          <a:xfrm>
            <a:off x="6565776" y="4191000"/>
            <a:ext cx="1816224" cy="121081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Obtain authority to recruit staff</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5264"/>
            <a:ext cx="7776864" cy="4824536"/>
          </a:xfrm>
        </p:spPr>
        <p:txBody>
          <a:bodyPr>
            <a:normAutofit/>
          </a:bodyPr>
          <a:lstStyle/>
          <a:p>
            <a:pPr marL="0" indent="0">
              <a:spcBef>
                <a:spcPts val="600"/>
              </a:spcBef>
              <a:spcAft>
                <a:spcPts val="1200"/>
              </a:spcAft>
              <a:buNone/>
            </a:pPr>
            <a:r>
              <a:rPr lang="en-AU" sz="2200" b="1" dirty="0" smtClean="0">
                <a:latin typeface="Helvetica" pitchFamily="34" charset="0"/>
              </a:rPr>
              <a:t>Need to obtain authority</a:t>
            </a:r>
          </a:p>
          <a:p>
            <a:pPr marL="360000" indent="-360000">
              <a:spcBef>
                <a:spcPts val="600"/>
              </a:spcBef>
              <a:spcAft>
                <a:spcPts val="1200"/>
              </a:spcAft>
            </a:pPr>
            <a:r>
              <a:rPr lang="en-AU" sz="2200" dirty="0" smtClean="0">
                <a:latin typeface="Helvetica" pitchFamily="34" charset="0"/>
              </a:rPr>
              <a:t>In what areas would you need authority?</a:t>
            </a:r>
          </a:p>
          <a:p>
            <a:pPr marL="360000" indent="-360000">
              <a:spcBef>
                <a:spcPts val="600"/>
              </a:spcBef>
              <a:spcAft>
                <a:spcPts val="1200"/>
              </a:spcAft>
            </a:pPr>
            <a:r>
              <a:rPr lang="en-AU" sz="2200" dirty="0" smtClean="0">
                <a:latin typeface="Helvetica" pitchFamily="34" charset="0"/>
              </a:rPr>
              <a:t>When would you need to obtain authority?</a:t>
            </a:r>
          </a:p>
          <a:p>
            <a:pPr marL="360000" indent="-360000">
              <a:spcBef>
                <a:spcPts val="600"/>
              </a:spcBef>
              <a:spcAft>
                <a:spcPts val="1200"/>
              </a:spcAft>
            </a:pPr>
            <a:r>
              <a:rPr lang="en-AU" sz="2200" dirty="0" smtClean="0">
                <a:latin typeface="Helvetica" pitchFamily="34" charset="0"/>
              </a:rPr>
              <a:t>Who provides this authority?</a:t>
            </a:r>
          </a:p>
          <a:p>
            <a:pPr marL="360000" indent="-360000">
              <a:spcBef>
                <a:spcPts val="600"/>
              </a:spcBef>
              <a:spcAft>
                <a:spcPts val="1200"/>
              </a:spcAft>
            </a:pPr>
            <a:r>
              <a:rPr lang="en-AU" sz="2200" dirty="0" smtClean="0">
                <a:latin typeface="Helvetica" pitchFamily="34" charset="0"/>
              </a:rPr>
              <a:t>How can authority be obtained?</a:t>
            </a:r>
          </a:p>
          <a:p>
            <a:pPr marL="360000" indent="-360000">
              <a:spcBef>
                <a:spcPts val="600"/>
              </a:spcBef>
              <a:spcAft>
                <a:spcPts val="1200"/>
              </a:spcAft>
            </a:pPr>
            <a:r>
              <a:rPr lang="en-AU" sz="2200" dirty="0" smtClean="0">
                <a:latin typeface="Helvetica" pitchFamily="34" charset="0"/>
              </a:rPr>
              <a:t>What areas require authority?</a:t>
            </a:r>
          </a:p>
          <a:p>
            <a:pPr marL="360000" indent="-360000">
              <a:spcBef>
                <a:spcPts val="600"/>
              </a:spcBef>
              <a:spcAft>
                <a:spcPts val="1200"/>
              </a:spcAft>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descr="00439597.png"/>
          <p:cNvPicPr>
            <a:picLocks noChangeAspect="1"/>
          </p:cNvPicPr>
          <p:nvPr/>
        </p:nvPicPr>
        <p:blipFill>
          <a:blip r:embed="rId3" cstate="print"/>
          <a:stretch>
            <a:fillRect/>
          </a:stretch>
        </p:blipFill>
        <p:spPr>
          <a:xfrm>
            <a:off x="6858000" y="2819400"/>
            <a:ext cx="1452262" cy="2162944"/>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AU" sz="3400" b="1" dirty="0" smtClean="0">
                <a:solidFill>
                  <a:srgbClr val="FF6600"/>
                </a:solidFill>
                <a:latin typeface="Helvetica" pitchFamily="34" charset="0"/>
              </a:rPr>
              <a:t>Identify sources of staff</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848872" cy="5301208"/>
          </a:xfrm>
        </p:spPr>
        <p:txBody>
          <a:bodyPr>
            <a:normAutofit fontScale="85000" lnSpcReduction="20000"/>
          </a:bodyPr>
          <a:lstStyle/>
          <a:p>
            <a:pPr marL="0" indent="0">
              <a:spcBef>
                <a:spcPts val="600"/>
              </a:spcBef>
              <a:spcAft>
                <a:spcPts val="1200"/>
              </a:spcAft>
              <a:buNone/>
            </a:pPr>
            <a:r>
              <a:rPr lang="en-AU" sz="2600" b="1" dirty="0" smtClean="0">
                <a:latin typeface="Helvetica" pitchFamily="34" charset="0"/>
              </a:rPr>
              <a:t>Sources of staff</a:t>
            </a:r>
          </a:p>
          <a:p>
            <a:pPr marL="360000" indent="-360000">
              <a:spcBef>
                <a:spcPts val="600"/>
              </a:spcBef>
              <a:spcAft>
                <a:spcPts val="1200"/>
              </a:spcAft>
            </a:pPr>
            <a:r>
              <a:rPr lang="en-AU" sz="2600" dirty="0" smtClean="0">
                <a:latin typeface="Helvetica" pitchFamily="34" charset="0"/>
              </a:rPr>
              <a:t>Media advertisements</a:t>
            </a:r>
          </a:p>
          <a:p>
            <a:pPr marL="360000" indent="-360000">
              <a:spcBef>
                <a:spcPts val="600"/>
              </a:spcBef>
              <a:spcAft>
                <a:spcPts val="1200"/>
              </a:spcAft>
            </a:pPr>
            <a:r>
              <a:rPr lang="en-AU" sz="2600" dirty="0" smtClean="0">
                <a:latin typeface="Helvetica" pitchFamily="34" charset="0"/>
              </a:rPr>
              <a:t>Job agencies and recruitment agencies</a:t>
            </a:r>
          </a:p>
          <a:p>
            <a:pPr marL="360000" indent="-360000">
              <a:spcBef>
                <a:spcPts val="600"/>
              </a:spcBef>
              <a:spcAft>
                <a:spcPts val="1200"/>
              </a:spcAft>
            </a:pPr>
            <a:r>
              <a:rPr lang="en-AU" sz="2600" dirty="0" smtClean="0">
                <a:latin typeface="Helvetica" pitchFamily="34" charset="0"/>
              </a:rPr>
              <a:t>Internet recruitment</a:t>
            </a:r>
          </a:p>
          <a:p>
            <a:pPr marL="360000" indent="-360000">
              <a:spcBef>
                <a:spcPts val="600"/>
              </a:spcBef>
              <a:spcAft>
                <a:spcPts val="1200"/>
              </a:spcAft>
            </a:pPr>
            <a:r>
              <a:rPr lang="en-AU" sz="2600" dirty="0" smtClean="0">
                <a:latin typeface="Helvetica" pitchFamily="34" charset="0"/>
              </a:rPr>
              <a:t>Internal advertising</a:t>
            </a:r>
          </a:p>
          <a:p>
            <a:pPr marL="360000" indent="-360000">
              <a:spcBef>
                <a:spcPts val="600"/>
              </a:spcBef>
              <a:spcAft>
                <a:spcPts val="1200"/>
              </a:spcAft>
            </a:pPr>
            <a:r>
              <a:rPr lang="en-AU" sz="2600" dirty="0" smtClean="0">
                <a:latin typeface="Helvetica" pitchFamily="34" charset="0"/>
              </a:rPr>
              <a:t>Schools and trade colleges</a:t>
            </a:r>
          </a:p>
          <a:p>
            <a:pPr marL="360000" indent="-360000">
              <a:spcBef>
                <a:spcPts val="600"/>
              </a:spcBef>
              <a:spcAft>
                <a:spcPts val="1200"/>
              </a:spcAft>
            </a:pPr>
            <a:r>
              <a:rPr lang="en-AU" sz="2600" dirty="0" smtClean="0">
                <a:latin typeface="Helvetica" pitchFamily="34" charset="0"/>
              </a:rPr>
              <a:t>Industry network contacts</a:t>
            </a:r>
          </a:p>
          <a:p>
            <a:pPr marL="360000" indent="-360000">
              <a:spcBef>
                <a:spcPts val="600"/>
              </a:spcBef>
              <a:spcAft>
                <a:spcPts val="1200"/>
              </a:spcAft>
            </a:pPr>
            <a:r>
              <a:rPr lang="en-AU" sz="2600" dirty="0" smtClean="0">
                <a:latin typeface="Helvetica" pitchFamily="34" charset="0"/>
              </a:rPr>
              <a:t>Other staff</a:t>
            </a:r>
          </a:p>
          <a:p>
            <a:pPr marL="360000" indent="-360000">
              <a:spcBef>
                <a:spcPts val="600"/>
              </a:spcBef>
              <a:spcAft>
                <a:spcPts val="1200"/>
              </a:spcAft>
            </a:pPr>
            <a:r>
              <a:rPr lang="en-AU" sz="2600" dirty="0" smtClean="0">
                <a:latin typeface="Helvetica" pitchFamily="34" charset="0"/>
              </a:rPr>
              <a:t>Considering people who have already </a:t>
            </a:r>
            <a:br>
              <a:rPr lang="en-AU" sz="2600" dirty="0" smtClean="0">
                <a:latin typeface="Helvetica" pitchFamily="34" charset="0"/>
              </a:rPr>
            </a:br>
            <a:r>
              <a:rPr lang="en-AU" sz="2600" dirty="0" smtClean="0">
                <a:latin typeface="Helvetica" pitchFamily="34" charset="0"/>
              </a:rPr>
              <a:t>registered with you </a:t>
            </a:r>
          </a:p>
          <a:p>
            <a:pPr marL="360000" indent="-360000">
              <a:spcBef>
                <a:spcPts val="600"/>
              </a:spcBef>
              <a:spcAft>
                <a:spcPts val="1200"/>
              </a:spcAft>
            </a:pPr>
            <a:r>
              <a:rPr lang="en-AU" sz="2600" dirty="0" smtClean="0">
                <a:latin typeface="Helvetica" pitchFamily="34" charset="0"/>
              </a:rPr>
              <a:t>Participating in career fairs</a:t>
            </a:r>
          </a:p>
          <a:p>
            <a:pPr marL="360000" indent="-360000">
              <a:spcBef>
                <a:spcPts val="600"/>
              </a:spcBef>
              <a:spcAft>
                <a:spcPts val="1200"/>
              </a:spcAft>
            </a:pPr>
            <a:endParaRPr lang="en-AU" sz="2400" b="1" dirty="0" smtClean="0"/>
          </a:p>
          <a:p>
            <a:pPr marL="360000" indent="-360000">
              <a:spcBef>
                <a:spcPts val="600"/>
              </a:spcBef>
              <a:spcAft>
                <a:spcPts val="1200"/>
              </a:spcAft>
            </a:pPr>
            <a:endParaRPr lang="en-AU" sz="2400" dirty="0" smtClean="0"/>
          </a:p>
          <a:p>
            <a:pPr marL="360000" indent="-360000">
              <a:spcBef>
                <a:spcPts val="600"/>
              </a:spcBef>
              <a:spcAft>
                <a:spcPts val="1200"/>
              </a:spcAft>
            </a:pPr>
            <a:endParaRPr lang="en-AU" sz="2400" dirty="0" smtClean="0"/>
          </a:p>
          <a:p>
            <a:pPr marL="360000" indent="-360000">
              <a:spcBef>
                <a:spcPts val="600"/>
              </a:spcBef>
              <a:spcAft>
                <a:spcPts val="1200"/>
              </a:spcAft>
            </a:pPr>
            <a:endParaRPr lang="en-AU" sz="2200" dirty="0" smtClean="0">
              <a:latin typeface="Helvetica" pitchFamily="34" charset="0"/>
            </a:endParaRPr>
          </a:p>
          <a:p>
            <a:pPr marL="0" indent="0">
              <a:spcBef>
                <a:spcPts val="600"/>
              </a:spcBef>
              <a:spcAft>
                <a:spcPts val="1200"/>
              </a:spcAft>
            </a:pPr>
            <a:endParaRPr lang="en-AU" sz="2200" b="1"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6" name="Picture 5" descr="Online Job search.JPG"/>
          <p:cNvPicPr/>
          <p:nvPr/>
        </p:nvPicPr>
        <p:blipFill>
          <a:blip r:embed="rId3" cstate="print"/>
          <a:stretch>
            <a:fillRect/>
          </a:stretch>
        </p:blipFill>
        <p:spPr>
          <a:xfrm>
            <a:off x="6705600" y="4038600"/>
            <a:ext cx="1744345" cy="128587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810344"/>
          </a:xfrm>
        </p:spPr>
        <p:txBody>
          <a:bodyPr>
            <a:normAutofit/>
          </a:bodyPr>
          <a:lstStyle/>
          <a:p>
            <a:r>
              <a:rPr lang="en-AU" sz="3400" b="1" dirty="0" smtClean="0">
                <a:solidFill>
                  <a:srgbClr val="FF6600"/>
                </a:solidFill>
                <a:latin typeface="Helvetica" pitchFamily="34" charset="0"/>
              </a:rPr>
              <a:t>Develop and lodge job advertisements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8064896" cy="4896544"/>
          </a:xfrm>
        </p:spPr>
        <p:txBody>
          <a:bodyPr>
            <a:normAutofit/>
          </a:bodyPr>
          <a:lstStyle/>
          <a:p>
            <a:pPr marL="0" indent="0">
              <a:spcBef>
                <a:spcPts val="600"/>
              </a:spcBef>
              <a:spcAft>
                <a:spcPts val="1200"/>
              </a:spcAft>
              <a:buNone/>
            </a:pPr>
            <a:r>
              <a:rPr lang="en-AU" sz="2200" b="1" dirty="0" smtClean="0">
                <a:latin typeface="Helvetica" pitchFamily="34" charset="0"/>
              </a:rPr>
              <a:t>What </a:t>
            </a:r>
            <a:r>
              <a:rPr lang="en-AU" sz="2200" b="1" dirty="0" smtClean="0">
                <a:latin typeface="Helvetica" pitchFamily="34" charset="0"/>
              </a:rPr>
              <a:t>needs to be considered when preparing:</a:t>
            </a:r>
          </a:p>
          <a:p>
            <a:pPr>
              <a:spcBef>
                <a:spcPts val="600"/>
              </a:spcBef>
              <a:spcAft>
                <a:spcPts val="1200"/>
              </a:spcAft>
            </a:pPr>
            <a:r>
              <a:rPr lang="en-AU" sz="2200" dirty="0" smtClean="0">
                <a:latin typeface="Helvetica" pitchFamily="34" charset="0"/>
              </a:rPr>
              <a:t>Producing </a:t>
            </a:r>
            <a:r>
              <a:rPr lang="en-AU" sz="2200" dirty="0" smtClean="0">
                <a:latin typeface="Helvetica" pitchFamily="34" charset="0"/>
              </a:rPr>
              <a:t>media advertisements</a:t>
            </a:r>
          </a:p>
          <a:p>
            <a:pPr>
              <a:spcBef>
                <a:spcPts val="600"/>
              </a:spcBef>
              <a:spcAft>
                <a:spcPts val="1200"/>
              </a:spcAft>
            </a:pPr>
            <a:r>
              <a:rPr lang="en-AU" sz="2200" dirty="0" smtClean="0">
                <a:latin typeface="Helvetica" pitchFamily="34" charset="0"/>
              </a:rPr>
              <a:t>Providing information to recruitment agencies</a:t>
            </a:r>
          </a:p>
          <a:p>
            <a:endParaRPr lang="en-AU" sz="2400" dirty="0" smtClean="0"/>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j0409469.jpg"/>
          <p:cNvPicPr>
            <a:picLocks noChangeAspect="1"/>
          </p:cNvPicPr>
          <p:nvPr/>
        </p:nvPicPr>
        <p:blipFill>
          <a:blip r:embed="rId3" cstate="print"/>
          <a:stretch>
            <a:fillRect/>
          </a:stretch>
        </p:blipFill>
        <p:spPr>
          <a:xfrm>
            <a:off x="6172200" y="4038600"/>
            <a:ext cx="2299012" cy="153387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810344"/>
          </a:xfrm>
        </p:spPr>
        <p:txBody>
          <a:bodyPr>
            <a:normAutofit/>
          </a:bodyPr>
          <a:lstStyle/>
          <a:p>
            <a:r>
              <a:rPr lang="en-AU" sz="3400" b="1" dirty="0" smtClean="0">
                <a:solidFill>
                  <a:srgbClr val="FF6600"/>
                </a:solidFill>
                <a:latin typeface="Helvetica" pitchFamily="34" charset="0"/>
              </a:rPr>
              <a:t>Develop and lodge job advertisements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5264"/>
            <a:ext cx="8136904" cy="4824536"/>
          </a:xfrm>
        </p:spPr>
        <p:txBody>
          <a:bodyPr>
            <a:normAutofit/>
          </a:bodyPr>
          <a:lstStyle/>
          <a:p>
            <a:pPr>
              <a:spcBef>
                <a:spcPts val="600"/>
              </a:spcBef>
              <a:spcAft>
                <a:spcPts val="1200"/>
              </a:spcAft>
              <a:buNone/>
            </a:pPr>
            <a:r>
              <a:rPr lang="en-AU" sz="2200" b="1" dirty="0" smtClean="0">
                <a:latin typeface="Helvetica" pitchFamily="34" charset="0"/>
              </a:rPr>
              <a:t>What </a:t>
            </a:r>
            <a:r>
              <a:rPr lang="en-AU" sz="2200" b="1" dirty="0" smtClean="0">
                <a:latin typeface="Helvetica" pitchFamily="34" charset="0"/>
              </a:rPr>
              <a:t>needs to be considered when:</a:t>
            </a:r>
          </a:p>
          <a:p>
            <a:pPr>
              <a:spcBef>
                <a:spcPts val="600"/>
              </a:spcBef>
              <a:spcAft>
                <a:spcPts val="1200"/>
              </a:spcAft>
            </a:pPr>
            <a:r>
              <a:rPr lang="en-AU" sz="2200" dirty="0" smtClean="0">
                <a:latin typeface="Helvetica" pitchFamily="34" charset="0"/>
              </a:rPr>
              <a:t>Producing </a:t>
            </a:r>
            <a:r>
              <a:rPr lang="en-AU" sz="2200" dirty="0" smtClean="0">
                <a:latin typeface="Helvetica" pitchFamily="34" charset="0"/>
              </a:rPr>
              <a:t>media advertisements</a:t>
            </a:r>
          </a:p>
          <a:p>
            <a:pPr marL="360000" indent="-360000">
              <a:spcBef>
                <a:spcPts val="600"/>
              </a:spcBef>
              <a:spcAft>
                <a:spcPts val="1200"/>
              </a:spcAft>
            </a:pPr>
            <a:r>
              <a:rPr lang="en-AU" sz="2200" dirty="0" smtClean="0">
                <a:latin typeface="Helvetica" pitchFamily="34" charset="0"/>
              </a:rPr>
              <a:t> Providing information to recruitment agencies</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Job search 2.JPG"/>
          <p:cNvPicPr/>
          <p:nvPr/>
        </p:nvPicPr>
        <p:blipFill>
          <a:blip r:embed="rId3" cstate="print"/>
          <a:stretch>
            <a:fillRect/>
          </a:stretch>
        </p:blipFill>
        <p:spPr>
          <a:xfrm>
            <a:off x="5791200" y="3124200"/>
            <a:ext cx="2356485" cy="180975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AU" sz="3400" b="1" dirty="0" smtClean="0">
                <a:solidFill>
                  <a:srgbClr val="FF6600"/>
                </a:solidFill>
                <a:latin typeface="Helvetica" pitchFamily="34" charset="0"/>
              </a:rPr>
              <a:t>Accept job applications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09600" y="1143000"/>
            <a:ext cx="7992888" cy="4896544"/>
          </a:xfrm>
        </p:spPr>
        <p:txBody>
          <a:bodyPr>
            <a:normAutofit/>
          </a:bodyPr>
          <a:lstStyle/>
          <a:p>
            <a:pPr marL="360000" indent="-360000">
              <a:spcBef>
                <a:spcPts val="600"/>
              </a:spcBef>
              <a:spcAft>
                <a:spcPts val="1200"/>
              </a:spcAft>
            </a:pPr>
            <a:r>
              <a:rPr lang="en-AU" sz="2200" dirty="0" smtClean="0">
                <a:latin typeface="Helvetica" pitchFamily="34" charset="0"/>
              </a:rPr>
              <a:t>Expect applications immediately</a:t>
            </a:r>
          </a:p>
          <a:p>
            <a:pPr marL="360000" indent="-360000">
              <a:spcBef>
                <a:spcPts val="600"/>
              </a:spcBef>
              <a:spcAft>
                <a:spcPts val="1200"/>
              </a:spcAft>
            </a:pPr>
            <a:r>
              <a:rPr lang="en-AU" sz="2200" dirty="0" smtClean="0">
                <a:latin typeface="Helvetica" pitchFamily="34" charset="0"/>
              </a:rPr>
              <a:t>Expect calls and queries from job-seekers and recruitment agencies</a:t>
            </a:r>
          </a:p>
          <a:p>
            <a:pPr marL="360000" indent="-360000">
              <a:spcBef>
                <a:spcPts val="600"/>
              </a:spcBef>
              <a:spcAft>
                <a:spcPts val="1200"/>
              </a:spcAft>
            </a:pPr>
            <a:r>
              <a:rPr lang="en-AU" sz="2200" dirty="0" smtClean="0">
                <a:latin typeface="Helvetica" pitchFamily="34" charset="0"/>
              </a:rPr>
              <a:t>Accept and file the applications</a:t>
            </a:r>
          </a:p>
          <a:p>
            <a:pPr marL="360000" indent="-360000">
              <a:spcBef>
                <a:spcPts val="600"/>
              </a:spcBef>
              <a:spcAft>
                <a:spcPts val="1200"/>
              </a:spcAft>
            </a:pPr>
            <a:r>
              <a:rPr lang="en-AU" sz="2200" dirty="0" smtClean="0">
                <a:latin typeface="Helvetica" pitchFamily="34" charset="0"/>
              </a:rPr>
              <a:t>Unsuitable applicants can be rejected at this stage</a:t>
            </a:r>
          </a:p>
          <a:p>
            <a:pPr marL="360000" indent="-360000">
              <a:spcBef>
                <a:spcPts val="600"/>
              </a:spcBef>
              <a:spcAft>
                <a:spcPts val="1200"/>
              </a:spcAft>
            </a:pPr>
            <a:r>
              <a:rPr lang="en-AU" sz="2200" dirty="0" smtClean="0">
                <a:latin typeface="Helvetica" pitchFamily="34" charset="0"/>
              </a:rPr>
              <a:t>A ‘Letter of Thanks and Regret’ should be sent</a:t>
            </a:r>
          </a:p>
          <a:p>
            <a:pPr marL="360000" indent="-360000">
              <a:spcBef>
                <a:spcPts val="600"/>
              </a:spcBef>
              <a:spcAft>
                <a:spcPts val="1200"/>
              </a:spcAft>
            </a:pPr>
            <a:r>
              <a:rPr lang="en-AU" sz="2200" dirty="0" smtClean="0">
                <a:latin typeface="Helvetica" pitchFamily="34" charset="0"/>
              </a:rPr>
              <a:t>Some businesses also return applicant’s CV</a:t>
            </a:r>
          </a:p>
          <a:p>
            <a:pPr marL="360000" indent="-360000">
              <a:spcBef>
                <a:spcPts val="600"/>
              </a:spcBef>
              <a:spcAft>
                <a:spcPts val="1200"/>
              </a:spcAft>
            </a:pPr>
            <a:r>
              <a:rPr lang="en-AU" sz="2200" dirty="0" smtClean="0">
                <a:latin typeface="Helvetica" pitchFamily="34" charset="0"/>
              </a:rPr>
              <a:t>Some businesses retain all applications</a:t>
            </a:r>
            <a:endParaRPr lang="en-AU" sz="2200" b="1" dirty="0" smtClean="0">
              <a:latin typeface="Helvetica" pitchFamily="34" charset="0"/>
            </a:endParaRP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00409672.jpg"/>
          <p:cNvPicPr>
            <a:picLocks noChangeAspect="1"/>
          </p:cNvPicPr>
          <p:nvPr/>
        </p:nvPicPr>
        <p:blipFill>
          <a:blip r:embed="rId3" cstate="print"/>
          <a:stretch>
            <a:fillRect/>
          </a:stretch>
        </p:blipFill>
        <p:spPr>
          <a:xfrm>
            <a:off x="6964288" y="3962400"/>
            <a:ext cx="1493912" cy="1493912"/>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AU" sz="3400" b="1" dirty="0" smtClean="0">
                <a:solidFill>
                  <a:srgbClr val="FF6600"/>
                </a:solidFill>
                <a:latin typeface="Helvetica" pitchFamily="34" charset="0"/>
              </a:rPr>
              <a:t>Short-list applicants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75656"/>
            <a:ext cx="8064896" cy="4896544"/>
          </a:xfrm>
        </p:spPr>
        <p:txBody>
          <a:bodyPr>
            <a:normAutofit/>
          </a:bodyPr>
          <a:lstStyle/>
          <a:p>
            <a:pPr marL="0" indent="0">
              <a:spcBef>
                <a:spcPts val="600"/>
              </a:spcBef>
              <a:spcAft>
                <a:spcPts val="1200"/>
              </a:spcAft>
              <a:buNone/>
            </a:pPr>
            <a:r>
              <a:rPr lang="en-AU" sz="2200" b="1" dirty="0" smtClean="0">
                <a:latin typeface="Helvetica" pitchFamily="34" charset="0"/>
              </a:rPr>
              <a:t>Process of developing a list of applicants who will proceed through to the interview stage of the selection process:</a:t>
            </a:r>
          </a:p>
          <a:p>
            <a:pPr marL="360000" indent="-360000">
              <a:spcBef>
                <a:spcPts val="600"/>
              </a:spcBef>
              <a:spcAft>
                <a:spcPts val="1200"/>
              </a:spcAft>
              <a:buNone/>
            </a:pPr>
            <a:r>
              <a:rPr lang="en-AU" sz="2200" dirty="0" smtClean="0">
                <a:latin typeface="Helvetica" pitchFamily="34" charset="0"/>
              </a:rPr>
              <a:t>Determining who will be short-listed may involve:</a:t>
            </a:r>
          </a:p>
          <a:p>
            <a:pPr marL="360000" indent="-360000">
              <a:spcBef>
                <a:spcPts val="600"/>
              </a:spcBef>
              <a:spcAft>
                <a:spcPts val="1200"/>
              </a:spcAft>
            </a:pPr>
            <a:r>
              <a:rPr lang="en-AU" sz="2200" dirty="0" smtClean="0">
                <a:latin typeface="Helvetica" pitchFamily="34" charset="0"/>
              </a:rPr>
              <a:t>Reading ‘Covering letter’ of application</a:t>
            </a:r>
          </a:p>
          <a:p>
            <a:pPr marL="360000" indent="-360000">
              <a:spcBef>
                <a:spcPts val="600"/>
              </a:spcBef>
              <a:spcAft>
                <a:spcPts val="1200"/>
              </a:spcAft>
            </a:pPr>
            <a:r>
              <a:rPr lang="en-AU" sz="2200" dirty="0" smtClean="0">
                <a:latin typeface="Helvetica" pitchFamily="34" charset="0"/>
              </a:rPr>
              <a:t>Brief reading of CV</a:t>
            </a:r>
          </a:p>
          <a:p>
            <a:pPr marL="360000" indent="-360000">
              <a:spcBef>
                <a:spcPts val="600"/>
              </a:spcBef>
              <a:spcAft>
                <a:spcPts val="1200"/>
              </a:spcAft>
            </a:pPr>
            <a:r>
              <a:rPr lang="en-AU" sz="2200" dirty="0" smtClean="0">
                <a:latin typeface="Helvetica" pitchFamily="34" charset="0"/>
              </a:rPr>
              <a:t>Brief reading of application form</a:t>
            </a:r>
          </a:p>
          <a:p>
            <a:pPr marL="360000" indent="-360000">
              <a:spcBef>
                <a:spcPts val="600"/>
              </a:spcBef>
              <a:spcAft>
                <a:spcPts val="1200"/>
              </a:spcAft>
            </a:pPr>
            <a:r>
              <a:rPr lang="en-AU" sz="2200" dirty="0" smtClean="0">
                <a:latin typeface="Helvetica" pitchFamily="34" charset="0"/>
              </a:rPr>
              <a:t>Advising them of interview</a:t>
            </a:r>
          </a:p>
          <a:p>
            <a:pPr marL="360000" indent="-360000">
              <a:spcBef>
                <a:spcPts val="600"/>
              </a:spcBef>
              <a:spcAft>
                <a:spcPts val="1200"/>
              </a:spcAft>
            </a:pPr>
            <a:r>
              <a:rPr lang="en-AU" sz="2200" dirty="0" smtClean="0">
                <a:latin typeface="Helvetica" pitchFamily="34" charset="0"/>
              </a:rPr>
              <a:t>Sending letters to unsuccessful persons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00396162.jpg"/>
          <p:cNvPicPr>
            <a:picLocks noChangeAspect="1"/>
          </p:cNvPicPr>
          <p:nvPr/>
        </p:nvPicPr>
        <p:blipFill>
          <a:blip r:embed="rId3" cstate="print"/>
          <a:stretch>
            <a:fillRect/>
          </a:stretch>
        </p:blipFill>
        <p:spPr>
          <a:xfrm>
            <a:off x="7175701" y="3555108"/>
            <a:ext cx="1282499" cy="1931292"/>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Check references and referees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75792"/>
            <a:ext cx="8208912" cy="5301208"/>
          </a:xfrm>
        </p:spPr>
        <p:txBody>
          <a:bodyPr>
            <a:normAutofit/>
          </a:bodyPr>
          <a:lstStyle/>
          <a:p>
            <a:pPr marL="0" indent="0">
              <a:spcBef>
                <a:spcPts val="600"/>
              </a:spcBef>
              <a:spcAft>
                <a:spcPts val="1200"/>
              </a:spcAft>
              <a:buNone/>
            </a:pPr>
            <a:r>
              <a:rPr lang="en-AU" sz="2200" b="1" dirty="0" smtClean="0">
                <a:latin typeface="Helvetica" pitchFamily="34" charset="0"/>
              </a:rPr>
              <a:t>Need </a:t>
            </a:r>
            <a:r>
              <a:rPr lang="en-AU" sz="2200" b="1" dirty="0" smtClean="0">
                <a:latin typeface="Helvetica" pitchFamily="34" charset="0"/>
              </a:rPr>
              <a:t>to check:</a:t>
            </a:r>
          </a:p>
          <a:p>
            <a:pPr marL="360000" indent="-360000">
              <a:spcBef>
                <a:spcPts val="600"/>
              </a:spcBef>
              <a:spcAft>
                <a:spcPts val="1200"/>
              </a:spcAft>
            </a:pPr>
            <a:r>
              <a:rPr lang="en-AU" sz="2200" dirty="0" smtClean="0">
                <a:latin typeface="Helvetica" pitchFamily="34" charset="0"/>
              </a:rPr>
              <a:t>References </a:t>
            </a: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Referees</a:t>
            </a:r>
          </a:p>
          <a:p>
            <a:pPr marL="360000" indent="-360000">
              <a:spcBef>
                <a:spcPts val="600"/>
              </a:spcBef>
              <a:spcAft>
                <a:spcPts val="1200"/>
              </a:spcAft>
            </a:pPr>
            <a:r>
              <a:rPr lang="en-AU" sz="2200" dirty="0" smtClean="0">
                <a:latin typeface="Helvetica" pitchFamily="34" charset="0"/>
              </a:rPr>
              <a:t>Statement of Employment</a:t>
            </a:r>
          </a:p>
          <a:p>
            <a:pPr marL="0" indent="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MP900422149[1].JPG"/>
          <p:cNvPicPr>
            <a:picLocks noChangeAspect="1"/>
          </p:cNvPicPr>
          <p:nvPr/>
        </p:nvPicPr>
        <p:blipFill>
          <a:blip r:embed="rId3" cstate="print"/>
          <a:stretch>
            <a:fillRect/>
          </a:stretch>
        </p:blipFill>
        <p:spPr>
          <a:xfrm>
            <a:off x="6109111" y="3848423"/>
            <a:ext cx="2349089" cy="1561777"/>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Notify applicant of interview</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Notifying an applicant about an interview should address:</a:t>
            </a:r>
          </a:p>
          <a:p>
            <a:pPr marL="360000" indent="-360000">
              <a:spcBef>
                <a:spcPts val="600"/>
              </a:spcBef>
              <a:spcAft>
                <a:spcPts val="1200"/>
              </a:spcAft>
            </a:pPr>
            <a:r>
              <a:rPr lang="en-AU" sz="2200" dirty="0" smtClean="0">
                <a:latin typeface="Helvetica" pitchFamily="34" charset="0"/>
              </a:rPr>
              <a:t>Date and time</a:t>
            </a:r>
          </a:p>
          <a:p>
            <a:pPr marL="360000" indent="-360000">
              <a:spcBef>
                <a:spcPts val="600"/>
              </a:spcBef>
              <a:spcAft>
                <a:spcPts val="1200"/>
              </a:spcAft>
            </a:pPr>
            <a:r>
              <a:rPr lang="en-AU" sz="2200" dirty="0" smtClean="0">
                <a:latin typeface="Helvetica" pitchFamily="34" charset="0"/>
              </a:rPr>
              <a:t>Location</a:t>
            </a:r>
          </a:p>
          <a:p>
            <a:pPr marL="360000" indent="-360000">
              <a:spcBef>
                <a:spcPts val="600"/>
              </a:spcBef>
              <a:spcAft>
                <a:spcPts val="1200"/>
              </a:spcAft>
            </a:pPr>
            <a:r>
              <a:rPr lang="en-AU" sz="2200" dirty="0" smtClean="0">
                <a:latin typeface="Helvetica" pitchFamily="34" charset="0"/>
              </a:rPr>
              <a:t>What they should bring with them</a:t>
            </a:r>
          </a:p>
          <a:p>
            <a:pPr marL="360000" indent="-360000">
              <a:spcBef>
                <a:spcPts val="600"/>
              </a:spcBef>
              <a:spcAft>
                <a:spcPts val="1200"/>
              </a:spcAft>
            </a:pPr>
            <a:r>
              <a:rPr lang="en-AU" sz="2200" dirty="0" smtClean="0">
                <a:latin typeface="Helvetica" pitchFamily="34" charset="0"/>
              </a:rPr>
              <a:t>Duration of interview</a:t>
            </a:r>
          </a:p>
          <a:p>
            <a:pPr marL="360000" indent="-360000">
              <a:spcBef>
                <a:spcPts val="600"/>
              </a:spcBef>
              <a:spcAft>
                <a:spcPts val="1200"/>
              </a:spcAft>
            </a:pPr>
            <a:r>
              <a:rPr lang="en-AU" sz="2200" dirty="0" smtClean="0">
                <a:latin typeface="Helvetica" pitchFamily="34" charset="0"/>
              </a:rPr>
              <a:t>Interview format</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00438693.jpg"/>
          <p:cNvPicPr>
            <a:picLocks noChangeAspect="1"/>
          </p:cNvPicPr>
          <p:nvPr/>
        </p:nvPicPr>
        <p:blipFill>
          <a:blip r:embed="rId3" cstate="print"/>
          <a:stretch>
            <a:fillRect/>
          </a:stretch>
        </p:blipFill>
        <p:spPr>
          <a:xfrm>
            <a:off x="6400800" y="3962400"/>
            <a:ext cx="2031945" cy="135463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Conduct job interview</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410200"/>
          </a:xfrm>
        </p:spPr>
        <p:txBody>
          <a:bodyPr>
            <a:normAutofit/>
          </a:bodyPr>
          <a:lstStyle/>
          <a:p>
            <a:pPr marL="0" indent="0">
              <a:spcBef>
                <a:spcPts val="600"/>
              </a:spcBef>
              <a:spcAft>
                <a:spcPts val="1200"/>
              </a:spcAft>
              <a:buNone/>
            </a:pPr>
            <a:r>
              <a:rPr lang="en-AU" sz="2200" b="1" dirty="0" smtClean="0">
                <a:latin typeface="Helvetica" pitchFamily="34" charset="0"/>
              </a:rPr>
              <a:t>Planning and preparation </a:t>
            </a:r>
          </a:p>
          <a:p>
            <a:pPr marL="360000" indent="-360000">
              <a:spcBef>
                <a:spcPts val="600"/>
              </a:spcBef>
              <a:spcAft>
                <a:spcPts val="1200"/>
              </a:spcAft>
            </a:pPr>
            <a:r>
              <a:rPr lang="en-AU" sz="2200" dirty="0" smtClean="0">
                <a:latin typeface="Helvetica" pitchFamily="34" charset="0"/>
              </a:rPr>
              <a:t>Booking room for interviews</a:t>
            </a:r>
          </a:p>
          <a:p>
            <a:pPr marL="360000" indent="-360000">
              <a:spcBef>
                <a:spcPts val="600"/>
              </a:spcBef>
              <a:spcAft>
                <a:spcPts val="1200"/>
              </a:spcAft>
            </a:pPr>
            <a:r>
              <a:rPr lang="en-AU" sz="2200" dirty="0" smtClean="0">
                <a:latin typeface="Helvetica" pitchFamily="34" charset="0"/>
              </a:rPr>
              <a:t>Determining duration of interviews</a:t>
            </a:r>
          </a:p>
          <a:p>
            <a:pPr marL="360000" indent="-360000">
              <a:spcBef>
                <a:spcPts val="600"/>
              </a:spcBef>
              <a:spcAft>
                <a:spcPts val="1200"/>
              </a:spcAft>
            </a:pPr>
            <a:r>
              <a:rPr lang="en-AU" sz="2200" dirty="0" smtClean="0">
                <a:latin typeface="Helvetica" pitchFamily="34" charset="0"/>
              </a:rPr>
              <a:t>Scheduling interviews with applicants</a:t>
            </a:r>
          </a:p>
          <a:p>
            <a:pPr marL="360000" indent="-360000">
              <a:spcBef>
                <a:spcPts val="600"/>
              </a:spcBef>
              <a:spcAft>
                <a:spcPts val="1200"/>
              </a:spcAft>
            </a:pPr>
            <a:r>
              <a:rPr lang="en-AU" sz="2200" dirty="0" smtClean="0">
                <a:latin typeface="Helvetica" pitchFamily="34" charset="0"/>
              </a:rPr>
              <a:t>Identifying who will conduct the interviews</a:t>
            </a:r>
          </a:p>
          <a:p>
            <a:pPr>
              <a:spcBef>
                <a:spcPts val="1200"/>
              </a:spcBef>
              <a:spcAft>
                <a:spcPts val="600"/>
              </a:spcAft>
            </a:pPr>
            <a:r>
              <a:rPr lang="en-AU" sz="2200" dirty="0" smtClean="0">
                <a:latin typeface="Helvetica" pitchFamily="34" charset="0"/>
              </a:rPr>
              <a:t>Pre-reading and digesting all appropriate </a:t>
            </a:r>
            <a:br>
              <a:rPr lang="en-AU" sz="2200" dirty="0" smtClean="0">
                <a:latin typeface="Helvetica" pitchFamily="34" charset="0"/>
              </a:rPr>
            </a:br>
            <a:r>
              <a:rPr lang="en-AU" sz="2200" dirty="0" smtClean="0">
                <a:latin typeface="Helvetica" pitchFamily="34" charset="0"/>
              </a:rPr>
              <a:t>résumés</a:t>
            </a:r>
          </a:p>
          <a:p>
            <a:pPr>
              <a:spcBef>
                <a:spcPts val="1200"/>
              </a:spcBef>
              <a:spcAft>
                <a:spcPts val="600"/>
              </a:spcAft>
            </a:pPr>
            <a:r>
              <a:rPr lang="en-AU" sz="2200" dirty="0" smtClean="0">
                <a:latin typeface="Helvetica" pitchFamily="34" charset="0"/>
              </a:rPr>
              <a:t>Determine necessary protocols, roles </a:t>
            </a:r>
            <a:br>
              <a:rPr lang="en-AU" sz="2200" dirty="0" smtClean="0">
                <a:latin typeface="Helvetica" pitchFamily="34" charset="0"/>
              </a:rPr>
            </a:br>
            <a:r>
              <a:rPr lang="en-AU" sz="2200" dirty="0" smtClean="0">
                <a:latin typeface="Helvetica" pitchFamily="34" charset="0"/>
              </a:rPr>
              <a:t>and responsibilities in the interviews</a:t>
            </a:r>
          </a:p>
          <a:p>
            <a:pPr>
              <a:spcBef>
                <a:spcPts val="1200"/>
              </a:spcBef>
              <a:spcAft>
                <a:spcPts val="600"/>
              </a:spcAft>
            </a:pPr>
            <a:r>
              <a:rPr lang="en-AU" sz="2200" dirty="0" smtClean="0">
                <a:latin typeface="Helvetica" pitchFamily="34" charset="0"/>
              </a:rPr>
              <a:t>Arranging catering</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00438736.jpg"/>
          <p:cNvPicPr>
            <a:picLocks noChangeAspect="1"/>
          </p:cNvPicPr>
          <p:nvPr/>
        </p:nvPicPr>
        <p:blipFill>
          <a:blip r:embed="rId3" cstate="print"/>
          <a:stretch>
            <a:fillRect/>
          </a:stretch>
        </p:blipFill>
        <p:spPr>
          <a:xfrm>
            <a:off x="6467872" y="3886200"/>
            <a:ext cx="1990328" cy="1492746"/>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Conduct job interview</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920880" cy="4896544"/>
          </a:xfrm>
        </p:spPr>
        <p:txBody>
          <a:bodyPr>
            <a:normAutofit/>
          </a:bodyPr>
          <a:lstStyle/>
          <a:p>
            <a:pPr marL="0" indent="0">
              <a:spcBef>
                <a:spcPts val="600"/>
              </a:spcBef>
              <a:spcAft>
                <a:spcPts val="1200"/>
              </a:spcAft>
              <a:buNone/>
            </a:pPr>
            <a:r>
              <a:rPr lang="en-AU" sz="2200" b="1" dirty="0" smtClean="0">
                <a:latin typeface="Helvetica" pitchFamily="34" charset="0"/>
              </a:rPr>
              <a:t>Basic </a:t>
            </a:r>
            <a:r>
              <a:rPr lang="en-AU" sz="2200" b="1" dirty="0" smtClean="0">
                <a:latin typeface="Helvetica" pitchFamily="34" charset="0"/>
              </a:rPr>
              <a:t>interview formats:</a:t>
            </a:r>
          </a:p>
          <a:p>
            <a:pPr marL="360000" indent="-360000">
              <a:spcBef>
                <a:spcPts val="600"/>
              </a:spcBef>
              <a:spcAft>
                <a:spcPts val="1200"/>
              </a:spcAft>
            </a:pPr>
            <a:r>
              <a:rPr lang="en-AU" sz="2200" dirty="0" smtClean="0">
                <a:latin typeface="Helvetica" pitchFamily="34" charset="0"/>
              </a:rPr>
              <a:t>One-on-one </a:t>
            </a:r>
            <a:r>
              <a:rPr lang="en-AU" sz="2200" dirty="0" smtClean="0">
                <a:latin typeface="Helvetica" pitchFamily="34" charset="0"/>
              </a:rPr>
              <a:t>interviews</a:t>
            </a:r>
          </a:p>
          <a:p>
            <a:pPr marL="360000" indent="-360000">
              <a:spcBef>
                <a:spcPts val="600"/>
              </a:spcBef>
              <a:spcAft>
                <a:spcPts val="1200"/>
              </a:spcAft>
            </a:pPr>
            <a:r>
              <a:rPr lang="en-AU" sz="2200" dirty="0" smtClean="0">
                <a:latin typeface="Helvetica" pitchFamily="34" charset="0"/>
              </a:rPr>
              <a:t>Panel interview</a:t>
            </a:r>
          </a:p>
          <a:p>
            <a:pPr marL="360000" indent="-360000">
              <a:spcBef>
                <a:spcPts val="600"/>
              </a:spcBef>
              <a:spcAft>
                <a:spcPts val="1200"/>
              </a:spcAft>
            </a:pPr>
            <a:r>
              <a:rPr lang="en-AU" sz="2200" dirty="0" smtClean="0">
                <a:latin typeface="Helvetica" pitchFamily="34" charset="0"/>
              </a:rPr>
              <a:t>Group interview</a:t>
            </a:r>
          </a:p>
          <a:p>
            <a:pPr marL="360000" indent="-360000">
              <a:spcBef>
                <a:spcPts val="600"/>
              </a:spcBef>
              <a:spcAft>
                <a:spcPts val="1200"/>
              </a:spcAft>
            </a:pPr>
            <a:r>
              <a:rPr lang="en-AU" sz="2200" dirty="0" smtClean="0">
                <a:latin typeface="Helvetica" pitchFamily="34" charset="0"/>
              </a:rPr>
              <a:t>Telephone interview</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descr="MP900422804[1].JPG"/>
          <p:cNvPicPr>
            <a:picLocks noChangeAspect="1"/>
          </p:cNvPicPr>
          <p:nvPr/>
        </p:nvPicPr>
        <p:blipFill>
          <a:blip r:embed="rId3" cstate="print"/>
          <a:stretch>
            <a:fillRect/>
          </a:stretch>
        </p:blipFill>
        <p:spPr>
          <a:xfrm>
            <a:off x="6642720" y="3594720"/>
            <a:ext cx="1815480" cy="1815480"/>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AU" sz="3400" b="1" dirty="0" smtClean="0">
                <a:solidFill>
                  <a:srgbClr val="FF6600"/>
                </a:solidFill>
                <a:latin typeface="Helvetica" pitchFamily="34" charset="0"/>
              </a:rPr>
              <a:t>Conduct job interview</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992888" cy="4968552"/>
          </a:xfrm>
        </p:spPr>
        <p:txBody>
          <a:bodyPr>
            <a:normAutofit/>
          </a:bodyPr>
          <a:lstStyle/>
          <a:p>
            <a:pPr marL="0" indent="0">
              <a:spcBef>
                <a:spcPts val="600"/>
              </a:spcBef>
              <a:spcAft>
                <a:spcPts val="1200"/>
              </a:spcAft>
              <a:buNone/>
            </a:pPr>
            <a:r>
              <a:rPr lang="en-AU" sz="2200" b="1" dirty="0" smtClean="0">
                <a:latin typeface="Helvetica" pitchFamily="34" charset="0"/>
              </a:rPr>
              <a:t>Before interviews staff involved must ensure:</a:t>
            </a:r>
          </a:p>
          <a:p>
            <a:pPr marL="360000" indent="-360000">
              <a:spcBef>
                <a:spcPts val="600"/>
              </a:spcBef>
              <a:spcAft>
                <a:spcPts val="1200"/>
              </a:spcAft>
            </a:pPr>
            <a:r>
              <a:rPr lang="en-AU" sz="2200" dirty="0" smtClean="0">
                <a:latin typeface="Helvetica" pitchFamily="34" charset="0"/>
              </a:rPr>
              <a:t>Applicants have been notified and advised about what to bring</a:t>
            </a:r>
          </a:p>
          <a:p>
            <a:pPr marL="360000" indent="-360000">
              <a:spcBef>
                <a:spcPts val="600"/>
              </a:spcBef>
              <a:spcAft>
                <a:spcPts val="1200"/>
              </a:spcAft>
            </a:pPr>
            <a:r>
              <a:rPr lang="en-AU" sz="2200" dirty="0" smtClean="0">
                <a:latin typeface="Helvetica" pitchFamily="34" charset="0"/>
              </a:rPr>
              <a:t>Applications have been read</a:t>
            </a:r>
          </a:p>
          <a:p>
            <a:pPr marL="360000" indent="-360000">
              <a:spcBef>
                <a:spcPts val="600"/>
              </a:spcBef>
              <a:spcAft>
                <a:spcPts val="1200"/>
              </a:spcAft>
            </a:pPr>
            <a:r>
              <a:rPr lang="en-AU" sz="2200" dirty="0" smtClean="0">
                <a:latin typeface="Helvetica" pitchFamily="34" charset="0"/>
              </a:rPr>
              <a:t>Job Description and Specification have been read</a:t>
            </a:r>
          </a:p>
          <a:p>
            <a:pPr marL="360000" indent="-360000">
              <a:spcBef>
                <a:spcPts val="600"/>
              </a:spcBef>
              <a:spcAft>
                <a:spcPts val="1200"/>
              </a:spcAft>
            </a:pPr>
            <a:r>
              <a:rPr lang="en-AU" sz="2200" dirty="0" smtClean="0">
                <a:latin typeface="Helvetica" pitchFamily="34" charset="0"/>
              </a:rPr>
              <a:t>KSC have been read</a:t>
            </a:r>
          </a:p>
          <a:p>
            <a:pPr marL="360000" indent="-360000">
              <a:spcBef>
                <a:spcPts val="600"/>
              </a:spcBef>
              <a:spcAft>
                <a:spcPts val="1200"/>
              </a:spcAft>
            </a:pPr>
            <a:r>
              <a:rPr lang="en-AU" sz="2200" dirty="0" smtClean="0">
                <a:latin typeface="Helvetica" pitchFamily="34" charset="0"/>
              </a:rPr>
              <a:t>An appropriate interview location is ready</a:t>
            </a:r>
          </a:p>
          <a:p>
            <a:pPr marL="360000" indent="-360000">
              <a:spcBef>
                <a:spcPts val="600"/>
              </a:spcBef>
              <a:spcAft>
                <a:spcPts val="1200"/>
              </a:spcAft>
            </a:pPr>
            <a:r>
              <a:rPr lang="en-AU" sz="2200" dirty="0" smtClean="0">
                <a:latin typeface="Helvetica" pitchFamily="34" charset="0"/>
              </a:rPr>
              <a:t>Interviewee roles have been clarified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descr="j0442488.jpg"/>
          <p:cNvPicPr>
            <a:picLocks noChangeAspect="1"/>
          </p:cNvPicPr>
          <p:nvPr/>
        </p:nvPicPr>
        <p:blipFill>
          <a:blip r:embed="rId3" cstate="print"/>
          <a:stretch>
            <a:fillRect/>
          </a:stretch>
        </p:blipFill>
        <p:spPr>
          <a:xfrm>
            <a:off x="6934200" y="3886200"/>
            <a:ext cx="1435714" cy="1870922"/>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4752528"/>
          </a:xfrm>
        </p:spPr>
        <p:txBody>
          <a:bodyPr>
            <a:normAutofit/>
          </a:bodyPr>
          <a:lstStyle/>
          <a:p>
            <a:pPr marL="0" indent="0">
              <a:spcBef>
                <a:spcPts val="600"/>
              </a:spcBef>
              <a:spcAft>
                <a:spcPts val="1200"/>
              </a:spcAft>
              <a:buNone/>
            </a:pPr>
            <a:r>
              <a:rPr lang="en-US" sz="2200" b="1" dirty="0" smtClean="0">
                <a:latin typeface="Helvetica" pitchFamily="34" charset="0"/>
              </a:rPr>
              <a:t>What </a:t>
            </a:r>
            <a:r>
              <a:rPr lang="en-US" sz="2200" b="1" dirty="0" smtClean="0">
                <a:latin typeface="Helvetica" pitchFamily="34" charset="0"/>
              </a:rPr>
              <a:t>should you do?</a:t>
            </a:r>
          </a:p>
          <a:p>
            <a:pPr marL="360000" indent="-360000">
              <a:spcBef>
                <a:spcPts val="600"/>
              </a:spcBef>
              <a:spcAft>
                <a:spcPts val="1200"/>
              </a:spcAft>
            </a:pPr>
            <a:r>
              <a:rPr lang="en-US" sz="2200" dirty="0" smtClean="0">
                <a:latin typeface="Helvetica" pitchFamily="34" charset="0"/>
              </a:rPr>
              <a:t>Start </a:t>
            </a:r>
            <a:r>
              <a:rPr lang="en-US" sz="2200" dirty="0" smtClean="0">
                <a:latin typeface="Helvetica" pitchFamily="34" charset="0"/>
              </a:rPr>
              <a:t>of the interview</a:t>
            </a:r>
          </a:p>
          <a:p>
            <a:pPr marL="360000" indent="-360000">
              <a:spcBef>
                <a:spcPts val="600"/>
              </a:spcBef>
              <a:spcAft>
                <a:spcPts val="1200"/>
              </a:spcAft>
            </a:pPr>
            <a:r>
              <a:rPr lang="en-US" sz="2200" dirty="0" smtClean="0">
                <a:latin typeface="Helvetica" pitchFamily="34" charset="0"/>
              </a:rPr>
              <a:t>Middle or main part of interview</a:t>
            </a:r>
          </a:p>
          <a:p>
            <a:pPr marL="360000" indent="-360000">
              <a:spcBef>
                <a:spcPts val="600"/>
              </a:spcBef>
              <a:spcAft>
                <a:spcPts val="1200"/>
              </a:spcAft>
            </a:pPr>
            <a:r>
              <a:rPr lang="en-US" sz="2200" dirty="0" smtClean="0">
                <a:latin typeface="Helvetica" pitchFamily="34" charset="0"/>
              </a:rPr>
              <a:t>End of interview</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6" name="Picture 5" descr="j0438551.jpg"/>
          <p:cNvPicPr>
            <a:picLocks noChangeAspect="1"/>
          </p:cNvPicPr>
          <p:nvPr/>
        </p:nvPicPr>
        <p:blipFill>
          <a:blip r:embed="rId3" cstate="print"/>
          <a:stretch>
            <a:fillRect/>
          </a:stretch>
        </p:blipFill>
        <p:spPr>
          <a:xfrm>
            <a:off x="6248400" y="4038600"/>
            <a:ext cx="2196270" cy="1466272"/>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Apply relevant testing procedures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Testing </a:t>
            </a:r>
            <a:r>
              <a:rPr lang="en-AU" sz="2200" b="1" dirty="0" smtClean="0">
                <a:latin typeface="Helvetica" pitchFamily="34" charset="0"/>
              </a:rPr>
              <a:t>is done to:</a:t>
            </a:r>
          </a:p>
          <a:p>
            <a:pPr marL="360000" indent="-360000">
              <a:spcBef>
                <a:spcPts val="600"/>
              </a:spcBef>
              <a:spcAft>
                <a:spcPts val="1200"/>
              </a:spcAft>
            </a:pPr>
            <a:r>
              <a:rPr lang="en-AU" sz="2200" dirty="0" smtClean="0">
                <a:latin typeface="Helvetica" pitchFamily="34" charset="0"/>
              </a:rPr>
              <a:t>Determine </a:t>
            </a:r>
            <a:r>
              <a:rPr lang="en-AU" sz="2200" dirty="0" smtClean="0">
                <a:latin typeface="Helvetica" pitchFamily="34" charset="0"/>
              </a:rPr>
              <a:t>competency levels</a:t>
            </a:r>
          </a:p>
          <a:p>
            <a:pPr marL="360000" indent="-360000">
              <a:spcBef>
                <a:spcPts val="600"/>
              </a:spcBef>
              <a:spcAft>
                <a:spcPts val="1200"/>
              </a:spcAft>
            </a:pPr>
            <a:r>
              <a:rPr lang="en-AU" sz="2200" dirty="0" smtClean="0">
                <a:latin typeface="Helvetica" pitchFamily="34" charset="0"/>
              </a:rPr>
              <a:t>Prove health of the applicant</a:t>
            </a:r>
          </a:p>
          <a:p>
            <a:pPr marL="360000" indent="-360000">
              <a:spcBef>
                <a:spcPts val="600"/>
              </a:spcBef>
              <a:spcAft>
                <a:spcPts val="1200"/>
              </a:spcAft>
            </a:pPr>
            <a:r>
              <a:rPr lang="en-AU" sz="2200" dirty="0" smtClean="0">
                <a:latin typeface="Helvetica" pitchFamily="34" charset="0"/>
              </a:rPr>
              <a:t>Identify drugs or alcohol</a:t>
            </a:r>
          </a:p>
          <a:p>
            <a:pPr marL="360000" indent="-360000">
              <a:spcBef>
                <a:spcPts val="600"/>
              </a:spcBef>
              <a:spcAft>
                <a:spcPts val="1200"/>
              </a:spcAft>
            </a:pPr>
            <a:r>
              <a:rPr lang="en-AU" sz="2200" dirty="0" smtClean="0">
                <a:latin typeface="Helvetica" pitchFamily="34" charset="0"/>
              </a:rPr>
              <a:t>‘Profile’ the person</a:t>
            </a:r>
            <a:endParaRPr lang="en-AU" sz="2200" b="1"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MP900422579[1].JPG"/>
          <p:cNvPicPr>
            <a:picLocks noChangeAspect="1"/>
          </p:cNvPicPr>
          <p:nvPr/>
        </p:nvPicPr>
        <p:blipFill>
          <a:blip r:embed="rId3" cstate="print"/>
          <a:stretch>
            <a:fillRect/>
          </a:stretch>
        </p:blipFill>
        <p:spPr>
          <a:xfrm>
            <a:off x="6781800" y="3124200"/>
            <a:ext cx="1668074" cy="2471936"/>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File application and interview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996408"/>
          </a:xfrm>
        </p:spPr>
        <p:txBody>
          <a:bodyPr>
            <a:normAutofit/>
          </a:bodyPr>
          <a:lstStyle/>
          <a:p>
            <a:pPr marL="0" indent="0">
              <a:spcBef>
                <a:spcPts val="600"/>
              </a:spcBef>
              <a:spcAft>
                <a:spcPts val="1200"/>
              </a:spcAft>
              <a:buNone/>
            </a:pPr>
            <a:r>
              <a:rPr lang="en-US" sz="2000" b="1" dirty="0" smtClean="0">
                <a:latin typeface="Helvetica" pitchFamily="34" charset="0"/>
              </a:rPr>
              <a:t>Filing activities</a:t>
            </a:r>
          </a:p>
          <a:p>
            <a:pPr>
              <a:spcBef>
                <a:spcPts val="1200"/>
              </a:spcBef>
              <a:spcAft>
                <a:spcPts val="600"/>
              </a:spcAft>
            </a:pPr>
            <a:r>
              <a:rPr lang="en-AU" sz="2000" dirty="0" smtClean="0">
                <a:latin typeface="Helvetica" pitchFamily="34" charset="0"/>
              </a:rPr>
              <a:t>File documents</a:t>
            </a:r>
          </a:p>
          <a:p>
            <a:pPr>
              <a:spcBef>
                <a:spcPts val="1200"/>
              </a:spcBef>
              <a:spcAft>
                <a:spcPts val="600"/>
              </a:spcAft>
            </a:pPr>
            <a:r>
              <a:rPr lang="en-AU" sz="2000" dirty="0" smtClean="0">
                <a:latin typeface="Helvetica" pitchFamily="34" charset="0"/>
              </a:rPr>
              <a:t>Detail all ‘Thanks and Regret’ letters sent </a:t>
            </a:r>
          </a:p>
          <a:p>
            <a:pPr>
              <a:spcBef>
                <a:spcPts val="1200"/>
              </a:spcBef>
              <a:spcAft>
                <a:spcPts val="600"/>
              </a:spcAft>
            </a:pPr>
            <a:r>
              <a:rPr lang="en-AU" sz="2000" dirty="0" smtClean="0">
                <a:latin typeface="Helvetica" pitchFamily="34" charset="0"/>
              </a:rPr>
              <a:t>Forward all applications that 'just missed out' to Personnel or various department heads</a:t>
            </a:r>
          </a:p>
          <a:p>
            <a:pPr>
              <a:spcBef>
                <a:spcPts val="1200"/>
              </a:spcBef>
              <a:spcAft>
                <a:spcPts val="600"/>
              </a:spcAft>
            </a:pPr>
            <a:r>
              <a:rPr lang="en-AU" sz="2000" dirty="0" smtClean="0">
                <a:latin typeface="Helvetica" pitchFamily="34" charset="0"/>
              </a:rPr>
              <a:t>Photocopy and forward documents of </a:t>
            </a:r>
            <a:br>
              <a:rPr lang="en-AU" sz="2000" dirty="0" smtClean="0">
                <a:latin typeface="Helvetica" pitchFamily="34" charset="0"/>
              </a:rPr>
            </a:br>
            <a:r>
              <a:rPr lang="en-AU" sz="2000" dirty="0" smtClean="0">
                <a:latin typeface="Helvetica" pitchFamily="34" charset="0"/>
              </a:rPr>
              <a:t>successful applicants to HRD</a:t>
            </a:r>
          </a:p>
          <a:p>
            <a:pPr>
              <a:spcBef>
                <a:spcPts val="1200"/>
              </a:spcBef>
              <a:spcAft>
                <a:spcPts val="600"/>
              </a:spcAft>
            </a:pPr>
            <a:r>
              <a:rPr lang="en-AU" sz="2000" dirty="0" smtClean="0">
                <a:latin typeface="Helvetica" pitchFamily="34" charset="0"/>
              </a:rPr>
              <a:t>Notify departments as necessary </a:t>
            </a:r>
            <a:br>
              <a:rPr lang="en-AU" sz="2000" dirty="0" smtClean="0">
                <a:latin typeface="Helvetica" pitchFamily="34" charset="0"/>
              </a:rPr>
            </a:br>
            <a:r>
              <a:rPr lang="en-AU" sz="2000" dirty="0" smtClean="0">
                <a:latin typeface="Helvetica" pitchFamily="34" charset="0"/>
              </a:rPr>
              <a:t>regarding employment of a new person</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descr="j0442356.jpg"/>
          <p:cNvPicPr>
            <a:picLocks noChangeAspect="1"/>
          </p:cNvPicPr>
          <p:nvPr/>
        </p:nvPicPr>
        <p:blipFill>
          <a:blip r:embed="rId3" cstate="print"/>
          <a:stretch>
            <a:fillRect/>
          </a:stretch>
        </p:blipFill>
        <p:spPr>
          <a:xfrm>
            <a:off x="6629400" y="4114800"/>
            <a:ext cx="1838987" cy="137924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Choose successful applicant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920880" cy="4968552"/>
          </a:xfrm>
        </p:spPr>
        <p:txBody>
          <a:bodyPr>
            <a:normAutofit/>
          </a:bodyPr>
          <a:lstStyle/>
          <a:p>
            <a:pPr marL="0" indent="0">
              <a:spcBef>
                <a:spcPts val="600"/>
              </a:spcBef>
              <a:spcAft>
                <a:spcPts val="1200"/>
              </a:spcAft>
              <a:buNone/>
            </a:pPr>
            <a:r>
              <a:rPr lang="en-AU" sz="2200" b="1" dirty="0" smtClean="0">
                <a:latin typeface="Helvetica" pitchFamily="34" charset="0"/>
              </a:rPr>
              <a:t>Selecting the successful applicant</a:t>
            </a:r>
          </a:p>
          <a:p>
            <a:pPr>
              <a:spcBef>
                <a:spcPts val="1200"/>
              </a:spcBef>
              <a:spcAft>
                <a:spcPts val="600"/>
              </a:spcAft>
            </a:pPr>
            <a:r>
              <a:rPr lang="en-AU" sz="2200" dirty="0" smtClean="0">
                <a:latin typeface="Helvetica" pitchFamily="34" charset="0"/>
              </a:rPr>
              <a:t>Comparing the applicant with the job analysis, description and specification</a:t>
            </a:r>
          </a:p>
          <a:p>
            <a:pPr>
              <a:spcBef>
                <a:spcPts val="1200"/>
              </a:spcBef>
              <a:spcAft>
                <a:spcPts val="600"/>
              </a:spcAft>
            </a:pPr>
            <a:r>
              <a:rPr lang="en-AU" sz="2200" dirty="0" smtClean="0">
                <a:latin typeface="Helvetica" pitchFamily="34" charset="0"/>
              </a:rPr>
              <a:t>Reviewing the interview</a:t>
            </a:r>
          </a:p>
          <a:p>
            <a:pPr>
              <a:spcBef>
                <a:spcPts val="1200"/>
              </a:spcBef>
              <a:spcAft>
                <a:spcPts val="600"/>
              </a:spcAft>
            </a:pPr>
            <a:r>
              <a:rPr lang="en-AU" sz="2200" dirty="0" smtClean="0">
                <a:latin typeface="Helvetica" pitchFamily="34" charset="0"/>
              </a:rPr>
              <a:t>Consider impressions and opinions</a:t>
            </a:r>
          </a:p>
          <a:p>
            <a:pPr>
              <a:spcBef>
                <a:spcPts val="1200"/>
              </a:spcBef>
              <a:spcAft>
                <a:spcPts val="600"/>
              </a:spcAft>
            </a:pPr>
            <a:r>
              <a:rPr lang="en-AU" sz="2200" dirty="0" smtClean="0">
                <a:latin typeface="Helvetica" pitchFamily="34" charset="0"/>
              </a:rPr>
              <a:t>Rating the applicants into priority order                                    using ‘Interview Rating Sheet’ </a:t>
            </a:r>
          </a:p>
          <a:p>
            <a:pPr>
              <a:spcBef>
                <a:spcPts val="1200"/>
              </a:spcBef>
              <a:spcAft>
                <a:spcPts val="600"/>
              </a:spcAft>
            </a:pPr>
            <a:r>
              <a:rPr lang="en-AU" sz="2200" dirty="0" smtClean="0">
                <a:latin typeface="Helvetica" pitchFamily="34" charset="0"/>
              </a:rPr>
              <a:t>Determining if an offer should be made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00302917.jpg"/>
          <p:cNvPicPr>
            <a:picLocks noChangeAspect="1"/>
          </p:cNvPicPr>
          <p:nvPr/>
        </p:nvPicPr>
        <p:blipFill>
          <a:blip r:embed="rId3" cstate="print"/>
          <a:stretch>
            <a:fillRect/>
          </a:stretch>
        </p:blipFill>
        <p:spPr>
          <a:xfrm>
            <a:off x="7086600" y="3581400"/>
            <a:ext cx="1331457" cy="186652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Notify successful applicants and make formal job offer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968552"/>
          </a:xfrm>
        </p:spPr>
        <p:txBody>
          <a:bodyPr>
            <a:normAutofit/>
          </a:bodyPr>
          <a:lstStyle/>
          <a:p>
            <a:pPr marL="0" indent="0">
              <a:spcBef>
                <a:spcPts val="600"/>
              </a:spcBef>
              <a:spcAft>
                <a:spcPts val="1200"/>
              </a:spcAft>
              <a:buNone/>
            </a:pPr>
            <a:r>
              <a:rPr lang="en-AU" sz="2200" b="1" dirty="0" smtClean="0">
                <a:latin typeface="Helvetica" pitchFamily="34" charset="0"/>
              </a:rPr>
              <a:t>When </a:t>
            </a:r>
            <a:r>
              <a:rPr lang="en-AU" sz="2200" b="1" dirty="0" smtClean="0">
                <a:latin typeface="Helvetica" pitchFamily="34" charset="0"/>
              </a:rPr>
              <a:t>the successful candidate has been selected they must be advised of this:</a:t>
            </a:r>
          </a:p>
          <a:p>
            <a:pPr marL="360000" indent="-360000">
              <a:spcBef>
                <a:spcPts val="600"/>
              </a:spcBef>
              <a:spcAft>
                <a:spcPts val="1200"/>
              </a:spcAft>
            </a:pPr>
            <a:r>
              <a:rPr lang="en-AU" sz="2200" dirty="0" smtClean="0">
                <a:latin typeface="Helvetica" pitchFamily="34" charset="0"/>
              </a:rPr>
              <a:t>A telephone call is the usual method</a:t>
            </a:r>
          </a:p>
          <a:p>
            <a:pPr marL="360000" indent="-360000">
              <a:spcBef>
                <a:spcPts val="600"/>
              </a:spcBef>
              <a:spcAft>
                <a:spcPts val="1200"/>
              </a:spcAft>
            </a:pPr>
            <a:r>
              <a:rPr lang="en-AU" sz="2200" dirty="0" smtClean="0">
                <a:latin typeface="Helvetica" pitchFamily="34" charset="0"/>
              </a:rPr>
              <a:t>A formal ‘Letter of Offer/Appointment’ </a:t>
            </a:r>
            <a:br>
              <a:rPr lang="en-AU" sz="2200" dirty="0" smtClean="0">
                <a:latin typeface="Helvetica" pitchFamily="34" charset="0"/>
              </a:rPr>
            </a:br>
            <a:r>
              <a:rPr lang="en-AU" sz="2200" dirty="0" smtClean="0">
                <a:latin typeface="Helvetica" pitchFamily="34" charset="0"/>
              </a:rPr>
              <a:t>should also be provided</a:t>
            </a:r>
          </a:p>
          <a:p>
            <a:pPr marL="360000" indent="-360000">
              <a:spcBef>
                <a:spcPts val="600"/>
              </a:spcBef>
              <a:spcAft>
                <a:spcPts val="1200"/>
              </a:spcAft>
            </a:pPr>
            <a:r>
              <a:rPr lang="en-AU" sz="2200" dirty="0" smtClean="0">
                <a:latin typeface="Helvetica" pitchFamily="34" charset="0"/>
              </a:rPr>
              <a:t>All enterprise policies and procedures                                   must be complied with</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j0422791.jpg"/>
          <p:cNvPicPr>
            <a:picLocks noChangeAspect="1"/>
          </p:cNvPicPr>
          <p:nvPr/>
        </p:nvPicPr>
        <p:blipFill>
          <a:blip r:embed="rId3" cstate="print"/>
          <a:stretch>
            <a:fillRect/>
          </a:stretch>
        </p:blipFill>
        <p:spPr>
          <a:xfrm>
            <a:off x="6507088" y="3581400"/>
            <a:ext cx="1874912" cy="1874912"/>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Notify successful applicants and make formal job offer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24536"/>
          </a:xfrm>
        </p:spPr>
        <p:txBody>
          <a:bodyPr>
            <a:normAutofit/>
          </a:bodyPr>
          <a:lstStyle/>
          <a:p>
            <a:pPr marL="360000" indent="-360000">
              <a:spcBef>
                <a:spcPts val="600"/>
              </a:spcBef>
              <a:spcAft>
                <a:spcPts val="1200"/>
              </a:spcAft>
              <a:buNone/>
            </a:pPr>
            <a:r>
              <a:rPr lang="en-AU" sz="2200" b="1" dirty="0" smtClean="0">
                <a:latin typeface="Helvetica" pitchFamily="34" charset="0"/>
              </a:rPr>
              <a:t>The Letter of Appointment </a:t>
            </a:r>
          </a:p>
          <a:p>
            <a:pPr marL="360000" indent="-360000">
              <a:spcBef>
                <a:spcPts val="600"/>
              </a:spcBef>
              <a:spcAft>
                <a:spcPts val="1200"/>
              </a:spcAft>
            </a:pPr>
            <a:r>
              <a:rPr lang="en-AU" sz="2200" dirty="0" smtClean="0">
                <a:latin typeface="Helvetica" pitchFamily="34" charset="0"/>
              </a:rPr>
              <a:t>Remuneration details</a:t>
            </a:r>
          </a:p>
          <a:p>
            <a:pPr marL="360000" indent="-360000">
              <a:spcBef>
                <a:spcPts val="600"/>
              </a:spcBef>
              <a:spcAft>
                <a:spcPts val="1200"/>
              </a:spcAft>
            </a:pPr>
            <a:r>
              <a:rPr lang="en-AU" sz="2200" dirty="0" smtClean="0">
                <a:latin typeface="Helvetica" pitchFamily="34" charset="0"/>
              </a:rPr>
              <a:t>Advice regarding legislated obligations</a:t>
            </a:r>
          </a:p>
          <a:p>
            <a:pPr marL="360000" indent="-360000">
              <a:spcBef>
                <a:spcPts val="600"/>
              </a:spcBef>
              <a:spcAft>
                <a:spcPts val="1200"/>
              </a:spcAft>
            </a:pPr>
            <a:r>
              <a:rPr lang="en-AU" sz="2200" dirty="0" smtClean="0">
                <a:latin typeface="Helvetica" pitchFamily="34" charset="0"/>
              </a:rPr>
              <a:t>Short-form job description</a:t>
            </a:r>
          </a:p>
          <a:p>
            <a:pPr marL="360000" indent="-360000">
              <a:spcBef>
                <a:spcPts val="600"/>
              </a:spcBef>
              <a:spcAft>
                <a:spcPts val="1200"/>
              </a:spcAft>
            </a:pPr>
            <a:r>
              <a:rPr lang="en-AU" sz="2200" dirty="0" smtClean="0">
                <a:latin typeface="Helvetica" pitchFamily="34" charset="0"/>
              </a:rPr>
              <a:t>Brief description of main duties</a:t>
            </a:r>
          </a:p>
          <a:p>
            <a:pPr marL="360000" indent="-360000">
              <a:spcBef>
                <a:spcPts val="600"/>
              </a:spcBef>
              <a:spcAft>
                <a:spcPts val="1200"/>
              </a:spcAft>
            </a:pPr>
            <a:r>
              <a:rPr lang="en-AU" sz="2200" dirty="0" smtClean="0">
                <a:latin typeface="Helvetica" pitchFamily="34" charset="0"/>
              </a:rPr>
              <a:t>Date offer is valid to</a:t>
            </a:r>
          </a:p>
          <a:p>
            <a:pPr marL="360000" indent="-360000">
              <a:spcBef>
                <a:spcPts val="600"/>
              </a:spcBef>
              <a:spcAft>
                <a:spcPts val="1200"/>
              </a:spcAft>
            </a:pPr>
            <a:r>
              <a:rPr lang="en-AU" sz="2200" dirty="0" smtClean="0">
                <a:latin typeface="Helvetica" pitchFamily="34" charset="0"/>
              </a:rPr>
              <a:t>Action needed to accept the offer</a:t>
            </a: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events2.jpg"/>
          <p:cNvPicPr>
            <a:picLocks noChangeAspect="1"/>
          </p:cNvPicPr>
          <p:nvPr/>
        </p:nvPicPr>
        <p:blipFill>
          <a:blip r:embed="rId3" cstate="print"/>
          <a:stretch>
            <a:fillRect/>
          </a:stretch>
        </p:blipFill>
        <p:spPr>
          <a:xfrm>
            <a:off x="6164792" y="3886200"/>
            <a:ext cx="2293408" cy="1529703"/>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Notify successful applicants and make formal job offer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5072608"/>
          </a:xfrm>
        </p:spPr>
        <p:txBody>
          <a:bodyPr>
            <a:normAutofit/>
          </a:bodyPr>
          <a:lstStyle/>
          <a:p>
            <a:pPr marL="0" indent="0">
              <a:spcBef>
                <a:spcPts val="600"/>
              </a:spcBef>
              <a:spcAft>
                <a:spcPts val="1200"/>
              </a:spcAft>
              <a:buNone/>
            </a:pPr>
            <a:r>
              <a:rPr lang="en-AU" sz="2200" b="1" dirty="0" smtClean="0">
                <a:latin typeface="Helvetica" pitchFamily="34" charset="0"/>
              </a:rPr>
              <a:t>The Letter of Appointment </a:t>
            </a:r>
          </a:p>
          <a:p>
            <a:pPr marL="360000" indent="-360000">
              <a:spcBef>
                <a:spcPts val="600"/>
              </a:spcBef>
              <a:spcAft>
                <a:spcPts val="1200"/>
              </a:spcAft>
            </a:pPr>
            <a:r>
              <a:rPr lang="en-AU" sz="2200" dirty="0" smtClean="0">
                <a:latin typeface="Helvetica" pitchFamily="34" charset="0"/>
              </a:rPr>
              <a:t>Start date and time</a:t>
            </a:r>
          </a:p>
          <a:p>
            <a:pPr marL="360000" indent="-360000">
              <a:spcBef>
                <a:spcPts val="600"/>
              </a:spcBef>
              <a:spcAft>
                <a:spcPts val="1200"/>
              </a:spcAft>
            </a:pPr>
            <a:r>
              <a:rPr lang="en-AU" sz="2200" dirty="0" smtClean="0">
                <a:latin typeface="Helvetica" pitchFamily="34" charset="0"/>
              </a:rPr>
              <a:t>Start location</a:t>
            </a:r>
          </a:p>
          <a:p>
            <a:pPr marL="360000" indent="-360000">
              <a:spcBef>
                <a:spcPts val="600"/>
              </a:spcBef>
              <a:spcAft>
                <a:spcPts val="1200"/>
              </a:spcAft>
            </a:pPr>
            <a:r>
              <a:rPr lang="en-AU" sz="2200" dirty="0" smtClean="0">
                <a:latin typeface="Helvetica" pitchFamily="34" charset="0"/>
              </a:rPr>
              <a:t>Name of award  they are being employed under</a:t>
            </a:r>
          </a:p>
          <a:p>
            <a:pPr marL="360000" indent="-360000">
              <a:spcBef>
                <a:spcPts val="600"/>
              </a:spcBef>
              <a:spcAft>
                <a:spcPts val="1200"/>
              </a:spcAft>
            </a:pPr>
            <a:r>
              <a:rPr lang="en-AU" sz="2200" dirty="0" smtClean="0">
                <a:latin typeface="Helvetica" pitchFamily="34" charset="0"/>
              </a:rPr>
              <a:t>Job classification and employment status</a:t>
            </a:r>
          </a:p>
          <a:p>
            <a:pPr marL="360000" indent="-360000">
              <a:spcBef>
                <a:spcPts val="600"/>
              </a:spcBef>
              <a:spcAft>
                <a:spcPts val="1200"/>
              </a:spcAft>
            </a:pPr>
            <a:r>
              <a:rPr lang="en-AU" sz="2200" dirty="0" smtClean="0">
                <a:latin typeface="Helvetica" pitchFamily="34" charset="0"/>
              </a:rPr>
              <a:t>Details of probationary period</a:t>
            </a:r>
          </a:p>
          <a:p>
            <a:pPr marL="360000" indent="-360000">
              <a:spcBef>
                <a:spcPts val="600"/>
              </a:spcBef>
              <a:spcAft>
                <a:spcPts val="1200"/>
              </a:spcAft>
            </a:pPr>
            <a:r>
              <a:rPr lang="en-AU" sz="2200" dirty="0" smtClean="0">
                <a:latin typeface="Helvetica" pitchFamily="34" charset="0"/>
              </a:rPr>
              <a:t>Leave entitlements</a:t>
            </a:r>
          </a:p>
          <a:p>
            <a:pPr marL="360000" indent="-360000">
              <a:spcBef>
                <a:spcPts val="600"/>
              </a:spcBef>
              <a:spcAft>
                <a:spcPts val="1200"/>
              </a:spcAft>
            </a:pPr>
            <a:r>
              <a:rPr lang="en-AU" sz="2200" dirty="0" smtClean="0">
                <a:latin typeface="Helvetica" pitchFamily="34" charset="0"/>
              </a:rPr>
              <a:t>Specified hours of work</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descr="cookery1.jpg"/>
          <p:cNvPicPr>
            <a:picLocks noChangeAspect="1"/>
          </p:cNvPicPr>
          <p:nvPr/>
        </p:nvPicPr>
        <p:blipFill>
          <a:blip r:embed="rId3" cstate="print"/>
          <a:stretch>
            <a:fillRect/>
          </a:stretch>
        </p:blipFill>
        <p:spPr>
          <a:xfrm>
            <a:off x="7103711" y="3505200"/>
            <a:ext cx="1354489" cy="202337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Notify unsuccessful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920880" cy="4968552"/>
          </a:xfrm>
        </p:spPr>
        <p:txBody>
          <a:bodyPr>
            <a:normAutofit/>
          </a:bodyPr>
          <a:lstStyle/>
          <a:p>
            <a:pPr marL="0" indent="0">
              <a:spcBef>
                <a:spcPts val="600"/>
              </a:spcBef>
              <a:spcAft>
                <a:spcPts val="1200"/>
              </a:spcAft>
              <a:buNone/>
            </a:pPr>
            <a:r>
              <a:rPr lang="en-US" sz="2200" dirty="0" smtClean="0">
                <a:latin typeface="Helvetica" pitchFamily="34" charset="0"/>
              </a:rPr>
              <a:t>Most </a:t>
            </a:r>
            <a:r>
              <a:rPr lang="en-US" sz="2200" dirty="0" smtClean="0">
                <a:latin typeface="Helvetica" pitchFamily="34" charset="0"/>
              </a:rPr>
              <a:t>common method of advising unsuccessful candidates is by sending a Letter of Thanks and Regret:</a:t>
            </a:r>
          </a:p>
          <a:p>
            <a:pPr marL="360000" indent="-360000">
              <a:spcBef>
                <a:spcPts val="600"/>
              </a:spcBef>
              <a:spcAft>
                <a:spcPts val="1200"/>
              </a:spcAft>
            </a:pPr>
            <a:r>
              <a:rPr lang="en-US" sz="2200" dirty="0" smtClean="0">
                <a:latin typeface="Helvetica" pitchFamily="34" charset="0"/>
              </a:rPr>
              <a:t>Date</a:t>
            </a:r>
          </a:p>
          <a:p>
            <a:pPr marL="360000" indent="-360000">
              <a:spcBef>
                <a:spcPts val="600"/>
              </a:spcBef>
              <a:spcAft>
                <a:spcPts val="1200"/>
              </a:spcAft>
            </a:pPr>
            <a:r>
              <a:rPr lang="en-US" sz="2200" dirty="0" smtClean="0">
                <a:latin typeface="Helvetica" pitchFamily="34" charset="0"/>
              </a:rPr>
              <a:t>Thanks</a:t>
            </a:r>
          </a:p>
          <a:p>
            <a:pPr marL="360000" indent="-360000">
              <a:spcBef>
                <a:spcPts val="600"/>
              </a:spcBef>
              <a:spcAft>
                <a:spcPts val="1200"/>
              </a:spcAft>
            </a:pPr>
            <a:r>
              <a:rPr lang="en-US" sz="2200" dirty="0" smtClean="0">
                <a:latin typeface="Helvetica" pitchFamily="34" charset="0"/>
              </a:rPr>
              <a:t>Name of position applied for</a:t>
            </a:r>
          </a:p>
          <a:p>
            <a:pPr marL="360000" indent="-360000">
              <a:spcBef>
                <a:spcPts val="600"/>
              </a:spcBef>
              <a:spcAft>
                <a:spcPts val="1200"/>
              </a:spcAft>
            </a:pPr>
            <a:r>
              <a:rPr lang="en-US" sz="2200" dirty="0" smtClean="0">
                <a:latin typeface="Helvetica" pitchFamily="34" charset="0"/>
              </a:rPr>
              <a:t>Statement they have been unsuccessful</a:t>
            </a:r>
          </a:p>
          <a:p>
            <a:pPr marL="360000" indent="-360000">
              <a:spcBef>
                <a:spcPts val="600"/>
              </a:spcBef>
              <a:spcAft>
                <a:spcPts val="1200"/>
              </a:spcAft>
            </a:pPr>
            <a:r>
              <a:rPr lang="en-US" sz="2200" dirty="0" smtClean="0">
                <a:latin typeface="Helvetica" pitchFamily="34" charset="0"/>
              </a:rPr>
              <a:t>Encouragement statements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20.jpg"/>
          <p:cNvPicPr>
            <a:picLocks noChangeAspect="1"/>
          </p:cNvPicPr>
          <p:nvPr/>
        </p:nvPicPr>
        <p:blipFill>
          <a:blip r:embed="rId3" cstate="print"/>
          <a:stretch>
            <a:fillRect/>
          </a:stretch>
        </p:blipFill>
        <p:spPr>
          <a:xfrm>
            <a:off x="7162800" y="3449960"/>
            <a:ext cx="1305550" cy="196024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Follow-up as required</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After </a:t>
            </a:r>
            <a:r>
              <a:rPr lang="en-AU" sz="2200" b="1" dirty="0" smtClean="0">
                <a:latin typeface="Helvetica" pitchFamily="34" charset="0"/>
              </a:rPr>
              <a:t>an offer has been made to an applicant you may need to follow-up to:</a:t>
            </a:r>
          </a:p>
          <a:p>
            <a:pPr marL="360000" indent="-360000">
              <a:spcBef>
                <a:spcPts val="600"/>
              </a:spcBef>
              <a:spcAft>
                <a:spcPts val="1200"/>
              </a:spcAft>
            </a:pPr>
            <a:r>
              <a:rPr lang="en-AU" sz="2200" dirty="0" smtClean="0">
                <a:latin typeface="Helvetica" pitchFamily="34" charset="0"/>
              </a:rPr>
              <a:t>Obtain originals of documents</a:t>
            </a:r>
          </a:p>
          <a:p>
            <a:pPr marL="360000" indent="-360000">
              <a:spcBef>
                <a:spcPts val="600"/>
              </a:spcBef>
              <a:spcAft>
                <a:spcPts val="1200"/>
              </a:spcAft>
            </a:pPr>
            <a:r>
              <a:rPr lang="en-AU" sz="2200" dirty="0" smtClean="0">
                <a:latin typeface="Helvetica" pitchFamily="34" charset="0"/>
              </a:rPr>
              <a:t>Explain details of the offer</a:t>
            </a:r>
          </a:p>
          <a:p>
            <a:pPr marL="360000" indent="-360000">
              <a:spcBef>
                <a:spcPts val="600"/>
              </a:spcBef>
              <a:spcAft>
                <a:spcPts val="1200"/>
              </a:spcAft>
            </a:pPr>
            <a:r>
              <a:rPr lang="en-AU" sz="2200" dirty="0" smtClean="0">
                <a:latin typeface="Helvetica" pitchFamily="34" charset="0"/>
              </a:rPr>
              <a:t>Confirm offer has been received</a:t>
            </a:r>
          </a:p>
          <a:p>
            <a:pPr marL="360000" indent="-360000">
              <a:spcBef>
                <a:spcPts val="600"/>
              </a:spcBef>
              <a:spcAft>
                <a:spcPts val="1200"/>
              </a:spcAft>
            </a:pPr>
            <a:r>
              <a:rPr lang="en-AU" sz="2200" dirty="0" smtClean="0">
                <a:latin typeface="Helvetica" pitchFamily="34" charset="0"/>
              </a:rPr>
              <a:t>Offer a rejected offer to another applicant</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MP900422237[1].JPG"/>
          <p:cNvPicPr>
            <a:picLocks noChangeAspect="1"/>
          </p:cNvPicPr>
          <p:nvPr/>
        </p:nvPicPr>
        <p:blipFill>
          <a:blip r:embed="rId3" cstate="print"/>
          <a:stretch>
            <a:fillRect/>
          </a:stretch>
        </p:blipFill>
        <p:spPr>
          <a:xfrm>
            <a:off x="6389308" y="3863380"/>
            <a:ext cx="2068892" cy="1546820"/>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Plan the induction session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Considerations</a:t>
            </a:r>
          </a:p>
          <a:p>
            <a:pPr marL="360000" indent="-360000">
              <a:spcBef>
                <a:spcPts val="600"/>
              </a:spcBef>
              <a:spcAft>
                <a:spcPts val="1200"/>
              </a:spcAft>
            </a:pPr>
            <a:r>
              <a:rPr lang="en-AU" sz="2200" dirty="0" smtClean="0">
                <a:latin typeface="Helvetica" pitchFamily="34" charset="0"/>
              </a:rPr>
              <a:t>Timing</a:t>
            </a:r>
          </a:p>
          <a:p>
            <a:pPr marL="360000" indent="-360000">
              <a:spcBef>
                <a:spcPts val="600"/>
              </a:spcBef>
              <a:spcAft>
                <a:spcPts val="1200"/>
              </a:spcAft>
            </a:pPr>
            <a:r>
              <a:rPr lang="en-AU" sz="2200" dirty="0" smtClean="0">
                <a:latin typeface="Helvetica" pitchFamily="34" charset="0"/>
              </a:rPr>
              <a:t>Familiar face </a:t>
            </a:r>
          </a:p>
          <a:p>
            <a:pPr marL="360000" indent="-360000">
              <a:spcBef>
                <a:spcPts val="600"/>
              </a:spcBef>
              <a:spcAft>
                <a:spcPts val="1200"/>
              </a:spcAft>
            </a:pPr>
            <a:r>
              <a:rPr lang="en-AU" sz="2200" dirty="0" smtClean="0">
                <a:latin typeface="Helvetica" pitchFamily="34" charset="0"/>
              </a:rPr>
              <a:t>OHS considerations</a:t>
            </a:r>
          </a:p>
          <a:p>
            <a:pPr marL="360000" indent="-360000">
              <a:spcBef>
                <a:spcPts val="600"/>
              </a:spcBef>
              <a:spcAft>
                <a:spcPts val="1200"/>
              </a:spcAft>
            </a:pPr>
            <a:r>
              <a:rPr lang="en-AU" sz="2200" dirty="0" smtClean="0">
                <a:latin typeface="Helvetica" pitchFamily="34" charset="0"/>
              </a:rPr>
              <a:t>Materials </a:t>
            </a:r>
          </a:p>
          <a:p>
            <a:pPr marL="360000" indent="-360000">
              <a:spcBef>
                <a:spcPts val="600"/>
              </a:spcBef>
              <a:spcAft>
                <a:spcPts val="1200"/>
              </a:spcAft>
            </a:pPr>
            <a:r>
              <a:rPr lang="en-AU" sz="2200" dirty="0" smtClean="0">
                <a:latin typeface="Helvetica" pitchFamily="34" charset="0"/>
              </a:rPr>
              <a:t>Location </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 name="Picture 5" descr="00409605.jpg"/>
          <p:cNvPicPr>
            <a:picLocks noChangeAspect="1"/>
          </p:cNvPicPr>
          <p:nvPr/>
        </p:nvPicPr>
        <p:blipFill>
          <a:blip r:embed="rId3" cstate="print"/>
          <a:stretch>
            <a:fillRect/>
          </a:stretch>
        </p:blipFill>
        <p:spPr>
          <a:xfrm>
            <a:off x="6781800" y="2938264"/>
            <a:ext cx="1648761" cy="2471936"/>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Plan the induction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89037"/>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Formal induction and orientation sessions must address:</a:t>
            </a:r>
          </a:p>
          <a:p>
            <a:pPr marL="360000" indent="-360000">
              <a:spcBef>
                <a:spcPts val="600"/>
              </a:spcBef>
              <a:spcAft>
                <a:spcPts val="1200"/>
              </a:spcAft>
            </a:pPr>
            <a:r>
              <a:rPr lang="en-AU" sz="2200" dirty="0" smtClean="0">
                <a:latin typeface="Helvetica" pitchFamily="34" charset="0"/>
              </a:rPr>
              <a:t>Completion of necessary paperwork</a:t>
            </a:r>
          </a:p>
          <a:p>
            <a:pPr marL="360000" indent="-360000">
              <a:spcBef>
                <a:spcPts val="600"/>
              </a:spcBef>
              <a:spcAft>
                <a:spcPts val="1200"/>
              </a:spcAft>
            </a:pPr>
            <a:r>
              <a:rPr lang="en-AU" sz="2200" dirty="0" smtClean="0">
                <a:latin typeface="Helvetica" pitchFamily="34" charset="0"/>
              </a:rPr>
              <a:t>‘Need to know’ information</a:t>
            </a:r>
          </a:p>
          <a:p>
            <a:pPr marL="360000" indent="-360000">
              <a:spcBef>
                <a:spcPts val="600"/>
              </a:spcBef>
              <a:spcAft>
                <a:spcPts val="1200"/>
              </a:spcAft>
            </a:pPr>
            <a:r>
              <a:rPr lang="en-AU" sz="2200" dirty="0" smtClean="0">
                <a:latin typeface="Helvetica" pitchFamily="34" charset="0"/>
              </a:rPr>
              <a:t>Tour of the workplace</a:t>
            </a:r>
          </a:p>
          <a:p>
            <a:pPr marL="360000" indent="-360000">
              <a:spcBef>
                <a:spcPts val="600"/>
              </a:spcBef>
              <a:spcAft>
                <a:spcPts val="1200"/>
              </a:spcAft>
            </a:pPr>
            <a:r>
              <a:rPr lang="en-AU" sz="2200" dirty="0" smtClean="0">
                <a:latin typeface="Helvetica" pitchFamily="34" charset="0"/>
              </a:rPr>
              <a:t>Meeting with management, supervisors and </a:t>
            </a:r>
            <a:br>
              <a:rPr lang="en-AU" sz="2200" dirty="0" smtClean="0">
                <a:latin typeface="Helvetica" pitchFamily="34" charset="0"/>
              </a:rPr>
            </a:br>
            <a:r>
              <a:rPr lang="en-AU" sz="2200" dirty="0" smtClean="0">
                <a:latin typeface="Helvetica" pitchFamily="34" charset="0"/>
              </a:rPr>
              <a:t>co-workers</a:t>
            </a:r>
          </a:p>
          <a:p>
            <a:pPr marL="360000" indent="-360000">
              <a:spcBef>
                <a:spcPts val="600"/>
              </a:spcBef>
              <a:spcAft>
                <a:spcPts val="1200"/>
              </a:spcAft>
            </a:pPr>
            <a:r>
              <a:rPr lang="en-AU" sz="2200" dirty="0" smtClean="0">
                <a:latin typeface="Helvetica" pitchFamily="34" charset="0"/>
              </a:rPr>
              <a:t>Allocation of uniform</a:t>
            </a:r>
          </a:p>
          <a:p>
            <a:pPr marL="360000" indent="-360000">
              <a:spcBef>
                <a:spcPts val="600"/>
              </a:spcBef>
              <a:spcAft>
                <a:spcPts val="1200"/>
              </a:spcAft>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MP900443214[1].JPG"/>
          <p:cNvPicPr>
            <a:picLocks noChangeAspect="1"/>
          </p:cNvPicPr>
          <p:nvPr/>
        </p:nvPicPr>
        <p:blipFill>
          <a:blip r:embed="rId3" cstate="print"/>
          <a:stretch>
            <a:fillRect/>
          </a:stretch>
        </p:blipFill>
        <p:spPr>
          <a:xfrm>
            <a:off x="6858000" y="2895600"/>
            <a:ext cx="1452227" cy="2175774"/>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Plan the induction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Detailed department and position induction</a:t>
            </a:r>
          </a:p>
          <a:p>
            <a:pPr marL="360000" indent="-360000">
              <a:spcBef>
                <a:spcPts val="600"/>
              </a:spcBef>
              <a:spcAft>
                <a:spcPts val="1200"/>
              </a:spcAft>
            </a:pPr>
            <a:r>
              <a:rPr lang="en-AU" sz="2200" dirty="0" smtClean="0">
                <a:latin typeface="Helvetica" pitchFamily="34" charset="0"/>
              </a:rPr>
              <a:t>Expectations of the role</a:t>
            </a:r>
          </a:p>
          <a:p>
            <a:pPr marL="360000" indent="-360000">
              <a:spcBef>
                <a:spcPts val="600"/>
              </a:spcBef>
              <a:spcAft>
                <a:spcPts val="1200"/>
              </a:spcAft>
            </a:pPr>
            <a:r>
              <a:rPr lang="en-AU" sz="2200" dirty="0" smtClean="0">
                <a:latin typeface="Helvetica" pitchFamily="34" charset="0"/>
              </a:rPr>
              <a:t>Coverage of job description</a:t>
            </a:r>
          </a:p>
          <a:p>
            <a:pPr marL="360000" indent="-360000">
              <a:spcBef>
                <a:spcPts val="600"/>
              </a:spcBef>
              <a:spcAft>
                <a:spcPts val="1200"/>
              </a:spcAft>
            </a:pPr>
            <a:r>
              <a:rPr lang="en-AU" sz="2200" dirty="0" smtClean="0">
                <a:latin typeface="Helvetica" pitchFamily="34" charset="0"/>
              </a:rPr>
              <a:t>Copy of roster</a:t>
            </a:r>
          </a:p>
          <a:p>
            <a:pPr marL="360000" indent="-360000">
              <a:spcBef>
                <a:spcPts val="600"/>
              </a:spcBef>
              <a:spcAft>
                <a:spcPts val="1200"/>
              </a:spcAft>
            </a:pPr>
            <a:r>
              <a:rPr lang="en-AU" sz="2200" dirty="0" smtClean="0">
                <a:latin typeface="Helvetica" pitchFamily="34" charset="0"/>
              </a:rPr>
              <a:t>Enterprise-based terminology, acronyms and abbreviations</a:t>
            </a:r>
          </a:p>
          <a:p>
            <a:pPr marL="360000" indent="-360000">
              <a:spcBef>
                <a:spcPts val="600"/>
              </a:spcBef>
              <a:spcAft>
                <a:spcPts val="1200"/>
              </a:spcAft>
            </a:pPr>
            <a:r>
              <a:rPr lang="en-AU" sz="2200" dirty="0" smtClean="0">
                <a:latin typeface="Helvetica" pitchFamily="34" charset="0"/>
              </a:rPr>
              <a:t>Explanation of the operation of the business</a:t>
            </a: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MP900424428[1].JPG"/>
          <p:cNvPicPr>
            <a:picLocks noChangeAspect="1"/>
          </p:cNvPicPr>
          <p:nvPr/>
        </p:nvPicPr>
        <p:blipFill>
          <a:blip r:embed="rId3" cstate="print"/>
          <a:stretch>
            <a:fillRect/>
          </a:stretch>
        </p:blipFill>
        <p:spPr>
          <a:xfrm>
            <a:off x="6705600" y="4191000"/>
            <a:ext cx="1765828" cy="129540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Plan the induction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Safety </a:t>
            </a:r>
            <a:r>
              <a:rPr lang="en-AU" sz="2200" dirty="0" smtClean="0">
                <a:latin typeface="Helvetica" pitchFamily="34" charset="0"/>
              </a:rPr>
              <a:t>and security issues</a:t>
            </a:r>
          </a:p>
          <a:p>
            <a:pPr marL="360000" indent="-360000">
              <a:spcBef>
                <a:spcPts val="600"/>
              </a:spcBef>
              <a:spcAft>
                <a:spcPts val="1200"/>
              </a:spcAft>
            </a:pPr>
            <a:r>
              <a:rPr lang="en-AU" sz="2200" dirty="0" smtClean="0">
                <a:latin typeface="Helvetica" pitchFamily="34" charset="0"/>
              </a:rPr>
              <a:t>Company benefits</a:t>
            </a:r>
          </a:p>
          <a:p>
            <a:pPr marL="360000" indent="-360000">
              <a:spcBef>
                <a:spcPts val="600"/>
              </a:spcBef>
              <a:spcAft>
                <a:spcPts val="1200"/>
              </a:spcAft>
            </a:pPr>
            <a:r>
              <a:rPr lang="en-AU" sz="2200" dirty="0" smtClean="0">
                <a:latin typeface="Helvetica" pitchFamily="34" charset="0"/>
              </a:rPr>
              <a:t>Workplace awards</a:t>
            </a:r>
          </a:p>
          <a:p>
            <a:pPr marL="360000" indent="-360000">
              <a:spcBef>
                <a:spcPts val="600"/>
              </a:spcBef>
              <a:spcAft>
                <a:spcPts val="1200"/>
              </a:spcAft>
            </a:pPr>
            <a:r>
              <a:rPr lang="en-AU" sz="2200" dirty="0" smtClean="0">
                <a:latin typeface="Helvetica" pitchFamily="34" charset="0"/>
              </a:rPr>
              <a:t>Performance appraisals</a:t>
            </a:r>
          </a:p>
          <a:p>
            <a:pPr marL="360000" indent="-360000">
              <a:spcBef>
                <a:spcPts val="600"/>
              </a:spcBef>
              <a:spcAft>
                <a:spcPts val="1200"/>
              </a:spcAft>
            </a:pPr>
            <a:r>
              <a:rPr lang="en-AU" sz="2200" dirty="0" smtClean="0">
                <a:latin typeface="Helvetica" pitchFamily="34" charset="0"/>
              </a:rPr>
              <a:t>Allocation of a ‘buddy’</a:t>
            </a: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pPr>
            <a:endParaRPr lang="en-AU" sz="2200" b="1" dirty="0" smtClean="0">
              <a:latin typeface="Helvetica" pitchFamily="34" charset="0"/>
            </a:endParaRP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6" name="Picture 5" descr="Employee handbook.jpg"/>
          <p:cNvPicPr/>
          <p:nvPr/>
        </p:nvPicPr>
        <p:blipFill>
          <a:blip r:embed="rId3" cstate="print"/>
          <a:stretch>
            <a:fillRect/>
          </a:stretch>
        </p:blipFill>
        <p:spPr>
          <a:xfrm>
            <a:off x="6934200" y="3276600"/>
            <a:ext cx="1504950" cy="224790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Conduct the induction session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181600"/>
          </a:xfrm>
        </p:spPr>
        <p:txBody>
          <a:bodyPr>
            <a:normAutofit/>
          </a:bodyPr>
          <a:lstStyle/>
          <a:p>
            <a:pPr marL="0" indent="0">
              <a:spcBef>
                <a:spcPts val="600"/>
              </a:spcBef>
              <a:spcAft>
                <a:spcPts val="1200"/>
              </a:spcAft>
              <a:buNone/>
            </a:pPr>
            <a:r>
              <a:rPr lang="en-AU" sz="2200" b="1" dirty="0" smtClean="0">
                <a:latin typeface="Helvetica" pitchFamily="34" charset="0"/>
              </a:rPr>
              <a:t>When </a:t>
            </a:r>
            <a:r>
              <a:rPr lang="en-AU" sz="2200" b="1" dirty="0" smtClean="0">
                <a:latin typeface="Helvetica" pitchFamily="34" charset="0"/>
              </a:rPr>
              <a:t>conducting an induction and orientation session:</a:t>
            </a:r>
          </a:p>
          <a:p>
            <a:pPr marL="360000" indent="-360000">
              <a:spcBef>
                <a:spcPts val="600"/>
              </a:spcBef>
              <a:spcAft>
                <a:spcPts val="1200"/>
              </a:spcAft>
            </a:pPr>
            <a:r>
              <a:rPr lang="en-AU" sz="2200" dirty="0" smtClean="0">
                <a:latin typeface="Helvetica" pitchFamily="34" charset="0"/>
              </a:rPr>
              <a:t>You only have once chance to make a positive impression</a:t>
            </a:r>
          </a:p>
          <a:p>
            <a:pPr marL="360000" indent="-360000">
              <a:spcBef>
                <a:spcPts val="600"/>
              </a:spcBef>
              <a:spcAft>
                <a:spcPts val="1200"/>
              </a:spcAft>
            </a:pPr>
            <a:r>
              <a:rPr lang="en-AU" sz="2200" dirty="0" smtClean="0">
                <a:latin typeface="Helvetica" pitchFamily="34" charset="0"/>
              </a:rPr>
              <a:t>Arrive early – never keep new staff waiting</a:t>
            </a:r>
          </a:p>
          <a:p>
            <a:pPr marL="360000" indent="-360000">
              <a:spcBef>
                <a:spcPts val="600"/>
              </a:spcBef>
              <a:spcAft>
                <a:spcPts val="1200"/>
              </a:spcAft>
            </a:pPr>
            <a:r>
              <a:rPr lang="en-AU" sz="2200" dirty="0" smtClean="0">
                <a:latin typeface="Helvetica" pitchFamily="34" charset="0"/>
              </a:rPr>
              <a:t>Welcome them</a:t>
            </a:r>
          </a:p>
          <a:p>
            <a:pPr marL="360000" indent="-360000">
              <a:spcBef>
                <a:spcPts val="600"/>
              </a:spcBef>
              <a:spcAft>
                <a:spcPts val="1200"/>
              </a:spcAft>
            </a:pPr>
            <a:r>
              <a:rPr lang="en-AU" sz="2200" dirty="0" smtClean="0">
                <a:latin typeface="Helvetica" pitchFamily="34" charset="0"/>
              </a:rPr>
              <a:t>Express appropriate sentiments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MP900442995[1].JPG"/>
          <p:cNvPicPr>
            <a:picLocks noChangeAspect="1"/>
          </p:cNvPicPr>
          <p:nvPr/>
        </p:nvPicPr>
        <p:blipFill>
          <a:blip r:embed="rId3" cstate="print"/>
          <a:stretch>
            <a:fillRect/>
          </a:stretch>
        </p:blipFill>
        <p:spPr>
          <a:xfrm>
            <a:off x="6884157" y="3393787"/>
            <a:ext cx="1574043" cy="2092613"/>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2656"/>
            <a:ext cx="7467600" cy="886544"/>
          </a:xfrm>
        </p:spPr>
        <p:txBody>
          <a:bodyPr>
            <a:normAutofit/>
          </a:bodyPr>
          <a:lstStyle/>
          <a:p>
            <a:r>
              <a:rPr lang="en-AU" sz="3400" b="1" dirty="0" smtClean="0">
                <a:solidFill>
                  <a:srgbClr val="FF6600"/>
                </a:solidFill>
                <a:latin typeface="Helvetica" pitchFamily="34" charset="0"/>
              </a:rPr>
              <a:t>Conduct the induction session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704856" cy="4752528"/>
          </a:xfrm>
        </p:spPr>
        <p:txBody>
          <a:bodyPr>
            <a:normAutofit/>
          </a:bodyPr>
          <a:lstStyle/>
          <a:p>
            <a:pPr marL="360000" indent="-360000">
              <a:spcBef>
                <a:spcPts val="600"/>
              </a:spcBef>
              <a:spcAft>
                <a:spcPts val="1200"/>
              </a:spcAft>
            </a:pPr>
            <a:r>
              <a:rPr lang="en-AU" sz="2200" dirty="0" smtClean="0">
                <a:latin typeface="Helvetica" pitchFamily="34" charset="0"/>
              </a:rPr>
              <a:t>Explain what orientation will cover</a:t>
            </a:r>
          </a:p>
          <a:p>
            <a:pPr marL="360000" indent="-360000">
              <a:spcBef>
                <a:spcPts val="600"/>
              </a:spcBef>
              <a:spcAft>
                <a:spcPts val="1200"/>
              </a:spcAft>
            </a:pPr>
            <a:r>
              <a:rPr lang="en-AU" sz="2200" dirty="0" smtClean="0">
                <a:latin typeface="Helvetica" pitchFamily="34" charset="0"/>
              </a:rPr>
              <a:t>Tell them how long it will take</a:t>
            </a:r>
          </a:p>
          <a:p>
            <a:pPr marL="360000" indent="-360000">
              <a:spcBef>
                <a:spcPts val="600"/>
              </a:spcBef>
              <a:spcAft>
                <a:spcPts val="1200"/>
              </a:spcAft>
            </a:pPr>
            <a:r>
              <a:rPr lang="en-AU" sz="2200" dirty="0" smtClean="0">
                <a:latin typeface="Helvetica" pitchFamily="34" charset="0"/>
              </a:rPr>
              <a:t>Encourage questions</a:t>
            </a:r>
          </a:p>
          <a:p>
            <a:pPr marL="360000" indent="-360000">
              <a:spcBef>
                <a:spcPts val="600"/>
              </a:spcBef>
              <a:spcAft>
                <a:spcPts val="1200"/>
              </a:spcAft>
            </a:pPr>
            <a:r>
              <a:rPr lang="en-AU" sz="2200" dirty="0" smtClean="0">
                <a:latin typeface="Helvetica" pitchFamily="34" charset="0"/>
              </a:rPr>
              <a:t>Stick to the plan for the session</a:t>
            </a:r>
          </a:p>
          <a:p>
            <a:pPr marL="360000" indent="-360000">
              <a:spcBef>
                <a:spcPts val="600"/>
              </a:spcBef>
              <a:spcAft>
                <a:spcPts val="1200"/>
              </a:spcAft>
            </a:pPr>
            <a:r>
              <a:rPr lang="en-AU" sz="2200" dirty="0" smtClean="0">
                <a:latin typeface="Helvetica" pitchFamily="34" charset="0"/>
              </a:rPr>
              <a:t>Be flexible</a:t>
            </a:r>
          </a:p>
          <a:p>
            <a:pPr marL="360000" indent="-360000">
              <a:spcBef>
                <a:spcPts val="600"/>
              </a:spcBef>
              <a:spcAft>
                <a:spcPts val="1200"/>
              </a:spcAft>
            </a:pPr>
            <a:r>
              <a:rPr lang="en-AU" sz="2200" dirty="0" smtClean="0">
                <a:latin typeface="Helvetica" pitchFamily="34" charset="0"/>
              </a:rPr>
              <a:t>Focus on the new employee</a:t>
            </a:r>
          </a:p>
          <a:p>
            <a:pPr marL="360000" indent="-360000">
              <a:spcBef>
                <a:spcPts val="600"/>
              </a:spcBef>
              <a:spcAft>
                <a:spcPts val="1200"/>
              </a:spcAft>
            </a:pPr>
            <a:r>
              <a:rPr lang="en-AU" sz="2200" dirty="0" smtClean="0">
                <a:latin typeface="Helvetica" pitchFamily="34" charset="0"/>
              </a:rPr>
              <a:t>Do not rush</a:t>
            </a:r>
          </a:p>
          <a:p>
            <a:pPr marL="360000" indent="-360000">
              <a:spcBef>
                <a:spcPts val="600"/>
              </a:spcBef>
              <a:spcAft>
                <a:spcPts val="1200"/>
              </a:spcAft>
            </a:pPr>
            <a:r>
              <a:rPr lang="en-AU" sz="2200" dirty="0" smtClean="0">
                <a:latin typeface="Helvetica" pitchFamily="34" charset="0"/>
              </a:rPr>
              <a:t>Do not drown the employee with information</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descr="MP900442889[1].JPG"/>
          <p:cNvPicPr>
            <a:picLocks noChangeAspect="1"/>
          </p:cNvPicPr>
          <p:nvPr/>
        </p:nvPicPr>
        <p:blipFill>
          <a:blip r:embed="rId3" cstate="print"/>
          <a:stretch>
            <a:fillRect/>
          </a:stretch>
        </p:blipFill>
        <p:spPr>
          <a:xfrm>
            <a:off x="6705600" y="4343400"/>
            <a:ext cx="1792325" cy="1171181"/>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Conduct the induction session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Provide personal insight</a:t>
            </a:r>
          </a:p>
          <a:p>
            <a:pPr marL="360000" indent="-360000">
              <a:spcBef>
                <a:spcPts val="600"/>
              </a:spcBef>
              <a:spcAft>
                <a:spcPts val="1200"/>
              </a:spcAft>
            </a:pPr>
            <a:r>
              <a:rPr lang="en-AU" sz="2200" dirty="0" smtClean="0">
                <a:latin typeface="Helvetica" pitchFamily="34" charset="0"/>
              </a:rPr>
              <a:t>Try to ensure privacy</a:t>
            </a:r>
          </a:p>
          <a:p>
            <a:pPr marL="360000" indent="-360000">
              <a:spcBef>
                <a:spcPts val="600"/>
              </a:spcBef>
              <a:spcAft>
                <a:spcPts val="1200"/>
              </a:spcAft>
            </a:pPr>
            <a:r>
              <a:rPr lang="en-AU" sz="2200" dirty="0" smtClean="0">
                <a:latin typeface="Helvetica" pitchFamily="34" charset="0"/>
              </a:rPr>
              <a:t>Answer all questions asked by new employee</a:t>
            </a:r>
          </a:p>
          <a:p>
            <a:pPr marL="360000" indent="-360000">
              <a:spcBef>
                <a:spcPts val="600"/>
              </a:spcBef>
              <a:spcAft>
                <a:spcPts val="1200"/>
              </a:spcAft>
            </a:pPr>
            <a:r>
              <a:rPr lang="en-AU" sz="2200" dirty="0" smtClean="0">
                <a:latin typeface="Helvetica" pitchFamily="34" charset="0"/>
              </a:rPr>
              <a:t>Read through important documents with them</a:t>
            </a:r>
          </a:p>
          <a:p>
            <a:pPr marL="360000" indent="-360000">
              <a:spcBef>
                <a:spcPts val="600"/>
              </a:spcBef>
              <a:spcAft>
                <a:spcPts val="1200"/>
              </a:spcAft>
            </a:pPr>
            <a:r>
              <a:rPr lang="en-AU" sz="2200" dirty="0" smtClean="0">
                <a:latin typeface="Helvetica" pitchFamily="34" charset="0"/>
              </a:rPr>
              <a:t>Avoid ‘group’ inductions</a:t>
            </a:r>
          </a:p>
          <a:p>
            <a:pPr marL="360000" indent="-360000">
              <a:spcBef>
                <a:spcPts val="600"/>
              </a:spcBef>
              <a:spcAft>
                <a:spcPts val="1200"/>
              </a:spcAft>
            </a:pPr>
            <a:r>
              <a:rPr lang="en-AU" sz="2200" dirty="0" smtClean="0">
                <a:latin typeface="Helvetica" pitchFamily="34" charset="0"/>
              </a:rPr>
              <a:t>Facilitate integration of new employee with                           existing structures and workforce</a:t>
            </a:r>
          </a:p>
          <a:p>
            <a:pPr marL="360000" indent="-360000">
              <a:spcBef>
                <a:spcPts val="600"/>
              </a:spcBef>
              <a:spcAft>
                <a:spcPts val="1200"/>
              </a:spcAft>
            </a:pPr>
            <a:r>
              <a:rPr lang="en-AU" sz="2200" dirty="0" smtClean="0">
                <a:latin typeface="Helvetica" pitchFamily="34" charset="0"/>
              </a:rPr>
              <a:t>Seek feedback on the induction and orientation</a:t>
            </a: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11111.jpg"/>
          <p:cNvPicPr>
            <a:picLocks noChangeAspect="1"/>
          </p:cNvPicPr>
          <p:nvPr/>
        </p:nvPicPr>
        <p:blipFill>
          <a:blip r:embed="rId3" cstate="print"/>
          <a:stretch>
            <a:fillRect/>
          </a:stretch>
        </p:blipFill>
        <p:spPr>
          <a:xfrm>
            <a:off x="7086600" y="3505200"/>
            <a:ext cx="1392138" cy="2084297"/>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400" b="1" dirty="0" smtClean="0">
                <a:solidFill>
                  <a:srgbClr val="FF6600"/>
                </a:solidFill>
                <a:latin typeface="Helvetica" pitchFamily="34" charset="0"/>
              </a:rPr>
              <a:t>Organise work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19200"/>
            <a:ext cx="7632848" cy="5257800"/>
          </a:xfrm>
        </p:spPr>
        <p:txBody>
          <a:bodyPr>
            <a:noAutofit/>
          </a:bodyPr>
          <a:lstStyle/>
          <a:p>
            <a:pPr>
              <a:spcBef>
                <a:spcPts val="600"/>
              </a:spcBef>
              <a:spcAft>
                <a:spcPts val="1200"/>
              </a:spcAft>
              <a:buNone/>
            </a:pPr>
            <a:r>
              <a:rPr lang="en-AU" sz="2200" b="1" dirty="0" smtClean="0">
                <a:latin typeface="Helvetica" pitchFamily="34" charset="0"/>
              </a:rPr>
              <a:t>Types of work programs</a:t>
            </a:r>
          </a:p>
          <a:p>
            <a:pPr>
              <a:spcBef>
                <a:spcPts val="600"/>
              </a:spcBef>
              <a:spcAft>
                <a:spcPts val="1200"/>
              </a:spcAft>
              <a:buNone/>
            </a:pPr>
            <a:r>
              <a:rPr lang="en-AU" sz="2200" dirty="0" smtClean="0">
                <a:latin typeface="Helvetica" pitchFamily="34" charset="0"/>
              </a:rPr>
              <a:t>Work programs may include:</a:t>
            </a:r>
          </a:p>
          <a:p>
            <a:pPr lvl="0">
              <a:spcBef>
                <a:spcPts val="600"/>
              </a:spcBef>
              <a:spcAft>
                <a:spcPts val="1200"/>
              </a:spcAft>
            </a:pPr>
            <a:r>
              <a:rPr lang="en-AU" sz="2200" dirty="0" smtClean="0">
                <a:latin typeface="Helvetica" pitchFamily="34" charset="0"/>
              </a:rPr>
              <a:t>Identification of workloads and work flows for each job</a:t>
            </a:r>
          </a:p>
          <a:p>
            <a:pPr lvl="0">
              <a:spcBef>
                <a:spcPts val="600"/>
              </a:spcBef>
              <a:spcAft>
                <a:spcPts val="1200"/>
              </a:spcAft>
            </a:pPr>
            <a:r>
              <a:rPr lang="en-AU" sz="2200" dirty="0" smtClean="0">
                <a:latin typeface="Helvetica" pitchFamily="34" charset="0"/>
              </a:rPr>
              <a:t>Identification of legal and safety issues that apply</a:t>
            </a:r>
          </a:p>
          <a:p>
            <a:pPr lvl="0">
              <a:spcBef>
                <a:spcPts val="600"/>
              </a:spcBef>
              <a:spcAft>
                <a:spcPts val="1200"/>
              </a:spcAft>
            </a:pPr>
            <a:r>
              <a:rPr lang="en-AU" sz="2200" dirty="0" smtClean="0">
                <a:latin typeface="Helvetica" pitchFamily="34" charset="0"/>
              </a:rPr>
              <a:t>Description of relevant service standards</a:t>
            </a:r>
          </a:p>
          <a:p>
            <a:pPr lvl="0">
              <a:spcBef>
                <a:spcPts val="600"/>
              </a:spcBef>
              <a:spcAft>
                <a:spcPts val="1200"/>
              </a:spcAft>
            </a:pPr>
            <a:r>
              <a:rPr lang="en-AU" sz="2200" dirty="0" smtClean="0">
                <a:latin typeface="Helvetica" pitchFamily="34" charset="0"/>
              </a:rPr>
              <a:t>Allocation of necessary materials, safety </a:t>
            </a:r>
            <a:br>
              <a:rPr lang="en-AU" sz="2200" dirty="0" smtClean="0">
                <a:latin typeface="Helvetica" pitchFamily="34" charset="0"/>
              </a:rPr>
            </a:br>
            <a:r>
              <a:rPr lang="en-AU" sz="2200" dirty="0" smtClean="0">
                <a:latin typeface="Helvetica" pitchFamily="34" charset="0"/>
              </a:rPr>
              <a:t>equipment and resources to enable role </a:t>
            </a:r>
            <a:br>
              <a:rPr lang="en-AU" sz="2200" dirty="0" smtClean="0">
                <a:latin typeface="Helvetica" pitchFamily="34" charset="0"/>
              </a:rPr>
            </a:br>
            <a:r>
              <a:rPr lang="en-AU" sz="2200" dirty="0" smtClean="0">
                <a:latin typeface="Helvetica" pitchFamily="34" charset="0"/>
              </a:rPr>
              <a:t>completion</a:t>
            </a:r>
          </a:p>
          <a:p>
            <a:pPr lvl="0">
              <a:spcBef>
                <a:spcPts val="600"/>
              </a:spcBef>
              <a:spcAft>
                <a:spcPts val="1200"/>
              </a:spcAft>
            </a:pPr>
            <a:r>
              <a:rPr lang="en-AU" sz="2200" dirty="0" smtClean="0">
                <a:latin typeface="Helvetica" pitchFamily="34" charset="0"/>
              </a:rPr>
              <a:t>Benchmarking of work and standards</a:t>
            </a:r>
          </a:p>
          <a:p>
            <a:pPr>
              <a:spcBef>
                <a:spcPts val="600"/>
              </a:spcBef>
              <a:spcAft>
                <a:spcPts val="1200"/>
              </a:spcAft>
            </a:pPr>
            <a:r>
              <a:rPr lang="en-AU" sz="2200" dirty="0" smtClean="0">
                <a:latin typeface="Helvetica" pitchFamily="34" charset="0"/>
              </a:rPr>
              <a:t>Employer expectations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7" name="Picture 6" descr="MP900422539.JPG"/>
          <p:cNvPicPr/>
          <p:nvPr/>
        </p:nvPicPr>
        <p:blipFill>
          <a:blip r:embed="rId3" cstate="print"/>
          <a:stretch>
            <a:fillRect/>
          </a:stretch>
        </p:blipFill>
        <p:spPr>
          <a:xfrm>
            <a:off x="7239000" y="3810000"/>
            <a:ext cx="1219200" cy="167640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Organise work programs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632848" cy="5334000"/>
          </a:xfrm>
        </p:spPr>
        <p:txBody>
          <a:bodyPr>
            <a:normAutofit/>
          </a:bodyPr>
          <a:lstStyle/>
          <a:p>
            <a:pPr>
              <a:spcBef>
                <a:spcPts val="600"/>
              </a:spcBef>
              <a:spcAft>
                <a:spcPts val="1200"/>
              </a:spcAft>
              <a:buNone/>
            </a:pPr>
            <a:r>
              <a:rPr lang="en-AU" sz="2200" b="1" dirty="0" smtClean="0">
                <a:latin typeface="Helvetica" pitchFamily="34" charset="0"/>
              </a:rPr>
              <a:t>Organisational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Legal and organisational policy and procedures, including personnel practices and guidelines</a:t>
            </a:r>
          </a:p>
          <a:p>
            <a:pPr>
              <a:spcBef>
                <a:spcPts val="600"/>
              </a:spcBef>
              <a:spcAft>
                <a:spcPts val="1200"/>
              </a:spcAft>
            </a:pPr>
            <a:r>
              <a:rPr lang="en-AU" sz="2200" dirty="0" smtClean="0">
                <a:latin typeface="Helvetica" pitchFamily="34" charset="0"/>
              </a:rPr>
              <a:t>Organisational goals, objectives, plans, systems and processes</a:t>
            </a:r>
          </a:p>
          <a:p>
            <a:pPr>
              <a:spcBef>
                <a:spcPts val="600"/>
              </a:spcBef>
              <a:spcAft>
                <a:spcPts val="1200"/>
              </a:spcAft>
            </a:pPr>
            <a:r>
              <a:rPr lang="en-AU" sz="2200" dirty="0" smtClean="0">
                <a:latin typeface="Helvetica" pitchFamily="34" charset="0"/>
              </a:rPr>
              <a:t>legislation relevant to the operation, incident and/or response</a:t>
            </a:r>
          </a:p>
          <a:p>
            <a:pPr>
              <a:spcBef>
                <a:spcPts val="600"/>
              </a:spcBef>
              <a:spcAft>
                <a:spcPts val="1200"/>
              </a:spcAft>
            </a:pPr>
            <a:r>
              <a:rPr lang="en-AU" sz="2200" dirty="0" smtClean="0">
                <a:latin typeface="Helvetica" pitchFamily="34" charset="0"/>
              </a:rPr>
              <a:t>Employer and employee rights and  </a:t>
            </a:r>
            <a:br>
              <a:rPr lang="en-AU" sz="2200" dirty="0" smtClean="0">
                <a:latin typeface="Helvetica" pitchFamily="34" charset="0"/>
              </a:rPr>
            </a:br>
            <a:r>
              <a:rPr lang="en-AU" sz="2200" dirty="0" smtClean="0">
                <a:latin typeface="Helvetica" pitchFamily="34" charset="0"/>
              </a:rPr>
              <a:t>responsibilities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6" name="Picture 5" descr="MP900316785[1].JPG"/>
          <p:cNvPicPr>
            <a:picLocks noChangeAspect="1"/>
          </p:cNvPicPr>
          <p:nvPr/>
        </p:nvPicPr>
        <p:blipFill>
          <a:blip r:embed="rId3" cstate="print"/>
          <a:stretch>
            <a:fillRect/>
          </a:stretch>
        </p:blipFill>
        <p:spPr>
          <a:xfrm>
            <a:off x="6553200" y="4267200"/>
            <a:ext cx="1943386" cy="1292352"/>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AU" sz="3400" b="1" dirty="0" smtClean="0">
                <a:solidFill>
                  <a:srgbClr val="FF6600"/>
                </a:solidFill>
                <a:latin typeface="Helvetica" pitchFamily="34" charset="0"/>
              </a:rPr>
              <a:t>Organise work programs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632848" cy="4680520"/>
          </a:xfrm>
        </p:spPr>
        <p:txBody>
          <a:bodyPr>
            <a:normAutofit/>
          </a:bodyPr>
          <a:lstStyle/>
          <a:p>
            <a:pPr>
              <a:spcBef>
                <a:spcPts val="600"/>
              </a:spcBef>
              <a:spcAft>
                <a:spcPts val="1200"/>
              </a:spcAft>
              <a:buNone/>
            </a:pPr>
            <a:r>
              <a:rPr lang="en-AU" sz="2200" b="1" dirty="0" smtClean="0">
                <a:latin typeface="Helvetica" pitchFamily="34" charset="0"/>
              </a:rPr>
              <a:t>Organisational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Business and performance plans</a:t>
            </a:r>
          </a:p>
          <a:p>
            <a:pPr lvl="0">
              <a:spcBef>
                <a:spcPts val="600"/>
              </a:spcBef>
              <a:spcAft>
                <a:spcPts val="1200"/>
              </a:spcAft>
            </a:pPr>
            <a:r>
              <a:rPr lang="en-AU" sz="2200" dirty="0" smtClean="0">
                <a:latin typeface="Helvetica" pitchFamily="34" charset="0"/>
              </a:rPr>
              <a:t>Key Performance Indicators</a:t>
            </a:r>
          </a:p>
          <a:p>
            <a:pPr lvl="0">
              <a:spcBef>
                <a:spcPts val="600"/>
              </a:spcBef>
              <a:spcAft>
                <a:spcPts val="1200"/>
              </a:spcAft>
            </a:pPr>
            <a:r>
              <a:rPr lang="en-AU" sz="2200" dirty="0" smtClean="0">
                <a:latin typeface="Helvetica" pitchFamily="34" charset="0"/>
              </a:rPr>
              <a:t>Policies and procedures relating to own role, responsibility and delegation</a:t>
            </a:r>
          </a:p>
          <a:p>
            <a:pPr lvl="0">
              <a:spcBef>
                <a:spcPts val="600"/>
              </a:spcBef>
              <a:spcAft>
                <a:spcPts val="1200"/>
              </a:spcAft>
            </a:pPr>
            <a:r>
              <a:rPr lang="en-AU" sz="2200" dirty="0" smtClean="0">
                <a:latin typeface="Helvetica" pitchFamily="34" charset="0"/>
              </a:rPr>
              <a:t>Quality and continuous improvement                          processes and standards</a:t>
            </a:r>
          </a:p>
          <a:p>
            <a:pPr>
              <a:spcBef>
                <a:spcPts val="600"/>
              </a:spcBef>
              <a:spcAft>
                <a:spcPts val="1200"/>
              </a:spcAft>
            </a:pPr>
            <a:r>
              <a:rPr lang="en-AU" sz="2200" dirty="0" smtClean="0">
                <a:latin typeface="Helvetica" pitchFamily="34" charset="0"/>
              </a:rPr>
              <a:t>Client service standards defined                                    resource parameters</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MP910220924[1].JPG"/>
          <p:cNvPicPr>
            <a:picLocks noChangeAspect="1"/>
          </p:cNvPicPr>
          <p:nvPr/>
        </p:nvPicPr>
        <p:blipFill>
          <a:blip r:embed="rId3" cstate="print"/>
          <a:stretch>
            <a:fillRect/>
          </a:stretch>
        </p:blipFill>
        <p:spPr>
          <a:xfrm>
            <a:off x="7013240" y="3352800"/>
            <a:ext cx="1444960" cy="2164888"/>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5"/>
            <a:ext cx="8280920" cy="910289"/>
          </a:xfrm>
        </p:spPr>
        <p:txBody>
          <a:bodyPr>
            <a:normAutofit/>
          </a:bodyPr>
          <a:lstStyle/>
          <a:p>
            <a:r>
              <a:rPr lang="en-AU" sz="3400" b="1" dirty="0" smtClean="0">
                <a:solidFill>
                  <a:srgbClr val="FF6600"/>
                </a:solidFill>
                <a:latin typeface="Helvetica" pitchFamily="34" charset="0"/>
              </a:rPr>
              <a:t>Organise work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19200"/>
            <a:ext cx="7632848" cy="5257800"/>
          </a:xfrm>
        </p:spPr>
        <p:txBody>
          <a:bodyPr>
            <a:noAutofit/>
          </a:bodyPr>
          <a:lstStyle/>
          <a:p>
            <a:pPr>
              <a:spcBef>
                <a:spcPts val="600"/>
              </a:spcBef>
              <a:spcAft>
                <a:spcPts val="600"/>
              </a:spcAft>
              <a:buNone/>
            </a:pPr>
            <a:r>
              <a:rPr lang="en-AU" sz="2200" b="1" dirty="0" smtClean="0">
                <a:latin typeface="Helvetica" pitchFamily="34" charset="0"/>
              </a:rPr>
              <a:t>What to plan for</a:t>
            </a:r>
          </a:p>
          <a:p>
            <a:pPr>
              <a:spcBef>
                <a:spcPts val="600"/>
              </a:spcBef>
              <a:spcAft>
                <a:spcPts val="600"/>
              </a:spcAft>
              <a:buNone/>
            </a:pPr>
            <a:r>
              <a:rPr lang="en-AU" sz="2200" dirty="0" smtClean="0">
                <a:latin typeface="Helvetica" pitchFamily="34" charset="0"/>
              </a:rPr>
              <a:t>Any aspect of work operations can be planned including:</a:t>
            </a:r>
          </a:p>
          <a:p>
            <a:pPr lvl="0">
              <a:spcBef>
                <a:spcPts val="600"/>
              </a:spcBef>
              <a:spcAft>
                <a:spcPts val="600"/>
              </a:spcAft>
            </a:pPr>
            <a:r>
              <a:rPr lang="en-AU" sz="2200" dirty="0" smtClean="0">
                <a:latin typeface="Helvetica" pitchFamily="34" charset="0"/>
              </a:rPr>
              <a:t>The procedures or systems that exist </a:t>
            </a:r>
          </a:p>
          <a:p>
            <a:pPr lvl="0">
              <a:spcBef>
                <a:spcPts val="600"/>
              </a:spcBef>
              <a:spcAft>
                <a:spcPts val="600"/>
              </a:spcAft>
            </a:pPr>
            <a:r>
              <a:rPr lang="en-AU" sz="2200" dirty="0" smtClean="0">
                <a:latin typeface="Helvetica" pitchFamily="34" charset="0"/>
              </a:rPr>
              <a:t>The workflow </a:t>
            </a:r>
          </a:p>
          <a:p>
            <a:pPr lvl="0">
              <a:spcBef>
                <a:spcPts val="600"/>
              </a:spcBef>
              <a:spcAft>
                <a:spcPts val="600"/>
              </a:spcAft>
            </a:pPr>
            <a:r>
              <a:rPr lang="en-AU" sz="2200" dirty="0" smtClean="0">
                <a:latin typeface="Helvetica" pitchFamily="34" charset="0"/>
              </a:rPr>
              <a:t>Gaps or overlaps in service provision </a:t>
            </a:r>
          </a:p>
          <a:p>
            <a:pPr lvl="0">
              <a:spcBef>
                <a:spcPts val="600"/>
              </a:spcBef>
              <a:spcAft>
                <a:spcPts val="600"/>
              </a:spcAft>
            </a:pPr>
            <a:r>
              <a:rPr lang="en-AU" sz="2200" dirty="0" smtClean="0">
                <a:latin typeface="Helvetica" pitchFamily="34" charset="0"/>
              </a:rPr>
              <a:t>The workload of staff </a:t>
            </a:r>
          </a:p>
          <a:p>
            <a:pPr lvl="0">
              <a:spcBef>
                <a:spcPts val="600"/>
              </a:spcBef>
              <a:spcAft>
                <a:spcPts val="600"/>
              </a:spcAft>
            </a:pPr>
            <a:r>
              <a:rPr lang="en-AU" sz="2200" dirty="0" smtClean="0">
                <a:latin typeface="Helvetica" pitchFamily="34" charset="0"/>
              </a:rPr>
              <a:t>The time it takes to do a task or job </a:t>
            </a:r>
          </a:p>
          <a:p>
            <a:pPr lvl="0">
              <a:spcBef>
                <a:spcPts val="600"/>
              </a:spcBef>
              <a:spcAft>
                <a:spcPts val="600"/>
              </a:spcAft>
            </a:pPr>
            <a:r>
              <a:rPr lang="en-AU" sz="2200" dirty="0" smtClean="0">
                <a:latin typeface="Helvetica" pitchFamily="34" charset="0"/>
              </a:rPr>
              <a:t>The job design of individual staff </a:t>
            </a:r>
          </a:p>
          <a:p>
            <a:pPr>
              <a:spcBef>
                <a:spcPts val="600"/>
              </a:spcBef>
              <a:spcAft>
                <a:spcPts val="600"/>
              </a:spcAft>
            </a:pPr>
            <a:r>
              <a:rPr lang="en-AU" sz="2200" dirty="0" smtClean="0">
                <a:latin typeface="Helvetica" pitchFamily="34" charset="0"/>
              </a:rPr>
              <a:t>The level of customer satisfaction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7" name="Picture 6" descr="24.jpg"/>
          <p:cNvPicPr/>
          <p:nvPr/>
        </p:nvPicPr>
        <p:blipFill>
          <a:blip r:embed="rId3" cstate="print"/>
          <a:stretch>
            <a:fillRect/>
          </a:stretch>
        </p:blipFill>
        <p:spPr>
          <a:xfrm>
            <a:off x="6934200" y="3395489"/>
            <a:ext cx="1517129" cy="2090911"/>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467600" cy="838200"/>
          </a:xfrm>
        </p:spPr>
        <p:txBody>
          <a:bodyPr>
            <a:noAutofit/>
          </a:bodyPr>
          <a:lstStyle/>
          <a:p>
            <a:r>
              <a:rPr lang="en-AU" sz="3400" b="1" dirty="0" smtClean="0">
                <a:solidFill>
                  <a:srgbClr val="FF6600"/>
                </a:solidFill>
                <a:latin typeface="Helvetica" pitchFamily="34" charset="0"/>
              </a:rPr>
              <a:t>Identify tasks to be completed</a:t>
            </a:r>
            <a:endParaRPr lang="en-AU"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219200"/>
            <a:ext cx="7464552" cy="4709120"/>
          </a:xfrm>
          <a:prstGeom prst="rect">
            <a:avLst/>
          </a:prstGeom>
        </p:spPr>
        <p:txBody>
          <a:bodyPr>
            <a:normAutofit fontScale="85000" lnSpcReduction="20000"/>
          </a:bodyPr>
          <a:lstStyle/>
          <a:p>
            <a:pPr marL="0">
              <a:lnSpc>
                <a:spcPct val="120000"/>
              </a:lnSpc>
              <a:spcBef>
                <a:spcPts val="600"/>
              </a:spcBef>
              <a:spcAft>
                <a:spcPts val="600"/>
              </a:spcAft>
              <a:buNone/>
            </a:pPr>
            <a:r>
              <a:rPr lang="en-AU" sz="2600" b="1" dirty="0" smtClean="0">
                <a:latin typeface="Helvetica" pitchFamily="34" charset="0"/>
              </a:rPr>
              <a:t>Ways to identify what needs to be done</a:t>
            </a:r>
            <a:endParaRPr lang="en-AU" sz="2600" dirty="0" smtClean="0">
              <a:latin typeface="Helvetica" pitchFamily="34" charset="0"/>
            </a:endParaRPr>
          </a:p>
          <a:p>
            <a:pPr lvl="0">
              <a:lnSpc>
                <a:spcPct val="120000"/>
              </a:lnSpc>
              <a:spcBef>
                <a:spcPts val="600"/>
              </a:spcBef>
              <a:spcAft>
                <a:spcPts val="600"/>
              </a:spcAft>
            </a:pPr>
            <a:r>
              <a:rPr lang="en-AU" sz="2600" dirty="0" smtClean="0">
                <a:latin typeface="Helvetica" pitchFamily="34" charset="0"/>
              </a:rPr>
              <a:t>Personal experience</a:t>
            </a:r>
          </a:p>
          <a:p>
            <a:pPr lvl="0">
              <a:lnSpc>
                <a:spcPct val="120000"/>
              </a:lnSpc>
              <a:spcBef>
                <a:spcPts val="600"/>
              </a:spcBef>
              <a:spcAft>
                <a:spcPts val="600"/>
              </a:spcAft>
            </a:pPr>
            <a:r>
              <a:rPr lang="en-AU" sz="2600" dirty="0" smtClean="0">
                <a:latin typeface="Helvetica" pitchFamily="34" charset="0"/>
              </a:rPr>
              <a:t>Bookings/reservations </a:t>
            </a:r>
          </a:p>
          <a:p>
            <a:pPr lvl="0">
              <a:lnSpc>
                <a:spcPct val="120000"/>
              </a:lnSpc>
              <a:spcBef>
                <a:spcPts val="600"/>
              </a:spcBef>
              <a:spcAft>
                <a:spcPts val="600"/>
              </a:spcAft>
            </a:pPr>
            <a:r>
              <a:rPr lang="en-AU" sz="2600" dirty="0" smtClean="0">
                <a:latin typeface="Helvetica" pitchFamily="34" charset="0"/>
              </a:rPr>
              <a:t>Directives from management</a:t>
            </a:r>
          </a:p>
          <a:p>
            <a:pPr lvl="0">
              <a:lnSpc>
                <a:spcPct val="120000"/>
              </a:lnSpc>
              <a:spcBef>
                <a:spcPts val="600"/>
              </a:spcBef>
              <a:spcAft>
                <a:spcPts val="600"/>
              </a:spcAft>
            </a:pPr>
            <a:r>
              <a:rPr lang="en-AU" sz="2600" dirty="0" smtClean="0">
                <a:latin typeface="Helvetica" pitchFamily="34" charset="0"/>
              </a:rPr>
              <a:t>Day-to-day workplace problems</a:t>
            </a:r>
          </a:p>
          <a:p>
            <a:pPr lvl="0">
              <a:lnSpc>
                <a:spcPct val="120000"/>
              </a:lnSpc>
              <a:spcBef>
                <a:spcPts val="600"/>
              </a:spcBef>
              <a:spcAft>
                <a:spcPts val="600"/>
              </a:spcAft>
            </a:pPr>
            <a:r>
              <a:rPr lang="en-AU" sz="2600" dirty="0" smtClean="0">
                <a:latin typeface="Helvetica" pitchFamily="34" charset="0"/>
              </a:rPr>
              <a:t>Knowledge of external factors impacting </a:t>
            </a:r>
            <a:br>
              <a:rPr lang="en-AU" sz="2600" dirty="0" smtClean="0">
                <a:latin typeface="Helvetica" pitchFamily="34" charset="0"/>
              </a:rPr>
            </a:br>
            <a:r>
              <a:rPr lang="en-AU" sz="2600" dirty="0" smtClean="0">
                <a:latin typeface="Helvetica" pitchFamily="34" charset="0"/>
              </a:rPr>
              <a:t>on the business</a:t>
            </a:r>
          </a:p>
          <a:p>
            <a:pPr lvl="0">
              <a:lnSpc>
                <a:spcPct val="120000"/>
              </a:lnSpc>
              <a:spcBef>
                <a:spcPts val="600"/>
              </a:spcBef>
              <a:spcAft>
                <a:spcPts val="600"/>
              </a:spcAft>
            </a:pPr>
            <a:r>
              <a:rPr lang="en-AU" sz="2600" dirty="0" smtClean="0">
                <a:latin typeface="Helvetica" pitchFamily="34" charset="0"/>
              </a:rPr>
              <a:t>Personal observation of what staff are </a:t>
            </a:r>
            <a:br>
              <a:rPr lang="en-AU" sz="2600" dirty="0" smtClean="0">
                <a:latin typeface="Helvetica" pitchFamily="34" charset="0"/>
              </a:rPr>
            </a:br>
            <a:r>
              <a:rPr lang="en-AU" sz="2600" dirty="0" smtClean="0">
                <a:latin typeface="Helvetica" pitchFamily="34" charset="0"/>
              </a:rPr>
              <a:t>doing or not doing</a:t>
            </a:r>
          </a:p>
          <a:p>
            <a:pPr lvl="0">
              <a:lnSpc>
                <a:spcPct val="120000"/>
              </a:lnSpc>
              <a:spcBef>
                <a:spcPts val="600"/>
              </a:spcBef>
              <a:spcAft>
                <a:spcPts val="600"/>
              </a:spcAft>
            </a:pPr>
            <a:r>
              <a:rPr lang="en-AU" sz="2600" dirty="0" smtClean="0">
                <a:latin typeface="Helvetica" pitchFamily="34" charset="0"/>
              </a:rPr>
              <a:t>Feedback from staff, customers and supervisors</a:t>
            </a:r>
            <a:endParaRPr lang="en-AU" sz="2600" i="1" dirty="0" smtClean="0">
              <a:latin typeface="Helvetica" pitchFamily="34" charset="0"/>
            </a:endParaRPr>
          </a:p>
          <a:p>
            <a:pPr>
              <a:lnSpc>
                <a:spcPct val="110000"/>
              </a:lnSpc>
              <a:spcBef>
                <a:spcPts val="600"/>
              </a:spcBef>
              <a:spcAft>
                <a:spcPts val="1200"/>
              </a:spcAft>
            </a:pPr>
            <a:endParaRPr lang="en-AU" sz="2400" dirty="0" smtClean="0">
              <a:latin typeface="Helvetica" pitchFamily="34" charset="0"/>
            </a:endParaRPr>
          </a:p>
          <a:p>
            <a:pPr>
              <a:lnSpc>
                <a:spcPct val="110000"/>
              </a:lnSpc>
              <a:spcBef>
                <a:spcPts val="600"/>
              </a:spcBef>
              <a:spcAft>
                <a:spcPts val="1200"/>
              </a:spcAft>
            </a:pPr>
            <a:endParaRPr lang="en-AU" sz="2400" dirty="0">
              <a:latin typeface="Helvetica" pitchFamily="34" charset="0"/>
            </a:endParaRPr>
          </a:p>
        </p:txBody>
      </p:sp>
      <p:pic>
        <p:nvPicPr>
          <p:cNvPr id="5" name="Picture 4" descr="MP910220783[1].JPG"/>
          <p:cNvPicPr>
            <a:picLocks noChangeAspect="1"/>
          </p:cNvPicPr>
          <p:nvPr/>
        </p:nvPicPr>
        <p:blipFill>
          <a:blip r:embed="rId3" cstate="print"/>
          <a:stretch>
            <a:fillRect/>
          </a:stretch>
        </p:blipFill>
        <p:spPr>
          <a:xfrm>
            <a:off x="6858000" y="3810000"/>
            <a:ext cx="1559268" cy="155814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467600" cy="792162"/>
          </a:xfrm>
        </p:spPr>
        <p:txBody>
          <a:bodyPr>
            <a:noAutofit/>
          </a:bodyPr>
          <a:lstStyle/>
          <a:p>
            <a:r>
              <a:rPr lang="en-AU" sz="3400" b="1" dirty="0" smtClean="0">
                <a:solidFill>
                  <a:srgbClr val="FF6600"/>
                </a:solidFill>
                <a:latin typeface="Helvetica" pitchFamily="34" charset="0"/>
              </a:rPr>
              <a:t>Develop teams</a:t>
            </a:r>
            <a:endParaRPr lang="en-AU"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143000"/>
            <a:ext cx="7464552" cy="5257800"/>
          </a:xfrm>
          <a:prstGeom prst="rect">
            <a:avLst/>
          </a:prstGeom>
        </p:spPr>
        <p:txBody>
          <a:bodyPr>
            <a:normAutofit/>
          </a:bodyPr>
          <a:lstStyle/>
          <a:p>
            <a:pPr marL="0">
              <a:lnSpc>
                <a:spcPct val="120000"/>
              </a:lnSpc>
              <a:spcBef>
                <a:spcPts val="600"/>
              </a:spcBef>
              <a:spcAft>
                <a:spcPts val="600"/>
              </a:spcAft>
              <a:buNone/>
            </a:pPr>
            <a:r>
              <a:rPr lang="en-AU" sz="2200" b="1" dirty="0" smtClean="0">
                <a:latin typeface="Helvetica" pitchFamily="34" charset="0"/>
              </a:rPr>
              <a:t>Develop teams to support work</a:t>
            </a:r>
            <a:endParaRPr lang="en-AU" sz="2200" dirty="0" smtClean="0">
              <a:latin typeface="Helvetica" pitchFamily="34" charset="0"/>
            </a:endParaRPr>
          </a:p>
          <a:p>
            <a:pPr lvl="0">
              <a:lnSpc>
                <a:spcPct val="120000"/>
              </a:lnSpc>
              <a:spcBef>
                <a:spcPts val="600"/>
              </a:spcBef>
              <a:spcAft>
                <a:spcPts val="600"/>
              </a:spcAft>
            </a:pPr>
            <a:r>
              <a:rPr lang="en-AU" sz="2200" dirty="0" smtClean="0">
                <a:latin typeface="Helvetica" pitchFamily="34" charset="0"/>
              </a:rPr>
              <a:t>What is a team?</a:t>
            </a:r>
          </a:p>
          <a:p>
            <a:pPr lvl="0">
              <a:lnSpc>
                <a:spcPct val="120000"/>
              </a:lnSpc>
              <a:spcBef>
                <a:spcPts val="600"/>
              </a:spcBef>
              <a:spcAft>
                <a:spcPts val="600"/>
              </a:spcAft>
            </a:pPr>
            <a:r>
              <a:rPr lang="en-AU" sz="2200" dirty="0" smtClean="0">
                <a:latin typeface="Helvetica" pitchFamily="34" charset="0"/>
              </a:rPr>
              <a:t>What types of teams are there in a hospitality environment?</a:t>
            </a:r>
          </a:p>
          <a:p>
            <a:pPr lvl="0">
              <a:lnSpc>
                <a:spcPct val="120000"/>
              </a:lnSpc>
              <a:spcBef>
                <a:spcPts val="600"/>
              </a:spcBef>
              <a:spcAft>
                <a:spcPts val="600"/>
              </a:spcAft>
            </a:pPr>
            <a:r>
              <a:rPr lang="en-AU" sz="2200" dirty="0" smtClean="0">
                <a:latin typeface="Helvetica" pitchFamily="34" charset="0"/>
              </a:rPr>
              <a:t>What influences teams?</a:t>
            </a:r>
          </a:p>
          <a:p>
            <a:pPr lvl="0">
              <a:lnSpc>
                <a:spcPct val="120000"/>
              </a:lnSpc>
              <a:spcBef>
                <a:spcPts val="600"/>
              </a:spcBef>
              <a:spcAft>
                <a:spcPts val="600"/>
              </a:spcAft>
            </a:pPr>
            <a:r>
              <a:rPr lang="en-AU" sz="2200" dirty="0" smtClean="0">
                <a:latin typeface="Helvetica" pitchFamily="34" charset="0"/>
              </a:rPr>
              <a:t>What are the characteristics of </a:t>
            </a:r>
            <a:br>
              <a:rPr lang="en-AU" sz="2200" dirty="0" smtClean="0">
                <a:latin typeface="Helvetica" pitchFamily="34" charset="0"/>
              </a:rPr>
            </a:br>
            <a:r>
              <a:rPr lang="en-AU" sz="2200" dirty="0" smtClean="0">
                <a:latin typeface="Helvetica" pitchFamily="34" charset="0"/>
              </a:rPr>
              <a:t>effective teams?</a:t>
            </a:r>
          </a:p>
          <a:p>
            <a:pPr lvl="0">
              <a:lnSpc>
                <a:spcPct val="120000"/>
              </a:lnSpc>
              <a:spcBef>
                <a:spcPts val="600"/>
              </a:spcBef>
              <a:spcAft>
                <a:spcPts val="600"/>
              </a:spcAft>
            </a:pPr>
            <a:r>
              <a:rPr lang="en-AU" sz="2200" dirty="0" smtClean="0">
                <a:latin typeface="Helvetica" pitchFamily="34" charset="0"/>
              </a:rPr>
              <a:t>How can managers develop teams?</a:t>
            </a:r>
          </a:p>
          <a:p>
            <a:pPr lvl="0">
              <a:lnSpc>
                <a:spcPct val="120000"/>
              </a:lnSpc>
              <a:spcBef>
                <a:spcPts val="600"/>
              </a:spcBef>
              <a:spcAft>
                <a:spcPts val="600"/>
              </a:spcAft>
            </a:pPr>
            <a:endParaRPr lang="en-AU" sz="2600" i="1" dirty="0" smtClean="0">
              <a:latin typeface="Helvetica" pitchFamily="34" charset="0"/>
            </a:endParaRPr>
          </a:p>
          <a:p>
            <a:pPr>
              <a:lnSpc>
                <a:spcPct val="110000"/>
              </a:lnSpc>
              <a:spcBef>
                <a:spcPts val="600"/>
              </a:spcBef>
              <a:spcAft>
                <a:spcPts val="1200"/>
              </a:spcAft>
            </a:pPr>
            <a:endParaRPr lang="en-AU" sz="2400" dirty="0" smtClean="0">
              <a:latin typeface="Helvetica" pitchFamily="34" charset="0"/>
            </a:endParaRPr>
          </a:p>
          <a:p>
            <a:pPr>
              <a:lnSpc>
                <a:spcPct val="110000"/>
              </a:lnSpc>
              <a:spcBef>
                <a:spcPts val="600"/>
              </a:spcBef>
              <a:spcAft>
                <a:spcPts val="1200"/>
              </a:spcAft>
            </a:pPr>
            <a:endParaRPr lang="en-AU" sz="2400" dirty="0">
              <a:latin typeface="Helvetica" pitchFamily="34" charset="0"/>
            </a:endParaRPr>
          </a:p>
        </p:txBody>
      </p:sp>
      <p:pic>
        <p:nvPicPr>
          <p:cNvPr id="6" name="Picture 5" descr="MP900443014.JPG"/>
          <p:cNvPicPr/>
          <p:nvPr/>
        </p:nvPicPr>
        <p:blipFill>
          <a:blip r:embed="rId3" cstate="print"/>
          <a:stretch>
            <a:fillRect/>
          </a:stretch>
        </p:blipFill>
        <p:spPr>
          <a:xfrm>
            <a:off x="6553200" y="3981450"/>
            <a:ext cx="1838960" cy="127635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160840" cy="810344"/>
          </a:xfrm>
        </p:spPr>
        <p:txBody>
          <a:bodyPr>
            <a:normAutofit/>
          </a:bodyPr>
          <a:lstStyle/>
          <a:p>
            <a:r>
              <a:rPr lang="en-AU" sz="3400" b="1" dirty="0" smtClean="0">
                <a:solidFill>
                  <a:srgbClr val="FF6600"/>
                </a:solidFill>
                <a:latin typeface="Helvetica" pitchFamily="34" charset="0"/>
              </a:rPr>
              <a:t>Prioritise </a:t>
            </a:r>
            <a:r>
              <a:rPr lang="en-AU" sz="3400" b="1" dirty="0" smtClean="0">
                <a:solidFill>
                  <a:srgbClr val="FF6600"/>
                </a:solidFill>
                <a:latin typeface="Helvetica" pitchFamily="34" charset="0"/>
              </a:rPr>
              <a:t>work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632848" cy="4680520"/>
          </a:xfrm>
        </p:spPr>
        <p:txBody>
          <a:bodyPr>
            <a:noAutofit/>
          </a:bodyPr>
          <a:lstStyle/>
          <a:p>
            <a:pPr marL="0">
              <a:spcBef>
                <a:spcPts val="600"/>
              </a:spcBef>
              <a:spcAft>
                <a:spcPts val="1200"/>
              </a:spcAft>
              <a:buNone/>
            </a:pPr>
            <a:r>
              <a:rPr lang="en-AU" sz="2200" dirty="0" smtClean="0">
                <a:latin typeface="Helvetica" pitchFamily="34" charset="0"/>
              </a:rPr>
              <a:t>Prioritising </a:t>
            </a:r>
            <a:r>
              <a:rPr lang="en-AU" sz="2200" dirty="0" smtClean="0">
                <a:latin typeface="Helvetica" pitchFamily="34" charset="0"/>
              </a:rPr>
              <a:t>your tasks means that you will have to determine which tasks are the:</a:t>
            </a:r>
          </a:p>
          <a:p>
            <a:pPr marL="0">
              <a:spcBef>
                <a:spcPts val="600"/>
              </a:spcBef>
              <a:spcAft>
                <a:spcPts val="1200"/>
              </a:spcAft>
            </a:pPr>
            <a:r>
              <a:rPr lang="en-AU" sz="2200" dirty="0" smtClean="0">
                <a:latin typeface="Helvetica" pitchFamily="34" charset="0"/>
              </a:rPr>
              <a:t> Most important and should be done first</a:t>
            </a:r>
          </a:p>
          <a:p>
            <a:pPr marL="0">
              <a:spcBef>
                <a:spcPts val="600"/>
              </a:spcBef>
              <a:spcAft>
                <a:spcPts val="1200"/>
              </a:spcAft>
            </a:pPr>
            <a:r>
              <a:rPr lang="en-AU" sz="2200" dirty="0" smtClean="0">
                <a:latin typeface="Helvetica" pitchFamily="34" charset="0"/>
              </a:rPr>
              <a:t>Which ones can be left until later</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MP900438870[1].JPG"/>
          <p:cNvPicPr>
            <a:picLocks noChangeAspect="1"/>
          </p:cNvPicPr>
          <p:nvPr/>
        </p:nvPicPr>
        <p:blipFill>
          <a:blip r:embed="rId3" cstate="print"/>
          <a:stretch>
            <a:fillRect/>
          </a:stretch>
        </p:blipFill>
        <p:spPr>
          <a:xfrm>
            <a:off x="5715000" y="3733800"/>
            <a:ext cx="2788658" cy="1877696"/>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Prioritising work</a:t>
            </a:r>
          </a:p>
        </p:txBody>
      </p:sp>
      <p:sp>
        <p:nvSpPr>
          <p:cNvPr id="3" name="Content Placeholder 2"/>
          <p:cNvSpPr>
            <a:spLocks noGrp="1"/>
          </p:cNvSpPr>
          <p:nvPr>
            <p:ph idx="1"/>
          </p:nvPr>
        </p:nvSpPr>
        <p:spPr>
          <a:xfrm>
            <a:off x="611560" y="1219200"/>
            <a:ext cx="7467600" cy="5638800"/>
          </a:xfrm>
        </p:spPr>
        <p:txBody>
          <a:bodyPr>
            <a:normAutofit/>
          </a:bodyPr>
          <a:lstStyle/>
          <a:p>
            <a:pPr>
              <a:spcBef>
                <a:spcPts val="600"/>
              </a:spcBef>
              <a:spcAft>
                <a:spcPts val="1200"/>
              </a:spcAft>
              <a:buNone/>
            </a:pPr>
            <a:r>
              <a:rPr lang="en-AU" sz="2200" b="1" dirty="0" smtClean="0">
                <a:latin typeface="Helvetica" pitchFamily="34" charset="0"/>
              </a:rPr>
              <a:t>Steps in prioritising work</a:t>
            </a:r>
          </a:p>
          <a:p>
            <a:pPr>
              <a:spcBef>
                <a:spcPts val="600"/>
              </a:spcBef>
              <a:spcAft>
                <a:spcPts val="1200"/>
              </a:spcAft>
              <a:buNone/>
            </a:pPr>
            <a:r>
              <a:rPr lang="en-AU" sz="2200" dirty="0" smtClean="0">
                <a:latin typeface="Helvetica" pitchFamily="34" charset="0"/>
              </a:rPr>
              <a:t>The four basic steps in prioritising work are:</a:t>
            </a:r>
          </a:p>
          <a:p>
            <a:pPr lvl="0">
              <a:spcBef>
                <a:spcPts val="600"/>
              </a:spcBef>
              <a:spcAft>
                <a:spcPts val="1200"/>
              </a:spcAft>
            </a:pPr>
            <a:r>
              <a:rPr lang="en-AU" sz="2200" dirty="0" smtClean="0">
                <a:latin typeface="Helvetica" pitchFamily="34" charset="0"/>
              </a:rPr>
              <a:t>Involve staff in the process wherever possible</a:t>
            </a:r>
          </a:p>
          <a:p>
            <a:pPr lvl="0">
              <a:spcBef>
                <a:spcPts val="600"/>
              </a:spcBef>
              <a:spcAft>
                <a:spcPts val="1200"/>
              </a:spcAft>
            </a:pPr>
            <a:r>
              <a:rPr lang="en-AU" sz="2200" dirty="0" smtClean="0">
                <a:latin typeface="Helvetica" pitchFamily="34" charset="0"/>
              </a:rPr>
              <a:t>Make three lists:</a:t>
            </a:r>
          </a:p>
          <a:p>
            <a:pPr lvl="1">
              <a:spcBef>
                <a:spcPts val="600"/>
              </a:spcBef>
              <a:spcAft>
                <a:spcPts val="1200"/>
              </a:spcAft>
              <a:buClr>
                <a:srgbClr val="7FD13B"/>
              </a:buClr>
              <a:buFont typeface="Wingdings" pitchFamily="2" charset="2"/>
              <a:buChar char="§"/>
            </a:pPr>
            <a:r>
              <a:rPr lang="en-AU" sz="2200" dirty="0" smtClean="0">
                <a:latin typeface="Helvetica" pitchFamily="34" charset="0"/>
              </a:rPr>
              <a:t>Essential tasks</a:t>
            </a:r>
          </a:p>
          <a:p>
            <a:pPr lvl="1">
              <a:spcBef>
                <a:spcPts val="600"/>
              </a:spcBef>
              <a:spcAft>
                <a:spcPts val="1200"/>
              </a:spcAft>
              <a:buClr>
                <a:srgbClr val="7FD13B"/>
              </a:buClr>
              <a:buFont typeface="Wingdings" pitchFamily="2" charset="2"/>
              <a:buChar char="§"/>
            </a:pPr>
            <a:r>
              <a:rPr lang="en-AU" sz="2200" dirty="0" smtClean="0">
                <a:latin typeface="Helvetica" pitchFamily="34" charset="0"/>
              </a:rPr>
              <a:t>Non-essential tasks that add quality</a:t>
            </a:r>
          </a:p>
          <a:p>
            <a:pPr lvl="1">
              <a:spcBef>
                <a:spcPts val="600"/>
              </a:spcBef>
              <a:spcAft>
                <a:spcPts val="1200"/>
              </a:spcAft>
              <a:buClr>
                <a:srgbClr val="7FD13B"/>
              </a:buClr>
              <a:buFont typeface="Wingdings" pitchFamily="2" charset="2"/>
              <a:buChar char="§"/>
            </a:pPr>
            <a:r>
              <a:rPr lang="en-AU" sz="2200" dirty="0" smtClean="0">
                <a:latin typeface="Helvetica" pitchFamily="34" charset="0"/>
              </a:rPr>
              <a:t>Non-essential tasks that would be nice </a:t>
            </a:r>
            <a:br>
              <a:rPr lang="en-AU" sz="2200" dirty="0" smtClean="0">
                <a:latin typeface="Helvetica" pitchFamily="34" charset="0"/>
              </a:rPr>
            </a:br>
            <a:r>
              <a:rPr lang="en-AU" sz="2200" dirty="0" smtClean="0">
                <a:latin typeface="Helvetica" pitchFamily="34" charset="0"/>
              </a:rPr>
              <a:t>to do</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6" name="Picture 5" descr="MP900422531[1].JPG"/>
          <p:cNvPicPr/>
          <p:nvPr/>
        </p:nvPicPr>
        <p:blipFill>
          <a:blip r:embed="rId3" cstate="print"/>
          <a:stretch>
            <a:fillRect/>
          </a:stretch>
        </p:blipFill>
        <p:spPr>
          <a:xfrm>
            <a:off x="6774904" y="4039344"/>
            <a:ext cx="1683296" cy="1370856"/>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Prioritising work</a:t>
            </a:r>
          </a:p>
        </p:txBody>
      </p:sp>
      <p:sp>
        <p:nvSpPr>
          <p:cNvPr id="3" name="Content Placeholder 2"/>
          <p:cNvSpPr>
            <a:spLocks noGrp="1"/>
          </p:cNvSpPr>
          <p:nvPr>
            <p:ph idx="1"/>
          </p:nvPr>
        </p:nvSpPr>
        <p:spPr>
          <a:xfrm>
            <a:off x="611560" y="1143000"/>
            <a:ext cx="7467600" cy="4896544"/>
          </a:xfrm>
        </p:spPr>
        <p:txBody>
          <a:bodyPr>
            <a:normAutofit/>
          </a:bodyPr>
          <a:lstStyle/>
          <a:p>
            <a:pPr>
              <a:spcBef>
                <a:spcPts val="600"/>
              </a:spcBef>
              <a:spcAft>
                <a:spcPts val="1200"/>
              </a:spcAft>
              <a:buNone/>
            </a:pPr>
            <a:r>
              <a:rPr lang="en-AU" sz="2200" b="1" dirty="0" smtClean="0">
                <a:latin typeface="Helvetica" pitchFamily="34" charset="0"/>
              </a:rPr>
              <a:t>Steps </a:t>
            </a:r>
            <a:r>
              <a:rPr lang="en-AU" sz="2200" b="1" dirty="0" smtClean="0">
                <a:latin typeface="Helvetica" pitchFamily="34" charset="0"/>
              </a:rPr>
              <a:t>in prioritising work</a:t>
            </a:r>
          </a:p>
          <a:p>
            <a:pPr lvl="0">
              <a:spcBef>
                <a:spcPts val="600"/>
              </a:spcBef>
              <a:spcAft>
                <a:spcPts val="1200"/>
              </a:spcAft>
            </a:pPr>
            <a:r>
              <a:rPr lang="en-AU" sz="2200" dirty="0" smtClean="0">
                <a:latin typeface="Helvetica" pitchFamily="34" charset="0"/>
              </a:rPr>
              <a:t>Compare the lists you have generated with the overall goals and objectives of the unit</a:t>
            </a:r>
          </a:p>
          <a:p>
            <a:pPr lvl="0">
              <a:spcBef>
                <a:spcPts val="600"/>
              </a:spcBef>
              <a:spcAft>
                <a:spcPts val="1200"/>
              </a:spcAft>
            </a:pPr>
            <a:r>
              <a:rPr lang="en-AU" sz="2200" dirty="0" smtClean="0">
                <a:latin typeface="Helvetica" pitchFamily="34" charset="0"/>
              </a:rPr>
              <a:t>Adjust the lists accordingly, allocate the work and take action to achieve the lists in priority order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8" name="Picture 7" descr="MP900424406.JPG"/>
          <p:cNvPicPr>
            <a:picLocks noChangeAspect="1"/>
          </p:cNvPicPr>
          <p:nvPr/>
        </p:nvPicPr>
        <p:blipFill>
          <a:blip r:embed="rId3" cstate="print"/>
          <a:stretch>
            <a:fillRect/>
          </a:stretch>
        </p:blipFill>
        <p:spPr>
          <a:xfrm>
            <a:off x="7010400" y="3657600"/>
            <a:ext cx="1434703" cy="195624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734144"/>
          </a:xfrm>
        </p:spPr>
        <p:txBody>
          <a:bodyPr>
            <a:normAutofit/>
          </a:bodyPr>
          <a:lstStyle/>
          <a:p>
            <a:pPr marL="0"/>
            <a:r>
              <a:rPr lang="en-AU" sz="3200" b="1" dirty="0" smtClean="0">
                <a:solidFill>
                  <a:srgbClr val="FF6600"/>
                </a:solidFill>
                <a:latin typeface="Helvetica" pitchFamily="34" charset="0"/>
              </a:rPr>
              <a:t>Organising workflow</a:t>
            </a:r>
          </a:p>
        </p:txBody>
      </p:sp>
      <p:sp>
        <p:nvSpPr>
          <p:cNvPr id="3" name="Content Placeholder 2"/>
          <p:cNvSpPr>
            <a:spLocks noGrp="1"/>
          </p:cNvSpPr>
          <p:nvPr>
            <p:ph idx="1"/>
          </p:nvPr>
        </p:nvSpPr>
        <p:spPr>
          <a:xfrm>
            <a:off x="611560" y="1143000"/>
            <a:ext cx="7467600" cy="4896544"/>
          </a:xfrm>
        </p:spPr>
        <p:txBody>
          <a:bodyPr>
            <a:normAutofit/>
          </a:bodyPr>
          <a:lstStyle/>
          <a:p>
            <a:pPr>
              <a:spcBef>
                <a:spcPts val="600"/>
              </a:spcBef>
              <a:spcAft>
                <a:spcPts val="1200"/>
              </a:spcAft>
            </a:pPr>
            <a:r>
              <a:rPr lang="en-AU" sz="2200" dirty="0" smtClean="0">
                <a:latin typeface="Helvetica" pitchFamily="34" charset="0"/>
              </a:rPr>
              <a:t>Workflow </a:t>
            </a:r>
            <a:r>
              <a:rPr lang="en-AU" sz="2200" dirty="0" smtClean="0">
                <a:latin typeface="Helvetica" pitchFamily="34" charset="0"/>
              </a:rPr>
              <a:t>is basically the order in which work is best done</a:t>
            </a:r>
          </a:p>
          <a:p>
            <a:pPr>
              <a:spcBef>
                <a:spcPts val="600"/>
              </a:spcBef>
              <a:spcAft>
                <a:spcPts val="1200"/>
              </a:spcAft>
            </a:pPr>
            <a:r>
              <a:rPr lang="en-AU" sz="2200" dirty="0" smtClean="0">
                <a:latin typeface="Helvetica" pitchFamily="34" charset="0"/>
              </a:rPr>
              <a:t>Organising this involves determining the logical sequence of tasks</a:t>
            </a:r>
          </a:p>
          <a:p>
            <a:pPr>
              <a:spcBef>
                <a:spcPts val="600"/>
              </a:spcBef>
              <a:spcAft>
                <a:spcPts val="1200"/>
              </a:spcAft>
            </a:pPr>
            <a:r>
              <a:rPr lang="en-AU" sz="2200" dirty="0" smtClean="0">
                <a:latin typeface="Helvetica" pitchFamily="34" charset="0"/>
              </a:rPr>
              <a:t>The aim is to make sure the job is done efficiently and effectively</a:t>
            </a:r>
          </a:p>
          <a:p>
            <a:pPr>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MP900444333.JPG"/>
          <p:cNvPicPr>
            <a:picLocks noChangeAspect="1"/>
          </p:cNvPicPr>
          <p:nvPr/>
        </p:nvPicPr>
        <p:blipFill>
          <a:blip r:embed="rId3" cstate="print"/>
          <a:stretch>
            <a:fillRect/>
          </a:stretch>
        </p:blipFill>
        <p:spPr>
          <a:xfrm>
            <a:off x="6553200" y="4038600"/>
            <a:ext cx="1946539" cy="129540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Organising workflow</a:t>
            </a:r>
          </a:p>
        </p:txBody>
      </p:sp>
      <p:sp>
        <p:nvSpPr>
          <p:cNvPr id="3" name="Content Placeholder 2"/>
          <p:cNvSpPr>
            <a:spLocks noGrp="1"/>
          </p:cNvSpPr>
          <p:nvPr>
            <p:ph idx="1"/>
          </p:nvPr>
        </p:nvSpPr>
        <p:spPr>
          <a:xfrm>
            <a:off x="611560" y="1219200"/>
            <a:ext cx="7467600" cy="5181600"/>
          </a:xfrm>
        </p:spPr>
        <p:txBody>
          <a:bodyPr>
            <a:normAutofit/>
          </a:bodyPr>
          <a:lstStyle/>
          <a:p>
            <a:pPr marL="0">
              <a:spcBef>
                <a:spcPts val="600"/>
              </a:spcBef>
              <a:spcAft>
                <a:spcPts val="600"/>
              </a:spcAft>
              <a:buNone/>
            </a:pPr>
            <a:r>
              <a:rPr lang="en-AU" sz="2200" dirty="0" smtClean="0">
                <a:latin typeface="Helvetica" pitchFamily="34" charset="0"/>
              </a:rPr>
              <a:t>Things to take into account when organising workflow include:</a:t>
            </a:r>
          </a:p>
          <a:p>
            <a:pPr lvl="0">
              <a:spcBef>
                <a:spcPts val="600"/>
              </a:spcBef>
              <a:spcAft>
                <a:spcPts val="600"/>
              </a:spcAft>
            </a:pPr>
            <a:r>
              <a:rPr lang="en-AU" sz="2200" dirty="0" smtClean="0">
                <a:latin typeface="Helvetica" pitchFamily="34" charset="0"/>
              </a:rPr>
              <a:t>How long each individual task should take</a:t>
            </a:r>
          </a:p>
          <a:p>
            <a:pPr lvl="0">
              <a:spcBef>
                <a:spcPts val="600"/>
              </a:spcBef>
              <a:spcAft>
                <a:spcPts val="600"/>
              </a:spcAft>
            </a:pPr>
            <a:r>
              <a:rPr lang="en-AU" sz="2200" dirty="0" smtClean="0">
                <a:latin typeface="Helvetica" pitchFamily="34" charset="0"/>
              </a:rPr>
              <a:t>Recognition of staff needs and award requirements such as breaks</a:t>
            </a:r>
          </a:p>
          <a:p>
            <a:pPr lvl="0">
              <a:spcBef>
                <a:spcPts val="600"/>
              </a:spcBef>
              <a:spcAft>
                <a:spcPts val="600"/>
              </a:spcAft>
            </a:pPr>
            <a:r>
              <a:rPr lang="en-AU" sz="2200" dirty="0" smtClean="0">
                <a:latin typeface="Helvetica" pitchFamily="34" charset="0"/>
              </a:rPr>
              <a:t>The number of people to best achieve a result or task</a:t>
            </a:r>
          </a:p>
          <a:p>
            <a:pPr lvl="0">
              <a:spcBef>
                <a:spcPts val="600"/>
              </a:spcBef>
              <a:spcAft>
                <a:spcPts val="600"/>
              </a:spcAft>
            </a:pPr>
            <a:r>
              <a:rPr lang="en-AU" sz="2200" dirty="0" smtClean="0">
                <a:latin typeface="Helvetica" pitchFamily="34" charset="0"/>
              </a:rPr>
              <a:t>Occupational health and safety requirements</a:t>
            </a:r>
          </a:p>
          <a:p>
            <a:pPr lvl="0">
              <a:spcBef>
                <a:spcPts val="600"/>
              </a:spcBef>
              <a:spcAft>
                <a:spcPts val="600"/>
              </a:spcAft>
            </a:pPr>
            <a:r>
              <a:rPr lang="en-AU" sz="2200" dirty="0" smtClean="0">
                <a:latin typeface="Helvetica" pitchFamily="34" charset="0"/>
              </a:rPr>
              <a:t>The most logical order of tasks to avoid </a:t>
            </a:r>
            <a:br>
              <a:rPr lang="en-AU" sz="2200" dirty="0" smtClean="0">
                <a:latin typeface="Helvetica" pitchFamily="34" charset="0"/>
              </a:rPr>
            </a:br>
            <a:r>
              <a:rPr lang="en-AU" sz="2200" dirty="0" smtClean="0">
                <a:latin typeface="Helvetica" pitchFamily="34" charset="0"/>
              </a:rPr>
              <a:t>duplication and gaps in service</a:t>
            </a:r>
          </a:p>
          <a:p>
            <a:pPr lvl="0">
              <a:spcBef>
                <a:spcPts val="600"/>
              </a:spcBef>
              <a:spcAft>
                <a:spcPts val="600"/>
              </a:spcAft>
            </a:pPr>
            <a:r>
              <a:rPr lang="en-AU" sz="2200" dirty="0" smtClean="0">
                <a:latin typeface="Helvetica" pitchFamily="34" charset="0"/>
              </a:rPr>
              <a:t>The suggestions of staff who are actually </a:t>
            </a:r>
            <a:br>
              <a:rPr lang="en-AU" sz="2200" dirty="0" smtClean="0">
                <a:latin typeface="Helvetica" pitchFamily="34" charset="0"/>
              </a:rPr>
            </a:br>
            <a:r>
              <a:rPr lang="en-AU" sz="2200" dirty="0" smtClean="0">
                <a:latin typeface="Helvetica" pitchFamily="34" charset="0"/>
              </a:rPr>
              <a:t>doing the job</a:t>
            </a:r>
          </a:p>
          <a:p>
            <a:pPr>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MP900409009[1].JPG"/>
          <p:cNvPicPr/>
          <p:nvPr/>
        </p:nvPicPr>
        <p:blipFill>
          <a:blip r:embed="rId3" cstate="print"/>
          <a:stretch>
            <a:fillRect/>
          </a:stretch>
        </p:blipFill>
        <p:spPr>
          <a:xfrm>
            <a:off x="6931496" y="4038600"/>
            <a:ext cx="1526704" cy="1595264"/>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Delegate work to staff</a:t>
            </a:r>
          </a:p>
        </p:txBody>
      </p:sp>
      <p:sp>
        <p:nvSpPr>
          <p:cNvPr id="3" name="Content Placeholder 2"/>
          <p:cNvSpPr>
            <a:spLocks noGrp="1"/>
          </p:cNvSpPr>
          <p:nvPr>
            <p:ph idx="1"/>
          </p:nvPr>
        </p:nvSpPr>
        <p:spPr>
          <a:xfrm>
            <a:off x="611560" y="1219200"/>
            <a:ext cx="7467600" cy="4896544"/>
          </a:xfrm>
        </p:spPr>
        <p:txBody>
          <a:bodyPr>
            <a:normAutofit/>
          </a:bodyPr>
          <a:lstStyle/>
          <a:p>
            <a:pPr>
              <a:spcBef>
                <a:spcPts val="600"/>
              </a:spcBef>
              <a:spcAft>
                <a:spcPts val="1200"/>
              </a:spcAft>
              <a:buNone/>
            </a:pPr>
            <a:r>
              <a:rPr lang="en-AU" sz="2200" dirty="0" smtClean="0">
                <a:latin typeface="Helvetica" pitchFamily="34" charset="0"/>
              </a:rPr>
              <a:t>In </a:t>
            </a:r>
            <a:r>
              <a:rPr lang="en-AU" sz="2200" dirty="0" smtClean="0">
                <a:latin typeface="Helvetica" pitchFamily="34" charset="0"/>
              </a:rPr>
              <a:t>this workplace context, delegation has two meanings:</a:t>
            </a:r>
          </a:p>
          <a:p>
            <a:pPr lvl="0">
              <a:spcBef>
                <a:spcPts val="600"/>
              </a:spcBef>
              <a:spcAft>
                <a:spcPts val="1200"/>
              </a:spcAft>
            </a:pPr>
            <a:r>
              <a:rPr lang="en-AU" sz="2200" dirty="0" smtClean="0">
                <a:latin typeface="Helvetica" pitchFamily="34" charset="0"/>
              </a:rPr>
              <a:t>It can mean the allocating of tasks to staff that are part of their normal duties</a:t>
            </a:r>
          </a:p>
          <a:p>
            <a:pPr lvl="0">
              <a:spcBef>
                <a:spcPts val="600"/>
              </a:spcBef>
              <a:spcAft>
                <a:spcPts val="1200"/>
              </a:spcAft>
            </a:pPr>
            <a:r>
              <a:rPr lang="en-AU" sz="2200" dirty="0" smtClean="0">
                <a:latin typeface="Helvetica" pitchFamily="34" charset="0"/>
              </a:rPr>
              <a:t>It can also mean allocating some of your own duties to staff who are willing to take these on</a:t>
            </a:r>
          </a:p>
          <a:p>
            <a:pPr>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00409035.jpg"/>
          <p:cNvPicPr>
            <a:picLocks noChangeAspect="1"/>
          </p:cNvPicPr>
          <p:nvPr/>
        </p:nvPicPr>
        <p:blipFill>
          <a:blip r:embed="rId3" cstate="print"/>
          <a:stretch>
            <a:fillRect/>
          </a:stretch>
        </p:blipFill>
        <p:spPr>
          <a:xfrm>
            <a:off x="6693768" y="3733800"/>
            <a:ext cx="1764432" cy="1764432"/>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Delegate work to staff</a:t>
            </a:r>
          </a:p>
        </p:txBody>
      </p:sp>
      <p:sp>
        <p:nvSpPr>
          <p:cNvPr id="3" name="Content Placeholder 2"/>
          <p:cNvSpPr>
            <a:spLocks noGrp="1"/>
          </p:cNvSpPr>
          <p:nvPr>
            <p:ph idx="1"/>
          </p:nvPr>
        </p:nvSpPr>
        <p:spPr>
          <a:xfrm>
            <a:off x="611560" y="1219200"/>
            <a:ext cx="7632848" cy="4896544"/>
          </a:xfrm>
        </p:spPr>
        <p:txBody>
          <a:bodyPr>
            <a:normAutofit/>
          </a:bodyPr>
          <a:lstStyle/>
          <a:p>
            <a:pPr>
              <a:spcBef>
                <a:spcPts val="600"/>
              </a:spcBef>
              <a:spcAft>
                <a:spcPts val="600"/>
              </a:spcAft>
              <a:buNone/>
            </a:pPr>
            <a:r>
              <a:rPr lang="en-AU" sz="2200" b="1" dirty="0" smtClean="0">
                <a:latin typeface="Helvetica" pitchFamily="34" charset="0"/>
              </a:rPr>
              <a:t>Delegating tasks to staff that are part of their duties</a:t>
            </a:r>
          </a:p>
          <a:p>
            <a:pPr lvl="0">
              <a:spcBef>
                <a:spcPts val="600"/>
              </a:spcBef>
              <a:spcAft>
                <a:spcPts val="600"/>
              </a:spcAft>
            </a:pPr>
            <a:r>
              <a:rPr lang="en-AU" sz="2200" dirty="0" smtClean="0">
                <a:latin typeface="Helvetica" pitchFamily="34" charset="0"/>
              </a:rPr>
              <a:t>Be clear about the task to be done</a:t>
            </a:r>
          </a:p>
          <a:p>
            <a:pPr lvl="0">
              <a:spcBef>
                <a:spcPts val="600"/>
              </a:spcBef>
              <a:spcAft>
                <a:spcPts val="600"/>
              </a:spcAft>
            </a:pPr>
            <a:r>
              <a:rPr lang="en-AU" sz="2200" dirty="0" smtClean="0">
                <a:latin typeface="Helvetica" pitchFamily="34" charset="0"/>
              </a:rPr>
              <a:t>Explain why the task has to be done and in a certain way</a:t>
            </a:r>
          </a:p>
          <a:p>
            <a:pPr lvl="0">
              <a:spcBef>
                <a:spcPts val="600"/>
              </a:spcBef>
              <a:spcAft>
                <a:spcPts val="600"/>
              </a:spcAft>
            </a:pPr>
            <a:r>
              <a:rPr lang="en-AU" sz="2200" dirty="0" smtClean="0">
                <a:latin typeface="Helvetica" pitchFamily="34" charset="0"/>
              </a:rPr>
              <a:t>Choose an appropriate time to inform and explain delegation</a:t>
            </a:r>
          </a:p>
          <a:p>
            <a:pPr lvl="0">
              <a:spcBef>
                <a:spcPts val="600"/>
              </a:spcBef>
              <a:spcAft>
                <a:spcPts val="600"/>
              </a:spcAft>
            </a:pPr>
            <a:r>
              <a:rPr lang="en-AU" sz="2200" dirty="0" smtClean="0">
                <a:latin typeface="Helvetica" pitchFamily="34" charset="0"/>
              </a:rPr>
              <a:t>Provide whatever instructions are </a:t>
            </a:r>
            <a:br>
              <a:rPr lang="en-AU" sz="2200" dirty="0" smtClean="0">
                <a:latin typeface="Helvetica" pitchFamily="34" charset="0"/>
              </a:rPr>
            </a:br>
            <a:r>
              <a:rPr lang="en-AU" sz="2200" dirty="0" smtClean="0">
                <a:latin typeface="Helvetica" pitchFamily="34" charset="0"/>
              </a:rPr>
              <a:t>necessary in the correct sequence, </a:t>
            </a:r>
            <a:br>
              <a:rPr lang="en-AU" sz="2200" dirty="0" smtClean="0">
                <a:latin typeface="Helvetica" pitchFamily="34" charset="0"/>
              </a:rPr>
            </a:br>
            <a:r>
              <a:rPr lang="en-AU" sz="2200" dirty="0" smtClean="0">
                <a:latin typeface="Helvetica" pitchFamily="34" charset="0"/>
              </a:rPr>
              <a:t>explaining all of the steps</a:t>
            </a:r>
          </a:p>
          <a:p>
            <a:pPr>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March 2005  503_RT8.TIF"/>
          <p:cNvPicPr>
            <a:picLocks noChangeAspect="1"/>
          </p:cNvPicPr>
          <p:nvPr/>
        </p:nvPicPr>
        <p:blipFill>
          <a:blip r:embed="rId3" cstate="print"/>
          <a:stretch>
            <a:fillRect/>
          </a:stretch>
        </p:blipFill>
        <p:spPr>
          <a:xfrm>
            <a:off x="6477000" y="4114395"/>
            <a:ext cx="1943708" cy="1295805"/>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Delegate work to staff</a:t>
            </a:r>
          </a:p>
        </p:txBody>
      </p:sp>
      <p:sp>
        <p:nvSpPr>
          <p:cNvPr id="3" name="Content Placeholder 2"/>
          <p:cNvSpPr>
            <a:spLocks noGrp="1"/>
          </p:cNvSpPr>
          <p:nvPr>
            <p:ph idx="1"/>
          </p:nvPr>
        </p:nvSpPr>
        <p:spPr>
          <a:xfrm>
            <a:off x="611560" y="1219200"/>
            <a:ext cx="8064896" cy="5105400"/>
          </a:xfrm>
        </p:spPr>
        <p:txBody>
          <a:bodyPr>
            <a:normAutofit/>
          </a:bodyPr>
          <a:lstStyle/>
          <a:p>
            <a:pPr>
              <a:spcBef>
                <a:spcPts val="600"/>
              </a:spcBef>
              <a:spcAft>
                <a:spcPts val="1200"/>
              </a:spcAft>
              <a:buNone/>
            </a:pPr>
            <a:r>
              <a:rPr lang="en-AU" sz="2200" b="1" dirty="0" smtClean="0">
                <a:latin typeface="Helvetica" pitchFamily="34" charset="0"/>
              </a:rPr>
              <a:t>Delegating </a:t>
            </a:r>
            <a:r>
              <a:rPr lang="en-AU" sz="2200" b="1" dirty="0" smtClean="0">
                <a:latin typeface="Helvetica" pitchFamily="34" charset="0"/>
              </a:rPr>
              <a:t>tasks to staff that are part of their duties</a:t>
            </a:r>
          </a:p>
          <a:p>
            <a:pPr lvl="0">
              <a:spcBef>
                <a:spcPts val="600"/>
              </a:spcBef>
              <a:spcAft>
                <a:spcPts val="1200"/>
              </a:spcAft>
            </a:pPr>
            <a:r>
              <a:rPr lang="en-AU" sz="2200" dirty="0" smtClean="0">
                <a:latin typeface="Helvetica" pitchFamily="34" charset="0"/>
              </a:rPr>
              <a:t>Provide </a:t>
            </a:r>
            <a:r>
              <a:rPr lang="en-AU" sz="2200" dirty="0" smtClean="0">
                <a:latin typeface="Helvetica" pitchFamily="34" charset="0"/>
              </a:rPr>
              <a:t>training and demonstration</a:t>
            </a:r>
          </a:p>
          <a:p>
            <a:pPr lvl="0">
              <a:spcBef>
                <a:spcPts val="600"/>
              </a:spcBef>
              <a:spcAft>
                <a:spcPts val="1200"/>
              </a:spcAft>
            </a:pPr>
            <a:r>
              <a:rPr lang="en-AU" sz="2200" dirty="0" smtClean="0">
                <a:latin typeface="Helvetica" pitchFamily="34" charset="0"/>
              </a:rPr>
              <a:t>Continually encourage and check if the                          employee has any questions</a:t>
            </a:r>
          </a:p>
          <a:p>
            <a:pPr lvl="0">
              <a:spcBef>
                <a:spcPts val="600"/>
              </a:spcBef>
              <a:spcAft>
                <a:spcPts val="1200"/>
              </a:spcAft>
            </a:pPr>
            <a:r>
              <a:rPr lang="en-AU" sz="2200" dirty="0" smtClean="0">
                <a:latin typeface="Helvetica" pitchFamily="34" charset="0"/>
              </a:rPr>
              <a:t>Check their understanding</a:t>
            </a:r>
          </a:p>
          <a:p>
            <a:pPr lvl="0">
              <a:spcBef>
                <a:spcPts val="600"/>
              </a:spcBef>
              <a:spcAft>
                <a:spcPts val="1200"/>
              </a:spcAft>
            </a:pPr>
            <a:r>
              <a:rPr lang="en-AU" sz="2200" dirty="0" smtClean="0">
                <a:latin typeface="Helvetica" pitchFamily="34" charset="0"/>
              </a:rPr>
              <a:t>Give them positive feedback</a:t>
            </a:r>
          </a:p>
          <a:p>
            <a:pPr>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1111.jpg"/>
          <p:cNvPicPr>
            <a:picLocks noChangeAspect="1"/>
          </p:cNvPicPr>
          <p:nvPr/>
        </p:nvPicPr>
        <p:blipFill>
          <a:blip r:embed="rId3" cstate="print"/>
          <a:stretch>
            <a:fillRect/>
          </a:stretch>
        </p:blipFill>
        <p:spPr>
          <a:xfrm>
            <a:off x="6292178" y="3804838"/>
            <a:ext cx="2166022" cy="1587841"/>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Clarify work allocation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632848" cy="5334000"/>
          </a:xfrm>
        </p:spPr>
        <p:txBody>
          <a:bodyPr>
            <a:normAutofit/>
          </a:bodyPr>
          <a:lstStyle/>
          <a:p>
            <a:pPr>
              <a:spcBef>
                <a:spcPts val="600"/>
              </a:spcBef>
              <a:spcAft>
                <a:spcPts val="600"/>
              </a:spcAft>
              <a:buNone/>
            </a:pPr>
            <a:r>
              <a:rPr lang="en-AU" sz="2200" dirty="0" smtClean="0">
                <a:latin typeface="Helvetica" pitchFamily="34" charset="0"/>
              </a:rPr>
              <a:t>The allocation of tasks can vary based on issues such as:</a:t>
            </a:r>
          </a:p>
          <a:p>
            <a:pPr lvl="0">
              <a:spcBef>
                <a:spcPts val="600"/>
              </a:spcBef>
              <a:spcAft>
                <a:spcPts val="600"/>
              </a:spcAft>
            </a:pPr>
            <a:r>
              <a:rPr lang="en-AU" sz="2200" dirty="0" smtClean="0">
                <a:latin typeface="Helvetica" pitchFamily="34" charset="0"/>
              </a:rPr>
              <a:t>Expected demand</a:t>
            </a:r>
          </a:p>
          <a:p>
            <a:pPr lvl="0">
              <a:spcBef>
                <a:spcPts val="600"/>
              </a:spcBef>
              <a:spcAft>
                <a:spcPts val="600"/>
              </a:spcAft>
            </a:pPr>
            <a:r>
              <a:rPr lang="en-AU" sz="2200" dirty="0" smtClean="0">
                <a:latin typeface="Helvetica" pitchFamily="34" charset="0"/>
              </a:rPr>
              <a:t>Nature of specific events </a:t>
            </a:r>
          </a:p>
          <a:p>
            <a:pPr lvl="0">
              <a:spcBef>
                <a:spcPts val="600"/>
              </a:spcBef>
              <a:spcAft>
                <a:spcPts val="600"/>
              </a:spcAft>
            </a:pPr>
            <a:r>
              <a:rPr lang="en-AU" sz="2200" dirty="0" smtClean="0">
                <a:latin typeface="Helvetica" pitchFamily="34" charset="0"/>
              </a:rPr>
              <a:t>VIP’s</a:t>
            </a:r>
          </a:p>
          <a:p>
            <a:pPr lvl="0">
              <a:spcBef>
                <a:spcPts val="600"/>
              </a:spcBef>
              <a:spcAft>
                <a:spcPts val="600"/>
              </a:spcAft>
            </a:pPr>
            <a:r>
              <a:rPr lang="en-AU" sz="2200" dirty="0" smtClean="0">
                <a:latin typeface="Helvetica" pitchFamily="34" charset="0"/>
              </a:rPr>
              <a:t>Staff absences</a:t>
            </a:r>
          </a:p>
          <a:p>
            <a:pPr lvl="0">
              <a:spcBef>
                <a:spcPts val="600"/>
              </a:spcBef>
              <a:spcAft>
                <a:spcPts val="600"/>
              </a:spcAft>
            </a:pPr>
            <a:r>
              <a:rPr lang="en-AU" sz="2200" dirty="0" smtClean="0">
                <a:latin typeface="Helvetica" pitchFamily="34" charset="0"/>
              </a:rPr>
              <a:t>Customer/guest feedback</a:t>
            </a:r>
          </a:p>
          <a:p>
            <a:pPr lvl="0">
              <a:spcBef>
                <a:spcPts val="600"/>
              </a:spcBef>
              <a:spcAft>
                <a:spcPts val="600"/>
              </a:spcAft>
            </a:pPr>
            <a:r>
              <a:rPr lang="en-AU" sz="2200" dirty="0" smtClean="0">
                <a:latin typeface="Helvetica" pitchFamily="34" charset="0"/>
              </a:rPr>
              <a:t>Equipment problems</a:t>
            </a:r>
          </a:p>
          <a:p>
            <a:pPr lvl="0">
              <a:spcBef>
                <a:spcPts val="600"/>
              </a:spcBef>
              <a:spcAft>
                <a:spcPts val="600"/>
              </a:spcAft>
            </a:pPr>
            <a:r>
              <a:rPr lang="en-AU" sz="2200" dirty="0" smtClean="0">
                <a:latin typeface="Helvetica" pitchFamily="34" charset="0"/>
              </a:rPr>
              <a:t>Unexpected events</a:t>
            </a:r>
          </a:p>
          <a:p>
            <a:pPr lvl="0">
              <a:spcBef>
                <a:spcPts val="600"/>
              </a:spcBef>
              <a:spcAft>
                <a:spcPts val="600"/>
              </a:spcAft>
            </a:pPr>
            <a:r>
              <a:rPr lang="en-AU" sz="2200" dirty="0" smtClean="0">
                <a:latin typeface="Helvetica" pitchFamily="34" charset="0"/>
              </a:rPr>
              <a:t>Emergencies</a:t>
            </a:r>
          </a:p>
          <a:p>
            <a:pPr>
              <a:spcBef>
                <a:spcPts val="600"/>
              </a:spcBef>
              <a:spcAft>
                <a:spcPts val="600"/>
              </a:spcAft>
            </a:pPr>
            <a:r>
              <a:rPr lang="en-AU" sz="2200" dirty="0" smtClean="0">
                <a:latin typeface="Helvetica" pitchFamily="34" charset="0"/>
              </a:rPr>
              <a:t>Special requests </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2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7" name="Picture 6" descr="iStock_000002437760Small.jpg"/>
          <p:cNvPicPr/>
          <p:nvPr/>
        </p:nvPicPr>
        <p:blipFill>
          <a:blip r:embed="rId3" cstate="print"/>
          <a:stretch>
            <a:fillRect/>
          </a:stretch>
        </p:blipFill>
        <p:spPr>
          <a:xfrm>
            <a:off x="6638295" y="4191000"/>
            <a:ext cx="1819905" cy="1187574"/>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Communicate information to team members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Whilst communication and information may primarily come from managers, it is important to remember that all colleagues within a team will communicate and share information on a daily basis:</a:t>
            </a:r>
          </a:p>
          <a:p>
            <a:pPr>
              <a:spcBef>
                <a:spcPts val="600"/>
              </a:spcBef>
              <a:spcAft>
                <a:spcPts val="1200"/>
              </a:spcAft>
            </a:pPr>
            <a:r>
              <a:rPr lang="en-AU" sz="2200" dirty="0" smtClean="0">
                <a:latin typeface="Helvetica" pitchFamily="34" charset="0"/>
              </a:rPr>
              <a:t>What information do team members need?</a:t>
            </a:r>
          </a:p>
          <a:p>
            <a:pPr>
              <a:spcBef>
                <a:spcPts val="600"/>
              </a:spcBef>
              <a:spcAft>
                <a:spcPts val="1200"/>
              </a:spcAft>
            </a:pPr>
            <a:r>
              <a:rPr lang="en-AU" sz="2200" dirty="0" smtClean="0">
                <a:latin typeface="Helvetica" pitchFamily="34" charset="0"/>
              </a:rPr>
              <a:t>What is the best way to communicate this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7" name="Picture 6" descr="MP900443024.JPG"/>
          <p:cNvPicPr/>
          <p:nvPr/>
        </p:nvPicPr>
        <p:blipFill>
          <a:blip r:embed="rId3" cstate="print"/>
          <a:stretch>
            <a:fillRect/>
          </a:stretch>
        </p:blipFill>
        <p:spPr>
          <a:xfrm>
            <a:off x="6248400" y="4343400"/>
            <a:ext cx="2181225" cy="1400175"/>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86544"/>
          </a:xfrm>
        </p:spPr>
        <p:txBody>
          <a:bodyPr>
            <a:normAutofit/>
          </a:bodyPr>
          <a:lstStyle/>
          <a:p>
            <a:r>
              <a:rPr lang="en-AU" sz="3400" b="1" dirty="0" smtClean="0">
                <a:solidFill>
                  <a:srgbClr val="FF6600"/>
                </a:solidFill>
                <a:latin typeface="Helvetica" pitchFamily="34" charset="0"/>
              </a:rPr>
              <a:t>Supporting team members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95400"/>
            <a:ext cx="7632848" cy="5257800"/>
          </a:xfrm>
        </p:spPr>
        <p:txBody>
          <a:bodyPr>
            <a:noAutofit/>
          </a:bodyPr>
          <a:lstStyle/>
          <a:p>
            <a:pPr>
              <a:spcBef>
                <a:spcPts val="600"/>
              </a:spcBef>
              <a:spcAft>
                <a:spcPts val="600"/>
              </a:spcAft>
              <a:buNone/>
            </a:pPr>
            <a:r>
              <a:rPr lang="en-AU" sz="2200" b="1" dirty="0" smtClean="0">
                <a:latin typeface="Helvetica" pitchFamily="34" charset="0"/>
              </a:rPr>
              <a:t>Supporting team members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Giving moral and verbal support </a:t>
            </a:r>
          </a:p>
          <a:p>
            <a:pPr lvl="0">
              <a:spcBef>
                <a:spcPts val="600"/>
              </a:spcBef>
              <a:spcAft>
                <a:spcPts val="600"/>
              </a:spcAft>
            </a:pPr>
            <a:r>
              <a:rPr lang="en-AU" sz="2200" dirty="0" smtClean="0">
                <a:latin typeface="Helvetica" pitchFamily="34" charset="0"/>
              </a:rPr>
              <a:t>Providing relevant training/coaching</a:t>
            </a:r>
          </a:p>
          <a:p>
            <a:pPr lvl="0">
              <a:spcBef>
                <a:spcPts val="600"/>
              </a:spcBef>
              <a:spcAft>
                <a:spcPts val="600"/>
              </a:spcAft>
            </a:pPr>
            <a:r>
              <a:rPr lang="en-AU" sz="2200" dirty="0" smtClean="0">
                <a:latin typeface="Helvetica" pitchFamily="34" charset="0"/>
              </a:rPr>
              <a:t>Obtaining more physical resources </a:t>
            </a:r>
          </a:p>
          <a:p>
            <a:pPr lvl="0">
              <a:spcBef>
                <a:spcPts val="600"/>
              </a:spcBef>
              <a:spcAft>
                <a:spcPts val="600"/>
              </a:spcAft>
            </a:pPr>
            <a:r>
              <a:rPr lang="en-AU" sz="2200" dirty="0" smtClean="0">
                <a:latin typeface="Helvetica" pitchFamily="34" charset="0"/>
              </a:rPr>
              <a:t>Getting approval for more time </a:t>
            </a:r>
          </a:p>
          <a:p>
            <a:pPr lvl="0">
              <a:spcBef>
                <a:spcPts val="600"/>
              </a:spcBef>
              <a:spcAft>
                <a:spcPts val="600"/>
              </a:spcAft>
            </a:pPr>
            <a:r>
              <a:rPr lang="en-AU" sz="2200" dirty="0" smtClean="0">
                <a:latin typeface="Helvetica" pitchFamily="34" charset="0"/>
              </a:rPr>
              <a:t>Advocating to management on behalf of the staff</a:t>
            </a:r>
          </a:p>
          <a:p>
            <a:pPr lvl="0">
              <a:spcBef>
                <a:spcPts val="600"/>
              </a:spcBef>
              <a:spcAft>
                <a:spcPts val="600"/>
              </a:spcAft>
            </a:pPr>
            <a:r>
              <a:rPr lang="en-AU" sz="2200" dirty="0" smtClean="0">
                <a:latin typeface="Helvetica" pitchFamily="34" charset="0"/>
              </a:rPr>
              <a:t>Supporting staff </a:t>
            </a:r>
          </a:p>
          <a:p>
            <a:pPr lvl="0">
              <a:spcBef>
                <a:spcPts val="600"/>
              </a:spcBef>
              <a:spcAft>
                <a:spcPts val="600"/>
              </a:spcAft>
            </a:pPr>
            <a:r>
              <a:rPr lang="en-AU" sz="2200" dirty="0" smtClean="0">
                <a:latin typeface="Helvetica" pitchFamily="34" charset="0"/>
              </a:rPr>
              <a:t>Soliciting and listening to their feedback</a:t>
            </a:r>
          </a:p>
          <a:p>
            <a:pPr>
              <a:spcBef>
                <a:spcPts val="600"/>
              </a:spcBef>
              <a:spcAft>
                <a:spcPts val="600"/>
              </a:spcAft>
            </a:pPr>
            <a:r>
              <a:rPr lang="en-AU" sz="2200" dirty="0" smtClean="0">
                <a:latin typeface="Helvetica" pitchFamily="34" charset="0"/>
              </a:rPr>
              <a:t>Thanking them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dirty="0" smtClean="0">
                <a:latin typeface="Helvetica" pitchFamily="34" charset="0"/>
              </a:rPr>
              <a:pPr/>
              <a:t>107</a:t>
            </a:fld>
            <a:endParaRPr lang="en-US" dirty="0" smtClean="0">
              <a:latin typeface="Helvetica" pitchFamily="34" charset="0"/>
            </a:endParaRPr>
          </a:p>
        </p:txBody>
      </p:sp>
      <p:pic>
        <p:nvPicPr>
          <p:cNvPr id="6" name="Picture 5" descr="MP900443186.JPG"/>
          <p:cNvPicPr/>
          <p:nvPr/>
        </p:nvPicPr>
        <p:blipFill>
          <a:blip r:embed="rId3" cstate="print"/>
          <a:stretch>
            <a:fillRect/>
          </a:stretch>
        </p:blipFill>
        <p:spPr>
          <a:xfrm>
            <a:off x="6629400" y="4267200"/>
            <a:ext cx="1828800" cy="1295400"/>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Monitor and control operations</a:t>
            </a:r>
          </a:p>
        </p:txBody>
      </p:sp>
      <p:sp>
        <p:nvSpPr>
          <p:cNvPr id="3" name="Content Placeholder 2"/>
          <p:cNvSpPr>
            <a:spLocks noGrp="1"/>
          </p:cNvSpPr>
          <p:nvPr>
            <p:ph idx="1"/>
          </p:nvPr>
        </p:nvSpPr>
        <p:spPr>
          <a:xfrm>
            <a:off x="611560" y="1219200"/>
            <a:ext cx="7467600" cy="5410200"/>
          </a:xfrm>
        </p:spPr>
        <p:txBody>
          <a:bodyPr>
            <a:normAutofit/>
          </a:bodyPr>
          <a:lstStyle/>
          <a:p>
            <a:pPr marL="0">
              <a:spcBef>
                <a:spcPts val="600"/>
              </a:spcBef>
              <a:spcAft>
                <a:spcPts val="1200"/>
              </a:spcAft>
              <a:buNone/>
            </a:pPr>
            <a:r>
              <a:rPr lang="en-AU" sz="2200" dirty="0" smtClean="0">
                <a:latin typeface="Helvetica" pitchFamily="34" charset="0"/>
              </a:rPr>
              <a:t>Any aspect of work operations can be monitored with a view to improvement including:</a:t>
            </a:r>
          </a:p>
          <a:p>
            <a:pPr lvl="0">
              <a:spcBef>
                <a:spcPts val="600"/>
              </a:spcBef>
              <a:spcAft>
                <a:spcPts val="1200"/>
              </a:spcAft>
            </a:pPr>
            <a:r>
              <a:rPr lang="en-AU" sz="2200" dirty="0" smtClean="0">
                <a:latin typeface="Helvetica" pitchFamily="34" charset="0"/>
              </a:rPr>
              <a:t>The procedures or systems</a:t>
            </a:r>
          </a:p>
          <a:p>
            <a:pPr lvl="0">
              <a:spcBef>
                <a:spcPts val="600"/>
              </a:spcBef>
              <a:spcAft>
                <a:spcPts val="1200"/>
              </a:spcAft>
            </a:pPr>
            <a:r>
              <a:rPr lang="en-AU" sz="2200" dirty="0" smtClean="0">
                <a:latin typeface="Helvetica" pitchFamily="34" charset="0"/>
              </a:rPr>
              <a:t>The workflow</a:t>
            </a:r>
          </a:p>
          <a:p>
            <a:pPr lvl="0">
              <a:spcBef>
                <a:spcPts val="600"/>
              </a:spcBef>
              <a:spcAft>
                <a:spcPts val="1200"/>
              </a:spcAft>
            </a:pPr>
            <a:r>
              <a:rPr lang="en-AU" sz="2200" dirty="0" smtClean="0">
                <a:latin typeface="Helvetica" pitchFamily="34" charset="0"/>
              </a:rPr>
              <a:t>Gaps or overlaps in service provision</a:t>
            </a:r>
          </a:p>
          <a:p>
            <a:pPr lvl="0">
              <a:spcBef>
                <a:spcPts val="600"/>
              </a:spcBef>
              <a:spcAft>
                <a:spcPts val="1200"/>
              </a:spcAft>
            </a:pPr>
            <a:r>
              <a:rPr lang="en-AU" sz="2200" dirty="0" smtClean="0">
                <a:latin typeface="Helvetica" pitchFamily="34" charset="0"/>
              </a:rPr>
              <a:t>The workload of staff</a:t>
            </a:r>
          </a:p>
          <a:p>
            <a:pPr lvl="0">
              <a:spcBef>
                <a:spcPts val="600"/>
              </a:spcBef>
              <a:spcAft>
                <a:spcPts val="1200"/>
              </a:spcAft>
            </a:pPr>
            <a:r>
              <a:rPr lang="en-AU" sz="2200" dirty="0" smtClean="0">
                <a:latin typeface="Helvetica" pitchFamily="34" charset="0"/>
              </a:rPr>
              <a:t>The time it takes to do a task or job</a:t>
            </a:r>
          </a:p>
          <a:p>
            <a:pPr lvl="0">
              <a:spcBef>
                <a:spcPts val="600"/>
              </a:spcBef>
              <a:spcAft>
                <a:spcPts val="1200"/>
              </a:spcAft>
            </a:pPr>
            <a:r>
              <a:rPr lang="en-AU" sz="2200" dirty="0" smtClean="0">
                <a:latin typeface="Helvetica" pitchFamily="34" charset="0"/>
              </a:rPr>
              <a:t>Job design</a:t>
            </a:r>
          </a:p>
          <a:p>
            <a:pPr>
              <a:spcBef>
                <a:spcPts val="600"/>
              </a:spcBef>
              <a:spcAft>
                <a:spcPts val="1200"/>
              </a:spcAft>
            </a:pPr>
            <a:r>
              <a:rPr lang="en-AU" sz="2200" dirty="0" smtClean="0">
                <a:latin typeface="Helvetica" pitchFamily="34" charset="0"/>
              </a:rPr>
              <a:t>Level of customer satisfaction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4.jpg"/>
          <p:cNvPicPr/>
          <p:nvPr/>
        </p:nvPicPr>
        <p:blipFill>
          <a:blip r:embed="rId3" cstate="print"/>
          <a:stretch>
            <a:fillRect/>
          </a:stretch>
        </p:blipFill>
        <p:spPr>
          <a:xfrm>
            <a:off x="6781800" y="3354710"/>
            <a:ext cx="1598290" cy="2207890"/>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i="1" dirty="0" smtClean="0">
                <a:solidFill>
                  <a:srgbClr val="FF6600"/>
                </a:solidFill>
                <a:latin typeface="Helvetica" pitchFamily="34" charset="0"/>
              </a:rPr>
              <a:t>Element 4:</a:t>
            </a:r>
          </a:p>
          <a:p>
            <a:pPr marL="0">
              <a:spcBef>
                <a:spcPts val="600"/>
              </a:spcBef>
              <a:spcAft>
                <a:spcPts val="1200"/>
              </a:spcAft>
              <a:buNone/>
            </a:pPr>
            <a:r>
              <a:rPr lang="en-AU" sz="4000" b="1" i="1" dirty="0" smtClean="0">
                <a:solidFill>
                  <a:srgbClr val="FF6600"/>
                </a:solidFill>
                <a:latin typeface="Helvetica" pitchFamily="34" charset="0"/>
              </a:rPr>
              <a:t>Lead and motivate staff</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descr="00443432.jpg"/>
          <p:cNvPicPr>
            <a:picLocks noChangeAspect="1"/>
          </p:cNvPicPr>
          <p:nvPr/>
        </p:nvPicPr>
        <p:blipFill>
          <a:blip r:embed="rId3" cstate="print"/>
          <a:stretch>
            <a:fillRect/>
          </a:stretch>
        </p:blipFill>
        <p:spPr>
          <a:xfrm>
            <a:off x="6726164" y="3005571"/>
            <a:ext cx="1655836" cy="2480829"/>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Lead and motivate staff</a:t>
            </a:r>
          </a:p>
        </p:txBody>
      </p:sp>
      <p:sp>
        <p:nvSpPr>
          <p:cNvPr id="3" name="Content Placeholder 2"/>
          <p:cNvSpPr>
            <a:spLocks noGrp="1"/>
          </p:cNvSpPr>
          <p:nvPr>
            <p:ph idx="1"/>
          </p:nvPr>
        </p:nvSpPr>
        <p:spPr>
          <a:xfrm>
            <a:off x="611560" y="1295400"/>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a:t>
            </a:r>
            <a:r>
              <a:rPr lang="en-AU" sz="2200" dirty="0" smtClean="0">
                <a:latin typeface="Helvetica" pitchFamily="34" charset="0"/>
              </a:rPr>
              <a:t>Criteria for this Element are: </a:t>
            </a:r>
          </a:p>
          <a:p>
            <a:pPr>
              <a:spcBef>
                <a:spcPts val="600"/>
              </a:spcBef>
              <a:spcAft>
                <a:spcPts val="1200"/>
              </a:spcAft>
            </a:pPr>
            <a:r>
              <a:rPr lang="en-AU" sz="2200" dirty="0" smtClean="0">
                <a:latin typeface="Helvetica" pitchFamily="34" charset="0"/>
              </a:rPr>
              <a:t>Set goals to optimize work achievement</a:t>
            </a:r>
          </a:p>
          <a:p>
            <a:pPr>
              <a:spcBef>
                <a:spcPts val="600"/>
              </a:spcBef>
              <a:spcAft>
                <a:spcPts val="1200"/>
              </a:spcAft>
            </a:pPr>
            <a:r>
              <a:rPr lang="en-AU" sz="2200" dirty="0" smtClean="0">
                <a:latin typeface="Helvetica" pitchFamily="34" charset="0"/>
              </a:rPr>
              <a:t>Advise and support staff in their work</a:t>
            </a:r>
          </a:p>
          <a:p>
            <a:pPr>
              <a:spcBef>
                <a:spcPts val="600"/>
              </a:spcBef>
              <a:spcAft>
                <a:spcPts val="1200"/>
              </a:spcAft>
            </a:pPr>
            <a:r>
              <a:rPr lang="en-AU" sz="2200" dirty="0" smtClean="0">
                <a:latin typeface="Helvetica" pitchFamily="34" charset="0"/>
              </a:rPr>
              <a:t>Encourage and recognize initiative, effort and contribution from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00227474.jpg"/>
          <p:cNvPicPr>
            <a:picLocks noChangeAspect="1"/>
          </p:cNvPicPr>
          <p:nvPr/>
        </p:nvPicPr>
        <p:blipFill>
          <a:blip r:embed="rId3" cstate="print"/>
          <a:stretch>
            <a:fillRect/>
          </a:stretch>
        </p:blipFill>
        <p:spPr>
          <a:xfrm>
            <a:off x="6524985" y="4114800"/>
            <a:ext cx="1933215" cy="1304920"/>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Setting plans and goals</a:t>
            </a:r>
          </a:p>
        </p:txBody>
      </p:sp>
      <p:sp>
        <p:nvSpPr>
          <p:cNvPr id="3" name="Content Placeholder 2"/>
          <p:cNvSpPr>
            <a:spLocks noGrp="1"/>
          </p:cNvSpPr>
          <p:nvPr>
            <p:ph idx="1"/>
          </p:nvPr>
        </p:nvSpPr>
        <p:spPr>
          <a:xfrm>
            <a:off x="611560" y="1295400"/>
            <a:ext cx="7467600" cy="5257800"/>
          </a:xfrm>
        </p:spPr>
        <p:txBody>
          <a:bodyPr>
            <a:normAutofit/>
          </a:bodyPr>
          <a:lstStyle/>
          <a:p>
            <a:pPr>
              <a:spcBef>
                <a:spcPts val="600"/>
              </a:spcBef>
              <a:spcAft>
                <a:spcPts val="1200"/>
              </a:spcAft>
              <a:buNone/>
            </a:pPr>
            <a:r>
              <a:rPr lang="en-AU" sz="2200" b="1" dirty="0" smtClean="0">
                <a:latin typeface="Helvetica" pitchFamily="34" charset="0"/>
              </a:rPr>
              <a:t>Importance of planning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What is the purpose of planning?</a:t>
            </a:r>
          </a:p>
          <a:p>
            <a:pPr>
              <a:spcBef>
                <a:spcPts val="600"/>
              </a:spcBef>
              <a:spcAft>
                <a:spcPts val="1200"/>
              </a:spcAft>
            </a:pPr>
            <a:r>
              <a:rPr lang="en-AU" sz="2200" dirty="0" smtClean="0">
                <a:latin typeface="Helvetica" pitchFamily="34" charset="0"/>
              </a:rPr>
              <a:t>Who prepares plans?</a:t>
            </a:r>
          </a:p>
          <a:p>
            <a:pPr>
              <a:spcBef>
                <a:spcPts val="600"/>
              </a:spcBef>
              <a:spcAft>
                <a:spcPts val="1200"/>
              </a:spcAft>
            </a:pPr>
            <a:r>
              <a:rPr lang="en-AU" sz="2200" dirty="0" smtClean="0">
                <a:latin typeface="Helvetica" pitchFamily="34" charset="0"/>
              </a:rPr>
              <a:t>What types of plans are there?</a:t>
            </a:r>
          </a:p>
          <a:p>
            <a:pPr>
              <a:spcBef>
                <a:spcPts val="600"/>
              </a:spcBef>
              <a:spcAft>
                <a:spcPts val="1200"/>
              </a:spcAft>
            </a:pPr>
            <a:r>
              <a:rPr lang="en-AU" sz="2200" dirty="0" smtClean="0">
                <a:latin typeface="Helvetica" pitchFamily="34" charset="0"/>
              </a:rPr>
              <a:t>What is the difference between goals, strategies and tactics?</a:t>
            </a:r>
          </a:p>
          <a:p>
            <a:pPr>
              <a:spcBef>
                <a:spcPts val="600"/>
              </a:spcBef>
              <a:spcAft>
                <a:spcPts val="1200"/>
              </a:spcAft>
            </a:pPr>
            <a:r>
              <a:rPr lang="en-AU" sz="2200" dirty="0" smtClean="0">
                <a:latin typeface="Helvetica" pitchFamily="34" charset="0"/>
              </a:rPr>
              <a:t>What does SMART mean when                                         setting goals?</a:t>
            </a:r>
          </a:p>
          <a:p>
            <a:pPr>
              <a:spcBef>
                <a:spcPts val="600"/>
              </a:spcBef>
              <a:spcAft>
                <a:spcPts val="1200"/>
              </a:spcAft>
            </a:pPr>
            <a:r>
              <a:rPr lang="en-AU" sz="2200" dirty="0" smtClean="0">
                <a:latin typeface="Helvetica" pitchFamily="34" charset="0"/>
              </a:rPr>
              <a:t>How do you communicate plans and </a:t>
            </a:r>
            <a:br>
              <a:rPr lang="en-AU" sz="2200" dirty="0" smtClean="0">
                <a:latin typeface="Helvetica" pitchFamily="34" charset="0"/>
              </a:rPr>
            </a:br>
            <a:r>
              <a:rPr lang="en-AU" sz="2200" dirty="0" smtClean="0">
                <a:latin typeface="Helvetica" pitchFamily="34" charset="0"/>
              </a:rPr>
              <a:t>goals with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j0409601.jpg"/>
          <p:cNvPicPr>
            <a:picLocks noChangeAspect="1"/>
          </p:cNvPicPr>
          <p:nvPr/>
        </p:nvPicPr>
        <p:blipFill>
          <a:blip r:embed="rId3" cstate="print"/>
          <a:stretch>
            <a:fillRect/>
          </a:stretch>
        </p:blipFill>
        <p:spPr>
          <a:xfrm>
            <a:off x="6551550" y="4191000"/>
            <a:ext cx="1982850" cy="1322933"/>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Setting plans and goals</a:t>
            </a:r>
          </a:p>
        </p:txBody>
      </p:sp>
      <p:sp>
        <p:nvSpPr>
          <p:cNvPr id="3" name="Content Placeholder 2"/>
          <p:cNvSpPr>
            <a:spLocks noGrp="1"/>
          </p:cNvSpPr>
          <p:nvPr>
            <p:ph idx="1"/>
          </p:nvPr>
        </p:nvSpPr>
        <p:spPr>
          <a:xfrm>
            <a:off x="611560" y="1295400"/>
            <a:ext cx="7467600" cy="5181600"/>
          </a:xfrm>
        </p:spPr>
        <p:txBody>
          <a:bodyPr>
            <a:normAutofit/>
          </a:bodyPr>
          <a:lstStyle/>
          <a:p>
            <a:pPr>
              <a:spcBef>
                <a:spcPts val="600"/>
              </a:spcBef>
              <a:spcAft>
                <a:spcPts val="1200"/>
              </a:spcAft>
              <a:buNone/>
            </a:pPr>
            <a:r>
              <a:rPr lang="en-AU" sz="2200" b="1" dirty="0" smtClean="0">
                <a:latin typeface="Helvetica" pitchFamily="34" charset="0"/>
              </a:rPr>
              <a:t>Format </a:t>
            </a:r>
            <a:r>
              <a:rPr lang="en-AU" sz="2200" b="1" dirty="0" smtClean="0">
                <a:latin typeface="Helvetica" pitchFamily="34" charset="0"/>
              </a:rPr>
              <a:t>of plans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Detail of the action to be taken </a:t>
            </a:r>
          </a:p>
          <a:p>
            <a:pPr>
              <a:spcBef>
                <a:spcPts val="600"/>
              </a:spcBef>
              <a:spcAft>
                <a:spcPts val="1200"/>
              </a:spcAft>
            </a:pPr>
            <a:r>
              <a:rPr lang="en-AU" sz="2200" dirty="0" smtClean="0">
                <a:latin typeface="Helvetica" pitchFamily="34" charset="0"/>
              </a:rPr>
              <a:t>Resources available </a:t>
            </a:r>
          </a:p>
          <a:p>
            <a:pPr>
              <a:spcBef>
                <a:spcPts val="600"/>
              </a:spcBef>
              <a:spcAft>
                <a:spcPts val="1200"/>
              </a:spcAft>
            </a:pPr>
            <a:r>
              <a:rPr lang="en-AU" sz="2200" dirty="0" smtClean="0">
                <a:latin typeface="Helvetica" pitchFamily="34" charset="0"/>
              </a:rPr>
              <a:t>Allocation of work </a:t>
            </a:r>
          </a:p>
          <a:p>
            <a:pPr>
              <a:spcBef>
                <a:spcPts val="600"/>
              </a:spcBef>
              <a:spcAft>
                <a:spcPts val="1200"/>
              </a:spcAft>
            </a:pPr>
            <a:r>
              <a:rPr lang="en-AU" sz="2200" dirty="0" smtClean="0">
                <a:latin typeface="Helvetica" pitchFamily="34" charset="0"/>
              </a:rPr>
              <a:t>Timelines that apply </a:t>
            </a:r>
          </a:p>
          <a:p>
            <a:pPr>
              <a:spcBef>
                <a:spcPts val="600"/>
              </a:spcBef>
              <a:spcAft>
                <a:spcPts val="1200"/>
              </a:spcAft>
            </a:pPr>
            <a:r>
              <a:rPr lang="en-AU" sz="2200" dirty="0" smtClean="0">
                <a:latin typeface="Helvetica" pitchFamily="34" charset="0"/>
              </a:rPr>
              <a:t>KPIs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j0438585.jpg"/>
          <p:cNvPicPr>
            <a:picLocks noChangeAspect="1"/>
          </p:cNvPicPr>
          <p:nvPr/>
        </p:nvPicPr>
        <p:blipFill>
          <a:blip r:embed="rId3" cstate="print"/>
          <a:stretch>
            <a:fillRect/>
          </a:stretch>
        </p:blipFill>
        <p:spPr>
          <a:xfrm>
            <a:off x="6432402" y="4038600"/>
            <a:ext cx="2025798" cy="1344744"/>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Guidance and support</a:t>
            </a:r>
          </a:p>
        </p:txBody>
      </p:sp>
      <p:sp>
        <p:nvSpPr>
          <p:cNvPr id="3" name="Content Placeholder 2"/>
          <p:cNvSpPr>
            <a:spLocks noGrp="1"/>
          </p:cNvSpPr>
          <p:nvPr>
            <p:ph idx="1"/>
          </p:nvPr>
        </p:nvSpPr>
        <p:spPr>
          <a:xfrm>
            <a:off x="611560" y="1219200"/>
            <a:ext cx="7541840" cy="5410200"/>
          </a:xfrm>
        </p:spPr>
        <p:txBody>
          <a:bodyPr>
            <a:normAutofit/>
          </a:bodyPr>
          <a:lstStyle/>
          <a:p>
            <a:pPr marL="0">
              <a:spcBef>
                <a:spcPts val="600"/>
              </a:spcBef>
              <a:spcAft>
                <a:spcPts val="1200"/>
              </a:spcAft>
              <a:buNone/>
            </a:pPr>
            <a:r>
              <a:rPr lang="en-AU" sz="2200" dirty="0" smtClean="0">
                <a:latin typeface="Helvetica" pitchFamily="34" charset="0"/>
              </a:rPr>
              <a:t>Managers need to guide and support staff in relation to their performance.</a:t>
            </a:r>
          </a:p>
          <a:p>
            <a:pPr>
              <a:spcBef>
                <a:spcPts val="600"/>
              </a:spcBef>
              <a:spcAft>
                <a:spcPts val="1200"/>
              </a:spcAft>
              <a:buNone/>
            </a:pPr>
            <a:r>
              <a:rPr lang="en-AU" sz="2200" dirty="0" smtClean="0">
                <a:latin typeface="Helvetica" pitchFamily="34" charset="0"/>
              </a:rPr>
              <a:t>For guidance and support to be effective it needs to be: </a:t>
            </a:r>
          </a:p>
          <a:p>
            <a:pPr lvl="0">
              <a:spcBef>
                <a:spcPts val="600"/>
              </a:spcBef>
              <a:spcAft>
                <a:spcPts val="1200"/>
              </a:spcAft>
            </a:pPr>
            <a:r>
              <a:rPr lang="en-AU" sz="2200" dirty="0" smtClean="0">
                <a:latin typeface="Helvetica" pitchFamily="34" charset="0"/>
              </a:rPr>
              <a:t>Be seen as a positive experience</a:t>
            </a:r>
          </a:p>
          <a:p>
            <a:pPr lvl="0">
              <a:spcBef>
                <a:spcPts val="600"/>
              </a:spcBef>
              <a:spcAft>
                <a:spcPts val="1200"/>
              </a:spcAft>
            </a:pPr>
            <a:r>
              <a:rPr lang="en-AU" sz="2200" dirty="0" smtClean="0">
                <a:latin typeface="Helvetica" pitchFamily="34" charset="0"/>
              </a:rPr>
              <a:t>Provided when needed in a timely manner </a:t>
            </a:r>
          </a:p>
          <a:p>
            <a:pPr lvl="0">
              <a:spcBef>
                <a:spcPts val="600"/>
              </a:spcBef>
              <a:spcAft>
                <a:spcPts val="1200"/>
              </a:spcAft>
            </a:pPr>
            <a:r>
              <a:rPr lang="en-AU" sz="2200" dirty="0" smtClean="0">
                <a:latin typeface="Helvetica" pitchFamily="34" charset="0"/>
              </a:rPr>
              <a:t>Tailor-made to suit the needs of the individual </a:t>
            </a:r>
          </a:p>
          <a:p>
            <a:pPr lvl="0">
              <a:spcBef>
                <a:spcPts val="600"/>
              </a:spcBef>
              <a:spcAft>
                <a:spcPts val="1200"/>
              </a:spcAft>
            </a:pPr>
            <a:r>
              <a:rPr lang="en-AU" sz="2200" dirty="0" smtClean="0">
                <a:latin typeface="Helvetica" pitchFamily="34" charset="0"/>
              </a:rPr>
              <a:t>Provided willingly </a:t>
            </a:r>
          </a:p>
          <a:p>
            <a:pPr lvl="0">
              <a:spcBef>
                <a:spcPts val="600"/>
              </a:spcBef>
              <a:spcAft>
                <a:spcPts val="1200"/>
              </a:spcAft>
            </a:pPr>
            <a:r>
              <a:rPr lang="en-AU" sz="2200" dirty="0" smtClean="0">
                <a:latin typeface="Helvetica" pitchFamily="34" charset="0"/>
              </a:rPr>
              <a:t>Aligned with promises made about </a:t>
            </a:r>
            <a:br>
              <a:rPr lang="en-AU" sz="2200" dirty="0" smtClean="0">
                <a:latin typeface="Helvetica" pitchFamily="34" charset="0"/>
              </a:rPr>
            </a:br>
            <a:r>
              <a:rPr lang="en-AU" sz="2200" dirty="0" smtClean="0">
                <a:latin typeface="Helvetica" pitchFamily="34" charset="0"/>
              </a:rPr>
              <a:t>support and guidance</a:t>
            </a:r>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7" name="Picture 6" descr="MP900289901.JPG"/>
          <p:cNvPicPr/>
          <p:nvPr/>
        </p:nvPicPr>
        <p:blipFill>
          <a:blip r:embed="rId3" cstate="print"/>
          <a:stretch>
            <a:fillRect/>
          </a:stretch>
        </p:blipFill>
        <p:spPr>
          <a:xfrm>
            <a:off x="6553200" y="4333875"/>
            <a:ext cx="1838325" cy="1228725"/>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86544"/>
          </a:xfrm>
        </p:spPr>
        <p:txBody>
          <a:bodyPr>
            <a:normAutofit/>
          </a:bodyPr>
          <a:lstStyle/>
          <a:p>
            <a:pPr marL="0"/>
            <a:r>
              <a:rPr lang="en-AU" sz="3200" b="1" dirty="0" smtClean="0">
                <a:solidFill>
                  <a:srgbClr val="FF6600"/>
                </a:solidFill>
                <a:latin typeface="Helvetica" pitchFamily="34" charset="0"/>
              </a:rPr>
              <a:t>Guidance and support</a:t>
            </a:r>
          </a:p>
        </p:txBody>
      </p:sp>
      <p:sp>
        <p:nvSpPr>
          <p:cNvPr id="3" name="Content Placeholder 2"/>
          <p:cNvSpPr>
            <a:spLocks noGrp="1"/>
          </p:cNvSpPr>
          <p:nvPr>
            <p:ph idx="1"/>
          </p:nvPr>
        </p:nvSpPr>
        <p:spPr>
          <a:xfrm>
            <a:off x="611560" y="1219200"/>
            <a:ext cx="7541840" cy="5410200"/>
          </a:xfrm>
        </p:spPr>
        <p:txBody>
          <a:bodyPr>
            <a:normAutofit/>
          </a:bodyPr>
          <a:lstStyle/>
          <a:p>
            <a:pPr>
              <a:spcBef>
                <a:spcPts val="600"/>
              </a:spcBef>
              <a:spcAft>
                <a:spcPts val="1200"/>
              </a:spcAft>
              <a:buNone/>
            </a:pPr>
            <a:r>
              <a:rPr lang="en-AU" sz="2200" b="1" dirty="0" smtClean="0">
                <a:latin typeface="Helvetica" pitchFamily="34" charset="0"/>
              </a:rPr>
              <a:t>Examples of guidance and support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Provision of top-up training </a:t>
            </a:r>
          </a:p>
          <a:p>
            <a:pPr lvl="0">
              <a:spcBef>
                <a:spcPts val="600"/>
              </a:spcBef>
              <a:spcAft>
                <a:spcPts val="1200"/>
              </a:spcAft>
            </a:pPr>
            <a:r>
              <a:rPr lang="en-AU" sz="2200" dirty="0" smtClean="0">
                <a:latin typeface="Helvetica" pitchFamily="34" charset="0"/>
              </a:rPr>
              <a:t>Provision of demonstrations to show what is required </a:t>
            </a:r>
          </a:p>
          <a:p>
            <a:pPr lvl="0">
              <a:spcBef>
                <a:spcPts val="600"/>
              </a:spcBef>
              <a:spcAft>
                <a:spcPts val="1200"/>
              </a:spcAft>
            </a:pPr>
            <a:r>
              <a:rPr lang="en-AU" sz="2200" dirty="0" smtClean="0">
                <a:latin typeface="Helvetica" pitchFamily="34" charset="0"/>
              </a:rPr>
              <a:t>Advice on training and development opportunities which exist</a:t>
            </a:r>
          </a:p>
          <a:p>
            <a:pPr lvl="0">
              <a:spcBef>
                <a:spcPts val="600"/>
              </a:spcBef>
              <a:spcAft>
                <a:spcPts val="1200"/>
              </a:spcAft>
            </a:pPr>
            <a:r>
              <a:rPr lang="en-AU" sz="2200" dirty="0" smtClean="0">
                <a:latin typeface="Helvetica" pitchFamily="34" charset="0"/>
              </a:rPr>
              <a:t>Support with difficult interpersonal/personal </a:t>
            </a:r>
            <a:br>
              <a:rPr lang="en-AU" sz="2200" dirty="0" smtClean="0">
                <a:latin typeface="Helvetica" pitchFamily="34" charset="0"/>
              </a:rPr>
            </a:br>
            <a:r>
              <a:rPr lang="en-AU" sz="2200" dirty="0" smtClean="0">
                <a:latin typeface="Helvetica" pitchFamily="34" charset="0"/>
              </a:rPr>
              <a:t>situations</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5" descr="00409605.jpg"/>
          <p:cNvPicPr>
            <a:picLocks noChangeAspect="1"/>
          </p:cNvPicPr>
          <p:nvPr/>
        </p:nvPicPr>
        <p:blipFill>
          <a:blip r:embed="rId3" cstate="print"/>
          <a:stretch>
            <a:fillRect/>
          </a:stretch>
        </p:blipFill>
        <p:spPr>
          <a:xfrm>
            <a:off x="7179688" y="3581400"/>
            <a:ext cx="1278512" cy="1916832"/>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Guidance and support</a:t>
            </a:r>
          </a:p>
        </p:txBody>
      </p:sp>
      <p:sp>
        <p:nvSpPr>
          <p:cNvPr id="3" name="Content Placeholder 2"/>
          <p:cNvSpPr>
            <a:spLocks noGrp="1"/>
          </p:cNvSpPr>
          <p:nvPr>
            <p:ph idx="1"/>
          </p:nvPr>
        </p:nvSpPr>
        <p:spPr>
          <a:xfrm>
            <a:off x="611560" y="1219200"/>
            <a:ext cx="7618040" cy="5257800"/>
          </a:xfrm>
        </p:spPr>
        <p:txBody>
          <a:bodyPr>
            <a:normAutofit/>
          </a:bodyPr>
          <a:lstStyle/>
          <a:p>
            <a:pPr>
              <a:spcBef>
                <a:spcPts val="600"/>
              </a:spcBef>
              <a:spcAft>
                <a:spcPts val="1200"/>
              </a:spcAft>
              <a:buNone/>
            </a:pPr>
            <a:r>
              <a:rPr lang="en-AU" sz="2200" b="1" dirty="0" smtClean="0">
                <a:latin typeface="Helvetica" pitchFamily="34" charset="0"/>
              </a:rPr>
              <a:t>Examples of guidance and support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Provision of opportunities to discuss work challenges</a:t>
            </a:r>
          </a:p>
          <a:p>
            <a:pPr lvl="0">
              <a:spcBef>
                <a:spcPts val="600"/>
              </a:spcBef>
              <a:spcAft>
                <a:spcPts val="1200"/>
              </a:spcAft>
            </a:pPr>
            <a:r>
              <a:rPr lang="en-AU" sz="2200" dirty="0" smtClean="0">
                <a:latin typeface="Helvetica" pitchFamily="34" charset="0"/>
              </a:rPr>
              <a:t>Provision on confirmation of organisational objectives and key performance objectives</a:t>
            </a:r>
          </a:p>
          <a:p>
            <a:pPr lvl="0">
              <a:spcBef>
                <a:spcPts val="600"/>
              </a:spcBef>
              <a:spcAft>
                <a:spcPts val="1200"/>
              </a:spcAft>
            </a:pPr>
            <a:r>
              <a:rPr lang="en-AU" sz="2200" dirty="0" smtClean="0">
                <a:latin typeface="Helvetica" pitchFamily="34" charset="0"/>
              </a:rPr>
              <a:t>Ensuring adequate resources are applied to identify staff performance needs</a:t>
            </a:r>
          </a:p>
          <a:p>
            <a:pPr lvl="0">
              <a:spcBef>
                <a:spcPts val="600"/>
              </a:spcBef>
              <a:spcAft>
                <a:spcPts val="1200"/>
              </a:spcAft>
            </a:pPr>
            <a:r>
              <a:rPr lang="en-AU" sz="2200" dirty="0" smtClean="0">
                <a:latin typeface="Helvetica" pitchFamily="34" charset="0"/>
              </a:rPr>
              <a:t>Representation of staff interests in other </a:t>
            </a:r>
            <a:br>
              <a:rPr lang="en-AU" sz="2200" dirty="0" smtClean="0">
                <a:latin typeface="Helvetica" pitchFamily="34" charset="0"/>
              </a:rPr>
            </a:br>
            <a:r>
              <a:rPr lang="en-AU" sz="2200" dirty="0" smtClean="0">
                <a:latin typeface="Helvetica" pitchFamily="34" charset="0"/>
              </a:rPr>
              <a:t>forums</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MP900439502[1].JPG"/>
          <p:cNvPicPr>
            <a:picLocks noChangeAspect="1"/>
          </p:cNvPicPr>
          <p:nvPr/>
        </p:nvPicPr>
        <p:blipFill>
          <a:blip r:embed="rId3" cstate="print"/>
          <a:stretch>
            <a:fillRect/>
          </a:stretch>
        </p:blipFill>
        <p:spPr>
          <a:xfrm>
            <a:off x="6400800" y="4191000"/>
            <a:ext cx="2010568" cy="1338464"/>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Recognition and rewards</a:t>
            </a:r>
          </a:p>
        </p:txBody>
      </p:sp>
      <p:sp>
        <p:nvSpPr>
          <p:cNvPr id="3" name="Content Placeholder 2"/>
          <p:cNvSpPr>
            <a:spLocks noGrp="1"/>
          </p:cNvSpPr>
          <p:nvPr>
            <p:ph idx="1"/>
          </p:nvPr>
        </p:nvSpPr>
        <p:spPr>
          <a:xfrm>
            <a:off x="611560" y="1219200"/>
            <a:ext cx="7465640" cy="4968552"/>
          </a:xfrm>
        </p:spPr>
        <p:txBody>
          <a:bodyPr>
            <a:normAutofit/>
          </a:bodyPr>
          <a:lstStyle/>
          <a:p>
            <a:pPr lvl="0">
              <a:spcBef>
                <a:spcPts val="600"/>
              </a:spcBef>
              <a:spcAft>
                <a:spcPts val="1200"/>
              </a:spcAft>
              <a:buNone/>
            </a:pPr>
            <a:r>
              <a:rPr lang="en-AU" sz="2200" b="1" dirty="0" smtClean="0">
                <a:latin typeface="Helvetica" pitchFamily="34" charset="0"/>
              </a:rPr>
              <a:t>Considerations</a:t>
            </a:r>
          </a:p>
          <a:p>
            <a:pPr lvl="0">
              <a:spcBef>
                <a:spcPts val="600"/>
              </a:spcBef>
              <a:spcAft>
                <a:spcPts val="1200"/>
              </a:spcAft>
            </a:pPr>
            <a:r>
              <a:rPr lang="en-AU" sz="2200" dirty="0" smtClean="0">
                <a:latin typeface="Helvetica" pitchFamily="34" charset="0"/>
              </a:rPr>
              <a:t>Who is entitled to rewards</a:t>
            </a:r>
          </a:p>
          <a:p>
            <a:pPr lvl="0">
              <a:spcBef>
                <a:spcPts val="600"/>
              </a:spcBef>
              <a:spcAft>
                <a:spcPts val="1200"/>
              </a:spcAft>
            </a:pPr>
            <a:r>
              <a:rPr lang="en-AU" sz="2200" dirty="0" smtClean="0">
                <a:latin typeface="Helvetica" pitchFamily="34" charset="0"/>
              </a:rPr>
              <a:t>The type of reward </a:t>
            </a:r>
          </a:p>
          <a:p>
            <a:pPr lvl="0">
              <a:spcBef>
                <a:spcPts val="600"/>
              </a:spcBef>
              <a:spcAft>
                <a:spcPts val="1200"/>
              </a:spcAft>
            </a:pPr>
            <a:r>
              <a:rPr lang="en-AU" sz="2200" dirty="0" smtClean="0">
                <a:latin typeface="Helvetica" pitchFamily="34" charset="0"/>
              </a:rPr>
              <a:t>The size of the reward </a:t>
            </a:r>
          </a:p>
          <a:p>
            <a:pPr lvl="0">
              <a:spcBef>
                <a:spcPts val="600"/>
              </a:spcBef>
              <a:spcAft>
                <a:spcPts val="1200"/>
              </a:spcAft>
            </a:pPr>
            <a:r>
              <a:rPr lang="en-AU" sz="2200" dirty="0" smtClean="0">
                <a:latin typeface="Helvetica" pitchFamily="34" charset="0"/>
              </a:rPr>
              <a:t>Authorisations that have to be obtained </a:t>
            </a:r>
            <a:br>
              <a:rPr lang="en-AU" sz="2200" dirty="0" smtClean="0">
                <a:latin typeface="Helvetica" pitchFamily="34" charset="0"/>
              </a:rPr>
            </a:br>
            <a:r>
              <a:rPr lang="en-AU" sz="2200" dirty="0" smtClean="0">
                <a:latin typeface="Helvetica" pitchFamily="34" charset="0"/>
              </a:rPr>
              <a:t>before the reward can be given </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MP900443351[1].JPG"/>
          <p:cNvPicPr>
            <a:picLocks noChangeAspect="1"/>
          </p:cNvPicPr>
          <p:nvPr/>
        </p:nvPicPr>
        <p:blipFill>
          <a:blip r:embed="rId3" cstate="print"/>
          <a:stretch>
            <a:fillRect/>
          </a:stretch>
        </p:blipFill>
        <p:spPr>
          <a:xfrm>
            <a:off x="6705600" y="3657600"/>
            <a:ext cx="1731264" cy="1731264"/>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734144"/>
          </a:xfrm>
        </p:spPr>
        <p:txBody>
          <a:bodyPr>
            <a:normAutofit/>
          </a:bodyPr>
          <a:lstStyle/>
          <a:p>
            <a:pPr marL="0"/>
            <a:r>
              <a:rPr lang="en-AU" sz="3200" b="1" dirty="0" smtClean="0">
                <a:solidFill>
                  <a:srgbClr val="FF6600"/>
                </a:solidFill>
                <a:latin typeface="Helvetica" pitchFamily="34" charset="0"/>
              </a:rPr>
              <a:t>Recognition and rewards</a:t>
            </a:r>
          </a:p>
        </p:txBody>
      </p:sp>
      <p:sp>
        <p:nvSpPr>
          <p:cNvPr id="3" name="Content Placeholder 2"/>
          <p:cNvSpPr>
            <a:spLocks noGrp="1"/>
          </p:cNvSpPr>
          <p:nvPr>
            <p:ph idx="1"/>
          </p:nvPr>
        </p:nvSpPr>
        <p:spPr>
          <a:xfrm>
            <a:off x="611560" y="1143000"/>
            <a:ext cx="7313240" cy="4968552"/>
          </a:xfrm>
        </p:spPr>
        <p:txBody>
          <a:bodyPr>
            <a:normAutofit/>
          </a:bodyPr>
          <a:lstStyle/>
          <a:p>
            <a:pPr lvl="0">
              <a:spcBef>
                <a:spcPts val="600"/>
              </a:spcBef>
              <a:spcAft>
                <a:spcPts val="1200"/>
              </a:spcAft>
              <a:buNone/>
            </a:pPr>
            <a:r>
              <a:rPr lang="en-AU" sz="2200" b="1" dirty="0" smtClean="0">
                <a:latin typeface="Helvetica" pitchFamily="34" charset="0"/>
              </a:rPr>
              <a:t>Considerations</a:t>
            </a:r>
          </a:p>
          <a:p>
            <a:pPr lvl="0">
              <a:spcBef>
                <a:spcPts val="600"/>
              </a:spcBef>
              <a:spcAft>
                <a:spcPts val="1200"/>
              </a:spcAft>
            </a:pPr>
            <a:r>
              <a:rPr lang="en-AU" sz="2200" dirty="0" smtClean="0">
                <a:latin typeface="Helvetica" pitchFamily="34" charset="0"/>
              </a:rPr>
              <a:t>Limitation to rewards </a:t>
            </a:r>
          </a:p>
          <a:p>
            <a:pPr lvl="0">
              <a:spcBef>
                <a:spcPts val="600"/>
              </a:spcBef>
              <a:spcAft>
                <a:spcPts val="1200"/>
              </a:spcAft>
            </a:pPr>
            <a:r>
              <a:rPr lang="en-AU" sz="2200" dirty="0" smtClean="0">
                <a:latin typeface="Helvetica" pitchFamily="34" charset="0"/>
              </a:rPr>
              <a:t>Time-frames that may apply to the application of rewards </a:t>
            </a:r>
          </a:p>
          <a:p>
            <a:pPr lvl="0">
              <a:spcBef>
                <a:spcPts val="600"/>
              </a:spcBef>
              <a:spcAft>
                <a:spcPts val="1200"/>
              </a:spcAft>
            </a:pPr>
            <a:r>
              <a:rPr lang="en-AU" sz="2200" dirty="0" smtClean="0">
                <a:latin typeface="Helvetica" pitchFamily="34" charset="0"/>
              </a:rPr>
              <a:t>Documentation which needs to be completed when issuing a reward</a:t>
            </a:r>
          </a:p>
          <a:p>
            <a:pPr lvl="0">
              <a:spcBef>
                <a:spcPts val="600"/>
              </a:spcBef>
              <a:spcAft>
                <a:spcPts val="1200"/>
              </a:spcAft>
            </a:pPr>
            <a:r>
              <a:rPr lang="en-AU" sz="2200" dirty="0" smtClean="0">
                <a:latin typeface="Helvetica" pitchFamily="34" charset="0"/>
              </a:rPr>
              <a:t>Proof needed to support the </a:t>
            </a:r>
            <a:br>
              <a:rPr lang="en-AU" sz="2200" dirty="0" smtClean="0">
                <a:latin typeface="Helvetica" pitchFamily="34" charset="0"/>
              </a:rPr>
            </a:br>
            <a:r>
              <a:rPr lang="en-AU" sz="2200" dirty="0" smtClean="0">
                <a:latin typeface="Helvetica" pitchFamily="34" charset="0"/>
              </a:rPr>
              <a:t>granting of rewards</a:t>
            </a:r>
            <a:r>
              <a:rPr lang="en-AU" sz="2400" dirty="0" smtClean="0"/>
              <a:t> </a:t>
            </a:r>
          </a:p>
          <a:p>
            <a:endParaRPr lang="en-AU" sz="2400" dirty="0" smtClean="0"/>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7" name="Picture 6" descr="MP900448494[1].JPG"/>
          <p:cNvPicPr>
            <a:picLocks noChangeAspect="1"/>
          </p:cNvPicPr>
          <p:nvPr/>
        </p:nvPicPr>
        <p:blipFill>
          <a:blip r:embed="rId3" cstate="print"/>
          <a:stretch>
            <a:fillRect/>
          </a:stretch>
        </p:blipFill>
        <p:spPr>
          <a:xfrm>
            <a:off x="6248400" y="3962400"/>
            <a:ext cx="2176872" cy="145124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Recognition and rewards</a:t>
            </a:r>
          </a:p>
        </p:txBody>
      </p:sp>
      <p:sp>
        <p:nvSpPr>
          <p:cNvPr id="3" name="Content Placeholder 2"/>
          <p:cNvSpPr>
            <a:spLocks noGrp="1"/>
          </p:cNvSpPr>
          <p:nvPr>
            <p:ph idx="1"/>
          </p:nvPr>
        </p:nvSpPr>
        <p:spPr>
          <a:xfrm>
            <a:off x="611560" y="1219200"/>
            <a:ext cx="7389440" cy="4968552"/>
          </a:xfrm>
        </p:spPr>
        <p:txBody>
          <a:bodyPr>
            <a:normAutofit/>
          </a:bodyPr>
          <a:lstStyle/>
          <a:p>
            <a:pPr marL="0">
              <a:spcBef>
                <a:spcPts val="600"/>
              </a:spcBef>
              <a:spcAft>
                <a:spcPts val="1200"/>
              </a:spcAft>
              <a:buNone/>
            </a:pPr>
            <a:r>
              <a:rPr lang="en-AU" sz="2200" b="1" dirty="0" smtClean="0">
                <a:latin typeface="Helvetica" pitchFamily="34" charset="0"/>
              </a:rPr>
              <a:t>Determining rewards that matches motivational needs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determining which reward option to select for a particular staff member there are two important factors to take into account: </a:t>
            </a:r>
          </a:p>
          <a:p>
            <a:pPr>
              <a:spcBef>
                <a:spcPts val="600"/>
              </a:spcBef>
              <a:spcAft>
                <a:spcPts val="1200"/>
              </a:spcAft>
            </a:pPr>
            <a:r>
              <a:rPr lang="en-AU" sz="2200" dirty="0" smtClean="0">
                <a:latin typeface="Helvetica" pitchFamily="34" charset="0"/>
              </a:rPr>
              <a:t>Compliance with property policy and guidelines</a:t>
            </a:r>
          </a:p>
          <a:p>
            <a:pPr>
              <a:spcBef>
                <a:spcPts val="600"/>
              </a:spcBef>
              <a:spcAft>
                <a:spcPts val="1200"/>
              </a:spcAft>
            </a:pPr>
            <a:r>
              <a:rPr lang="en-AU" sz="2200" dirty="0" smtClean="0">
                <a:latin typeface="Helvetica" pitchFamily="34" charset="0"/>
              </a:rPr>
              <a:t>Matching the reward to the individual </a:t>
            </a:r>
            <a:br>
              <a:rPr lang="en-AU" sz="2200" dirty="0" smtClean="0">
                <a:latin typeface="Helvetica" pitchFamily="34" charset="0"/>
              </a:rPr>
            </a:br>
            <a:r>
              <a:rPr lang="en-AU" sz="2200" dirty="0" smtClean="0">
                <a:latin typeface="Helvetica" pitchFamily="34" charset="0"/>
              </a:rPr>
              <a:t>preferences of the staff member</a:t>
            </a:r>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00409223.jpg"/>
          <p:cNvPicPr/>
          <p:nvPr/>
        </p:nvPicPr>
        <p:blipFill>
          <a:blip r:embed="rId3" cstate="print"/>
          <a:stretch>
            <a:fillRect/>
          </a:stretch>
        </p:blipFill>
        <p:spPr>
          <a:xfrm>
            <a:off x="7239000" y="3429000"/>
            <a:ext cx="1178992" cy="1878310"/>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Recognition</a:t>
            </a:r>
            <a:r>
              <a:rPr lang="en-US" sz="3200" b="1" dirty="0" smtClean="0">
                <a:solidFill>
                  <a:srgbClr val="FF6600"/>
                </a:solidFill>
                <a:latin typeface="Helvetica" pitchFamily="34" charset="0"/>
              </a:rPr>
              <a:t> and reward options</a:t>
            </a:r>
          </a:p>
        </p:txBody>
      </p:sp>
      <p:sp>
        <p:nvSpPr>
          <p:cNvPr id="3" name="Content Placeholder 2"/>
          <p:cNvSpPr>
            <a:spLocks noGrp="1"/>
          </p:cNvSpPr>
          <p:nvPr>
            <p:ph idx="1"/>
          </p:nvPr>
        </p:nvSpPr>
        <p:spPr>
          <a:xfrm>
            <a:off x="611560" y="1219200"/>
            <a:ext cx="7389440" cy="5410200"/>
          </a:xfrm>
        </p:spPr>
        <p:txBody>
          <a:bodyPr>
            <a:normAutofit/>
          </a:bodyPr>
          <a:lstStyle/>
          <a:p>
            <a:pPr>
              <a:spcBef>
                <a:spcPts val="600"/>
              </a:spcBef>
              <a:spcAft>
                <a:spcPts val="1200"/>
              </a:spcAft>
              <a:buNone/>
            </a:pPr>
            <a:r>
              <a:rPr lang="en-AU" sz="2200" b="1" dirty="0" smtClean="0">
                <a:latin typeface="Helvetica" pitchFamily="34" charset="0"/>
              </a:rPr>
              <a:t>Types of recognition and rewards</a:t>
            </a:r>
          </a:p>
          <a:p>
            <a:pPr>
              <a:spcBef>
                <a:spcPts val="600"/>
              </a:spcBef>
              <a:spcAft>
                <a:spcPts val="1200"/>
              </a:spcAft>
            </a:pPr>
            <a:r>
              <a:rPr lang="en-AU" sz="2200" dirty="0" smtClean="0">
                <a:latin typeface="Helvetica" pitchFamily="34" charset="0"/>
              </a:rPr>
              <a:t>Verbal praise</a:t>
            </a:r>
          </a:p>
          <a:p>
            <a:pPr>
              <a:spcBef>
                <a:spcPts val="600"/>
              </a:spcBef>
              <a:spcAft>
                <a:spcPts val="1200"/>
              </a:spcAft>
            </a:pPr>
            <a:r>
              <a:rPr lang="en-AU" sz="2200" dirty="0" smtClean="0">
                <a:latin typeface="Helvetica" pitchFamily="34" charset="0"/>
              </a:rPr>
              <a:t>Certificates and letters </a:t>
            </a:r>
          </a:p>
          <a:p>
            <a:pPr>
              <a:spcBef>
                <a:spcPts val="600"/>
              </a:spcBef>
              <a:spcAft>
                <a:spcPts val="1200"/>
              </a:spcAft>
            </a:pPr>
            <a:r>
              <a:rPr lang="en-AU" sz="2200" dirty="0" smtClean="0">
                <a:latin typeface="Helvetica" pitchFamily="34" charset="0"/>
              </a:rPr>
              <a:t>Free products and services</a:t>
            </a:r>
          </a:p>
          <a:p>
            <a:pPr>
              <a:spcBef>
                <a:spcPts val="600"/>
              </a:spcBef>
              <a:spcAft>
                <a:spcPts val="1200"/>
              </a:spcAft>
            </a:pPr>
            <a:r>
              <a:rPr lang="en-AU" sz="2200" dirty="0" smtClean="0">
                <a:latin typeface="Helvetica" pitchFamily="34" charset="0"/>
              </a:rPr>
              <a:t>Promotions </a:t>
            </a:r>
          </a:p>
          <a:p>
            <a:pPr>
              <a:spcBef>
                <a:spcPts val="600"/>
              </a:spcBef>
              <a:spcAft>
                <a:spcPts val="1200"/>
              </a:spcAft>
            </a:pPr>
            <a:r>
              <a:rPr lang="en-AU" sz="2200" dirty="0" smtClean="0">
                <a:latin typeface="Helvetica" pitchFamily="34" charset="0"/>
              </a:rPr>
              <a:t>Time off </a:t>
            </a:r>
          </a:p>
          <a:p>
            <a:pPr>
              <a:spcBef>
                <a:spcPts val="600"/>
              </a:spcBef>
              <a:spcAft>
                <a:spcPts val="1200"/>
              </a:spcAft>
            </a:pPr>
            <a:r>
              <a:rPr lang="en-AU" sz="2200" dirty="0" smtClean="0">
                <a:latin typeface="Helvetica" pitchFamily="34" charset="0"/>
              </a:rPr>
              <a:t>Encouraging attendance at events</a:t>
            </a:r>
          </a:p>
          <a:p>
            <a:pPr>
              <a:spcBef>
                <a:spcPts val="600"/>
              </a:spcBef>
              <a:spcAft>
                <a:spcPts val="1200"/>
              </a:spcAft>
            </a:pPr>
            <a:r>
              <a:rPr lang="en-AU" sz="2200" dirty="0" smtClean="0">
                <a:latin typeface="Helvetica" pitchFamily="34" charset="0"/>
              </a:rPr>
              <a:t>Promoting industry nomination </a:t>
            </a:r>
          </a:p>
          <a:p>
            <a:pPr>
              <a:buNone/>
            </a:pPr>
            <a:endParaRPr lang="en-AU" sz="2400" b="1" dirty="0" smtClean="0">
              <a:latin typeface="Helvetica" pitchFamily="34" charset="0"/>
            </a:endParaRPr>
          </a:p>
          <a:p>
            <a:pPr>
              <a:buNone/>
            </a:pPr>
            <a:endParaRPr lang="en-AU" sz="2400" b="1" dirty="0" smtClean="0">
              <a:latin typeface="Helvetica" pitchFamily="34" charset="0"/>
            </a:endParaRPr>
          </a:p>
          <a:p>
            <a:pPr>
              <a:buNone/>
            </a:pPr>
            <a:endParaRPr lang="en-AU" sz="2400" b="1" dirty="0" smtClean="0">
              <a:latin typeface="Helvetica" pitchFamily="34" charset="0"/>
            </a:endParaRPr>
          </a:p>
          <a:p>
            <a:pPr>
              <a:buNone/>
            </a:pPr>
            <a:endParaRPr lang="en-AU" sz="2400" b="1" dirty="0" smtClean="0">
              <a:latin typeface="Helvetica" pitchFamily="34" charset="0"/>
            </a:endParaRPr>
          </a:p>
          <a:p>
            <a:pPr>
              <a:buNone/>
            </a:pPr>
            <a:endParaRPr lang="en-AU" sz="2400" b="1" dirty="0" smtClean="0"/>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7" name="Picture 6" descr="MP900411794[1].JPG"/>
          <p:cNvPicPr/>
          <p:nvPr/>
        </p:nvPicPr>
        <p:blipFill>
          <a:blip r:embed="rId3" cstate="print"/>
          <a:stretch>
            <a:fillRect/>
          </a:stretch>
        </p:blipFill>
        <p:spPr>
          <a:xfrm>
            <a:off x="6858000" y="3505200"/>
            <a:ext cx="1524000" cy="190500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i="1" dirty="0" smtClean="0">
                <a:solidFill>
                  <a:srgbClr val="FF6600"/>
                </a:solidFill>
                <a:latin typeface="Helvetica" pitchFamily="34" charset="0"/>
              </a:rPr>
              <a:t>Element 5:</a:t>
            </a:r>
          </a:p>
          <a:p>
            <a:pPr marL="0">
              <a:spcBef>
                <a:spcPts val="600"/>
              </a:spcBef>
              <a:spcAft>
                <a:spcPts val="1200"/>
              </a:spcAft>
              <a:buNone/>
            </a:pPr>
            <a:r>
              <a:rPr lang="en-AU" sz="4000" b="1" i="1" dirty="0" smtClean="0">
                <a:solidFill>
                  <a:srgbClr val="FF6600"/>
                </a:solidFill>
                <a:latin typeface="Helvetica" pitchFamily="34" charset="0"/>
              </a:rPr>
              <a:t>Develop human resource performance</a:t>
            </a:r>
          </a:p>
          <a:p>
            <a:pPr lvl="0">
              <a:spcBef>
                <a:spcPts val="600"/>
              </a:spcBef>
              <a:spcAft>
                <a:spcPts val="1200"/>
              </a:spcAft>
            </a:pPr>
            <a:endParaRPr lang="en-AU" sz="4000" b="1" i="1" dirty="0" smtClean="0">
              <a:latin typeface="Helvetica" pitchFamily="34" charset="0"/>
            </a:endParaRPr>
          </a:p>
          <a:p>
            <a:pPr marL="0">
              <a:spcBef>
                <a:spcPts val="600"/>
              </a:spcBef>
              <a:spcAft>
                <a:spcPts val="1200"/>
              </a:spcAft>
              <a:buNone/>
            </a:pPr>
            <a:endParaRPr lang="en-AU" sz="4000" b="1"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descr="MP900431755[1].JPG"/>
          <p:cNvPicPr>
            <a:picLocks noChangeAspect="1"/>
          </p:cNvPicPr>
          <p:nvPr/>
        </p:nvPicPr>
        <p:blipFill>
          <a:blip r:embed="rId3" cstate="print"/>
          <a:stretch>
            <a:fillRect/>
          </a:stretch>
        </p:blipFill>
        <p:spPr>
          <a:xfrm>
            <a:off x="5925534" y="3733800"/>
            <a:ext cx="2532666" cy="1687785"/>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865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human resource performance</a:t>
            </a:r>
          </a:p>
        </p:txBody>
      </p:sp>
      <p:sp>
        <p:nvSpPr>
          <p:cNvPr id="3" name="Content Placeholder 2"/>
          <p:cNvSpPr>
            <a:spLocks noGrp="1"/>
          </p:cNvSpPr>
          <p:nvPr>
            <p:ph idx="1"/>
          </p:nvPr>
        </p:nvSpPr>
        <p:spPr>
          <a:xfrm>
            <a:off x="611560" y="1295400"/>
            <a:ext cx="7467600" cy="5410200"/>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Develop staff appraisal system</a:t>
            </a:r>
          </a:p>
          <a:p>
            <a:pPr>
              <a:spcBef>
                <a:spcPts val="600"/>
              </a:spcBef>
              <a:spcAft>
                <a:spcPts val="1200"/>
              </a:spcAft>
            </a:pPr>
            <a:r>
              <a:rPr lang="en-AU" sz="2200" dirty="0" smtClean="0">
                <a:latin typeface="Helvetica" pitchFamily="34" charset="0"/>
              </a:rPr>
              <a:t>Notify staff in regard to implementation of internal staff appraisals</a:t>
            </a:r>
          </a:p>
          <a:p>
            <a:pPr>
              <a:spcBef>
                <a:spcPts val="600"/>
              </a:spcBef>
              <a:spcAft>
                <a:spcPts val="1200"/>
              </a:spcAft>
            </a:pPr>
            <a:r>
              <a:rPr lang="en-AU" sz="2200" dirty="0" smtClean="0">
                <a:latin typeface="Helvetica" pitchFamily="34" charset="0"/>
              </a:rPr>
              <a:t>Implement staff appraisals in-line with established protocols</a:t>
            </a:r>
          </a:p>
          <a:p>
            <a:pPr>
              <a:spcBef>
                <a:spcPts val="600"/>
              </a:spcBef>
              <a:spcAft>
                <a:spcPts val="1200"/>
              </a:spcAft>
            </a:pPr>
            <a:r>
              <a:rPr lang="en-AU" sz="2200" dirty="0" smtClean="0">
                <a:latin typeface="Helvetica" pitchFamily="34" charset="0"/>
              </a:rPr>
              <a:t>Support staff as a result of staff appraisals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descr="00402960.jpg"/>
          <p:cNvPicPr>
            <a:picLocks noChangeAspect="1"/>
          </p:cNvPicPr>
          <p:nvPr/>
        </p:nvPicPr>
        <p:blipFill>
          <a:blip r:embed="rId3" cstate="print"/>
          <a:stretch>
            <a:fillRect/>
          </a:stretch>
        </p:blipFill>
        <p:spPr>
          <a:xfrm>
            <a:off x="6660840" y="4211960"/>
            <a:ext cx="1797360" cy="1198240"/>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Performance appraisals</a:t>
            </a:r>
          </a:p>
        </p:txBody>
      </p:sp>
      <p:sp>
        <p:nvSpPr>
          <p:cNvPr id="3" name="Content Placeholder 2"/>
          <p:cNvSpPr>
            <a:spLocks noGrp="1"/>
          </p:cNvSpPr>
          <p:nvPr>
            <p:ph idx="1"/>
          </p:nvPr>
        </p:nvSpPr>
        <p:spPr>
          <a:xfrm>
            <a:off x="611560" y="1219200"/>
            <a:ext cx="7237040" cy="4968552"/>
          </a:xfrm>
        </p:spPr>
        <p:txBody>
          <a:bodyPr>
            <a:normAutofit/>
          </a:bodyPr>
          <a:lstStyle/>
          <a:p>
            <a:pPr>
              <a:spcBef>
                <a:spcPts val="600"/>
              </a:spcBef>
              <a:spcAft>
                <a:spcPts val="1200"/>
              </a:spcAft>
              <a:buNone/>
            </a:pPr>
            <a:r>
              <a:rPr lang="en-AU" sz="2200" b="1" dirty="0" smtClean="0">
                <a:latin typeface="Helvetica" pitchFamily="34" charset="0"/>
              </a:rPr>
              <a:t>Performance assessment</a:t>
            </a:r>
          </a:p>
          <a:p>
            <a:pPr>
              <a:spcBef>
                <a:spcPts val="600"/>
              </a:spcBef>
              <a:spcAft>
                <a:spcPts val="1200"/>
              </a:spcAft>
            </a:pPr>
            <a:r>
              <a:rPr lang="en-AU" sz="2200" u="sng" dirty="0" smtClean="0">
                <a:latin typeface="Helvetica" pitchFamily="34" charset="0"/>
              </a:rPr>
              <a:t>Assessing</a:t>
            </a:r>
            <a:r>
              <a:rPr lang="en-AU" sz="2200" dirty="0" smtClean="0">
                <a:latin typeface="Helvetica" pitchFamily="34" charset="0"/>
              </a:rPr>
              <a:t> a person’s performance based on a range of performance indicators</a:t>
            </a:r>
          </a:p>
          <a:p>
            <a:pPr>
              <a:spcBef>
                <a:spcPts val="600"/>
              </a:spcBef>
              <a:spcAft>
                <a:spcPts val="1200"/>
              </a:spcAft>
            </a:pPr>
            <a:r>
              <a:rPr lang="en-AU" sz="2200" dirty="0" smtClean="0">
                <a:latin typeface="Helvetica" pitchFamily="34" charset="0"/>
              </a:rPr>
              <a:t>It has looked at WHAT the person is actually doing</a:t>
            </a:r>
          </a:p>
          <a:p>
            <a:pPr>
              <a:spcBef>
                <a:spcPts val="600"/>
              </a:spcBef>
              <a:spcAft>
                <a:spcPts val="1200"/>
              </a:spcAft>
              <a:buNone/>
            </a:pPr>
            <a:r>
              <a:rPr lang="en-AU" sz="2200" b="1" dirty="0" smtClean="0">
                <a:latin typeface="Helvetica" pitchFamily="34" charset="0"/>
              </a:rPr>
              <a:t>Performance appraisal</a:t>
            </a:r>
          </a:p>
          <a:p>
            <a:r>
              <a:rPr lang="en-AU" sz="2200" dirty="0" smtClean="0">
                <a:latin typeface="Helvetica" pitchFamily="34" charset="0"/>
              </a:rPr>
              <a:t>Performance appraisal is the process of </a:t>
            </a:r>
            <a:br>
              <a:rPr lang="en-AU" sz="2200" dirty="0" smtClean="0">
                <a:latin typeface="Helvetica" pitchFamily="34" charset="0"/>
              </a:rPr>
            </a:br>
            <a:r>
              <a:rPr lang="en-AU" sz="2200" u="sng" dirty="0" smtClean="0">
                <a:latin typeface="Helvetica" pitchFamily="34" charset="0"/>
              </a:rPr>
              <a:t>evaluating</a:t>
            </a:r>
            <a:r>
              <a:rPr lang="en-AU" sz="2200" dirty="0" smtClean="0">
                <a:latin typeface="Helvetica" pitchFamily="34" charset="0"/>
              </a:rPr>
              <a:t> and </a:t>
            </a:r>
            <a:r>
              <a:rPr lang="en-AU" sz="2200" u="sng" dirty="0" smtClean="0">
                <a:latin typeface="Helvetica" pitchFamily="34" charset="0"/>
              </a:rPr>
              <a:t>developing</a:t>
            </a:r>
            <a:r>
              <a:rPr lang="en-AU" sz="2200" dirty="0" smtClean="0">
                <a:latin typeface="Helvetica" pitchFamily="34" charset="0"/>
              </a:rPr>
              <a:t> the work </a:t>
            </a:r>
            <a:br>
              <a:rPr lang="en-AU" sz="2200" dirty="0" smtClean="0">
                <a:latin typeface="Helvetica" pitchFamily="34" charset="0"/>
              </a:rPr>
            </a:br>
            <a:r>
              <a:rPr lang="en-AU" sz="2200" dirty="0" smtClean="0">
                <a:latin typeface="Helvetica" pitchFamily="34" charset="0"/>
              </a:rPr>
              <a:t>performance of employees so </a:t>
            </a:r>
            <a:br>
              <a:rPr lang="en-AU" sz="2200" dirty="0" smtClean="0">
                <a:latin typeface="Helvetica" pitchFamily="34" charset="0"/>
              </a:rPr>
            </a:br>
            <a:r>
              <a:rPr lang="en-AU" sz="2200" dirty="0" smtClean="0">
                <a:latin typeface="Helvetica" pitchFamily="34" charset="0"/>
              </a:rPr>
              <a:t>organisational goals and objectives </a:t>
            </a:r>
            <a:br>
              <a:rPr lang="en-AU" sz="2200" dirty="0" smtClean="0">
                <a:latin typeface="Helvetica" pitchFamily="34" charset="0"/>
              </a:rPr>
            </a:br>
            <a:r>
              <a:rPr lang="en-AU" sz="2200" dirty="0" smtClean="0">
                <a:latin typeface="Helvetica" pitchFamily="34" charset="0"/>
              </a:rPr>
              <a:t>are achieved</a:t>
            </a:r>
            <a:endParaRPr lang="en-AU" sz="2200" b="1"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7" name="Picture 6" descr="MP900443186[1].JPG"/>
          <p:cNvPicPr>
            <a:picLocks noChangeAspect="1"/>
          </p:cNvPicPr>
          <p:nvPr/>
        </p:nvPicPr>
        <p:blipFill>
          <a:blip r:embed="rId3" cstate="print"/>
          <a:stretch>
            <a:fillRect/>
          </a:stretch>
        </p:blipFill>
        <p:spPr>
          <a:xfrm>
            <a:off x="6566523" y="4151311"/>
            <a:ext cx="1891677" cy="1258889"/>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86544"/>
          </a:xfrm>
        </p:spPr>
        <p:txBody>
          <a:bodyPr>
            <a:normAutofit/>
          </a:bodyPr>
          <a:lstStyle/>
          <a:p>
            <a:pPr marL="0"/>
            <a:r>
              <a:rPr lang="en-AU" sz="3200" b="1" dirty="0" smtClean="0">
                <a:solidFill>
                  <a:srgbClr val="FF6600"/>
                </a:solidFill>
                <a:latin typeface="Helvetica" pitchFamily="34" charset="0"/>
              </a:rPr>
              <a:t>Performance appraisals</a:t>
            </a:r>
          </a:p>
        </p:txBody>
      </p:sp>
      <p:sp>
        <p:nvSpPr>
          <p:cNvPr id="3" name="Content Placeholder 2"/>
          <p:cNvSpPr>
            <a:spLocks noGrp="1"/>
          </p:cNvSpPr>
          <p:nvPr>
            <p:ph idx="1"/>
          </p:nvPr>
        </p:nvSpPr>
        <p:spPr>
          <a:xfrm>
            <a:off x="611560" y="1219200"/>
            <a:ext cx="7694240" cy="5638800"/>
          </a:xfrm>
        </p:spPr>
        <p:txBody>
          <a:bodyPr>
            <a:normAutofit/>
          </a:bodyPr>
          <a:lstStyle/>
          <a:p>
            <a:pPr>
              <a:spcBef>
                <a:spcPts val="600"/>
              </a:spcBef>
              <a:spcAft>
                <a:spcPts val="1200"/>
              </a:spcAft>
              <a:buNone/>
            </a:pPr>
            <a:r>
              <a:rPr lang="en-AU" sz="2100" b="1" dirty="0" smtClean="0">
                <a:latin typeface="Helvetica" pitchFamily="34" charset="0"/>
              </a:rPr>
              <a:t>Performance appraisal</a:t>
            </a:r>
          </a:p>
          <a:p>
            <a:pPr marL="0">
              <a:spcBef>
                <a:spcPts val="600"/>
              </a:spcBef>
              <a:spcAft>
                <a:spcPts val="1200"/>
              </a:spcAft>
              <a:buNone/>
            </a:pPr>
            <a:r>
              <a:rPr lang="en-AU" sz="2100" dirty="0" smtClean="0">
                <a:latin typeface="Helvetica" pitchFamily="34" charset="0"/>
              </a:rPr>
              <a:t>This involves the manager and the staff member and discussing the performance assessment including:</a:t>
            </a:r>
          </a:p>
          <a:p>
            <a:pPr lvl="0">
              <a:spcBef>
                <a:spcPts val="600"/>
              </a:spcBef>
              <a:spcAft>
                <a:spcPts val="1200"/>
              </a:spcAft>
            </a:pPr>
            <a:r>
              <a:rPr lang="en-AU" sz="2100" dirty="0" smtClean="0">
                <a:latin typeface="Helvetica" pitchFamily="34" charset="0"/>
              </a:rPr>
              <a:t>Identify and discuss aspects of performance, both positive and negative</a:t>
            </a:r>
          </a:p>
          <a:p>
            <a:pPr lvl="0">
              <a:spcBef>
                <a:spcPts val="600"/>
              </a:spcBef>
              <a:spcAft>
                <a:spcPts val="1200"/>
              </a:spcAft>
            </a:pPr>
            <a:r>
              <a:rPr lang="en-AU" sz="2100" dirty="0" smtClean="0">
                <a:latin typeface="Helvetica" pitchFamily="34" charset="0"/>
              </a:rPr>
              <a:t>Understand why performance is conducted a specific way</a:t>
            </a:r>
          </a:p>
          <a:p>
            <a:pPr lvl="0">
              <a:spcBef>
                <a:spcPts val="600"/>
              </a:spcBef>
              <a:spcAft>
                <a:spcPts val="1200"/>
              </a:spcAft>
            </a:pPr>
            <a:r>
              <a:rPr lang="en-AU" sz="2100" dirty="0" smtClean="0">
                <a:latin typeface="Helvetica" pitchFamily="34" charset="0"/>
              </a:rPr>
              <a:t>Identify causes for performance not </a:t>
            </a:r>
            <a:br>
              <a:rPr lang="en-AU" sz="2100" dirty="0" smtClean="0">
                <a:latin typeface="Helvetica" pitchFamily="34" charset="0"/>
              </a:rPr>
            </a:br>
            <a:r>
              <a:rPr lang="en-AU" sz="2100" dirty="0" smtClean="0">
                <a:latin typeface="Helvetica" pitchFamily="34" charset="0"/>
              </a:rPr>
              <a:t>meeting standard</a:t>
            </a:r>
          </a:p>
          <a:p>
            <a:pPr lvl="0">
              <a:spcBef>
                <a:spcPts val="600"/>
              </a:spcBef>
              <a:spcAft>
                <a:spcPts val="1200"/>
              </a:spcAft>
            </a:pPr>
            <a:r>
              <a:rPr lang="en-AU" sz="2100" dirty="0" smtClean="0">
                <a:latin typeface="Helvetica" pitchFamily="34" charset="0"/>
              </a:rPr>
              <a:t>Discuss and identify how performance </a:t>
            </a:r>
            <a:br>
              <a:rPr lang="en-AU" sz="2100" dirty="0" smtClean="0">
                <a:latin typeface="Helvetica" pitchFamily="34" charset="0"/>
              </a:rPr>
            </a:br>
            <a:r>
              <a:rPr lang="en-AU" sz="2100" dirty="0" smtClean="0">
                <a:latin typeface="Helvetica" pitchFamily="34" charset="0"/>
              </a:rPr>
              <a:t>can be improved</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descr="00422152.jpg"/>
          <p:cNvPicPr/>
          <p:nvPr/>
        </p:nvPicPr>
        <p:blipFill>
          <a:blip r:embed="rId3" cstate="print"/>
          <a:stretch>
            <a:fillRect/>
          </a:stretch>
        </p:blipFill>
        <p:spPr>
          <a:xfrm>
            <a:off x="6324600" y="4144913"/>
            <a:ext cx="2100942" cy="1493887"/>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Purpose of performance appraisals</a:t>
            </a:r>
          </a:p>
        </p:txBody>
      </p:sp>
      <p:sp>
        <p:nvSpPr>
          <p:cNvPr id="3" name="Content Placeholder 2"/>
          <p:cNvSpPr>
            <a:spLocks noGrp="1"/>
          </p:cNvSpPr>
          <p:nvPr>
            <p:ph idx="1"/>
          </p:nvPr>
        </p:nvSpPr>
        <p:spPr>
          <a:xfrm>
            <a:off x="611560" y="1219200"/>
            <a:ext cx="7920880" cy="5638800"/>
          </a:xfrm>
        </p:spPr>
        <p:txBody>
          <a:bodyPr>
            <a:normAutofit/>
          </a:bodyPr>
          <a:lstStyle/>
          <a:p>
            <a:pPr marL="0">
              <a:spcBef>
                <a:spcPts val="600"/>
              </a:spcBef>
              <a:spcAft>
                <a:spcPts val="1200"/>
              </a:spcAft>
              <a:buNone/>
            </a:pPr>
            <a:r>
              <a:rPr lang="en-AU" sz="2200" dirty="0" smtClean="0">
                <a:latin typeface="Helvetica" pitchFamily="34" charset="0"/>
              </a:rPr>
              <a:t>There are many reasons why formal performance appraisals are undertaken in organisations: </a:t>
            </a:r>
          </a:p>
          <a:p>
            <a:pPr lvl="0">
              <a:spcBef>
                <a:spcPts val="600"/>
              </a:spcBef>
              <a:spcAft>
                <a:spcPts val="1200"/>
              </a:spcAft>
            </a:pPr>
            <a:r>
              <a:rPr lang="en-AU" sz="2200" dirty="0" smtClean="0">
                <a:latin typeface="Helvetica" pitchFamily="34" charset="0"/>
              </a:rPr>
              <a:t>To improve and maintain performance </a:t>
            </a:r>
          </a:p>
          <a:p>
            <a:pPr lvl="0">
              <a:spcBef>
                <a:spcPts val="600"/>
              </a:spcBef>
              <a:spcAft>
                <a:spcPts val="1200"/>
              </a:spcAft>
            </a:pPr>
            <a:r>
              <a:rPr lang="en-AU" sz="2200" dirty="0" smtClean="0">
                <a:latin typeface="Helvetica" pitchFamily="34" charset="0"/>
              </a:rPr>
              <a:t>To correct performance deficits </a:t>
            </a:r>
          </a:p>
          <a:p>
            <a:pPr lvl="0">
              <a:spcBef>
                <a:spcPts val="600"/>
              </a:spcBef>
              <a:spcAft>
                <a:spcPts val="1200"/>
              </a:spcAft>
            </a:pPr>
            <a:r>
              <a:rPr lang="en-AU" sz="2200" dirty="0" smtClean="0">
                <a:latin typeface="Helvetica" pitchFamily="34" charset="0"/>
              </a:rPr>
              <a:t>To reward, recognise and compensate </a:t>
            </a:r>
          </a:p>
          <a:p>
            <a:pPr lvl="0">
              <a:spcBef>
                <a:spcPts val="600"/>
              </a:spcBef>
              <a:spcAft>
                <a:spcPts val="1200"/>
              </a:spcAft>
            </a:pPr>
            <a:r>
              <a:rPr lang="en-AU" sz="2200" dirty="0" smtClean="0">
                <a:latin typeface="Helvetica" pitchFamily="34" charset="0"/>
              </a:rPr>
              <a:t>To strengthen relationships between                              supervisor and subordinates</a:t>
            </a:r>
          </a:p>
          <a:p>
            <a:pPr lvl="0">
              <a:spcBef>
                <a:spcPts val="600"/>
              </a:spcBef>
              <a:spcAft>
                <a:spcPts val="1200"/>
              </a:spcAft>
            </a:pPr>
            <a:r>
              <a:rPr lang="en-AU" sz="2200" dirty="0" smtClean="0">
                <a:latin typeface="Helvetica" pitchFamily="34" charset="0"/>
              </a:rPr>
              <a:t>To share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6" name="Picture 5" descr="MP900443424[1].JPG"/>
          <p:cNvPicPr>
            <a:picLocks noChangeAspect="1"/>
          </p:cNvPicPr>
          <p:nvPr/>
        </p:nvPicPr>
        <p:blipFill>
          <a:blip r:embed="rId3" cstate="print"/>
          <a:stretch>
            <a:fillRect/>
          </a:stretch>
        </p:blipFill>
        <p:spPr>
          <a:xfrm>
            <a:off x="6240127" y="4086497"/>
            <a:ext cx="2218073" cy="1476103"/>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Benefits of performance appraisals</a:t>
            </a:r>
          </a:p>
        </p:txBody>
      </p:sp>
      <p:sp>
        <p:nvSpPr>
          <p:cNvPr id="3" name="Content Placeholder 2"/>
          <p:cNvSpPr>
            <a:spLocks noGrp="1"/>
          </p:cNvSpPr>
          <p:nvPr>
            <p:ph idx="1"/>
          </p:nvPr>
        </p:nvSpPr>
        <p:spPr>
          <a:xfrm>
            <a:off x="611560" y="1203648"/>
            <a:ext cx="7920880" cy="4968552"/>
          </a:xfrm>
        </p:spPr>
        <p:txBody>
          <a:bodyPr>
            <a:normAutofit/>
          </a:bodyPr>
          <a:lstStyle/>
          <a:p>
            <a:pPr>
              <a:spcBef>
                <a:spcPts val="600"/>
              </a:spcBef>
              <a:spcAft>
                <a:spcPts val="1200"/>
              </a:spcAft>
              <a:buNone/>
            </a:pPr>
            <a:r>
              <a:rPr lang="en-AU" sz="2200" dirty="0" smtClean="0">
                <a:latin typeface="Helvetica" pitchFamily="34" charset="0"/>
              </a:rPr>
              <a:t>Performance appraisals should benefit: </a:t>
            </a:r>
          </a:p>
          <a:p>
            <a:pPr lvl="0">
              <a:spcBef>
                <a:spcPts val="600"/>
              </a:spcBef>
              <a:spcAft>
                <a:spcPts val="1200"/>
              </a:spcAft>
            </a:pPr>
            <a:r>
              <a:rPr lang="en-AU" sz="2200" dirty="0" smtClean="0">
                <a:latin typeface="Helvetica" pitchFamily="34" charset="0"/>
              </a:rPr>
              <a:t>The organisation’s effectiveness </a:t>
            </a:r>
          </a:p>
          <a:p>
            <a:pPr lvl="0">
              <a:spcBef>
                <a:spcPts val="600"/>
              </a:spcBef>
              <a:spcAft>
                <a:spcPts val="1200"/>
              </a:spcAft>
            </a:pPr>
            <a:r>
              <a:rPr lang="en-AU" sz="2200" dirty="0" smtClean="0">
                <a:latin typeface="Helvetica" pitchFamily="34" charset="0"/>
              </a:rPr>
              <a:t>The supervisor/manager </a:t>
            </a:r>
          </a:p>
          <a:p>
            <a:pPr lvl="0">
              <a:spcBef>
                <a:spcPts val="600"/>
              </a:spcBef>
              <a:spcAft>
                <a:spcPts val="1200"/>
              </a:spcAft>
            </a:pPr>
            <a:r>
              <a:rPr lang="en-AU" sz="2200" dirty="0" smtClean="0">
                <a:latin typeface="Helvetica" pitchFamily="34" charset="0"/>
              </a:rPr>
              <a:t>The employee and their family </a:t>
            </a:r>
          </a:p>
          <a:p>
            <a:pPr lvl="0">
              <a:spcBef>
                <a:spcPts val="600"/>
              </a:spcBef>
              <a:spcAft>
                <a:spcPts val="1200"/>
              </a:spcAft>
            </a:pPr>
            <a:r>
              <a:rPr lang="en-AU" sz="2200" dirty="0" smtClean="0">
                <a:latin typeface="Helvetica" pitchFamily="34" charset="0"/>
              </a:rPr>
              <a:t>The customer </a:t>
            </a:r>
          </a:p>
          <a:p>
            <a:pPr lvl="0">
              <a:spcBef>
                <a:spcPts val="600"/>
              </a:spcBef>
              <a:spcAft>
                <a:spcPts val="1200"/>
              </a:spcAft>
            </a:pPr>
            <a:r>
              <a:rPr lang="en-AU" sz="2200" dirty="0" smtClean="0">
                <a:latin typeface="Helvetica" pitchFamily="34" charset="0"/>
              </a:rPr>
              <a:t>Suppliers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2.jpg"/>
          <p:cNvPicPr/>
          <p:nvPr/>
        </p:nvPicPr>
        <p:blipFill>
          <a:blip r:embed="rId3" cstate="print"/>
          <a:stretch>
            <a:fillRect/>
          </a:stretch>
        </p:blipFill>
        <p:spPr>
          <a:xfrm>
            <a:off x="7194277" y="3219475"/>
            <a:ext cx="1263923" cy="2190725"/>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US" sz="3200" b="1" dirty="0" smtClean="0">
                <a:solidFill>
                  <a:srgbClr val="FF6600"/>
                </a:solidFill>
                <a:latin typeface="Helvetica" pitchFamily="34" charset="0"/>
              </a:rPr>
              <a:t>Preparing performance appraisals</a:t>
            </a:r>
          </a:p>
        </p:txBody>
      </p:sp>
      <p:sp>
        <p:nvSpPr>
          <p:cNvPr id="3" name="Content Placeholder 2"/>
          <p:cNvSpPr>
            <a:spLocks noGrp="1"/>
          </p:cNvSpPr>
          <p:nvPr>
            <p:ph idx="1"/>
          </p:nvPr>
        </p:nvSpPr>
        <p:spPr>
          <a:xfrm>
            <a:off x="611560" y="1219200"/>
            <a:ext cx="7920880" cy="5715000"/>
          </a:xfrm>
        </p:spPr>
        <p:txBody>
          <a:bodyPr>
            <a:normAutofit/>
          </a:bodyPr>
          <a:lstStyle/>
          <a:p>
            <a:pPr>
              <a:spcBef>
                <a:spcPts val="600"/>
              </a:spcBef>
              <a:spcAft>
                <a:spcPts val="600"/>
              </a:spcAft>
              <a:buNone/>
            </a:pPr>
            <a:r>
              <a:rPr lang="en-AU" sz="2200" b="1" dirty="0" smtClean="0">
                <a:latin typeface="Helvetica" pitchFamily="34" charset="0"/>
              </a:rPr>
              <a:t>The steps involved in preparing performance appraisals </a:t>
            </a:r>
          </a:p>
          <a:p>
            <a:pPr lvl="0">
              <a:spcBef>
                <a:spcPts val="600"/>
              </a:spcBef>
              <a:spcAft>
                <a:spcPts val="600"/>
              </a:spcAft>
            </a:pPr>
            <a:r>
              <a:rPr lang="en-AU" sz="2200" dirty="0" smtClean="0">
                <a:latin typeface="Helvetica" pitchFamily="34" charset="0"/>
              </a:rPr>
              <a:t>Review performance assessment documents</a:t>
            </a:r>
          </a:p>
          <a:p>
            <a:pPr lvl="0">
              <a:spcBef>
                <a:spcPts val="600"/>
              </a:spcBef>
              <a:spcAft>
                <a:spcPts val="600"/>
              </a:spcAft>
            </a:pPr>
            <a:r>
              <a:rPr lang="en-AU" sz="2200" dirty="0" smtClean="0">
                <a:latin typeface="Helvetica" pitchFamily="34" charset="0"/>
              </a:rPr>
              <a:t>Ensure you have all the facts </a:t>
            </a:r>
          </a:p>
          <a:p>
            <a:pPr lvl="0">
              <a:spcBef>
                <a:spcPts val="600"/>
              </a:spcBef>
              <a:spcAft>
                <a:spcPts val="600"/>
              </a:spcAft>
            </a:pPr>
            <a:r>
              <a:rPr lang="en-AU" sz="2200" dirty="0" smtClean="0">
                <a:latin typeface="Helvetica" pitchFamily="34" charset="0"/>
              </a:rPr>
              <a:t>Plan how you will present positive and negative news </a:t>
            </a:r>
          </a:p>
          <a:p>
            <a:pPr lvl="0">
              <a:spcBef>
                <a:spcPts val="600"/>
              </a:spcBef>
              <a:spcAft>
                <a:spcPts val="600"/>
              </a:spcAft>
            </a:pPr>
            <a:r>
              <a:rPr lang="en-AU" sz="2200" dirty="0" smtClean="0">
                <a:latin typeface="Helvetica" pitchFamily="34" charset="0"/>
              </a:rPr>
              <a:t>Consider what may have impacted on the employee’s performance both negatively and positively </a:t>
            </a:r>
          </a:p>
          <a:p>
            <a:pPr lvl="0">
              <a:spcBef>
                <a:spcPts val="600"/>
              </a:spcBef>
              <a:spcAft>
                <a:spcPts val="600"/>
              </a:spcAft>
            </a:pPr>
            <a:r>
              <a:rPr lang="en-AU" sz="2200" dirty="0" smtClean="0">
                <a:latin typeface="Helvetica" pitchFamily="34" charset="0"/>
              </a:rPr>
              <a:t>Have an outline of what you want to say </a:t>
            </a:r>
            <a:br>
              <a:rPr lang="en-AU" sz="2200" dirty="0" smtClean="0">
                <a:latin typeface="Helvetica" pitchFamily="34" charset="0"/>
              </a:rPr>
            </a:br>
            <a:r>
              <a:rPr lang="en-AU" sz="2200" dirty="0" smtClean="0">
                <a:latin typeface="Helvetica" pitchFamily="34" charset="0"/>
              </a:rPr>
              <a:t>and how you want to say it</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6" name="Picture 5" descr="what-is-eoscar-investigation.png"/>
          <p:cNvPicPr/>
          <p:nvPr/>
        </p:nvPicPr>
        <p:blipFill>
          <a:blip r:embed="rId3" cstate="print"/>
          <a:srcRect l="4559" r="8827" b="8547"/>
          <a:stretch>
            <a:fillRect/>
          </a:stretch>
        </p:blipFill>
        <p:spPr>
          <a:xfrm>
            <a:off x="6858000" y="3505200"/>
            <a:ext cx="1447800" cy="1600200"/>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Preparing performance appraisals</a:t>
            </a:r>
          </a:p>
        </p:txBody>
      </p:sp>
      <p:sp>
        <p:nvSpPr>
          <p:cNvPr id="3" name="Content Placeholder 2"/>
          <p:cNvSpPr>
            <a:spLocks noGrp="1"/>
          </p:cNvSpPr>
          <p:nvPr>
            <p:ph idx="1"/>
          </p:nvPr>
        </p:nvSpPr>
        <p:spPr>
          <a:xfrm>
            <a:off x="611560" y="1203648"/>
            <a:ext cx="7920880" cy="4968552"/>
          </a:xfrm>
        </p:spPr>
        <p:txBody>
          <a:bodyPr>
            <a:normAutofit/>
          </a:bodyPr>
          <a:lstStyle/>
          <a:p>
            <a:pPr>
              <a:spcBef>
                <a:spcPts val="600"/>
              </a:spcBef>
              <a:spcAft>
                <a:spcPts val="1200"/>
              </a:spcAft>
              <a:buNone/>
            </a:pPr>
            <a:r>
              <a:rPr lang="en-AU" sz="2200" b="1" dirty="0" smtClean="0">
                <a:latin typeface="Helvetica" pitchFamily="34" charset="0"/>
              </a:rPr>
              <a:t>The steps involved in preparing performance appraisals </a:t>
            </a:r>
          </a:p>
          <a:p>
            <a:pPr lvl="0">
              <a:spcBef>
                <a:spcPts val="600"/>
              </a:spcBef>
              <a:spcAft>
                <a:spcPts val="1200"/>
              </a:spcAft>
            </a:pPr>
            <a:r>
              <a:rPr lang="en-AU" sz="2200" dirty="0" smtClean="0">
                <a:latin typeface="Helvetica" pitchFamily="34" charset="0"/>
              </a:rPr>
              <a:t>Prepare staff appraisal documents</a:t>
            </a:r>
          </a:p>
          <a:p>
            <a:pPr lvl="0">
              <a:spcBef>
                <a:spcPts val="600"/>
              </a:spcBef>
              <a:spcAft>
                <a:spcPts val="1200"/>
              </a:spcAft>
            </a:pPr>
            <a:r>
              <a:rPr lang="en-AU" sz="2200" dirty="0" smtClean="0">
                <a:latin typeface="Helvetica" pitchFamily="34" charset="0"/>
              </a:rPr>
              <a:t>Schedule staff appraisals</a:t>
            </a:r>
          </a:p>
          <a:p>
            <a:pPr lvl="0">
              <a:spcBef>
                <a:spcPts val="600"/>
              </a:spcBef>
              <a:spcAft>
                <a:spcPts val="1200"/>
              </a:spcAft>
            </a:pPr>
            <a:r>
              <a:rPr lang="en-AU" sz="2200" dirty="0" smtClean="0">
                <a:latin typeface="Helvetica" pitchFamily="34" charset="0"/>
              </a:rPr>
              <a:t>Notify staff of appraisal times</a:t>
            </a:r>
          </a:p>
          <a:p>
            <a:pPr lvl="0">
              <a:spcBef>
                <a:spcPts val="600"/>
              </a:spcBef>
              <a:spcAft>
                <a:spcPts val="1200"/>
              </a:spcAft>
            </a:pPr>
            <a:r>
              <a:rPr lang="en-AU" sz="2200" dirty="0" smtClean="0">
                <a:latin typeface="Helvetica" pitchFamily="34" charset="0"/>
              </a:rPr>
              <a:t>Issue staff appraisal documents</a:t>
            </a:r>
          </a:p>
          <a:p>
            <a:pPr lvl="0">
              <a:spcBef>
                <a:spcPts val="600"/>
              </a:spcBef>
              <a:spcAft>
                <a:spcPts val="1200"/>
              </a:spcAft>
            </a:pPr>
            <a:r>
              <a:rPr lang="en-AU" sz="2200" dirty="0" smtClean="0">
                <a:latin typeface="Helvetica" pitchFamily="34" charset="0"/>
              </a:rPr>
              <a:t>Arrange a suitable environment, free from </a:t>
            </a:r>
            <a:br>
              <a:rPr lang="en-AU" sz="2200" dirty="0" smtClean="0">
                <a:latin typeface="Helvetica" pitchFamily="34" charset="0"/>
              </a:rPr>
            </a:br>
            <a:r>
              <a:rPr lang="en-AU" sz="2200" dirty="0" smtClean="0">
                <a:latin typeface="Helvetica" pitchFamily="34" charset="0"/>
              </a:rPr>
              <a:t>interruptions and ensures privacy and </a:t>
            </a:r>
            <a:br>
              <a:rPr lang="en-AU" sz="2200" dirty="0" smtClean="0">
                <a:latin typeface="Helvetica" pitchFamily="34" charset="0"/>
              </a:rPr>
            </a:br>
            <a:r>
              <a:rPr lang="en-AU" sz="2200" dirty="0" smtClean="0">
                <a:latin typeface="Helvetica" pitchFamily="34" charset="0"/>
              </a:rPr>
              <a:t>confidentiality of discussions</a:t>
            </a:r>
          </a:p>
          <a:p>
            <a:pPr lvl="0">
              <a:spcBef>
                <a:spcPts val="600"/>
              </a:spcBef>
              <a:spcAft>
                <a:spcPts val="1200"/>
              </a:spcAft>
            </a:pPr>
            <a:r>
              <a:rPr lang="en-AU" sz="2200" dirty="0" smtClean="0">
                <a:latin typeface="Helvetica" pitchFamily="34" charset="0"/>
              </a:rPr>
              <a:t>Prepare appraisal area including catering</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6" name="Picture 5" descr="MP900422965[1].JPG"/>
          <p:cNvPicPr>
            <a:picLocks noChangeAspect="1"/>
          </p:cNvPicPr>
          <p:nvPr/>
        </p:nvPicPr>
        <p:blipFill>
          <a:blip r:embed="rId3" cstate="print"/>
          <a:stretch>
            <a:fillRect/>
          </a:stretch>
        </p:blipFill>
        <p:spPr>
          <a:xfrm>
            <a:off x="6934200" y="3962400"/>
            <a:ext cx="1524000" cy="1524000"/>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Performance appraisals forms</a:t>
            </a:r>
          </a:p>
        </p:txBody>
      </p:sp>
      <p:sp>
        <p:nvSpPr>
          <p:cNvPr id="3" name="Content Placeholder 2"/>
          <p:cNvSpPr>
            <a:spLocks noGrp="1"/>
          </p:cNvSpPr>
          <p:nvPr>
            <p:ph idx="1"/>
          </p:nvPr>
        </p:nvSpPr>
        <p:spPr>
          <a:xfrm>
            <a:off x="611560" y="1219200"/>
            <a:ext cx="7920880" cy="4968552"/>
          </a:xfrm>
        </p:spPr>
        <p:txBody>
          <a:bodyPr>
            <a:normAutofit/>
          </a:bodyPr>
          <a:lstStyle/>
          <a:p>
            <a:pPr marL="0">
              <a:lnSpc>
                <a:spcPct val="120000"/>
              </a:lnSpc>
              <a:spcBef>
                <a:spcPts val="600"/>
              </a:spcBef>
              <a:spcAft>
                <a:spcPts val="600"/>
              </a:spcAft>
              <a:buNone/>
            </a:pPr>
            <a:r>
              <a:rPr lang="en-AU" sz="2200" dirty="0" smtClean="0">
                <a:latin typeface="Helvetica" pitchFamily="34" charset="0"/>
              </a:rPr>
              <a:t>Forms may be used when conducting a performance appraisal, either as the primary document or to supplement specific appraisal documents.</a:t>
            </a:r>
          </a:p>
          <a:p>
            <a:pPr marL="0">
              <a:lnSpc>
                <a:spcPct val="120000"/>
              </a:lnSpc>
              <a:spcBef>
                <a:spcPts val="600"/>
              </a:spcBef>
              <a:spcAft>
                <a:spcPts val="600"/>
              </a:spcAft>
              <a:buNone/>
            </a:pPr>
            <a:r>
              <a:rPr lang="en-AU" sz="2200" dirty="0" smtClean="0">
                <a:latin typeface="Helvetica" pitchFamily="34" charset="0"/>
              </a:rPr>
              <a:t>Regardless of the documents used it is important that two parties are active in the appraisal process:</a:t>
            </a:r>
          </a:p>
          <a:p>
            <a:pPr lvl="0">
              <a:lnSpc>
                <a:spcPct val="120000"/>
              </a:lnSpc>
              <a:spcBef>
                <a:spcPts val="600"/>
              </a:spcBef>
              <a:spcAft>
                <a:spcPts val="600"/>
              </a:spcAft>
            </a:pPr>
            <a:r>
              <a:rPr lang="en-AU" sz="2200" dirty="0" smtClean="0">
                <a:latin typeface="Helvetica" pitchFamily="34" charset="0"/>
              </a:rPr>
              <a:t>The person conducting the appraisal</a:t>
            </a:r>
          </a:p>
          <a:p>
            <a:pPr lvl="0">
              <a:lnSpc>
                <a:spcPct val="120000"/>
              </a:lnSpc>
              <a:spcBef>
                <a:spcPts val="600"/>
              </a:spcBef>
              <a:spcAft>
                <a:spcPts val="600"/>
              </a:spcAft>
            </a:pPr>
            <a:r>
              <a:rPr lang="en-AU" sz="2200" dirty="0" smtClean="0">
                <a:latin typeface="Helvetica" pitchFamily="34" charset="0"/>
              </a:rPr>
              <a:t>The person being appraised</a:t>
            </a:r>
          </a:p>
          <a:p>
            <a:pPr>
              <a:lnSpc>
                <a:spcPct val="120000"/>
              </a:lnSpc>
              <a:spcBef>
                <a:spcPts val="600"/>
              </a:spcBef>
              <a:spcAft>
                <a:spcPts val="600"/>
              </a:spcAft>
            </a:pPr>
            <a:r>
              <a:rPr lang="en-AU" sz="2200" dirty="0" smtClean="0">
                <a:latin typeface="Helvetica" pitchFamily="34" charset="0"/>
              </a:rPr>
              <a:t>As such, a document should be prepared </a:t>
            </a:r>
            <a:br>
              <a:rPr lang="en-AU" sz="2200" dirty="0" smtClean="0">
                <a:latin typeface="Helvetica" pitchFamily="34" charset="0"/>
              </a:rPr>
            </a:br>
            <a:r>
              <a:rPr lang="en-AU" sz="2200" dirty="0" smtClean="0">
                <a:latin typeface="Helvetica" pitchFamily="34" charset="0"/>
              </a:rPr>
              <a:t>which will be completed by both parties</a:t>
            </a:r>
          </a:p>
          <a:p>
            <a:pPr marL="0">
              <a:lnSpc>
                <a:spcPct val="120000"/>
              </a:lnSpc>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7" name="Picture 6" descr="MP900438585[1].JPG"/>
          <p:cNvPicPr/>
          <p:nvPr/>
        </p:nvPicPr>
        <p:blipFill>
          <a:blip r:embed="rId3" cstate="print"/>
          <a:stretch>
            <a:fillRect/>
          </a:stretch>
        </p:blipFill>
        <p:spPr>
          <a:xfrm>
            <a:off x="6564635" y="4055368"/>
            <a:ext cx="1969765" cy="1354832"/>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Performance appraisals forms</a:t>
            </a:r>
          </a:p>
        </p:txBody>
      </p:sp>
      <p:sp>
        <p:nvSpPr>
          <p:cNvPr id="3" name="Content Placeholder 2"/>
          <p:cNvSpPr>
            <a:spLocks noGrp="1"/>
          </p:cNvSpPr>
          <p:nvPr>
            <p:ph idx="1"/>
          </p:nvPr>
        </p:nvSpPr>
        <p:spPr>
          <a:xfrm>
            <a:off x="611560" y="1219200"/>
            <a:ext cx="7920880" cy="4968552"/>
          </a:xfrm>
        </p:spPr>
        <p:txBody>
          <a:bodyPr>
            <a:normAutofit/>
          </a:bodyPr>
          <a:lstStyle/>
          <a:p>
            <a:pPr>
              <a:spcBef>
                <a:spcPts val="600"/>
              </a:spcBef>
              <a:spcAft>
                <a:spcPts val="1200"/>
              </a:spcAft>
              <a:buNone/>
            </a:pPr>
            <a:r>
              <a:rPr lang="en-AU" sz="2200" b="1" dirty="0" smtClean="0">
                <a:latin typeface="Helvetica" pitchFamily="34" charset="0"/>
              </a:rPr>
              <a:t>Types of performance appraisal forms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two main performance appraisal forms that can be used. These are for:</a:t>
            </a:r>
          </a:p>
          <a:p>
            <a:pPr lvl="0">
              <a:spcBef>
                <a:spcPts val="600"/>
              </a:spcBef>
              <a:spcAft>
                <a:spcPts val="1200"/>
              </a:spcAft>
            </a:pPr>
            <a:r>
              <a:rPr lang="en-AU" sz="2200" dirty="0" smtClean="0">
                <a:latin typeface="Helvetica" pitchFamily="34" charset="0"/>
              </a:rPr>
              <a:t>Appraisal of staff</a:t>
            </a:r>
          </a:p>
          <a:p>
            <a:pPr lvl="0">
              <a:spcBef>
                <a:spcPts val="600"/>
              </a:spcBef>
              <a:spcAft>
                <a:spcPts val="1200"/>
              </a:spcAft>
            </a:pPr>
            <a:r>
              <a:rPr lang="en-AU" sz="2200" dirty="0" smtClean="0">
                <a:latin typeface="Helvetica" pitchFamily="34" charset="0"/>
              </a:rPr>
              <a:t>Appraisal of managers</a:t>
            </a:r>
          </a:p>
          <a:p>
            <a:pPr marL="0">
              <a:spcBef>
                <a:spcPts val="600"/>
              </a:spcBef>
              <a:spcAft>
                <a:spcPts val="1200"/>
              </a:spcAft>
              <a:buNone/>
            </a:pPr>
            <a:r>
              <a:rPr lang="en-AU" sz="2200" dirty="0" smtClean="0">
                <a:latin typeface="Helvetica" pitchFamily="34" charset="0"/>
              </a:rPr>
              <a:t>The structure and marking criteria of each form </a:t>
            </a:r>
            <a:br>
              <a:rPr lang="en-AU" sz="2200" dirty="0" smtClean="0">
                <a:latin typeface="Helvetica" pitchFamily="34" charset="0"/>
              </a:rPr>
            </a:br>
            <a:r>
              <a:rPr lang="en-AU" sz="2200" dirty="0" smtClean="0">
                <a:latin typeface="Helvetica" pitchFamily="34" charset="0"/>
              </a:rPr>
              <a:t>is different to reflect the nature of their job role.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6" name="Picture 5" descr="MP900174879[1].JPG"/>
          <p:cNvPicPr>
            <a:picLocks noChangeAspect="1"/>
          </p:cNvPicPr>
          <p:nvPr/>
        </p:nvPicPr>
        <p:blipFill>
          <a:blip r:embed="rId3" cstate="print"/>
          <a:stretch>
            <a:fillRect/>
          </a:stretch>
        </p:blipFill>
        <p:spPr>
          <a:xfrm>
            <a:off x="7303773" y="3678560"/>
            <a:ext cx="1154427" cy="173164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Performance appraisals forms</a:t>
            </a:r>
          </a:p>
        </p:txBody>
      </p:sp>
      <p:sp>
        <p:nvSpPr>
          <p:cNvPr id="3" name="Content Placeholder 2"/>
          <p:cNvSpPr>
            <a:spLocks noGrp="1"/>
          </p:cNvSpPr>
          <p:nvPr>
            <p:ph idx="1"/>
          </p:nvPr>
        </p:nvSpPr>
        <p:spPr>
          <a:xfrm>
            <a:off x="611560" y="1203648"/>
            <a:ext cx="7920880" cy="5349552"/>
          </a:xfrm>
        </p:spPr>
        <p:txBody>
          <a:bodyPr>
            <a:normAutofit/>
          </a:bodyPr>
          <a:lstStyle/>
          <a:p>
            <a:pPr>
              <a:spcBef>
                <a:spcPts val="600"/>
              </a:spcBef>
              <a:spcAft>
                <a:spcPts val="1200"/>
              </a:spcAft>
              <a:buNone/>
            </a:pPr>
            <a:r>
              <a:rPr lang="en-AU" sz="2200" b="1" dirty="0" smtClean="0">
                <a:latin typeface="Helvetica" pitchFamily="34" charset="0"/>
              </a:rPr>
              <a:t>Staff appraisal format</a:t>
            </a:r>
          </a:p>
          <a:p>
            <a:pPr marL="0">
              <a:spcBef>
                <a:spcPts val="600"/>
              </a:spcBef>
              <a:spcAft>
                <a:spcPts val="1200"/>
              </a:spcAft>
              <a:buNone/>
            </a:pPr>
            <a:r>
              <a:rPr lang="en-AU" sz="2200" dirty="0" smtClean="0">
                <a:latin typeface="Helvetica" pitchFamily="34" charset="0"/>
              </a:rPr>
              <a:t>Staff are traditionally employed to complete specific tasks and hence the format will focus on this.</a:t>
            </a:r>
          </a:p>
          <a:p>
            <a:pPr>
              <a:spcBef>
                <a:spcPts val="600"/>
              </a:spcBef>
              <a:spcAft>
                <a:spcPts val="1200"/>
              </a:spcAft>
              <a:buNone/>
            </a:pPr>
            <a:r>
              <a:rPr lang="en-AU" sz="2200" dirty="0" smtClean="0">
                <a:latin typeface="Helvetica" pitchFamily="34" charset="0"/>
              </a:rPr>
              <a:t>The appraisal focuses on four parts:</a:t>
            </a:r>
          </a:p>
          <a:p>
            <a:pPr lvl="0">
              <a:spcBef>
                <a:spcPts val="600"/>
              </a:spcBef>
              <a:spcAft>
                <a:spcPts val="1200"/>
              </a:spcAft>
            </a:pPr>
            <a:r>
              <a:rPr lang="en-AU" sz="2200" dirty="0" smtClean="0">
                <a:latin typeface="Helvetica" pitchFamily="34" charset="0"/>
              </a:rPr>
              <a:t>Technical skills</a:t>
            </a:r>
          </a:p>
          <a:p>
            <a:pPr lvl="0">
              <a:spcBef>
                <a:spcPts val="600"/>
              </a:spcBef>
              <a:spcAft>
                <a:spcPts val="1200"/>
              </a:spcAft>
            </a:pPr>
            <a:r>
              <a:rPr lang="en-AU" sz="2200" dirty="0" smtClean="0">
                <a:latin typeface="Helvetica" pitchFamily="34" charset="0"/>
              </a:rPr>
              <a:t>Performance skills</a:t>
            </a:r>
          </a:p>
          <a:p>
            <a:pPr lvl="0">
              <a:spcBef>
                <a:spcPts val="600"/>
              </a:spcBef>
              <a:spcAft>
                <a:spcPts val="1200"/>
              </a:spcAft>
            </a:pPr>
            <a:r>
              <a:rPr lang="en-AU" sz="2200" dirty="0" smtClean="0">
                <a:latin typeface="Helvetica" pitchFamily="34" charset="0"/>
              </a:rPr>
              <a:t>Goal setting</a:t>
            </a:r>
          </a:p>
          <a:p>
            <a:pPr lvl="0">
              <a:spcBef>
                <a:spcPts val="600"/>
              </a:spcBef>
              <a:spcAft>
                <a:spcPts val="1200"/>
              </a:spcAft>
            </a:pPr>
            <a:r>
              <a:rPr lang="en-AU" sz="2200" dirty="0" smtClean="0">
                <a:latin typeface="Helvetica" pitchFamily="34" charset="0"/>
              </a:rPr>
              <a:t>Management appraisal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7" name="Picture 6" descr="restaurant ad.jpg"/>
          <p:cNvPicPr>
            <a:picLocks noChangeAspect="1"/>
          </p:cNvPicPr>
          <p:nvPr/>
        </p:nvPicPr>
        <p:blipFill>
          <a:blip r:embed="rId3" cstate="print"/>
          <a:stretch>
            <a:fillRect/>
          </a:stretch>
        </p:blipFill>
        <p:spPr>
          <a:xfrm>
            <a:off x="6776605" y="3501752"/>
            <a:ext cx="1681595" cy="2060848"/>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Staff performance appraisals forms</a:t>
            </a:r>
          </a:p>
        </p:txBody>
      </p:sp>
      <p:sp>
        <p:nvSpPr>
          <p:cNvPr id="3" name="Content Placeholder 2"/>
          <p:cNvSpPr>
            <a:spLocks noGrp="1"/>
          </p:cNvSpPr>
          <p:nvPr>
            <p:ph idx="1"/>
          </p:nvPr>
        </p:nvSpPr>
        <p:spPr>
          <a:xfrm>
            <a:off x="611560" y="1219200"/>
            <a:ext cx="7920880" cy="4968552"/>
          </a:xfrm>
        </p:spPr>
        <p:txBody>
          <a:bodyPr>
            <a:normAutofit/>
          </a:bodyPr>
          <a:lstStyle/>
          <a:p>
            <a:pPr>
              <a:spcBef>
                <a:spcPts val="600"/>
              </a:spcBef>
              <a:spcAft>
                <a:spcPts val="1200"/>
              </a:spcAft>
              <a:buNone/>
            </a:pPr>
            <a:r>
              <a:rPr lang="en-AU" sz="2200" b="1" dirty="0" smtClean="0">
                <a:latin typeface="Helvetica" pitchFamily="34" charset="0"/>
              </a:rPr>
              <a:t>Staff appraisal format</a:t>
            </a:r>
          </a:p>
          <a:p>
            <a:pPr marL="0">
              <a:spcBef>
                <a:spcPts val="600"/>
              </a:spcBef>
              <a:spcAft>
                <a:spcPts val="1200"/>
              </a:spcAft>
              <a:buNone/>
            </a:pPr>
            <a:r>
              <a:rPr lang="en-AU" sz="2200" dirty="0" smtClean="0">
                <a:latin typeface="Helvetica" pitchFamily="34" charset="0"/>
              </a:rPr>
              <a:t>The marking is aimed at what </a:t>
            </a:r>
            <a:r>
              <a:rPr lang="en-AU" sz="2200" u="sng" dirty="0" smtClean="0">
                <a:latin typeface="Helvetica" pitchFamily="34" charset="0"/>
              </a:rPr>
              <a:t>percentage of competency </a:t>
            </a:r>
            <a:r>
              <a:rPr lang="en-AU" sz="2200" dirty="0" smtClean="0">
                <a:latin typeface="Helvetica" pitchFamily="34" charset="0"/>
              </a:rPr>
              <a:t>in a specific criteria.</a:t>
            </a:r>
          </a:p>
          <a:p>
            <a:pPr marL="0">
              <a:spcBef>
                <a:spcPts val="600"/>
              </a:spcBef>
              <a:spcAft>
                <a:spcPts val="1200"/>
              </a:spcAft>
              <a:buNone/>
            </a:pPr>
            <a:r>
              <a:rPr lang="en-AU" sz="2200" dirty="0" smtClean="0">
                <a:latin typeface="Helvetica" pitchFamily="34" charset="0"/>
              </a:rPr>
              <a:t>As different staff within a department will have different skill levels, it focuses on what staff:</a:t>
            </a:r>
          </a:p>
          <a:p>
            <a:pPr>
              <a:spcBef>
                <a:spcPts val="600"/>
              </a:spcBef>
              <a:spcAft>
                <a:spcPts val="1200"/>
              </a:spcAft>
            </a:pPr>
            <a:r>
              <a:rPr lang="en-AU" sz="2200" dirty="0" smtClean="0">
                <a:latin typeface="Helvetica" pitchFamily="34" charset="0"/>
              </a:rPr>
              <a:t>Can successfully do</a:t>
            </a:r>
          </a:p>
          <a:p>
            <a:pPr>
              <a:spcBef>
                <a:spcPts val="600"/>
              </a:spcBef>
              <a:spcAft>
                <a:spcPts val="1200"/>
              </a:spcAft>
            </a:pPr>
            <a:r>
              <a:rPr lang="en-AU" sz="2200" dirty="0" smtClean="0">
                <a:latin typeface="Helvetica" pitchFamily="34" charset="0"/>
              </a:rPr>
              <a:t>What still needs to be achieved </a:t>
            </a:r>
            <a:br>
              <a:rPr lang="en-AU" sz="2200" dirty="0" smtClean="0">
                <a:latin typeface="Helvetica" pitchFamily="34" charset="0"/>
              </a:rPr>
            </a:br>
            <a:r>
              <a:rPr lang="en-AU" sz="2200" dirty="0" smtClean="0">
                <a:latin typeface="Helvetica" pitchFamily="34" charset="0"/>
              </a:rPr>
              <a:t>for full competency</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dirty="0" smtClean="0">
                <a:latin typeface="Helvetica" pitchFamily="34" charset="0"/>
              </a:rPr>
              <a:pPr/>
              <a:t>131</a:t>
            </a:fld>
            <a:endParaRPr lang="en-US" dirty="0" smtClean="0">
              <a:latin typeface="Helvetica" pitchFamily="34" charset="0"/>
            </a:endParaRPr>
          </a:p>
        </p:txBody>
      </p:sp>
      <p:pic>
        <p:nvPicPr>
          <p:cNvPr id="6" name="Picture 5" descr="William Angliss Institute 2.JPG"/>
          <p:cNvPicPr>
            <a:picLocks noChangeAspect="1"/>
          </p:cNvPicPr>
          <p:nvPr/>
        </p:nvPicPr>
        <p:blipFill>
          <a:blip r:embed="rId3" cstate="print"/>
          <a:stretch>
            <a:fillRect/>
          </a:stretch>
        </p:blipFill>
        <p:spPr>
          <a:xfrm>
            <a:off x="6430480" y="4050959"/>
            <a:ext cx="2027720" cy="1359241"/>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200" b="1" dirty="0" smtClean="0">
                <a:solidFill>
                  <a:srgbClr val="FF6600"/>
                </a:solidFill>
                <a:latin typeface="Helvetica" pitchFamily="34" charset="0"/>
              </a:rPr>
              <a:t>Informing people of performance appraisals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What </a:t>
            </a:r>
            <a:r>
              <a:rPr lang="en-AU" sz="2200" b="1" dirty="0" smtClean="0">
                <a:latin typeface="Helvetica" pitchFamily="34" charset="0"/>
              </a:rPr>
              <a:t>do the following people need to know?</a:t>
            </a:r>
          </a:p>
          <a:p>
            <a:pPr>
              <a:spcBef>
                <a:spcPts val="600"/>
              </a:spcBef>
              <a:spcAft>
                <a:spcPts val="1200"/>
              </a:spcAft>
            </a:pPr>
            <a:r>
              <a:rPr lang="en-AU" sz="2200" dirty="0" smtClean="0">
                <a:latin typeface="Helvetica" pitchFamily="34" charset="0"/>
              </a:rPr>
              <a:t>Persons </a:t>
            </a:r>
            <a:r>
              <a:rPr lang="en-AU" sz="2200" u="sng" dirty="0" smtClean="0">
                <a:latin typeface="Helvetica" pitchFamily="34" charset="0"/>
              </a:rPr>
              <a:t>conducting assessment</a:t>
            </a:r>
            <a:r>
              <a:rPr lang="en-AU" sz="2200" dirty="0" smtClean="0">
                <a:latin typeface="Helvetica" pitchFamily="34" charset="0"/>
              </a:rPr>
              <a:t> </a:t>
            </a:r>
          </a:p>
          <a:p>
            <a:pPr>
              <a:spcBef>
                <a:spcPts val="600"/>
              </a:spcBef>
              <a:spcAft>
                <a:spcPts val="1200"/>
              </a:spcAft>
            </a:pPr>
            <a:r>
              <a:rPr lang="en-AU" sz="2200" dirty="0" smtClean="0">
                <a:latin typeface="Helvetica" pitchFamily="34" charset="0"/>
              </a:rPr>
              <a:t>Person who is </a:t>
            </a:r>
            <a:r>
              <a:rPr lang="en-AU" sz="2200" u="sng" dirty="0" smtClean="0">
                <a:latin typeface="Helvetica" pitchFamily="34" charset="0"/>
              </a:rPr>
              <a:t>being assessed</a:t>
            </a:r>
            <a:r>
              <a:rPr lang="en-AU" sz="2200" dirty="0" smtClean="0">
                <a:latin typeface="Helvetica" pitchFamily="34" charset="0"/>
              </a:rPr>
              <a:t> </a:t>
            </a:r>
          </a:p>
          <a:p>
            <a:pPr>
              <a:spcBef>
                <a:spcPts val="600"/>
              </a:spcBef>
              <a:spcAft>
                <a:spcPts val="1200"/>
              </a:spcAft>
            </a:pPr>
            <a:r>
              <a:rPr lang="en-AU" sz="2200" dirty="0" smtClean="0">
                <a:latin typeface="Helvetica" pitchFamily="34" charset="0"/>
              </a:rPr>
              <a:t>Venue where assessment is taking place</a:t>
            </a:r>
          </a:p>
          <a:p>
            <a:endParaRPr lang="en-AU" sz="2400" b="1"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6" name="Picture 5" descr="Hospitality 2.jpg"/>
          <p:cNvPicPr>
            <a:picLocks noChangeAspect="1"/>
          </p:cNvPicPr>
          <p:nvPr/>
        </p:nvPicPr>
        <p:blipFill>
          <a:blip r:embed="rId3" cstate="print"/>
          <a:stretch>
            <a:fillRect/>
          </a:stretch>
        </p:blipFill>
        <p:spPr>
          <a:xfrm>
            <a:off x="6172200" y="4038600"/>
            <a:ext cx="2249016" cy="1506841"/>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200" b="1" dirty="0" smtClean="0">
                <a:solidFill>
                  <a:srgbClr val="FF6600"/>
                </a:solidFill>
                <a:latin typeface="Helvetica" pitchFamily="34" charset="0"/>
              </a:rPr>
              <a:t>Informing people of performance appraisals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Methods to share assessment information </a:t>
            </a:r>
          </a:p>
          <a:p>
            <a:pPr lvl="0">
              <a:spcBef>
                <a:spcPts val="600"/>
              </a:spcBef>
              <a:spcAft>
                <a:spcPts val="1200"/>
              </a:spcAft>
            </a:pPr>
            <a:r>
              <a:rPr lang="en-AU" sz="2200" dirty="0" smtClean="0">
                <a:latin typeface="Helvetica" pitchFamily="34" charset="0"/>
              </a:rPr>
              <a:t>A formal letter</a:t>
            </a:r>
          </a:p>
          <a:p>
            <a:pPr lvl="0">
              <a:spcBef>
                <a:spcPts val="600"/>
              </a:spcBef>
              <a:spcAft>
                <a:spcPts val="1200"/>
              </a:spcAft>
            </a:pPr>
            <a:r>
              <a:rPr lang="en-AU" sz="2200" dirty="0" smtClean="0">
                <a:latin typeface="Helvetica" pitchFamily="34" charset="0"/>
              </a:rPr>
              <a:t>An information kit</a:t>
            </a:r>
          </a:p>
          <a:p>
            <a:pPr lvl="0">
              <a:spcBef>
                <a:spcPts val="600"/>
              </a:spcBef>
              <a:spcAft>
                <a:spcPts val="1200"/>
              </a:spcAft>
            </a:pPr>
            <a:r>
              <a:rPr lang="en-AU" sz="2200" dirty="0" smtClean="0">
                <a:latin typeface="Helvetica" pitchFamily="34" charset="0"/>
              </a:rPr>
              <a:t>A specific meeting</a:t>
            </a:r>
          </a:p>
          <a:p>
            <a:pPr lvl="0">
              <a:spcBef>
                <a:spcPts val="600"/>
              </a:spcBef>
              <a:spcAft>
                <a:spcPts val="1200"/>
              </a:spcAft>
            </a:pPr>
            <a:r>
              <a:rPr lang="en-AU" sz="2200" dirty="0" smtClean="0">
                <a:latin typeface="Helvetica" pitchFamily="34" charset="0"/>
              </a:rPr>
              <a:t>An email</a:t>
            </a:r>
          </a:p>
          <a:p>
            <a:pPr>
              <a:spcBef>
                <a:spcPts val="600"/>
              </a:spcBef>
              <a:spcAft>
                <a:spcPts val="1200"/>
              </a:spcAft>
            </a:pPr>
            <a:r>
              <a:rPr lang="en-AU" sz="2200" dirty="0" smtClean="0">
                <a:latin typeface="Helvetica" pitchFamily="34" charset="0"/>
              </a:rPr>
              <a:t>An information session</a:t>
            </a:r>
            <a:endParaRPr lang="en-AU" sz="2200" dirty="0" smtClean="0"/>
          </a:p>
          <a:p>
            <a:pPr>
              <a:buNone/>
            </a:pPr>
            <a:endParaRPr lang="en-AU" sz="2200" dirty="0" smtClean="0"/>
          </a:p>
          <a:p>
            <a:pPr lvl="0">
              <a:spcBef>
                <a:spcPts val="600"/>
              </a:spcBef>
              <a:spcAft>
                <a:spcPts val="1200"/>
              </a:spcAft>
              <a:buNone/>
            </a:pPr>
            <a:endParaRPr lang="en-AU" sz="2200" dirty="0" smtClean="0">
              <a:latin typeface="Helvetica" pitchFamily="34" charset="0"/>
            </a:endParaRPr>
          </a:p>
          <a:p>
            <a:pPr lvl="0"/>
            <a:endParaRPr lang="en-AU" sz="2200" dirty="0" smtClean="0"/>
          </a:p>
          <a:p>
            <a:pPr lvl="0">
              <a:buNone/>
            </a:pP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 name="Picture 5" descr="00402960.jpg"/>
          <p:cNvPicPr/>
          <p:nvPr/>
        </p:nvPicPr>
        <p:blipFill>
          <a:blip r:embed="rId3" cstate="print"/>
          <a:stretch>
            <a:fillRect/>
          </a:stretch>
        </p:blipFill>
        <p:spPr>
          <a:xfrm>
            <a:off x="6295876" y="3917851"/>
            <a:ext cx="2162324" cy="1492349"/>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86544"/>
          </a:xfrm>
        </p:spPr>
        <p:txBody>
          <a:bodyPr>
            <a:normAutofit/>
          </a:bodyPr>
          <a:lstStyle/>
          <a:p>
            <a:pPr marL="0"/>
            <a:r>
              <a:rPr lang="en-AU" sz="3200" b="1" dirty="0" smtClean="0">
                <a:solidFill>
                  <a:srgbClr val="FF6600"/>
                </a:solidFill>
                <a:latin typeface="Helvetica" pitchFamily="34" charset="0"/>
              </a:rPr>
              <a:t>Appraise staff performance</a:t>
            </a:r>
          </a:p>
        </p:txBody>
      </p:sp>
      <p:sp>
        <p:nvSpPr>
          <p:cNvPr id="3" name="Content Placeholder 2"/>
          <p:cNvSpPr>
            <a:spLocks noGrp="1"/>
          </p:cNvSpPr>
          <p:nvPr>
            <p:ph idx="1"/>
          </p:nvPr>
        </p:nvSpPr>
        <p:spPr>
          <a:xfrm>
            <a:off x="611560" y="1279848"/>
            <a:ext cx="7920880" cy="4968552"/>
          </a:xfrm>
        </p:spPr>
        <p:txBody>
          <a:bodyPr>
            <a:normAutofit/>
          </a:bodyPr>
          <a:lstStyle/>
          <a:p>
            <a:pPr>
              <a:lnSpc>
                <a:spcPct val="120000"/>
              </a:lnSpc>
              <a:spcBef>
                <a:spcPts val="600"/>
              </a:spcBef>
              <a:spcAft>
                <a:spcPts val="1200"/>
              </a:spcAft>
            </a:pPr>
            <a:r>
              <a:rPr lang="en-AU" sz="2200" dirty="0" smtClean="0">
                <a:latin typeface="Helvetica" pitchFamily="34" charset="0"/>
              </a:rPr>
              <a:t>This </a:t>
            </a:r>
            <a:r>
              <a:rPr lang="en-AU" sz="2200" dirty="0" smtClean="0">
                <a:latin typeface="Helvetica" pitchFamily="34" charset="0"/>
              </a:rPr>
              <a:t>is arguable the crux of the entire process where the staff member and management meet to discuss individual employee performance </a:t>
            </a:r>
          </a:p>
          <a:p>
            <a:pPr>
              <a:lnSpc>
                <a:spcPct val="120000"/>
              </a:lnSpc>
              <a:spcBef>
                <a:spcPts val="600"/>
              </a:spcBef>
              <a:spcAft>
                <a:spcPts val="1200"/>
              </a:spcAft>
            </a:pPr>
            <a:r>
              <a:rPr lang="en-AU" sz="2200" dirty="0" smtClean="0">
                <a:latin typeface="Helvetica" pitchFamily="34" charset="0"/>
              </a:rPr>
              <a:t>The interview provides an opportunity for both parties to speak and provide comment and feedback</a:t>
            </a:r>
          </a:p>
          <a:p>
            <a:pPr>
              <a:lnSpc>
                <a:spcPct val="120000"/>
              </a:lnSpc>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descr="MP900443186.JPG"/>
          <p:cNvPicPr/>
          <p:nvPr/>
        </p:nvPicPr>
        <p:blipFill>
          <a:blip r:embed="rId3" cstate="print"/>
          <a:stretch>
            <a:fillRect/>
          </a:stretch>
        </p:blipFill>
        <p:spPr>
          <a:xfrm>
            <a:off x="6477000" y="4191000"/>
            <a:ext cx="2000250" cy="1304925"/>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Appraise staff performance</a:t>
            </a:r>
          </a:p>
        </p:txBody>
      </p:sp>
      <p:sp>
        <p:nvSpPr>
          <p:cNvPr id="3" name="Content Placeholder 2"/>
          <p:cNvSpPr>
            <a:spLocks noGrp="1"/>
          </p:cNvSpPr>
          <p:nvPr>
            <p:ph idx="1"/>
          </p:nvPr>
        </p:nvSpPr>
        <p:spPr>
          <a:xfrm>
            <a:off x="611560" y="1143000"/>
            <a:ext cx="7920880" cy="5486400"/>
          </a:xfrm>
        </p:spPr>
        <p:txBody>
          <a:bodyPr>
            <a:normAutofit/>
          </a:bodyPr>
          <a:lstStyle/>
          <a:p>
            <a:pPr marL="0">
              <a:spcBef>
                <a:spcPts val="600"/>
              </a:spcBef>
              <a:spcAft>
                <a:spcPts val="1200"/>
              </a:spcAft>
              <a:buNone/>
            </a:pPr>
            <a:r>
              <a:rPr lang="en-AU" sz="2200" b="1" dirty="0" smtClean="0">
                <a:latin typeface="Helvetica" pitchFamily="34" charset="0"/>
              </a:rPr>
              <a:t>People involved in staff appraisals</a:t>
            </a:r>
          </a:p>
          <a:p>
            <a:pPr marL="0">
              <a:spcBef>
                <a:spcPts val="600"/>
              </a:spcBef>
              <a:spcAft>
                <a:spcPts val="1200"/>
              </a:spcAft>
              <a:buNone/>
            </a:pPr>
            <a:r>
              <a:rPr lang="en-AU" sz="2200" dirty="0" smtClean="0">
                <a:latin typeface="Helvetica" pitchFamily="34" charset="0"/>
              </a:rPr>
              <a:t>In determining who will appraise staff performance, the options are: </a:t>
            </a:r>
          </a:p>
          <a:p>
            <a:pPr marL="0" lvl="0">
              <a:spcBef>
                <a:spcPts val="600"/>
              </a:spcBef>
              <a:spcAft>
                <a:spcPts val="1200"/>
              </a:spcAft>
            </a:pPr>
            <a:r>
              <a:rPr lang="en-AU" sz="2200" dirty="0" smtClean="0">
                <a:latin typeface="Helvetica" pitchFamily="34" charset="0"/>
              </a:rPr>
              <a:t>Supervisor </a:t>
            </a:r>
          </a:p>
          <a:p>
            <a:pPr marL="0" lvl="0">
              <a:spcBef>
                <a:spcPts val="600"/>
              </a:spcBef>
              <a:spcAft>
                <a:spcPts val="1200"/>
              </a:spcAft>
            </a:pPr>
            <a:r>
              <a:rPr lang="en-AU" sz="2200" dirty="0" smtClean="0">
                <a:latin typeface="Helvetica" pitchFamily="34" charset="0"/>
              </a:rPr>
              <a:t>Customers </a:t>
            </a:r>
          </a:p>
          <a:p>
            <a:pPr marL="0" lvl="0">
              <a:spcBef>
                <a:spcPts val="600"/>
              </a:spcBef>
              <a:spcAft>
                <a:spcPts val="1200"/>
              </a:spcAft>
            </a:pPr>
            <a:r>
              <a:rPr lang="en-AU" sz="2200" dirty="0" smtClean="0">
                <a:latin typeface="Helvetica" pitchFamily="34" charset="0"/>
              </a:rPr>
              <a:t>Self-appraisal – the employee themselves </a:t>
            </a:r>
          </a:p>
          <a:p>
            <a:pPr marL="0" lvl="0">
              <a:spcBef>
                <a:spcPts val="600"/>
              </a:spcBef>
              <a:spcAft>
                <a:spcPts val="1200"/>
              </a:spcAft>
            </a:pPr>
            <a:r>
              <a:rPr lang="en-AU" sz="2200" dirty="0" smtClean="0">
                <a:latin typeface="Helvetica" pitchFamily="34" charset="0"/>
              </a:rPr>
              <a:t>Peer appraisal – using assessment centres </a:t>
            </a:r>
          </a:p>
          <a:p>
            <a:pPr marL="0" lvl="0">
              <a:spcBef>
                <a:spcPts val="600"/>
              </a:spcBef>
              <a:spcAft>
                <a:spcPts val="1200"/>
              </a:spcAft>
            </a:pPr>
            <a:r>
              <a:rPr lang="en-AU" sz="2200" dirty="0" smtClean="0">
                <a:latin typeface="Helvetica" pitchFamily="34" charset="0"/>
              </a:rPr>
              <a:t>Subordinate appraisal</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6" name="Picture 5" descr="MP900316785[1].JPG"/>
          <p:cNvPicPr>
            <a:picLocks noChangeAspect="1"/>
          </p:cNvPicPr>
          <p:nvPr/>
        </p:nvPicPr>
        <p:blipFill>
          <a:blip r:embed="rId3" cstate="print"/>
          <a:stretch>
            <a:fillRect/>
          </a:stretch>
        </p:blipFill>
        <p:spPr>
          <a:xfrm>
            <a:off x="6597317" y="4267200"/>
            <a:ext cx="1937083" cy="128816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Performance appraisal format</a:t>
            </a:r>
          </a:p>
        </p:txBody>
      </p:sp>
      <p:sp>
        <p:nvSpPr>
          <p:cNvPr id="3" name="Content Placeholder 2"/>
          <p:cNvSpPr>
            <a:spLocks noGrp="1"/>
          </p:cNvSpPr>
          <p:nvPr>
            <p:ph idx="1"/>
          </p:nvPr>
        </p:nvSpPr>
        <p:spPr>
          <a:xfrm>
            <a:off x="611560" y="1143000"/>
            <a:ext cx="7541840" cy="5562600"/>
          </a:xfrm>
        </p:spPr>
        <p:txBody>
          <a:bodyPr>
            <a:normAutofit/>
          </a:bodyPr>
          <a:lstStyle/>
          <a:p>
            <a:pPr marL="0" indent="0">
              <a:spcBef>
                <a:spcPts val="600"/>
              </a:spcBef>
              <a:spcAft>
                <a:spcPts val="1200"/>
              </a:spcAft>
              <a:buNone/>
            </a:pPr>
            <a:r>
              <a:rPr lang="en-AU" sz="2200" b="1" dirty="0" smtClean="0">
                <a:latin typeface="Helvetica" pitchFamily="34" charset="0"/>
              </a:rPr>
              <a:t>Key steps involved in conducting a performance appraisal</a:t>
            </a:r>
          </a:p>
          <a:p>
            <a:pPr>
              <a:spcBef>
                <a:spcPts val="600"/>
              </a:spcBef>
              <a:spcAft>
                <a:spcPts val="600"/>
              </a:spcAft>
            </a:pPr>
            <a:r>
              <a:rPr lang="en-AU" sz="2200" dirty="0" smtClean="0">
                <a:latin typeface="Helvetica" pitchFamily="34" charset="0"/>
              </a:rPr>
              <a:t>Preparation</a:t>
            </a:r>
          </a:p>
          <a:p>
            <a:pPr>
              <a:spcBef>
                <a:spcPts val="600"/>
              </a:spcBef>
              <a:spcAft>
                <a:spcPts val="600"/>
              </a:spcAft>
            </a:pPr>
            <a:r>
              <a:rPr lang="en-AU" sz="2200" dirty="0" smtClean="0">
                <a:latin typeface="Helvetica" pitchFamily="34" charset="0"/>
              </a:rPr>
              <a:t>Employee to present their appraisal </a:t>
            </a:r>
          </a:p>
          <a:p>
            <a:pPr>
              <a:spcBef>
                <a:spcPts val="600"/>
              </a:spcBef>
              <a:spcAft>
                <a:spcPts val="600"/>
              </a:spcAft>
            </a:pPr>
            <a:r>
              <a:rPr lang="en-AU" sz="2200" dirty="0" smtClean="0">
                <a:latin typeface="Helvetica" pitchFamily="34" charset="0"/>
              </a:rPr>
              <a:t>Present your appraisal </a:t>
            </a:r>
          </a:p>
          <a:p>
            <a:pPr>
              <a:spcBef>
                <a:spcPts val="600"/>
              </a:spcBef>
              <a:spcAft>
                <a:spcPts val="600"/>
              </a:spcAft>
            </a:pPr>
            <a:r>
              <a:rPr lang="en-AU" sz="2200" dirty="0" smtClean="0">
                <a:latin typeface="Helvetica" pitchFamily="34" charset="0"/>
              </a:rPr>
              <a:t>Allow the employee to explain any differences and to vent any emotion </a:t>
            </a:r>
          </a:p>
          <a:p>
            <a:pPr>
              <a:spcBef>
                <a:spcPts val="600"/>
              </a:spcBef>
              <a:spcAft>
                <a:spcPts val="600"/>
              </a:spcAft>
            </a:pPr>
            <a:r>
              <a:rPr lang="en-AU" sz="2200" dirty="0" smtClean="0">
                <a:latin typeface="Helvetica" pitchFamily="34" charset="0"/>
              </a:rPr>
              <a:t>Recognise problems or reward performance</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9" name="Picture 8" descr="MP900422531[1].JPG"/>
          <p:cNvPicPr>
            <a:picLocks noChangeAspect="1"/>
          </p:cNvPicPr>
          <p:nvPr/>
        </p:nvPicPr>
        <p:blipFill>
          <a:blip r:embed="rId3" cstate="print"/>
          <a:stretch>
            <a:fillRect/>
          </a:stretch>
        </p:blipFill>
        <p:spPr>
          <a:xfrm>
            <a:off x="6870700" y="4217640"/>
            <a:ext cx="1587500" cy="1268760"/>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734144"/>
          </a:xfrm>
        </p:spPr>
        <p:txBody>
          <a:bodyPr>
            <a:normAutofit/>
          </a:bodyPr>
          <a:lstStyle/>
          <a:p>
            <a:pPr marL="0"/>
            <a:r>
              <a:rPr lang="en-AU" sz="3200" b="1" dirty="0" smtClean="0">
                <a:solidFill>
                  <a:srgbClr val="FF6600"/>
                </a:solidFill>
                <a:latin typeface="Helvetica" pitchFamily="34" charset="0"/>
              </a:rPr>
              <a:t>Staff appraisal action plan</a:t>
            </a:r>
          </a:p>
        </p:txBody>
      </p:sp>
      <p:sp>
        <p:nvSpPr>
          <p:cNvPr id="3" name="Content Placeholder 2"/>
          <p:cNvSpPr>
            <a:spLocks noGrp="1"/>
          </p:cNvSpPr>
          <p:nvPr>
            <p:ph idx="1"/>
          </p:nvPr>
        </p:nvSpPr>
        <p:spPr>
          <a:xfrm>
            <a:off x="611560" y="1143000"/>
            <a:ext cx="7541840" cy="5486400"/>
          </a:xfrm>
        </p:spPr>
        <p:txBody>
          <a:bodyPr>
            <a:normAutofit/>
          </a:bodyPr>
          <a:lstStyle/>
          <a:p>
            <a:pPr marL="0">
              <a:spcBef>
                <a:spcPts val="600"/>
              </a:spcBef>
              <a:spcAft>
                <a:spcPts val="1200"/>
              </a:spcAft>
              <a:buNone/>
            </a:pPr>
            <a:r>
              <a:rPr lang="en-AU" sz="2200" b="1" dirty="0" smtClean="0">
                <a:latin typeface="Helvetica" pitchFamily="34" charset="0"/>
              </a:rPr>
              <a:t>Information for inclusion</a:t>
            </a:r>
          </a:p>
          <a:p>
            <a:pPr marL="0">
              <a:spcBef>
                <a:spcPts val="600"/>
              </a:spcBef>
              <a:spcAft>
                <a:spcPts val="1200"/>
              </a:spcAft>
            </a:pPr>
            <a:r>
              <a:rPr lang="en-AU" sz="2200" dirty="0" smtClean="0">
                <a:latin typeface="Helvetica" pitchFamily="34" charset="0"/>
              </a:rPr>
              <a:t>Action Description</a:t>
            </a:r>
          </a:p>
          <a:p>
            <a:pPr marL="0">
              <a:spcBef>
                <a:spcPts val="600"/>
              </a:spcBef>
              <a:spcAft>
                <a:spcPts val="1200"/>
              </a:spcAft>
            </a:pPr>
            <a:r>
              <a:rPr lang="en-AU" sz="2200" dirty="0" smtClean="0">
                <a:latin typeface="Helvetica" pitchFamily="34" charset="0"/>
              </a:rPr>
              <a:t>Approach</a:t>
            </a:r>
          </a:p>
          <a:p>
            <a:pPr marL="0">
              <a:spcBef>
                <a:spcPts val="600"/>
              </a:spcBef>
              <a:spcAft>
                <a:spcPts val="1200"/>
              </a:spcAft>
            </a:pPr>
            <a:r>
              <a:rPr lang="en-AU" sz="2200" dirty="0" smtClean="0">
                <a:latin typeface="Helvetica" pitchFamily="34" charset="0"/>
              </a:rPr>
              <a:t>Resources Required</a:t>
            </a:r>
          </a:p>
          <a:p>
            <a:pPr marL="0">
              <a:spcBef>
                <a:spcPts val="600"/>
              </a:spcBef>
              <a:spcAft>
                <a:spcPts val="1200"/>
              </a:spcAft>
            </a:pPr>
            <a:r>
              <a:rPr lang="en-AU" sz="2200" dirty="0" smtClean="0">
                <a:latin typeface="Helvetica" pitchFamily="34" charset="0"/>
              </a:rPr>
              <a:t>Mgt Assistance</a:t>
            </a:r>
          </a:p>
          <a:p>
            <a:pPr marL="0">
              <a:spcBef>
                <a:spcPts val="600"/>
              </a:spcBef>
              <a:spcAft>
                <a:spcPts val="1200"/>
              </a:spcAft>
            </a:pPr>
            <a:r>
              <a:rPr lang="en-AU" sz="2200" dirty="0" smtClean="0">
                <a:latin typeface="Helvetica" pitchFamily="34" charset="0"/>
              </a:rPr>
              <a:t>Start Date</a:t>
            </a:r>
          </a:p>
          <a:p>
            <a:pPr marL="0">
              <a:spcBef>
                <a:spcPts val="600"/>
              </a:spcBef>
              <a:spcAft>
                <a:spcPts val="1200"/>
              </a:spcAft>
            </a:pPr>
            <a:r>
              <a:rPr lang="en-AU" sz="2200" dirty="0" smtClean="0">
                <a:latin typeface="Helvetica" pitchFamily="34" charset="0"/>
              </a:rPr>
              <a:t>Completion Date</a:t>
            </a:r>
          </a:p>
          <a:p>
            <a:pPr marL="0">
              <a:spcBef>
                <a:spcPts val="600"/>
              </a:spcBef>
              <a:spcAft>
                <a:spcPts val="1200"/>
              </a:spcAft>
            </a:pPr>
            <a:r>
              <a:rPr lang="en-AU" sz="2200" dirty="0" smtClean="0">
                <a:latin typeface="Helvetica" pitchFamily="34" charset="0"/>
              </a:rPr>
              <a:t>Review Date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7" name="Picture 6" descr="MP910220783[1].JPG"/>
          <p:cNvPicPr>
            <a:picLocks noChangeAspect="1"/>
          </p:cNvPicPr>
          <p:nvPr/>
        </p:nvPicPr>
        <p:blipFill>
          <a:blip r:embed="rId3" cstate="print"/>
          <a:stretch>
            <a:fillRect/>
          </a:stretch>
        </p:blipFill>
        <p:spPr>
          <a:xfrm>
            <a:off x="6801220" y="3810000"/>
            <a:ext cx="1656980" cy="1655784"/>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94802"/>
          </a:xfrm>
        </p:spPr>
        <p:txBody>
          <a:bodyPr>
            <a:normAutofit/>
          </a:bodyPr>
          <a:lstStyle/>
          <a:p>
            <a:pPr marL="0"/>
            <a:r>
              <a:rPr lang="en-AU" sz="3200" b="1" dirty="0" smtClean="0">
                <a:solidFill>
                  <a:srgbClr val="FF6600"/>
                </a:solidFill>
                <a:latin typeface="Helvetica" pitchFamily="34" charset="0"/>
              </a:rPr>
              <a:t>Staff appraisal outcomes</a:t>
            </a:r>
          </a:p>
        </p:txBody>
      </p:sp>
      <p:sp>
        <p:nvSpPr>
          <p:cNvPr id="3" name="Content Placeholder 2"/>
          <p:cNvSpPr>
            <a:spLocks noGrp="1"/>
          </p:cNvSpPr>
          <p:nvPr>
            <p:ph idx="1"/>
          </p:nvPr>
        </p:nvSpPr>
        <p:spPr>
          <a:xfrm>
            <a:off x="611560" y="1219200"/>
            <a:ext cx="7694240" cy="5486400"/>
          </a:xfrm>
        </p:spPr>
        <p:txBody>
          <a:bodyPr>
            <a:normAutofit/>
          </a:bodyPr>
          <a:lstStyle/>
          <a:p>
            <a:pPr>
              <a:spcBef>
                <a:spcPts val="600"/>
              </a:spcBef>
              <a:spcAft>
                <a:spcPts val="1200"/>
              </a:spcAft>
              <a:buNone/>
            </a:pPr>
            <a:r>
              <a:rPr lang="en-AU" sz="2200" b="1" dirty="0" smtClean="0">
                <a:latin typeface="Helvetica" pitchFamily="34" charset="0"/>
              </a:rPr>
              <a:t>Types of staff appraisal outcome actions</a:t>
            </a:r>
          </a:p>
          <a:p>
            <a:pPr marL="0">
              <a:spcBef>
                <a:spcPts val="600"/>
              </a:spcBef>
              <a:spcAft>
                <a:spcPts val="1200"/>
              </a:spcAft>
              <a:buNone/>
            </a:pPr>
            <a:r>
              <a:rPr lang="en-AU" sz="2200" dirty="0" smtClean="0">
                <a:latin typeface="Helvetica" pitchFamily="34" charset="0"/>
              </a:rPr>
              <a:t>In its most simple form a staff appraisal will identify two types of performance:</a:t>
            </a:r>
          </a:p>
          <a:p>
            <a:pPr lvl="0">
              <a:spcBef>
                <a:spcPts val="600"/>
              </a:spcBef>
              <a:spcAft>
                <a:spcPts val="1200"/>
              </a:spcAft>
            </a:pPr>
            <a:r>
              <a:rPr lang="en-AU" sz="2200" dirty="0" smtClean="0">
                <a:latin typeface="Helvetica" pitchFamily="34" charset="0"/>
              </a:rPr>
              <a:t>Performance which meets or exceeds standards and expectations</a:t>
            </a:r>
          </a:p>
          <a:p>
            <a:pPr lvl="0">
              <a:spcBef>
                <a:spcPts val="600"/>
              </a:spcBef>
              <a:spcAft>
                <a:spcPts val="1200"/>
              </a:spcAft>
            </a:pPr>
            <a:r>
              <a:rPr lang="en-AU" sz="2200" dirty="0" smtClean="0">
                <a:latin typeface="Helvetica" pitchFamily="34" charset="0"/>
              </a:rPr>
              <a:t>Performance which </a:t>
            </a:r>
            <a:r>
              <a:rPr lang="en-AU" sz="2200" u="sng" dirty="0" smtClean="0">
                <a:latin typeface="Helvetica" pitchFamily="34" charset="0"/>
              </a:rPr>
              <a:t>does not</a:t>
            </a:r>
            <a:r>
              <a:rPr lang="en-AU" sz="2200" dirty="0" smtClean="0">
                <a:latin typeface="Helvetica" pitchFamily="34" charset="0"/>
              </a:rPr>
              <a:t> meet standards and expectations</a:t>
            </a:r>
          </a:p>
          <a:p>
            <a:pPr marL="0">
              <a:spcBef>
                <a:spcPts val="600"/>
              </a:spcBef>
              <a:spcAft>
                <a:spcPts val="1200"/>
              </a:spcAft>
              <a:buNone/>
            </a:pPr>
            <a:r>
              <a:rPr lang="en-AU" sz="2200" dirty="0" smtClean="0">
                <a:latin typeface="Helvetica" pitchFamily="34" charset="0"/>
              </a:rPr>
              <a:t>The approach taken in response to these </a:t>
            </a:r>
            <a:br>
              <a:rPr lang="en-AU" sz="2200" dirty="0" smtClean="0">
                <a:latin typeface="Helvetica" pitchFamily="34" charset="0"/>
              </a:rPr>
            </a:br>
            <a:r>
              <a:rPr lang="en-AU" sz="2200" dirty="0" smtClean="0">
                <a:latin typeface="Helvetica" pitchFamily="34" charset="0"/>
              </a:rPr>
              <a:t>performances will vary depending on the </a:t>
            </a:r>
            <a:br>
              <a:rPr lang="en-AU" sz="2200" dirty="0" smtClean="0">
                <a:latin typeface="Helvetica" pitchFamily="34" charset="0"/>
              </a:rPr>
            </a:br>
            <a:r>
              <a:rPr lang="en-AU" sz="2200" dirty="0" smtClean="0">
                <a:latin typeface="Helvetica" pitchFamily="34" charset="0"/>
              </a:rPr>
              <a:t>severity of performance, either positive or </a:t>
            </a:r>
            <a:br>
              <a:rPr lang="en-AU" sz="2200" dirty="0" smtClean="0">
                <a:latin typeface="Helvetica" pitchFamily="34" charset="0"/>
              </a:rPr>
            </a:br>
            <a:r>
              <a:rPr lang="en-AU" sz="2200" dirty="0" smtClean="0">
                <a:latin typeface="Helvetica" pitchFamily="34" charset="0"/>
              </a:rPr>
              <a:t>negative.</a:t>
            </a:r>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7" name="Picture 6" descr="MP900400321[1].JPG"/>
          <p:cNvPicPr>
            <a:picLocks noChangeAspect="1"/>
          </p:cNvPicPr>
          <p:nvPr/>
        </p:nvPicPr>
        <p:blipFill>
          <a:blip r:embed="rId3" cstate="print"/>
          <a:stretch>
            <a:fillRect/>
          </a:stretch>
        </p:blipFill>
        <p:spPr>
          <a:xfrm>
            <a:off x="6643186" y="4241840"/>
            <a:ext cx="1815014" cy="1209536"/>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Staff appraisal outcomes</a:t>
            </a:r>
          </a:p>
        </p:txBody>
      </p:sp>
      <p:sp>
        <p:nvSpPr>
          <p:cNvPr id="3" name="Content Placeholder 2"/>
          <p:cNvSpPr>
            <a:spLocks noGrp="1"/>
          </p:cNvSpPr>
          <p:nvPr>
            <p:ph idx="1"/>
          </p:nvPr>
        </p:nvSpPr>
        <p:spPr>
          <a:xfrm>
            <a:off x="611560" y="1143000"/>
            <a:ext cx="8208912" cy="4968552"/>
          </a:xfrm>
        </p:spPr>
        <p:txBody>
          <a:bodyPr>
            <a:normAutofit/>
          </a:bodyPr>
          <a:lstStyle/>
          <a:p>
            <a:pPr marL="0">
              <a:spcBef>
                <a:spcPts val="600"/>
              </a:spcBef>
              <a:spcAft>
                <a:spcPts val="1200"/>
              </a:spcAft>
              <a:buNone/>
            </a:pPr>
            <a:r>
              <a:rPr lang="en-AU" sz="2200" b="1" dirty="0" smtClean="0">
                <a:latin typeface="Helvetica" pitchFamily="34" charset="0"/>
              </a:rPr>
              <a:t>Performance which meets or exceeds standards and expectations</a:t>
            </a:r>
          </a:p>
          <a:p>
            <a:pPr lvl="0">
              <a:spcBef>
                <a:spcPts val="600"/>
              </a:spcBef>
              <a:spcAft>
                <a:spcPts val="1200"/>
              </a:spcAft>
            </a:pPr>
            <a:r>
              <a:rPr lang="en-AU" sz="2200" dirty="0" smtClean="0">
                <a:latin typeface="Helvetica" pitchFamily="34" charset="0"/>
              </a:rPr>
              <a:t>Recognition and Reward</a:t>
            </a:r>
          </a:p>
          <a:p>
            <a:pPr marL="0">
              <a:spcBef>
                <a:spcPts val="600"/>
              </a:spcBef>
              <a:spcAft>
                <a:spcPts val="1200"/>
              </a:spcAft>
              <a:buNone/>
            </a:pPr>
            <a:r>
              <a:rPr lang="en-AU" sz="2200" b="1" dirty="0" smtClean="0">
                <a:latin typeface="Helvetica" pitchFamily="34" charset="0"/>
              </a:rPr>
              <a:t>Performance which </a:t>
            </a:r>
            <a:r>
              <a:rPr lang="en-AU" sz="2200" b="1" u="sng" dirty="0" smtClean="0">
                <a:latin typeface="Helvetica" pitchFamily="34" charset="0"/>
              </a:rPr>
              <a:t>does not</a:t>
            </a:r>
            <a:r>
              <a:rPr lang="en-AU" sz="2200" b="1" dirty="0" smtClean="0">
                <a:latin typeface="Helvetica" pitchFamily="34" charset="0"/>
              </a:rPr>
              <a:t> meet standards and expectations</a:t>
            </a:r>
          </a:p>
          <a:p>
            <a:pPr lvl="0">
              <a:spcBef>
                <a:spcPts val="600"/>
              </a:spcBef>
              <a:spcAft>
                <a:spcPts val="1200"/>
              </a:spcAft>
            </a:pPr>
            <a:r>
              <a:rPr lang="en-AU" sz="2200" dirty="0" smtClean="0">
                <a:latin typeface="Helvetica" pitchFamily="34" charset="0"/>
              </a:rPr>
              <a:t>Guidance and Support </a:t>
            </a:r>
          </a:p>
          <a:p>
            <a:pPr lvl="0">
              <a:spcBef>
                <a:spcPts val="600"/>
              </a:spcBef>
              <a:spcAft>
                <a:spcPts val="1200"/>
              </a:spcAft>
            </a:pPr>
            <a:r>
              <a:rPr lang="en-AU" sz="2200" dirty="0" smtClean="0">
                <a:latin typeface="Helvetica" pitchFamily="34" charset="0"/>
              </a:rPr>
              <a:t>Coaching and Training</a:t>
            </a:r>
          </a:p>
          <a:p>
            <a:pPr lvl="0">
              <a:spcBef>
                <a:spcPts val="600"/>
              </a:spcBef>
              <a:spcAft>
                <a:spcPts val="1200"/>
              </a:spcAft>
            </a:pPr>
            <a:r>
              <a:rPr lang="en-AU" sz="2200" dirty="0" smtClean="0">
                <a:latin typeface="Helvetica" pitchFamily="34" charset="0"/>
              </a:rPr>
              <a:t>Formal Counselling</a:t>
            </a:r>
          </a:p>
          <a:p>
            <a:pPr lvl="0">
              <a:spcBef>
                <a:spcPts val="600"/>
              </a:spcBef>
              <a:spcAft>
                <a:spcPts val="1200"/>
              </a:spcAft>
            </a:pPr>
            <a:r>
              <a:rPr lang="en-AU" sz="2200" dirty="0" smtClean="0">
                <a:latin typeface="Helvetica" pitchFamily="34" charset="0"/>
              </a:rPr>
              <a:t>Disciplinary Action</a:t>
            </a:r>
          </a:p>
          <a:p>
            <a:endParaRPr lang="en-AU" sz="2400" dirty="0" smtClean="0"/>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9" name="Picture 8" descr="MP900316786.JPG"/>
          <p:cNvPicPr>
            <a:picLocks noChangeAspect="1"/>
          </p:cNvPicPr>
          <p:nvPr/>
        </p:nvPicPr>
        <p:blipFill>
          <a:blip r:embed="rId3" cstate="print"/>
          <a:stretch>
            <a:fillRect/>
          </a:stretch>
        </p:blipFill>
        <p:spPr>
          <a:xfrm>
            <a:off x="6400800" y="4114800"/>
            <a:ext cx="2049016" cy="1366011"/>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734144"/>
          </a:xfrm>
        </p:spPr>
        <p:txBody>
          <a:bodyPr>
            <a:normAutofit/>
          </a:bodyPr>
          <a:lstStyle/>
          <a:p>
            <a:pPr marL="0"/>
            <a:r>
              <a:rPr lang="en-AU" sz="3200" b="1" dirty="0" smtClean="0">
                <a:solidFill>
                  <a:srgbClr val="FF6600"/>
                </a:solidFill>
                <a:latin typeface="Helvetica" pitchFamily="34" charset="0"/>
              </a:rPr>
              <a:t>Coaching and training</a:t>
            </a:r>
          </a:p>
        </p:txBody>
      </p:sp>
      <p:sp>
        <p:nvSpPr>
          <p:cNvPr id="3" name="Content Placeholder 2"/>
          <p:cNvSpPr>
            <a:spLocks noGrp="1"/>
          </p:cNvSpPr>
          <p:nvPr>
            <p:ph idx="1"/>
          </p:nvPr>
        </p:nvSpPr>
        <p:spPr>
          <a:xfrm>
            <a:off x="611560" y="1066800"/>
            <a:ext cx="7618040" cy="5486400"/>
          </a:xfrm>
        </p:spPr>
        <p:txBody>
          <a:bodyPr>
            <a:normAutofit/>
          </a:bodyPr>
          <a:lstStyle/>
          <a:p>
            <a:pPr marL="0">
              <a:spcBef>
                <a:spcPts val="600"/>
              </a:spcBef>
              <a:spcAft>
                <a:spcPts val="1200"/>
              </a:spcAft>
              <a:buNone/>
            </a:pPr>
            <a:r>
              <a:rPr lang="en-AU" sz="2200" dirty="0" smtClean="0">
                <a:latin typeface="Helvetica" pitchFamily="34" charset="0"/>
              </a:rPr>
              <a:t>Where staff performance is below requirements, one effective way of addressing this situation is to provide appropriate coaching or training. </a:t>
            </a:r>
          </a:p>
          <a:p>
            <a:pPr>
              <a:spcBef>
                <a:spcPts val="600"/>
              </a:spcBef>
              <a:spcAft>
                <a:spcPts val="1200"/>
              </a:spcAft>
              <a:buNone/>
            </a:pPr>
            <a:r>
              <a:rPr lang="en-AU" sz="2200" dirty="0" smtClean="0">
                <a:latin typeface="Helvetica" pitchFamily="34" charset="0"/>
              </a:rPr>
              <a:t>To address staff performance deficiencies, you may elect to: </a:t>
            </a:r>
          </a:p>
          <a:p>
            <a:pPr lvl="0">
              <a:spcBef>
                <a:spcPts val="600"/>
              </a:spcBef>
              <a:spcAft>
                <a:spcPts val="1200"/>
              </a:spcAft>
            </a:pPr>
            <a:r>
              <a:rPr lang="en-AU" sz="2200" dirty="0" smtClean="0">
                <a:latin typeface="Helvetica" pitchFamily="34" charset="0"/>
              </a:rPr>
              <a:t>Provide on-the-job training </a:t>
            </a:r>
          </a:p>
          <a:p>
            <a:pPr lvl="0">
              <a:spcBef>
                <a:spcPts val="600"/>
              </a:spcBef>
              <a:spcAft>
                <a:spcPts val="1200"/>
              </a:spcAft>
            </a:pPr>
            <a:r>
              <a:rPr lang="en-AU" sz="2200" dirty="0" smtClean="0">
                <a:latin typeface="Helvetica" pitchFamily="34" charset="0"/>
              </a:rPr>
              <a:t>Mentor the staff </a:t>
            </a:r>
          </a:p>
          <a:p>
            <a:pPr lvl="0">
              <a:spcBef>
                <a:spcPts val="600"/>
              </a:spcBef>
              <a:spcAft>
                <a:spcPts val="1200"/>
              </a:spcAft>
            </a:pPr>
            <a:r>
              <a:rPr lang="en-AU" sz="2200" dirty="0" smtClean="0">
                <a:latin typeface="Helvetica" pitchFamily="34" charset="0"/>
              </a:rPr>
              <a:t>Coach the staff </a:t>
            </a:r>
          </a:p>
          <a:p>
            <a:pPr lvl="0">
              <a:spcBef>
                <a:spcPts val="600"/>
              </a:spcBef>
              <a:spcAft>
                <a:spcPts val="1200"/>
              </a:spcAft>
            </a:pPr>
            <a:r>
              <a:rPr lang="en-AU" sz="2200" dirty="0" smtClean="0">
                <a:latin typeface="Helvetica" pitchFamily="34" charset="0"/>
              </a:rPr>
              <a:t>Involve the employee in off-the-job training</a:t>
            </a:r>
          </a:p>
          <a:p>
            <a:pPr lvl="0">
              <a:spcBef>
                <a:spcPts val="600"/>
              </a:spcBef>
              <a:spcAft>
                <a:spcPts val="1200"/>
              </a:spcAft>
            </a:pPr>
            <a:r>
              <a:rPr lang="en-AU" sz="2200" dirty="0" smtClean="0">
                <a:latin typeface="Helvetica" pitchFamily="34" charset="0"/>
              </a:rPr>
              <a:t>Provide formal in-house training, off-the-job</a:t>
            </a:r>
          </a:p>
          <a:p>
            <a:pPr marL="0">
              <a:spcBef>
                <a:spcPts val="600"/>
              </a:spcBef>
              <a:spcAft>
                <a:spcPts val="1200"/>
              </a:spcAft>
              <a:buNone/>
            </a:pP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7" name="Picture 6" descr="MP900422116.JPG"/>
          <p:cNvPicPr/>
          <p:nvPr/>
        </p:nvPicPr>
        <p:blipFill>
          <a:blip r:embed="rId3" cstate="print"/>
          <a:stretch>
            <a:fillRect/>
          </a:stretch>
        </p:blipFill>
        <p:spPr>
          <a:xfrm>
            <a:off x="6781800" y="4286250"/>
            <a:ext cx="1657350" cy="1200150"/>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219200"/>
            <a:ext cx="7465640" cy="4968552"/>
          </a:xfrm>
        </p:spPr>
        <p:txBody>
          <a:bodyPr>
            <a:normAutofit/>
          </a:bodyPr>
          <a:lstStyle/>
          <a:p>
            <a:pPr marL="0">
              <a:spcBef>
                <a:spcPts val="600"/>
              </a:spcBef>
              <a:spcAft>
                <a:spcPts val="1200"/>
              </a:spcAft>
              <a:buNone/>
            </a:pPr>
            <a:r>
              <a:rPr lang="en-AU" sz="2200" dirty="0" smtClean="0">
                <a:latin typeface="Helvetica" pitchFamily="34" charset="0"/>
              </a:rPr>
              <a:t>Regardless of the action chosen as a result of the performance appraisal, it is the role of the manager to follow up the performance of staff in the workplace to see:</a:t>
            </a:r>
          </a:p>
          <a:p>
            <a:pPr>
              <a:spcBef>
                <a:spcPts val="600"/>
              </a:spcBef>
              <a:spcAft>
                <a:spcPts val="1200"/>
              </a:spcAft>
            </a:pPr>
            <a:r>
              <a:rPr lang="en-AU" sz="2200" dirty="0" smtClean="0">
                <a:latin typeface="Helvetica" pitchFamily="34" charset="0"/>
              </a:rPr>
              <a:t>If the desired changes have actually taken place</a:t>
            </a:r>
          </a:p>
          <a:p>
            <a:pPr>
              <a:spcBef>
                <a:spcPts val="600"/>
              </a:spcBef>
              <a:spcAft>
                <a:spcPts val="1200"/>
              </a:spcAft>
            </a:pPr>
            <a:r>
              <a:rPr lang="en-AU" sz="2200" dirty="0" smtClean="0">
                <a:latin typeface="Helvetica" pitchFamily="34" charset="0"/>
              </a:rPr>
              <a:t>The current progress towards them</a:t>
            </a:r>
          </a:p>
          <a:p>
            <a:pPr>
              <a:spcBef>
                <a:spcPts val="600"/>
              </a:spcBef>
              <a:spcAft>
                <a:spcPts val="1200"/>
              </a:spcAft>
            </a:pPr>
            <a:r>
              <a:rPr lang="en-AU" sz="2200" dirty="0" smtClean="0">
                <a:latin typeface="Helvetica" pitchFamily="34" charset="0"/>
              </a:rPr>
              <a:t>If the action plan is still relevant</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7" name="Picture 6" descr="Group.jpg"/>
          <p:cNvPicPr/>
          <p:nvPr/>
        </p:nvPicPr>
        <p:blipFill>
          <a:blip r:embed="rId3" cstate="print"/>
          <a:stretch>
            <a:fillRect/>
          </a:stretch>
        </p:blipFill>
        <p:spPr>
          <a:xfrm>
            <a:off x="6705481" y="4111377"/>
            <a:ext cx="1752719" cy="1375023"/>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143000"/>
            <a:ext cx="7313240" cy="4968552"/>
          </a:xfrm>
        </p:spPr>
        <p:txBody>
          <a:bodyPr>
            <a:normAutofit/>
          </a:bodyPr>
          <a:lstStyle/>
          <a:p>
            <a:pPr>
              <a:spcBef>
                <a:spcPts val="600"/>
              </a:spcBef>
              <a:spcAft>
                <a:spcPts val="1200"/>
              </a:spcAft>
              <a:buNone/>
            </a:pPr>
            <a:r>
              <a:rPr lang="en-AU" sz="2200" b="1" dirty="0" smtClean="0">
                <a:latin typeface="Helvetica" pitchFamily="34" charset="0"/>
              </a:rPr>
              <a:t>Following up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Obviously the follow-up will depend on what was originally contained in the action plan. </a:t>
            </a:r>
          </a:p>
          <a:p>
            <a:pPr>
              <a:spcBef>
                <a:spcPts val="600"/>
              </a:spcBef>
              <a:spcAft>
                <a:spcPts val="1200"/>
              </a:spcAft>
              <a:buNone/>
            </a:pPr>
            <a:r>
              <a:rPr lang="en-AU" sz="2200" dirty="0" smtClean="0">
                <a:latin typeface="Helvetica" pitchFamily="34" charset="0"/>
              </a:rPr>
              <a:t>The two basic follow-up actions are: </a:t>
            </a:r>
          </a:p>
          <a:p>
            <a:pPr lvl="0">
              <a:spcBef>
                <a:spcPts val="600"/>
              </a:spcBef>
              <a:spcAft>
                <a:spcPts val="1200"/>
              </a:spcAft>
            </a:pPr>
            <a:r>
              <a:rPr lang="en-AU" sz="2200" dirty="0" smtClean="0">
                <a:latin typeface="Helvetica" pitchFamily="34" charset="0"/>
              </a:rPr>
              <a:t>Checking that what was promised is happening </a:t>
            </a:r>
          </a:p>
          <a:p>
            <a:pPr lvl="0">
              <a:spcBef>
                <a:spcPts val="600"/>
              </a:spcBef>
              <a:spcAft>
                <a:spcPts val="1200"/>
              </a:spcAft>
            </a:pPr>
            <a:r>
              <a:rPr lang="en-AU" sz="2200" dirty="0" smtClean="0">
                <a:latin typeface="Helvetica" pitchFamily="34" charset="0"/>
              </a:rPr>
              <a:t>Taking action to make sure things happen </a:t>
            </a:r>
            <a:br>
              <a:rPr lang="en-AU" sz="2200" dirty="0" smtClean="0">
                <a:latin typeface="Helvetica" pitchFamily="34" charset="0"/>
              </a:rPr>
            </a:br>
            <a:r>
              <a:rPr lang="en-AU" sz="2200" dirty="0" smtClean="0">
                <a:latin typeface="Helvetica" pitchFamily="34" charset="0"/>
              </a:rPr>
              <a:t>as planned</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8" name="Picture 7" descr="1111.jpg"/>
          <p:cNvPicPr>
            <a:picLocks noChangeAspect="1"/>
          </p:cNvPicPr>
          <p:nvPr/>
        </p:nvPicPr>
        <p:blipFill>
          <a:blip r:embed="rId3" cstate="print"/>
          <a:stretch>
            <a:fillRect/>
          </a:stretch>
        </p:blipFill>
        <p:spPr>
          <a:xfrm>
            <a:off x="6588184" y="4039352"/>
            <a:ext cx="1870016" cy="1370848"/>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219200"/>
            <a:ext cx="7541840" cy="4968552"/>
          </a:xfrm>
        </p:spPr>
        <p:txBody>
          <a:bodyPr>
            <a:normAutofit/>
          </a:bodyPr>
          <a:lstStyle/>
          <a:p>
            <a:pPr marL="0">
              <a:spcBef>
                <a:spcPts val="600"/>
              </a:spcBef>
              <a:spcAft>
                <a:spcPts val="1200"/>
              </a:spcAft>
              <a:buNone/>
            </a:pPr>
            <a:r>
              <a:rPr lang="en-AU" sz="2200" b="1" dirty="0" smtClean="0">
                <a:latin typeface="Helvetica" pitchFamily="34" charset="0"/>
              </a:rPr>
              <a:t>Methods to follow up changes</a:t>
            </a:r>
          </a:p>
          <a:p>
            <a:pPr marL="0">
              <a:spcBef>
                <a:spcPts val="600"/>
              </a:spcBef>
              <a:spcAft>
                <a:spcPts val="1200"/>
              </a:spcAft>
              <a:buNone/>
            </a:pPr>
            <a:r>
              <a:rPr lang="en-AU" sz="2200" dirty="0" smtClean="0">
                <a:latin typeface="Helvetica" pitchFamily="34" charset="0"/>
              </a:rPr>
              <a:t>A manager can:</a:t>
            </a:r>
          </a:p>
          <a:p>
            <a:pPr marL="0">
              <a:spcBef>
                <a:spcPts val="600"/>
              </a:spcBef>
              <a:spcAft>
                <a:spcPts val="1200"/>
              </a:spcAft>
            </a:pPr>
            <a:r>
              <a:rPr lang="en-AU" sz="2200" dirty="0" smtClean="0">
                <a:latin typeface="Helvetica" pitchFamily="34" charset="0"/>
              </a:rPr>
              <a:t>Observe the staff member in the workplace </a:t>
            </a:r>
          </a:p>
          <a:p>
            <a:pPr marL="0">
              <a:spcBef>
                <a:spcPts val="600"/>
              </a:spcBef>
              <a:spcAft>
                <a:spcPts val="1200"/>
              </a:spcAft>
            </a:pPr>
            <a:r>
              <a:rPr lang="en-AU" sz="2200" dirty="0" smtClean="0">
                <a:latin typeface="Helvetica" pitchFamily="34" charset="0"/>
              </a:rPr>
              <a:t>Talk to customers</a:t>
            </a:r>
          </a:p>
          <a:p>
            <a:pPr marL="0">
              <a:spcBef>
                <a:spcPts val="600"/>
              </a:spcBef>
              <a:spcAft>
                <a:spcPts val="1200"/>
              </a:spcAft>
            </a:pPr>
            <a:r>
              <a:rPr lang="en-AU" sz="2200" dirty="0" smtClean="0">
                <a:latin typeface="Helvetica" pitchFamily="34" charset="0"/>
              </a:rPr>
              <a:t>Speak with other supervisors </a:t>
            </a:r>
          </a:p>
          <a:p>
            <a:pPr marL="0">
              <a:spcBef>
                <a:spcPts val="600"/>
              </a:spcBef>
              <a:spcAft>
                <a:spcPts val="1200"/>
              </a:spcAft>
            </a:pPr>
            <a:r>
              <a:rPr lang="en-AU" sz="2200" dirty="0" smtClean="0">
                <a:latin typeface="Helvetica" pitchFamily="34" charset="0"/>
              </a:rPr>
              <a:t>Discuss directly with the employee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6" name="Picture 5" descr="00341396.jpg"/>
          <p:cNvPicPr>
            <a:picLocks noChangeAspect="1"/>
          </p:cNvPicPr>
          <p:nvPr/>
        </p:nvPicPr>
        <p:blipFill>
          <a:blip r:embed="rId3" cstate="print"/>
          <a:stretch>
            <a:fillRect/>
          </a:stretch>
        </p:blipFill>
        <p:spPr>
          <a:xfrm>
            <a:off x="6934200" y="3310136"/>
            <a:ext cx="1498046" cy="2100064"/>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219200"/>
            <a:ext cx="7465640" cy="4968552"/>
          </a:xfrm>
        </p:spPr>
        <p:txBody>
          <a:bodyPr>
            <a:normAutofit/>
          </a:bodyPr>
          <a:lstStyle/>
          <a:p>
            <a:pPr marL="0">
              <a:spcBef>
                <a:spcPts val="600"/>
              </a:spcBef>
              <a:spcAft>
                <a:spcPts val="1200"/>
              </a:spcAft>
              <a:buNone/>
            </a:pPr>
            <a:r>
              <a:rPr lang="en-AU" sz="2200" b="1" dirty="0" smtClean="0">
                <a:latin typeface="Helvetica" pitchFamily="34" charset="0"/>
              </a:rPr>
              <a:t>Follow up requirements</a:t>
            </a:r>
          </a:p>
          <a:p>
            <a:pPr>
              <a:spcBef>
                <a:spcPts val="600"/>
              </a:spcBef>
              <a:spcAft>
                <a:spcPts val="1200"/>
              </a:spcAft>
              <a:buNone/>
            </a:pPr>
            <a:r>
              <a:rPr lang="en-AU" sz="2200" dirty="0" smtClean="0">
                <a:latin typeface="Helvetica" pitchFamily="34" charset="0"/>
              </a:rPr>
              <a:t>You may be required to: </a:t>
            </a:r>
          </a:p>
          <a:p>
            <a:pPr lvl="0">
              <a:spcBef>
                <a:spcPts val="600"/>
              </a:spcBef>
              <a:spcAft>
                <a:spcPts val="1200"/>
              </a:spcAft>
            </a:pPr>
            <a:r>
              <a:rPr lang="en-AU" sz="2200" dirty="0" smtClean="0">
                <a:latin typeface="Helvetica" pitchFamily="34" charset="0"/>
              </a:rPr>
              <a:t>Confirm training has been delivered as scheduled </a:t>
            </a:r>
          </a:p>
          <a:p>
            <a:pPr lvl="0">
              <a:spcBef>
                <a:spcPts val="600"/>
              </a:spcBef>
              <a:spcAft>
                <a:spcPts val="1200"/>
              </a:spcAft>
            </a:pPr>
            <a:r>
              <a:rPr lang="en-AU" sz="2200" dirty="0" smtClean="0">
                <a:latin typeface="Helvetica" pitchFamily="34" charset="0"/>
              </a:rPr>
              <a:t>Confirm the employee has attended and is participating actively in training </a:t>
            </a:r>
          </a:p>
          <a:p>
            <a:pPr lvl="0">
              <a:spcBef>
                <a:spcPts val="600"/>
              </a:spcBef>
              <a:spcAft>
                <a:spcPts val="1200"/>
              </a:spcAft>
            </a:pPr>
            <a:r>
              <a:rPr lang="en-AU" sz="2200" dirty="0" smtClean="0">
                <a:latin typeface="Helvetica" pitchFamily="34" charset="0"/>
              </a:rPr>
              <a:t>Confirm staff who have been allocated coaching </a:t>
            </a:r>
            <a:br>
              <a:rPr lang="en-AU" sz="2200" dirty="0" smtClean="0">
                <a:latin typeface="Helvetica" pitchFamily="34" charset="0"/>
              </a:rPr>
            </a:br>
            <a:r>
              <a:rPr lang="en-AU" sz="2200" dirty="0" smtClean="0">
                <a:latin typeface="Helvetica" pitchFamily="34" charset="0"/>
              </a:rPr>
              <a:t>tasks are doing what they have been asked to do </a:t>
            </a:r>
          </a:p>
          <a:p>
            <a:pPr lvl="0">
              <a:spcBef>
                <a:spcPts val="600"/>
              </a:spcBef>
              <a:spcAft>
                <a:spcPts val="1200"/>
              </a:spcAft>
            </a:pPr>
            <a:r>
              <a:rPr lang="en-AU" sz="2200" dirty="0" smtClean="0">
                <a:latin typeface="Helvetica" pitchFamily="34" charset="0"/>
              </a:rPr>
              <a:t>Confirm promised resources have </a:t>
            </a:r>
            <a:br>
              <a:rPr lang="en-AU" sz="2200" dirty="0" smtClean="0">
                <a:latin typeface="Helvetica" pitchFamily="34" charset="0"/>
              </a:rPr>
            </a:br>
            <a:r>
              <a:rPr lang="en-AU" sz="2200" dirty="0" smtClean="0">
                <a:latin typeface="Helvetica" pitchFamily="34" charset="0"/>
              </a:rPr>
              <a:t>been provided </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7" name="Picture 6" descr="Culinaryacademy093.TIF"/>
          <p:cNvPicPr>
            <a:picLocks noChangeAspect="1"/>
          </p:cNvPicPr>
          <p:nvPr/>
        </p:nvPicPr>
        <p:blipFill>
          <a:blip r:embed="rId3" cstate="print"/>
          <a:stretch>
            <a:fillRect/>
          </a:stretch>
        </p:blipFill>
        <p:spPr>
          <a:xfrm>
            <a:off x="7396336" y="3969804"/>
            <a:ext cx="1061864" cy="1592796"/>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143000"/>
            <a:ext cx="7541840" cy="5257800"/>
          </a:xfrm>
        </p:spPr>
        <p:txBody>
          <a:bodyPr>
            <a:normAutofit/>
          </a:bodyPr>
          <a:lstStyle/>
          <a:p>
            <a:pPr marL="0">
              <a:spcBef>
                <a:spcPts val="600"/>
              </a:spcBef>
              <a:spcAft>
                <a:spcPts val="1200"/>
              </a:spcAft>
              <a:buNone/>
            </a:pPr>
            <a:r>
              <a:rPr lang="en-AU" sz="2200" b="1" dirty="0" smtClean="0">
                <a:latin typeface="Helvetica" pitchFamily="34" charset="0"/>
              </a:rPr>
              <a:t>Follow up requirements</a:t>
            </a:r>
          </a:p>
          <a:p>
            <a:pPr lvl="0">
              <a:spcBef>
                <a:spcPts val="600"/>
              </a:spcBef>
              <a:spcAft>
                <a:spcPts val="1200"/>
              </a:spcAft>
            </a:pPr>
            <a:r>
              <a:rPr lang="en-AU" sz="2200" dirty="0" smtClean="0">
                <a:latin typeface="Helvetica" pitchFamily="34" charset="0"/>
              </a:rPr>
              <a:t>Re-write the action plan </a:t>
            </a:r>
          </a:p>
          <a:p>
            <a:pPr lvl="0">
              <a:spcBef>
                <a:spcPts val="600"/>
              </a:spcBef>
              <a:spcAft>
                <a:spcPts val="1200"/>
              </a:spcAft>
            </a:pPr>
            <a:r>
              <a:rPr lang="en-AU" sz="2200" dirty="0" smtClean="0">
                <a:latin typeface="Helvetica" pitchFamily="34" charset="0"/>
              </a:rPr>
              <a:t>Schedule another appraisal interview at an earlier time </a:t>
            </a:r>
          </a:p>
          <a:p>
            <a:pPr lvl="0">
              <a:spcBef>
                <a:spcPts val="600"/>
              </a:spcBef>
              <a:spcAft>
                <a:spcPts val="1200"/>
              </a:spcAft>
            </a:pPr>
            <a:r>
              <a:rPr lang="en-AU" sz="2200" dirty="0" smtClean="0">
                <a:latin typeface="Helvetica" pitchFamily="34" charset="0"/>
              </a:rPr>
              <a:t>Extend timelines originally agreed on </a:t>
            </a:r>
          </a:p>
          <a:p>
            <a:pPr lvl="0">
              <a:spcBef>
                <a:spcPts val="600"/>
              </a:spcBef>
              <a:spcAft>
                <a:spcPts val="1200"/>
              </a:spcAft>
            </a:pPr>
            <a:r>
              <a:rPr lang="en-AU" sz="2200" dirty="0" smtClean="0">
                <a:latin typeface="Helvetica" pitchFamily="34" charset="0"/>
              </a:rPr>
              <a:t>Include new tasks for the staff member as need dictate </a:t>
            </a:r>
          </a:p>
          <a:p>
            <a:pPr lvl="0">
              <a:spcBef>
                <a:spcPts val="600"/>
              </a:spcBef>
              <a:spcAft>
                <a:spcPts val="1200"/>
              </a:spcAft>
            </a:pPr>
            <a:r>
              <a:rPr lang="en-AU" sz="2200" dirty="0" smtClean="0">
                <a:latin typeface="Helvetica" pitchFamily="34" charset="0"/>
              </a:rPr>
              <a:t>‘Sign off’ on activities as they are completed </a:t>
            </a:r>
          </a:p>
          <a:p>
            <a:pPr lvl="0">
              <a:spcBef>
                <a:spcPts val="600"/>
              </a:spcBef>
              <a:spcAft>
                <a:spcPts val="1200"/>
              </a:spcAft>
            </a:pPr>
            <a:r>
              <a:rPr lang="en-AU" sz="2200" dirty="0" smtClean="0">
                <a:latin typeface="Helvetica" pitchFamily="34" charset="0"/>
              </a:rPr>
              <a:t>Meet with others (co-workers, customers, </a:t>
            </a:r>
            <a:br>
              <a:rPr lang="en-AU" sz="2200" dirty="0" smtClean="0">
                <a:latin typeface="Helvetica" pitchFamily="34" charset="0"/>
              </a:rPr>
            </a:br>
            <a:r>
              <a:rPr lang="en-AU" sz="2200" dirty="0" smtClean="0">
                <a:latin typeface="Helvetica" pitchFamily="34" charset="0"/>
              </a:rPr>
              <a:t>other supervisors) to get feedback on the </a:t>
            </a:r>
            <a:br>
              <a:rPr lang="en-AU" sz="2200" dirty="0" smtClean="0">
                <a:latin typeface="Helvetica" pitchFamily="34" charset="0"/>
              </a:rPr>
            </a:br>
            <a:r>
              <a:rPr lang="en-AU" sz="2200" dirty="0" smtClean="0">
                <a:latin typeface="Helvetica" pitchFamily="34" charset="0"/>
              </a:rPr>
              <a:t>progress of the employee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7" name="Picture 6" descr="Event 21.JPG"/>
          <p:cNvPicPr>
            <a:picLocks noChangeAspect="1"/>
          </p:cNvPicPr>
          <p:nvPr/>
        </p:nvPicPr>
        <p:blipFill>
          <a:blip r:embed="rId3" cstate="print"/>
          <a:stretch>
            <a:fillRect/>
          </a:stretch>
        </p:blipFill>
        <p:spPr>
          <a:xfrm>
            <a:off x="6615548" y="4491149"/>
            <a:ext cx="1842652" cy="1223851"/>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219200"/>
            <a:ext cx="7618040" cy="5486400"/>
          </a:xfrm>
        </p:spPr>
        <p:txBody>
          <a:bodyPr>
            <a:normAutofit/>
          </a:bodyPr>
          <a:lstStyle/>
          <a:p>
            <a:pPr>
              <a:spcBef>
                <a:spcPts val="600"/>
              </a:spcBef>
              <a:spcAft>
                <a:spcPts val="1200"/>
              </a:spcAft>
              <a:buNone/>
            </a:pPr>
            <a:r>
              <a:rPr lang="en-AU" sz="2200" b="1" dirty="0" smtClean="0">
                <a:latin typeface="Helvetica" pitchFamily="34" charset="0"/>
              </a:rPr>
              <a:t>Conducting a review with the staff member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At the pre-arranged date and time the review of the employee’s performance should take place. </a:t>
            </a:r>
          </a:p>
          <a:p>
            <a:pPr>
              <a:spcBef>
                <a:spcPts val="600"/>
              </a:spcBef>
              <a:spcAft>
                <a:spcPts val="1200"/>
              </a:spcAft>
              <a:buNone/>
            </a:pPr>
            <a:r>
              <a:rPr lang="en-AU" sz="2200" dirty="0" smtClean="0">
                <a:latin typeface="Helvetica" pitchFamily="34" charset="0"/>
              </a:rPr>
              <a:t>Points to ensure include: </a:t>
            </a:r>
          </a:p>
          <a:p>
            <a:pPr lvl="0">
              <a:spcBef>
                <a:spcPts val="600"/>
              </a:spcBef>
              <a:spcAft>
                <a:spcPts val="1200"/>
              </a:spcAft>
            </a:pPr>
            <a:r>
              <a:rPr lang="en-AU" sz="2200" dirty="0" smtClean="0">
                <a:latin typeface="Helvetica" pitchFamily="34" charset="0"/>
              </a:rPr>
              <a:t>Provide the employee with sufficient notice of the session </a:t>
            </a:r>
          </a:p>
          <a:p>
            <a:pPr lvl="0">
              <a:spcBef>
                <a:spcPts val="600"/>
              </a:spcBef>
              <a:spcAft>
                <a:spcPts val="1200"/>
              </a:spcAft>
            </a:pPr>
            <a:r>
              <a:rPr lang="en-AU" sz="2200" dirty="0" smtClean="0">
                <a:latin typeface="Helvetica" pitchFamily="34" charset="0"/>
              </a:rPr>
              <a:t>Prepare the venue for the review </a:t>
            </a:r>
          </a:p>
          <a:p>
            <a:pPr lvl="0">
              <a:spcBef>
                <a:spcPts val="600"/>
              </a:spcBef>
              <a:spcAft>
                <a:spcPts val="1200"/>
              </a:spcAft>
            </a:pPr>
            <a:r>
              <a:rPr lang="en-AU" sz="2200" dirty="0" smtClean="0">
                <a:latin typeface="Helvetica" pitchFamily="34" charset="0"/>
              </a:rPr>
              <a:t>Obtain objective evidence regarding </a:t>
            </a:r>
            <a:br>
              <a:rPr lang="en-AU" sz="2200" dirty="0" smtClean="0">
                <a:latin typeface="Helvetica" pitchFamily="34" charset="0"/>
              </a:rPr>
            </a:br>
            <a:r>
              <a:rPr lang="en-AU" sz="2200" dirty="0" smtClean="0">
                <a:latin typeface="Helvetica" pitchFamily="34" charset="0"/>
              </a:rPr>
              <a:t>current employee performance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 name="Picture 5" descr="11111.jpg"/>
          <p:cNvPicPr>
            <a:picLocks noChangeAspect="1"/>
          </p:cNvPicPr>
          <p:nvPr/>
        </p:nvPicPr>
        <p:blipFill>
          <a:blip r:embed="rId3" cstate="print"/>
          <a:stretch>
            <a:fillRect/>
          </a:stretch>
        </p:blipFill>
        <p:spPr>
          <a:xfrm>
            <a:off x="7086600" y="3715636"/>
            <a:ext cx="1335410" cy="1999364"/>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r>
              <a:rPr lang="en-AU" sz="3200" b="1" dirty="0" smtClean="0">
                <a:solidFill>
                  <a:srgbClr val="FF6600"/>
                </a:solidFill>
                <a:latin typeface="Helvetica" pitchFamily="34" charset="0"/>
              </a:rPr>
              <a:t>Follow up changes in the workplace</a:t>
            </a:r>
          </a:p>
        </p:txBody>
      </p:sp>
      <p:sp>
        <p:nvSpPr>
          <p:cNvPr id="3" name="Content Placeholder 2"/>
          <p:cNvSpPr>
            <a:spLocks noGrp="1"/>
          </p:cNvSpPr>
          <p:nvPr>
            <p:ph idx="1"/>
          </p:nvPr>
        </p:nvSpPr>
        <p:spPr>
          <a:xfrm>
            <a:off x="611560" y="1219200"/>
            <a:ext cx="7465640" cy="5486400"/>
          </a:xfrm>
        </p:spPr>
        <p:txBody>
          <a:bodyPr>
            <a:normAutofit/>
          </a:bodyPr>
          <a:lstStyle/>
          <a:p>
            <a:pPr>
              <a:spcBef>
                <a:spcPts val="600"/>
              </a:spcBef>
              <a:spcAft>
                <a:spcPts val="1200"/>
              </a:spcAft>
              <a:buNone/>
            </a:pPr>
            <a:r>
              <a:rPr lang="en-AU" sz="2200" b="1" dirty="0" smtClean="0">
                <a:latin typeface="Helvetica" pitchFamily="34" charset="0"/>
              </a:rPr>
              <a:t>Conducting a review with the staff member</a:t>
            </a:r>
            <a:endParaRPr lang="en-AU" sz="2200" dirty="0" smtClean="0">
              <a:latin typeface="Helvetica" pitchFamily="34" charset="0"/>
            </a:endParaRPr>
          </a:p>
          <a:p>
            <a:pPr lvl="0">
              <a:spcBef>
                <a:spcPts val="600"/>
              </a:spcBef>
              <a:spcAft>
                <a:spcPts val="1200"/>
              </a:spcAft>
              <a:buNone/>
            </a:pPr>
            <a:r>
              <a:rPr lang="en-AU" sz="2200" dirty="0" smtClean="0">
                <a:latin typeface="Helvetica" pitchFamily="34" charset="0"/>
              </a:rPr>
              <a:t>Allow the employee to comment on their opinion of: </a:t>
            </a:r>
          </a:p>
          <a:p>
            <a:pPr lvl="0">
              <a:spcBef>
                <a:spcPts val="600"/>
              </a:spcBef>
              <a:spcAft>
                <a:spcPts val="1200"/>
              </a:spcAft>
            </a:pPr>
            <a:r>
              <a:rPr lang="en-AU" sz="2200" dirty="0" smtClean="0">
                <a:latin typeface="Helvetica" pitchFamily="34" charset="0"/>
              </a:rPr>
              <a:t>How their work has changed </a:t>
            </a:r>
          </a:p>
          <a:p>
            <a:pPr lvl="0">
              <a:spcBef>
                <a:spcPts val="600"/>
              </a:spcBef>
              <a:spcAft>
                <a:spcPts val="1200"/>
              </a:spcAft>
            </a:pPr>
            <a:r>
              <a:rPr lang="en-AU" sz="2200" dirty="0" smtClean="0">
                <a:latin typeface="Helvetica" pitchFamily="34" charset="0"/>
              </a:rPr>
              <a:t>How effective the support provided by the employer has been </a:t>
            </a:r>
          </a:p>
          <a:p>
            <a:pPr lvl="0">
              <a:spcBef>
                <a:spcPts val="600"/>
              </a:spcBef>
              <a:spcAft>
                <a:spcPts val="1200"/>
              </a:spcAft>
            </a:pPr>
            <a:r>
              <a:rPr lang="en-AU" sz="2200" dirty="0" smtClean="0">
                <a:latin typeface="Helvetica" pitchFamily="34" charset="0"/>
              </a:rPr>
              <a:t>What they think needs to be done into </a:t>
            </a:r>
            <a:br>
              <a:rPr lang="en-AU" sz="2200" dirty="0" smtClean="0">
                <a:latin typeface="Helvetica" pitchFamily="34" charset="0"/>
              </a:rPr>
            </a:br>
            <a:r>
              <a:rPr lang="en-AU" sz="2200" dirty="0" smtClean="0">
                <a:latin typeface="Helvetica" pitchFamily="34" charset="0"/>
              </a:rPr>
              <a:t>the future </a:t>
            </a:r>
          </a:p>
          <a:p>
            <a:pPr lvl="0">
              <a:spcBef>
                <a:spcPts val="600"/>
              </a:spcBef>
              <a:spcAft>
                <a:spcPts val="1200"/>
              </a:spcAft>
            </a:pPr>
            <a:r>
              <a:rPr lang="en-AU" sz="2200" dirty="0" smtClean="0">
                <a:latin typeface="Helvetica" pitchFamily="34" charset="0"/>
              </a:rPr>
              <a:t>Give your opinion</a:t>
            </a:r>
          </a:p>
          <a:p>
            <a:pPr lvl="0">
              <a:spcBef>
                <a:spcPts val="600"/>
              </a:spcBef>
              <a:spcAft>
                <a:spcPts val="1200"/>
              </a:spcAft>
            </a:pPr>
            <a:r>
              <a:rPr lang="en-AU" sz="2200" dirty="0" smtClean="0">
                <a:latin typeface="Helvetica" pitchFamily="34" charset="0"/>
              </a:rPr>
              <a:t>Record the review session</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6" name="Picture 5" descr="MP900422152.JPG"/>
          <p:cNvPicPr>
            <a:picLocks noChangeAspect="1"/>
          </p:cNvPicPr>
          <p:nvPr/>
        </p:nvPicPr>
        <p:blipFill>
          <a:blip r:embed="rId3" cstate="print"/>
          <a:stretch>
            <a:fillRect/>
          </a:stretch>
        </p:blipFill>
        <p:spPr>
          <a:xfrm>
            <a:off x="6268980" y="4030911"/>
            <a:ext cx="2189220" cy="1455489"/>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i="1" dirty="0" smtClean="0">
                <a:solidFill>
                  <a:srgbClr val="FF6600"/>
                </a:solidFill>
                <a:latin typeface="Helvetica" pitchFamily="34" charset="0"/>
              </a:rPr>
              <a:t>Element 6:</a:t>
            </a:r>
          </a:p>
          <a:p>
            <a:pPr marL="0">
              <a:spcBef>
                <a:spcPts val="600"/>
              </a:spcBef>
              <a:spcAft>
                <a:spcPts val="1200"/>
              </a:spcAft>
              <a:buNone/>
            </a:pPr>
            <a:r>
              <a:rPr lang="en-AU" sz="4000" b="1" i="1" dirty="0" smtClean="0">
                <a:solidFill>
                  <a:srgbClr val="FF6600"/>
                </a:solidFill>
                <a:latin typeface="Helvetica" pitchFamily="34" charset="0"/>
              </a:rPr>
              <a:t>Provide for human resource development</a:t>
            </a:r>
          </a:p>
          <a:p>
            <a:pPr marL="0">
              <a:spcBef>
                <a:spcPts val="600"/>
              </a:spcBef>
              <a:spcAft>
                <a:spcPts val="1200"/>
              </a:spcAft>
              <a:buNone/>
            </a:pPr>
            <a:endParaRPr lang="en-AU" sz="2200" b="1"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descr="shutterstock_70153306.jpg"/>
          <p:cNvPicPr/>
          <p:nvPr/>
        </p:nvPicPr>
        <p:blipFill>
          <a:blip r:embed="rId3" cstate="print"/>
          <a:stretch>
            <a:fillRect/>
          </a:stretch>
        </p:blipFill>
        <p:spPr>
          <a:xfrm>
            <a:off x="6419850" y="3962400"/>
            <a:ext cx="2038350" cy="1485900"/>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Provide for human resource development</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training and development activities and opportunities for staff</a:t>
            </a:r>
          </a:p>
          <a:p>
            <a:pPr>
              <a:spcBef>
                <a:spcPts val="600"/>
              </a:spcBef>
              <a:spcAft>
                <a:spcPts val="1200"/>
              </a:spcAft>
            </a:pPr>
            <a:r>
              <a:rPr lang="en-AU" sz="2200" dirty="0" smtClean="0">
                <a:latin typeface="Helvetica" pitchFamily="34" charset="0"/>
              </a:rPr>
              <a:t>Provide and resource training and development activities and opportunities for staff</a:t>
            </a:r>
          </a:p>
          <a:p>
            <a:pPr>
              <a:spcBef>
                <a:spcPts val="600"/>
              </a:spcBef>
              <a:spcAft>
                <a:spcPts val="1200"/>
              </a:spcAft>
            </a:pPr>
            <a:r>
              <a:rPr lang="en-AU" sz="2200" dirty="0" smtClean="0">
                <a:latin typeface="Helvetica" pitchFamily="34" charset="0"/>
              </a:rPr>
              <a:t>Monitor the progress and effectiveness of </a:t>
            </a:r>
            <a:br>
              <a:rPr lang="en-AU" sz="2200" dirty="0" smtClean="0">
                <a:latin typeface="Helvetica" pitchFamily="34" charset="0"/>
              </a:rPr>
            </a:br>
            <a:r>
              <a:rPr lang="en-AU" sz="2200" dirty="0" smtClean="0">
                <a:latin typeface="Helvetica" pitchFamily="34" charset="0"/>
              </a:rPr>
              <a:t>human resource development that has been </a:t>
            </a:r>
            <a:br>
              <a:rPr lang="en-AU" sz="2200" dirty="0" smtClean="0">
                <a:latin typeface="Helvetica" pitchFamily="34" charset="0"/>
              </a:rPr>
            </a:br>
            <a:r>
              <a:rPr lang="en-AU" sz="2200" dirty="0" smtClean="0">
                <a:latin typeface="Helvetica" pitchFamily="34" charset="0"/>
              </a:rPr>
              <a:t>provided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descr="00409033.jpg"/>
          <p:cNvPicPr>
            <a:picLocks noChangeAspect="1"/>
          </p:cNvPicPr>
          <p:nvPr/>
        </p:nvPicPr>
        <p:blipFill>
          <a:blip r:embed="rId3" cstate="print"/>
          <a:stretch>
            <a:fillRect/>
          </a:stretch>
        </p:blipFill>
        <p:spPr>
          <a:xfrm>
            <a:off x="6900664" y="3852664"/>
            <a:ext cx="1557536" cy="1557536"/>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Professional development opportunities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541840" cy="5181600"/>
          </a:xfrm>
        </p:spPr>
        <p:txBody>
          <a:bodyPr>
            <a:normAutofit/>
          </a:bodyPr>
          <a:lstStyle/>
          <a:p>
            <a:pPr marL="0">
              <a:spcBef>
                <a:spcPts val="600"/>
              </a:spcBef>
              <a:spcAft>
                <a:spcPts val="1200"/>
              </a:spcAft>
              <a:buNone/>
            </a:pPr>
            <a:r>
              <a:rPr lang="en-AU" sz="2200" dirty="0" smtClean="0">
                <a:latin typeface="Helvetica" pitchFamily="34" charset="0"/>
              </a:rPr>
              <a:t>One </a:t>
            </a:r>
            <a:r>
              <a:rPr lang="en-AU" sz="2200" dirty="0" smtClean="0">
                <a:latin typeface="Helvetica" pitchFamily="34" charset="0"/>
              </a:rPr>
              <a:t>of the key characteristics of successful teams is the ability to recognise and provide training and development opportunities to staff:</a:t>
            </a:r>
          </a:p>
          <a:p>
            <a:pPr>
              <a:spcBef>
                <a:spcPts val="600"/>
              </a:spcBef>
              <a:spcAft>
                <a:spcPts val="1200"/>
              </a:spcAft>
            </a:pPr>
            <a:r>
              <a:rPr lang="en-AU" sz="2200" dirty="0" smtClean="0">
                <a:latin typeface="Helvetica" pitchFamily="34" charset="0"/>
              </a:rPr>
              <a:t>What training and development opportunities exist?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6" name="Picture 5" descr="MP900431224.JPG"/>
          <p:cNvPicPr>
            <a:picLocks noChangeAspect="1"/>
          </p:cNvPicPr>
          <p:nvPr/>
        </p:nvPicPr>
        <p:blipFill>
          <a:blip r:embed="rId3" cstate="print"/>
          <a:stretch>
            <a:fillRect/>
          </a:stretch>
        </p:blipFill>
        <p:spPr>
          <a:xfrm>
            <a:off x="6248400" y="4013775"/>
            <a:ext cx="2209800" cy="1472625"/>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86880"/>
            <a:ext cx="7618040" cy="4680520"/>
          </a:xfrm>
        </p:spPr>
        <p:txBody>
          <a:bodyPr>
            <a:normAutofit/>
          </a:bodyPr>
          <a:lstStyle/>
          <a:p>
            <a:pPr>
              <a:spcBef>
                <a:spcPts val="600"/>
              </a:spcBef>
              <a:spcAft>
                <a:spcPts val="1200"/>
              </a:spcAft>
              <a:buNone/>
            </a:pPr>
            <a:r>
              <a:rPr lang="en-AU" sz="2200" b="1" dirty="0" smtClean="0">
                <a:latin typeface="Helvetica" pitchFamily="34" charset="0"/>
              </a:rPr>
              <a:t>Developing </a:t>
            </a:r>
            <a:r>
              <a:rPr lang="en-AU" sz="2200" b="1" dirty="0" smtClean="0">
                <a:latin typeface="Helvetica" pitchFamily="34" charset="0"/>
              </a:rPr>
              <a:t>the ‘skill set’</a:t>
            </a:r>
          </a:p>
          <a:p>
            <a:pPr marL="0">
              <a:spcBef>
                <a:spcPts val="600"/>
              </a:spcBef>
              <a:spcAft>
                <a:spcPts val="1200"/>
              </a:spcAft>
              <a:buNone/>
            </a:pPr>
            <a:r>
              <a:rPr lang="en-AU" sz="2200" dirty="0" smtClean="0">
                <a:latin typeface="Helvetica" pitchFamily="34" charset="0"/>
              </a:rPr>
              <a:t>All team members must have the opportunity to improve their ‘skill set’ which aims at the development of:</a:t>
            </a:r>
          </a:p>
          <a:p>
            <a:pPr lvl="0">
              <a:spcBef>
                <a:spcPts val="600"/>
              </a:spcBef>
              <a:spcAft>
                <a:spcPts val="1200"/>
              </a:spcAft>
            </a:pPr>
            <a:r>
              <a:rPr lang="en-AU" sz="2200" dirty="0" smtClean="0">
                <a:latin typeface="Helvetica" pitchFamily="34" charset="0"/>
              </a:rPr>
              <a:t>Knowledge</a:t>
            </a:r>
          </a:p>
          <a:p>
            <a:pPr lvl="0">
              <a:spcBef>
                <a:spcPts val="600"/>
              </a:spcBef>
              <a:spcAft>
                <a:spcPts val="1200"/>
              </a:spcAft>
            </a:pPr>
            <a:r>
              <a:rPr lang="en-AU" sz="2200" dirty="0" smtClean="0">
                <a:latin typeface="Helvetica" pitchFamily="34" charset="0"/>
              </a:rPr>
              <a:t>Skills</a:t>
            </a:r>
          </a:p>
          <a:p>
            <a:pPr lvl="0">
              <a:spcBef>
                <a:spcPts val="600"/>
              </a:spcBef>
              <a:spcAft>
                <a:spcPts val="1200"/>
              </a:spcAft>
            </a:pPr>
            <a:r>
              <a:rPr lang="en-AU" sz="2200" dirty="0" smtClean="0">
                <a:latin typeface="Helvetica" pitchFamily="34" charset="0"/>
              </a:rPr>
              <a:t>Attitudes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8" name="Picture 7" descr="Consulting Banner Pic.jpg"/>
          <p:cNvPicPr>
            <a:picLocks noChangeAspect="1"/>
          </p:cNvPicPr>
          <p:nvPr/>
        </p:nvPicPr>
        <p:blipFill>
          <a:blip r:embed="rId3" cstate="print"/>
          <a:stretch>
            <a:fillRect/>
          </a:stretch>
        </p:blipFill>
        <p:spPr>
          <a:xfrm>
            <a:off x="5257800" y="3886200"/>
            <a:ext cx="3200400" cy="1530337"/>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Professional development opportunities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694240" cy="4680520"/>
          </a:xfrm>
        </p:spPr>
        <p:txBody>
          <a:bodyPr>
            <a:normAutofit/>
          </a:bodyPr>
          <a:lstStyle/>
          <a:p>
            <a:pPr marL="421200">
              <a:spcBef>
                <a:spcPts val="600"/>
              </a:spcBef>
              <a:spcAft>
                <a:spcPts val="1200"/>
              </a:spcAft>
              <a:buNone/>
            </a:pPr>
            <a:r>
              <a:rPr lang="en-AU" sz="2200" b="1" dirty="0" smtClean="0">
                <a:latin typeface="Helvetica" pitchFamily="34" charset="0"/>
              </a:rPr>
              <a:t>Staff </a:t>
            </a:r>
            <a:r>
              <a:rPr lang="en-AU" sz="2200" b="1" dirty="0" smtClean="0">
                <a:latin typeface="Helvetica" pitchFamily="34" charset="0"/>
              </a:rPr>
              <a:t>training and staff development</a:t>
            </a:r>
            <a:endParaRPr lang="en-AU" sz="2200" dirty="0" smtClean="0">
              <a:latin typeface="Helvetica" pitchFamily="34" charset="0"/>
            </a:endParaRPr>
          </a:p>
          <a:p>
            <a:pPr marL="421200">
              <a:spcBef>
                <a:spcPts val="600"/>
              </a:spcBef>
              <a:spcAft>
                <a:spcPts val="1200"/>
              </a:spcAft>
            </a:pPr>
            <a:r>
              <a:rPr lang="en-AU" sz="2200" u="sng" dirty="0" smtClean="0">
                <a:latin typeface="Helvetica" pitchFamily="34" charset="0"/>
              </a:rPr>
              <a:t>Staff training</a:t>
            </a:r>
            <a:r>
              <a:rPr lang="en-AU" sz="2200" dirty="0" smtClean="0">
                <a:latin typeface="Helvetica" pitchFamily="34" charset="0"/>
              </a:rPr>
              <a:t> will be applied to address a need that has some </a:t>
            </a:r>
            <a:r>
              <a:rPr lang="en-AU" sz="2200" i="1" dirty="0" smtClean="0">
                <a:latin typeface="Helvetica" pitchFamily="34" charset="0"/>
              </a:rPr>
              <a:t>immediacy</a:t>
            </a:r>
            <a:r>
              <a:rPr lang="en-AU" sz="2200" dirty="0" smtClean="0">
                <a:latin typeface="Helvetica" pitchFamily="34" charset="0"/>
              </a:rPr>
              <a:t> to it</a:t>
            </a:r>
          </a:p>
          <a:p>
            <a:pPr marL="421200">
              <a:spcBef>
                <a:spcPts val="600"/>
              </a:spcBef>
              <a:spcAft>
                <a:spcPts val="1200"/>
              </a:spcAft>
            </a:pPr>
            <a:r>
              <a:rPr lang="en-AU" sz="2200" u="sng" dirty="0" smtClean="0">
                <a:latin typeface="Helvetica" pitchFamily="34" charset="0"/>
              </a:rPr>
              <a:t>Staff developmen</a:t>
            </a:r>
            <a:r>
              <a:rPr lang="en-AU" sz="2200" dirty="0" smtClean="0">
                <a:latin typeface="Helvetica" pitchFamily="34" charset="0"/>
              </a:rPr>
              <a:t>t has more of a </a:t>
            </a:r>
            <a:r>
              <a:rPr lang="en-AU" sz="2200" i="1" dirty="0" smtClean="0">
                <a:latin typeface="Helvetica" pitchFamily="34" charset="0"/>
              </a:rPr>
              <a:t>future orientation </a:t>
            </a:r>
            <a:r>
              <a:rPr lang="en-AU" sz="2200" dirty="0" smtClean="0">
                <a:latin typeface="Helvetica" pitchFamily="34" charset="0"/>
              </a:rPr>
              <a:t>and relates to skills and knowledge the staff member may need at some future date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6" name="Picture 5" descr="Vibe Hotel_019.jpg"/>
          <p:cNvPicPr>
            <a:picLocks noChangeAspect="1"/>
          </p:cNvPicPr>
          <p:nvPr/>
        </p:nvPicPr>
        <p:blipFill>
          <a:blip r:embed="rId3" cstate="print"/>
          <a:stretch>
            <a:fillRect/>
          </a:stretch>
        </p:blipFill>
        <p:spPr>
          <a:xfrm>
            <a:off x="6096000" y="4038600"/>
            <a:ext cx="2344203" cy="1557528"/>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86544"/>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541840" cy="5410200"/>
          </a:xfrm>
        </p:spPr>
        <p:txBody>
          <a:bodyPr>
            <a:normAutofit/>
          </a:bodyPr>
          <a:lstStyle/>
          <a:p>
            <a:pPr>
              <a:spcBef>
                <a:spcPts val="600"/>
              </a:spcBef>
              <a:spcAft>
                <a:spcPts val="1200"/>
              </a:spcAft>
              <a:buNone/>
            </a:pPr>
            <a:r>
              <a:rPr lang="en-AU" sz="2200" b="1" dirty="0" smtClean="0">
                <a:latin typeface="Helvetica" pitchFamily="34" charset="0"/>
              </a:rPr>
              <a:t>Professional development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Staff development is often referred to in another name: ‘Professional development’:</a:t>
            </a:r>
          </a:p>
          <a:p>
            <a:pPr>
              <a:spcBef>
                <a:spcPts val="600"/>
              </a:spcBef>
              <a:spcAft>
                <a:spcPts val="1200"/>
              </a:spcAft>
            </a:pPr>
            <a:r>
              <a:rPr lang="en-AU" sz="2200" dirty="0" smtClean="0">
                <a:latin typeface="Helvetica" pitchFamily="34" charset="0"/>
              </a:rPr>
              <a:t>What are examples of ‘professional development’  activities?</a:t>
            </a:r>
          </a:p>
          <a:p>
            <a:pPr>
              <a:spcBef>
                <a:spcPts val="600"/>
              </a:spcBef>
              <a:spcAft>
                <a:spcPts val="1200"/>
              </a:spcAft>
            </a:pPr>
            <a:r>
              <a:rPr lang="en-AU" sz="2200" dirty="0" smtClean="0">
                <a:latin typeface="Helvetica" pitchFamily="34" charset="0"/>
              </a:rPr>
              <a:t>How do you select people?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7" name="Picture 6" descr="MP900448464.JPG"/>
          <p:cNvPicPr>
            <a:picLocks noChangeAspect="1"/>
          </p:cNvPicPr>
          <p:nvPr/>
        </p:nvPicPr>
        <p:blipFill>
          <a:blip r:embed="rId3" cstate="print"/>
          <a:stretch>
            <a:fillRect/>
          </a:stretch>
        </p:blipFill>
        <p:spPr>
          <a:xfrm>
            <a:off x="6985000" y="3124200"/>
            <a:ext cx="1473200" cy="220980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Professional development opportunities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389440" cy="5334000"/>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Internal training and professional development</a:t>
            </a:r>
          </a:p>
          <a:p>
            <a:pPr lvl="0">
              <a:spcBef>
                <a:spcPts val="600"/>
              </a:spcBef>
              <a:spcAft>
                <a:spcPts val="1200"/>
              </a:spcAft>
            </a:pPr>
            <a:r>
              <a:rPr lang="en-AU" sz="2200" dirty="0" smtClean="0">
                <a:latin typeface="Helvetica" pitchFamily="34" charset="0"/>
              </a:rPr>
              <a:t>External training and professional development</a:t>
            </a:r>
          </a:p>
          <a:p>
            <a:pPr lvl="0">
              <a:spcBef>
                <a:spcPts val="600"/>
              </a:spcBef>
              <a:spcAft>
                <a:spcPts val="1200"/>
              </a:spcAft>
            </a:pPr>
            <a:r>
              <a:rPr lang="en-AU" sz="2200" dirty="0" smtClean="0">
                <a:latin typeface="Helvetica" pitchFamily="34" charset="0"/>
              </a:rPr>
              <a:t>Coaching</a:t>
            </a:r>
          </a:p>
          <a:p>
            <a:pPr lvl="0">
              <a:spcBef>
                <a:spcPts val="600"/>
              </a:spcBef>
              <a:spcAft>
                <a:spcPts val="1200"/>
              </a:spcAft>
            </a:pPr>
            <a:r>
              <a:rPr lang="en-AU" sz="2200" dirty="0" smtClean="0">
                <a:latin typeface="Helvetica" pitchFamily="34" charset="0"/>
              </a:rPr>
              <a:t>Mentoring </a:t>
            </a:r>
          </a:p>
          <a:p>
            <a:pPr lvl="0">
              <a:spcBef>
                <a:spcPts val="600"/>
              </a:spcBef>
              <a:spcAft>
                <a:spcPts val="1200"/>
              </a:spcAft>
            </a:pPr>
            <a:r>
              <a:rPr lang="en-AU" sz="2200" dirty="0" smtClean="0">
                <a:latin typeface="Helvetica" pitchFamily="34" charset="0"/>
              </a:rPr>
              <a:t>Supervision</a:t>
            </a:r>
          </a:p>
          <a:p>
            <a:pPr lvl="0">
              <a:spcBef>
                <a:spcPts val="600"/>
              </a:spcBef>
              <a:spcAft>
                <a:spcPts val="1200"/>
              </a:spcAft>
            </a:pPr>
            <a:r>
              <a:rPr lang="en-AU" sz="2200" dirty="0" smtClean="0">
                <a:latin typeface="Helvetica" pitchFamily="34" charset="0"/>
              </a:rPr>
              <a:t>Formal and/or informal learning programs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7" name="Picture 6" descr="00409605.jpg"/>
          <p:cNvPicPr/>
          <p:nvPr/>
        </p:nvPicPr>
        <p:blipFill>
          <a:blip r:embed="rId3" cstate="print"/>
          <a:stretch>
            <a:fillRect/>
          </a:stretch>
        </p:blipFill>
        <p:spPr>
          <a:xfrm>
            <a:off x="7162800" y="3571875"/>
            <a:ext cx="1250950" cy="1914525"/>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86544"/>
          </a:xfrm>
        </p:spPr>
        <p:txBody>
          <a:bodyPr>
            <a:normAutofit/>
          </a:bodyPr>
          <a:lstStyle/>
          <a:p>
            <a:r>
              <a:rPr lang="en-AU" sz="3200" b="1" dirty="0" smtClean="0">
                <a:solidFill>
                  <a:srgbClr val="FF6600"/>
                </a:solidFill>
                <a:latin typeface="Helvetica" pitchFamily="34" charset="0"/>
              </a:rPr>
              <a:t>Professional development opportunities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86880"/>
            <a:ext cx="7770440" cy="5366320"/>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Work experience and exchange opportunities</a:t>
            </a:r>
          </a:p>
          <a:p>
            <a:pPr lvl="0">
              <a:spcBef>
                <a:spcPts val="600"/>
              </a:spcBef>
              <a:spcAft>
                <a:spcPts val="1200"/>
              </a:spcAft>
            </a:pPr>
            <a:r>
              <a:rPr lang="en-AU" sz="2200" dirty="0" smtClean="0">
                <a:latin typeface="Helvetica" pitchFamily="34" charset="0"/>
              </a:rPr>
              <a:t>Personal study</a:t>
            </a:r>
          </a:p>
          <a:p>
            <a:pPr lvl="0">
              <a:spcBef>
                <a:spcPts val="600"/>
              </a:spcBef>
              <a:spcAft>
                <a:spcPts val="1200"/>
              </a:spcAft>
            </a:pPr>
            <a:r>
              <a:rPr lang="en-AU" sz="2200" dirty="0" smtClean="0">
                <a:latin typeface="Helvetica" pitchFamily="34" charset="0"/>
              </a:rPr>
              <a:t>Career planning and development</a:t>
            </a:r>
          </a:p>
          <a:p>
            <a:pPr lvl="0">
              <a:spcBef>
                <a:spcPts val="600"/>
              </a:spcBef>
              <a:spcAft>
                <a:spcPts val="1200"/>
              </a:spcAft>
            </a:pPr>
            <a:r>
              <a:rPr lang="en-AU" sz="2200" dirty="0" smtClean="0">
                <a:latin typeface="Helvetica" pitchFamily="34" charset="0"/>
              </a:rPr>
              <a:t>Performance appraisals</a:t>
            </a:r>
          </a:p>
          <a:p>
            <a:pPr lvl="0">
              <a:spcBef>
                <a:spcPts val="600"/>
              </a:spcBef>
              <a:spcAft>
                <a:spcPts val="1200"/>
              </a:spcAft>
            </a:pPr>
            <a:r>
              <a:rPr lang="en-AU" sz="2200" dirty="0" smtClean="0">
                <a:latin typeface="Helvetica" pitchFamily="34" charset="0"/>
              </a:rPr>
              <a:t>Workplace skills assessment </a:t>
            </a:r>
          </a:p>
          <a:p>
            <a:pPr lvl="0">
              <a:spcBef>
                <a:spcPts val="600"/>
              </a:spcBef>
              <a:spcAft>
                <a:spcPts val="1200"/>
              </a:spcAft>
            </a:pPr>
            <a:r>
              <a:rPr lang="en-AU" sz="2200" dirty="0" smtClean="0">
                <a:latin typeface="Helvetica" pitchFamily="34" charset="0"/>
              </a:rPr>
              <a:t>Quality assurance assessments                                                      and recommendations</a:t>
            </a:r>
          </a:p>
          <a:p>
            <a:pPr lvl="0">
              <a:spcBef>
                <a:spcPts val="600"/>
              </a:spcBef>
              <a:spcAft>
                <a:spcPts val="1200"/>
              </a:spcAft>
            </a:pPr>
            <a:r>
              <a:rPr lang="en-AU" sz="2200" dirty="0" smtClean="0">
                <a:latin typeface="Helvetica" pitchFamily="34" charset="0"/>
              </a:rPr>
              <a:t>Change in job responsibilities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8" name="Picture 7" descr="MP900178924.JPG"/>
          <p:cNvPicPr>
            <a:picLocks noChangeAspect="1"/>
          </p:cNvPicPr>
          <p:nvPr/>
        </p:nvPicPr>
        <p:blipFill>
          <a:blip r:embed="rId3" cstate="print"/>
          <a:stretch>
            <a:fillRect/>
          </a:stretch>
        </p:blipFill>
        <p:spPr>
          <a:xfrm>
            <a:off x="6172200" y="3986784"/>
            <a:ext cx="2253673" cy="1487424"/>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86544"/>
          </a:xfrm>
        </p:spPr>
        <p:txBody>
          <a:bodyPr>
            <a:normAutofit/>
          </a:bodyPr>
          <a:lstStyle/>
          <a:p>
            <a:r>
              <a:rPr lang="en-AU" sz="3200" b="1" dirty="0" smtClean="0">
                <a:solidFill>
                  <a:srgbClr val="FF6600"/>
                </a:solidFill>
                <a:latin typeface="Helvetica" pitchFamily="34" charset="0"/>
              </a:rPr>
              <a:t>Professional development opportunities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694240" cy="4941912"/>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Opportunity for greater autonomy or responsibility</a:t>
            </a:r>
          </a:p>
          <a:p>
            <a:pPr lvl="0">
              <a:spcBef>
                <a:spcPts val="600"/>
              </a:spcBef>
              <a:spcAft>
                <a:spcPts val="1200"/>
              </a:spcAft>
            </a:pPr>
            <a:r>
              <a:rPr lang="en-AU" sz="2200" dirty="0" smtClean="0">
                <a:latin typeface="Helvetica" pitchFamily="34" charset="0"/>
              </a:rPr>
              <a:t>Formal promotion</a:t>
            </a:r>
          </a:p>
          <a:p>
            <a:pPr lvl="0">
              <a:spcBef>
                <a:spcPts val="600"/>
              </a:spcBef>
              <a:spcAft>
                <a:spcPts val="1200"/>
              </a:spcAft>
            </a:pPr>
            <a:r>
              <a:rPr lang="en-AU" sz="2200" dirty="0" smtClean="0">
                <a:latin typeface="Helvetica" pitchFamily="34" charset="0"/>
              </a:rPr>
              <a:t>Chance to perform in a higher position in a caretaker mode  </a:t>
            </a:r>
          </a:p>
          <a:p>
            <a:pPr lvl="0">
              <a:spcBef>
                <a:spcPts val="600"/>
              </a:spcBef>
              <a:spcAft>
                <a:spcPts val="1200"/>
              </a:spcAft>
            </a:pPr>
            <a:r>
              <a:rPr lang="en-AU" sz="2200" dirty="0" smtClean="0">
                <a:latin typeface="Helvetica" pitchFamily="34" charset="0"/>
              </a:rPr>
              <a:t>Becoming a mentor for someone</a:t>
            </a:r>
          </a:p>
          <a:p>
            <a:pPr lvl="0">
              <a:spcBef>
                <a:spcPts val="600"/>
              </a:spcBef>
              <a:spcAft>
                <a:spcPts val="1200"/>
              </a:spcAft>
            </a:pPr>
            <a:r>
              <a:rPr lang="en-AU" sz="2200" dirty="0" smtClean="0">
                <a:latin typeface="Helvetica" pitchFamily="34" charset="0"/>
              </a:rPr>
              <a:t>Leading a training session </a:t>
            </a:r>
          </a:p>
          <a:p>
            <a:pPr lvl="0">
              <a:spcBef>
                <a:spcPts val="600"/>
              </a:spcBef>
              <a:spcAft>
                <a:spcPts val="1200"/>
              </a:spcAft>
            </a:pPr>
            <a:r>
              <a:rPr lang="en-AU" sz="2200" dirty="0" smtClean="0">
                <a:latin typeface="Helvetica" pitchFamily="34" charset="0"/>
              </a:rPr>
              <a:t>Being sent to a conference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6" name="Picture 5" descr="00289897.jpg"/>
          <p:cNvPicPr/>
          <p:nvPr/>
        </p:nvPicPr>
        <p:blipFill>
          <a:blip r:embed="rId3" cstate="print"/>
          <a:stretch>
            <a:fillRect/>
          </a:stretch>
        </p:blipFill>
        <p:spPr>
          <a:xfrm>
            <a:off x="6281737" y="3810000"/>
            <a:ext cx="2176463" cy="1681163"/>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Mentoring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313240" cy="5410200"/>
          </a:xfrm>
        </p:spPr>
        <p:txBody>
          <a:bodyPr>
            <a:normAutofit/>
          </a:bodyPr>
          <a:lstStyle/>
          <a:p>
            <a:pPr marL="0">
              <a:spcBef>
                <a:spcPts val="600"/>
              </a:spcBef>
              <a:spcAft>
                <a:spcPts val="1200"/>
              </a:spcAft>
              <a:buNone/>
            </a:pPr>
            <a:r>
              <a:rPr lang="en-AU" sz="2200" dirty="0" smtClean="0">
                <a:latin typeface="Helvetica" pitchFamily="34" charset="0"/>
              </a:rPr>
              <a:t>It is a relationship between two people where a more experienced person works in collaboration with a less experienced person to give the less experienced person the benefit of their:</a:t>
            </a:r>
          </a:p>
          <a:p>
            <a:pPr>
              <a:spcBef>
                <a:spcPts val="600"/>
              </a:spcBef>
              <a:spcAft>
                <a:spcPts val="1200"/>
              </a:spcAft>
            </a:pPr>
            <a:r>
              <a:rPr lang="en-AU" sz="2200" dirty="0" smtClean="0">
                <a:latin typeface="Helvetica" pitchFamily="34" charset="0"/>
              </a:rPr>
              <a:t>Knowledge</a:t>
            </a:r>
          </a:p>
          <a:p>
            <a:pPr>
              <a:spcBef>
                <a:spcPts val="600"/>
              </a:spcBef>
              <a:spcAft>
                <a:spcPts val="1200"/>
              </a:spcAft>
            </a:pPr>
            <a:r>
              <a:rPr lang="en-AU" sz="2200" dirty="0" smtClean="0">
                <a:latin typeface="Helvetica" pitchFamily="34" charset="0"/>
              </a:rPr>
              <a:t>Experience</a:t>
            </a:r>
          </a:p>
          <a:p>
            <a:pPr>
              <a:spcBef>
                <a:spcPts val="600"/>
              </a:spcBef>
              <a:spcAft>
                <a:spcPts val="1200"/>
              </a:spcAft>
            </a:pPr>
            <a:r>
              <a:rPr lang="en-AU" sz="2200" dirty="0" smtClean="0">
                <a:latin typeface="Helvetica" pitchFamily="34" charset="0"/>
              </a:rPr>
              <a:t>Perspective</a:t>
            </a:r>
          </a:p>
          <a:p>
            <a:pPr>
              <a:spcBef>
                <a:spcPts val="600"/>
              </a:spcBef>
              <a:spcAft>
                <a:spcPts val="1200"/>
              </a:spcAft>
            </a:pPr>
            <a:r>
              <a:rPr lang="en-AU" sz="2200" dirty="0" smtClean="0">
                <a:latin typeface="Helvetica" pitchFamily="34" charset="0"/>
              </a:rPr>
              <a:t>Contacts</a:t>
            </a:r>
          </a:p>
          <a:p>
            <a:pPr>
              <a:spcBef>
                <a:spcPts val="600"/>
              </a:spcBef>
              <a:spcAft>
                <a:spcPts val="1200"/>
              </a:spcAft>
            </a:pPr>
            <a:r>
              <a:rPr lang="en-AU" sz="2200" dirty="0" smtClean="0">
                <a:latin typeface="Helvetica" pitchFamily="34" charset="0"/>
              </a:rPr>
              <a:t>Insight  </a:t>
            </a:r>
          </a:p>
          <a:p>
            <a:pPr>
              <a:spcBef>
                <a:spcPts val="600"/>
              </a:spcBef>
              <a:spcAft>
                <a:spcPts val="1200"/>
              </a:spcAft>
            </a:pPr>
            <a:r>
              <a:rPr lang="en-AU" sz="2200" dirty="0" smtClean="0">
                <a:latin typeface="Helvetica" pitchFamily="34" charset="0"/>
              </a:rPr>
              <a:t>Wisdom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7" name="Picture 6" descr="MP900422116.JPG"/>
          <p:cNvPicPr>
            <a:picLocks noChangeAspect="1"/>
          </p:cNvPicPr>
          <p:nvPr/>
        </p:nvPicPr>
        <p:blipFill>
          <a:blip r:embed="rId3" cstate="print"/>
          <a:stretch>
            <a:fillRect/>
          </a:stretch>
        </p:blipFill>
        <p:spPr>
          <a:xfrm>
            <a:off x="6469998" y="4049614"/>
            <a:ext cx="1988202" cy="1436786"/>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Coaching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313240" cy="4680520"/>
          </a:xfrm>
        </p:spPr>
        <p:txBody>
          <a:bodyPr>
            <a:normAutofit/>
          </a:bodyPr>
          <a:lstStyle/>
          <a:p>
            <a:pPr marL="0">
              <a:lnSpc>
                <a:spcPct val="120000"/>
              </a:lnSpc>
              <a:spcBef>
                <a:spcPts val="600"/>
              </a:spcBef>
              <a:spcAft>
                <a:spcPts val="1200"/>
              </a:spcAft>
              <a:buNone/>
            </a:pPr>
            <a:r>
              <a:rPr lang="en-AU" sz="2200" dirty="0" smtClean="0">
                <a:latin typeface="Helvetica" pitchFamily="34" charset="0"/>
              </a:rPr>
              <a:t>This </a:t>
            </a:r>
            <a:r>
              <a:rPr lang="en-AU" sz="2200" dirty="0" smtClean="0">
                <a:latin typeface="Helvetica" pitchFamily="34" charset="0"/>
              </a:rPr>
              <a:t>is where you deliver on-the-job training to individuals and groups using a wide range of training options:</a:t>
            </a:r>
          </a:p>
          <a:p>
            <a:pPr>
              <a:lnSpc>
                <a:spcPct val="120000"/>
              </a:lnSpc>
              <a:spcBef>
                <a:spcPts val="600"/>
              </a:spcBef>
              <a:spcAft>
                <a:spcPts val="1200"/>
              </a:spcAft>
            </a:pPr>
            <a:r>
              <a:rPr lang="en-AU" sz="2200" dirty="0" smtClean="0">
                <a:latin typeface="Helvetica" pitchFamily="34" charset="0"/>
              </a:rPr>
              <a:t>What </a:t>
            </a:r>
            <a:r>
              <a:rPr lang="en-AU" sz="2200" dirty="0" smtClean="0">
                <a:latin typeface="Helvetica" pitchFamily="34" charset="0"/>
              </a:rPr>
              <a:t>training options exist?</a:t>
            </a:r>
          </a:p>
          <a:p>
            <a:pPr lvl="0">
              <a:lnSpc>
                <a:spcPct val="120000"/>
              </a:lnSpc>
              <a:spcBef>
                <a:spcPts val="600"/>
              </a:spcBef>
              <a:spcAft>
                <a:spcPts val="1200"/>
              </a:spcAft>
            </a:pPr>
            <a:endParaRPr lang="en-AU" sz="2200" dirty="0" smtClean="0">
              <a:latin typeface="Helvetica" pitchFamily="34" charset="0"/>
            </a:endParaRPr>
          </a:p>
          <a:p>
            <a:pPr marL="0">
              <a:lnSpc>
                <a:spcPct val="120000"/>
              </a:lnSpc>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6" name="Picture 5" descr="_94_08_38%.jpg"/>
          <p:cNvPicPr>
            <a:picLocks noChangeAspect="1"/>
          </p:cNvPicPr>
          <p:nvPr/>
        </p:nvPicPr>
        <p:blipFill>
          <a:blip r:embed="rId3" cstate="print"/>
          <a:stretch>
            <a:fillRect/>
          </a:stretch>
        </p:blipFill>
        <p:spPr>
          <a:xfrm>
            <a:off x="7086600" y="3505200"/>
            <a:ext cx="1347216" cy="2038008"/>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200" b="1" dirty="0" smtClean="0">
                <a:solidFill>
                  <a:srgbClr val="FF6600"/>
                </a:solidFill>
                <a:latin typeface="Helvetica" pitchFamily="34" charset="0"/>
              </a:rPr>
              <a:t>Coaching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541840" cy="5410200"/>
          </a:xfrm>
        </p:spPr>
        <p:txBody>
          <a:bodyPr>
            <a:normAutofit/>
          </a:bodyPr>
          <a:lstStyle/>
          <a:p>
            <a:pPr marL="0">
              <a:spcBef>
                <a:spcPts val="600"/>
              </a:spcBef>
              <a:spcAft>
                <a:spcPts val="1200"/>
              </a:spcAft>
              <a:buNone/>
            </a:pPr>
            <a:r>
              <a:rPr lang="en-AU" sz="2200" b="1" dirty="0" smtClean="0">
                <a:latin typeface="Helvetica" pitchFamily="34" charset="0"/>
              </a:rPr>
              <a:t>Coaching options</a:t>
            </a:r>
          </a:p>
          <a:p>
            <a:pPr>
              <a:spcBef>
                <a:spcPts val="600"/>
              </a:spcBef>
              <a:spcAft>
                <a:spcPts val="1200"/>
              </a:spcAft>
            </a:pPr>
            <a:r>
              <a:rPr lang="en-AU" sz="2200" dirty="0" smtClean="0">
                <a:latin typeface="Helvetica" pitchFamily="34" charset="0"/>
              </a:rPr>
              <a:t>Demonstrations</a:t>
            </a:r>
          </a:p>
          <a:p>
            <a:pPr>
              <a:spcBef>
                <a:spcPts val="600"/>
              </a:spcBef>
              <a:spcAft>
                <a:spcPts val="1200"/>
              </a:spcAft>
            </a:pPr>
            <a:r>
              <a:rPr lang="en-AU" sz="2200" dirty="0" smtClean="0">
                <a:latin typeface="Helvetica" pitchFamily="34" charset="0"/>
              </a:rPr>
              <a:t>Discussion</a:t>
            </a:r>
          </a:p>
          <a:p>
            <a:pPr>
              <a:spcBef>
                <a:spcPts val="600"/>
              </a:spcBef>
              <a:spcAft>
                <a:spcPts val="1200"/>
              </a:spcAft>
            </a:pPr>
            <a:r>
              <a:rPr lang="en-AU" sz="2200" dirty="0" smtClean="0">
                <a:latin typeface="Helvetica" pitchFamily="34" charset="0"/>
              </a:rPr>
              <a:t>Lectures</a:t>
            </a:r>
          </a:p>
          <a:p>
            <a:pPr>
              <a:spcBef>
                <a:spcPts val="600"/>
              </a:spcBef>
              <a:spcAft>
                <a:spcPts val="1200"/>
              </a:spcAft>
            </a:pPr>
            <a:r>
              <a:rPr lang="en-AU" sz="2200" dirty="0" smtClean="0">
                <a:latin typeface="Helvetica" pitchFamily="34" charset="0"/>
              </a:rPr>
              <a:t>Case studies</a:t>
            </a:r>
          </a:p>
          <a:p>
            <a:pPr>
              <a:spcBef>
                <a:spcPts val="600"/>
              </a:spcBef>
              <a:spcAft>
                <a:spcPts val="1200"/>
              </a:spcAft>
            </a:pPr>
            <a:r>
              <a:rPr lang="en-AU" sz="2200" dirty="0" smtClean="0">
                <a:latin typeface="Helvetica" pitchFamily="34" charset="0"/>
              </a:rPr>
              <a:t>Role-plays</a:t>
            </a:r>
          </a:p>
          <a:p>
            <a:pPr>
              <a:spcBef>
                <a:spcPts val="600"/>
              </a:spcBef>
              <a:spcAft>
                <a:spcPts val="1200"/>
              </a:spcAft>
            </a:pPr>
            <a:r>
              <a:rPr lang="en-AU" sz="2200" dirty="0" smtClean="0">
                <a:latin typeface="Helvetica" pitchFamily="34" charset="0"/>
              </a:rPr>
              <a:t>Games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8" name="Picture 7" descr="Culinaryacademy099.TIF"/>
          <p:cNvPicPr/>
          <p:nvPr/>
        </p:nvPicPr>
        <p:blipFill>
          <a:blip r:embed="rId3" cstate="print"/>
          <a:stretch>
            <a:fillRect/>
          </a:stretch>
        </p:blipFill>
        <p:spPr>
          <a:xfrm>
            <a:off x="6296025" y="3867150"/>
            <a:ext cx="2162175" cy="1543050"/>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734144"/>
          </a:xfrm>
        </p:spPr>
        <p:txBody>
          <a:bodyPr>
            <a:normAutofit/>
          </a:bodyPr>
          <a:lstStyle/>
          <a:p>
            <a:r>
              <a:rPr lang="en-AU" sz="3200" b="1" dirty="0" smtClean="0">
                <a:solidFill>
                  <a:srgbClr val="FF6600"/>
                </a:solidFill>
                <a:latin typeface="Helvetica" pitchFamily="34" charset="0"/>
              </a:rPr>
              <a:t>Coaching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066800"/>
            <a:ext cx="7541840" cy="5334000"/>
          </a:xfrm>
        </p:spPr>
        <p:txBody>
          <a:bodyPr>
            <a:normAutofit/>
          </a:bodyPr>
          <a:lstStyle/>
          <a:p>
            <a:pPr marL="0">
              <a:spcBef>
                <a:spcPts val="600"/>
              </a:spcBef>
              <a:spcAft>
                <a:spcPts val="1200"/>
              </a:spcAft>
              <a:buNone/>
            </a:pPr>
            <a:r>
              <a:rPr lang="en-AU" sz="2200" b="1" dirty="0" smtClean="0">
                <a:latin typeface="Helvetica" pitchFamily="34" charset="0"/>
              </a:rPr>
              <a:t>Coaching options</a:t>
            </a:r>
          </a:p>
          <a:p>
            <a:pPr>
              <a:spcBef>
                <a:spcPts val="600"/>
              </a:spcBef>
              <a:spcAft>
                <a:spcPts val="1200"/>
              </a:spcAft>
            </a:pPr>
            <a:r>
              <a:rPr lang="en-AU" sz="2200" dirty="0" smtClean="0">
                <a:latin typeface="Helvetica" pitchFamily="34" charset="0"/>
              </a:rPr>
              <a:t>Exercises</a:t>
            </a:r>
          </a:p>
          <a:p>
            <a:pPr>
              <a:spcBef>
                <a:spcPts val="600"/>
              </a:spcBef>
              <a:spcAft>
                <a:spcPts val="1200"/>
              </a:spcAft>
            </a:pPr>
            <a:r>
              <a:rPr lang="en-AU" sz="2200" dirty="0" smtClean="0">
                <a:latin typeface="Helvetica" pitchFamily="34" charset="0"/>
              </a:rPr>
              <a:t>Excursions</a:t>
            </a:r>
          </a:p>
          <a:p>
            <a:pPr>
              <a:spcBef>
                <a:spcPts val="600"/>
              </a:spcBef>
              <a:spcAft>
                <a:spcPts val="1200"/>
              </a:spcAft>
            </a:pPr>
            <a:r>
              <a:rPr lang="en-AU" sz="2200" dirty="0" smtClean="0">
                <a:latin typeface="Helvetica" pitchFamily="34" charset="0"/>
              </a:rPr>
              <a:t>Guest speakers</a:t>
            </a:r>
          </a:p>
          <a:p>
            <a:pPr>
              <a:spcBef>
                <a:spcPts val="600"/>
              </a:spcBef>
              <a:spcAft>
                <a:spcPts val="1200"/>
              </a:spcAft>
            </a:pPr>
            <a:r>
              <a:rPr lang="en-AU" sz="2200" dirty="0" smtClean="0">
                <a:latin typeface="Helvetica" pitchFamily="34" charset="0"/>
              </a:rPr>
              <a:t>Presentations</a:t>
            </a:r>
          </a:p>
          <a:p>
            <a:pPr>
              <a:spcBef>
                <a:spcPts val="600"/>
              </a:spcBef>
              <a:spcAft>
                <a:spcPts val="1200"/>
              </a:spcAft>
            </a:pPr>
            <a:r>
              <a:rPr lang="en-AU" sz="2200" dirty="0" smtClean="0">
                <a:latin typeface="Helvetica" pitchFamily="34" charset="0"/>
              </a:rPr>
              <a:t>Providing explanations</a:t>
            </a:r>
          </a:p>
          <a:p>
            <a:pPr>
              <a:spcBef>
                <a:spcPts val="600"/>
              </a:spcBef>
              <a:spcAft>
                <a:spcPts val="1200"/>
              </a:spcAft>
            </a:pPr>
            <a:r>
              <a:rPr lang="en-AU" sz="2200" dirty="0" smtClean="0">
                <a:latin typeface="Helvetica" pitchFamily="34" charset="0"/>
              </a:rPr>
              <a:t>Problem-solving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6" name="Picture 5" descr="MP900423066.JPG"/>
          <p:cNvPicPr/>
          <p:nvPr/>
        </p:nvPicPr>
        <p:blipFill>
          <a:blip r:embed="rId3" cstate="print"/>
          <a:stretch>
            <a:fillRect/>
          </a:stretch>
        </p:blipFill>
        <p:spPr>
          <a:xfrm>
            <a:off x="6478587" y="3276600"/>
            <a:ext cx="1979613" cy="2214563"/>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160840" cy="1143000"/>
          </a:xfrm>
        </p:spPr>
        <p:txBody>
          <a:bodyPr>
            <a:normAutofit/>
          </a:bodyPr>
          <a:lstStyle/>
          <a:p>
            <a:r>
              <a:rPr lang="en-AU" sz="3400" b="1" dirty="0" smtClean="0">
                <a:solidFill>
                  <a:srgbClr val="FF6600"/>
                </a:solidFill>
                <a:latin typeface="Helvetica" pitchFamily="34" charset="0"/>
              </a:rPr>
              <a:t>Formal and informal learning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541840" cy="5072608"/>
          </a:xfrm>
        </p:spPr>
        <p:txBody>
          <a:bodyPr>
            <a:normAutofit/>
          </a:bodyPr>
          <a:lstStyle/>
          <a:p>
            <a:pPr>
              <a:spcBef>
                <a:spcPts val="600"/>
              </a:spcBef>
              <a:spcAft>
                <a:spcPts val="1200"/>
              </a:spcAft>
              <a:buNone/>
            </a:pPr>
            <a:r>
              <a:rPr lang="en-AU" sz="2200" b="1" dirty="0" smtClean="0">
                <a:latin typeface="Helvetica" pitchFamily="34" charset="0"/>
              </a:rPr>
              <a:t>Formal learning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An externally provided course</a:t>
            </a:r>
          </a:p>
          <a:p>
            <a:pPr lvl="0">
              <a:spcBef>
                <a:spcPts val="600"/>
              </a:spcBef>
              <a:spcAft>
                <a:spcPts val="1200"/>
              </a:spcAft>
            </a:pPr>
            <a:r>
              <a:rPr lang="en-AU" sz="2200" dirty="0" smtClean="0">
                <a:latin typeface="Helvetica" pitchFamily="34" charset="0"/>
              </a:rPr>
              <a:t>An internal non-accredited training course  </a:t>
            </a:r>
          </a:p>
          <a:p>
            <a:pPr>
              <a:spcBef>
                <a:spcPts val="600"/>
              </a:spcBef>
              <a:spcAft>
                <a:spcPts val="1200"/>
              </a:spcAft>
              <a:buNone/>
            </a:pPr>
            <a:r>
              <a:rPr lang="en-AU" sz="2200" b="1" dirty="0" smtClean="0">
                <a:latin typeface="Helvetica" pitchFamily="34" charset="0"/>
              </a:rPr>
              <a:t>Informal learning</a:t>
            </a:r>
          </a:p>
          <a:p>
            <a:pPr>
              <a:spcBef>
                <a:spcPts val="600"/>
              </a:spcBef>
              <a:spcAft>
                <a:spcPts val="1200"/>
              </a:spcAft>
            </a:pPr>
            <a:r>
              <a:rPr lang="en-AU" sz="2200" dirty="0" smtClean="0">
                <a:latin typeface="Helvetica" pitchFamily="34" charset="0"/>
              </a:rPr>
              <a:t>Less structured programs</a:t>
            </a:r>
          </a:p>
          <a:p>
            <a:pPr>
              <a:spcBef>
                <a:spcPts val="600"/>
              </a:spcBef>
              <a:spcAft>
                <a:spcPts val="1200"/>
              </a:spcAft>
            </a:pPr>
            <a:r>
              <a:rPr lang="en-AU" sz="2200" dirty="0" smtClean="0">
                <a:latin typeface="Helvetica" pitchFamily="34" charset="0"/>
              </a:rPr>
              <a:t>Greater flexibility</a:t>
            </a:r>
          </a:p>
          <a:p>
            <a:pPr>
              <a:spcBef>
                <a:spcPts val="600"/>
              </a:spcBef>
              <a:spcAft>
                <a:spcPts val="1200"/>
              </a:spcAft>
            </a:pPr>
            <a:r>
              <a:rPr lang="en-AU" sz="2200" dirty="0" smtClean="0">
                <a:latin typeface="Helvetica" pitchFamily="34" charset="0"/>
              </a:rPr>
              <a:t>As required</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7" name="Picture 6" descr="Wine Tasting.jpg"/>
          <p:cNvPicPr/>
          <p:nvPr/>
        </p:nvPicPr>
        <p:blipFill>
          <a:blip r:embed="rId3" cstate="print"/>
          <a:stretch>
            <a:fillRect/>
          </a:stretch>
        </p:blipFill>
        <p:spPr>
          <a:xfrm>
            <a:off x="6400800" y="4019550"/>
            <a:ext cx="2009775" cy="1390650"/>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10344"/>
          </a:xfrm>
        </p:spPr>
        <p:txBody>
          <a:bodyPr>
            <a:normAutofit/>
          </a:bodyPr>
          <a:lstStyle/>
          <a:p>
            <a:r>
              <a:rPr lang="en-AU" sz="3400" b="1" dirty="0" smtClean="0">
                <a:solidFill>
                  <a:srgbClr val="FF6600"/>
                </a:solidFill>
                <a:latin typeface="Helvetica" pitchFamily="34" charset="0"/>
              </a:rPr>
              <a:t>Other development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43000"/>
            <a:ext cx="7389440" cy="4680520"/>
          </a:xfrm>
        </p:spPr>
        <p:txBody>
          <a:bodyPr>
            <a:normAutofit/>
          </a:bodyPr>
          <a:lstStyle/>
          <a:p>
            <a:pPr>
              <a:spcBef>
                <a:spcPts val="600"/>
              </a:spcBef>
              <a:spcAft>
                <a:spcPts val="1200"/>
              </a:spcAft>
              <a:buNone/>
            </a:pPr>
            <a:r>
              <a:rPr lang="en-AU" sz="2200" b="1" dirty="0" smtClean="0">
                <a:latin typeface="Helvetica" pitchFamily="34" charset="0"/>
              </a:rPr>
              <a:t>Other </a:t>
            </a:r>
            <a:r>
              <a:rPr lang="en-AU" sz="2200" b="1" dirty="0" smtClean="0">
                <a:latin typeface="Helvetica" pitchFamily="34" charset="0"/>
              </a:rPr>
              <a:t>professional development programs</a:t>
            </a:r>
          </a:p>
          <a:p>
            <a:pPr>
              <a:spcBef>
                <a:spcPts val="600"/>
              </a:spcBef>
              <a:spcAft>
                <a:spcPts val="1200"/>
              </a:spcAft>
            </a:pPr>
            <a:r>
              <a:rPr lang="en-AU" sz="2200" dirty="0" smtClean="0">
                <a:latin typeface="Helvetica" pitchFamily="34" charset="0"/>
              </a:rPr>
              <a:t>Personal </a:t>
            </a:r>
            <a:r>
              <a:rPr lang="en-AU" sz="2200" dirty="0" smtClean="0">
                <a:latin typeface="Helvetica" pitchFamily="34" charset="0"/>
              </a:rPr>
              <a:t>study </a:t>
            </a:r>
          </a:p>
          <a:p>
            <a:pPr>
              <a:spcBef>
                <a:spcPts val="600"/>
              </a:spcBef>
              <a:spcAft>
                <a:spcPts val="1200"/>
              </a:spcAft>
            </a:pPr>
            <a:r>
              <a:rPr lang="en-AU" sz="2200" dirty="0" smtClean="0">
                <a:latin typeface="Helvetica" pitchFamily="34" charset="0"/>
              </a:rPr>
              <a:t>Work experience</a:t>
            </a:r>
          </a:p>
          <a:p>
            <a:pPr>
              <a:spcBef>
                <a:spcPts val="600"/>
              </a:spcBef>
              <a:spcAft>
                <a:spcPts val="1200"/>
              </a:spcAft>
            </a:pPr>
            <a:r>
              <a:rPr lang="en-AU" sz="2200" dirty="0" smtClean="0">
                <a:latin typeface="Helvetica" pitchFamily="34" charset="0"/>
              </a:rPr>
              <a:t>Job rotation</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6" name="Picture 5" descr="MP900443024.JPG"/>
          <p:cNvPicPr/>
          <p:nvPr/>
        </p:nvPicPr>
        <p:blipFill>
          <a:blip r:embed="rId3" cstate="print"/>
          <a:stretch>
            <a:fillRect/>
          </a:stretch>
        </p:blipFill>
        <p:spPr>
          <a:xfrm>
            <a:off x="6210300" y="3886200"/>
            <a:ext cx="2247900" cy="1524000"/>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313240" cy="1143000"/>
          </a:xfrm>
        </p:spPr>
        <p:txBody>
          <a:bodyPr>
            <a:normAutofit/>
          </a:bodyPr>
          <a:lstStyle/>
          <a:p>
            <a:r>
              <a:rPr lang="en-AU" sz="3400" b="1" dirty="0" smtClean="0">
                <a:solidFill>
                  <a:srgbClr val="FF6600"/>
                </a:solidFill>
                <a:latin typeface="Helvetica" pitchFamily="34" charset="0"/>
              </a:rPr>
              <a:t>Provide resources for development and training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18040" cy="5072608"/>
          </a:xfrm>
        </p:spPr>
        <p:txBody>
          <a:bodyPr>
            <a:normAutofit/>
          </a:bodyPr>
          <a:lstStyle/>
          <a:p>
            <a:pPr>
              <a:spcBef>
                <a:spcPts val="600"/>
              </a:spcBef>
              <a:spcAft>
                <a:spcPts val="1200"/>
              </a:spcAft>
              <a:buNone/>
            </a:pPr>
            <a:r>
              <a:rPr lang="en-AU" sz="2200" b="1" dirty="0" smtClean="0">
                <a:latin typeface="Helvetica" pitchFamily="34" charset="0"/>
              </a:rPr>
              <a:t>Types of resources</a:t>
            </a:r>
          </a:p>
          <a:p>
            <a:pPr lvl="0">
              <a:spcBef>
                <a:spcPts val="600"/>
              </a:spcBef>
              <a:spcAft>
                <a:spcPts val="1200"/>
              </a:spcAft>
            </a:pPr>
            <a:r>
              <a:rPr lang="en-AU" sz="2200" dirty="0" smtClean="0">
                <a:latin typeface="Helvetica" pitchFamily="34" charset="0"/>
              </a:rPr>
              <a:t>Time</a:t>
            </a:r>
          </a:p>
          <a:p>
            <a:pPr>
              <a:spcBef>
                <a:spcPts val="600"/>
              </a:spcBef>
              <a:spcAft>
                <a:spcPts val="1200"/>
              </a:spcAft>
            </a:pPr>
            <a:r>
              <a:rPr lang="en-AU" sz="2200" dirty="0" smtClean="0">
                <a:latin typeface="Helvetica" pitchFamily="34" charset="0"/>
              </a:rPr>
              <a:t>Space/location and venues</a:t>
            </a:r>
          </a:p>
          <a:p>
            <a:pPr>
              <a:spcBef>
                <a:spcPts val="600"/>
              </a:spcBef>
              <a:spcAft>
                <a:spcPts val="1200"/>
              </a:spcAft>
            </a:pPr>
            <a:r>
              <a:rPr lang="en-AU" sz="2200" dirty="0" smtClean="0">
                <a:latin typeface="Helvetica" pitchFamily="34" charset="0"/>
              </a:rPr>
              <a:t>Trainers</a:t>
            </a:r>
          </a:p>
          <a:p>
            <a:pPr>
              <a:spcBef>
                <a:spcPts val="600"/>
              </a:spcBef>
              <a:spcAft>
                <a:spcPts val="1200"/>
              </a:spcAft>
            </a:pPr>
            <a:r>
              <a:rPr lang="en-AU" sz="2200" dirty="0" smtClean="0">
                <a:latin typeface="Helvetica" pitchFamily="34" charset="0"/>
              </a:rPr>
              <a:t>Financial resources</a:t>
            </a:r>
          </a:p>
          <a:p>
            <a:pPr>
              <a:spcBef>
                <a:spcPts val="600"/>
              </a:spcBef>
              <a:spcAft>
                <a:spcPts val="1200"/>
              </a:spcAft>
            </a:pPr>
            <a:r>
              <a:rPr lang="en-AU" sz="2200" dirty="0" smtClean="0">
                <a:latin typeface="Helvetica" pitchFamily="34" charset="0"/>
              </a:rPr>
              <a:t>Support materials</a:t>
            </a:r>
          </a:p>
          <a:p>
            <a:pPr>
              <a:spcBef>
                <a:spcPts val="600"/>
              </a:spcBef>
              <a:spcAft>
                <a:spcPts val="1200"/>
              </a:spcAft>
            </a:pPr>
            <a:r>
              <a:rPr lang="en-AU" sz="2200" dirty="0" smtClean="0">
                <a:latin typeface="Helvetica" pitchFamily="34" charset="0"/>
              </a:rPr>
              <a:t>Equipment and consumables</a:t>
            </a:r>
          </a:p>
          <a:p>
            <a:pPr lvl="0">
              <a:spcBef>
                <a:spcPts val="600"/>
              </a:spcBef>
              <a:spcAft>
                <a:spcPts val="1200"/>
              </a:spcAft>
            </a:pPr>
            <a:r>
              <a:rPr lang="en-AU" sz="2200" dirty="0" smtClean="0">
                <a:latin typeface="Helvetica" pitchFamily="34" charset="0"/>
              </a:rPr>
              <a:t>Items required to support training practice</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6" name="Picture 5" descr="MP900439374[1].JPG"/>
          <p:cNvPicPr/>
          <p:nvPr/>
        </p:nvPicPr>
        <p:blipFill>
          <a:blip r:embed="rId3" cstate="print"/>
          <a:stretch>
            <a:fillRect/>
          </a:stretch>
        </p:blipFill>
        <p:spPr>
          <a:xfrm>
            <a:off x="6324600" y="4038600"/>
            <a:ext cx="2162175" cy="1466850"/>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734144"/>
          </a:xfrm>
        </p:spPr>
        <p:txBody>
          <a:bodyPr>
            <a:normAutofit/>
          </a:bodyPr>
          <a:lstStyle/>
          <a:p>
            <a:r>
              <a:rPr lang="en-AU" sz="3400" b="1" dirty="0" smtClean="0">
                <a:solidFill>
                  <a:srgbClr val="FF6600"/>
                </a:solidFill>
                <a:latin typeface="Helvetica" pitchFamily="34" charset="0"/>
              </a:rPr>
              <a:t>Monitor development of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43000"/>
            <a:ext cx="7389440" cy="5257800"/>
          </a:xfrm>
        </p:spPr>
        <p:txBody>
          <a:bodyPr>
            <a:normAutofit/>
          </a:bodyPr>
          <a:lstStyle/>
          <a:p>
            <a:pPr>
              <a:spcBef>
                <a:spcPts val="600"/>
              </a:spcBef>
              <a:spcAft>
                <a:spcPts val="1200"/>
              </a:spcAft>
              <a:buNone/>
            </a:pPr>
            <a:r>
              <a:rPr lang="en-AU" sz="2200" b="1" dirty="0" smtClean="0">
                <a:latin typeface="Helvetica" pitchFamily="34" charset="0"/>
              </a:rPr>
              <a:t>Types </a:t>
            </a:r>
            <a:r>
              <a:rPr lang="en-AU" sz="2200" b="1" dirty="0" smtClean="0">
                <a:latin typeface="Helvetica" pitchFamily="34" charset="0"/>
              </a:rPr>
              <a:t>of resources</a:t>
            </a:r>
          </a:p>
          <a:p>
            <a:pPr lvl="0">
              <a:spcBef>
                <a:spcPts val="600"/>
              </a:spcBef>
              <a:spcAft>
                <a:spcPts val="1200"/>
              </a:spcAft>
            </a:pPr>
            <a:r>
              <a:rPr lang="en-AU" sz="2200" dirty="0" smtClean="0">
                <a:latin typeface="Helvetica" pitchFamily="34" charset="0"/>
              </a:rPr>
              <a:t>Why is it important to monitor the performance of staff?</a:t>
            </a:r>
          </a:p>
          <a:p>
            <a:pPr lvl="0">
              <a:spcBef>
                <a:spcPts val="600"/>
              </a:spcBef>
              <a:spcAft>
                <a:spcPts val="1200"/>
              </a:spcAft>
            </a:pPr>
            <a:r>
              <a:rPr lang="en-AU" sz="2200" dirty="0" smtClean="0">
                <a:latin typeface="Helvetica" pitchFamily="34" charset="0"/>
              </a:rPr>
              <a:t>What actual aspects of performance do you want to monitor?</a:t>
            </a:r>
          </a:p>
          <a:p>
            <a:pPr lvl="0">
              <a:spcBef>
                <a:spcPts val="600"/>
              </a:spcBef>
              <a:spcAft>
                <a:spcPts val="1200"/>
              </a:spcAft>
            </a:pPr>
            <a:r>
              <a:rPr lang="en-AU" sz="2200" dirty="0" smtClean="0">
                <a:latin typeface="Helvetica" pitchFamily="34" charset="0"/>
              </a:rPr>
              <a:t>How do you do it?</a:t>
            </a: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7" name="Picture 6" descr="MP900443367[1].JPG"/>
          <p:cNvPicPr/>
          <p:nvPr/>
        </p:nvPicPr>
        <p:blipFill>
          <a:blip r:embed="rId3" cstate="print"/>
          <a:stretch>
            <a:fillRect/>
          </a:stretch>
        </p:blipFill>
        <p:spPr>
          <a:xfrm>
            <a:off x="7086600" y="3657600"/>
            <a:ext cx="1343025" cy="1695450"/>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Monitor development of staff</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5257800"/>
          </a:xfrm>
        </p:spPr>
        <p:txBody>
          <a:bodyPr>
            <a:normAutofit/>
          </a:bodyPr>
          <a:lstStyle/>
          <a:p>
            <a:pPr marL="0" indent="0">
              <a:spcBef>
                <a:spcPts val="600"/>
              </a:spcBef>
              <a:spcAft>
                <a:spcPts val="1200"/>
              </a:spcAft>
              <a:buNone/>
            </a:pPr>
            <a:r>
              <a:rPr lang="en-AU" sz="2200" b="1" dirty="0" smtClean="0">
                <a:latin typeface="Helvetica" pitchFamily="34" charset="0"/>
              </a:rPr>
              <a:t>You need to monitor workplace performance of staff to:</a:t>
            </a:r>
          </a:p>
          <a:p>
            <a:pPr>
              <a:spcBef>
                <a:spcPts val="1200"/>
              </a:spcBef>
              <a:spcAft>
                <a:spcPts val="600"/>
              </a:spcAft>
            </a:pPr>
            <a:r>
              <a:rPr lang="en-AU" sz="2200" dirty="0" smtClean="0">
                <a:latin typeface="Helvetica" pitchFamily="34" charset="0"/>
              </a:rPr>
              <a:t>Identify those who need help</a:t>
            </a:r>
          </a:p>
          <a:p>
            <a:pPr>
              <a:spcBef>
                <a:spcPts val="1200"/>
              </a:spcBef>
              <a:spcAft>
                <a:spcPts val="600"/>
              </a:spcAft>
            </a:pPr>
            <a:r>
              <a:rPr lang="en-AU" sz="2200" dirty="0" smtClean="0">
                <a:latin typeface="Helvetica" pitchFamily="34" charset="0"/>
              </a:rPr>
              <a:t>Help determine whether actual outcomes are                  person-based or related to other issues</a:t>
            </a:r>
          </a:p>
          <a:p>
            <a:pPr>
              <a:spcBef>
                <a:spcPts val="1200"/>
              </a:spcBef>
              <a:spcAft>
                <a:spcPts val="600"/>
              </a:spcAft>
            </a:pPr>
            <a:r>
              <a:rPr lang="en-AU" sz="2200" dirty="0" smtClean="0">
                <a:latin typeface="Helvetica" pitchFamily="34" charset="0"/>
              </a:rPr>
              <a:t>Identify good performance</a:t>
            </a:r>
          </a:p>
          <a:p>
            <a:pPr>
              <a:spcBef>
                <a:spcPts val="1200"/>
              </a:spcBef>
              <a:spcAft>
                <a:spcPts val="600"/>
              </a:spcAft>
            </a:pPr>
            <a:r>
              <a:rPr lang="en-AU" sz="2200" dirty="0" smtClean="0">
                <a:latin typeface="Helvetica" pitchFamily="34" charset="0"/>
              </a:rPr>
              <a:t>Identify staff who may be suitable  </a:t>
            </a:r>
            <a:br>
              <a:rPr lang="en-AU" sz="2200" dirty="0" smtClean="0">
                <a:latin typeface="Helvetica" pitchFamily="34" charset="0"/>
              </a:rPr>
            </a:br>
            <a:r>
              <a:rPr lang="en-AU" sz="2200" dirty="0" smtClean="0">
                <a:latin typeface="Helvetica" pitchFamily="34" charset="0"/>
              </a:rPr>
              <a:t>for promotion</a:t>
            </a:r>
          </a:p>
          <a:p>
            <a:pPr>
              <a:spcBef>
                <a:spcPts val="1200"/>
              </a:spcBef>
              <a:spcAft>
                <a:spcPts val="600"/>
              </a:spcAft>
            </a:pPr>
            <a:r>
              <a:rPr lang="en-AU" sz="2200" dirty="0" smtClean="0">
                <a:latin typeface="Helvetica" pitchFamily="34" charset="0"/>
              </a:rPr>
              <a:t>Remind staff their performance                                          at work is under scrutiny</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6" name="Picture 5" descr="24.jpg"/>
          <p:cNvPicPr>
            <a:picLocks noChangeAspect="1"/>
          </p:cNvPicPr>
          <p:nvPr/>
        </p:nvPicPr>
        <p:blipFill>
          <a:blip r:embed="rId3" cstate="print"/>
          <a:stretch>
            <a:fillRect/>
          </a:stretch>
        </p:blipFill>
        <p:spPr>
          <a:xfrm>
            <a:off x="6994656" y="3301752"/>
            <a:ext cx="1463544" cy="2184648"/>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66800"/>
            <a:ext cx="7632848" cy="4680520"/>
          </a:xfrm>
        </p:spPr>
        <p:txBody>
          <a:bodyPr>
            <a:normAutofit/>
          </a:bodyPr>
          <a:lstStyle/>
          <a:p>
            <a:pPr marL="0">
              <a:buNone/>
            </a:pPr>
            <a:r>
              <a:rPr lang="en-AU" sz="4000" b="1" i="1" dirty="0" smtClean="0">
                <a:solidFill>
                  <a:srgbClr val="FF6600"/>
                </a:solidFill>
                <a:latin typeface="Helvetica" pitchFamily="34" charset="0"/>
              </a:rPr>
              <a:t>Element 7:</a:t>
            </a:r>
          </a:p>
          <a:p>
            <a:pPr marL="0">
              <a:spcBef>
                <a:spcPts val="600"/>
              </a:spcBef>
              <a:spcAft>
                <a:spcPts val="1200"/>
              </a:spcAft>
              <a:buNone/>
            </a:pPr>
            <a:r>
              <a:rPr lang="en-AU" sz="4000" b="1" i="1" dirty="0" smtClean="0">
                <a:solidFill>
                  <a:srgbClr val="FF6600"/>
                </a:solidFill>
                <a:latin typeface="Helvetica" pitchFamily="34" charset="0"/>
              </a:rPr>
              <a:t>Evaluate the implementation of the human resource plan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5" name="Picture 4" descr="MP900409740[1].JPG"/>
          <p:cNvPicPr>
            <a:picLocks noChangeAspect="1"/>
          </p:cNvPicPr>
          <p:nvPr/>
        </p:nvPicPr>
        <p:blipFill>
          <a:blip r:embed="rId3" cstate="print"/>
          <a:stretch>
            <a:fillRect/>
          </a:stretch>
        </p:blipFill>
        <p:spPr>
          <a:xfrm>
            <a:off x="6937921" y="3276600"/>
            <a:ext cx="1520279" cy="2286000"/>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Evaluate the implementation of the human resource plan</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Use suitable methods to evaluate the effectiveness of the human resource plan</a:t>
            </a:r>
          </a:p>
          <a:p>
            <a:pPr>
              <a:spcBef>
                <a:spcPts val="600"/>
              </a:spcBef>
              <a:spcAft>
                <a:spcPts val="1200"/>
              </a:spcAft>
            </a:pPr>
            <a:r>
              <a:rPr lang="en-AU" sz="2200" dirty="0" smtClean="0">
                <a:latin typeface="Helvetica" pitchFamily="34" charset="0"/>
              </a:rPr>
              <a:t>Assess the extent to which the objectives of the human resource plan have been achieved</a:t>
            </a:r>
          </a:p>
          <a:p>
            <a:pPr>
              <a:spcBef>
                <a:spcPts val="600"/>
              </a:spcBef>
              <a:spcAft>
                <a:spcPts val="1200"/>
              </a:spcAft>
            </a:pPr>
            <a:r>
              <a:rPr lang="en-AU" sz="2200" dirty="0" smtClean="0">
                <a:latin typeface="Helvetica" pitchFamily="34" charset="0"/>
              </a:rPr>
              <a:t>Review external and internal factors that have       impacted human resource performance</a:t>
            </a:r>
          </a:p>
          <a:p>
            <a:pPr>
              <a:spcBef>
                <a:spcPts val="600"/>
              </a:spcBef>
              <a:spcAft>
                <a:spcPts val="1200"/>
              </a:spcAft>
            </a:pPr>
            <a:r>
              <a:rPr lang="en-AU" sz="2200" dirty="0" smtClean="0">
                <a:latin typeface="Helvetica" pitchFamily="34" charset="0"/>
              </a:rPr>
              <a:t>Review and evaluate human resource policies                 and 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5" name="Picture 4" descr="MP900341625[1].JPG"/>
          <p:cNvPicPr>
            <a:picLocks noChangeAspect="1"/>
          </p:cNvPicPr>
          <p:nvPr/>
        </p:nvPicPr>
        <p:blipFill>
          <a:blip r:embed="rId3" cstate="print"/>
          <a:stretch>
            <a:fillRect/>
          </a:stretch>
        </p:blipFill>
        <p:spPr>
          <a:xfrm>
            <a:off x="7239000" y="3810000"/>
            <a:ext cx="1304544" cy="1828800"/>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Evaluate the implementation of the human resource plan</a:t>
            </a:r>
          </a:p>
        </p:txBody>
      </p:sp>
      <p:sp>
        <p:nvSpPr>
          <p:cNvPr id="3" name="Content Placeholder 2"/>
          <p:cNvSpPr>
            <a:spLocks noGrp="1"/>
          </p:cNvSpPr>
          <p:nvPr>
            <p:ph idx="1"/>
          </p:nvPr>
        </p:nvSpPr>
        <p:spPr>
          <a:xfrm>
            <a:off x="611560" y="1556792"/>
            <a:ext cx="7467600" cy="5072608"/>
          </a:xfrm>
        </p:spPr>
        <p:txBody>
          <a:bodyPr>
            <a:normAutofit/>
          </a:bodyPr>
          <a:lstStyle/>
          <a:p>
            <a:pPr marL="0" indent="0">
              <a:spcBef>
                <a:spcPts val="600"/>
              </a:spcBef>
              <a:spcAft>
                <a:spcPts val="600"/>
              </a:spcAft>
              <a:buNone/>
            </a:pPr>
            <a:r>
              <a:rPr lang="en-AU" sz="2200" dirty="0" smtClean="0">
                <a:latin typeface="Helvetica" pitchFamily="34" charset="0"/>
              </a:rPr>
              <a:t>Performance Criteria for this Element are: </a:t>
            </a:r>
          </a:p>
          <a:p>
            <a:pPr>
              <a:spcBef>
                <a:spcPts val="600"/>
              </a:spcBef>
              <a:spcAft>
                <a:spcPts val="600"/>
              </a:spcAft>
            </a:pPr>
            <a:r>
              <a:rPr lang="en-AU" sz="2200" dirty="0" smtClean="0">
                <a:latin typeface="Helvetica" pitchFamily="34" charset="0"/>
              </a:rPr>
              <a:t>Review and evaluate the organization of human resources</a:t>
            </a:r>
          </a:p>
          <a:p>
            <a:pPr>
              <a:spcBef>
                <a:spcPts val="600"/>
              </a:spcBef>
              <a:spcAft>
                <a:spcPts val="600"/>
              </a:spcAft>
            </a:pPr>
            <a:r>
              <a:rPr lang="en-AU" sz="2200" dirty="0" smtClean="0">
                <a:latin typeface="Helvetica" pitchFamily="34" charset="0"/>
              </a:rPr>
              <a:t>Review and evaluate the supervision, leadership and motivation of staff</a:t>
            </a:r>
          </a:p>
          <a:p>
            <a:pPr>
              <a:spcBef>
                <a:spcPts val="600"/>
              </a:spcBef>
              <a:spcAft>
                <a:spcPts val="600"/>
              </a:spcAft>
            </a:pPr>
            <a:r>
              <a:rPr lang="en-AU" sz="2200" dirty="0" smtClean="0">
                <a:latin typeface="Helvetica" pitchFamily="34" charset="0"/>
              </a:rPr>
              <a:t>Review and evaluate staff performance </a:t>
            </a:r>
            <a:br>
              <a:rPr lang="en-AU" sz="2200" dirty="0" smtClean="0">
                <a:latin typeface="Helvetica" pitchFamily="34" charset="0"/>
              </a:rPr>
            </a:br>
            <a:r>
              <a:rPr lang="en-AU" sz="2200" dirty="0" smtClean="0">
                <a:latin typeface="Helvetica" pitchFamily="34" charset="0"/>
              </a:rPr>
              <a:t>appraisal system</a:t>
            </a:r>
          </a:p>
          <a:p>
            <a:pPr>
              <a:spcBef>
                <a:spcPts val="600"/>
              </a:spcBef>
              <a:spcAft>
                <a:spcPts val="600"/>
              </a:spcAft>
            </a:pPr>
            <a:r>
              <a:rPr lang="en-AU" sz="2200" dirty="0" smtClean="0">
                <a:latin typeface="Helvetica" pitchFamily="34" charset="0"/>
              </a:rPr>
              <a:t>Review and evaluate the provision of human                    resource development</a:t>
            </a:r>
          </a:p>
          <a:p>
            <a:pPr>
              <a:spcBef>
                <a:spcPts val="600"/>
              </a:spcBef>
              <a:spcAft>
                <a:spcPts val="600"/>
              </a:spcAft>
            </a:pPr>
            <a:r>
              <a:rPr lang="en-AU" sz="2200" dirty="0" smtClean="0">
                <a:latin typeface="Helvetica" pitchFamily="34" charset="0"/>
              </a:rPr>
              <a:t>Recommend strategies to maintain or                             improve human resource outcomes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5" name="Picture 4" descr="MP900411785[1].JPG"/>
          <p:cNvPicPr>
            <a:picLocks noChangeAspect="1"/>
          </p:cNvPicPr>
          <p:nvPr/>
        </p:nvPicPr>
        <p:blipFill>
          <a:blip r:embed="rId3" cstate="print"/>
          <a:stretch>
            <a:fillRect/>
          </a:stretch>
        </p:blipFill>
        <p:spPr>
          <a:xfrm>
            <a:off x="7239000" y="3733800"/>
            <a:ext cx="1168970" cy="1752600"/>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Evaluate human resources plan</a:t>
            </a:r>
          </a:p>
        </p:txBody>
      </p:sp>
      <p:sp>
        <p:nvSpPr>
          <p:cNvPr id="3" name="Content Placeholder 2"/>
          <p:cNvSpPr>
            <a:spLocks noGrp="1"/>
          </p:cNvSpPr>
          <p:nvPr>
            <p:ph idx="1"/>
          </p:nvPr>
        </p:nvSpPr>
        <p:spPr>
          <a:xfrm>
            <a:off x="611560" y="1143000"/>
            <a:ext cx="7467600" cy="5334000"/>
          </a:xfrm>
        </p:spPr>
        <p:txBody>
          <a:bodyPr>
            <a:normAutofit/>
          </a:bodyPr>
          <a:lstStyle/>
          <a:p>
            <a:pPr>
              <a:spcBef>
                <a:spcPts val="600"/>
              </a:spcBef>
              <a:spcAft>
                <a:spcPts val="1200"/>
              </a:spcAft>
              <a:buNone/>
            </a:pPr>
            <a:r>
              <a:rPr lang="en-AU" sz="2200" b="1" dirty="0" smtClean="0">
                <a:latin typeface="Helvetica" pitchFamily="34" charset="0"/>
              </a:rPr>
              <a:t>Methods to evaluate human resources plan</a:t>
            </a:r>
          </a:p>
          <a:p>
            <a:pPr lvl="0">
              <a:spcBef>
                <a:spcPts val="600"/>
              </a:spcBef>
              <a:spcAft>
                <a:spcPts val="1200"/>
              </a:spcAft>
            </a:pPr>
            <a:r>
              <a:rPr lang="en-AU" sz="2200" dirty="0" smtClean="0">
                <a:latin typeface="Helvetica" pitchFamily="34" charset="0"/>
              </a:rPr>
              <a:t>Statistical analysis of costs, trade, revenue, materials used and other key indicators</a:t>
            </a:r>
          </a:p>
          <a:p>
            <a:pPr lvl="0">
              <a:spcBef>
                <a:spcPts val="600"/>
              </a:spcBef>
              <a:spcAft>
                <a:spcPts val="1200"/>
              </a:spcAft>
            </a:pPr>
            <a:r>
              <a:rPr lang="en-AU" sz="2200" dirty="0" smtClean="0">
                <a:latin typeface="Helvetica" pitchFamily="34" charset="0"/>
              </a:rPr>
              <a:t>Interviews with and surveys of stakeholders, including staff and management and which may include the use of focus groups</a:t>
            </a:r>
          </a:p>
          <a:p>
            <a:pPr lvl="0">
              <a:spcBef>
                <a:spcPts val="600"/>
              </a:spcBef>
              <a:spcAft>
                <a:spcPts val="1200"/>
              </a:spcAft>
            </a:pPr>
            <a:r>
              <a:rPr lang="en-AU" sz="2200" dirty="0" smtClean="0">
                <a:latin typeface="Helvetica" pitchFamily="34" charset="0"/>
              </a:rPr>
              <a:t>Solicited and unsolicited feedback</a:t>
            </a:r>
          </a:p>
          <a:p>
            <a:pPr lvl="0">
              <a:spcBef>
                <a:spcPts val="600"/>
              </a:spcBef>
              <a:spcAft>
                <a:spcPts val="1200"/>
              </a:spcAft>
            </a:pPr>
            <a:r>
              <a:rPr lang="en-AU" sz="2200" dirty="0" smtClean="0">
                <a:latin typeface="Helvetica" pitchFamily="34" charset="0"/>
              </a:rPr>
              <a:t>Organizational reviews</a:t>
            </a:r>
          </a:p>
          <a:p>
            <a:pPr>
              <a:spcBef>
                <a:spcPts val="600"/>
              </a:spcBef>
              <a:spcAft>
                <a:spcPts val="1200"/>
              </a:spcAft>
            </a:pPr>
            <a:r>
              <a:rPr lang="en-AU" sz="2200" dirty="0" smtClean="0">
                <a:latin typeface="Helvetica" pitchFamily="34" charset="0"/>
              </a:rPr>
              <a:t>Workforce management data with an emphasis                         on staffing levels and labour cost figures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5" name="Picture 4" descr="00385575.jpg"/>
          <p:cNvPicPr/>
          <p:nvPr/>
        </p:nvPicPr>
        <p:blipFill>
          <a:blip r:embed="rId3" cstate="print"/>
          <a:stretch>
            <a:fillRect/>
          </a:stretch>
        </p:blipFill>
        <p:spPr>
          <a:xfrm>
            <a:off x="7248525" y="3657600"/>
            <a:ext cx="1209675" cy="1828800"/>
          </a:xfrm>
          <a:prstGeom prst="rect">
            <a:avLst/>
          </a:prstGeom>
          <a:ln w="19050">
            <a:solidFill>
              <a:sysClr val="window" lastClr="FFFFFF">
                <a:lumMod val="75000"/>
              </a:sysClr>
            </a:solidFill>
          </a:ln>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Evaluate human resources 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Quantitative and qualitative analysis compares ‘hard’ data with ‘soft’ data considering:</a:t>
            </a:r>
          </a:p>
          <a:p>
            <a:pPr marL="360000" indent="-360000">
              <a:spcBef>
                <a:spcPts val="600"/>
              </a:spcBef>
              <a:spcAft>
                <a:spcPts val="1200"/>
              </a:spcAft>
            </a:pPr>
            <a:r>
              <a:rPr lang="en-AU" sz="2200" dirty="0" smtClean="0">
                <a:latin typeface="Helvetica" pitchFamily="34" charset="0"/>
              </a:rPr>
              <a:t>Levels of absenteeism against different staffing levels</a:t>
            </a:r>
          </a:p>
          <a:p>
            <a:pPr marL="360000" indent="-360000">
              <a:spcBef>
                <a:spcPts val="600"/>
              </a:spcBef>
              <a:spcAft>
                <a:spcPts val="1200"/>
              </a:spcAft>
            </a:pPr>
            <a:r>
              <a:rPr lang="en-AU" sz="2200" dirty="0" smtClean="0">
                <a:latin typeface="Helvetica" pitchFamily="34" charset="0"/>
              </a:rPr>
              <a:t>Level of staff departing the organisation</a:t>
            </a:r>
          </a:p>
          <a:p>
            <a:pPr marL="360000" indent="-360000">
              <a:spcBef>
                <a:spcPts val="600"/>
              </a:spcBef>
              <a:spcAft>
                <a:spcPts val="1200"/>
              </a:spcAft>
            </a:pPr>
            <a:r>
              <a:rPr lang="en-AU" sz="2200" dirty="0" smtClean="0">
                <a:latin typeface="Helvetica" pitchFamily="34" charset="0"/>
              </a:rPr>
              <a:t>Complaints matched against staffing levels</a:t>
            </a:r>
          </a:p>
          <a:p>
            <a:pPr marL="360000" indent="-360000">
              <a:spcBef>
                <a:spcPts val="600"/>
              </a:spcBef>
              <a:spcAft>
                <a:spcPts val="1200"/>
              </a:spcAft>
            </a:pPr>
            <a:r>
              <a:rPr lang="en-AU" sz="2200" dirty="0" smtClean="0">
                <a:latin typeface="Helvetica" pitchFamily="34" charset="0"/>
              </a:rPr>
              <a:t>Wastage</a:t>
            </a:r>
          </a:p>
          <a:p>
            <a:pPr marL="360000" indent="-360000">
              <a:spcBef>
                <a:spcPts val="600"/>
              </a:spcBef>
              <a:spcAft>
                <a:spcPts val="1200"/>
              </a:spcAft>
            </a:pPr>
            <a:r>
              <a:rPr lang="en-AU" sz="2200" dirty="0" smtClean="0">
                <a:latin typeface="Helvetica" pitchFamily="34" charset="0"/>
              </a:rPr>
              <a:t>Damage</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5" name="Picture 4" descr="00396162.jpg"/>
          <p:cNvPicPr>
            <a:picLocks noChangeAspect="1"/>
          </p:cNvPicPr>
          <p:nvPr/>
        </p:nvPicPr>
        <p:blipFill>
          <a:blip r:embed="rId3" cstate="print"/>
          <a:stretch>
            <a:fillRect/>
          </a:stretch>
        </p:blipFill>
        <p:spPr>
          <a:xfrm>
            <a:off x="6940704" y="3277429"/>
            <a:ext cx="1517496" cy="2285171"/>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400" b="1" dirty="0" smtClean="0">
                <a:solidFill>
                  <a:srgbClr val="FF6600"/>
                </a:solidFill>
                <a:latin typeface="Helvetica" pitchFamily="34" charset="0"/>
              </a:rPr>
              <a:t>Evaluate human resources 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a:t>
            </a:r>
            <a:r>
              <a:rPr lang="en-AU" sz="2200" b="1" dirty="0" smtClean="0">
                <a:latin typeface="Helvetica" pitchFamily="34" charset="0"/>
              </a:rPr>
              <a:t>Benchmarking’</a:t>
            </a:r>
          </a:p>
          <a:p>
            <a:pPr marL="0" indent="0">
              <a:spcBef>
                <a:spcPts val="600"/>
              </a:spcBef>
              <a:spcAft>
                <a:spcPts val="1200"/>
              </a:spcAft>
              <a:buNone/>
            </a:pPr>
            <a:r>
              <a:rPr lang="en-AU" sz="2200" dirty="0" smtClean="0">
                <a:latin typeface="Helvetica" pitchFamily="34" charset="0"/>
              </a:rPr>
              <a:t>Identifying best practices and comparing them to what happens in the workplace:</a:t>
            </a:r>
          </a:p>
          <a:p>
            <a:pPr marL="360000" indent="-360000">
              <a:spcBef>
                <a:spcPts val="600"/>
              </a:spcBef>
              <a:spcAft>
                <a:spcPts val="1200"/>
              </a:spcAft>
            </a:pPr>
            <a:r>
              <a:rPr lang="en-AU" sz="2200" dirty="0" smtClean="0">
                <a:latin typeface="Helvetica" pitchFamily="34" charset="0"/>
              </a:rPr>
              <a:t>What </a:t>
            </a:r>
            <a:r>
              <a:rPr lang="en-AU" sz="2200" dirty="0" smtClean="0">
                <a:latin typeface="Helvetica" pitchFamily="34" charset="0"/>
              </a:rPr>
              <a:t>would you like to ‘benchmark’?</a:t>
            </a:r>
          </a:p>
          <a:p>
            <a:pPr marL="360000" indent="-36000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5" name="Picture 4" descr="00386815.jpg"/>
          <p:cNvPicPr>
            <a:picLocks noChangeAspect="1"/>
          </p:cNvPicPr>
          <p:nvPr/>
        </p:nvPicPr>
        <p:blipFill>
          <a:blip r:embed="rId3" cstate="print"/>
          <a:stretch>
            <a:fillRect/>
          </a:stretch>
        </p:blipFill>
        <p:spPr>
          <a:xfrm>
            <a:off x="6057900" y="3830058"/>
            <a:ext cx="2370212" cy="1580142"/>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fontScale="90000"/>
          </a:bodyPr>
          <a:lstStyle/>
          <a:p>
            <a:pPr marL="0">
              <a:spcBef>
                <a:spcPts val="600"/>
              </a:spcBef>
              <a:spcAft>
                <a:spcPts val="1200"/>
              </a:spcAft>
            </a:pPr>
            <a:r>
              <a:rPr lang="en-AU" sz="3400" b="1" dirty="0" smtClean="0">
                <a:solidFill>
                  <a:srgbClr val="FF6600"/>
                </a:solidFill>
                <a:latin typeface="Helvetica" pitchFamily="34" charset="0"/>
              </a:rPr>
              <a:t>Review achievement of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objectives</a:t>
            </a:r>
          </a:p>
        </p:txBody>
      </p:sp>
      <p:sp>
        <p:nvSpPr>
          <p:cNvPr id="3" name="Content Placeholder 2"/>
          <p:cNvSpPr>
            <a:spLocks noGrp="1"/>
          </p:cNvSpPr>
          <p:nvPr>
            <p:ph idx="1"/>
          </p:nvPr>
        </p:nvSpPr>
        <p:spPr>
          <a:xfrm>
            <a:off x="611560" y="1219200"/>
            <a:ext cx="7467600" cy="5257800"/>
          </a:xfrm>
        </p:spPr>
        <p:txBody>
          <a:bodyPr>
            <a:normAutofit/>
          </a:bodyPr>
          <a:lstStyle/>
          <a:p>
            <a:pPr marL="0">
              <a:spcBef>
                <a:spcPts val="600"/>
              </a:spcBef>
              <a:spcAft>
                <a:spcPts val="1200"/>
              </a:spcAft>
              <a:buNone/>
            </a:pPr>
            <a:r>
              <a:rPr lang="en-AU" sz="2200" dirty="0" smtClean="0">
                <a:latin typeface="Helvetica" pitchFamily="34" charset="0"/>
              </a:rPr>
              <a:t>On a regular basis it is important to see if the Human Resources effort has successfully reached the objectives it was trying to achieve:</a:t>
            </a:r>
          </a:p>
          <a:p>
            <a:pPr>
              <a:spcBef>
                <a:spcPts val="600"/>
              </a:spcBef>
              <a:spcAft>
                <a:spcPts val="1200"/>
              </a:spcAft>
            </a:pPr>
            <a:r>
              <a:rPr lang="en-AU" sz="2200" dirty="0" smtClean="0">
                <a:latin typeface="Helvetica" pitchFamily="34" charset="0"/>
              </a:rPr>
              <a:t>Review the objectives</a:t>
            </a:r>
          </a:p>
          <a:p>
            <a:pPr>
              <a:spcBef>
                <a:spcPts val="600"/>
              </a:spcBef>
              <a:spcAft>
                <a:spcPts val="1200"/>
              </a:spcAft>
            </a:pPr>
            <a:r>
              <a:rPr lang="en-AU" sz="2200" dirty="0" smtClean="0">
                <a:latin typeface="Helvetica" pitchFamily="34" charset="0"/>
              </a:rPr>
              <a:t>Identify progress towards achieving objectives</a:t>
            </a:r>
          </a:p>
          <a:p>
            <a:pPr>
              <a:spcBef>
                <a:spcPts val="600"/>
              </a:spcBef>
              <a:spcAft>
                <a:spcPts val="1200"/>
              </a:spcAft>
            </a:pPr>
            <a:r>
              <a:rPr lang="en-AU" sz="2200" dirty="0" smtClean="0">
                <a:latin typeface="Helvetica" pitchFamily="34" charset="0"/>
              </a:rPr>
              <a:t>Identify differences</a:t>
            </a:r>
          </a:p>
          <a:p>
            <a:pPr>
              <a:spcBef>
                <a:spcPts val="600"/>
              </a:spcBef>
              <a:spcAft>
                <a:spcPts val="1200"/>
              </a:spcAft>
            </a:pPr>
            <a:r>
              <a:rPr lang="en-AU" sz="2200" dirty="0" smtClean="0">
                <a:latin typeface="Helvetica" pitchFamily="34" charset="0"/>
              </a:rPr>
              <a:t>Provide reasons for differences</a:t>
            </a:r>
          </a:p>
          <a:p>
            <a:pPr>
              <a:spcBef>
                <a:spcPts val="600"/>
              </a:spcBef>
              <a:spcAft>
                <a:spcPts val="1200"/>
              </a:spcAft>
            </a:pPr>
            <a:r>
              <a:rPr lang="en-AU" sz="2200" dirty="0" smtClean="0">
                <a:latin typeface="Helvetica" pitchFamily="34" charset="0"/>
              </a:rPr>
              <a:t>Amend objectives and strategies</a:t>
            </a:r>
          </a:p>
          <a:p>
            <a:pPr>
              <a:spcBef>
                <a:spcPts val="600"/>
              </a:spcBef>
              <a:spcAft>
                <a:spcPts val="1200"/>
              </a:spcAft>
            </a:pPr>
            <a:endParaRPr lang="en-AU" sz="2400" b="1" dirty="0" smtClean="0"/>
          </a:p>
          <a:p>
            <a:pPr>
              <a:spcBef>
                <a:spcPts val="600"/>
              </a:spcBef>
              <a:spcAft>
                <a:spcPts val="1200"/>
              </a:spcAft>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5" name="Picture 4" descr="157966_waiter.jpg"/>
          <p:cNvPicPr/>
          <p:nvPr/>
        </p:nvPicPr>
        <p:blipFill>
          <a:blip r:embed="rId3" cstate="print"/>
          <a:stretch>
            <a:fillRect/>
          </a:stretch>
        </p:blipFill>
        <p:spPr>
          <a:xfrm>
            <a:off x="6648450" y="4038600"/>
            <a:ext cx="1809750" cy="1314450"/>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Review external and internal factors </a:t>
            </a:r>
          </a:p>
        </p:txBody>
      </p:sp>
      <p:sp>
        <p:nvSpPr>
          <p:cNvPr id="3" name="Content Placeholder 2"/>
          <p:cNvSpPr>
            <a:spLocks noGrp="1"/>
          </p:cNvSpPr>
          <p:nvPr>
            <p:ph idx="1"/>
          </p:nvPr>
        </p:nvSpPr>
        <p:spPr>
          <a:xfrm>
            <a:off x="611560" y="1219200"/>
            <a:ext cx="7467600" cy="5257800"/>
          </a:xfrm>
        </p:spPr>
        <p:txBody>
          <a:bodyPr>
            <a:normAutofit/>
          </a:bodyPr>
          <a:lstStyle/>
          <a:p>
            <a:pPr>
              <a:spcBef>
                <a:spcPts val="600"/>
              </a:spcBef>
              <a:spcAft>
                <a:spcPts val="1200"/>
              </a:spcAft>
              <a:buNone/>
            </a:pPr>
            <a:r>
              <a:rPr lang="en-AU" sz="2200" b="1" dirty="0" smtClean="0">
                <a:latin typeface="Helvetica" pitchFamily="34" charset="0"/>
              </a:rPr>
              <a:t>Importance of </a:t>
            </a:r>
            <a:r>
              <a:rPr lang="en-AU" sz="2200" b="1" u="sng" dirty="0" smtClean="0">
                <a:latin typeface="Helvetica" pitchFamily="34" charset="0"/>
              </a:rPr>
              <a:t>regular</a:t>
            </a:r>
            <a:r>
              <a:rPr lang="en-AU" sz="2200" b="1" dirty="0" smtClean="0">
                <a:latin typeface="Helvetica" pitchFamily="34" charset="0"/>
              </a:rPr>
              <a:t> reviews</a:t>
            </a:r>
          </a:p>
          <a:p>
            <a:pPr marL="0">
              <a:spcBef>
                <a:spcPts val="600"/>
              </a:spcBef>
              <a:spcAft>
                <a:spcPts val="1200"/>
              </a:spcAft>
              <a:buNone/>
            </a:pPr>
            <a:r>
              <a:rPr lang="en-AU" sz="2200" dirty="0" smtClean="0">
                <a:latin typeface="Helvetica" pitchFamily="34" charset="0"/>
              </a:rPr>
              <a:t>It </a:t>
            </a:r>
            <a:r>
              <a:rPr lang="en-AU" sz="2200" dirty="0" smtClean="0">
                <a:latin typeface="Helvetica" pitchFamily="34" charset="0"/>
              </a:rPr>
              <a:t>is vital that this evaluation process is conducted on a regular basis to ensure that the factors and their likely impact is as accurate as possible:</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How </a:t>
            </a:r>
            <a:r>
              <a:rPr lang="en-AU" sz="2200" dirty="0" smtClean="0">
                <a:latin typeface="Helvetica" pitchFamily="34" charset="0"/>
              </a:rPr>
              <a:t>can you review external factors?</a:t>
            </a:r>
          </a:p>
          <a:p>
            <a:pPr>
              <a:spcBef>
                <a:spcPts val="600"/>
              </a:spcBef>
              <a:spcAft>
                <a:spcPts val="1200"/>
              </a:spcAft>
            </a:pPr>
            <a:r>
              <a:rPr lang="en-AU" sz="2200" dirty="0" smtClean="0">
                <a:latin typeface="Helvetica" pitchFamily="34" charset="0"/>
              </a:rPr>
              <a:t>How can you review external factors?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6" name="Picture 5" descr="MP900423070[1].JPG"/>
          <p:cNvPicPr>
            <a:picLocks noChangeAspect="1"/>
          </p:cNvPicPr>
          <p:nvPr/>
        </p:nvPicPr>
        <p:blipFill>
          <a:blip r:embed="rId3" cstate="print"/>
          <a:stretch>
            <a:fillRect/>
          </a:stretch>
        </p:blipFill>
        <p:spPr>
          <a:xfrm>
            <a:off x="6724427" y="3657600"/>
            <a:ext cx="1733773" cy="1752600"/>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fontScale="90000"/>
          </a:bodyPr>
          <a:lstStyle/>
          <a:p>
            <a:pPr marL="0">
              <a:spcBef>
                <a:spcPts val="600"/>
              </a:spcBef>
              <a:spcAft>
                <a:spcPts val="1200"/>
              </a:spcAft>
            </a:pPr>
            <a:r>
              <a:rPr lang="en-AU" sz="3400" b="1" dirty="0" smtClean="0">
                <a:solidFill>
                  <a:srgbClr val="FF6600"/>
                </a:solidFill>
                <a:latin typeface="Helvetica" pitchFamily="34" charset="0"/>
              </a:rPr>
              <a:t>Review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policies and procedures</a:t>
            </a:r>
          </a:p>
        </p:txBody>
      </p:sp>
      <p:sp>
        <p:nvSpPr>
          <p:cNvPr id="3" name="Content Placeholder 2"/>
          <p:cNvSpPr>
            <a:spLocks noGrp="1"/>
          </p:cNvSpPr>
          <p:nvPr>
            <p:ph idx="1"/>
          </p:nvPr>
        </p:nvSpPr>
        <p:spPr>
          <a:xfrm>
            <a:off x="611560" y="1143000"/>
            <a:ext cx="7467600" cy="5715000"/>
          </a:xfrm>
        </p:spPr>
        <p:txBody>
          <a:bodyPr>
            <a:normAutofit/>
          </a:bodyPr>
          <a:lstStyle/>
          <a:p>
            <a:pPr>
              <a:lnSpc>
                <a:spcPct val="110000"/>
              </a:lnSpc>
              <a:spcBef>
                <a:spcPts val="600"/>
              </a:spcBef>
              <a:spcAft>
                <a:spcPts val="1200"/>
              </a:spcAft>
              <a:buNone/>
            </a:pPr>
            <a:r>
              <a:rPr lang="en-AU" sz="2200" b="1" dirty="0" smtClean="0">
                <a:latin typeface="Helvetica" pitchFamily="34" charset="0"/>
              </a:rPr>
              <a:t>Method to review policies and procedures</a:t>
            </a:r>
            <a:endParaRPr lang="en-AU" sz="2200" dirty="0" smtClean="0">
              <a:latin typeface="Helvetica" pitchFamily="34" charset="0"/>
            </a:endParaRPr>
          </a:p>
          <a:p>
            <a:pPr>
              <a:lnSpc>
                <a:spcPct val="110000"/>
              </a:lnSpc>
              <a:spcBef>
                <a:spcPts val="600"/>
              </a:spcBef>
              <a:spcAft>
                <a:spcPts val="1200"/>
              </a:spcAft>
            </a:pPr>
            <a:r>
              <a:rPr lang="en-AU" sz="2200" dirty="0" smtClean="0">
                <a:latin typeface="Helvetica" pitchFamily="34" charset="0"/>
              </a:rPr>
              <a:t>Revisit objectives</a:t>
            </a:r>
          </a:p>
          <a:p>
            <a:pPr>
              <a:lnSpc>
                <a:spcPct val="110000"/>
              </a:lnSpc>
              <a:spcBef>
                <a:spcPts val="600"/>
              </a:spcBef>
              <a:spcAft>
                <a:spcPts val="1200"/>
              </a:spcAft>
            </a:pPr>
            <a:r>
              <a:rPr lang="en-AU" sz="2200" dirty="0" smtClean="0">
                <a:latin typeface="Helvetica" pitchFamily="34" charset="0"/>
              </a:rPr>
              <a:t>Review objectives</a:t>
            </a:r>
          </a:p>
          <a:p>
            <a:pPr>
              <a:lnSpc>
                <a:spcPct val="110000"/>
              </a:lnSpc>
              <a:spcBef>
                <a:spcPts val="600"/>
              </a:spcBef>
              <a:spcAft>
                <a:spcPts val="1200"/>
              </a:spcAft>
            </a:pPr>
            <a:r>
              <a:rPr lang="en-AU" sz="2200" dirty="0" smtClean="0">
                <a:latin typeface="Helvetica" pitchFamily="34" charset="0"/>
              </a:rPr>
              <a:t>Identify problems or concerns</a:t>
            </a:r>
          </a:p>
          <a:p>
            <a:pPr>
              <a:lnSpc>
                <a:spcPct val="110000"/>
              </a:lnSpc>
              <a:spcBef>
                <a:spcPts val="600"/>
              </a:spcBef>
              <a:spcAft>
                <a:spcPts val="1200"/>
              </a:spcAft>
            </a:pPr>
            <a:r>
              <a:rPr lang="en-AU" sz="2200" dirty="0" smtClean="0">
                <a:latin typeface="Helvetica" pitchFamily="34" charset="0"/>
              </a:rPr>
              <a:t>Review policies and procedures</a:t>
            </a:r>
          </a:p>
          <a:p>
            <a:pPr>
              <a:lnSpc>
                <a:spcPct val="110000"/>
              </a:lnSpc>
              <a:spcBef>
                <a:spcPts val="600"/>
              </a:spcBef>
              <a:spcAft>
                <a:spcPts val="1200"/>
              </a:spcAft>
            </a:pPr>
            <a:r>
              <a:rPr lang="en-AU" sz="2200" dirty="0" smtClean="0">
                <a:latin typeface="Helvetica" pitchFamily="34" charset="0"/>
              </a:rPr>
              <a:t>Identify changes required to policies </a:t>
            </a:r>
            <a:br>
              <a:rPr lang="en-AU" sz="2200" dirty="0" smtClean="0">
                <a:latin typeface="Helvetica" pitchFamily="34" charset="0"/>
              </a:rPr>
            </a:br>
            <a:r>
              <a:rPr lang="en-AU" sz="2200" dirty="0" smtClean="0">
                <a:latin typeface="Helvetica" pitchFamily="34" charset="0"/>
              </a:rPr>
              <a:t>and procedures</a:t>
            </a:r>
          </a:p>
          <a:p>
            <a:pPr>
              <a:lnSpc>
                <a:spcPct val="110000"/>
              </a:lnSpc>
              <a:spcBef>
                <a:spcPts val="600"/>
              </a:spcBef>
              <a:spcAft>
                <a:spcPts val="1200"/>
              </a:spcAft>
            </a:pPr>
            <a:r>
              <a:rPr lang="en-AU" sz="2200" dirty="0" smtClean="0">
                <a:latin typeface="Helvetica" pitchFamily="34" charset="0"/>
              </a:rPr>
              <a:t>Monitor new or amended policies and </a:t>
            </a:r>
            <a:br>
              <a:rPr lang="en-AU" sz="2200" dirty="0" smtClean="0">
                <a:latin typeface="Helvetica" pitchFamily="34" charset="0"/>
              </a:rPr>
            </a:br>
            <a:r>
              <a:rPr lang="en-AU" sz="2200" dirty="0" smtClean="0">
                <a:latin typeface="Helvetica" pitchFamily="34" charset="0"/>
              </a:rPr>
              <a:t>procedures</a:t>
            </a:r>
          </a:p>
          <a:p>
            <a:pPr>
              <a:lnSpc>
                <a:spcPct val="110000"/>
              </a:lnSpc>
              <a:spcBef>
                <a:spcPts val="600"/>
              </a:spcBef>
              <a:spcAft>
                <a:spcPts val="1200"/>
              </a:spcAft>
            </a:pPr>
            <a:r>
              <a:rPr lang="en-AU" sz="2200" dirty="0" smtClean="0">
                <a:latin typeface="Helvetica" pitchFamily="34" charset="0"/>
              </a:rPr>
              <a:t>Conduct follow up evaluations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7" name="Picture 6" descr="21.jpg"/>
          <p:cNvPicPr/>
          <p:nvPr/>
        </p:nvPicPr>
        <p:blipFill>
          <a:blip r:embed="rId3" cstate="print"/>
          <a:stretch>
            <a:fillRect/>
          </a:stretch>
        </p:blipFill>
        <p:spPr>
          <a:xfrm>
            <a:off x="6705600" y="4191000"/>
            <a:ext cx="1752600" cy="1219200"/>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103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Review </a:t>
            </a:r>
            <a:r>
              <a:rPr lang="en-AU" sz="3400" b="1" dirty="0" smtClean="0">
                <a:solidFill>
                  <a:srgbClr val="FF6600"/>
                </a:solidFill>
                <a:latin typeface="Helvetica" pitchFamily="34" charset="0"/>
              </a:rPr>
              <a:t>human resources </a:t>
            </a:r>
            <a:r>
              <a:rPr lang="en-AU" sz="3400" b="1" dirty="0" smtClean="0">
                <a:solidFill>
                  <a:srgbClr val="FF6600"/>
                </a:solidFill>
                <a:latin typeface="Helvetica" pitchFamily="34" charset="0"/>
              </a:rPr>
              <a:t>department</a:t>
            </a:r>
          </a:p>
        </p:txBody>
      </p:sp>
      <p:sp>
        <p:nvSpPr>
          <p:cNvPr id="3" name="Content Placeholder 2"/>
          <p:cNvSpPr>
            <a:spLocks noGrp="1"/>
          </p:cNvSpPr>
          <p:nvPr>
            <p:ph idx="1"/>
          </p:nvPr>
        </p:nvSpPr>
        <p:spPr>
          <a:xfrm>
            <a:off x="611560" y="1175792"/>
            <a:ext cx="7467600" cy="4844008"/>
          </a:xfrm>
        </p:spPr>
        <p:txBody>
          <a:bodyPr>
            <a:normAutofit lnSpcReduction="10000"/>
          </a:bodyPr>
          <a:lstStyle/>
          <a:p>
            <a:pPr marL="0">
              <a:spcBef>
                <a:spcPts val="600"/>
              </a:spcBef>
              <a:spcAft>
                <a:spcPts val="600"/>
              </a:spcAft>
              <a:buNone/>
            </a:pPr>
            <a:r>
              <a:rPr lang="en-AU" sz="2200" b="1" dirty="0" smtClean="0">
                <a:latin typeface="Helvetica" pitchFamily="34" charset="0"/>
              </a:rPr>
              <a:t>Importance of evaluating </a:t>
            </a:r>
            <a:r>
              <a:rPr lang="en-AU" sz="2200" b="1" dirty="0" smtClean="0">
                <a:latin typeface="Helvetica" pitchFamily="34" charset="0"/>
              </a:rPr>
              <a:t>human resources department</a:t>
            </a:r>
            <a:endParaRPr lang="en-AU" sz="2200" b="1" dirty="0" smtClean="0">
              <a:latin typeface="Helvetica" pitchFamily="34" charset="0"/>
            </a:endParaRPr>
          </a:p>
          <a:p>
            <a:pPr lvl="0">
              <a:spcBef>
                <a:spcPts val="600"/>
              </a:spcBef>
              <a:spcAft>
                <a:spcPts val="600"/>
              </a:spcAft>
            </a:pPr>
            <a:r>
              <a:rPr lang="en-AU" sz="2200" dirty="0" smtClean="0">
                <a:latin typeface="Helvetica" pitchFamily="34" charset="0"/>
              </a:rPr>
              <a:t>Identify the HR programs that are most important to achieving your organization's objectives</a:t>
            </a:r>
          </a:p>
          <a:p>
            <a:pPr lvl="0">
              <a:spcBef>
                <a:spcPts val="600"/>
              </a:spcBef>
              <a:spcAft>
                <a:spcPts val="600"/>
              </a:spcAft>
            </a:pPr>
            <a:r>
              <a:rPr lang="en-AU" sz="2200" dirty="0" smtClean="0">
                <a:latin typeface="Helvetica" pitchFamily="34" charset="0"/>
              </a:rPr>
              <a:t>Find out how well the HR department is delivering those programs</a:t>
            </a:r>
          </a:p>
          <a:p>
            <a:pPr lvl="0">
              <a:spcBef>
                <a:spcPts val="600"/>
              </a:spcBef>
              <a:spcAft>
                <a:spcPts val="600"/>
              </a:spcAft>
            </a:pPr>
            <a:r>
              <a:rPr lang="en-AU" sz="2200" dirty="0" smtClean="0">
                <a:latin typeface="Helvetica" pitchFamily="34" charset="0"/>
              </a:rPr>
              <a:t>Benchmark the HR work to ensure continuous improvement</a:t>
            </a:r>
          </a:p>
          <a:p>
            <a:pPr lvl="0">
              <a:spcBef>
                <a:spcPts val="600"/>
              </a:spcBef>
              <a:spcAft>
                <a:spcPts val="600"/>
              </a:spcAft>
            </a:pPr>
            <a:r>
              <a:rPr lang="en-AU" sz="2200" dirty="0" smtClean="0">
                <a:latin typeface="Helvetica" pitchFamily="34" charset="0"/>
              </a:rPr>
              <a:t>Promote change and creativity</a:t>
            </a:r>
          </a:p>
          <a:p>
            <a:pPr lvl="0">
              <a:spcBef>
                <a:spcPts val="600"/>
              </a:spcBef>
              <a:spcAft>
                <a:spcPts val="600"/>
              </a:spcAft>
            </a:pPr>
            <a:r>
              <a:rPr lang="en-AU" sz="2200" dirty="0" smtClean="0">
                <a:latin typeface="Helvetica" pitchFamily="34" charset="0"/>
              </a:rPr>
              <a:t>Focus the HR staff on important issues</a:t>
            </a:r>
          </a:p>
          <a:p>
            <a:pPr>
              <a:spcBef>
                <a:spcPts val="600"/>
              </a:spcBef>
              <a:spcAft>
                <a:spcPts val="600"/>
              </a:spcAft>
            </a:pPr>
            <a:r>
              <a:rPr lang="en-AU" sz="2200" dirty="0" smtClean="0">
                <a:latin typeface="Helvetica" pitchFamily="34" charset="0"/>
              </a:rPr>
              <a:t>Bring HR closer to the line functions of </a:t>
            </a:r>
            <a:br>
              <a:rPr lang="en-AU" sz="2200" dirty="0" smtClean="0">
                <a:latin typeface="Helvetica" pitchFamily="34" charset="0"/>
              </a:rPr>
            </a:br>
            <a:r>
              <a:rPr lang="en-AU" sz="2200" dirty="0" smtClean="0">
                <a:latin typeface="Helvetica" pitchFamily="34" charset="0"/>
              </a:rPr>
              <a:t>the hospitality establishment</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400" b="1" dirty="0" smtClean="0"/>
          </a:p>
          <a:p>
            <a:pPr>
              <a:spcBef>
                <a:spcPts val="600"/>
              </a:spcBef>
              <a:spcAft>
                <a:spcPts val="1200"/>
              </a:spcAft>
            </a:pPr>
            <a:endParaRPr lang="en-AU" sz="2200" dirty="0" smtClean="0">
              <a:latin typeface="Helvetica" pitchFamily="34" charset="0"/>
            </a:endParaRPr>
          </a:p>
        </p:txBody>
      </p:sp>
      <p:pic>
        <p:nvPicPr>
          <p:cNvPr id="6" name="Picture 5" descr="MP900443265[1].JPG"/>
          <p:cNvPicPr>
            <a:picLocks noChangeAspect="1"/>
          </p:cNvPicPr>
          <p:nvPr/>
        </p:nvPicPr>
        <p:blipFill>
          <a:blip r:embed="rId3" cstate="print"/>
          <a:stretch>
            <a:fillRect/>
          </a:stretch>
        </p:blipFill>
        <p:spPr>
          <a:xfrm>
            <a:off x="6629400" y="4114800"/>
            <a:ext cx="1782859" cy="1423987"/>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Review and evaluate management</a:t>
            </a:r>
          </a:p>
        </p:txBody>
      </p:sp>
      <p:sp>
        <p:nvSpPr>
          <p:cNvPr id="3" name="Content Placeholder 2"/>
          <p:cNvSpPr>
            <a:spLocks noGrp="1"/>
          </p:cNvSpPr>
          <p:nvPr>
            <p:ph idx="1"/>
          </p:nvPr>
        </p:nvSpPr>
        <p:spPr>
          <a:xfrm>
            <a:off x="611560" y="1143000"/>
            <a:ext cx="7541840" cy="4968552"/>
          </a:xfrm>
        </p:spPr>
        <p:txBody>
          <a:bodyPr>
            <a:normAutofit/>
          </a:bodyPr>
          <a:lstStyle/>
          <a:p>
            <a:pPr>
              <a:spcBef>
                <a:spcPts val="600"/>
              </a:spcBef>
              <a:spcAft>
                <a:spcPts val="1200"/>
              </a:spcAft>
              <a:buNone/>
            </a:pPr>
            <a:r>
              <a:rPr lang="en-AU" sz="2100" b="1" dirty="0" smtClean="0">
                <a:latin typeface="Helvetica" pitchFamily="34" charset="0"/>
              </a:rPr>
              <a:t>Management appraisal format</a:t>
            </a:r>
          </a:p>
          <a:p>
            <a:pPr>
              <a:spcBef>
                <a:spcPts val="600"/>
              </a:spcBef>
              <a:spcAft>
                <a:spcPts val="1200"/>
              </a:spcAft>
            </a:pPr>
            <a:r>
              <a:rPr lang="en-AU" sz="2100" dirty="0" smtClean="0">
                <a:latin typeface="Helvetica" pitchFamily="34" charset="0"/>
              </a:rPr>
              <a:t>Managers are traditionally employed to </a:t>
            </a:r>
            <a:r>
              <a:rPr lang="en-AU" sz="2100" u="sng" dirty="0" smtClean="0">
                <a:latin typeface="Helvetica" pitchFamily="34" charset="0"/>
              </a:rPr>
              <a:t>meet key objectives</a:t>
            </a:r>
            <a:r>
              <a:rPr lang="en-AU" sz="2100" dirty="0" smtClean="0">
                <a:latin typeface="Helvetica" pitchFamily="34" charset="0"/>
              </a:rPr>
              <a:t> leading to operational and organisational success</a:t>
            </a:r>
          </a:p>
          <a:p>
            <a:pPr>
              <a:spcBef>
                <a:spcPts val="600"/>
              </a:spcBef>
              <a:spcAft>
                <a:spcPts val="1200"/>
              </a:spcAft>
            </a:pPr>
            <a:r>
              <a:rPr lang="en-AU" sz="2100" dirty="0" smtClean="0">
                <a:latin typeface="Helvetica" pitchFamily="34" charset="0"/>
              </a:rPr>
              <a:t>They are many areas in which management must have an acceptable level of expertise</a:t>
            </a:r>
          </a:p>
          <a:p>
            <a:pPr>
              <a:spcBef>
                <a:spcPts val="600"/>
              </a:spcBef>
              <a:spcAft>
                <a:spcPts val="1200"/>
              </a:spcAft>
            </a:pPr>
            <a:r>
              <a:rPr lang="en-AU" sz="2100" dirty="0" smtClean="0">
                <a:latin typeface="Helvetica" pitchFamily="34" charset="0"/>
              </a:rPr>
              <a:t>The marketing criteria is different to that contained </a:t>
            </a:r>
            <a:br>
              <a:rPr lang="en-AU" sz="2100" dirty="0" smtClean="0">
                <a:latin typeface="Helvetica" pitchFamily="34" charset="0"/>
              </a:rPr>
            </a:br>
            <a:r>
              <a:rPr lang="en-AU" sz="2100" dirty="0" smtClean="0">
                <a:latin typeface="Helvetica" pitchFamily="34" charset="0"/>
              </a:rPr>
              <a:t>within a staff appraisal form, as it is expected </a:t>
            </a:r>
            <a:br>
              <a:rPr lang="en-AU" sz="2100" dirty="0" smtClean="0">
                <a:latin typeface="Helvetica" pitchFamily="34" charset="0"/>
              </a:rPr>
            </a:br>
            <a:r>
              <a:rPr lang="en-AU" sz="2100" dirty="0" smtClean="0">
                <a:latin typeface="Helvetica" pitchFamily="34" charset="0"/>
              </a:rPr>
              <a:t>managers are employed with the necessary </a:t>
            </a:r>
            <a:br>
              <a:rPr lang="en-AU" sz="2100" dirty="0" smtClean="0">
                <a:latin typeface="Helvetica" pitchFamily="34" charset="0"/>
              </a:rPr>
            </a:br>
            <a:r>
              <a:rPr lang="en-AU" sz="2100" dirty="0" smtClean="0">
                <a:latin typeface="Helvetica" pitchFamily="34" charset="0"/>
              </a:rPr>
              <a:t>knowledge, skills and attributes to conduct </a:t>
            </a:r>
            <a:br>
              <a:rPr lang="en-AU" sz="2100" dirty="0" smtClean="0">
                <a:latin typeface="Helvetica" pitchFamily="34" charset="0"/>
              </a:rPr>
            </a:br>
            <a:r>
              <a:rPr lang="en-AU" sz="2100" dirty="0" smtClean="0">
                <a:latin typeface="Helvetica" pitchFamily="34" charset="0"/>
              </a:rPr>
              <a:t>management activities</a:t>
            </a:r>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176</a:t>
            </a:fld>
            <a:endParaRPr lang="en-US" dirty="0">
              <a:latin typeface="Helvetica" pitchFamily="34" charset="0"/>
            </a:endParaRPr>
          </a:p>
        </p:txBody>
      </p:sp>
      <p:pic>
        <p:nvPicPr>
          <p:cNvPr id="7" name="Picture 6" descr="MP900439502[1].JPG"/>
          <p:cNvPicPr>
            <a:picLocks noChangeAspect="1"/>
          </p:cNvPicPr>
          <p:nvPr/>
        </p:nvPicPr>
        <p:blipFill>
          <a:blip r:embed="rId3" cstate="print"/>
          <a:stretch>
            <a:fillRect/>
          </a:stretch>
        </p:blipFill>
        <p:spPr>
          <a:xfrm>
            <a:off x="6772131" y="4363960"/>
            <a:ext cx="1686069" cy="1122440"/>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200" b="1" dirty="0" smtClean="0">
                <a:solidFill>
                  <a:srgbClr val="FF6600"/>
                </a:solidFill>
                <a:latin typeface="Helvetica" pitchFamily="34" charset="0"/>
              </a:rPr>
              <a:t>Review and evaluate management</a:t>
            </a:r>
          </a:p>
        </p:txBody>
      </p:sp>
      <p:sp>
        <p:nvSpPr>
          <p:cNvPr id="3" name="Content Placeholder 2"/>
          <p:cNvSpPr>
            <a:spLocks noGrp="1"/>
          </p:cNvSpPr>
          <p:nvPr>
            <p:ph idx="1"/>
          </p:nvPr>
        </p:nvSpPr>
        <p:spPr>
          <a:xfrm>
            <a:off x="611560" y="1219200"/>
            <a:ext cx="7920880" cy="4968552"/>
          </a:xfrm>
        </p:spPr>
        <p:txBody>
          <a:bodyPr>
            <a:normAutofit/>
          </a:bodyPr>
          <a:lstStyle/>
          <a:p>
            <a:pPr marL="0">
              <a:spcBef>
                <a:spcPts val="600"/>
              </a:spcBef>
              <a:spcAft>
                <a:spcPts val="1200"/>
              </a:spcAft>
              <a:buNone/>
            </a:pPr>
            <a:r>
              <a:rPr lang="en-AU" sz="2200" dirty="0" smtClean="0">
                <a:latin typeface="Helvetica" pitchFamily="34" charset="0"/>
              </a:rPr>
              <a:t>Areas </a:t>
            </a:r>
            <a:r>
              <a:rPr lang="en-AU" sz="2200" dirty="0" smtClean="0">
                <a:latin typeface="Helvetica" pitchFamily="34" charset="0"/>
              </a:rPr>
              <a:t>included in a management appraisal include:</a:t>
            </a:r>
          </a:p>
          <a:p>
            <a:pPr marL="0">
              <a:spcBef>
                <a:spcPts val="600"/>
              </a:spcBef>
              <a:spcAft>
                <a:spcPts val="1200"/>
              </a:spcAft>
            </a:pPr>
            <a:r>
              <a:rPr lang="en-AU" sz="2200" dirty="0" smtClean="0">
                <a:latin typeface="Helvetica" pitchFamily="34" charset="0"/>
              </a:rPr>
              <a:t>Managers </a:t>
            </a:r>
            <a:r>
              <a:rPr lang="en-AU" sz="2200" dirty="0" smtClean="0">
                <a:latin typeface="Helvetica" pitchFamily="34" charset="0"/>
              </a:rPr>
              <a:t>work accomplishments</a:t>
            </a:r>
          </a:p>
          <a:p>
            <a:pPr marL="0">
              <a:spcBef>
                <a:spcPts val="600"/>
              </a:spcBef>
              <a:spcAft>
                <a:spcPts val="1200"/>
              </a:spcAft>
            </a:pPr>
            <a:r>
              <a:rPr lang="en-AU" sz="2200" dirty="0" smtClean="0">
                <a:latin typeface="Helvetica" pitchFamily="34" charset="0"/>
              </a:rPr>
              <a:t>Major business objectives</a:t>
            </a:r>
          </a:p>
          <a:p>
            <a:pPr marL="0">
              <a:spcBef>
                <a:spcPts val="600"/>
              </a:spcBef>
              <a:spcAft>
                <a:spcPts val="1200"/>
              </a:spcAft>
            </a:pPr>
            <a:r>
              <a:rPr lang="en-AU" sz="2200" dirty="0" smtClean="0">
                <a:latin typeface="Helvetica" pitchFamily="34" charset="0"/>
              </a:rPr>
              <a:t>Personal growth objectives</a:t>
            </a:r>
          </a:p>
          <a:p>
            <a:pPr marL="0">
              <a:spcBef>
                <a:spcPts val="600"/>
              </a:spcBef>
              <a:spcAft>
                <a:spcPts val="1200"/>
              </a:spcAft>
            </a:pPr>
            <a:r>
              <a:rPr lang="en-AU" sz="2200" dirty="0" smtClean="0">
                <a:latin typeface="Helvetica" pitchFamily="34" charset="0"/>
              </a:rPr>
              <a:t>Appraisal of different performance indicators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177</a:t>
            </a:fld>
            <a:endParaRPr lang="en-US" dirty="0">
              <a:latin typeface="Helvetica" pitchFamily="34" charset="0"/>
            </a:endParaRPr>
          </a:p>
        </p:txBody>
      </p:sp>
      <p:pic>
        <p:nvPicPr>
          <p:cNvPr id="6" name="Picture 5" descr="MP900448464.JPG"/>
          <p:cNvPicPr/>
          <p:nvPr/>
        </p:nvPicPr>
        <p:blipFill>
          <a:blip r:embed="rId3" cstate="print"/>
          <a:stretch>
            <a:fillRect/>
          </a:stretch>
        </p:blipFill>
        <p:spPr>
          <a:xfrm>
            <a:off x="6781800" y="3276600"/>
            <a:ext cx="1623814" cy="2013198"/>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734144"/>
          </a:xfrm>
        </p:spPr>
        <p:txBody>
          <a:bodyPr>
            <a:normAutofit/>
          </a:bodyPr>
          <a:lstStyle/>
          <a:p>
            <a:pPr marL="0"/>
            <a:r>
              <a:rPr lang="en-AU" sz="3200" b="1" dirty="0" smtClean="0">
                <a:solidFill>
                  <a:srgbClr val="FF6600"/>
                </a:solidFill>
                <a:latin typeface="Helvetica" pitchFamily="34" charset="0"/>
              </a:rPr>
              <a:t>Review performance appraisal system</a:t>
            </a:r>
          </a:p>
        </p:txBody>
      </p:sp>
      <p:sp>
        <p:nvSpPr>
          <p:cNvPr id="3" name="Content Placeholder 2"/>
          <p:cNvSpPr>
            <a:spLocks noGrp="1"/>
          </p:cNvSpPr>
          <p:nvPr>
            <p:ph idx="1"/>
          </p:nvPr>
        </p:nvSpPr>
        <p:spPr>
          <a:xfrm>
            <a:off x="611560" y="1219200"/>
            <a:ext cx="7920880" cy="4968552"/>
          </a:xfrm>
        </p:spPr>
        <p:txBody>
          <a:bodyPr>
            <a:normAutofit/>
          </a:bodyPr>
          <a:lstStyle/>
          <a:p>
            <a:pPr>
              <a:spcBef>
                <a:spcPts val="600"/>
              </a:spcBef>
              <a:spcAft>
                <a:spcPts val="1200"/>
              </a:spcAft>
              <a:buNone/>
            </a:pPr>
            <a:r>
              <a:rPr lang="en-AU" sz="2200" b="1" dirty="0" smtClean="0">
                <a:latin typeface="Helvetica" pitchFamily="34" charset="0"/>
              </a:rPr>
              <a:t>Steps </a:t>
            </a:r>
            <a:r>
              <a:rPr lang="en-AU" sz="2200" b="1" dirty="0" smtClean="0">
                <a:latin typeface="Helvetica" pitchFamily="34" charset="0"/>
              </a:rPr>
              <a:t>to evaluate an appraisal system</a:t>
            </a:r>
          </a:p>
          <a:p>
            <a:pPr>
              <a:spcBef>
                <a:spcPts val="600"/>
              </a:spcBef>
              <a:spcAft>
                <a:spcPts val="1200"/>
              </a:spcAft>
            </a:pPr>
            <a:r>
              <a:rPr lang="en-AU" sz="2200" dirty="0" smtClean="0">
                <a:latin typeface="Helvetica" pitchFamily="34" charset="0"/>
              </a:rPr>
              <a:t>Determine compliance of appraisal system</a:t>
            </a:r>
          </a:p>
          <a:p>
            <a:pPr>
              <a:spcBef>
                <a:spcPts val="600"/>
              </a:spcBef>
              <a:spcAft>
                <a:spcPts val="1200"/>
              </a:spcAft>
            </a:pPr>
            <a:r>
              <a:rPr lang="en-AU" sz="2200" dirty="0" smtClean="0">
                <a:latin typeface="Helvetica" pitchFamily="34" charset="0"/>
              </a:rPr>
              <a:t>Determine effectiveness of appraisal system </a:t>
            </a:r>
          </a:p>
          <a:p>
            <a:pPr>
              <a:spcBef>
                <a:spcPts val="600"/>
              </a:spcBef>
              <a:spcAft>
                <a:spcPts val="1200"/>
              </a:spcAft>
            </a:pPr>
            <a:r>
              <a:rPr lang="en-AU" sz="2200" dirty="0" smtClean="0">
                <a:latin typeface="Helvetica" pitchFamily="34" charset="0"/>
              </a:rPr>
              <a:t>Determine accuracy of appraisal system</a:t>
            </a:r>
          </a:p>
          <a:p>
            <a:pPr>
              <a:spcBef>
                <a:spcPts val="600"/>
              </a:spcBef>
              <a:spcAft>
                <a:spcPts val="1200"/>
              </a:spcAft>
            </a:pPr>
            <a:r>
              <a:rPr lang="en-AU" sz="2200" dirty="0" smtClean="0">
                <a:latin typeface="Helvetica" pitchFamily="34" charset="0"/>
              </a:rPr>
              <a:t>Determine benefits of appraisal system</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178</a:t>
            </a:fld>
            <a:endParaRPr lang="en-US" dirty="0">
              <a:latin typeface="Helvetica" pitchFamily="34" charset="0"/>
            </a:endParaRPr>
          </a:p>
        </p:txBody>
      </p:sp>
      <p:pic>
        <p:nvPicPr>
          <p:cNvPr id="7" name="Picture 6" descr="MP900289901.JPG"/>
          <p:cNvPicPr/>
          <p:nvPr/>
        </p:nvPicPr>
        <p:blipFill>
          <a:blip r:embed="rId3" cstate="print"/>
          <a:stretch>
            <a:fillRect/>
          </a:stretch>
        </p:blipFill>
        <p:spPr>
          <a:xfrm>
            <a:off x="6400800" y="4019550"/>
            <a:ext cx="2038350" cy="1390650"/>
          </a:xfrm>
          <a:prstGeom prst="rect">
            <a:avLst/>
          </a:prstGeom>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86544"/>
          </a:xfrm>
        </p:spPr>
        <p:txBody>
          <a:bodyPr>
            <a:normAutofit/>
          </a:bodyPr>
          <a:lstStyle/>
          <a:p>
            <a:pPr marL="0"/>
            <a:r>
              <a:rPr lang="en-AU" sz="3600" b="1" dirty="0" smtClean="0">
                <a:solidFill>
                  <a:srgbClr val="FF6600"/>
                </a:solidFill>
                <a:latin typeface="Helvetica" pitchFamily="34" charset="0"/>
              </a:rPr>
              <a:t>Review development programs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301208"/>
          </a:xfrm>
        </p:spPr>
        <p:txBody>
          <a:bodyPr>
            <a:noAutofit/>
          </a:bodyPr>
          <a:lstStyle/>
          <a:p>
            <a:pPr marL="0">
              <a:spcBef>
                <a:spcPts val="600"/>
              </a:spcBef>
              <a:spcAft>
                <a:spcPts val="1200"/>
              </a:spcAft>
              <a:buNone/>
            </a:pPr>
            <a:r>
              <a:rPr lang="en-AU" sz="2200" dirty="0" smtClean="0">
                <a:latin typeface="Helvetica" pitchFamily="34" charset="0"/>
              </a:rPr>
              <a:t>Evaluate the impact of training and development programs may include:</a:t>
            </a:r>
          </a:p>
          <a:p>
            <a:pPr lvl="0">
              <a:spcBef>
                <a:spcPts val="600"/>
              </a:spcBef>
              <a:spcAft>
                <a:spcPts val="1200"/>
              </a:spcAft>
            </a:pPr>
            <a:r>
              <a:rPr lang="en-AU" sz="2200" dirty="0" smtClean="0">
                <a:latin typeface="Helvetica" pitchFamily="34" charset="0"/>
              </a:rPr>
              <a:t>Seeking input from all relevant stakeholders</a:t>
            </a:r>
          </a:p>
          <a:p>
            <a:pPr lvl="0">
              <a:spcBef>
                <a:spcPts val="600"/>
              </a:spcBef>
              <a:spcAft>
                <a:spcPts val="1200"/>
              </a:spcAft>
            </a:pPr>
            <a:r>
              <a:rPr lang="en-AU" sz="2200" dirty="0" smtClean="0">
                <a:latin typeface="Helvetica" pitchFamily="34" charset="0"/>
              </a:rPr>
              <a:t>Comparing pre-training event workplace practice, operation, statistics with post-training event workplace practice, operation, statistics</a:t>
            </a:r>
          </a:p>
          <a:p>
            <a:pPr lvl="0">
              <a:spcBef>
                <a:spcPts val="600"/>
              </a:spcBef>
              <a:spcAft>
                <a:spcPts val="1200"/>
              </a:spcAft>
            </a:pPr>
            <a:r>
              <a:rPr lang="en-AU" sz="2200" dirty="0" smtClean="0">
                <a:latin typeface="Helvetica" pitchFamily="34" charset="0"/>
              </a:rPr>
              <a:t>Focusing on the criteria that were identified </a:t>
            </a:r>
            <a:br>
              <a:rPr lang="en-AU" sz="2200" dirty="0" smtClean="0">
                <a:latin typeface="Helvetica" pitchFamily="34" charset="0"/>
              </a:rPr>
            </a:br>
            <a:r>
              <a:rPr lang="en-AU" sz="2200" dirty="0" smtClean="0">
                <a:latin typeface="Helvetica" pitchFamily="34" charset="0"/>
              </a:rPr>
              <a:t>as being central to evaluating participation</a:t>
            </a:r>
          </a:p>
          <a:p>
            <a:pPr lvl="0">
              <a:spcBef>
                <a:spcPts val="600"/>
              </a:spcBef>
              <a:spcAft>
                <a:spcPts val="1200"/>
              </a:spcAft>
            </a:pPr>
            <a:r>
              <a:rPr lang="en-AU" sz="2200" dirty="0" smtClean="0">
                <a:latin typeface="Helvetica" pitchFamily="34" charset="0"/>
              </a:rPr>
              <a:t>Comparing the outcomes of  training </a:t>
            </a:r>
            <a:br>
              <a:rPr lang="en-AU" sz="2200" dirty="0" smtClean="0">
                <a:latin typeface="Helvetica" pitchFamily="34" charset="0"/>
              </a:rPr>
            </a:br>
            <a:r>
              <a:rPr lang="en-AU" sz="2200" dirty="0" smtClean="0">
                <a:latin typeface="Helvetica" pitchFamily="34" charset="0"/>
              </a:rPr>
              <a:t>events with standard programs</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179</a:t>
            </a:fld>
            <a:endParaRPr lang="en-US" dirty="0">
              <a:latin typeface="Helvetica" pitchFamily="34" charset="0"/>
            </a:endParaRPr>
          </a:p>
        </p:txBody>
      </p:sp>
      <p:pic>
        <p:nvPicPr>
          <p:cNvPr id="6" name="Picture 5" descr="MP900400356.JPG"/>
          <p:cNvPicPr/>
          <p:nvPr/>
        </p:nvPicPr>
        <p:blipFill>
          <a:blip r:embed="rId3" cstate="print"/>
          <a:stretch>
            <a:fillRect/>
          </a:stretch>
        </p:blipFill>
        <p:spPr>
          <a:xfrm>
            <a:off x="6705600" y="4114800"/>
            <a:ext cx="1751112" cy="1319808"/>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400" b="1" dirty="0" smtClean="0">
                <a:solidFill>
                  <a:srgbClr val="FF6600"/>
                </a:solidFill>
                <a:latin typeface="Helvetica" pitchFamily="34" charset="0"/>
              </a:rPr>
              <a:t>Assess value for money of training</a:t>
            </a:r>
          </a:p>
        </p:txBody>
      </p:sp>
      <p:sp>
        <p:nvSpPr>
          <p:cNvPr id="3" name="Content Placeholder 2"/>
          <p:cNvSpPr>
            <a:spLocks noGrp="1"/>
          </p:cNvSpPr>
          <p:nvPr>
            <p:ph idx="1"/>
          </p:nvPr>
        </p:nvSpPr>
        <p:spPr>
          <a:xfrm>
            <a:off x="611560" y="1143000"/>
            <a:ext cx="7848872" cy="5301208"/>
          </a:xfrm>
        </p:spPr>
        <p:txBody>
          <a:bodyPr>
            <a:noAutofit/>
          </a:bodyPr>
          <a:lstStyle/>
          <a:p>
            <a:pPr marL="0">
              <a:spcBef>
                <a:spcPts val="600"/>
              </a:spcBef>
              <a:spcAft>
                <a:spcPts val="1200"/>
              </a:spcAft>
              <a:buNone/>
            </a:pPr>
            <a:r>
              <a:rPr lang="en-AU" sz="2200" dirty="0" smtClean="0">
                <a:latin typeface="Helvetica" pitchFamily="34" charset="0"/>
              </a:rPr>
              <a:t>Planning </a:t>
            </a:r>
            <a:r>
              <a:rPr lang="en-AU" sz="2200" dirty="0" smtClean="0">
                <a:latin typeface="Helvetica" pitchFamily="34" charset="0"/>
              </a:rPr>
              <a:t>and implementing events does not come cheap and every manager wants to get a return on the investment they have made:</a:t>
            </a:r>
          </a:p>
          <a:p>
            <a:pPr marL="0">
              <a:spcBef>
                <a:spcPts val="600"/>
              </a:spcBef>
              <a:spcAft>
                <a:spcPts val="1200"/>
              </a:spcAft>
            </a:pPr>
            <a:r>
              <a:rPr lang="en-AU" sz="2200" dirty="0" smtClean="0">
                <a:latin typeface="Helvetica" pitchFamily="34" charset="0"/>
              </a:rPr>
              <a:t>How </a:t>
            </a:r>
            <a:r>
              <a:rPr lang="en-AU" sz="2200" dirty="0" smtClean="0">
                <a:latin typeface="Helvetica" pitchFamily="34" charset="0"/>
              </a:rPr>
              <a:t>can you assess value for money?</a:t>
            </a:r>
          </a:p>
          <a:p>
            <a:pPr marL="0">
              <a:spcBef>
                <a:spcPts val="600"/>
              </a:spcBef>
              <a:spcAft>
                <a:spcPts val="1200"/>
              </a:spcAft>
              <a:buNone/>
            </a:pPr>
            <a:endParaRPr lang="en-AU" sz="24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180</a:t>
            </a:fld>
            <a:endParaRPr lang="en-US" dirty="0">
              <a:latin typeface="Helvetica" pitchFamily="34" charset="0"/>
            </a:endParaRPr>
          </a:p>
        </p:txBody>
      </p:sp>
      <p:pic>
        <p:nvPicPr>
          <p:cNvPr id="7" name="Picture 6" descr="MP900442211.JPG"/>
          <p:cNvPicPr/>
          <p:nvPr/>
        </p:nvPicPr>
        <p:blipFill>
          <a:blip r:embed="rId3" cstate="print"/>
          <a:stretch>
            <a:fillRect/>
          </a:stretch>
        </p:blipFill>
        <p:spPr>
          <a:xfrm>
            <a:off x="6781800" y="3352800"/>
            <a:ext cx="1618283" cy="2173015"/>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400" b="1" dirty="0" smtClean="0">
                <a:solidFill>
                  <a:srgbClr val="FF6600"/>
                </a:solidFill>
                <a:latin typeface="Helvetica" pitchFamily="34" charset="0"/>
              </a:rPr>
              <a:t>Assess value for money of training</a:t>
            </a:r>
          </a:p>
        </p:txBody>
      </p:sp>
      <p:sp>
        <p:nvSpPr>
          <p:cNvPr id="3" name="Content Placeholder 2"/>
          <p:cNvSpPr>
            <a:spLocks noGrp="1"/>
          </p:cNvSpPr>
          <p:nvPr>
            <p:ph idx="1"/>
          </p:nvPr>
        </p:nvSpPr>
        <p:spPr>
          <a:xfrm>
            <a:off x="611560" y="1143000"/>
            <a:ext cx="7618040" cy="5301208"/>
          </a:xfrm>
        </p:spPr>
        <p:txBody>
          <a:bodyPr>
            <a:noAutofit/>
          </a:bodyPr>
          <a:lstStyle/>
          <a:p>
            <a:pPr>
              <a:spcBef>
                <a:spcPts val="600"/>
              </a:spcBef>
              <a:spcAft>
                <a:spcPts val="1200"/>
              </a:spcAft>
              <a:buNone/>
            </a:pPr>
            <a:r>
              <a:rPr lang="en-AU" sz="2200" b="1" dirty="0" smtClean="0">
                <a:latin typeface="Helvetica" pitchFamily="34" charset="0"/>
              </a:rPr>
              <a:t>Tracking </a:t>
            </a:r>
            <a:r>
              <a:rPr lang="en-AU" sz="2200" b="1" dirty="0" smtClean="0">
                <a:latin typeface="Helvetica" pitchFamily="34" charset="0"/>
              </a:rPr>
              <a:t>the costs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a:t>
            </a:r>
            <a:r>
              <a:rPr lang="en-AU" sz="2200" dirty="0" smtClean="0">
                <a:latin typeface="Helvetica" pitchFamily="34" charset="0"/>
              </a:rPr>
              <a:t>wages in relation to those who attended training and assessment sessions </a:t>
            </a:r>
          </a:p>
          <a:p>
            <a:pPr lvl="0">
              <a:spcBef>
                <a:spcPts val="600"/>
              </a:spcBef>
              <a:spcAft>
                <a:spcPts val="1200"/>
              </a:spcAft>
            </a:pPr>
            <a:r>
              <a:rPr lang="en-AU" sz="2200" dirty="0" smtClean="0">
                <a:latin typeface="Helvetica" pitchFamily="34" charset="0"/>
              </a:rPr>
              <a:t>Consumables </a:t>
            </a:r>
          </a:p>
          <a:p>
            <a:pPr lvl="0">
              <a:spcBef>
                <a:spcPts val="600"/>
              </a:spcBef>
              <a:spcAft>
                <a:spcPts val="1200"/>
              </a:spcAft>
            </a:pPr>
            <a:r>
              <a:rPr lang="en-AU" sz="2200" dirty="0" smtClean="0">
                <a:latin typeface="Helvetica" pitchFamily="34" charset="0"/>
              </a:rPr>
              <a:t>Purchases and hiring charges </a:t>
            </a:r>
          </a:p>
          <a:p>
            <a:pPr>
              <a:spcBef>
                <a:spcPts val="600"/>
              </a:spcBef>
              <a:spcAft>
                <a:spcPts val="1200"/>
              </a:spcAft>
            </a:pPr>
            <a:r>
              <a:rPr lang="en-AU" sz="2200" dirty="0" smtClean="0">
                <a:latin typeface="Helvetica" pitchFamily="34" charset="0"/>
              </a:rPr>
              <a:t>Accommodation, travel and meals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181</a:t>
            </a:fld>
            <a:endParaRPr lang="en-US" dirty="0">
              <a:latin typeface="Helvetica" pitchFamily="34" charset="0"/>
            </a:endParaRPr>
          </a:p>
        </p:txBody>
      </p:sp>
      <p:pic>
        <p:nvPicPr>
          <p:cNvPr id="6" name="Picture 5" descr="MP910220924[1].JPG"/>
          <p:cNvPicPr/>
          <p:nvPr/>
        </p:nvPicPr>
        <p:blipFill>
          <a:blip r:embed="rId3" cstate="print"/>
          <a:stretch>
            <a:fillRect/>
          </a:stretch>
        </p:blipFill>
        <p:spPr>
          <a:xfrm>
            <a:off x="7010400" y="3352800"/>
            <a:ext cx="1371600" cy="198120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143000"/>
            <a:ext cx="7848872" cy="5301208"/>
          </a:xfrm>
        </p:spPr>
        <p:txBody>
          <a:bodyPr>
            <a:noAutofit/>
          </a:bodyPr>
          <a:lstStyle/>
          <a:p>
            <a:pPr>
              <a:spcBef>
                <a:spcPts val="600"/>
              </a:spcBef>
              <a:spcAft>
                <a:spcPts val="1200"/>
              </a:spcAft>
              <a:buNone/>
            </a:pPr>
            <a:r>
              <a:rPr lang="en-AU" sz="2200" b="1" dirty="0" smtClean="0">
                <a:latin typeface="Helvetica" pitchFamily="34" charset="0"/>
              </a:rPr>
              <a:t>Determining </a:t>
            </a:r>
            <a:r>
              <a:rPr lang="en-AU" sz="2200" b="1" dirty="0" smtClean="0">
                <a:latin typeface="Helvetica" pitchFamily="34" charset="0"/>
              </a:rPr>
              <a:t>value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Increasing revenue</a:t>
            </a:r>
          </a:p>
          <a:p>
            <a:pPr lvl="0">
              <a:spcBef>
                <a:spcPts val="600"/>
              </a:spcBef>
              <a:spcAft>
                <a:spcPts val="1200"/>
              </a:spcAft>
            </a:pPr>
            <a:r>
              <a:rPr lang="en-AU" sz="2200" dirty="0" smtClean="0">
                <a:latin typeface="Helvetica" pitchFamily="34" charset="0"/>
              </a:rPr>
              <a:t>Offering greater levels of service</a:t>
            </a:r>
          </a:p>
          <a:p>
            <a:pPr lvl="0">
              <a:spcBef>
                <a:spcPts val="600"/>
              </a:spcBef>
              <a:spcAft>
                <a:spcPts val="1200"/>
              </a:spcAft>
            </a:pPr>
            <a:r>
              <a:rPr lang="en-AU" sz="2200" dirty="0" smtClean="0">
                <a:latin typeface="Helvetica" pitchFamily="34" charset="0"/>
              </a:rPr>
              <a:t>Developing staff</a:t>
            </a:r>
          </a:p>
          <a:p>
            <a:pPr lvl="0">
              <a:spcBef>
                <a:spcPts val="600"/>
              </a:spcBef>
              <a:spcAft>
                <a:spcPts val="1200"/>
              </a:spcAft>
            </a:pPr>
            <a:r>
              <a:rPr lang="en-AU" sz="2200" dirty="0" smtClean="0">
                <a:latin typeface="Helvetica" pitchFamily="34" charset="0"/>
              </a:rPr>
              <a:t>Reducing accidents</a:t>
            </a:r>
          </a:p>
          <a:p>
            <a:pPr lvl="0">
              <a:spcBef>
                <a:spcPts val="600"/>
              </a:spcBef>
              <a:spcAft>
                <a:spcPts val="1200"/>
              </a:spcAft>
            </a:pPr>
            <a:r>
              <a:rPr lang="en-AU" sz="2200" dirty="0" smtClean="0">
                <a:latin typeface="Helvetica" pitchFamily="34" charset="0"/>
              </a:rPr>
              <a:t>Reducing labour costs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182</a:t>
            </a:fld>
            <a:endParaRPr lang="en-US" dirty="0">
              <a:latin typeface="Helvetica" pitchFamily="34" charset="0"/>
            </a:endParaRPr>
          </a:p>
        </p:txBody>
      </p:sp>
      <p:pic>
        <p:nvPicPr>
          <p:cNvPr id="7" name="Picture 6" descr="1.jpg"/>
          <p:cNvPicPr/>
          <p:nvPr/>
        </p:nvPicPr>
        <p:blipFill>
          <a:blip r:embed="rId3" cstate="print"/>
          <a:stretch>
            <a:fillRect/>
          </a:stretch>
        </p:blipFill>
        <p:spPr>
          <a:xfrm>
            <a:off x="6293024" y="3999384"/>
            <a:ext cx="2088976" cy="1410816"/>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86544"/>
          </a:xfrm>
        </p:spPr>
        <p:txBody>
          <a:bodyPr>
            <a:normAutofit/>
          </a:bodyPr>
          <a:lstStyle/>
          <a:p>
            <a:pPr marL="0"/>
            <a:r>
              <a:rPr lang="en-AU" sz="3400" b="1" dirty="0" smtClean="0">
                <a:solidFill>
                  <a:srgbClr val="FF6600"/>
                </a:solidFill>
                <a:latin typeface="Helvetica" pitchFamily="34" charset="0"/>
              </a:rPr>
              <a:t>Assess value for money of training</a:t>
            </a:r>
          </a:p>
        </p:txBody>
      </p:sp>
      <p:sp>
        <p:nvSpPr>
          <p:cNvPr id="3" name="Content Placeholder 2"/>
          <p:cNvSpPr>
            <a:spLocks noGrp="1"/>
          </p:cNvSpPr>
          <p:nvPr>
            <p:ph idx="1"/>
          </p:nvPr>
        </p:nvSpPr>
        <p:spPr>
          <a:xfrm>
            <a:off x="611560" y="1219200"/>
            <a:ext cx="7848872" cy="5301208"/>
          </a:xfrm>
        </p:spPr>
        <p:txBody>
          <a:bodyPr>
            <a:noAutofit/>
          </a:bodyPr>
          <a:lstStyle/>
          <a:p>
            <a:pPr>
              <a:spcBef>
                <a:spcPts val="600"/>
              </a:spcBef>
              <a:spcAft>
                <a:spcPts val="1200"/>
              </a:spcAft>
              <a:buNone/>
            </a:pPr>
            <a:r>
              <a:rPr lang="en-AU" sz="2200" b="1" dirty="0" smtClean="0">
                <a:latin typeface="Helvetica" pitchFamily="34" charset="0"/>
              </a:rPr>
              <a:t>Determining </a:t>
            </a:r>
            <a:r>
              <a:rPr lang="en-AU" sz="2200" b="1" dirty="0" smtClean="0">
                <a:latin typeface="Helvetica" pitchFamily="34" charset="0"/>
              </a:rPr>
              <a:t>value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Improving efficiency</a:t>
            </a:r>
          </a:p>
          <a:p>
            <a:pPr lvl="0">
              <a:spcBef>
                <a:spcPts val="600"/>
              </a:spcBef>
              <a:spcAft>
                <a:spcPts val="1200"/>
              </a:spcAft>
            </a:pPr>
            <a:r>
              <a:rPr lang="en-AU" sz="2200" dirty="0" smtClean="0">
                <a:latin typeface="Helvetica" pitchFamily="34" charset="0"/>
              </a:rPr>
              <a:t>Reducing complaints</a:t>
            </a:r>
          </a:p>
          <a:p>
            <a:pPr lvl="0">
              <a:spcBef>
                <a:spcPts val="600"/>
              </a:spcBef>
              <a:spcAft>
                <a:spcPts val="1200"/>
              </a:spcAft>
            </a:pPr>
            <a:r>
              <a:rPr lang="en-AU" sz="2200" dirty="0" smtClean="0">
                <a:latin typeface="Helvetica" pitchFamily="34" charset="0"/>
              </a:rPr>
              <a:t>Increasing consistency in service</a:t>
            </a:r>
          </a:p>
          <a:p>
            <a:pPr lvl="0">
              <a:spcBef>
                <a:spcPts val="600"/>
              </a:spcBef>
              <a:spcAft>
                <a:spcPts val="1200"/>
              </a:spcAft>
            </a:pPr>
            <a:r>
              <a:rPr lang="en-AU" sz="2200" dirty="0" smtClean="0">
                <a:latin typeface="Helvetica" pitchFamily="34" charset="0"/>
              </a:rPr>
              <a:t>Increasing customer satisfaction</a:t>
            </a:r>
          </a:p>
          <a:p>
            <a:pPr>
              <a:spcBef>
                <a:spcPts val="600"/>
              </a:spcBef>
              <a:spcAft>
                <a:spcPts val="1200"/>
              </a:spcAft>
            </a:pPr>
            <a:r>
              <a:rPr lang="en-AU" sz="2200" dirty="0" smtClean="0">
                <a:latin typeface="Helvetica" pitchFamily="34" charset="0"/>
              </a:rPr>
              <a:t>Strengthening brand value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183</a:t>
            </a:fld>
            <a:endParaRPr lang="en-US" dirty="0">
              <a:latin typeface="Helvetica" pitchFamily="34" charset="0"/>
            </a:endParaRPr>
          </a:p>
        </p:txBody>
      </p:sp>
      <p:pic>
        <p:nvPicPr>
          <p:cNvPr id="6" name="Picture 5" descr="BW_4.jpg"/>
          <p:cNvPicPr>
            <a:picLocks noChangeAspect="1"/>
          </p:cNvPicPr>
          <p:nvPr/>
        </p:nvPicPr>
        <p:blipFill>
          <a:blip r:embed="rId3" cstate="print"/>
          <a:stretch>
            <a:fillRect/>
          </a:stretch>
        </p:blipFill>
        <p:spPr>
          <a:xfrm>
            <a:off x="6934200" y="3429000"/>
            <a:ext cx="1497446" cy="1992090"/>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10344"/>
          </a:xfrm>
        </p:spPr>
        <p:txBody>
          <a:bodyPr>
            <a:normAutofit/>
          </a:bodyPr>
          <a:lstStyle/>
          <a:p>
            <a:pPr marL="0"/>
            <a:r>
              <a:rPr lang="en-AU" sz="3400" b="1" dirty="0" smtClean="0">
                <a:solidFill>
                  <a:srgbClr val="FF6600"/>
                </a:solidFill>
                <a:latin typeface="Helvetica" pitchFamily="34" charset="0"/>
              </a:rPr>
              <a:t>Assess value for money of training</a:t>
            </a:r>
          </a:p>
        </p:txBody>
      </p:sp>
      <p:sp>
        <p:nvSpPr>
          <p:cNvPr id="3" name="Content Placeholder 2"/>
          <p:cNvSpPr>
            <a:spLocks noGrp="1"/>
          </p:cNvSpPr>
          <p:nvPr>
            <p:ph idx="1"/>
          </p:nvPr>
        </p:nvSpPr>
        <p:spPr>
          <a:xfrm>
            <a:off x="611560" y="1143000"/>
            <a:ext cx="7541840" cy="5301208"/>
          </a:xfrm>
        </p:spPr>
        <p:txBody>
          <a:bodyPr>
            <a:noAutofit/>
          </a:bodyPr>
          <a:lstStyle/>
          <a:p>
            <a:pPr>
              <a:spcBef>
                <a:spcPts val="600"/>
              </a:spcBef>
              <a:spcAft>
                <a:spcPts val="1200"/>
              </a:spcAft>
              <a:buNone/>
            </a:pPr>
            <a:r>
              <a:rPr lang="en-AU" sz="2200" b="1" dirty="0" smtClean="0">
                <a:latin typeface="Helvetica" pitchFamily="34" charset="0"/>
              </a:rPr>
              <a:t>Assessing value for money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Undertaking a cost-benefit analysis, including identification and quantification of hidden costs </a:t>
            </a:r>
          </a:p>
          <a:p>
            <a:pPr lvl="0">
              <a:spcBef>
                <a:spcPts val="600"/>
              </a:spcBef>
              <a:spcAft>
                <a:spcPts val="1200"/>
              </a:spcAft>
            </a:pPr>
            <a:r>
              <a:rPr lang="en-AU" sz="2200" dirty="0" smtClean="0">
                <a:latin typeface="Helvetica" pitchFamily="34" charset="0"/>
              </a:rPr>
              <a:t>Comparing pre-engagement cost-benefit analysis figures with post-participation cost-benefit analysis, </a:t>
            </a:r>
          </a:p>
          <a:p>
            <a:pPr lvl="0">
              <a:spcBef>
                <a:spcPts val="600"/>
              </a:spcBef>
              <a:spcAft>
                <a:spcPts val="1200"/>
              </a:spcAft>
            </a:pPr>
            <a:r>
              <a:rPr lang="en-AU" sz="2200" dirty="0" smtClean="0">
                <a:latin typeface="Helvetica" pitchFamily="34" charset="0"/>
              </a:rPr>
              <a:t>Identifying alternative training that could have been provided at the same actual cost </a:t>
            </a:r>
          </a:p>
          <a:p>
            <a:pPr lvl="0">
              <a:spcBef>
                <a:spcPts val="600"/>
              </a:spcBef>
              <a:spcAft>
                <a:spcPts val="1200"/>
              </a:spcAft>
            </a:pPr>
            <a:r>
              <a:rPr lang="en-AU" sz="2200" dirty="0" smtClean="0">
                <a:latin typeface="Helvetica" pitchFamily="34" charset="0"/>
              </a:rPr>
              <a:t>Obtaining positive and/or negative emotional  </a:t>
            </a:r>
            <a:br>
              <a:rPr lang="en-AU" sz="2200" dirty="0" smtClean="0">
                <a:latin typeface="Helvetica" pitchFamily="34" charset="0"/>
              </a:rPr>
            </a:br>
            <a:r>
              <a:rPr lang="en-AU" sz="2200" dirty="0" smtClean="0">
                <a:latin typeface="Helvetica" pitchFamily="34" charset="0"/>
              </a:rPr>
              <a:t>issues experienced by learners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184</a:t>
            </a:fld>
            <a:endParaRPr lang="en-US" dirty="0">
              <a:latin typeface="Helvetica" pitchFamily="34" charset="0"/>
            </a:endParaRPr>
          </a:p>
        </p:txBody>
      </p:sp>
      <p:pic>
        <p:nvPicPr>
          <p:cNvPr id="7" name="Picture 6" descr="Calculator 1.jpg"/>
          <p:cNvPicPr/>
          <p:nvPr/>
        </p:nvPicPr>
        <p:blipFill>
          <a:blip r:embed="rId3" cstate="print"/>
          <a:stretch>
            <a:fillRect/>
          </a:stretch>
        </p:blipFill>
        <p:spPr>
          <a:xfrm>
            <a:off x="6884670" y="4286250"/>
            <a:ext cx="1573530" cy="1047750"/>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810344"/>
          </a:xfrm>
        </p:spPr>
        <p:txBody>
          <a:bodyPr>
            <a:normAutofit fontScale="90000"/>
          </a:bodyPr>
          <a:lstStyle/>
          <a:p>
            <a:pPr marL="0"/>
            <a:r>
              <a:rPr lang="en-AU" sz="3400" b="1" dirty="0" smtClean="0">
                <a:solidFill>
                  <a:srgbClr val="FF6600"/>
                </a:solidFill>
                <a:latin typeface="Helvetica" pitchFamily="34" charset="0"/>
              </a:rPr>
              <a:t>Recommend strategies to improve </a:t>
            </a:r>
            <a:r>
              <a:rPr lang="en-AU" sz="3400" b="1" dirty="0" smtClean="0">
                <a:solidFill>
                  <a:srgbClr val="FF6600"/>
                </a:solidFill>
                <a:latin typeface="Helvetica" pitchFamily="34" charset="0"/>
              </a:rPr>
              <a:t>human resources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175792"/>
            <a:ext cx="7465640" cy="5301208"/>
          </a:xfrm>
        </p:spPr>
        <p:txBody>
          <a:bodyPr>
            <a:noAutofit/>
          </a:bodyPr>
          <a:lstStyle/>
          <a:p>
            <a:pPr>
              <a:spcBef>
                <a:spcPts val="600"/>
              </a:spcBef>
              <a:spcAft>
                <a:spcPts val="1200"/>
              </a:spcAft>
              <a:buNone/>
            </a:pPr>
            <a:r>
              <a:rPr lang="en-US" sz="2200" b="1" dirty="0" smtClean="0">
                <a:latin typeface="Helvetica" pitchFamily="34" charset="0"/>
              </a:rPr>
              <a:t>Importance </a:t>
            </a:r>
            <a:r>
              <a:rPr lang="en-US" sz="2200" b="1" dirty="0" smtClean="0">
                <a:latin typeface="Helvetica" pitchFamily="34" charset="0"/>
              </a:rPr>
              <a:t>of reports</a:t>
            </a:r>
          </a:p>
          <a:p>
            <a:pPr>
              <a:spcBef>
                <a:spcPts val="600"/>
              </a:spcBef>
              <a:spcAft>
                <a:spcPts val="1200"/>
              </a:spcAft>
            </a:pPr>
            <a:r>
              <a:rPr lang="en-US" sz="2200" dirty="0" smtClean="0">
                <a:latin typeface="Helvetica" pitchFamily="34" charset="0"/>
              </a:rPr>
              <a:t>May be reported in a formal or informal manner</a:t>
            </a:r>
          </a:p>
          <a:p>
            <a:pPr>
              <a:spcBef>
                <a:spcPts val="600"/>
              </a:spcBef>
              <a:spcAft>
                <a:spcPts val="1200"/>
              </a:spcAft>
            </a:pPr>
            <a:r>
              <a:rPr lang="en-US" sz="2200" dirty="0" smtClean="0">
                <a:latin typeface="Helvetica" pitchFamily="34" charset="0"/>
              </a:rPr>
              <a:t>The precise method used in each instance will depend on the particular establishment’s policies and procedures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185</a:t>
            </a:fld>
            <a:endParaRPr lang="en-US" dirty="0">
              <a:latin typeface="Helvetica" pitchFamily="34" charset="0"/>
            </a:endParaRPr>
          </a:p>
        </p:txBody>
      </p:sp>
      <p:pic>
        <p:nvPicPr>
          <p:cNvPr id="7" name="Picture 6" descr="iStock_000003194010Medium.jpg"/>
          <p:cNvPicPr/>
          <p:nvPr/>
        </p:nvPicPr>
        <p:blipFill>
          <a:blip r:embed="rId3" cstate="print"/>
          <a:stretch>
            <a:fillRect/>
          </a:stretch>
        </p:blipFill>
        <p:spPr>
          <a:xfrm>
            <a:off x="6523310" y="3810000"/>
            <a:ext cx="1934890" cy="1456358"/>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810344"/>
          </a:xfrm>
        </p:spPr>
        <p:txBody>
          <a:bodyPr>
            <a:normAutofit fontScale="90000"/>
          </a:bodyPr>
          <a:lstStyle/>
          <a:p>
            <a:pPr marL="0"/>
            <a:r>
              <a:rPr lang="en-AU" sz="3400" b="1" dirty="0" smtClean="0">
                <a:solidFill>
                  <a:srgbClr val="FF6600"/>
                </a:solidFill>
                <a:latin typeface="Helvetica" pitchFamily="34" charset="0"/>
              </a:rPr>
              <a:t>Recommend strategies to improve </a:t>
            </a:r>
            <a:r>
              <a:rPr lang="en-AU" sz="3400" b="1" dirty="0" smtClean="0">
                <a:solidFill>
                  <a:srgbClr val="FF6600"/>
                </a:solidFill>
                <a:latin typeface="Helvetica" pitchFamily="34" charset="0"/>
              </a:rPr>
              <a:t>human resources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465640" cy="5301208"/>
          </a:xfrm>
        </p:spPr>
        <p:txBody>
          <a:bodyPr>
            <a:noAutofit/>
          </a:bodyPr>
          <a:lstStyle/>
          <a:p>
            <a:pPr>
              <a:spcBef>
                <a:spcPts val="600"/>
              </a:spcBef>
              <a:spcAft>
                <a:spcPts val="600"/>
              </a:spcAft>
              <a:buNone/>
            </a:pPr>
            <a:r>
              <a:rPr lang="en-AU" sz="2100" b="1" dirty="0" smtClean="0">
                <a:latin typeface="Helvetica" pitchFamily="34" charset="0"/>
              </a:rPr>
              <a:t>Contents of a report</a:t>
            </a:r>
            <a:endParaRPr lang="en-AU" sz="2100" dirty="0" smtClean="0">
              <a:latin typeface="Helvetica" pitchFamily="34" charset="0"/>
            </a:endParaRPr>
          </a:p>
          <a:p>
            <a:pPr lvl="0">
              <a:spcBef>
                <a:spcPts val="600"/>
              </a:spcBef>
              <a:spcAft>
                <a:spcPts val="600"/>
              </a:spcAft>
            </a:pPr>
            <a:r>
              <a:rPr lang="en-AU" sz="2100" dirty="0" smtClean="0">
                <a:latin typeface="Helvetica" pitchFamily="34" charset="0"/>
              </a:rPr>
              <a:t>An outline and overview of the training events that were used</a:t>
            </a:r>
          </a:p>
          <a:p>
            <a:pPr lvl="0">
              <a:spcBef>
                <a:spcPts val="600"/>
              </a:spcBef>
              <a:spcAft>
                <a:spcPts val="600"/>
              </a:spcAft>
            </a:pPr>
            <a:r>
              <a:rPr lang="en-AU" sz="2100" dirty="0" smtClean="0">
                <a:latin typeface="Helvetica" pitchFamily="34" charset="0"/>
              </a:rPr>
              <a:t>Identification of the costs involved and benefits that resulted</a:t>
            </a:r>
          </a:p>
          <a:p>
            <a:pPr lvl="0">
              <a:spcBef>
                <a:spcPts val="600"/>
              </a:spcBef>
              <a:spcAft>
                <a:spcPts val="600"/>
              </a:spcAft>
            </a:pPr>
            <a:r>
              <a:rPr lang="en-AU" sz="2100" dirty="0" smtClean="0">
                <a:latin typeface="Helvetica" pitchFamily="34" charset="0"/>
              </a:rPr>
              <a:t>Identification of numbers of staff who engaged </a:t>
            </a:r>
            <a:br>
              <a:rPr lang="en-AU" sz="2100" dirty="0" smtClean="0">
                <a:latin typeface="Helvetica" pitchFamily="34" charset="0"/>
              </a:rPr>
            </a:br>
            <a:r>
              <a:rPr lang="en-AU" sz="2100" dirty="0" smtClean="0">
                <a:latin typeface="Helvetica" pitchFamily="34" charset="0"/>
              </a:rPr>
              <a:t>with training events</a:t>
            </a:r>
          </a:p>
          <a:p>
            <a:pPr lvl="0">
              <a:spcBef>
                <a:spcPts val="600"/>
              </a:spcBef>
              <a:spcAft>
                <a:spcPts val="600"/>
              </a:spcAft>
            </a:pPr>
            <a:r>
              <a:rPr lang="en-AU" sz="2100" dirty="0" smtClean="0">
                <a:latin typeface="Helvetica" pitchFamily="34" charset="0"/>
              </a:rPr>
              <a:t>An overview of learners’ evaluations of  </a:t>
            </a:r>
            <a:br>
              <a:rPr lang="en-AU" sz="2100" dirty="0" smtClean="0">
                <a:latin typeface="Helvetica" pitchFamily="34" charset="0"/>
              </a:rPr>
            </a:br>
            <a:r>
              <a:rPr lang="en-AU" sz="2100" dirty="0" smtClean="0">
                <a:latin typeface="Helvetica" pitchFamily="34" charset="0"/>
              </a:rPr>
              <a:t>participation in training events</a:t>
            </a:r>
          </a:p>
          <a:p>
            <a:pPr lvl="0">
              <a:spcBef>
                <a:spcPts val="600"/>
              </a:spcBef>
              <a:spcAft>
                <a:spcPts val="600"/>
              </a:spcAft>
            </a:pPr>
            <a:r>
              <a:rPr lang="en-AU" sz="2100" dirty="0" smtClean="0">
                <a:latin typeface="Helvetica" pitchFamily="34" charset="0"/>
              </a:rPr>
              <a:t>Comparative cost analysis of providing </a:t>
            </a:r>
            <a:br>
              <a:rPr lang="en-AU" sz="2100" dirty="0" smtClean="0">
                <a:latin typeface="Helvetica" pitchFamily="34" charset="0"/>
              </a:rPr>
            </a:br>
            <a:r>
              <a:rPr lang="en-AU" sz="2100" dirty="0" smtClean="0">
                <a:latin typeface="Helvetica" pitchFamily="34" charset="0"/>
              </a:rPr>
              <a:t>leaner training using alternative means</a:t>
            </a:r>
          </a:p>
          <a:p>
            <a:pPr>
              <a:spcBef>
                <a:spcPts val="600"/>
              </a:spcBef>
              <a:spcAft>
                <a:spcPts val="600"/>
              </a:spcAft>
            </a:pPr>
            <a:r>
              <a:rPr lang="en-AU" sz="2100" dirty="0" smtClean="0">
                <a:latin typeface="Helvetica" pitchFamily="34" charset="0"/>
              </a:rPr>
              <a:t>Description of up-coming training events </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186</a:t>
            </a:fld>
            <a:endParaRPr lang="en-US" dirty="0">
              <a:latin typeface="Helvetica" pitchFamily="34" charset="0"/>
            </a:endParaRPr>
          </a:p>
        </p:txBody>
      </p:sp>
      <p:pic>
        <p:nvPicPr>
          <p:cNvPr id="6" name="Picture 5" descr="1088924_59510934[1].jpg"/>
          <p:cNvPicPr>
            <a:picLocks noChangeAspect="1"/>
          </p:cNvPicPr>
          <p:nvPr/>
        </p:nvPicPr>
        <p:blipFill>
          <a:blip r:embed="rId3" cstate="print"/>
          <a:stretch>
            <a:fillRect/>
          </a:stretch>
        </p:blipFill>
        <p:spPr>
          <a:xfrm>
            <a:off x="6934200" y="3657600"/>
            <a:ext cx="1373520" cy="1373520"/>
          </a:xfrm>
          <a:prstGeom prst="rect">
            <a:avLst/>
          </a:prstGeom>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810344"/>
          </a:xfrm>
        </p:spPr>
        <p:txBody>
          <a:bodyPr>
            <a:normAutofit fontScale="90000"/>
          </a:bodyPr>
          <a:lstStyle/>
          <a:p>
            <a:pPr marL="0"/>
            <a:r>
              <a:rPr lang="en-AU" sz="3400" b="1" dirty="0" smtClean="0">
                <a:solidFill>
                  <a:srgbClr val="FF6600"/>
                </a:solidFill>
                <a:latin typeface="Helvetica" pitchFamily="34" charset="0"/>
              </a:rPr>
              <a:t>Recommend strategies to improve </a:t>
            </a:r>
            <a:r>
              <a:rPr lang="en-AU" sz="3400" b="1" dirty="0" smtClean="0">
                <a:solidFill>
                  <a:srgbClr val="FF6600"/>
                </a:solidFill>
                <a:latin typeface="Helvetica" pitchFamily="34" charset="0"/>
              </a:rPr>
              <a:t>human resources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301208"/>
          </a:xfrm>
        </p:spPr>
        <p:txBody>
          <a:bodyPr>
            <a:noAutofit/>
          </a:bodyPr>
          <a:lstStyle/>
          <a:p>
            <a:pPr>
              <a:spcBef>
                <a:spcPts val="600"/>
              </a:spcBef>
              <a:spcAft>
                <a:spcPts val="1200"/>
              </a:spcAft>
              <a:buNone/>
            </a:pPr>
            <a:r>
              <a:rPr lang="en-AU" sz="2200" b="1" dirty="0" smtClean="0">
                <a:latin typeface="Helvetica" pitchFamily="34" charset="0"/>
              </a:rPr>
              <a:t>Contents </a:t>
            </a:r>
            <a:r>
              <a:rPr lang="en-AU" sz="2200" b="1" dirty="0" smtClean="0">
                <a:latin typeface="Helvetica" pitchFamily="34" charset="0"/>
              </a:rPr>
              <a:t>of a report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Summary of performance appraisal programs</a:t>
            </a:r>
          </a:p>
          <a:p>
            <a:pPr lvl="0">
              <a:spcBef>
                <a:spcPts val="600"/>
              </a:spcBef>
              <a:spcAft>
                <a:spcPts val="1200"/>
              </a:spcAft>
            </a:pPr>
            <a:r>
              <a:rPr lang="en-AU" sz="2200" dirty="0" smtClean="0">
                <a:latin typeface="Helvetica" pitchFamily="34" charset="0"/>
              </a:rPr>
              <a:t>Summary of employment and retention records</a:t>
            </a:r>
          </a:p>
          <a:p>
            <a:pPr lvl="0">
              <a:spcBef>
                <a:spcPts val="600"/>
              </a:spcBef>
              <a:spcAft>
                <a:spcPts val="1200"/>
              </a:spcAft>
            </a:pPr>
            <a:r>
              <a:rPr lang="en-AU" sz="2200" dirty="0" smtClean="0">
                <a:latin typeface="Helvetica" pitchFamily="34" charset="0"/>
              </a:rPr>
              <a:t>Summary of injuries and accidents</a:t>
            </a:r>
          </a:p>
          <a:p>
            <a:pPr lvl="0">
              <a:spcBef>
                <a:spcPts val="600"/>
              </a:spcBef>
              <a:spcAft>
                <a:spcPts val="1200"/>
              </a:spcAft>
            </a:pPr>
            <a:r>
              <a:rPr lang="en-AU" sz="2200" dirty="0" smtClean="0">
                <a:latin typeface="Helvetica" pitchFamily="34" charset="0"/>
              </a:rPr>
              <a:t>Suggestions for staff development initiatives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187</a:t>
            </a:fld>
            <a:endParaRPr lang="en-US" dirty="0">
              <a:latin typeface="Helvetica" pitchFamily="34" charset="0"/>
            </a:endParaRPr>
          </a:p>
        </p:txBody>
      </p:sp>
      <p:pic>
        <p:nvPicPr>
          <p:cNvPr id="7" name="Picture 6" descr="iStock_000003194010Medium.jpg"/>
          <p:cNvPicPr/>
          <p:nvPr/>
        </p:nvPicPr>
        <p:blipFill>
          <a:blip r:embed="rId3" cstate="print"/>
          <a:stretch>
            <a:fillRect/>
          </a:stretch>
        </p:blipFill>
        <p:spPr>
          <a:xfrm>
            <a:off x="6248400" y="4114800"/>
            <a:ext cx="2200275" cy="1362075"/>
          </a:xfrm>
          <a:prstGeom prst="rect">
            <a:avLst/>
          </a:prstGeom>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810344"/>
          </a:xfrm>
        </p:spPr>
        <p:txBody>
          <a:bodyPr>
            <a:normAutofit fontScale="90000"/>
          </a:bodyPr>
          <a:lstStyle/>
          <a:p>
            <a:pPr marL="0"/>
            <a:r>
              <a:rPr lang="en-AU" sz="3400" b="1" dirty="0" smtClean="0">
                <a:solidFill>
                  <a:srgbClr val="FF6600"/>
                </a:solidFill>
                <a:latin typeface="Helvetica" pitchFamily="34" charset="0"/>
              </a:rPr>
              <a:t>Recommend strategies to improve </a:t>
            </a:r>
            <a:r>
              <a:rPr lang="en-AU" sz="3400" b="1" dirty="0" smtClean="0">
                <a:solidFill>
                  <a:srgbClr val="FF6600"/>
                </a:solidFill>
                <a:latin typeface="Helvetica" pitchFamily="34" charset="0"/>
              </a:rPr>
              <a:t>human resources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301208"/>
          </a:xfrm>
        </p:spPr>
        <p:txBody>
          <a:bodyPr>
            <a:noAutofit/>
          </a:bodyPr>
          <a:lstStyle/>
          <a:p>
            <a:pPr>
              <a:spcBef>
                <a:spcPts val="600"/>
              </a:spcBef>
              <a:spcAft>
                <a:spcPts val="1200"/>
              </a:spcAft>
              <a:buNone/>
            </a:pPr>
            <a:r>
              <a:rPr lang="en-AU" sz="2200" b="1" dirty="0" smtClean="0">
                <a:latin typeface="Helvetica" pitchFamily="34" charset="0"/>
              </a:rPr>
              <a:t>Who </a:t>
            </a:r>
            <a:r>
              <a:rPr lang="en-AU" sz="2200" b="1" dirty="0" smtClean="0">
                <a:latin typeface="Helvetica" pitchFamily="34" charset="0"/>
              </a:rPr>
              <a:t>might receive a report?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Management and/or the owners of the business </a:t>
            </a:r>
          </a:p>
          <a:p>
            <a:pPr lvl="0">
              <a:spcBef>
                <a:spcPts val="600"/>
              </a:spcBef>
              <a:spcAft>
                <a:spcPts val="1200"/>
              </a:spcAft>
            </a:pPr>
            <a:r>
              <a:rPr lang="en-AU" sz="2200" dirty="0" smtClean="0">
                <a:latin typeface="Helvetica" pitchFamily="34" charset="0"/>
              </a:rPr>
              <a:t>The HR </a:t>
            </a:r>
            <a:r>
              <a:rPr lang="en-AU" sz="2200" dirty="0" smtClean="0">
                <a:latin typeface="Helvetica" pitchFamily="34" charset="0"/>
              </a:rPr>
              <a:t>department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Head </a:t>
            </a:r>
            <a:r>
              <a:rPr lang="en-AU" sz="2200" dirty="0" smtClean="0">
                <a:latin typeface="Helvetica" pitchFamily="34" charset="0"/>
              </a:rPr>
              <a:t>office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supervisor in the area where the learner works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188</a:t>
            </a:fld>
            <a:endParaRPr lang="en-US" dirty="0">
              <a:latin typeface="Helvetica" pitchFamily="34" charset="0"/>
            </a:endParaRPr>
          </a:p>
        </p:txBody>
      </p:sp>
      <p:pic>
        <p:nvPicPr>
          <p:cNvPr id="7" name="Picture 6" descr="MP900402225[1].JPG"/>
          <p:cNvPicPr/>
          <p:nvPr/>
        </p:nvPicPr>
        <p:blipFill>
          <a:blip r:embed="rId3" cstate="print"/>
          <a:stretch>
            <a:fillRect/>
          </a:stretch>
        </p:blipFill>
        <p:spPr>
          <a:xfrm>
            <a:off x="6934200" y="4191000"/>
            <a:ext cx="1524000" cy="1295400"/>
          </a:xfrm>
          <a:prstGeom prst="rect">
            <a:avLst/>
          </a:prstGeom>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810344"/>
          </a:xfrm>
        </p:spPr>
        <p:txBody>
          <a:bodyPr>
            <a:normAutofit fontScale="90000"/>
          </a:bodyPr>
          <a:lstStyle/>
          <a:p>
            <a:pPr marL="0"/>
            <a:r>
              <a:rPr lang="en-AU" sz="3400" b="1" dirty="0" smtClean="0">
                <a:solidFill>
                  <a:srgbClr val="FF6600"/>
                </a:solidFill>
                <a:latin typeface="Helvetica" pitchFamily="34" charset="0"/>
              </a:rPr>
              <a:t>Recommend strategies to improve </a:t>
            </a:r>
            <a:r>
              <a:rPr lang="en-AU" sz="3400" b="1" dirty="0" smtClean="0">
                <a:solidFill>
                  <a:srgbClr val="FF6600"/>
                </a:solidFill>
                <a:latin typeface="Helvetica" pitchFamily="34" charset="0"/>
              </a:rPr>
              <a:t>human resources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219200"/>
            <a:ext cx="7848872" cy="5301208"/>
          </a:xfrm>
        </p:spPr>
        <p:txBody>
          <a:bodyPr>
            <a:noAutofit/>
          </a:bodyPr>
          <a:lstStyle/>
          <a:p>
            <a:pPr>
              <a:spcBef>
                <a:spcPts val="600"/>
              </a:spcBef>
              <a:spcAft>
                <a:spcPts val="1200"/>
              </a:spcAft>
              <a:buNone/>
            </a:pPr>
            <a:r>
              <a:rPr lang="en-AU" sz="2200" b="1" dirty="0" smtClean="0">
                <a:latin typeface="Helvetica" pitchFamily="34" charset="0"/>
              </a:rPr>
              <a:t>Why are these reports required?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Checking overall skill levels of staff</a:t>
            </a:r>
          </a:p>
          <a:p>
            <a:pPr>
              <a:spcBef>
                <a:spcPts val="600"/>
              </a:spcBef>
              <a:spcAft>
                <a:spcPts val="1200"/>
              </a:spcAft>
            </a:pPr>
            <a:r>
              <a:rPr lang="en-AU" sz="2200" dirty="0" smtClean="0">
                <a:latin typeface="Helvetica" pitchFamily="34" charset="0"/>
              </a:rPr>
              <a:t>Identifying those who appear appropriate for future skill development</a:t>
            </a:r>
          </a:p>
          <a:p>
            <a:pPr>
              <a:spcBef>
                <a:spcPts val="600"/>
              </a:spcBef>
              <a:spcAft>
                <a:spcPts val="1200"/>
              </a:spcAft>
            </a:pPr>
            <a:r>
              <a:rPr lang="en-AU" sz="2200" dirty="0" smtClean="0">
                <a:latin typeface="Helvetica" pitchFamily="34" charset="0"/>
              </a:rPr>
              <a:t>Providing a reference for promoting employees</a:t>
            </a:r>
          </a:p>
          <a:p>
            <a:pPr>
              <a:spcBef>
                <a:spcPts val="600"/>
              </a:spcBef>
              <a:spcAft>
                <a:spcPts val="1200"/>
              </a:spcAft>
            </a:pPr>
            <a:r>
              <a:rPr lang="en-AU" sz="2200" dirty="0" smtClean="0">
                <a:latin typeface="Helvetica" pitchFamily="34" charset="0"/>
              </a:rPr>
              <a:t>Amending employee’s staffing record</a:t>
            </a:r>
          </a:p>
          <a:p>
            <a:pPr>
              <a:spcBef>
                <a:spcPts val="600"/>
              </a:spcBef>
              <a:spcAft>
                <a:spcPts val="1200"/>
              </a:spcAft>
            </a:pPr>
            <a:r>
              <a:rPr lang="en-AU" sz="2200" dirty="0" smtClean="0">
                <a:latin typeface="Helvetica" pitchFamily="34" charset="0"/>
              </a:rPr>
              <a:t>Compiling statistical records</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189</a:t>
            </a:fld>
            <a:endParaRPr lang="en-US" dirty="0">
              <a:latin typeface="Helvetica" pitchFamily="34" charset="0"/>
            </a:endParaRPr>
          </a:p>
        </p:txBody>
      </p:sp>
      <p:pic>
        <p:nvPicPr>
          <p:cNvPr id="6" name="Picture 5" descr="MP900409469[1].JPG"/>
          <p:cNvPicPr/>
          <p:nvPr/>
        </p:nvPicPr>
        <p:blipFill>
          <a:blip r:embed="rId3" cstate="print"/>
          <a:stretch>
            <a:fillRect/>
          </a:stretch>
        </p:blipFill>
        <p:spPr>
          <a:xfrm>
            <a:off x="6684779" y="4202435"/>
            <a:ext cx="1773421" cy="120776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2736</TotalTime>
  <Words>12285</Words>
  <Application>Microsoft Office PowerPoint</Application>
  <PresentationFormat>On-screen Show (4:3)</PresentationFormat>
  <Paragraphs>2435</Paragraphs>
  <Slides>189</Slides>
  <Notes>189</Notes>
  <HiddenSlides>0</HiddenSlides>
  <MMClips>0</MMClips>
  <ScaleCrop>false</ScaleCrop>
  <HeadingPairs>
    <vt:vector size="4" baseType="variant">
      <vt:variant>
        <vt:lpstr>Theme</vt:lpstr>
      </vt:variant>
      <vt:variant>
        <vt:i4>1</vt:i4>
      </vt:variant>
      <vt:variant>
        <vt:lpstr>Slide Titles</vt:lpstr>
      </vt:variant>
      <vt:variant>
        <vt:i4>189</vt:i4>
      </vt:variant>
    </vt:vector>
  </HeadingPairs>
  <TitlesOfParts>
    <vt:vector size="190" baseType="lpstr">
      <vt:lpstr>PPT_Food_&amp;_Bev_template_250612</vt:lpstr>
      <vt:lpstr>Manage the effective use of human resources</vt:lpstr>
      <vt:lpstr>Subject elements</vt:lpstr>
      <vt:lpstr>Assessment</vt:lpstr>
      <vt:lpstr>Slide 4</vt:lpstr>
      <vt:lpstr>Determine human resource needs</vt:lpstr>
      <vt:lpstr>Determine human resource needs</vt:lpstr>
      <vt:lpstr>Identify operational needs</vt:lpstr>
      <vt:lpstr>Identify operational needs</vt:lpstr>
      <vt:lpstr>Identify operational needs</vt:lpstr>
      <vt:lpstr>Identify operational needs</vt:lpstr>
      <vt:lpstr>Evaluating staff competencies</vt:lpstr>
      <vt:lpstr>Identifying staff competencies</vt:lpstr>
      <vt:lpstr>Identifying staff competencies</vt:lpstr>
      <vt:lpstr>Identifying required competencies</vt:lpstr>
      <vt:lpstr>Factors affecting human resources requirements</vt:lpstr>
      <vt:lpstr>Factors affecting human resources requirements</vt:lpstr>
      <vt:lpstr>Factors affecting human resources requirements</vt:lpstr>
      <vt:lpstr>Factors affecting human resources requirements</vt:lpstr>
      <vt:lpstr>Determine key human resources issues</vt:lpstr>
      <vt:lpstr>Consult with key personnel</vt:lpstr>
      <vt:lpstr>Develop human resources plan</vt:lpstr>
      <vt:lpstr>Develop human resources plan</vt:lpstr>
      <vt:lpstr>Develop human resources plan</vt:lpstr>
      <vt:lpstr>Develop human resources plan</vt:lpstr>
      <vt:lpstr>Implement human resources plan</vt:lpstr>
      <vt:lpstr>Implement human resources plan</vt:lpstr>
      <vt:lpstr>Job specifications</vt:lpstr>
      <vt:lpstr>Job descriptions</vt:lpstr>
      <vt:lpstr>Job descriptions</vt:lpstr>
      <vt:lpstr>Slide 30</vt:lpstr>
      <vt:lpstr>Develop and administer human resource policies and procedures</vt:lpstr>
      <vt:lpstr>Develop and administer human resource policies and procedures</vt:lpstr>
      <vt:lpstr>Document enterprise human resources needs</vt:lpstr>
      <vt:lpstr>Performance standards</vt:lpstr>
      <vt:lpstr>Performance standards</vt:lpstr>
      <vt:lpstr>Performance standards</vt:lpstr>
      <vt:lpstr>Performance standards</vt:lpstr>
      <vt:lpstr>Performance standards</vt:lpstr>
      <vt:lpstr>Types of performance standards</vt:lpstr>
      <vt:lpstr>Job behaviour standards</vt:lpstr>
      <vt:lpstr>Job behaviour standards</vt:lpstr>
      <vt:lpstr>Preparing SOP’s</vt:lpstr>
      <vt:lpstr>Preparing documents</vt:lpstr>
      <vt:lpstr>Communicating documents</vt:lpstr>
      <vt:lpstr>Disciplinary policies and procedures</vt:lpstr>
      <vt:lpstr>Disciplinary policies and procedures</vt:lpstr>
      <vt:lpstr>Disciplinary policies and procedures</vt:lpstr>
      <vt:lpstr>Disciplinary policies and procedures</vt:lpstr>
      <vt:lpstr>Disciplinary policies and procedures</vt:lpstr>
      <vt:lpstr>Grievance policies and procedures</vt:lpstr>
      <vt:lpstr>Grievance policies and procedures</vt:lpstr>
      <vt:lpstr>Grievance policies and procedures</vt:lpstr>
      <vt:lpstr>Grievance policies and procedures</vt:lpstr>
      <vt:lpstr>Human resources manual</vt:lpstr>
      <vt:lpstr>Human resources manual</vt:lpstr>
      <vt:lpstr>Human resources manual</vt:lpstr>
      <vt:lpstr>Human resources manual</vt:lpstr>
      <vt:lpstr>Human resources policies and procedures</vt:lpstr>
      <vt:lpstr>Human resources policies and procedures</vt:lpstr>
      <vt:lpstr>Slide 60</vt:lpstr>
      <vt:lpstr>Organize human resources</vt:lpstr>
      <vt:lpstr>Staff selection</vt:lpstr>
      <vt:lpstr>Develop key selection criteria </vt:lpstr>
      <vt:lpstr>Obtain authority to recruit staff</vt:lpstr>
      <vt:lpstr>Identify sources of staff</vt:lpstr>
      <vt:lpstr>Develop and lodge job advertisements</vt:lpstr>
      <vt:lpstr>Develop and lodge job advertisements</vt:lpstr>
      <vt:lpstr>Accept job applications</vt:lpstr>
      <vt:lpstr>Short-list applicants</vt:lpstr>
      <vt:lpstr>Check references and referees</vt:lpstr>
      <vt:lpstr>Notify applicant of interview</vt:lpstr>
      <vt:lpstr>Conduct job interview</vt:lpstr>
      <vt:lpstr>Conduct job interview</vt:lpstr>
      <vt:lpstr>Conduct job interview</vt:lpstr>
      <vt:lpstr>Conduct job interview</vt:lpstr>
      <vt:lpstr>Apply relevant testing procedures</vt:lpstr>
      <vt:lpstr>File application and interview documentation</vt:lpstr>
      <vt:lpstr>Choose successful applicant </vt:lpstr>
      <vt:lpstr>Notify successful applicants and make formal job offer</vt:lpstr>
      <vt:lpstr>Notify successful applicants and make formal job offer</vt:lpstr>
      <vt:lpstr>Notify successful applicants and make formal job offer</vt:lpstr>
      <vt:lpstr>Notify unsuccessful applicants</vt:lpstr>
      <vt:lpstr>Follow-up as required</vt:lpstr>
      <vt:lpstr>Plan the induction session</vt:lpstr>
      <vt:lpstr>Plan the induction </vt:lpstr>
      <vt:lpstr>Plan the induction </vt:lpstr>
      <vt:lpstr>Plan the induction</vt:lpstr>
      <vt:lpstr>Conduct the induction session</vt:lpstr>
      <vt:lpstr>Conduct the induction session</vt:lpstr>
      <vt:lpstr>Conduct the induction session</vt:lpstr>
      <vt:lpstr>Organise work programs</vt:lpstr>
      <vt:lpstr>Organise work programs</vt:lpstr>
      <vt:lpstr>Organise work programs</vt:lpstr>
      <vt:lpstr>Organise work programs</vt:lpstr>
      <vt:lpstr>Identify tasks to be completed</vt:lpstr>
      <vt:lpstr>Develop teams</vt:lpstr>
      <vt:lpstr>Prioritise work activities</vt:lpstr>
      <vt:lpstr>Prioritising work</vt:lpstr>
      <vt:lpstr>Prioritising work</vt:lpstr>
      <vt:lpstr>Organising workflow</vt:lpstr>
      <vt:lpstr>Organising workflow</vt:lpstr>
      <vt:lpstr>Delegate work to staff</vt:lpstr>
      <vt:lpstr>Delegate work to staff</vt:lpstr>
      <vt:lpstr>Delegate work to staff</vt:lpstr>
      <vt:lpstr>Clarify work allocation</vt:lpstr>
      <vt:lpstr>Communicate information to team members</vt:lpstr>
      <vt:lpstr>Supporting team members</vt:lpstr>
      <vt:lpstr>Monitor and control operations</vt:lpstr>
      <vt:lpstr>Slide 109</vt:lpstr>
      <vt:lpstr>Lead and motivate staff</vt:lpstr>
      <vt:lpstr>Setting plans and goals</vt:lpstr>
      <vt:lpstr>Setting plans and goals</vt:lpstr>
      <vt:lpstr>Guidance and support</vt:lpstr>
      <vt:lpstr>Guidance and support</vt:lpstr>
      <vt:lpstr>Guidance and support</vt:lpstr>
      <vt:lpstr>Recognition and rewards</vt:lpstr>
      <vt:lpstr>Recognition and rewards</vt:lpstr>
      <vt:lpstr>Recognition and rewards</vt:lpstr>
      <vt:lpstr>Recognition and reward options</vt:lpstr>
      <vt:lpstr>Slide 120</vt:lpstr>
      <vt:lpstr>Develop human resource performance</vt:lpstr>
      <vt:lpstr>Performance appraisals</vt:lpstr>
      <vt:lpstr>Performance appraisals</vt:lpstr>
      <vt:lpstr>Purpose of performance appraisals</vt:lpstr>
      <vt:lpstr>Benefits of performance appraisals</vt:lpstr>
      <vt:lpstr>Preparing performance appraisals</vt:lpstr>
      <vt:lpstr>Preparing performance appraisals</vt:lpstr>
      <vt:lpstr>Performance appraisals forms</vt:lpstr>
      <vt:lpstr>Performance appraisals forms</vt:lpstr>
      <vt:lpstr>Performance appraisals forms</vt:lpstr>
      <vt:lpstr>Staff performance appraisals forms</vt:lpstr>
      <vt:lpstr>Informing people of performance appraisals</vt:lpstr>
      <vt:lpstr>Informing people of performance appraisals</vt:lpstr>
      <vt:lpstr>Appraise staff performance</vt:lpstr>
      <vt:lpstr>Appraise staff performance</vt:lpstr>
      <vt:lpstr>Performance appraisal format</vt:lpstr>
      <vt:lpstr>Staff appraisal action plan</vt:lpstr>
      <vt:lpstr>Staff appraisal outcomes</vt:lpstr>
      <vt:lpstr>Staff appraisal outcomes</vt:lpstr>
      <vt:lpstr>Coaching and training</vt:lpstr>
      <vt:lpstr>Follow up changes in the workplace</vt:lpstr>
      <vt:lpstr>Follow up changes in the workplace</vt:lpstr>
      <vt:lpstr>Follow up changes in the workplace</vt:lpstr>
      <vt:lpstr>Follow up changes in the workplace</vt:lpstr>
      <vt:lpstr>Follow up changes in the workplace</vt:lpstr>
      <vt:lpstr>Follow up changes in the workplace</vt:lpstr>
      <vt:lpstr>Follow up changes in the workplace</vt:lpstr>
      <vt:lpstr>Slide 148</vt:lpstr>
      <vt:lpstr>Provide for human resource development</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Mentoring</vt:lpstr>
      <vt:lpstr>Coaching</vt:lpstr>
      <vt:lpstr>Coaching</vt:lpstr>
      <vt:lpstr>Coaching</vt:lpstr>
      <vt:lpstr>Formal and informal learning programs</vt:lpstr>
      <vt:lpstr>Other development programs</vt:lpstr>
      <vt:lpstr>Provide resources for development and training</vt:lpstr>
      <vt:lpstr>Monitor development of staff</vt:lpstr>
      <vt:lpstr>Monitor development of staff</vt:lpstr>
      <vt:lpstr>Slide 166</vt:lpstr>
      <vt:lpstr>Evaluate the implementation of the human resource plan</vt:lpstr>
      <vt:lpstr>Evaluate the implementation of the human resource plan</vt:lpstr>
      <vt:lpstr>Evaluate human resources plan</vt:lpstr>
      <vt:lpstr>Evaluate human resources plan</vt:lpstr>
      <vt:lpstr>Evaluate human resources plan</vt:lpstr>
      <vt:lpstr>Review achievement of human resources objectives</vt:lpstr>
      <vt:lpstr>Review external and internal factors </vt:lpstr>
      <vt:lpstr>Review human resources policies and procedures</vt:lpstr>
      <vt:lpstr>Review human resources department</vt:lpstr>
      <vt:lpstr>Review and evaluate management</vt:lpstr>
      <vt:lpstr>Review and evaluate management</vt:lpstr>
      <vt:lpstr>Review performance appraisal system</vt:lpstr>
      <vt:lpstr>Review development programs</vt:lpstr>
      <vt:lpstr>Assess value for money of training</vt:lpstr>
      <vt:lpstr>Assess value for money of training</vt:lpstr>
      <vt:lpstr>Assess value for money of training</vt:lpstr>
      <vt:lpstr>Assess value for money of training</vt:lpstr>
      <vt:lpstr>Assess value for money of training</vt:lpstr>
      <vt:lpstr>Recommend strategies to improve human resources</vt:lpstr>
      <vt:lpstr>Recommend strategies to improve human resources</vt:lpstr>
      <vt:lpstr>Recommend strategies to improve human resources</vt:lpstr>
      <vt:lpstr>Recommend strategies to improve human resources</vt:lpstr>
      <vt:lpstr>Recommend strategies to improve human resources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 FUNCTIONS</dc:title>
  <dc:creator>fgvghyujil</dc:creator>
  <cp:lastModifiedBy>Administrator</cp:lastModifiedBy>
  <cp:revision>187</cp:revision>
  <dcterms:created xsi:type="dcterms:W3CDTF">2012-10-07T10:58:03Z</dcterms:created>
  <dcterms:modified xsi:type="dcterms:W3CDTF">2013-07-29T05:06:50Z</dcterms:modified>
</cp:coreProperties>
</file>